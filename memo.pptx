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theme/themeOverride1.xml" ContentType="application/vnd.openxmlformats-officedocument.themeOverr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66"/>
  </p:notesMasterIdLst>
  <p:sldIdLst>
    <p:sldId id="276" r:id="rId5"/>
    <p:sldId id="305" r:id="rId6"/>
    <p:sldId id="351" r:id="rId7"/>
    <p:sldId id="293" r:id="rId8"/>
    <p:sldId id="312" r:id="rId9"/>
    <p:sldId id="311" r:id="rId10"/>
    <p:sldId id="359" r:id="rId11"/>
    <p:sldId id="352" r:id="rId12"/>
    <p:sldId id="334" r:id="rId13"/>
    <p:sldId id="313" r:id="rId14"/>
    <p:sldId id="314" r:id="rId15"/>
    <p:sldId id="335" r:id="rId16"/>
    <p:sldId id="315" r:id="rId17"/>
    <p:sldId id="322" r:id="rId18"/>
    <p:sldId id="279" r:id="rId19"/>
    <p:sldId id="294" r:id="rId20"/>
    <p:sldId id="288" r:id="rId21"/>
    <p:sldId id="323" r:id="rId22"/>
    <p:sldId id="317" r:id="rId23"/>
    <p:sldId id="263" r:id="rId24"/>
    <p:sldId id="316" r:id="rId25"/>
    <p:sldId id="265" r:id="rId26"/>
    <p:sldId id="266" r:id="rId27"/>
    <p:sldId id="267" r:id="rId28"/>
    <p:sldId id="268" r:id="rId29"/>
    <p:sldId id="269" r:id="rId30"/>
    <p:sldId id="337" r:id="rId31"/>
    <p:sldId id="339" r:id="rId32"/>
    <p:sldId id="338" r:id="rId33"/>
    <p:sldId id="272" r:id="rId34"/>
    <p:sldId id="287" r:id="rId35"/>
    <p:sldId id="270" r:id="rId36"/>
    <p:sldId id="271" r:id="rId37"/>
    <p:sldId id="297" r:id="rId38"/>
    <p:sldId id="325" r:id="rId39"/>
    <p:sldId id="299" r:id="rId40"/>
    <p:sldId id="298" r:id="rId41"/>
    <p:sldId id="340" r:id="rId42"/>
    <p:sldId id="290" r:id="rId43"/>
    <p:sldId id="341" r:id="rId44"/>
    <p:sldId id="332" r:id="rId45"/>
    <p:sldId id="342" r:id="rId46"/>
    <p:sldId id="344" r:id="rId47"/>
    <p:sldId id="343" r:id="rId48"/>
    <p:sldId id="345" r:id="rId49"/>
    <p:sldId id="346" r:id="rId50"/>
    <p:sldId id="347" r:id="rId51"/>
    <p:sldId id="326" r:id="rId52"/>
    <p:sldId id="327" r:id="rId53"/>
    <p:sldId id="328" r:id="rId54"/>
    <p:sldId id="285" r:id="rId55"/>
    <p:sldId id="336" r:id="rId56"/>
    <p:sldId id="307" r:id="rId57"/>
    <p:sldId id="259" r:id="rId58"/>
    <p:sldId id="329" r:id="rId59"/>
    <p:sldId id="330" r:id="rId60"/>
    <p:sldId id="331" r:id="rId61"/>
    <p:sldId id="262" r:id="rId62"/>
    <p:sldId id="309" r:id="rId63"/>
    <p:sldId id="349" r:id="rId64"/>
    <p:sldId id="350" r:id="rId65"/>
  </p:sldIdLst>
  <p:sldSz cx="9906000" cy="6858000" type="A4"/>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森田　雄大" initials="森田　雄大" lastIdx="1" clrIdx="0">
    <p:extLst>
      <p:ext uri="{19B8F6BF-5375-455C-9EA6-DF929625EA0E}">
        <p15:presenceInfo xmlns:p15="http://schemas.microsoft.com/office/powerpoint/2012/main" userId="森田　雄大"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373FF"/>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スタイル (中間)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DA37D80-6434-44D0-A028-1B22A696006F}" styleName="淡色スタイル 3 - アクセント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中間スタイル 2 - アクセント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146" autoAdjust="0"/>
    <p:restoredTop sz="89618" autoAdjust="0"/>
  </p:normalViewPr>
  <p:slideViewPr>
    <p:cSldViewPr snapToGrid="0">
      <p:cViewPr varScale="1">
        <p:scale>
          <a:sx n="144" d="100"/>
          <a:sy n="144" d="100"/>
        </p:scale>
        <p:origin x="2124" y="88"/>
      </p:cViewPr>
      <p:guideLst/>
    </p:cSldViewPr>
  </p:slideViewPr>
  <p:notesTextViewPr>
    <p:cViewPr>
      <p:scale>
        <a:sx n="1" d="1"/>
        <a:sy n="1" d="1"/>
      </p:scale>
      <p:origin x="0" y="0"/>
    </p:cViewPr>
  </p:notesTextViewPr>
  <p:notesViewPr>
    <p:cSldViewPr snapToGrid="0">
      <p:cViewPr varScale="1">
        <p:scale>
          <a:sx n="101" d="100"/>
          <a:sy n="101" d="100"/>
        </p:scale>
        <p:origin x="2874" y="96"/>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presProps" Target="presProps.xml"/><Relationship Id="rId7" Type="http://schemas.openxmlformats.org/officeDocument/2006/relationships/slide" Target="slides/slide3.xml"/><Relationship Id="rId71"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notesMaster" Target="notesMasters/notesMaster1.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viewProps" Target="viewProps.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commentAuthors" Target="commentAuthor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s>
</file>

<file path=ppt/charts/_rels/chart1.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oleObject" Target="file:///C:\Users\ys11m\Documents\master\0626_opera.xlsx" TargetMode="External"/></Relationships>
</file>

<file path=ppt/charts/_rels/chart2.xml.rels><?xml version="1.0" encoding="UTF-8" standalone="yes"?>
<Relationships xmlns="http://schemas.openxmlformats.org/package/2006/relationships"><Relationship Id="rId3" Type="http://schemas.openxmlformats.org/officeDocument/2006/relationships/oleObject" Target="file:///C:\Users\ys11m\Documents\master\0626_opera\0626_opera.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C:\Users\ys11m\Documents\master\0626_opera\0626_opera.xlsx" TargetMode="External"/><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barChart>
        <c:barDir val="col"/>
        <c:grouping val="stacked"/>
        <c:varyColors val="0"/>
        <c:ser>
          <c:idx val="0"/>
          <c:order val="0"/>
          <c:tx>
            <c:strRef>
              <c:f>Sheet1!$A$2</c:f>
              <c:strCache>
                <c:ptCount val="1"/>
                <c:pt idx="0">
                  <c:v>non renewable</c:v>
                </c:pt>
              </c:strCache>
            </c:strRef>
          </c:tx>
          <c:spPr>
            <a:solidFill>
              <a:schemeClr val="tx1">
                <a:lumMod val="50000"/>
                <a:lumOff val="50000"/>
              </a:schemeClr>
            </a:solidFill>
            <a:ln>
              <a:noFill/>
            </a:ln>
            <a:effectLst/>
          </c:spPr>
          <c:invertIfNegative val="0"/>
          <c:cat>
            <c:strRef>
              <c:f>Sheet1!$B$1:$D$1</c:f>
              <c:strCache>
                <c:ptCount val="3"/>
                <c:pt idx="0">
                  <c:v>2011</c:v>
                </c:pt>
                <c:pt idx="1">
                  <c:v>2022</c:v>
                </c:pt>
                <c:pt idx="2">
                  <c:v>2030 (target)</c:v>
                </c:pt>
              </c:strCache>
            </c:strRef>
          </c:cat>
          <c:val>
            <c:numRef>
              <c:f>Sheet1!$B$2:$D$2</c:f>
              <c:numCache>
                <c:formatCode>General</c:formatCode>
                <c:ptCount val="3"/>
                <c:pt idx="0">
                  <c:v>974.4</c:v>
                </c:pt>
                <c:pt idx="1">
                  <c:v>789.5</c:v>
                </c:pt>
                <c:pt idx="2">
                  <c:v>575.95000000000005</c:v>
                </c:pt>
              </c:numCache>
            </c:numRef>
          </c:val>
          <c:extLst>
            <c:ext xmlns:c16="http://schemas.microsoft.com/office/drawing/2014/chart" uri="{C3380CC4-5D6E-409C-BE32-E72D297353CC}">
              <c16:uniqueId val="{00000000-700A-4808-8775-FC271D9222AC}"/>
            </c:ext>
          </c:extLst>
        </c:ser>
        <c:ser>
          <c:idx val="3"/>
          <c:order val="1"/>
          <c:tx>
            <c:strRef>
              <c:f>Sheet1!$A$3</c:f>
              <c:strCache>
                <c:ptCount val="1"/>
                <c:pt idx="0">
                  <c:v>hydro</c:v>
                </c:pt>
              </c:strCache>
            </c:strRef>
          </c:tx>
          <c:spPr>
            <a:solidFill>
              <a:schemeClr val="accent4"/>
            </a:solidFill>
            <a:ln>
              <a:noFill/>
            </a:ln>
            <a:effectLst/>
          </c:spPr>
          <c:invertIfNegative val="0"/>
          <c:cat>
            <c:strRef>
              <c:f>Sheet1!$B$1:$D$1</c:f>
              <c:strCache>
                <c:ptCount val="3"/>
                <c:pt idx="0">
                  <c:v>2011</c:v>
                </c:pt>
                <c:pt idx="1">
                  <c:v>2022</c:v>
                </c:pt>
                <c:pt idx="2">
                  <c:v>2030 (target)</c:v>
                </c:pt>
              </c:strCache>
            </c:strRef>
          </c:cat>
          <c:val>
            <c:numRef>
              <c:f>Sheet1!$B$3:$D$3</c:f>
              <c:numCache>
                <c:formatCode>General</c:formatCode>
                <c:ptCount val="3"/>
                <c:pt idx="0">
                  <c:v>84.825000000000003</c:v>
                </c:pt>
                <c:pt idx="1">
                  <c:v>76.900000000000006</c:v>
                </c:pt>
                <c:pt idx="2">
                  <c:v>98</c:v>
                </c:pt>
              </c:numCache>
            </c:numRef>
          </c:val>
          <c:extLst>
            <c:ext xmlns:c16="http://schemas.microsoft.com/office/drawing/2014/chart" uri="{C3380CC4-5D6E-409C-BE32-E72D297353CC}">
              <c16:uniqueId val="{00000001-700A-4808-8775-FC271D9222AC}"/>
            </c:ext>
          </c:extLst>
        </c:ser>
        <c:ser>
          <c:idx val="5"/>
          <c:order val="2"/>
          <c:tx>
            <c:strRef>
              <c:f>Sheet1!$A$4</c:f>
              <c:strCache>
                <c:ptCount val="1"/>
                <c:pt idx="0">
                  <c:v>biomass</c:v>
                </c:pt>
              </c:strCache>
            </c:strRef>
          </c:tx>
          <c:spPr>
            <a:solidFill>
              <a:srgbClr val="00B050"/>
            </a:solidFill>
            <a:ln>
              <a:noFill/>
            </a:ln>
            <a:effectLst/>
          </c:spPr>
          <c:invertIfNegative val="0"/>
          <c:cat>
            <c:strRef>
              <c:f>Sheet1!$B$1:$D$1</c:f>
              <c:strCache>
                <c:ptCount val="3"/>
                <c:pt idx="0">
                  <c:v>2011</c:v>
                </c:pt>
                <c:pt idx="1">
                  <c:v>2022</c:v>
                </c:pt>
                <c:pt idx="2">
                  <c:v>2030 (target)</c:v>
                </c:pt>
              </c:strCache>
            </c:strRef>
          </c:cat>
          <c:val>
            <c:numRef>
              <c:f>Sheet1!$B$4:$D$4</c:f>
              <c:numCache>
                <c:formatCode>General</c:formatCode>
                <c:ptCount val="3"/>
                <c:pt idx="0">
                  <c:v>16.3125</c:v>
                </c:pt>
                <c:pt idx="1">
                  <c:v>37.1</c:v>
                </c:pt>
                <c:pt idx="2">
                  <c:v>47</c:v>
                </c:pt>
              </c:numCache>
            </c:numRef>
          </c:val>
          <c:extLst>
            <c:ext xmlns:c16="http://schemas.microsoft.com/office/drawing/2014/chart" uri="{C3380CC4-5D6E-409C-BE32-E72D297353CC}">
              <c16:uniqueId val="{00000002-700A-4808-8775-FC271D9222AC}"/>
            </c:ext>
          </c:extLst>
        </c:ser>
        <c:ser>
          <c:idx val="1"/>
          <c:order val="3"/>
          <c:tx>
            <c:strRef>
              <c:f>Sheet1!$A$5</c:f>
              <c:strCache>
                <c:ptCount val="1"/>
                <c:pt idx="0">
                  <c:v>solar</c:v>
                </c:pt>
              </c:strCache>
            </c:strRef>
          </c:tx>
          <c:spPr>
            <a:solidFill>
              <a:schemeClr val="accent2"/>
            </a:solidFill>
            <a:ln>
              <a:noFill/>
            </a:ln>
            <a:effectLst/>
          </c:spPr>
          <c:invertIfNegative val="0"/>
          <c:cat>
            <c:strRef>
              <c:f>Sheet1!$B$1:$D$1</c:f>
              <c:strCache>
                <c:ptCount val="3"/>
                <c:pt idx="0">
                  <c:v>2011</c:v>
                </c:pt>
                <c:pt idx="1">
                  <c:v>2022</c:v>
                </c:pt>
                <c:pt idx="2">
                  <c:v>2030 (target)</c:v>
                </c:pt>
              </c:strCache>
            </c:strRef>
          </c:cat>
          <c:val>
            <c:numRef>
              <c:f>Sheet1!$B$5:$D$5</c:f>
              <c:numCache>
                <c:formatCode>General</c:formatCode>
                <c:ptCount val="3"/>
                <c:pt idx="0">
                  <c:v>4.3499999999999996</c:v>
                </c:pt>
                <c:pt idx="1">
                  <c:v>92.6</c:v>
                </c:pt>
                <c:pt idx="2">
                  <c:v>146</c:v>
                </c:pt>
              </c:numCache>
            </c:numRef>
          </c:val>
          <c:extLst>
            <c:ext xmlns:c16="http://schemas.microsoft.com/office/drawing/2014/chart" uri="{C3380CC4-5D6E-409C-BE32-E72D297353CC}">
              <c16:uniqueId val="{00000003-700A-4808-8775-FC271D9222AC}"/>
            </c:ext>
          </c:extLst>
        </c:ser>
        <c:ser>
          <c:idx val="2"/>
          <c:order val="4"/>
          <c:tx>
            <c:strRef>
              <c:f>Sheet1!$A$6</c:f>
              <c:strCache>
                <c:ptCount val="1"/>
                <c:pt idx="0">
                  <c:v>wind</c:v>
                </c:pt>
              </c:strCache>
            </c:strRef>
          </c:tx>
          <c:spPr>
            <a:solidFill>
              <a:srgbClr val="92D050"/>
            </a:solidFill>
            <a:ln>
              <a:noFill/>
            </a:ln>
            <a:effectLst/>
          </c:spPr>
          <c:invertIfNegative val="0"/>
          <c:cat>
            <c:strRef>
              <c:f>Sheet1!$B$1:$D$1</c:f>
              <c:strCache>
                <c:ptCount val="3"/>
                <c:pt idx="0">
                  <c:v>2011</c:v>
                </c:pt>
                <c:pt idx="1">
                  <c:v>2022</c:v>
                </c:pt>
                <c:pt idx="2">
                  <c:v>2030 (target)</c:v>
                </c:pt>
              </c:strCache>
            </c:strRef>
          </c:cat>
          <c:val>
            <c:numRef>
              <c:f>Sheet1!$B$6:$D$6</c:f>
              <c:numCache>
                <c:formatCode>General</c:formatCode>
                <c:ptCount val="3"/>
                <c:pt idx="0">
                  <c:v>4.3499999999999996</c:v>
                </c:pt>
                <c:pt idx="1">
                  <c:v>9.3000000000000007</c:v>
                </c:pt>
                <c:pt idx="2">
                  <c:v>51</c:v>
                </c:pt>
              </c:numCache>
            </c:numRef>
          </c:val>
          <c:extLst>
            <c:ext xmlns:c16="http://schemas.microsoft.com/office/drawing/2014/chart" uri="{C3380CC4-5D6E-409C-BE32-E72D297353CC}">
              <c16:uniqueId val="{00000004-700A-4808-8775-FC271D9222AC}"/>
            </c:ext>
          </c:extLst>
        </c:ser>
        <c:ser>
          <c:idx val="4"/>
          <c:order val="5"/>
          <c:tx>
            <c:strRef>
              <c:f>Sheet1!$A$7</c:f>
              <c:strCache>
                <c:ptCount val="1"/>
                <c:pt idx="0">
                  <c:v>geothermal</c:v>
                </c:pt>
              </c:strCache>
            </c:strRef>
          </c:tx>
          <c:spPr>
            <a:solidFill>
              <a:srgbClr val="C00000"/>
            </a:solidFill>
            <a:ln>
              <a:noFill/>
            </a:ln>
            <a:effectLst/>
          </c:spPr>
          <c:invertIfNegative val="0"/>
          <c:cat>
            <c:strRef>
              <c:f>Sheet1!$B$1:$D$1</c:f>
              <c:strCache>
                <c:ptCount val="3"/>
                <c:pt idx="0">
                  <c:v>2011</c:v>
                </c:pt>
                <c:pt idx="1">
                  <c:v>2022</c:v>
                </c:pt>
                <c:pt idx="2">
                  <c:v>2030 (target)</c:v>
                </c:pt>
              </c:strCache>
            </c:strRef>
          </c:cat>
          <c:val>
            <c:numRef>
              <c:f>Sheet1!$B$7:$D$7</c:f>
              <c:numCache>
                <c:formatCode>General</c:formatCode>
                <c:ptCount val="3"/>
                <c:pt idx="0">
                  <c:v>2.1749999999999998</c:v>
                </c:pt>
                <c:pt idx="1">
                  <c:v>3</c:v>
                </c:pt>
                <c:pt idx="2">
                  <c:v>11</c:v>
                </c:pt>
              </c:numCache>
            </c:numRef>
          </c:val>
          <c:extLst>
            <c:ext xmlns:c16="http://schemas.microsoft.com/office/drawing/2014/chart" uri="{C3380CC4-5D6E-409C-BE32-E72D297353CC}">
              <c16:uniqueId val="{00000005-700A-4808-8775-FC271D9222AC}"/>
            </c:ext>
          </c:extLst>
        </c:ser>
        <c:dLbls>
          <c:showLegendKey val="0"/>
          <c:showVal val="0"/>
          <c:showCatName val="0"/>
          <c:showSerName val="0"/>
          <c:showPercent val="0"/>
          <c:showBubbleSize val="0"/>
        </c:dLbls>
        <c:gapWidth val="150"/>
        <c:overlap val="100"/>
        <c:axId val="226454784"/>
        <c:axId val="226455744"/>
      </c:barChart>
      <c:catAx>
        <c:axId val="22645478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ja-JP" sz="900" b="0" i="0" u="none" strike="noStrike" kern="1200" baseline="0">
                <a:solidFill>
                  <a:schemeClr val="tx1">
                    <a:lumMod val="65000"/>
                    <a:lumOff val="35000"/>
                  </a:schemeClr>
                </a:solidFill>
                <a:latin typeface="+mn-lt"/>
                <a:ea typeface="+mn-ea"/>
                <a:cs typeface="+mn-cs"/>
              </a:defRPr>
            </a:pPr>
            <a:endParaRPr lang="en-US"/>
          </a:p>
        </c:txPr>
        <c:crossAx val="226455744"/>
        <c:crosses val="autoZero"/>
        <c:auto val="1"/>
        <c:lblAlgn val="ctr"/>
        <c:lblOffset val="100"/>
        <c:noMultiLvlLbl val="0"/>
      </c:catAx>
      <c:valAx>
        <c:axId val="226455744"/>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lang="ja-JP" sz="1000" b="0" i="0" u="none" strike="noStrike" kern="1200" baseline="0">
                    <a:solidFill>
                      <a:schemeClr val="tx1">
                        <a:lumMod val="65000"/>
                        <a:lumOff val="35000"/>
                      </a:schemeClr>
                    </a:solidFill>
                    <a:latin typeface="+mn-lt"/>
                    <a:ea typeface="+mn-ea"/>
                    <a:cs typeface="+mn-cs"/>
                  </a:defRPr>
                </a:pPr>
                <a:r>
                  <a:rPr lang="en-US" altLang="ja-JP" dirty="0"/>
                  <a:t>annual production [TWh]</a:t>
                </a:r>
                <a:endParaRPr lang="ja-JP" altLang="en-US" dirty="0"/>
              </a:p>
            </c:rich>
          </c:tx>
          <c:overlay val="0"/>
          <c:spPr>
            <a:noFill/>
            <a:ln>
              <a:noFill/>
            </a:ln>
            <a:effectLst/>
          </c:spPr>
          <c:txPr>
            <a:bodyPr rot="-5400000" spcFirstLastPara="1" vertOverflow="ellipsis" vert="horz" wrap="square" anchor="ctr" anchorCtr="1"/>
            <a:lstStyle/>
            <a:p>
              <a:pPr>
                <a:defRPr lang="ja-JP"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ja-JP" sz="900" b="0" i="0" u="none" strike="noStrike" kern="1200" baseline="0">
                <a:solidFill>
                  <a:schemeClr val="tx1">
                    <a:lumMod val="65000"/>
                    <a:lumOff val="35000"/>
                  </a:schemeClr>
                </a:solidFill>
                <a:latin typeface="+mn-lt"/>
                <a:ea typeface="+mn-ea"/>
                <a:cs typeface="+mn-cs"/>
              </a:defRPr>
            </a:pPr>
            <a:endParaRPr lang="en-US"/>
          </a:p>
        </c:txPr>
        <c:crossAx val="226454784"/>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ja-JP"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4">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ja-JP" sz="1400" b="0" i="0" u="none" strike="noStrike" kern="1200" spc="0" baseline="0">
                <a:solidFill>
                  <a:schemeClr val="tx1">
                    <a:lumMod val="65000"/>
                    <a:lumOff val="35000"/>
                  </a:schemeClr>
                </a:solidFill>
                <a:latin typeface="+mn-lt"/>
                <a:ea typeface="+mn-ea"/>
                <a:cs typeface="+mn-cs"/>
              </a:defRPr>
            </a:pPr>
            <a:r>
              <a:rPr lang="en-US" altLang="ja-JP" sz="1000" dirty="0"/>
              <a:t>2011/4/1~2011/4/30</a:t>
            </a:r>
          </a:p>
        </c:rich>
      </c:tx>
      <c:overlay val="0"/>
      <c:spPr>
        <a:noFill/>
        <a:ln>
          <a:noFill/>
        </a:ln>
        <a:effectLst/>
      </c:spPr>
      <c:txPr>
        <a:bodyPr rot="0" spcFirstLastPara="1" vertOverflow="ellipsis" vert="horz" wrap="square" anchor="ctr" anchorCtr="1"/>
        <a:lstStyle/>
        <a:p>
          <a:pPr>
            <a:defRPr lang="ja-JP"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manualLayout>
          <c:layoutTarget val="inner"/>
          <c:xMode val="edge"/>
          <c:yMode val="edge"/>
          <c:x val="0.10064159408294907"/>
          <c:y val="0.17878559896760651"/>
          <c:w val="0.8764173530918693"/>
          <c:h val="0.74640871108778828"/>
        </c:manualLayout>
      </c:layout>
      <c:lineChart>
        <c:grouping val="standard"/>
        <c:varyColors val="0"/>
        <c:ser>
          <c:idx val="0"/>
          <c:order val="0"/>
          <c:tx>
            <c:strRef>
              <c:f>'2011spot'!$C$1</c:f>
              <c:strCache>
                <c:ptCount val="1"/>
                <c:pt idx="0">
                  <c:v>spot price</c:v>
                </c:pt>
              </c:strCache>
            </c:strRef>
          </c:tx>
          <c:spPr>
            <a:ln w="12700" cap="rnd">
              <a:solidFill>
                <a:schemeClr val="accent1"/>
              </a:solidFill>
              <a:round/>
            </a:ln>
            <a:effectLst/>
          </c:spPr>
          <c:marker>
            <c:symbol val="none"/>
          </c:marker>
          <c:val>
            <c:numRef>
              <c:f>'2011spot'!$C$2:$C$1441</c:f>
              <c:numCache>
                <c:formatCode>General</c:formatCode>
                <c:ptCount val="1440"/>
                <c:pt idx="0">
                  <c:v>13.18</c:v>
                </c:pt>
                <c:pt idx="1">
                  <c:v>13.42</c:v>
                </c:pt>
                <c:pt idx="2">
                  <c:v>13.78</c:v>
                </c:pt>
                <c:pt idx="3">
                  <c:v>13.78</c:v>
                </c:pt>
                <c:pt idx="4">
                  <c:v>13.78</c:v>
                </c:pt>
                <c:pt idx="5">
                  <c:v>13.78</c:v>
                </c:pt>
                <c:pt idx="6">
                  <c:v>13.78</c:v>
                </c:pt>
                <c:pt idx="7">
                  <c:v>13.78</c:v>
                </c:pt>
                <c:pt idx="8">
                  <c:v>13.78</c:v>
                </c:pt>
                <c:pt idx="9">
                  <c:v>13.78</c:v>
                </c:pt>
                <c:pt idx="10">
                  <c:v>13.82</c:v>
                </c:pt>
                <c:pt idx="11">
                  <c:v>13.78</c:v>
                </c:pt>
                <c:pt idx="12">
                  <c:v>13.78</c:v>
                </c:pt>
                <c:pt idx="13">
                  <c:v>13.82</c:v>
                </c:pt>
                <c:pt idx="14">
                  <c:v>13.79</c:v>
                </c:pt>
                <c:pt idx="15">
                  <c:v>13.75</c:v>
                </c:pt>
                <c:pt idx="16">
                  <c:v>13.66</c:v>
                </c:pt>
                <c:pt idx="17">
                  <c:v>13.86</c:v>
                </c:pt>
                <c:pt idx="18">
                  <c:v>13.97</c:v>
                </c:pt>
                <c:pt idx="19">
                  <c:v>14.15</c:v>
                </c:pt>
                <c:pt idx="20">
                  <c:v>14.29</c:v>
                </c:pt>
                <c:pt idx="21">
                  <c:v>14.29</c:v>
                </c:pt>
                <c:pt idx="22">
                  <c:v>14.29</c:v>
                </c:pt>
                <c:pt idx="23">
                  <c:v>14.15</c:v>
                </c:pt>
                <c:pt idx="24">
                  <c:v>13.62</c:v>
                </c:pt>
                <c:pt idx="25">
                  <c:v>12.81</c:v>
                </c:pt>
                <c:pt idx="26">
                  <c:v>14.1</c:v>
                </c:pt>
                <c:pt idx="27">
                  <c:v>14.15</c:v>
                </c:pt>
                <c:pt idx="28">
                  <c:v>14.1</c:v>
                </c:pt>
                <c:pt idx="29">
                  <c:v>14.05</c:v>
                </c:pt>
                <c:pt idx="30">
                  <c:v>13.97</c:v>
                </c:pt>
                <c:pt idx="31">
                  <c:v>13.97</c:v>
                </c:pt>
                <c:pt idx="32">
                  <c:v>13.97</c:v>
                </c:pt>
                <c:pt idx="33">
                  <c:v>13.91</c:v>
                </c:pt>
                <c:pt idx="34">
                  <c:v>13.82</c:v>
                </c:pt>
                <c:pt idx="35">
                  <c:v>13.75</c:v>
                </c:pt>
                <c:pt idx="36">
                  <c:v>13.7</c:v>
                </c:pt>
                <c:pt idx="37">
                  <c:v>13.7</c:v>
                </c:pt>
                <c:pt idx="38">
                  <c:v>13.66</c:v>
                </c:pt>
                <c:pt idx="39">
                  <c:v>13.3</c:v>
                </c:pt>
                <c:pt idx="40">
                  <c:v>13.14</c:v>
                </c:pt>
                <c:pt idx="41">
                  <c:v>12.91</c:v>
                </c:pt>
                <c:pt idx="42">
                  <c:v>12.71</c:v>
                </c:pt>
                <c:pt idx="43">
                  <c:v>12.89</c:v>
                </c:pt>
                <c:pt idx="44">
                  <c:v>13.62</c:v>
                </c:pt>
                <c:pt idx="45">
                  <c:v>13.34</c:v>
                </c:pt>
                <c:pt idx="46">
                  <c:v>13.3</c:v>
                </c:pt>
                <c:pt idx="47">
                  <c:v>13.62</c:v>
                </c:pt>
                <c:pt idx="48">
                  <c:v>14.58</c:v>
                </c:pt>
                <c:pt idx="49">
                  <c:v>14.58</c:v>
                </c:pt>
                <c:pt idx="50">
                  <c:v>14.58</c:v>
                </c:pt>
                <c:pt idx="51">
                  <c:v>14.59</c:v>
                </c:pt>
                <c:pt idx="52">
                  <c:v>14.6</c:v>
                </c:pt>
                <c:pt idx="53">
                  <c:v>14.6</c:v>
                </c:pt>
                <c:pt idx="54">
                  <c:v>14.6</c:v>
                </c:pt>
                <c:pt idx="55">
                  <c:v>14.6</c:v>
                </c:pt>
                <c:pt idx="56">
                  <c:v>14.54</c:v>
                </c:pt>
                <c:pt idx="57">
                  <c:v>14.54</c:v>
                </c:pt>
                <c:pt idx="58">
                  <c:v>14.54</c:v>
                </c:pt>
                <c:pt idx="59">
                  <c:v>14.58</c:v>
                </c:pt>
                <c:pt idx="60">
                  <c:v>14.58</c:v>
                </c:pt>
                <c:pt idx="61">
                  <c:v>14.68</c:v>
                </c:pt>
                <c:pt idx="62">
                  <c:v>15.71</c:v>
                </c:pt>
                <c:pt idx="63">
                  <c:v>15.67</c:v>
                </c:pt>
                <c:pt idx="64">
                  <c:v>15.3</c:v>
                </c:pt>
                <c:pt idx="65">
                  <c:v>15.3</c:v>
                </c:pt>
                <c:pt idx="66">
                  <c:v>15.3</c:v>
                </c:pt>
                <c:pt idx="67">
                  <c:v>15.58</c:v>
                </c:pt>
                <c:pt idx="68">
                  <c:v>15.69</c:v>
                </c:pt>
                <c:pt idx="69">
                  <c:v>15.68</c:v>
                </c:pt>
                <c:pt idx="70">
                  <c:v>15.67</c:v>
                </c:pt>
                <c:pt idx="71">
                  <c:v>15.67</c:v>
                </c:pt>
                <c:pt idx="72">
                  <c:v>14.58</c:v>
                </c:pt>
                <c:pt idx="73">
                  <c:v>14.58</c:v>
                </c:pt>
                <c:pt idx="74">
                  <c:v>15.61</c:v>
                </c:pt>
                <c:pt idx="75">
                  <c:v>15.62</c:v>
                </c:pt>
                <c:pt idx="76">
                  <c:v>15.62</c:v>
                </c:pt>
                <c:pt idx="77">
                  <c:v>15.62</c:v>
                </c:pt>
                <c:pt idx="78">
                  <c:v>15.62</c:v>
                </c:pt>
                <c:pt idx="79">
                  <c:v>15.62</c:v>
                </c:pt>
                <c:pt idx="80">
                  <c:v>15.62</c:v>
                </c:pt>
                <c:pt idx="81">
                  <c:v>15.57</c:v>
                </c:pt>
                <c:pt idx="82">
                  <c:v>15.52</c:v>
                </c:pt>
                <c:pt idx="83">
                  <c:v>15.47</c:v>
                </c:pt>
                <c:pt idx="84">
                  <c:v>15.3</c:v>
                </c:pt>
                <c:pt idx="85">
                  <c:v>15.3</c:v>
                </c:pt>
                <c:pt idx="86">
                  <c:v>15.04</c:v>
                </c:pt>
                <c:pt idx="87">
                  <c:v>14.85</c:v>
                </c:pt>
                <c:pt idx="88">
                  <c:v>14.85</c:v>
                </c:pt>
                <c:pt idx="89">
                  <c:v>14.85</c:v>
                </c:pt>
                <c:pt idx="90">
                  <c:v>14.85</c:v>
                </c:pt>
                <c:pt idx="91">
                  <c:v>14.54</c:v>
                </c:pt>
                <c:pt idx="92">
                  <c:v>14.68</c:v>
                </c:pt>
                <c:pt idx="93">
                  <c:v>14.77</c:v>
                </c:pt>
                <c:pt idx="94">
                  <c:v>14.72</c:v>
                </c:pt>
                <c:pt idx="95">
                  <c:v>14.68</c:v>
                </c:pt>
                <c:pt idx="96">
                  <c:v>14.78</c:v>
                </c:pt>
                <c:pt idx="97">
                  <c:v>14.78</c:v>
                </c:pt>
                <c:pt idx="98">
                  <c:v>14.73</c:v>
                </c:pt>
                <c:pt idx="99">
                  <c:v>14.73</c:v>
                </c:pt>
                <c:pt idx="100">
                  <c:v>14.73</c:v>
                </c:pt>
                <c:pt idx="101">
                  <c:v>14.73</c:v>
                </c:pt>
                <c:pt idx="102">
                  <c:v>14.73</c:v>
                </c:pt>
                <c:pt idx="103">
                  <c:v>14.73</c:v>
                </c:pt>
                <c:pt idx="104">
                  <c:v>14.73</c:v>
                </c:pt>
                <c:pt idx="105">
                  <c:v>14.73</c:v>
                </c:pt>
                <c:pt idx="106">
                  <c:v>14.73</c:v>
                </c:pt>
                <c:pt idx="107">
                  <c:v>14.78</c:v>
                </c:pt>
                <c:pt idx="108">
                  <c:v>14.78</c:v>
                </c:pt>
                <c:pt idx="109">
                  <c:v>14.84</c:v>
                </c:pt>
                <c:pt idx="110">
                  <c:v>14.92</c:v>
                </c:pt>
                <c:pt idx="111">
                  <c:v>14.84</c:v>
                </c:pt>
                <c:pt idx="112">
                  <c:v>14.73</c:v>
                </c:pt>
                <c:pt idx="113">
                  <c:v>14.73</c:v>
                </c:pt>
                <c:pt idx="114">
                  <c:v>14.51</c:v>
                </c:pt>
                <c:pt idx="115">
                  <c:v>13.7</c:v>
                </c:pt>
                <c:pt idx="116">
                  <c:v>14.73</c:v>
                </c:pt>
                <c:pt idx="117">
                  <c:v>14.73</c:v>
                </c:pt>
                <c:pt idx="118">
                  <c:v>14.73</c:v>
                </c:pt>
                <c:pt idx="119">
                  <c:v>14.78</c:v>
                </c:pt>
                <c:pt idx="120">
                  <c:v>14.84</c:v>
                </c:pt>
                <c:pt idx="121">
                  <c:v>14.84</c:v>
                </c:pt>
                <c:pt idx="122">
                  <c:v>14.84</c:v>
                </c:pt>
                <c:pt idx="123">
                  <c:v>14.84</c:v>
                </c:pt>
                <c:pt idx="124">
                  <c:v>14.84</c:v>
                </c:pt>
                <c:pt idx="125">
                  <c:v>14.84</c:v>
                </c:pt>
                <c:pt idx="126">
                  <c:v>14.84</c:v>
                </c:pt>
                <c:pt idx="127">
                  <c:v>14.84</c:v>
                </c:pt>
                <c:pt idx="128">
                  <c:v>14.84</c:v>
                </c:pt>
                <c:pt idx="129">
                  <c:v>14.78</c:v>
                </c:pt>
                <c:pt idx="130">
                  <c:v>14.78</c:v>
                </c:pt>
                <c:pt idx="131">
                  <c:v>15.16</c:v>
                </c:pt>
                <c:pt idx="132">
                  <c:v>16.05</c:v>
                </c:pt>
                <c:pt idx="133">
                  <c:v>15.91</c:v>
                </c:pt>
                <c:pt idx="134">
                  <c:v>15.91</c:v>
                </c:pt>
                <c:pt idx="135">
                  <c:v>15.91</c:v>
                </c:pt>
                <c:pt idx="136">
                  <c:v>15.91</c:v>
                </c:pt>
                <c:pt idx="137">
                  <c:v>15.91</c:v>
                </c:pt>
                <c:pt idx="138">
                  <c:v>15.02</c:v>
                </c:pt>
                <c:pt idx="139">
                  <c:v>13.7</c:v>
                </c:pt>
                <c:pt idx="140">
                  <c:v>14.92</c:v>
                </c:pt>
                <c:pt idx="141">
                  <c:v>15</c:v>
                </c:pt>
                <c:pt idx="142">
                  <c:v>14.92</c:v>
                </c:pt>
                <c:pt idx="143">
                  <c:v>14.84</c:v>
                </c:pt>
                <c:pt idx="144">
                  <c:v>14.73</c:v>
                </c:pt>
                <c:pt idx="145">
                  <c:v>14.69</c:v>
                </c:pt>
                <c:pt idx="146">
                  <c:v>15.49</c:v>
                </c:pt>
                <c:pt idx="147">
                  <c:v>16.12</c:v>
                </c:pt>
                <c:pt idx="148">
                  <c:v>16.16</c:v>
                </c:pt>
                <c:pt idx="149">
                  <c:v>16.16</c:v>
                </c:pt>
                <c:pt idx="150">
                  <c:v>16.16</c:v>
                </c:pt>
                <c:pt idx="151">
                  <c:v>16.16</c:v>
                </c:pt>
                <c:pt idx="152">
                  <c:v>16.14</c:v>
                </c:pt>
                <c:pt idx="153">
                  <c:v>15.72</c:v>
                </c:pt>
                <c:pt idx="154">
                  <c:v>14.73</c:v>
                </c:pt>
                <c:pt idx="155">
                  <c:v>14.73</c:v>
                </c:pt>
                <c:pt idx="156">
                  <c:v>14.78</c:v>
                </c:pt>
                <c:pt idx="157">
                  <c:v>14.73</c:v>
                </c:pt>
                <c:pt idx="158">
                  <c:v>14.65</c:v>
                </c:pt>
                <c:pt idx="159">
                  <c:v>14.73</c:v>
                </c:pt>
                <c:pt idx="160">
                  <c:v>14.69</c:v>
                </c:pt>
                <c:pt idx="161">
                  <c:v>14.92</c:v>
                </c:pt>
                <c:pt idx="162">
                  <c:v>15.59</c:v>
                </c:pt>
                <c:pt idx="163">
                  <c:v>15.49</c:v>
                </c:pt>
                <c:pt idx="164">
                  <c:v>15.59</c:v>
                </c:pt>
                <c:pt idx="165">
                  <c:v>15.72</c:v>
                </c:pt>
                <c:pt idx="166">
                  <c:v>15.59</c:v>
                </c:pt>
                <c:pt idx="167">
                  <c:v>15.41</c:v>
                </c:pt>
                <c:pt idx="168">
                  <c:v>13.62</c:v>
                </c:pt>
                <c:pt idx="169">
                  <c:v>13.62</c:v>
                </c:pt>
                <c:pt idx="170">
                  <c:v>15.35</c:v>
                </c:pt>
                <c:pt idx="171">
                  <c:v>15.35</c:v>
                </c:pt>
                <c:pt idx="172">
                  <c:v>15.16</c:v>
                </c:pt>
                <c:pt idx="173">
                  <c:v>15.16</c:v>
                </c:pt>
                <c:pt idx="174">
                  <c:v>15.02</c:v>
                </c:pt>
                <c:pt idx="175">
                  <c:v>15.02</c:v>
                </c:pt>
                <c:pt idx="176">
                  <c:v>14.92</c:v>
                </c:pt>
                <c:pt idx="177">
                  <c:v>14.84</c:v>
                </c:pt>
                <c:pt idx="178">
                  <c:v>14.65</c:v>
                </c:pt>
                <c:pt idx="179">
                  <c:v>14.59</c:v>
                </c:pt>
                <c:pt idx="180">
                  <c:v>14.08</c:v>
                </c:pt>
                <c:pt idx="181">
                  <c:v>14</c:v>
                </c:pt>
                <c:pt idx="182">
                  <c:v>13.9</c:v>
                </c:pt>
                <c:pt idx="183">
                  <c:v>13.9</c:v>
                </c:pt>
                <c:pt idx="184">
                  <c:v>13.63</c:v>
                </c:pt>
                <c:pt idx="185">
                  <c:v>13.5</c:v>
                </c:pt>
                <c:pt idx="186">
                  <c:v>13.11</c:v>
                </c:pt>
                <c:pt idx="187">
                  <c:v>13.9</c:v>
                </c:pt>
                <c:pt idx="188">
                  <c:v>14.78</c:v>
                </c:pt>
                <c:pt idx="189">
                  <c:v>14.73</c:v>
                </c:pt>
                <c:pt idx="190">
                  <c:v>14.73</c:v>
                </c:pt>
                <c:pt idx="191">
                  <c:v>13.62</c:v>
                </c:pt>
                <c:pt idx="192">
                  <c:v>12.88</c:v>
                </c:pt>
                <c:pt idx="193">
                  <c:v>12.75</c:v>
                </c:pt>
                <c:pt idx="194">
                  <c:v>13.16</c:v>
                </c:pt>
                <c:pt idx="195">
                  <c:v>13.95</c:v>
                </c:pt>
                <c:pt idx="196">
                  <c:v>13.5</c:v>
                </c:pt>
                <c:pt idx="197">
                  <c:v>14.12</c:v>
                </c:pt>
                <c:pt idx="198">
                  <c:v>14.01</c:v>
                </c:pt>
                <c:pt idx="199">
                  <c:v>13.84</c:v>
                </c:pt>
                <c:pt idx="200">
                  <c:v>13.9</c:v>
                </c:pt>
                <c:pt idx="201">
                  <c:v>13.01</c:v>
                </c:pt>
                <c:pt idx="202">
                  <c:v>13.05</c:v>
                </c:pt>
                <c:pt idx="203">
                  <c:v>12.89</c:v>
                </c:pt>
                <c:pt idx="204">
                  <c:v>12.99</c:v>
                </c:pt>
                <c:pt idx="205">
                  <c:v>13.9</c:v>
                </c:pt>
                <c:pt idx="206">
                  <c:v>13.9</c:v>
                </c:pt>
                <c:pt idx="207">
                  <c:v>14.59</c:v>
                </c:pt>
                <c:pt idx="208">
                  <c:v>14.62</c:v>
                </c:pt>
                <c:pt idx="209">
                  <c:v>14.92</c:v>
                </c:pt>
                <c:pt idx="210">
                  <c:v>15.16</c:v>
                </c:pt>
                <c:pt idx="211">
                  <c:v>15.72</c:v>
                </c:pt>
                <c:pt idx="212">
                  <c:v>15.91</c:v>
                </c:pt>
                <c:pt idx="213">
                  <c:v>16.170000000000002</c:v>
                </c:pt>
                <c:pt idx="214">
                  <c:v>15.91</c:v>
                </c:pt>
                <c:pt idx="215">
                  <c:v>15.9</c:v>
                </c:pt>
                <c:pt idx="216">
                  <c:v>13.9</c:v>
                </c:pt>
                <c:pt idx="217">
                  <c:v>13.9</c:v>
                </c:pt>
                <c:pt idx="218">
                  <c:v>14.33</c:v>
                </c:pt>
                <c:pt idx="219">
                  <c:v>14.3</c:v>
                </c:pt>
                <c:pt idx="220">
                  <c:v>14.22</c:v>
                </c:pt>
                <c:pt idx="221">
                  <c:v>14.09</c:v>
                </c:pt>
                <c:pt idx="222">
                  <c:v>13.98</c:v>
                </c:pt>
                <c:pt idx="223">
                  <c:v>13.95</c:v>
                </c:pt>
                <c:pt idx="224">
                  <c:v>13.9</c:v>
                </c:pt>
                <c:pt idx="225">
                  <c:v>13.9</c:v>
                </c:pt>
                <c:pt idx="226">
                  <c:v>13.9</c:v>
                </c:pt>
                <c:pt idx="227">
                  <c:v>14.06</c:v>
                </c:pt>
                <c:pt idx="228">
                  <c:v>14.62</c:v>
                </c:pt>
                <c:pt idx="229">
                  <c:v>14.59</c:v>
                </c:pt>
                <c:pt idx="230">
                  <c:v>14.55</c:v>
                </c:pt>
                <c:pt idx="231">
                  <c:v>14.51</c:v>
                </c:pt>
                <c:pt idx="232">
                  <c:v>13.9</c:v>
                </c:pt>
                <c:pt idx="233">
                  <c:v>13.9</c:v>
                </c:pt>
                <c:pt idx="234">
                  <c:v>13.9</c:v>
                </c:pt>
                <c:pt idx="235">
                  <c:v>14.25</c:v>
                </c:pt>
                <c:pt idx="236">
                  <c:v>14.59</c:v>
                </c:pt>
                <c:pt idx="237">
                  <c:v>13.9</c:v>
                </c:pt>
                <c:pt idx="238">
                  <c:v>14.14</c:v>
                </c:pt>
                <c:pt idx="239">
                  <c:v>13.9</c:v>
                </c:pt>
                <c:pt idx="240">
                  <c:v>12.26</c:v>
                </c:pt>
                <c:pt idx="241">
                  <c:v>12.27</c:v>
                </c:pt>
                <c:pt idx="242">
                  <c:v>12.28</c:v>
                </c:pt>
                <c:pt idx="243">
                  <c:v>12.48</c:v>
                </c:pt>
                <c:pt idx="244">
                  <c:v>14</c:v>
                </c:pt>
                <c:pt idx="245">
                  <c:v>14.62</c:v>
                </c:pt>
                <c:pt idx="246">
                  <c:v>14.51</c:v>
                </c:pt>
                <c:pt idx="247">
                  <c:v>14.34</c:v>
                </c:pt>
                <c:pt idx="248">
                  <c:v>13.52</c:v>
                </c:pt>
                <c:pt idx="249">
                  <c:v>12.75</c:v>
                </c:pt>
                <c:pt idx="250">
                  <c:v>12.3</c:v>
                </c:pt>
                <c:pt idx="251">
                  <c:v>11.92</c:v>
                </c:pt>
                <c:pt idx="252">
                  <c:v>12.99</c:v>
                </c:pt>
                <c:pt idx="253">
                  <c:v>14.17</c:v>
                </c:pt>
                <c:pt idx="254">
                  <c:v>14.38</c:v>
                </c:pt>
                <c:pt idx="255">
                  <c:v>14.73</c:v>
                </c:pt>
                <c:pt idx="256">
                  <c:v>13.9</c:v>
                </c:pt>
                <c:pt idx="257">
                  <c:v>14.65</c:v>
                </c:pt>
                <c:pt idx="258">
                  <c:v>14.78</c:v>
                </c:pt>
                <c:pt idx="259">
                  <c:v>14.92</c:v>
                </c:pt>
                <c:pt idx="260">
                  <c:v>15.16</c:v>
                </c:pt>
                <c:pt idx="261">
                  <c:v>15.16</c:v>
                </c:pt>
                <c:pt idx="262">
                  <c:v>15.16</c:v>
                </c:pt>
                <c:pt idx="263">
                  <c:v>15.16</c:v>
                </c:pt>
                <c:pt idx="264">
                  <c:v>13.9</c:v>
                </c:pt>
                <c:pt idx="265">
                  <c:v>13.9</c:v>
                </c:pt>
                <c:pt idx="266">
                  <c:v>14.83</c:v>
                </c:pt>
                <c:pt idx="267">
                  <c:v>14.8</c:v>
                </c:pt>
                <c:pt idx="268">
                  <c:v>14.78</c:v>
                </c:pt>
                <c:pt idx="269">
                  <c:v>14.73</c:v>
                </c:pt>
                <c:pt idx="270">
                  <c:v>14.69</c:v>
                </c:pt>
                <c:pt idx="271">
                  <c:v>14.69</c:v>
                </c:pt>
                <c:pt idx="272">
                  <c:v>14.69</c:v>
                </c:pt>
                <c:pt idx="273">
                  <c:v>14.62</c:v>
                </c:pt>
                <c:pt idx="274">
                  <c:v>14.1</c:v>
                </c:pt>
                <c:pt idx="275">
                  <c:v>14.69</c:v>
                </c:pt>
                <c:pt idx="276">
                  <c:v>14.92</c:v>
                </c:pt>
                <c:pt idx="277">
                  <c:v>14.84</c:v>
                </c:pt>
                <c:pt idx="278">
                  <c:v>14.77</c:v>
                </c:pt>
                <c:pt idx="279">
                  <c:v>14.65</c:v>
                </c:pt>
                <c:pt idx="280">
                  <c:v>13.9</c:v>
                </c:pt>
                <c:pt idx="281">
                  <c:v>13</c:v>
                </c:pt>
                <c:pt idx="282">
                  <c:v>12.95</c:v>
                </c:pt>
                <c:pt idx="283">
                  <c:v>13.9</c:v>
                </c:pt>
                <c:pt idx="284">
                  <c:v>14.62</c:v>
                </c:pt>
                <c:pt idx="285">
                  <c:v>13.9</c:v>
                </c:pt>
                <c:pt idx="286">
                  <c:v>14.14</c:v>
                </c:pt>
                <c:pt idx="287">
                  <c:v>13.9</c:v>
                </c:pt>
                <c:pt idx="288">
                  <c:v>11.98</c:v>
                </c:pt>
                <c:pt idx="289">
                  <c:v>12.03</c:v>
                </c:pt>
                <c:pt idx="290">
                  <c:v>12.08</c:v>
                </c:pt>
                <c:pt idx="291">
                  <c:v>12.33</c:v>
                </c:pt>
                <c:pt idx="292">
                  <c:v>12.67</c:v>
                </c:pt>
                <c:pt idx="293">
                  <c:v>14.02</c:v>
                </c:pt>
                <c:pt idx="294">
                  <c:v>14.41</c:v>
                </c:pt>
                <c:pt idx="295">
                  <c:v>14.34</c:v>
                </c:pt>
                <c:pt idx="296">
                  <c:v>12.88</c:v>
                </c:pt>
                <c:pt idx="297">
                  <c:v>12.18</c:v>
                </c:pt>
                <c:pt idx="298">
                  <c:v>12.28</c:v>
                </c:pt>
                <c:pt idx="299">
                  <c:v>12.22</c:v>
                </c:pt>
                <c:pt idx="300">
                  <c:v>12.99</c:v>
                </c:pt>
                <c:pt idx="301">
                  <c:v>13.9</c:v>
                </c:pt>
                <c:pt idx="302">
                  <c:v>14.22</c:v>
                </c:pt>
                <c:pt idx="303">
                  <c:v>14.67</c:v>
                </c:pt>
                <c:pt idx="304">
                  <c:v>14.07</c:v>
                </c:pt>
                <c:pt idx="305">
                  <c:v>14.65</c:v>
                </c:pt>
                <c:pt idx="306">
                  <c:v>14.73</c:v>
                </c:pt>
                <c:pt idx="307">
                  <c:v>14.92</c:v>
                </c:pt>
                <c:pt idx="308">
                  <c:v>15.16</c:v>
                </c:pt>
                <c:pt idx="309">
                  <c:v>14.92</c:v>
                </c:pt>
                <c:pt idx="310">
                  <c:v>15.04</c:v>
                </c:pt>
                <c:pt idx="311">
                  <c:v>14.92</c:v>
                </c:pt>
                <c:pt idx="312">
                  <c:v>13.9</c:v>
                </c:pt>
                <c:pt idx="313">
                  <c:v>13.9</c:v>
                </c:pt>
                <c:pt idx="314">
                  <c:v>14.82</c:v>
                </c:pt>
                <c:pt idx="315">
                  <c:v>14.9</c:v>
                </c:pt>
                <c:pt idx="316">
                  <c:v>14.78</c:v>
                </c:pt>
                <c:pt idx="317">
                  <c:v>14.78</c:v>
                </c:pt>
                <c:pt idx="318">
                  <c:v>14.73</c:v>
                </c:pt>
                <c:pt idx="319">
                  <c:v>14.73</c:v>
                </c:pt>
                <c:pt idx="320">
                  <c:v>14.62</c:v>
                </c:pt>
                <c:pt idx="321">
                  <c:v>14.52</c:v>
                </c:pt>
                <c:pt idx="322">
                  <c:v>13.9</c:v>
                </c:pt>
                <c:pt idx="323">
                  <c:v>13.9</c:v>
                </c:pt>
                <c:pt idx="324">
                  <c:v>14.1</c:v>
                </c:pt>
                <c:pt idx="325">
                  <c:v>14.3</c:v>
                </c:pt>
                <c:pt idx="326">
                  <c:v>14.15</c:v>
                </c:pt>
                <c:pt idx="327">
                  <c:v>13.95</c:v>
                </c:pt>
                <c:pt idx="328">
                  <c:v>13.98</c:v>
                </c:pt>
                <c:pt idx="329">
                  <c:v>13.85</c:v>
                </c:pt>
                <c:pt idx="330">
                  <c:v>13.9</c:v>
                </c:pt>
                <c:pt idx="331">
                  <c:v>13.9</c:v>
                </c:pt>
                <c:pt idx="332">
                  <c:v>14.84</c:v>
                </c:pt>
                <c:pt idx="333">
                  <c:v>14.69</c:v>
                </c:pt>
                <c:pt idx="334">
                  <c:v>14.69</c:v>
                </c:pt>
                <c:pt idx="335">
                  <c:v>14.65</c:v>
                </c:pt>
                <c:pt idx="336">
                  <c:v>9.64</c:v>
                </c:pt>
                <c:pt idx="337">
                  <c:v>9.58</c:v>
                </c:pt>
                <c:pt idx="338">
                  <c:v>10</c:v>
                </c:pt>
                <c:pt idx="339">
                  <c:v>12.23</c:v>
                </c:pt>
                <c:pt idx="340">
                  <c:v>12.7</c:v>
                </c:pt>
                <c:pt idx="341">
                  <c:v>12.84</c:v>
                </c:pt>
                <c:pt idx="342">
                  <c:v>12.88</c:v>
                </c:pt>
                <c:pt idx="343">
                  <c:v>12.8</c:v>
                </c:pt>
                <c:pt idx="344">
                  <c:v>12.81</c:v>
                </c:pt>
                <c:pt idx="345">
                  <c:v>12.56</c:v>
                </c:pt>
                <c:pt idx="346">
                  <c:v>12.42</c:v>
                </c:pt>
                <c:pt idx="347">
                  <c:v>12.05</c:v>
                </c:pt>
                <c:pt idx="348">
                  <c:v>12.79</c:v>
                </c:pt>
                <c:pt idx="349">
                  <c:v>12.85</c:v>
                </c:pt>
                <c:pt idx="350">
                  <c:v>12.99</c:v>
                </c:pt>
                <c:pt idx="351">
                  <c:v>13.33</c:v>
                </c:pt>
                <c:pt idx="352">
                  <c:v>12.99</c:v>
                </c:pt>
                <c:pt idx="353">
                  <c:v>14.31</c:v>
                </c:pt>
                <c:pt idx="354">
                  <c:v>15.24</c:v>
                </c:pt>
                <c:pt idx="355">
                  <c:v>15.35</c:v>
                </c:pt>
                <c:pt idx="356">
                  <c:v>15.51</c:v>
                </c:pt>
                <c:pt idx="357">
                  <c:v>15.3</c:v>
                </c:pt>
                <c:pt idx="358">
                  <c:v>15.51</c:v>
                </c:pt>
                <c:pt idx="359">
                  <c:v>15.41</c:v>
                </c:pt>
                <c:pt idx="360">
                  <c:v>14.4</c:v>
                </c:pt>
                <c:pt idx="361">
                  <c:v>14.32</c:v>
                </c:pt>
                <c:pt idx="362">
                  <c:v>14.78</c:v>
                </c:pt>
                <c:pt idx="363">
                  <c:v>14.81</c:v>
                </c:pt>
                <c:pt idx="364">
                  <c:v>14.84</c:v>
                </c:pt>
                <c:pt idx="365">
                  <c:v>14.65</c:v>
                </c:pt>
                <c:pt idx="366">
                  <c:v>14.57</c:v>
                </c:pt>
                <c:pt idx="367">
                  <c:v>14.59</c:v>
                </c:pt>
                <c:pt idx="368">
                  <c:v>14.53</c:v>
                </c:pt>
                <c:pt idx="369">
                  <c:v>14.39</c:v>
                </c:pt>
                <c:pt idx="370">
                  <c:v>14.06</c:v>
                </c:pt>
                <c:pt idx="371">
                  <c:v>14.06</c:v>
                </c:pt>
                <c:pt idx="372">
                  <c:v>14.07</c:v>
                </c:pt>
                <c:pt idx="373">
                  <c:v>14.14</c:v>
                </c:pt>
                <c:pt idx="374">
                  <c:v>13.9</c:v>
                </c:pt>
                <c:pt idx="375">
                  <c:v>13.86</c:v>
                </c:pt>
                <c:pt idx="376">
                  <c:v>13.63</c:v>
                </c:pt>
                <c:pt idx="377">
                  <c:v>13.17</c:v>
                </c:pt>
                <c:pt idx="378">
                  <c:v>13.63</c:v>
                </c:pt>
                <c:pt idx="379">
                  <c:v>13.17</c:v>
                </c:pt>
                <c:pt idx="380">
                  <c:v>13.17</c:v>
                </c:pt>
                <c:pt idx="381">
                  <c:v>13.35</c:v>
                </c:pt>
                <c:pt idx="382">
                  <c:v>13.63</c:v>
                </c:pt>
                <c:pt idx="383">
                  <c:v>13.63</c:v>
                </c:pt>
                <c:pt idx="384">
                  <c:v>9.5</c:v>
                </c:pt>
                <c:pt idx="385">
                  <c:v>9.58</c:v>
                </c:pt>
                <c:pt idx="386">
                  <c:v>10</c:v>
                </c:pt>
                <c:pt idx="387">
                  <c:v>10</c:v>
                </c:pt>
                <c:pt idx="388">
                  <c:v>10</c:v>
                </c:pt>
                <c:pt idx="389">
                  <c:v>10</c:v>
                </c:pt>
                <c:pt idx="390">
                  <c:v>10</c:v>
                </c:pt>
                <c:pt idx="391">
                  <c:v>10</c:v>
                </c:pt>
                <c:pt idx="392">
                  <c:v>10.16</c:v>
                </c:pt>
                <c:pt idx="393">
                  <c:v>10</c:v>
                </c:pt>
                <c:pt idx="394">
                  <c:v>10</c:v>
                </c:pt>
                <c:pt idx="395">
                  <c:v>10</c:v>
                </c:pt>
                <c:pt idx="396">
                  <c:v>10.75</c:v>
                </c:pt>
                <c:pt idx="397">
                  <c:v>11.43</c:v>
                </c:pt>
                <c:pt idx="398">
                  <c:v>11.63</c:v>
                </c:pt>
                <c:pt idx="399">
                  <c:v>11.8</c:v>
                </c:pt>
                <c:pt idx="400">
                  <c:v>9.32</c:v>
                </c:pt>
                <c:pt idx="401">
                  <c:v>9.32</c:v>
                </c:pt>
                <c:pt idx="402">
                  <c:v>9.0299999999999994</c:v>
                </c:pt>
                <c:pt idx="403">
                  <c:v>9.32</c:v>
                </c:pt>
                <c:pt idx="404">
                  <c:v>11.33</c:v>
                </c:pt>
                <c:pt idx="405">
                  <c:v>11.24</c:v>
                </c:pt>
                <c:pt idx="406">
                  <c:v>11.88</c:v>
                </c:pt>
                <c:pt idx="407">
                  <c:v>11.77</c:v>
                </c:pt>
                <c:pt idx="408">
                  <c:v>11.65</c:v>
                </c:pt>
                <c:pt idx="409">
                  <c:v>9.58</c:v>
                </c:pt>
                <c:pt idx="410">
                  <c:v>11.71</c:v>
                </c:pt>
                <c:pt idx="411">
                  <c:v>11.84</c:v>
                </c:pt>
                <c:pt idx="412">
                  <c:v>11.91</c:v>
                </c:pt>
                <c:pt idx="413">
                  <c:v>11.66</c:v>
                </c:pt>
                <c:pt idx="414">
                  <c:v>11.09</c:v>
                </c:pt>
                <c:pt idx="415">
                  <c:v>11.6</c:v>
                </c:pt>
                <c:pt idx="416">
                  <c:v>11.83</c:v>
                </c:pt>
                <c:pt idx="417">
                  <c:v>11.81</c:v>
                </c:pt>
                <c:pt idx="418">
                  <c:v>9.58</c:v>
                </c:pt>
                <c:pt idx="419">
                  <c:v>9.58</c:v>
                </c:pt>
                <c:pt idx="420">
                  <c:v>12.8</c:v>
                </c:pt>
                <c:pt idx="421">
                  <c:v>13.9</c:v>
                </c:pt>
                <c:pt idx="422">
                  <c:v>14.06</c:v>
                </c:pt>
                <c:pt idx="423">
                  <c:v>13.9</c:v>
                </c:pt>
                <c:pt idx="424">
                  <c:v>13.9</c:v>
                </c:pt>
                <c:pt idx="425">
                  <c:v>12.92</c:v>
                </c:pt>
                <c:pt idx="426">
                  <c:v>11.92</c:v>
                </c:pt>
                <c:pt idx="427">
                  <c:v>8.98</c:v>
                </c:pt>
                <c:pt idx="428">
                  <c:v>8.6</c:v>
                </c:pt>
                <c:pt idx="429">
                  <c:v>8.6</c:v>
                </c:pt>
                <c:pt idx="430">
                  <c:v>8.6</c:v>
                </c:pt>
                <c:pt idx="431">
                  <c:v>9.58</c:v>
                </c:pt>
                <c:pt idx="432">
                  <c:v>9.6999999999999993</c:v>
                </c:pt>
                <c:pt idx="433">
                  <c:v>9.58</c:v>
                </c:pt>
                <c:pt idx="434">
                  <c:v>9.4</c:v>
                </c:pt>
                <c:pt idx="435">
                  <c:v>9.32</c:v>
                </c:pt>
                <c:pt idx="436">
                  <c:v>9.32</c:v>
                </c:pt>
                <c:pt idx="437">
                  <c:v>9.32</c:v>
                </c:pt>
                <c:pt idx="438">
                  <c:v>9.32</c:v>
                </c:pt>
                <c:pt idx="439">
                  <c:v>9.32</c:v>
                </c:pt>
                <c:pt idx="440">
                  <c:v>9.32</c:v>
                </c:pt>
                <c:pt idx="441">
                  <c:v>9.32</c:v>
                </c:pt>
                <c:pt idx="442">
                  <c:v>9.32</c:v>
                </c:pt>
                <c:pt idx="443">
                  <c:v>9.32</c:v>
                </c:pt>
                <c:pt idx="444">
                  <c:v>9.58</c:v>
                </c:pt>
                <c:pt idx="445">
                  <c:v>9.64</c:v>
                </c:pt>
                <c:pt idx="446">
                  <c:v>9.58</c:v>
                </c:pt>
                <c:pt idx="447">
                  <c:v>9.58</c:v>
                </c:pt>
                <c:pt idx="448">
                  <c:v>8.82</c:v>
                </c:pt>
                <c:pt idx="449">
                  <c:v>8.43</c:v>
                </c:pt>
                <c:pt idx="450">
                  <c:v>8.25</c:v>
                </c:pt>
                <c:pt idx="451">
                  <c:v>8.82</c:v>
                </c:pt>
                <c:pt idx="452">
                  <c:v>8.86</c:v>
                </c:pt>
                <c:pt idx="453">
                  <c:v>8.86</c:v>
                </c:pt>
                <c:pt idx="454">
                  <c:v>8.86</c:v>
                </c:pt>
                <c:pt idx="455">
                  <c:v>8.86</c:v>
                </c:pt>
                <c:pt idx="456">
                  <c:v>8</c:v>
                </c:pt>
                <c:pt idx="457">
                  <c:v>8</c:v>
                </c:pt>
                <c:pt idx="458">
                  <c:v>8.25</c:v>
                </c:pt>
                <c:pt idx="459">
                  <c:v>8.25</c:v>
                </c:pt>
                <c:pt idx="460">
                  <c:v>8.25</c:v>
                </c:pt>
                <c:pt idx="461">
                  <c:v>8.25</c:v>
                </c:pt>
                <c:pt idx="462">
                  <c:v>8.2200000000000006</c:v>
                </c:pt>
                <c:pt idx="463">
                  <c:v>8.2200000000000006</c:v>
                </c:pt>
                <c:pt idx="464">
                  <c:v>8</c:v>
                </c:pt>
                <c:pt idx="465">
                  <c:v>8</c:v>
                </c:pt>
                <c:pt idx="466">
                  <c:v>8</c:v>
                </c:pt>
                <c:pt idx="467">
                  <c:v>8.3800000000000008</c:v>
                </c:pt>
                <c:pt idx="468">
                  <c:v>8.74</c:v>
                </c:pt>
                <c:pt idx="469">
                  <c:v>8.74</c:v>
                </c:pt>
                <c:pt idx="470">
                  <c:v>11.6</c:v>
                </c:pt>
                <c:pt idx="471">
                  <c:v>11.02</c:v>
                </c:pt>
                <c:pt idx="472">
                  <c:v>9.3000000000000007</c:v>
                </c:pt>
                <c:pt idx="473">
                  <c:v>8.89</c:v>
                </c:pt>
                <c:pt idx="474">
                  <c:v>9</c:v>
                </c:pt>
                <c:pt idx="475">
                  <c:v>8.57</c:v>
                </c:pt>
                <c:pt idx="476">
                  <c:v>8.9</c:v>
                </c:pt>
                <c:pt idx="477">
                  <c:v>8.5</c:v>
                </c:pt>
                <c:pt idx="478">
                  <c:v>8.49</c:v>
                </c:pt>
                <c:pt idx="479">
                  <c:v>9.18</c:v>
                </c:pt>
                <c:pt idx="480">
                  <c:v>10</c:v>
                </c:pt>
                <c:pt idx="481">
                  <c:v>10</c:v>
                </c:pt>
                <c:pt idx="482">
                  <c:v>9.32</c:v>
                </c:pt>
                <c:pt idx="483">
                  <c:v>10.74</c:v>
                </c:pt>
                <c:pt idx="484">
                  <c:v>11</c:v>
                </c:pt>
                <c:pt idx="485">
                  <c:v>11</c:v>
                </c:pt>
                <c:pt idx="486">
                  <c:v>11</c:v>
                </c:pt>
                <c:pt idx="487">
                  <c:v>11</c:v>
                </c:pt>
                <c:pt idx="488">
                  <c:v>11</c:v>
                </c:pt>
                <c:pt idx="489">
                  <c:v>11</c:v>
                </c:pt>
                <c:pt idx="490">
                  <c:v>10</c:v>
                </c:pt>
                <c:pt idx="491">
                  <c:v>9.32</c:v>
                </c:pt>
                <c:pt idx="492">
                  <c:v>8.82</c:v>
                </c:pt>
                <c:pt idx="493">
                  <c:v>9.64</c:v>
                </c:pt>
                <c:pt idx="494">
                  <c:v>10.02</c:v>
                </c:pt>
                <c:pt idx="495">
                  <c:v>11.84</c:v>
                </c:pt>
                <c:pt idx="496">
                  <c:v>12.12</c:v>
                </c:pt>
                <c:pt idx="497">
                  <c:v>13.36</c:v>
                </c:pt>
                <c:pt idx="498">
                  <c:v>15.61</c:v>
                </c:pt>
                <c:pt idx="499">
                  <c:v>15.63</c:v>
                </c:pt>
                <c:pt idx="500">
                  <c:v>15.62</c:v>
                </c:pt>
                <c:pt idx="501">
                  <c:v>15.81</c:v>
                </c:pt>
                <c:pt idx="502">
                  <c:v>15.69</c:v>
                </c:pt>
                <c:pt idx="503">
                  <c:v>14.55</c:v>
                </c:pt>
                <c:pt idx="504">
                  <c:v>13.83</c:v>
                </c:pt>
                <c:pt idx="505">
                  <c:v>12.54</c:v>
                </c:pt>
                <c:pt idx="506">
                  <c:v>15.31</c:v>
                </c:pt>
                <c:pt idx="507">
                  <c:v>15.43</c:v>
                </c:pt>
                <c:pt idx="508">
                  <c:v>15.4</c:v>
                </c:pt>
                <c:pt idx="509">
                  <c:v>14.93</c:v>
                </c:pt>
                <c:pt idx="510">
                  <c:v>14.42</c:v>
                </c:pt>
                <c:pt idx="511">
                  <c:v>14.85</c:v>
                </c:pt>
                <c:pt idx="512">
                  <c:v>14.15</c:v>
                </c:pt>
                <c:pt idx="513">
                  <c:v>13.44</c:v>
                </c:pt>
                <c:pt idx="514">
                  <c:v>12.44</c:v>
                </c:pt>
                <c:pt idx="515">
                  <c:v>12.28</c:v>
                </c:pt>
                <c:pt idx="516">
                  <c:v>13.34</c:v>
                </c:pt>
                <c:pt idx="517">
                  <c:v>14.57</c:v>
                </c:pt>
                <c:pt idx="518">
                  <c:v>14.49</c:v>
                </c:pt>
                <c:pt idx="519">
                  <c:v>13.76</c:v>
                </c:pt>
                <c:pt idx="520">
                  <c:v>12.46</c:v>
                </c:pt>
                <c:pt idx="521">
                  <c:v>10.02</c:v>
                </c:pt>
                <c:pt idx="522">
                  <c:v>9.31</c:v>
                </c:pt>
                <c:pt idx="523">
                  <c:v>10.02</c:v>
                </c:pt>
                <c:pt idx="524">
                  <c:v>11.33</c:v>
                </c:pt>
                <c:pt idx="525">
                  <c:v>11.11</c:v>
                </c:pt>
                <c:pt idx="526">
                  <c:v>11.39</c:v>
                </c:pt>
                <c:pt idx="527">
                  <c:v>10.29</c:v>
                </c:pt>
                <c:pt idx="528">
                  <c:v>8.1</c:v>
                </c:pt>
                <c:pt idx="529">
                  <c:v>7.4</c:v>
                </c:pt>
                <c:pt idx="530">
                  <c:v>8.1</c:v>
                </c:pt>
                <c:pt idx="531">
                  <c:v>8.2899999999999991</c:v>
                </c:pt>
                <c:pt idx="532">
                  <c:v>8.57</c:v>
                </c:pt>
                <c:pt idx="533">
                  <c:v>8.57</c:v>
                </c:pt>
                <c:pt idx="534">
                  <c:v>8.57</c:v>
                </c:pt>
                <c:pt idx="535">
                  <c:v>10</c:v>
                </c:pt>
                <c:pt idx="536">
                  <c:v>9.6999999999999993</c:v>
                </c:pt>
                <c:pt idx="537">
                  <c:v>10</c:v>
                </c:pt>
                <c:pt idx="538">
                  <c:v>9.9</c:v>
                </c:pt>
                <c:pt idx="539">
                  <c:v>9.1199999999999992</c:v>
                </c:pt>
                <c:pt idx="540">
                  <c:v>8.76</c:v>
                </c:pt>
                <c:pt idx="541">
                  <c:v>9.58</c:v>
                </c:pt>
                <c:pt idx="542">
                  <c:v>9.42</c:v>
                </c:pt>
                <c:pt idx="543">
                  <c:v>11.7</c:v>
                </c:pt>
                <c:pt idx="544">
                  <c:v>10.029999999999999</c:v>
                </c:pt>
                <c:pt idx="545">
                  <c:v>13.14</c:v>
                </c:pt>
                <c:pt idx="546">
                  <c:v>13.9</c:v>
                </c:pt>
                <c:pt idx="547">
                  <c:v>14.29</c:v>
                </c:pt>
                <c:pt idx="548">
                  <c:v>14.29</c:v>
                </c:pt>
                <c:pt idx="549">
                  <c:v>14.03</c:v>
                </c:pt>
                <c:pt idx="550">
                  <c:v>13.63</c:v>
                </c:pt>
                <c:pt idx="551">
                  <c:v>13.63</c:v>
                </c:pt>
                <c:pt idx="552">
                  <c:v>10.95</c:v>
                </c:pt>
                <c:pt idx="553">
                  <c:v>10.65</c:v>
                </c:pt>
                <c:pt idx="554">
                  <c:v>13.9</c:v>
                </c:pt>
                <c:pt idx="555">
                  <c:v>13.9</c:v>
                </c:pt>
                <c:pt idx="556">
                  <c:v>13.81</c:v>
                </c:pt>
                <c:pt idx="557">
                  <c:v>13.09</c:v>
                </c:pt>
                <c:pt idx="558">
                  <c:v>12.9</c:v>
                </c:pt>
                <c:pt idx="559">
                  <c:v>13.64</c:v>
                </c:pt>
                <c:pt idx="560">
                  <c:v>13.54</c:v>
                </c:pt>
                <c:pt idx="561">
                  <c:v>11.7</c:v>
                </c:pt>
                <c:pt idx="562">
                  <c:v>10.92</c:v>
                </c:pt>
                <c:pt idx="563">
                  <c:v>10.73</c:v>
                </c:pt>
                <c:pt idx="564">
                  <c:v>11.17</c:v>
                </c:pt>
                <c:pt idx="565">
                  <c:v>13.63</c:v>
                </c:pt>
                <c:pt idx="566">
                  <c:v>12.7</c:v>
                </c:pt>
                <c:pt idx="567">
                  <c:v>12.45</c:v>
                </c:pt>
                <c:pt idx="568">
                  <c:v>11.41</c:v>
                </c:pt>
                <c:pt idx="569">
                  <c:v>9.6199999999999992</c:v>
                </c:pt>
                <c:pt idx="570">
                  <c:v>8.7200000000000006</c:v>
                </c:pt>
                <c:pt idx="571">
                  <c:v>9.58</c:v>
                </c:pt>
                <c:pt idx="572">
                  <c:v>10</c:v>
                </c:pt>
                <c:pt idx="573">
                  <c:v>9.64</c:v>
                </c:pt>
                <c:pt idx="574">
                  <c:v>9.58</c:v>
                </c:pt>
                <c:pt idx="575">
                  <c:v>9.75</c:v>
                </c:pt>
                <c:pt idx="576">
                  <c:v>7.2</c:v>
                </c:pt>
                <c:pt idx="577">
                  <c:v>7.14</c:v>
                </c:pt>
                <c:pt idx="578">
                  <c:v>8.1</c:v>
                </c:pt>
                <c:pt idx="579">
                  <c:v>8.49</c:v>
                </c:pt>
                <c:pt idx="580">
                  <c:v>8.65</c:v>
                </c:pt>
                <c:pt idx="581">
                  <c:v>8.65</c:v>
                </c:pt>
                <c:pt idx="582">
                  <c:v>8.65</c:v>
                </c:pt>
                <c:pt idx="583">
                  <c:v>10</c:v>
                </c:pt>
                <c:pt idx="584">
                  <c:v>9.9</c:v>
                </c:pt>
                <c:pt idx="585">
                  <c:v>10</c:v>
                </c:pt>
                <c:pt idx="586">
                  <c:v>10</c:v>
                </c:pt>
                <c:pt idx="587">
                  <c:v>9.8800000000000008</c:v>
                </c:pt>
                <c:pt idx="588">
                  <c:v>9.81</c:v>
                </c:pt>
                <c:pt idx="589">
                  <c:v>12.35</c:v>
                </c:pt>
                <c:pt idx="590">
                  <c:v>10.82</c:v>
                </c:pt>
                <c:pt idx="591">
                  <c:v>12.5</c:v>
                </c:pt>
                <c:pt idx="592">
                  <c:v>9.93</c:v>
                </c:pt>
                <c:pt idx="593">
                  <c:v>13.14</c:v>
                </c:pt>
                <c:pt idx="594">
                  <c:v>13.35</c:v>
                </c:pt>
                <c:pt idx="595">
                  <c:v>13.46</c:v>
                </c:pt>
                <c:pt idx="596">
                  <c:v>14.1</c:v>
                </c:pt>
                <c:pt idx="597">
                  <c:v>13.97</c:v>
                </c:pt>
                <c:pt idx="598">
                  <c:v>13.9</c:v>
                </c:pt>
                <c:pt idx="599">
                  <c:v>13.83</c:v>
                </c:pt>
                <c:pt idx="600">
                  <c:v>10.95</c:v>
                </c:pt>
                <c:pt idx="601">
                  <c:v>10.65</c:v>
                </c:pt>
                <c:pt idx="602">
                  <c:v>13.12</c:v>
                </c:pt>
                <c:pt idx="603">
                  <c:v>13.16</c:v>
                </c:pt>
                <c:pt idx="604">
                  <c:v>13.11</c:v>
                </c:pt>
                <c:pt idx="605">
                  <c:v>12.89</c:v>
                </c:pt>
                <c:pt idx="606">
                  <c:v>12.7</c:v>
                </c:pt>
                <c:pt idx="607">
                  <c:v>12.8</c:v>
                </c:pt>
                <c:pt idx="608">
                  <c:v>12.75</c:v>
                </c:pt>
                <c:pt idx="609">
                  <c:v>11.8</c:v>
                </c:pt>
                <c:pt idx="610">
                  <c:v>11.12</c:v>
                </c:pt>
                <c:pt idx="611">
                  <c:v>10.83</c:v>
                </c:pt>
                <c:pt idx="612">
                  <c:v>11.44</c:v>
                </c:pt>
                <c:pt idx="613">
                  <c:v>13.73</c:v>
                </c:pt>
                <c:pt idx="614">
                  <c:v>13.06</c:v>
                </c:pt>
                <c:pt idx="615">
                  <c:v>12.7</c:v>
                </c:pt>
                <c:pt idx="616">
                  <c:v>12.07</c:v>
                </c:pt>
                <c:pt idx="617">
                  <c:v>9.92</c:v>
                </c:pt>
                <c:pt idx="618">
                  <c:v>8.7200000000000006</c:v>
                </c:pt>
                <c:pt idx="619">
                  <c:v>9.74</c:v>
                </c:pt>
                <c:pt idx="620">
                  <c:v>10</c:v>
                </c:pt>
                <c:pt idx="621">
                  <c:v>9.32</c:v>
                </c:pt>
                <c:pt idx="622">
                  <c:v>9.58</c:v>
                </c:pt>
                <c:pt idx="623">
                  <c:v>9.58</c:v>
                </c:pt>
                <c:pt idx="624">
                  <c:v>6.93</c:v>
                </c:pt>
                <c:pt idx="625">
                  <c:v>6.81</c:v>
                </c:pt>
                <c:pt idx="626">
                  <c:v>7.62</c:v>
                </c:pt>
                <c:pt idx="627">
                  <c:v>8.42</c:v>
                </c:pt>
                <c:pt idx="628">
                  <c:v>8.4499999999999993</c:v>
                </c:pt>
                <c:pt idx="629">
                  <c:v>8.4499999999999993</c:v>
                </c:pt>
                <c:pt idx="630">
                  <c:v>8.4499999999999993</c:v>
                </c:pt>
                <c:pt idx="631">
                  <c:v>8.49</c:v>
                </c:pt>
                <c:pt idx="632">
                  <c:v>8.5299999999999994</c:v>
                </c:pt>
                <c:pt idx="633">
                  <c:v>8.5299999999999994</c:v>
                </c:pt>
                <c:pt idx="634">
                  <c:v>8.58</c:v>
                </c:pt>
                <c:pt idx="635">
                  <c:v>8.6999999999999993</c:v>
                </c:pt>
                <c:pt idx="636">
                  <c:v>9.0399999999999991</c:v>
                </c:pt>
                <c:pt idx="637">
                  <c:v>9.02</c:v>
                </c:pt>
                <c:pt idx="638">
                  <c:v>9.7100000000000009</c:v>
                </c:pt>
                <c:pt idx="639">
                  <c:v>9.7100000000000009</c:v>
                </c:pt>
                <c:pt idx="640">
                  <c:v>9.9</c:v>
                </c:pt>
                <c:pt idx="641">
                  <c:v>11.53</c:v>
                </c:pt>
                <c:pt idx="642">
                  <c:v>12.35</c:v>
                </c:pt>
                <c:pt idx="643">
                  <c:v>12.51</c:v>
                </c:pt>
                <c:pt idx="644">
                  <c:v>12.95</c:v>
                </c:pt>
                <c:pt idx="645">
                  <c:v>13.09</c:v>
                </c:pt>
                <c:pt idx="646">
                  <c:v>12.05</c:v>
                </c:pt>
                <c:pt idx="647">
                  <c:v>11.74</c:v>
                </c:pt>
                <c:pt idx="648">
                  <c:v>8.6999999999999993</c:v>
                </c:pt>
                <c:pt idx="649">
                  <c:v>8.9600000000000009</c:v>
                </c:pt>
                <c:pt idx="650">
                  <c:v>11.16</c:v>
                </c:pt>
                <c:pt idx="651">
                  <c:v>11.33</c:v>
                </c:pt>
                <c:pt idx="652">
                  <c:v>11.07</c:v>
                </c:pt>
                <c:pt idx="653">
                  <c:v>10.36</c:v>
                </c:pt>
                <c:pt idx="654">
                  <c:v>10.039999999999999</c:v>
                </c:pt>
                <c:pt idx="655">
                  <c:v>10.09</c:v>
                </c:pt>
                <c:pt idx="656">
                  <c:v>10.25</c:v>
                </c:pt>
                <c:pt idx="657">
                  <c:v>9.9</c:v>
                </c:pt>
                <c:pt idx="658">
                  <c:v>9.9</c:v>
                </c:pt>
                <c:pt idx="659">
                  <c:v>9.9</c:v>
                </c:pt>
                <c:pt idx="660">
                  <c:v>9.9</c:v>
                </c:pt>
                <c:pt idx="661">
                  <c:v>9.9</c:v>
                </c:pt>
                <c:pt idx="662">
                  <c:v>9.3800000000000008</c:v>
                </c:pt>
                <c:pt idx="663">
                  <c:v>9.3800000000000008</c:v>
                </c:pt>
                <c:pt idx="664">
                  <c:v>9.2899999999999991</c:v>
                </c:pt>
                <c:pt idx="665">
                  <c:v>9.2899999999999991</c:v>
                </c:pt>
                <c:pt idx="666">
                  <c:v>8.6300000000000008</c:v>
                </c:pt>
                <c:pt idx="667">
                  <c:v>9.5399999999999991</c:v>
                </c:pt>
                <c:pt idx="668">
                  <c:v>9.7100000000000009</c:v>
                </c:pt>
                <c:pt idx="669">
                  <c:v>9.32</c:v>
                </c:pt>
                <c:pt idx="670">
                  <c:v>9.2799999999999994</c:v>
                </c:pt>
                <c:pt idx="671">
                  <c:v>9.2799999999999994</c:v>
                </c:pt>
                <c:pt idx="672">
                  <c:v>6.73</c:v>
                </c:pt>
                <c:pt idx="673">
                  <c:v>6.61</c:v>
                </c:pt>
                <c:pt idx="674">
                  <c:v>7.15</c:v>
                </c:pt>
                <c:pt idx="675">
                  <c:v>8.32</c:v>
                </c:pt>
                <c:pt idx="676">
                  <c:v>8.35</c:v>
                </c:pt>
                <c:pt idx="677">
                  <c:v>8.35</c:v>
                </c:pt>
                <c:pt idx="678">
                  <c:v>8.35</c:v>
                </c:pt>
                <c:pt idx="679">
                  <c:v>8.39</c:v>
                </c:pt>
                <c:pt idx="680">
                  <c:v>8.43</c:v>
                </c:pt>
                <c:pt idx="681">
                  <c:v>8.39</c:v>
                </c:pt>
                <c:pt idx="682">
                  <c:v>8.42</c:v>
                </c:pt>
                <c:pt idx="683">
                  <c:v>8.49</c:v>
                </c:pt>
                <c:pt idx="684">
                  <c:v>8.6999999999999993</c:v>
                </c:pt>
                <c:pt idx="685">
                  <c:v>8.66</c:v>
                </c:pt>
                <c:pt idx="686">
                  <c:v>9.31</c:v>
                </c:pt>
                <c:pt idx="687">
                  <c:v>9.52</c:v>
                </c:pt>
                <c:pt idx="688">
                  <c:v>9.58</c:v>
                </c:pt>
                <c:pt idx="689">
                  <c:v>10.050000000000001</c:v>
                </c:pt>
                <c:pt idx="690">
                  <c:v>11.25</c:v>
                </c:pt>
                <c:pt idx="691">
                  <c:v>11.85</c:v>
                </c:pt>
                <c:pt idx="692">
                  <c:v>12.65</c:v>
                </c:pt>
                <c:pt idx="693">
                  <c:v>12.71</c:v>
                </c:pt>
                <c:pt idx="694">
                  <c:v>11.85</c:v>
                </c:pt>
                <c:pt idx="695">
                  <c:v>11.54</c:v>
                </c:pt>
                <c:pt idx="696">
                  <c:v>8.85</c:v>
                </c:pt>
                <c:pt idx="697">
                  <c:v>8.85</c:v>
                </c:pt>
                <c:pt idx="698">
                  <c:v>10.96</c:v>
                </c:pt>
                <c:pt idx="699">
                  <c:v>11.13</c:v>
                </c:pt>
                <c:pt idx="700">
                  <c:v>10.87</c:v>
                </c:pt>
                <c:pt idx="701">
                  <c:v>10.16</c:v>
                </c:pt>
                <c:pt idx="702">
                  <c:v>9.84</c:v>
                </c:pt>
                <c:pt idx="703">
                  <c:v>9.89</c:v>
                </c:pt>
                <c:pt idx="704">
                  <c:v>9.9499999999999993</c:v>
                </c:pt>
                <c:pt idx="705">
                  <c:v>9.68</c:v>
                </c:pt>
                <c:pt idx="706">
                  <c:v>9.84</c:v>
                </c:pt>
                <c:pt idx="707">
                  <c:v>9.7799999999999994</c:v>
                </c:pt>
                <c:pt idx="708">
                  <c:v>9.33</c:v>
                </c:pt>
                <c:pt idx="709">
                  <c:v>9.31</c:v>
                </c:pt>
                <c:pt idx="710">
                  <c:v>9.18</c:v>
                </c:pt>
                <c:pt idx="711">
                  <c:v>9.18</c:v>
                </c:pt>
                <c:pt idx="712">
                  <c:v>8.89</c:v>
                </c:pt>
                <c:pt idx="713">
                  <c:v>8.89</c:v>
                </c:pt>
                <c:pt idx="714">
                  <c:v>8.6</c:v>
                </c:pt>
                <c:pt idx="715">
                  <c:v>9.33</c:v>
                </c:pt>
                <c:pt idx="716">
                  <c:v>9.1999999999999993</c:v>
                </c:pt>
                <c:pt idx="717">
                  <c:v>9.2200000000000006</c:v>
                </c:pt>
                <c:pt idx="718">
                  <c:v>9.1</c:v>
                </c:pt>
                <c:pt idx="719">
                  <c:v>9.1</c:v>
                </c:pt>
                <c:pt idx="720">
                  <c:v>7.03</c:v>
                </c:pt>
                <c:pt idx="721">
                  <c:v>7.15</c:v>
                </c:pt>
                <c:pt idx="722">
                  <c:v>7.15</c:v>
                </c:pt>
                <c:pt idx="723">
                  <c:v>7.72</c:v>
                </c:pt>
                <c:pt idx="724">
                  <c:v>8.15</c:v>
                </c:pt>
                <c:pt idx="725">
                  <c:v>8.8000000000000007</c:v>
                </c:pt>
                <c:pt idx="726">
                  <c:v>8.8000000000000007</c:v>
                </c:pt>
                <c:pt idx="727">
                  <c:v>8.7899999999999991</c:v>
                </c:pt>
                <c:pt idx="728">
                  <c:v>8.43</c:v>
                </c:pt>
                <c:pt idx="729">
                  <c:v>7.63</c:v>
                </c:pt>
                <c:pt idx="730">
                  <c:v>7.82</c:v>
                </c:pt>
                <c:pt idx="731">
                  <c:v>7.25</c:v>
                </c:pt>
                <c:pt idx="732">
                  <c:v>7.23</c:v>
                </c:pt>
                <c:pt idx="733">
                  <c:v>7.13</c:v>
                </c:pt>
                <c:pt idx="734">
                  <c:v>8</c:v>
                </c:pt>
                <c:pt idx="735">
                  <c:v>8.51</c:v>
                </c:pt>
                <c:pt idx="736">
                  <c:v>7.63</c:v>
                </c:pt>
                <c:pt idx="737">
                  <c:v>7.23</c:v>
                </c:pt>
                <c:pt idx="738">
                  <c:v>8.5500000000000007</c:v>
                </c:pt>
                <c:pt idx="739">
                  <c:v>9.01</c:v>
                </c:pt>
                <c:pt idx="740">
                  <c:v>9.01</c:v>
                </c:pt>
                <c:pt idx="741">
                  <c:v>9.42</c:v>
                </c:pt>
                <c:pt idx="742">
                  <c:v>9.8699999999999992</c:v>
                </c:pt>
                <c:pt idx="743">
                  <c:v>10.35</c:v>
                </c:pt>
                <c:pt idx="744">
                  <c:v>8.23</c:v>
                </c:pt>
                <c:pt idx="745">
                  <c:v>8.25</c:v>
                </c:pt>
                <c:pt idx="746">
                  <c:v>9.0299999999999994</c:v>
                </c:pt>
                <c:pt idx="747">
                  <c:v>9.0299999999999994</c:v>
                </c:pt>
                <c:pt idx="748">
                  <c:v>9.42</c:v>
                </c:pt>
                <c:pt idx="749">
                  <c:v>9.0299999999999994</c:v>
                </c:pt>
                <c:pt idx="750">
                  <c:v>8.94</c:v>
                </c:pt>
                <c:pt idx="751">
                  <c:v>9.09</c:v>
                </c:pt>
                <c:pt idx="752">
                  <c:v>9.15</c:v>
                </c:pt>
                <c:pt idx="753">
                  <c:v>8.5500000000000007</c:v>
                </c:pt>
                <c:pt idx="754">
                  <c:v>8.59</c:v>
                </c:pt>
                <c:pt idx="755">
                  <c:v>8.59</c:v>
                </c:pt>
                <c:pt idx="756">
                  <c:v>8.6</c:v>
                </c:pt>
                <c:pt idx="757">
                  <c:v>8.6</c:v>
                </c:pt>
                <c:pt idx="758">
                  <c:v>8.6</c:v>
                </c:pt>
                <c:pt idx="759">
                  <c:v>8.6</c:v>
                </c:pt>
                <c:pt idx="760">
                  <c:v>8.39</c:v>
                </c:pt>
                <c:pt idx="761">
                  <c:v>8.06</c:v>
                </c:pt>
                <c:pt idx="762">
                  <c:v>7.89</c:v>
                </c:pt>
                <c:pt idx="763">
                  <c:v>8.5399999999999991</c:v>
                </c:pt>
                <c:pt idx="764">
                  <c:v>8.7899999999999991</c:v>
                </c:pt>
                <c:pt idx="765">
                  <c:v>9.02</c:v>
                </c:pt>
                <c:pt idx="766">
                  <c:v>8.6999999999999993</c:v>
                </c:pt>
                <c:pt idx="767">
                  <c:v>8.6999999999999993</c:v>
                </c:pt>
                <c:pt idx="768">
                  <c:v>7.99</c:v>
                </c:pt>
                <c:pt idx="769">
                  <c:v>7.53</c:v>
                </c:pt>
                <c:pt idx="770">
                  <c:v>7.58</c:v>
                </c:pt>
                <c:pt idx="771">
                  <c:v>8.3800000000000008</c:v>
                </c:pt>
                <c:pt idx="772">
                  <c:v>8.58</c:v>
                </c:pt>
                <c:pt idx="773">
                  <c:v>8.9</c:v>
                </c:pt>
                <c:pt idx="774">
                  <c:v>8.82</c:v>
                </c:pt>
                <c:pt idx="775">
                  <c:v>8.7200000000000006</c:v>
                </c:pt>
                <c:pt idx="776">
                  <c:v>8.4</c:v>
                </c:pt>
                <c:pt idx="777">
                  <c:v>8</c:v>
                </c:pt>
                <c:pt idx="778">
                  <c:v>7.87</c:v>
                </c:pt>
                <c:pt idx="779">
                  <c:v>7.53</c:v>
                </c:pt>
                <c:pt idx="780">
                  <c:v>7.48</c:v>
                </c:pt>
                <c:pt idx="781">
                  <c:v>7.48</c:v>
                </c:pt>
                <c:pt idx="782">
                  <c:v>8.18</c:v>
                </c:pt>
                <c:pt idx="783">
                  <c:v>8.18</c:v>
                </c:pt>
                <c:pt idx="784">
                  <c:v>7.58</c:v>
                </c:pt>
                <c:pt idx="785">
                  <c:v>7.38</c:v>
                </c:pt>
                <c:pt idx="786">
                  <c:v>7.86</c:v>
                </c:pt>
                <c:pt idx="787">
                  <c:v>8</c:v>
                </c:pt>
                <c:pt idx="788">
                  <c:v>8.56</c:v>
                </c:pt>
                <c:pt idx="789">
                  <c:v>7.46</c:v>
                </c:pt>
                <c:pt idx="790">
                  <c:v>7.48</c:v>
                </c:pt>
                <c:pt idx="791">
                  <c:v>7.48</c:v>
                </c:pt>
                <c:pt idx="792">
                  <c:v>8</c:v>
                </c:pt>
                <c:pt idx="793">
                  <c:v>8</c:v>
                </c:pt>
                <c:pt idx="794">
                  <c:v>8</c:v>
                </c:pt>
                <c:pt idx="795">
                  <c:v>8</c:v>
                </c:pt>
                <c:pt idx="796">
                  <c:v>8</c:v>
                </c:pt>
                <c:pt idx="797">
                  <c:v>8</c:v>
                </c:pt>
                <c:pt idx="798">
                  <c:v>8</c:v>
                </c:pt>
                <c:pt idx="799">
                  <c:v>8</c:v>
                </c:pt>
                <c:pt idx="800">
                  <c:v>8</c:v>
                </c:pt>
                <c:pt idx="801">
                  <c:v>8</c:v>
                </c:pt>
                <c:pt idx="802">
                  <c:v>7.86</c:v>
                </c:pt>
                <c:pt idx="803">
                  <c:v>8</c:v>
                </c:pt>
                <c:pt idx="804">
                  <c:v>8.5399999999999991</c:v>
                </c:pt>
                <c:pt idx="805">
                  <c:v>8.74</c:v>
                </c:pt>
                <c:pt idx="806">
                  <c:v>9.69</c:v>
                </c:pt>
                <c:pt idx="807">
                  <c:v>9.69</c:v>
                </c:pt>
                <c:pt idx="808">
                  <c:v>8.17</c:v>
                </c:pt>
                <c:pt idx="809">
                  <c:v>8</c:v>
                </c:pt>
                <c:pt idx="810">
                  <c:v>7.89</c:v>
                </c:pt>
                <c:pt idx="811">
                  <c:v>9.6</c:v>
                </c:pt>
                <c:pt idx="812">
                  <c:v>9</c:v>
                </c:pt>
                <c:pt idx="813">
                  <c:v>8.23</c:v>
                </c:pt>
                <c:pt idx="814">
                  <c:v>8.1300000000000008</c:v>
                </c:pt>
                <c:pt idx="815">
                  <c:v>8.98</c:v>
                </c:pt>
                <c:pt idx="816">
                  <c:v>7.73</c:v>
                </c:pt>
                <c:pt idx="817">
                  <c:v>7.43</c:v>
                </c:pt>
                <c:pt idx="818">
                  <c:v>7.75</c:v>
                </c:pt>
                <c:pt idx="819">
                  <c:v>8.7200000000000006</c:v>
                </c:pt>
                <c:pt idx="820">
                  <c:v>9.15</c:v>
                </c:pt>
                <c:pt idx="821">
                  <c:v>9.15</c:v>
                </c:pt>
                <c:pt idx="822">
                  <c:v>9.15</c:v>
                </c:pt>
                <c:pt idx="823">
                  <c:v>9.19</c:v>
                </c:pt>
                <c:pt idx="824">
                  <c:v>9.3000000000000007</c:v>
                </c:pt>
                <c:pt idx="825">
                  <c:v>9.48</c:v>
                </c:pt>
                <c:pt idx="826">
                  <c:v>9.02</c:v>
                </c:pt>
                <c:pt idx="827">
                  <c:v>8.84</c:v>
                </c:pt>
                <c:pt idx="828">
                  <c:v>9.0299999999999994</c:v>
                </c:pt>
                <c:pt idx="829">
                  <c:v>9.0399999999999991</c:v>
                </c:pt>
                <c:pt idx="830">
                  <c:v>9.4</c:v>
                </c:pt>
                <c:pt idx="831">
                  <c:v>10.51</c:v>
                </c:pt>
                <c:pt idx="832">
                  <c:v>10.53</c:v>
                </c:pt>
                <c:pt idx="833">
                  <c:v>12.18</c:v>
                </c:pt>
                <c:pt idx="834">
                  <c:v>13.36</c:v>
                </c:pt>
                <c:pt idx="835">
                  <c:v>13.67</c:v>
                </c:pt>
                <c:pt idx="836">
                  <c:v>14.12</c:v>
                </c:pt>
                <c:pt idx="837">
                  <c:v>14.09</c:v>
                </c:pt>
                <c:pt idx="838">
                  <c:v>13.99</c:v>
                </c:pt>
                <c:pt idx="839">
                  <c:v>13.7</c:v>
                </c:pt>
                <c:pt idx="840">
                  <c:v>10.35</c:v>
                </c:pt>
                <c:pt idx="841">
                  <c:v>12.04</c:v>
                </c:pt>
                <c:pt idx="842">
                  <c:v>13.48</c:v>
                </c:pt>
                <c:pt idx="843">
                  <c:v>13.6</c:v>
                </c:pt>
                <c:pt idx="844">
                  <c:v>13.62</c:v>
                </c:pt>
                <c:pt idx="845">
                  <c:v>13.54</c:v>
                </c:pt>
                <c:pt idx="846">
                  <c:v>13.42</c:v>
                </c:pt>
                <c:pt idx="847">
                  <c:v>13.42</c:v>
                </c:pt>
                <c:pt idx="848">
                  <c:v>13.57</c:v>
                </c:pt>
                <c:pt idx="849">
                  <c:v>13.42</c:v>
                </c:pt>
                <c:pt idx="850">
                  <c:v>11.11</c:v>
                </c:pt>
                <c:pt idx="851">
                  <c:v>10.220000000000001</c:v>
                </c:pt>
                <c:pt idx="852">
                  <c:v>9.93</c:v>
                </c:pt>
                <c:pt idx="853">
                  <c:v>9.69</c:v>
                </c:pt>
                <c:pt idx="854">
                  <c:v>9.69</c:v>
                </c:pt>
                <c:pt idx="855">
                  <c:v>9.31</c:v>
                </c:pt>
                <c:pt idx="856">
                  <c:v>8.5500000000000007</c:v>
                </c:pt>
                <c:pt idx="857">
                  <c:v>8.5500000000000007</c:v>
                </c:pt>
                <c:pt idx="858">
                  <c:v>8.5500000000000007</c:v>
                </c:pt>
                <c:pt idx="859">
                  <c:v>9.34</c:v>
                </c:pt>
                <c:pt idx="860">
                  <c:v>10.49</c:v>
                </c:pt>
                <c:pt idx="861">
                  <c:v>9.92</c:v>
                </c:pt>
                <c:pt idx="862">
                  <c:v>9.3000000000000007</c:v>
                </c:pt>
                <c:pt idx="863">
                  <c:v>9.1</c:v>
                </c:pt>
                <c:pt idx="864">
                  <c:v>7.26</c:v>
                </c:pt>
                <c:pt idx="865">
                  <c:v>7.14</c:v>
                </c:pt>
                <c:pt idx="866">
                  <c:v>7.49</c:v>
                </c:pt>
                <c:pt idx="867">
                  <c:v>8.52</c:v>
                </c:pt>
                <c:pt idx="868">
                  <c:v>9.02</c:v>
                </c:pt>
                <c:pt idx="869">
                  <c:v>8.9600000000000009</c:v>
                </c:pt>
                <c:pt idx="870">
                  <c:v>9.15</c:v>
                </c:pt>
                <c:pt idx="871">
                  <c:v>9.19</c:v>
                </c:pt>
                <c:pt idx="872">
                  <c:v>9.1999999999999993</c:v>
                </c:pt>
                <c:pt idx="873">
                  <c:v>9.3000000000000007</c:v>
                </c:pt>
                <c:pt idx="874">
                  <c:v>8.82</c:v>
                </c:pt>
                <c:pt idx="875">
                  <c:v>8.58</c:v>
                </c:pt>
                <c:pt idx="876">
                  <c:v>8.93</c:v>
                </c:pt>
                <c:pt idx="877">
                  <c:v>9.02</c:v>
                </c:pt>
                <c:pt idx="878">
                  <c:v>9.52</c:v>
                </c:pt>
                <c:pt idx="879">
                  <c:v>11.05</c:v>
                </c:pt>
                <c:pt idx="880">
                  <c:v>9.7799999999999994</c:v>
                </c:pt>
                <c:pt idx="881">
                  <c:v>13.59</c:v>
                </c:pt>
                <c:pt idx="882">
                  <c:v>14.07</c:v>
                </c:pt>
                <c:pt idx="883">
                  <c:v>15.65</c:v>
                </c:pt>
                <c:pt idx="884">
                  <c:v>15.68</c:v>
                </c:pt>
                <c:pt idx="885">
                  <c:v>15.69</c:v>
                </c:pt>
                <c:pt idx="886">
                  <c:v>15.69</c:v>
                </c:pt>
                <c:pt idx="887">
                  <c:v>15.68</c:v>
                </c:pt>
                <c:pt idx="888">
                  <c:v>11.66</c:v>
                </c:pt>
                <c:pt idx="889">
                  <c:v>11.94</c:v>
                </c:pt>
                <c:pt idx="890">
                  <c:v>15.68</c:v>
                </c:pt>
                <c:pt idx="891">
                  <c:v>15.69</c:v>
                </c:pt>
                <c:pt idx="892">
                  <c:v>15.69</c:v>
                </c:pt>
                <c:pt idx="893">
                  <c:v>15.68</c:v>
                </c:pt>
                <c:pt idx="894">
                  <c:v>15.67</c:v>
                </c:pt>
                <c:pt idx="895">
                  <c:v>15.67</c:v>
                </c:pt>
                <c:pt idx="896">
                  <c:v>15.65</c:v>
                </c:pt>
                <c:pt idx="897">
                  <c:v>15.6</c:v>
                </c:pt>
                <c:pt idx="898">
                  <c:v>13.03</c:v>
                </c:pt>
                <c:pt idx="899">
                  <c:v>10.68</c:v>
                </c:pt>
                <c:pt idx="900">
                  <c:v>12.04</c:v>
                </c:pt>
                <c:pt idx="901">
                  <c:v>13.16</c:v>
                </c:pt>
                <c:pt idx="902">
                  <c:v>13.13</c:v>
                </c:pt>
                <c:pt idx="903">
                  <c:v>13</c:v>
                </c:pt>
                <c:pt idx="904">
                  <c:v>12.97</c:v>
                </c:pt>
                <c:pt idx="905">
                  <c:v>9.69</c:v>
                </c:pt>
                <c:pt idx="906">
                  <c:v>9.5399999999999991</c:v>
                </c:pt>
                <c:pt idx="907">
                  <c:v>9.69</c:v>
                </c:pt>
                <c:pt idx="908">
                  <c:v>10.28</c:v>
                </c:pt>
                <c:pt idx="909">
                  <c:v>9.7799999999999994</c:v>
                </c:pt>
                <c:pt idx="910">
                  <c:v>9.1999999999999993</c:v>
                </c:pt>
                <c:pt idx="911">
                  <c:v>8.9</c:v>
                </c:pt>
                <c:pt idx="912">
                  <c:v>7.06</c:v>
                </c:pt>
                <c:pt idx="913">
                  <c:v>7.04</c:v>
                </c:pt>
                <c:pt idx="914">
                  <c:v>7.19</c:v>
                </c:pt>
                <c:pt idx="915">
                  <c:v>7.39</c:v>
                </c:pt>
                <c:pt idx="916">
                  <c:v>8.7200000000000006</c:v>
                </c:pt>
                <c:pt idx="917">
                  <c:v>9.02</c:v>
                </c:pt>
                <c:pt idx="918">
                  <c:v>9.15</c:v>
                </c:pt>
                <c:pt idx="919">
                  <c:v>9.0399999999999991</c:v>
                </c:pt>
                <c:pt idx="920">
                  <c:v>9.1999999999999993</c:v>
                </c:pt>
                <c:pt idx="921">
                  <c:v>9.1</c:v>
                </c:pt>
                <c:pt idx="922">
                  <c:v>8.4700000000000006</c:v>
                </c:pt>
                <c:pt idx="923">
                  <c:v>8.18</c:v>
                </c:pt>
                <c:pt idx="924">
                  <c:v>8.6300000000000008</c:v>
                </c:pt>
                <c:pt idx="925">
                  <c:v>8.9600000000000009</c:v>
                </c:pt>
                <c:pt idx="926">
                  <c:v>9.67</c:v>
                </c:pt>
                <c:pt idx="927">
                  <c:v>10.85</c:v>
                </c:pt>
                <c:pt idx="928">
                  <c:v>11.65</c:v>
                </c:pt>
                <c:pt idx="929">
                  <c:v>13.46</c:v>
                </c:pt>
                <c:pt idx="930">
                  <c:v>13.59</c:v>
                </c:pt>
                <c:pt idx="931">
                  <c:v>14.09</c:v>
                </c:pt>
                <c:pt idx="932">
                  <c:v>14.3</c:v>
                </c:pt>
                <c:pt idx="933">
                  <c:v>14.34</c:v>
                </c:pt>
                <c:pt idx="934">
                  <c:v>14.34</c:v>
                </c:pt>
                <c:pt idx="935">
                  <c:v>14.19</c:v>
                </c:pt>
                <c:pt idx="936">
                  <c:v>11.83</c:v>
                </c:pt>
                <c:pt idx="937">
                  <c:v>12.19</c:v>
                </c:pt>
                <c:pt idx="938">
                  <c:v>13.9</c:v>
                </c:pt>
                <c:pt idx="939">
                  <c:v>14.34</c:v>
                </c:pt>
                <c:pt idx="940">
                  <c:v>14.34</c:v>
                </c:pt>
                <c:pt idx="941">
                  <c:v>13.9</c:v>
                </c:pt>
                <c:pt idx="942">
                  <c:v>13.9</c:v>
                </c:pt>
                <c:pt idx="943">
                  <c:v>13.9</c:v>
                </c:pt>
                <c:pt idx="944">
                  <c:v>13.9</c:v>
                </c:pt>
                <c:pt idx="945">
                  <c:v>13.9</c:v>
                </c:pt>
                <c:pt idx="946">
                  <c:v>13.18</c:v>
                </c:pt>
                <c:pt idx="947">
                  <c:v>12.06</c:v>
                </c:pt>
                <c:pt idx="948">
                  <c:v>12.2</c:v>
                </c:pt>
                <c:pt idx="949">
                  <c:v>12.15</c:v>
                </c:pt>
                <c:pt idx="950">
                  <c:v>12.12</c:v>
                </c:pt>
                <c:pt idx="951">
                  <c:v>11.16</c:v>
                </c:pt>
                <c:pt idx="952">
                  <c:v>11.86</c:v>
                </c:pt>
                <c:pt idx="953">
                  <c:v>9.31</c:v>
                </c:pt>
                <c:pt idx="954">
                  <c:v>9.4700000000000006</c:v>
                </c:pt>
                <c:pt idx="955">
                  <c:v>9.7200000000000006</c:v>
                </c:pt>
                <c:pt idx="956">
                  <c:v>11.01</c:v>
                </c:pt>
                <c:pt idx="957">
                  <c:v>10.99</c:v>
                </c:pt>
                <c:pt idx="958">
                  <c:v>9.67</c:v>
                </c:pt>
                <c:pt idx="959">
                  <c:v>9.67</c:v>
                </c:pt>
                <c:pt idx="960">
                  <c:v>7.33</c:v>
                </c:pt>
                <c:pt idx="961">
                  <c:v>7.53</c:v>
                </c:pt>
                <c:pt idx="962">
                  <c:v>7.58</c:v>
                </c:pt>
                <c:pt idx="963">
                  <c:v>9.5</c:v>
                </c:pt>
                <c:pt idx="964">
                  <c:v>9.67</c:v>
                </c:pt>
                <c:pt idx="965">
                  <c:v>9.67</c:v>
                </c:pt>
                <c:pt idx="966">
                  <c:v>9.67</c:v>
                </c:pt>
                <c:pt idx="967">
                  <c:v>9.67</c:v>
                </c:pt>
                <c:pt idx="968">
                  <c:v>9.67</c:v>
                </c:pt>
                <c:pt idx="969">
                  <c:v>9.67</c:v>
                </c:pt>
                <c:pt idx="970">
                  <c:v>9.67</c:v>
                </c:pt>
                <c:pt idx="971">
                  <c:v>9.3000000000000007</c:v>
                </c:pt>
                <c:pt idx="972">
                  <c:v>9.67</c:v>
                </c:pt>
                <c:pt idx="973">
                  <c:v>9.67</c:v>
                </c:pt>
                <c:pt idx="974">
                  <c:v>12.67</c:v>
                </c:pt>
                <c:pt idx="975">
                  <c:v>12.95</c:v>
                </c:pt>
                <c:pt idx="976">
                  <c:v>9.6999999999999993</c:v>
                </c:pt>
                <c:pt idx="977">
                  <c:v>13.18</c:v>
                </c:pt>
                <c:pt idx="978">
                  <c:v>13.9</c:v>
                </c:pt>
                <c:pt idx="979">
                  <c:v>14.08</c:v>
                </c:pt>
                <c:pt idx="980">
                  <c:v>14.68</c:v>
                </c:pt>
                <c:pt idx="981">
                  <c:v>14.75</c:v>
                </c:pt>
                <c:pt idx="982">
                  <c:v>14.75</c:v>
                </c:pt>
                <c:pt idx="983">
                  <c:v>14.68</c:v>
                </c:pt>
                <c:pt idx="984">
                  <c:v>12.08</c:v>
                </c:pt>
                <c:pt idx="985">
                  <c:v>12.03</c:v>
                </c:pt>
                <c:pt idx="986">
                  <c:v>14.61</c:v>
                </c:pt>
                <c:pt idx="987">
                  <c:v>14.75</c:v>
                </c:pt>
                <c:pt idx="988">
                  <c:v>14.75</c:v>
                </c:pt>
                <c:pt idx="989">
                  <c:v>14.51</c:v>
                </c:pt>
                <c:pt idx="990">
                  <c:v>14.43</c:v>
                </c:pt>
                <c:pt idx="991">
                  <c:v>14.47</c:v>
                </c:pt>
                <c:pt idx="992">
                  <c:v>14.61</c:v>
                </c:pt>
                <c:pt idx="993">
                  <c:v>14.01</c:v>
                </c:pt>
                <c:pt idx="994">
                  <c:v>13.9</c:v>
                </c:pt>
                <c:pt idx="995">
                  <c:v>13.32</c:v>
                </c:pt>
                <c:pt idx="996">
                  <c:v>12.98</c:v>
                </c:pt>
                <c:pt idx="997">
                  <c:v>13.69</c:v>
                </c:pt>
                <c:pt idx="998">
                  <c:v>13.47</c:v>
                </c:pt>
                <c:pt idx="999">
                  <c:v>9.92</c:v>
                </c:pt>
                <c:pt idx="1000">
                  <c:v>12.5</c:v>
                </c:pt>
                <c:pt idx="1001">
                  <c:v>9.31</c:v>
                </c:pt>
                <c:pt idx="1002">
                  <c:v>9.5500000000000007</c:v>
                </c:pt>
                <c:pt idx="1003">
                  <c:v>13</c:v>
                </c:pt>
                <c:pt idx="1004">
                  <c:v>12.89</c:v>
                </c:pt>
                <c:pt idx="1005">
                  <c:v>11.67</c:v>
                </c:pt>
                <c:pt idx="1006">
                  <c:v>9.67</c:v>
                </c:pt>
                <c:pt idx="1007">
                  <c:v>8.7899999999999991</c:v>
                </c:pt>
                <c:pt idx="1008">
                  <c:v>7.53</c:v>
                </c:pt>
                <c:pt idx="1009">
                  <c:v>7.86</c:v>
                </c:pt>
                <c:pt idx="1010">
                  <c:v>10.85</c:v>
                </c:pt>
                <c:pt idx="1011">
                  <c:v>12.96</c:v>
                </c:pt>
                <c:pt idx="1012">
                  <c:v>12.91</c:v>
                </c:pt>
                <c:pt idx="1013">
                  <c:v>13.37</c:v>
                </c:pt>
                <c:pt idx="1014">
                  <c:v>13.37</c:v>
                </c:pt>
                <c:pt idx="1015">
                  <c:v>12.96</c:v>
                </c:pt>
                <c:pt idx="1016">
                  <c:v>12.93</c:v>
                </c:pt>
                <c:pt idx="1017">
                  <c:v>10.25</c:v>
                </c:pt>
                <c:pt idx="1018">
                  <c:v>9.81</c:v>
                </c:pt>
                <c:pt idx="1019">
                  <c:v>9.5</c:v>
                </c:pt>
                <c:pt idx="1020">
                  <c:v>9.8000000000000007</c:v>
                </c:pt>
                <c:pt idx="1021">
                  <c:v>10.85</c:v>
                </c:pt>
                <c:pt idx="1022">
                  <c:v>12.12</c:v>
                </c:pt>
                <c:pt idx="1023">
                  <c:v>12.97</c:v>
                </c:pt>
                <c:pt idx="1024">
                  <c:v>12.52</c:v>
                </c:pt>
                <c:pt idx="1025">
                  <c:v>13.89</c:v>
                </c:pt>
                <c:pt idx="1026">
                  <c:v>14.31</c:v>
                </c:pt>
                <c:pt idx="1027">
                  <c:v>13.11</c:v>
                </c:pt>
                <c:pt idx="1028">
                  <c:v>13.14</c:v>
                </c:pt>
                <c:pt idx="1029">
                  <c:v>14</c:v>
                </c:pt>
                <c:pt idx="1030">
                  <c:v>14.96</c:v>
                </c:pt>
                <c:pt idx="1031">
                  <c:v>16.18</c:v>
                </c:pt>
                <c:pt idx="1032">
                  <c:v>12.11</c:v>
                </c:pt>
                <c:pt idx="1033">
                  <c:v>12.13</c:v>
                </c:pt>
                <c:pt idx="1034">
                  <c:v>14.2</c:v>
                </c:pt>
                <c:pt idx="1035">
                  <c:v>14.96</c:v>
                </c:pt>
                <c:pt idx="1036">
                  <c:v>15</c:v>
                </c:pt>
                <c:pt idx="1037">
                  <c:v>14.24</c:v>
                </c:pt>
                <c:pt idx="1038">
                  <c:v>14.22</c:v>
                </c:pt>
                <c:pt idx="1039">
                  <c:v>14.27</c:v>
                </c:pt>
                <c:pt idx="1040">
                  <c:v>14.34</c:v>
                </c:pt>
                <c:pt idx="1041">
                  <c:v>14.28</c:v>
                </c:pt>
                <c:pt idx="1042">
                  <c:v>14.05</c:v>
                </c:pt>
                <c:pt idx="1043">
                  <c:v>13.97</c:v>
                </c:pt>
                <c:pt idx="1044">
                  <c:v>13.4</c:v>
                </c:pt>
                <c:pt idx="1045">
                  <c:v>13.75</c:v>
                </c:pt>
                <c:pt idx="1046">
                  <c:v>13.36</c:v>
                </c:pt>
                <c:pt idx="1047">
                  <c:v>12.65</c:v>
                </c:pt>
                <c:pt idx="1048">
                  <c:v>13.12</c:v>
                </c:pt>
                <c:pt idx="1049">
                  <c:v>9.76</c:v>
                </c:pt>
                <c:pt idx="1050">
                  <c:v>12.62</c:v>
                </c:pt>
                <c:pt idx="1051">
                  <c:v>11.71</c:v>
                </c:pt>
                <c:pt idx="1052">
                  <c:v>11.28</c:v>
                </c:pt>
                <c:pt idx="1053">
                  <c:v>8.5</c:v>
                </c:pt>
                <c:pt idx="1054">
                  <c:v>8.5</c:v>
                </c:pt>
                <c:pt idx="1055">
                  <c:v>8.5</c:v>
                </c:pt>
                <c:pt idx="1056">
                  <c:v>7.25</c:v>
                </c:pt>
                <c:pt idx="1057">
                  <c:v>7.26</c:v>
                </c:pt>
                <c:pt idx="1058">
                  <c:v>7.26</c:v>
                </c:pt>
                <c:pt idx="1059">
                  <c:v>7.87</c:v>
                </c:pt>
                <c:pt idx="1060">
                  <c:v>9.57</c:v>
                </c:pt>
                <c:pt idx="1061">
                  <c:v>10.85</c:v>
                </c:pt>
                <c:pt idx="1062">
                  <c:v>10.85</c:v>
                </c:pt>
                <c:pt idx="1063">
                  <c:v>10.85</c:v>
                </c:pt>
                <c:pt idx="1064">
                  <c:v>10.5</c:v>
                </c:pt>
                <c:pt idx="1065">
                  <c:v>7.63</c:v>
                </c:pt>
                <c:pt idx="1066">
                  <c:v>7.57</c:v>
                </c:pt>
                <c:pt idx="1067">
                  <c:v>9</c:v>
                </c:pt>
                <c:pt idx="1068">
                  <c:v>7.82</c:v>
                </c:pt>
                <c:pt idx="1069">
                  <c:v>9</c:v>
                </c:pt>
                <c:pt idx="1070">
                  <c:v>9.02</c:v>
                </c:pt>
                <c:pt idx="1071">
                  <c:v>7.55</c:v>
                </c:pt>
                <c:pt idx="1072">
                  <c:v>7.76</c:v>
                </c:pt>
                <c:pt idx="1073">
                  <c:v>7.81</c:v>
                </c:pt>
                <c:pt idx="1074">
                  <c:v>9.01</c:v>
                </c:pt>
                <c:pt idx="1075">
                  <c:v>9.06</c:v>
                </c:pt>
                <c:pt idx="1076">
                  <c:v>10.52</c:v>
                </c:pt>
                <c:pt idx="1077">
                  <c:v>10.75</c:v>
                </c:pt>
                <c:pt idx="1078">
                  <c:v>10.8</c:v>
                </c:pt>
                <c:pt idx="1079">
                  <c:v>10.39</c:v>
                </c:pt>
                <c:pt idx="1080">
                  <c:v>8.3000000000000007</c:v>
                </c:pt>
                <c:pt idx="1081">
                  <c:v>8.3000000000000007</c:v>
                </c:pt>
                <c:pt idx="1082">
                  <c:v>10.01</c:v>
                </c:pt>
                <c:pt idx="1083">
                  <c:v>10.01</c:v>
                </c:pt>
                <c:pt idx="1084">
                  <c:v>9.6999999999999993</c:v>
                </c:pt>
                <c:pt idx="1085">
                  <c:v>9.6999999999999993</c:v>
                </c:pt>
                <c:pt idx="1086">
                  <c:v>8.64</c:v>
                </c:pt>
                <c:pt idx="1087">
                  <c:v>9.19</c:v>
                </c:pt>
                <c:pt idx="1088">
                  <c:v>9.1999999999999993</c:v>
                </c:pt>
                <c:pt idx="1089">
                  <c:v>8.7200000000000006</c:v>
                </c:pt>
                <c:pt idx="1090">
                  <c:v>8.06</c:v>
                </c:pt>
                <c:pt idx="1091">
                  <c:v>8.34</c:v>
                </c:pt>
                <c:pt idx="1092">
                  <c:v>8.6300000000000008</c:v>
                </c:pt>
                <c:pt idx="1093">
                  <c:v>8.64</c:v>
                </c:pt>
                <c:pt idx="1094">
                  <c:v>8.82</c:v>
                </c:pt>
                <c:pt idx="1095">
                  <c:v>8.65</c:v>
                </c:pt>
                <c:pt idx="1096">
                  <c:v>8.65</c:v>
                </c:pt>
                <c:pt idx="1097">
                  <c:v>8.59</c:v>
                </c:pt>
                <c:pt idx="1098">
                  <c:v>7.94</c:v>
                </c:pt>
                <c:pt idx="1099">
                  <c:v>7.99</c:v>
                </c:pt>
                <c:pt idx="1100">
                  <c:v>9</c:v>
                </c:pt>
                <c:pt idx="1101">
                  <c:v>9.02</c:v>
                </c:pt>
                <c:pt idx="1102">
                  <c:v>7.9</c:v>
                </c:pt>
                <c:pt idx="1103">
                  <c:v>7.9</c:v>
                </c:pt>
                <c:pt idx="1104">
                  <c:v>7.86</c:v>
                </c:pt>
                <c:pt idx="1105">
                  <c:v>7.75</c:v>
                </c:pt>
                <c:pt idx="1106">
                  <c:v>9.11</c:v>
                </c:pt>
                <c:pt idx="1107">
                  <c:v>10.6</c:v>
                </c:pt>
                <c:pt idx="1108">
                  <c:v>10.77</c:v>
                </c:pt>
                <c:pt idx="1109">
                  <c:v>11</c:v>
                </c:pt>
                <c:pt idx="1110">
                  <c:v>11</c:v>
                </c:pt>
                <c:pt idx="1111">
                  <c:v>11</c:v>
                </c:pt>
                <c:pt idx="1112">
                  <c:v>10.85</c:v>
                </c:pt>
                <c:pt idx="1113">
                  <c:v>10.49</c:v>
                </c:pt>
                <c:pt idx="1114">
                  <c:v>10.6</c:v>
                </c:pt>
                <c:pt idx="1115">
                  <c:v>10.6</c:v>
                </c:pt>
                <c:pt idx="1116">
                  <c:v>10.6</c:v>
                </c:pt>
                <c:pt idx="1117">
                  <c:v>10.49</c:v>
                </c:pt>
                <c:pt idx="1118">
                  <c:v>10.49</c:v>
                </c:pt>
                <c:pt idx="1119">
                  <c:v>10.49</c:v>
                </c:pt>
                <c:pt idx="1120">
                  <c:v>8.6300000000000008</c:v>
                </c:pt>
                <c:pt idx="1121">
                  <c:v>7.63</c:v>
                </c:pt>
                <c:pt idx="1122">
                  <c:v>9.01</c:v>
                </c:pt>
                <c:pt idx="1123">
                  <c:v>9.56</c:v>
                </c:pt>
                <c:pt idx="1124">
                  <c:v>10.77</c:v>
                </c:pt>
                <c:pt idx="1125">
                  <c:v>10.9</c:v>
                </c:pt>
                <c:pt idx="1126">
                  <c:v>10.95</c:v>
                </c:pt>
                <c:pt idx="1127">
                  <c:v>10.74</c:v>
                </c:pt>
                <c:pt idx="1128">
                  <c:v>9.81</c:v>
                </c:pt>
                <c:pt idx="1129">
                  <c:v>10.6</c:v>
                </c:pt>
                <c:pt idx="1130">
                  <c:v>10.36</c:v>
                </c:pt>
                <c:pt idx="1131">
                  <c:v>10.36</c:v>
                </c:pt>
                <c:pt idx="1132">
                  <c:v>10.6</c:v>
                </c:pt>
                <c:pt idx="1133">
                  <c:v>10.6</c:v>
                </c:pt>
                <c:pt idx="1134">
                  <c:v>10.6</c:v>
                </c:pt>
                <c:pt idx="1135">
                  <c:v>10.6</c:v>
                </c:pt>
                <c:pt idx="1136">
                  <c:v>10.6</c:v>
                </c:pt>
                <c:pt idx="1137">
                  <c:v>9.57</c:v>
                </c:pt>
                <c:pt idx="1138">
                  <c:v>9.4700000000000006</c:v>
                </c:pt>
                <c:pt idx="1139">
                  <c:v>9.4</c:v>
                </c:pt>
                <c:pt idx="1140">
                  <c:v>10.130000000000001</c:v>
                </c:pt>
                <c:pt idx="1141">
                  <c:v>10.14</c:v>
                </c:pt>
                <c:pt idx="1142">
                  <c:v>9.74</c:v>
                </c:pt>
                <c:pt idx="1143">
                  <c:v>9.69</c:v>
                </c:pt>
                <c:pt idx="1144">
                  <c:v>9.2200000000000006</c:v>
                </c:pt>
                <c:pt idx="1145">
                  <c:v>8.84</c:v>
                </c:pt>
                <c:pt idx="1146">
                  <c:v>8.39</c:v>
                </c:pt>
                <c:pt idx="1147">
                  <c:v>8.49</c:v>
                </c:pt>
                <c:pt idx="1148">
                  <c:v>10.6</c:v>
                </c:pt>
                <c:pt idx="1149">
                  <c:v>10.61</c:v>
                </c:pt>
                <c:pt idx="1150">
                  <c:v>10.61</c:v>
                </c:pt>
                <c:pt idx="1151">
                  <c:v>10.6</c:v>
                </c:pt>
                <c:pt idx="1152">
                  <c:v>6.81</c:v>
                </c:pt>
                <c:pt idx="1153">
                  <c:v>6.81</c:v>
                </c:pt>
                <c:pt idx="1154">
                  <c:v>6.81</c:v>
                </c:pt>
                <c:pt idx="1155">
                  <c:v>8.1199999999999992</c:v>
                </c:pt>
                <c:pt idx="1156">
                  <c:v>8.75</c:v>
                </c:pt>
                <c:pt idx="1157">
                  <c:v>8.75</c:v>
                </c:pt>
                <c:pt idx="1158">
                  <c:v>8.75</c:v>
                </c:pt>
                <c:pt idx="1159">
                  <c:v>8.7899999999999991</c:v>
                </c:pt>
                <c:pt idx="1160">
                  <c:v>9</c:v>
                </c:pt>
                <c:pt idx="1161">
                  <c:v>9.66</c:v>
                </c:pt>
                <c:pt idx="1162">
                  <c:v>6.98</c:v>
                </c:pt>
                <c:pt idx="1163">
                  <c:v>6.81</c:v>
                </c:pt>
                <c:pt idx="1164">
                  <c:v>7.33</c:v>
                </c:pt>
                <c:pt idx="1165">
                  <c:v>10.37</c:v>
                </c:pt>
                <c:pt idx="1166">
                  <c:v>11.27</c:v>
                </c:pt>
                <c:pt idx="1167">
                  <c:v>12.69</c:v>
                </c:pt>
                <c:pt idx="1168">
                  <c:v>12.34</c:v>
                </c:pt>
                <c:pt idx="1169">
                  <c:v>13.39</c:v>
                </c:pt>
                <c:pt idx="1170">
                  <c:v>14.27</c:v>
                </c:pt>
                <c:pt idx="1171">
                  <c:v>13.08</c:v>
                </c:pt>
                <c:pt idx="1172">
                  <c:v>15.16</c:v>
                </c:pt>
                <c:pt idx="1173">
                  <c:v>15.16</c:v>
                </c:pt>
                <c:pt idx="1174">
                  <c:v>15.16</c:v>
                </c:pt>
                <c:pt idx="1175">
                  <c:v>15.16</c:v>
                </c:pt>
                <c:pt idx="1176">
                  <c:v>12</c:v>
                </c:pt>
                <c:pt idx="1177">
                  <c:v>12</c:v>
                </c:pt>
                <c:pt idx="1178">
                  <c:v>15.16</c:v>
                </c:pt>
                <c:pt idx="1179">
                  <c:v>15.16</c:v>
                </c:pt>
                <c:pt idx="1180">
                  <c:v>15.16</c:v>
                </c:pt>
                <c:pt idx="1181">
                  <c:v>15.16</c:v>
                </c:pt>
                <c:pt idx="1182">
                  <c:v>14.7</c:v>
                </c:pt>
                <c:pt idx="1183">
                  <c:v>14.73</c:v>
                </c:pt>
                <c:pt idx="1184">
                  <c:v>14.34</c:v>
                </c:pt>
                <c:pt idx="1185">
                  <c:v>14.21</c:v>
                </c:pt>
                <c:pt idx="1186">
                  <c:v>13.75</c:v>
                </c:pt>
                <c:pt idx="1187">
                  <c:v>13.45</c:v>
                </c:pt>
                <c:pt idx="1188">
                  <c:v>12.56</c:v>
                </c:pt>
                <c:pt idx="1189">
                  <c:v>12.94</c:v>
                </c:pt>
                <c:pt idx="1190">
                  <c:v>12.56</c:v>
                </c:pt>
                <c:pt idx="1191">
                  <c:v>10.68</c:v>
                </c:pt>
                <c:pt idx="1192">
                  <c:v>12.41</c:v>
                </c:pt>
                <c:pt idx="1193">
                  <c:v>11.29</c:v>
                </c:pt>
                <c:pt idx="1194">
                  <c:v>11.49</c:v>
                </c:pt>
                <c:pt idx="1195">
                  <c:v>11.67</c:v>
                </c:pt>
                <c:pt idx="1196">
                  <c:v>10.95</c:v>
                </c:pt>
                <c:pt idx="1197">
                  <c:v>9.6999999999999993</c:v>
                </c:pt>
                <c:pt idx="1198">
                  <c:v>8.48</c:v>
                </c:pt>
                <c:pt idx="1199">
                  <c:v>7.23</c:v>
                </c:pt>
                <c:pt idx="1200">
                  <c:v>6.81</c:v>
                </c:pt>
                <c:pt idx="1201">
                  <c:v>6.81</c:v>
                </c:pt>
                <c:pt idx="1202">
                  <c:v>6.97</c:v>
                </c:pt>
                <c:pt idx="1203">
                  <c:v>7.26</c:v>
                </c:pt>
                <c:pt idx="1204">
                  <c:v>7.39</c:v>
                </c:pt>
                <c:pt idx="1205">
                  <c:v>7.33</c:v>
                </c:pt>
                <c:pt idx="1206">
                  <c:v>7.33</c:v>
                </c:pt>
                <c:pt idx="1207">
                  <c:v>7.26</c:v>
                </c:pt>
                <c:pt idx="1208">
                  <c:v>7.33</c:v>
                </c:pt>
                <c:pt idx="1209">
                  <c:v>7.43</c:v>
                </c:pt>
                <c:pt idx="1210">
                  <c:v>6.83</c:v>
                </c:pt>
                <c:pt idx="1211">
                  <c:v>6.93</c:v>
                </c:pt>
                <c:pt idx="1212">
                  <c:v>7.26</c:v>
                </c:pt>
                <c:pt idx="1213">
                  <c:v>7.57</c:v>
                </c:pt>
                <c:pt idx="1214">
                  <c:v>7.56</c:v>
                </c:pt>
                <c:pt idx="1215">
                  <c:v>10.18</c:v>
                </c:pt>
                <c:pt idx="1216">
                  <c:v>10.9</c:v>
                </c:pt>
                <c:pt idx="1217">
                  <c:v>13.49</c:v>
                </c:pt>
                <c:pt idx="1218">
                  <c:v>14.11</c:v>
                </c:pt>
                <c:pt idx="1219">
                  <c:v>13.21</c:v>
                </c:pt>
                <c:pt idx="1220">
                  <c:v>14.2</c:v>
                </c:pt>
                <c:pt idx="1221">
                  <c:v>14.37</c:v>
                </c:pt>
                <c:pt idx="1222">
                  <c:v>14.44</c:v>
                </c:pt>
                <c:pt idx="1223">
                  <c:v>14.3</c:v>
                </c:pt>
                <c:pt idx="1224">
                  <c:v>9.77</c:v>
                </c:pt>
                <c:pt idx="1225">
                  <c:v>9.8699999999999992</c:v>
                </c:pt>
                <c:pt idx="1226">
                  <c:v>14.27</c:v>
                </c:pt>
                <c:pt idx="1227">
                  <c:v>14.29</c:v>
                </c:pt>
                <c:pt idx="1228">
                  <c:v>14.35</c:v>
                </c:pt>
                <c:pt idx="1229">
                  <c:v>14.27</c:v>
                </c:pt>
                <c:pt idx="1230">
                  <c:v>13.18</c:v>
                </c:pt>
                <c:pt idx="1231">
                  <c:v>13.21</c:v>
                </c:pt>
                <c:pt idx="1232">
                  <c:v>13.08</c:v>
                </c:pt>
                <c:pt idx="1233">
                  <c:v>13.02</c:v>
                </c:pt>
                <c:pt idx="1234">
                  <c:v>13.18</c:v>
                </c:pt>
                <c:pt idx="1235">
                  <c:v>10.33</c:v>
                </c:pt>
                <c:pt idx="1236">
                  <c:v>9.76</c:v>
                </c:pt>
                <c:pt idx="1237">
                  <c:v>9.76</c:v>
                </c:pt>
                <c:pt idx="1238">
                  <c:v>10.33</c:v>
                </c:pt>
                <c:pt idx="1239">
                  <c:v>10.33</c:v>
                </c:pt>
                <c:pt idx="1240">
                  <c:v>9.77</c:v>
                </c:pt>
                <c:pt idx="1241">
                  <c:v>9.6999999999999993</c:v>
                </c:pt>
                <c:pt idx="1242">
                  <c:v>9.4700000000000006</c:v>
                </c:pt>
                <c:pt idx="1243">
                  <c:v>8.69</c:v>
                </c:pt>
                <c:pt idx="1244">
                  <c:v>7.54</c:v>
                </c:pt>
                <c:pt idx="1245">
                  <c:v>9.0399999999999991</c:v>
                </c:pt>
                <c:pt idx="1246">
                  <c:v>8.4</c:v>
                </c:pt>
                <c:pt idx="1247">
                  <c:v>7.26</c:v>
                </c:pt>
                <c:pt idx="1248">
                  <c:v>6.71</c:v>
                </c:pt>
                <c:pt idx="1249">
                  <c:v>6.64</c:v>
                </c:pt>
                <c:pt idx="1250">
                  <c:v>6.97</c:v>
                </c:pt>
                <c:pt idx="1251">
                  <c:v>7.26</c:v>
                </c:pt>
                <c:pt idx="1252">
                  <c:v>7.26</c:v>
                </c:pt>
                <c:pt idx="1253">
                  <c:v>7.76</c:v>
                </c:pt>
                <c:pt idx="1254">
                  <c:v>7.53</c:v>
                </c:pt>
                <c:pt idx="1255">
                  <c:v>7.63</c:v>
                </c:pt>
                <c:pt idx="1256">
                  <c:v>7.76</c:v>
                </c:pt>
                <c:pt idx="1257">
                  <c:v>7.82</c:v>
                </c:pt>
                <c:pt idx="1258">
                  <c:v>7.82</c:v>
                </c:pt>
                <c:pt idx="1259">
                  <c:v>7.11</c:v>
                </c:pt>
                <c:pt idx="1260">
                  <c:v>8.27</c:v>
                </c:pt>
                <c:pt idx="1261">
                  <c:v>9.16</c:v>
                </c:pt>
                <c:pt idx="1262">
                  <c:v>7.43</c:v>
                </c:pt>
                <c:pt idx="1263">
                  <c:v>10</c:v>
                </c:pt>
                <c:pt idx="1264">
                  <c:v>11.18</c:v>
                </c:pt>
                <c:pt idx="1265">
                  <c:v>13.17</c:v>
                </c:pt>
                <c:pt idx="1266">
                  <c:v>12</c:v>
                </c:pt>
                <c:pt idx="1267">
                  <c:v>12.49</c:v>
                </c:pt>
                <c:pt idx="1268">
                  <c:v>13.06</c:v>
                </c:pt>
                <c:pt idx="1269">
                  <c:v>13.9</c:v>
                </c:pt>
                <c:pt idx="1270">
                  <c:v>13.9</c:v>
                </c:pt>
                <c:pt idx="1271">
                  <c:v>13.06</c:v>
                </c:pt>
                <c:pt idx="1272">
                  <c:v>9.0299999999999994</c:v>
                </c:pt>
                <c:pt idx="1273">
                  <c:v>9.0299999999999994</c:v>
                </c:pt>
                <c:pt idx="1274">
                  <c:v>13.06</c:v>
                </c:pt>
                <c:pt idx="1275">
                  <c:v>13.06</c:v>
                </c:pt>
                <c:pt idx="1276">
                  <c:v>13.06</c:v>
                </c:pt>
                <c:pt idx="1277">
                  <c:v>13.06</c:v>
                </c:pt>
                <c:pt idx="1278">
                  <c:v>12.49</c:v>
                </c:pt>
                <c:pt idx="1279">
                  <c:v>12.49</c:v>
                </c:pt>
                <c:pt idx="1280">
                  <c:v>13.08</c:v>
                </c:pt>
                <c:pt idx="1281">
                  <c:v>13.06</c:v>
                </c:pt>
                <c:pt idx="1282">
                  <c:v>13.29</c:v>
                </c:pt>
                <c:pt idx="1283">
                  <c:v>12.49</c:v>
                </c:pt>
                <c:pt idx="1284">
                  <c:v>11.2</c:v>
                </c:pt>
                <c:pt idx="1285">
                  <c:v>11.06</c:v>
                </c:pt>
                <c:pt idx="1286">
                  <c:v>11</c:v>
                </c:pt>
                <c:pt idx="1287">
                  <c:v>11</c:v>
                </c:pt>
                <c:pt idx="1288">
                  <c:v>10.68</c:v>
                </c:pt>
                <c:pt idx="1289">
                  <c:v>9.76</c:v>
                </c:pt>
                <c:pt idx="1290">
                  <c:v>11.06</c:v>
                </c:pt>
                <c:pt idx="1291">
                  <c:v>11.32</c:v>
                </c:pt>
                <c:pt idx="1292">
                  <c:v>10</c:v>
                </c:pt>
                <c:pt idx="1293">
                  <c:v>10</c:v>
                </c:pt>
                <c:pt idx="1294">
                  <c:v>10</c:v>
                </c:pt>
                <c:pt idx="1295">
                  <c:v>9.26</c:v>
                </c:pt>
                <c:pt idx="1296">
                  <c:v>6.94</c:v>
                </c:pt>
                <c:pt idx="1297">
                  <c:v>6.93</c:v>
                </c:pt>
                <c:pt idx="1298">
                  <c:v>7.32</c:v>
                </c:pt>
                <c:pt idx="1299">
                  <c:v>7.66</c:v>
                </c:pt>
                <c:pt idx="1300">
                  <c:v>7.81</c:v>
                </c:pt>
                <c:pt idx="1301">
                  <c:v>8.1300000000000008</c:v>
                </c:pt>
                <c:pt idx="1302">
                  <c:v>7.83</c:v>
                </c:pt>
                <c:pt idx="1303">
                  <c:v>8.0299999999999994</c:v>
                </c:pt>
                <c:pt idx="1304">
                  <c:v>8.41</c:v>
                </c:pt>
                <c:pt idx="1305">
                  <c:v>8.11</c:v>
                </c:pt>
                <c:pt idx="1306">
                  <c:v>7.78</c:v>
                </c:pt>
                <c:pt idx="1307">
                  <c:v>7.46</c:v>
                </c:pt>
                <c:pt idx="1308">
                  <c:v>7.53</c:v>
                </c:pt>
                <c:pt idx="1309">
                  <c:v>8.17</c:v>
                </c:pt>
                <c:pt idx="1310">
                  <c:v>7.33</c:v>
                </c:pt>
                <c:pt idx="1311">
                  <c:v>10.16</c:v>
                </c:pt>
                <c:pt idx="1312">
                  <c:v>11.78</c:v>
                </c:pt>
                <c:pt idx="1313">
                  <c:v>13.37</c:v>
                </c:pt>
                <c:pt idx="1314">
                  <c:v>12.89</c:v>
                </c:pt>
                <c:pt idx="1315">
                  <c:v>13.34</c:v>
                </c:pt>
                <c:pt idx="1316">
                  <c:v>13.9</c:v>
                </c:pt>
                <c:pt idx="1317">
                  <c:v>14.3</c:v>
                </c:pt>
                <c:pt idx="1318">
                  <c:v>14.1</c:v>
                </c:pt>
                <c:pt idx="1319">
                  <c:v>13.9</c:v>
                </c:pt>
                <c:pt idx="1320">
                  <c:v>9.85</c:v>
                </c:pt>
                <c:pt idx="1321">
                  <c:v>9.85</c:v>
                </c:pt>
                <c:pt idx="1322">
                  <c:v>13.9</c:v>
                </c:pt>
                <c:pt idx="1323">
                  <c:v>14.04</c:v>
                </c:pt>
                <c:pt idx="1324">
                  <c:v>14.04</c:v>
                </c:pt>
                <c:pt idx="1325">
                  <c:v>13.9</c:v>
                </c:pt>
                <c:pt idx="1326">
                  <c:v>13.9</c:v>
                </c:pt>
                <c:pt idx="1327">
                  <c:v>13.49</c:v>
                </c:pt>
                <c:pt idx="1328">
                  <c:v>13.9</c:v>
                </c:pt>
                <c:pt idx="1329">
                  <c:v>13.86</c:v>
                </c:pt>
                <c:pt idx="1330">
                  <c:v>13.73</c:v>
                </c:pt>
                <c:pt idx="1331">
                  <c:v>12.69</c:v>
                </c:pt>
                <c:pt idx="1332">
                  <c:v>11.69</c:v>
                </c:pt>
                <c:pt idx="1333">
                  <c:v>12.36</c:v>
                </c:pt>
                <c:pt idx="1334">
                  <c:v>12</c:v>
                </c:pt>
                <c:pt idx="1335">
                  <c:v>11.1</c:v>
                </c:pt>
                <c:pt idx="1336">
                  <c:v>10.9</c:v>
                </c:pt>
                <c:pt idx="1337">
                  <c:v>9.4700000000000006</c:v>
                </c:pt>
                <c:pt idx="1338">
                  <c:v>10.24</c:v>
                </c:pt>
                <c:pt idx="1339">
                  <c:v>11.58</c:v>
                </c:pt>
                <c:pt idx="1340">
                  <c:v>9.74</c:v>
                </c:pt>
                <c:pt idx="1341">
                  <c:v>9.74</c:v>
                </c:pt>
                <c:pt idx="1342">
                  <c:v>9.74</c:v>
                </c:pt>
                <c:pt idx="1343">
                  <c:v>9.1</c:v>
                </c:pt>
                <c:pt idx="1344">
                  <c:v>7.23</c:v>
                </c:pt>
                <c:pt idx="1345">
                  <c:v>7.35</c:v>
                </c:pt>
                <c:pt idx="1346">
                  <c:v>7.35</c:v>
                </c:pt>
                <c:pt idx="1347">
                  <c:v>7.35</c:v>
                </c:pt>
                <c:pt idx="1348">
                  <c:v>7.35</c:v>
                </c:pt>
                <c:pt idx="1349">
                  <c:v>7.53</c:v>
                </c:pt>
                <c:pt idx="1350">
                  <c:v>7.53</c:v>
                </c:pt>
                <c:pt idx="1351">
                  <c:v>7.73</c:v>
                </c:pt>
                <c:pt idx="1352">
                  <c:v>7.99</c:v>
                </c:pt>
                <c:pt idx="1353">
                  <c:v>7.81</c:v>
                </c:pt>
                <c:pt idx="1354">
                  <c:v>7.55</c:v>
                </c:pt>
                <c:pt idx="1355">
                  <c:v>7.35</c:v>
                </c:pt>
                <c:pt idx="1356">
                  <c:v>7.45</c:v>
                </c:pt>
                <c:pt idx="1357">
                  <c:v>7.84</c:v>
                </c:pt>
                <c:pt idx="1358">
                  <c:v>7.63</c:v>
                </c:pt>
                <c:pt idx="1359">
                  <c:v>9.73</c:v>
                </c:pt>
                <c:pt idx="1360">
                  <c:v>10.85</c:v>
                </c:pt>
                <c:pt idx="1361">
                  <c:v>10.85</c:v>
                </c:pt>
                <c:pt idx="1362">
                  <c:v>10.57</c:v>
                </c:pt>
                <c:pt idx="1363">
                  <c:v>10.83</c:v>
                </c:pt>
                <c:pt idx="1364">
                  <c:v>12.29</c:v>
                </c:pt>
                <c:pt idx="1365">
                  <c:v>12</c:v>
                </c:pt>
                <c:pt idx="1366">
                  <c:v>12.09</c:v>
                </c:pt>
                <c:pt idx="1367">
                  <c:v>11.98</c:v>
                </c:pt>
                <c:pt idx="1368">
                  <c:v>8.58</c:v>
                </c:pt>
                <c:pt idx="1369">
                  <c:v>8.67</c:v>
                </c:pt>
                <c:pt idx="1370">
                  <c:v>12</c:v>
                </c:pt>
                <c:pt idx="1371">
                  <c:v>10.97</c:v>
                </c:pt>
                <c:pt idx="1372">
                  <c:v>12</c:v>
                </c:pt>
                <c:pt idx="1373">
                  <c:v>10.7</c:v>
                </c:pt>
                <c:pt idx="1374">
                  <c:v>11.44</c:v>
                </c:pt>
                <c:pt idx="1375">
                  <c:v>10.24</c:v>
                </c:pt>
                <c:pt idx="1376">
                  <c:v>10.95</c:v>
                </c:pt>
                <c:pt idx="1377">
                  <c:v>10.5</c:v>
                </c:pt>
                <c:pt idx="1378">
                  <c:v>11.09</c:v>
                </c:pt>
                <c:pt idx="1379">
                  <c:v>11.09</c:v>
                </c:pt>
                <c:pt idx="1380">
                  <c:v>11.01</c:v>
                </c:pt>
                <c:pt idx="1381">
                  <c:v>12</c:v>
                </c:pt>
                <c:pt idx="1382">
                  <c:v>11.91</c:v>
                </c:pt>
                <c:pt idx="1383">
                  <c:v>10.7</c:v>
                </c:pt>
                <c:pt idx="1384">
                  <c:v>9.6999999999999993</c:v>
                </c:pt>
                <c:pt idx="1385">
                  <c:v>9.0399999999999991</c:v>
                </c:pt>
                <c:pt idx="1386">
                  <c:v>9.6999999999999993</c:v>
                </c:pt>
                <c:pt idx="1387">
                  <c:v>9.6999999999999993</c:v>
                </c:pt>
                <c:pt idx="1388">
                  <c:v>9.44</c:v>
                </c:pt>
                <c:pt idx="1389">
                  <c:v>9.74</c:v>
                </c:pt>
                <c:pt idx="1390">
                  <c:v>9.59</c:v>
                </c:pt>
                <c:pt idx="1391">
                  <c:v>9.1</c:v>
                </c:pt>
                <c:pt idx="1392">
                  <c:v>7.8</c:v>
                </c:pt>
                <c:pt idx="1393">
                  <c:v>7.61</c:v>
                </c:pt>
                <c:pt idx="1394">
                  <c:v>7.62</c:v>
                </c:pt>
                <c:pt idx="1395">
                  <c:v>7.61</c:v>
                </c:pt>
                <c:pt idx="1396">
                  <c:v>7.64</c:v>
                </c:pt>
                <c:pt idx="1397">
                  <c:v>7.73</c:v>
                </c:pt>
                <c:pt idx="1398">
                  <c:v>7.73</c:v>
                </c:pt>
                <c:pt idx="1399">
                  <c:v>7.83</c:v>
                </c:pt>
                <c:pt idx="1400">
                  <c:v>8.16</c:v>
                </c:pt>
                <c:pt idx="1401">
                  <c:v>8.01</c:v>
                </c:pt>
                <c:pt idx="1402">
                  <c:v>7.73</c:v>
                </c:pt>
                <c:pt idx="1403">
                  <c:v>7.65</c:v>
                </c:pt>
                <c:pt idx="1404">
                  <c:v>8.16</c:v>
                </c:pt>
                <c:pt idx="1405">
                  <c:v>8.14</c:v>
                </c:pt>
                <c:pt idx="1406">
                  <c:v>7.59</c:v>
                </c:pt>
                <c:pt idx="1407">
                  <c:v>8.17</c:v>
                </c:pt>
                <c:pt idx="1408">
                  <c:v>7.55</c:v>
                </c:pt>
                <c:pt idx="1409">
                  <c:v>9.23</c:v>
                </c:pt>
                <c:pt idx="1410">
                  <c:v>9.77</c:v>
                </c:pt>
                <c:pt idx="1411">
                  <c:v>10.63</c:v>
                </c:pt>
                <c:pt idx="1412">
                  <c:v>12.44</c:v>
                </c:pt>
                <c:pt idx="1413">
                  <c:v>12.09</c:v>
                </c:pt>
                <c:pt idx="1414">
                  <c:v>12.29</c:v>
                </c:pt>
                <c:pt idx="1415">
                  <c:v>12.07</c:v>
                </c:pt>
                <c:pt idx="1416">
                  <c:v>9.57</c:v>
                </c:pt>
                <c:pt idx="1417">
                  <c:v>9.27</c:v>
                </c:pt>
                <c:pt idx="1418">
                  <c:v>11.69</c:v>
                </c:pt>
                <c:pt idx="1419">
                  <c:v>11.17</c:v>
                </c:pt>
                <c:pt idx="1420">
                  <c:v>12.09</c:v>
                </c:pt>
                <c:pt idx="1421">
                  <c:v>10.9</c:v>
                </c:pt>
                <c:pt idx="1422">
                  <c:v>11.48</c:v>
                </c:pt>
                <c:pt idx="1423">
                  <c:v>10.28</c:v>
                </c:pt>
                <c:pt idx="1424">
                  <c:v>11.15</c:v>
                </c:pt>
                <c:pt idx="1425">
                  <c:v>10.5</c:v>
                </c:pt>
                <c:pt idx="1426">
                  <c:v>10.89</c:v>
                </c:pt>
                <c:pt idx="1427">
                  <c:v>10.53</c:v>
                </c:pt>
                <c:pt idx="1428">
                  <c:v>11.01</c:v>
                </c:pt>
                <c:pt idx="1429">
                  <c:v>11.98</c:v>
                </c:pt>
                <c:pt idx="1430">
                  <c:v>11.71</c:v>
                </c:pt>
                <c:pt idx="1431">
                  <c:v>10.3</c:v>
                </c:pt>
                <c:pt idx="1432">
                  <c:v>9.5</c:v>
                </c:pt>
                <c:pt idx="1433">
                  <c:v>8.69</c:v>
                </c:pt>
                <c:pt idx="1434">
                  <c:v>9.3000000000000007</c:v>
                </c:pt>
                <c:pt idx="1435">
                  <c:v>9.1</c:v>
                </c:pt>
                <c:pt idx="1436">
                  <c:v>9.0399999999999991</c:v>
                </c:pt>
                <c:pt idx="1437">
                  <c:v>9.5399999999999991</c:v>
                </c:pt>
                <c:pt idx="1438">
                  <c:v>9.19</c:v>
                </c:pt>
                <c:pt idx="1439">
                  <c:v>8.5500000000000007</c:v>
                </c:pt>
              </c:numCache>
            </c:numRef>
          </c:val>
          <c:smooth val="0"/>
          <c:extLst>
            <c:ext xmlns:c16="http://schemas.microsoft.com/office/drawing/2014/chart" uri="{C3380CC4-5D6E-409C-BE32-E72D297353CC}">
              <c16:uniqueId val="{00000000-4681-451B-A242-8620CB53D056}"/>
            </c:ext>
          </c:extLst>
        </c:ser>
        <c:dLbls>
          <c:showLegendKey val="0"/>
          <c:showVal val="0"/>
          <c:showCatName val="0"/>
          <c:showSerName val="0"/>
          <c:showPercent val="0"/>
          <c:showBubbleSize val="0"/>
        </c:dLbls>
        <c:smooth val="0"/>
        <c:axId val="697041120"/>
        <c:axId val="697037760"/>
      </c:lineChart>
      <c:catAx>
        <c:axId val="697041120"/>
        <c:scaling>
          <c:orientation val="minMax"/>
        </c:scaling>
        <c:delete val="1"/>
        <c:axPos val="b"/>
        <c:numFmt formatCode="General" sourceLinked="1"/>
        <c:majorTickMark val="none"/>
        <c:minorTickMark val="none"/>
        <c:tickLblPos val="nextTo"/>
        <c:crossAx val="697037760"/>
        <c:crosses val="autoZero"/>
        <c:auto val="1"/>
        <c:lblAlgn val="ctr"/>
        <c:lblOffset val="100"/>
        <c:noMultiLvlLbl val="0"/>
      </c:catAx>
      <c:valAx>
        <c:axId val="697037760"/>
        <c:scaling>
          <c:orientation val="minMax"/>
          <c:max val="50"/>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lang="ja-JP" sz="1000" b="0" i="0" u="none" strike="noStrike" kern="1200" baseline="0">
                    <a:solidFill>
                      <a:schemeClr val="tx1">
                        <a:lumMod val="65000"/>
                        <a:lumOff val="35000"/>
                      </a:schemeClr>
                    </a:solidFill>
                    <a:latin typeface="+mn-lt"/>
                    <a:ea typeface="+mn-ea"/>
                    <a:cs typeface="+mn-cs"/>
                  </a:defRPr>
                </a:pPr>
                <a:r>
                  <a:rPr lang="en-US" altLang="ja-JP" sz="800" b="0" i="0" u="none" strike="noStrike" kern="1200" baseline="0">
                    <a:solidFill>
                      <a:sysClr val="windowText" lastClr="000000">
                        <a:lumMod val="65000"/>
                        <a:lumOff val="35000"/>
                      </a:sysClr>
                    </a:solidFill>
                  </a:rPr>
                  <a:t>spot price [yen/kWh]</a:t>
                </a:r>
                <a:endParaRPr lang="ja-JP" altLang="en-US"/>
              </a:p>
            </c:rich>
          </c:tx>
          <c:overlay val="0"/>
          <c:spPr>
            <a:noFill/>
            <a:ln>
              <a:noFill/>
            </a:ln>
            <a:effectLst/>
          </c:spPr>
          <c:txPr>
            <a:bodyPr rot="-5400000" spcFirstLastPara="1" vertOverflow="ellipsis" vert="horz" wrap="square" anchor="ctr" anchorCtr="1"/>
            <a:lstStyle/>
            <a:p>
              <a:pPr>
                <a:defRPr lang="ja-JP"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ja-JP" sz="900" b="0" i="0" u="none" strike="noStrike" kern="1200" baseline="0">
                <a:solidFill>
                  <a:schemeClr val="tx1">
                    <a:lumMod val="65000"/>
                    <a:lumOff val="35000"/>
                  </a:schemeClr>
                </a:solidFill>
                <a:latin typeface="+mn-lt"/>
                <a:ea typeface="+mn-ea"/>
                <a:cs typeface="+mn-cs"/>
              </a:defRPr>
            </a:pPr>
            <a:endParaRPr lang="en-US"/>
          </a:p>
        </c:txPr>
        <c:crossAx val="69704112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ja-JP" sz="1400" b="0" i="0" u="none" strike="noStrike" kern="1200" spc="0" baseline="0">
                <a:solidFill>
                  <a:schemeClr val="tx1">
                    <a:lumMod val="65000"/>
                    <a:lumOff val="35000"/>
                  </a:schemeClr>
                </a:solidFill>
                <a:latin typeface="+mn-lt"/>
                <a:ea typeface="+mn-ea"/>
                <a:cs typeface="+mn-cs"/>
              </a:defRPr>
            </a:pPr>
            <a:r>
              <a:rPr lang="en-US" altLang="ja-JP" sz="1000" dirty="0"/>
              <a:t>2022/4/1~2022/4/30</a:t>
            </a:r>
          </a:p>
        </c:rich>
      </c:tx>
      <c:overlay val="0"/>
      <c:spPr>
        <a:noFill/>
        <a:ln>
          <a:noFill/>
        </a:ln>
        <a:effectLst/>
      </c:spPr>
      <c:txPr>
        <a:bodyPr rot="0" spcFirstLastPara="1" vertOverflow="ellipsis" vert="horz" wrap="square" anchor="ctr" anchorCtr="1"/>
        <a:lstStyle/>
        <a:p>
          <a:pPr>
            <a:defRPr lang="ja-JP"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manualLayout>
          <c:layoutTarget val="inner"/>
          <c:xMode val="edge"/>
          <c:yMode val="edge"/>
          <c:x val="9.1162671086937708E-2"/>
          <c:y val="0.15838404716453236"/>
          <c:w val="0.88589627985518071"/>
          <c:h val="0.7668102628908624"/>
        </c:manualLayout>
      </c:layout>
      <c:lineChart>
        <c:grouping val="standard"/>
        <c:varyColors val="0"/>
        <c:ser>
          <c:idx val="0"/>
          <c:order val="0"/>
          <c:tx>
            <c:strRef>
              <c:f>'2022spot'!$C$1</c:f>
              <c:strCache>
                <c:ptCount val="1"/>
                <c:pt idx="0">
                  <c:v>spot price</c:v>
                </c:pt>
              </c:strCache>
            </c:strRef>
          </c:tx>
          <c:spPr>
            <a:ln w="12700" cap="rnd">
              <a:solidFill>
                <a:schemeClr val="accent1"/>
              </a:solidFill>
              <a:round/>
            </a:ln>
            <a:effectLst/>
          </c:spPr>
          <c:marker>
            <c:symbol val="none"/>
          </c:marker>
          <c:val>
            <c:numRef>
              <c:f>'2022spot'!$C$2:$C$1441</c:f>
              <c:numCache>
                <c:formatCode>General</c:formatCode>
                <c:ptCount val="1440"/>
                <c:pt idx="0">
                  <c:v>11.97</c:v>
                </c:pt>
                <c:pt idx="1">
                  <c:v>14.47</c:v>
                </c:pt>
                <c:pt idx="2">
                  <c:v>15</c:v>
                </c:pt>
                <c:pt idx="3">
                  <c:v>16.55</c:v>
                </c:pt>
                <c:pt idx="4">
                  <c:v>17.3</c:v>
                </c:pt>
                <c:pt idx="5">
                  <c:v>14.77</c:v>
                </c:pt>
                <c:pt idx="6">
                  <c:v>14.89</c:v>
                </c:pt>
                <c:pt idx="7">
                  <c:v>14.89</c:v>
                </c:pt>
                <c:pt idx="8">
                  <c:v>14.89</c:v>
                </c:pt>
                <c:pt idx="9">
                  <c:v>16.55</c:v>
                </c:pt>
                <c:pt idx="10">
                  <c:v>17.100000000000001</c:v>
                </c:pt>
                <c:pt idx="11">
                  <c:v>24.32</c:v>
                </c:pt>
                <c:pt idx="12">
                  <c:v>24.77</c:v>
                </c:pt>
                <c:pt idx="13">
                  <c:v>24.77</c:v>
                </c:pt>
                <c:pt idx="14">
                  <c:v>23.95</c:v>
                </c:pt>
                <c:pt idx="15">
                  <c:v>20.04</c:v>
                </c:pt>
                <c:pt idx="16">
                  <c:v>20</c:v>
                </c:pt>
                <c:pt idx="17">
                  <c:v>14.15</c:v>
                </c:pt>
                <c:pt idx="18">
                  <c:v>14.49</c:v>
                </c:pt>
                <c:pt idx="19">
                  <c:v>10.1</c:v>
                </c:pt>
                <c:pt idx="20">
                  <c:v>1</c:v>
                </c:pt>
                <c:pt idx="21">
                  <c:v>1.3</c:v>
                </c:pt>
                <c:pt idx="22">
                  <c:v>0.01</c:v>
                </c:pt>
                <c:pt idx="23">
                  <c:v>0.01</c:v>
                </c:pt>
                <c:pt idx="24">
                  <c:v>0.01</c:v>
                </c:pt>
                <c:pt idx="25">
                  <c:v>0.01</c:v>
                </c:pt>
                <c:pt idx="26">
                  <c:v>0.01</c:v>
                </c:pt>
                <c:pt idx="27">
                  <c:v>0.01</c:v>
                </c:pt>
                <c:pt idx="28">
                  <c:v>0.01</c:v>
                </c:pt>
                <c:pt idx="29">
                  <c:v>0.01</c:v>
                </c:pt>
                <c:pt idx="30">
                  <c:v>0.01</c:v>
                </c:pt>
                <c:pt idx="31">
                  <c:v>9.75</c:v>
                </c:pt>
                <c:pt idx="32">
                  <c:v>14.28</c:v>
                </c:pt>
                <c:pt idx="33">
                  <c:v>24.01</c:v>
                </c:pt>
                <c:pt idx="34">
                  <c:v>24.28</c:v>
                </c:pt>
                <c:pt idx="35">
                  <c:v>28.32</c:v>
                </c:pt>
                <c:pt idx="36">
                  <c:v>35</c:v>
                </c:pt>
                <c:pt idx="37">
                  <c:v>36.21</c:v>
                </c:pt>
                <c:pt idx="38">
                  <c:v>28.32</c:v>
                </c:pt>
                <c:pt idx="39">
                  <c:v>28.32</c:v>
                </c:pt>
                <c:pt idx="40">
                  <c:v>28.32</c:v>
                </c:pt>
                <c:pt idx="41">
                  <c:v>26.79</c:v>
                </c:pt>
                <c:pt idx="42">
                  <c:v>26.92</c:v>
                </c:pt>
                <c:pt idx="43">
                  <c:v>25.01</c:v>
                </c:pt>
                <c:pt idx="44">
                  <c:v>28.32</c:v>
                </c:pt>
                <c:pt idx="45">
                  <c:v>26.03</c:v>
                </c:pt>
                <c:pt idx="46">
                  <c:v>24.28</c:v>
                </c:pt>
                <c:pt idx="47">
                  <c:v>18.38</c:v>
                </c:pt>
                <c:pt idx="48">
                  <c:v>23.81</c:v>
                </c:pt>
                <c:pt idx="49">
                  <c:v>23.81</c:v>
                </c:pt>
                <c:pt idx="50">
                  <c:v>24.18</c:v>
                </c:pt>
                <c:pt idx="51">
                  <c:v>24.18</c:v>
                </c:pt>
                <c:pt idx="52">
                  <c:v>24.18</c:v>
                </c:pt>
                <c:pt idx="53">
                  <c:v>24.18</c:v>
                </c:pt>
                <c:pt idx="54">
                  <c:v>24.18</c:v>
                </c:pt>
                <c:pt idx="55">
                  <c:v>26.06</c:v>
                </c:pt>
                <c:pt idx="56">
                  <c:v>26.79</c:v>
                </c:pt>
                <c:pt idx="57">
                  <c:v>26.79</c:v>
                </c:pt>
                <c:pt idx="58">
                  <c:v>26.79</c:v>
                </c:pt>
                <c:pt idx="59">
                  <c:v>26.79</c:v>
                </c:pt>
                <c:pt idx="60">
                  <c:v>23.92</c:v>
                </c:pt>
                <c:pt idx="61">
                  <c:v>23.81</c:v>
                </c:pt>
                <c:pt idx="62">
                  <c:v>22.05</c:v>
                </c:pt>
                <c:pt idx="63">
                  <c:v>18.38</c:v>
                </c:pt>
                <c:pt idx="64">
                  <c:v>11.21</c:v>
                </c:pt>
                <c:pt idx="65">
                  <c:v>9.39</c:v>
                </c:pt>
                <c:pt idx="66">
                  <c:v>0.01</c:v>
                </c:pt>
                <c:pt idx="67">
                  <c:v>0.01</c:v>
                </c:pt>
                <c:pt idx="68">
                  <c:v>0.01</c:v>
                </c:pt>
                <c:pt idx="69">
                  <c:v>0.01</c:v>
                </c:pt>
                <c:pt idx="70">
                  <c:v>0.01</c:v>
                </c:pt>
                <c:pt idx="71">
                  <c:v>0.01</c:v>
                </c:pt>
                <c:pt idx="72">
                  <c:v>0.01</c:v>
                </c:pt>
                <c:pt idx="73">
                  <c:v>0.01</c:v>
                </c:pt>
                <c:pt idx="74">
                  <c:v>0.01</c:v>
                </c:pt>
                <c:pt idx="75">
                  <c:v>0.01</c:v>
                </c:pt>
                <c:pt idx="76">
                  <c:v>0.01</c:v>
                </c:pt>
                <c:pt idx="77">
                  <c:v>0.01</c:v>
                </c:pt>
                <c:pt idx="78">
                  <c:v>0.01</c:v>
                </c:pt>
                <c:pt idx="79">
                  <c:v>0.01</c:v>
                </c:pt>
                <c:pt idx="80">
                  <c:v>7.61</c:v>
                </c:pt>
                <c:pt idx="81">
                  <c:v>14.99</c:v>
                </c:pt>
                <c:pt idx="82">
                  <c:v>23.81</c:v>
                </c:pt>
                <c:pt idx="83">
                  <c:v>23.91</c:v>
                </c:pt>
                <c:pt idx="84">
                  <c:v>24.28</c:v>
                </c:pt>
                <c:pt idx="85">
                  <c:v>25.91</c:v>
                </c:pt>
                <c:pt idx="86">
                  <c:v>25.87</c:v>
                </c:pt>
                <c:pt idx="87">
                  <c:v>23.92</c:v>
                </c:pt>
                <c:pt idx="88">
                  <c:v>23.92</c:v>
                </c:pt>
                <c:pt idx="89">
                  <c:v>23.92</c:v>
                </c:pt>
                <c:pt idx="90">
                  <c:v>23.92</c:v>
                </c:pt>
                <c:pt idx="91">
                  <c:v>23.91</c:v>
                </c:pt>
                <c:pt idx="92">
                  <c:v>23.81</c:v>
                </c:pt>
                <c:pt idx="93">
                  <c:v>19.13</c:v>
                </c:pt>
                <c:pt idx="94">
                  <c:v>19.13</c:v>
                </c:pt>
                <c:pt idx="95">
                  <c:v>16.440000000000001</c:v>
                </c:pt>
                <c:pt idx="96">
                  <c:v>19.27</c:v>
                </c:pt>
                <c:pt idx="97">
                  <c:v>19.27</c:v>
                </c:pt>
                <c:pt idx="98">
                  <c:v>20.21</c:v>
                </c:pt>
                <c:pt idx="99">
                  <c:v>23.81</c:v>
                </c:pt>
                <c:pt idx="100">
                  <c:v>23.81</c:v>
                </c:pt>
                <c:pt idx="101">
                  <c:v>24.02</c:v>
                </c:pt>
                <c:pt idx="102">
                  <c:v>20.21</c:v>
                </c:pt>
                <c:pt idx="103">
                  <c:v>20.21</c:v>
                </c:pt>
                <c:pt idx="104">
                  <c:v>24.18</c:v>
                </c:pt>
                <c:pt idx="105">
                  <c:v>24.18</c:v>
                </c:pt>
                <c:pt idx="106">
                  <c:v>23.81</c:v>
                </c:pt>
                <c:pt idx="107">
                  <c:v>23.81</c:v>
                </c:pt>
                <c:pt idx="108">
                  <c:v>20.21</c:v>
                </c:pt>
                <c:pt idx="109">
                  <c:v>17.13</c:v>
                </c:pt>
                <c:pt idx="110">
                  <c:v>11.39</c:v>
                </c:pt>
                <c:pt idx="111">
                  <c:v>9.75</c:v>
                </c:pt>
                <c:pt idx="112">
                  <c:v>9.75</c:v>
                </c:pt>
                <c:pt idx="113">
                  <c:v>9.18</c:v>
                </c:pt>
                <c:pt idx="114">
                  <c:v>7.61</c:v>
                </c:pt>
                <c:pt idx="115">
                  <c:v>0.01</c:v>
                </c:pt>
                <c:pt idx="116">
                  <c:v>2</c:v>
                </c:pt>
                <c:pt idx="117">
                  <c:v>5.4</c:v>
                </c:pt>
                <c:pt idx="118">
                  <c:v>7.61</c:v>
                </c:pt>
                <c:pt idx="119">
                  <c:v>5</c:v>
                </c:pt>
                <c:pt idx="120">
                  <c:v>2</c:v>
                </c:pt>
                <c:pt idx="121">
                  <c:v>4.6500000000000004</c:v>
                </c:pt>
                <c:pt idx="122">
                  <c:v>2</c:v>
                </c:pt>
                <c:pt idx="123">
                  <c:v>1</c:v>
                </c:pt>
                <c:pt idx="124">
                  <c:v>2</c:v>
                </c:pt>
                <c:pt idx="125">
                  <c:v>0.01</c:v>
                </c:pt>
                <c:pt idx="126">
                  <c:v>1</c:v>
                </c:pt>
                <c:pt idx="127">
                  <c:v>9.18</c:v>
                </c:pt>
                <c:pt idx="128">
                  <c:v>5.44</c:v>
                </c:pt>
                <c:pt idx="129">
                  <c:v>10.98</c:v>
                </c:pt>
                <c:pt idx="130">
                  <c:v>18.38</c:v>
                </c:pt>
                <c:pt idx="131">
                  <c:v>23.44</c:v>
                </c:pt>
                <c:pt idx="132">
                  <c:v>23.45</c:v>
                </c:pt>
                <c:pt idx="133">
                  <c:v>23.45</c:v>
                </c:pt>
                <c:pt idx="134">
                  <c:v>23.81</c:v>
                </c:pt>
                <c:pt idx="135">
                  <c:v>23.81</c:v>
                </c:pt>
                <c:pt idx="136">
                  <c:v>23.81</c:v>
                </c:pt>
                <c:pt idx="137">
                  <c:v>23.45</c:v>
                </c:pt>
                <c:pt idx="138">
                  <c:v>23.45</c:v>
                </c:pt>
                <c:pt idx="139">
                  <c:v>23.45</c:v>
                </c:pt>
                <c:pt idx="140">
                  <c:v>26.79</c:v>
                </c:pt>
                <c:pt idx="141">
                  <c:v>23.81</c:v>
                </c:pt>
                <c:pt idx="142">
                  <c:v>24.28</c:v>
                </c:pt>
                <c:pt idx="143">
                  <c:v>18.899999999999999</c:v>
                </c:pt>
                <c:pt idx="144">
                  <c:v>14.77</c:v>
                </c:pt>
                <c:pt idx="145">
                  <c:v>16.47</c:v>
                </c:pt>
                <c:pt idx="146">
                  <c:v>16.86</c:v>
                </c:pt>
                <c:pt idx="147">
                  <c:v>16.47</c:v>
                </c:pt>
                <c:pt idx="148">
                  <c:v>16.86</c:v>
                </c:pt>
                <c:pt idx="149">
                  <c:v>20</c:v>
                </c:pt>
                <c:pt idx="150">
                  <c:v>24.18</c:v>
                </c:pt>
                <c:pt idx="151">
                  <c:v>20.25</c:v>
                </c:pt>
                <c:pt idx="152">
                  <c:v>19.27</c:v>
                </c:pt>
                <c:pt idx="153">
                  <c:v>20.21</c:v>
                </c:pt>
                <c:pt idx="154">
                  <c:v>24.18</c:v>
                </c:pt>
                <c:pt idx="155">
                  <c:v>26.8</c:v>
                </c:pt>
                <c:pt idx="156">
                  <c:v>34.43</c:v>
                </c:pt>
                <c:pt idx="157">
                  <c:v>39.57</c:v>
                </c:pt>
                <c:pt idx="158">
                  <c:v>34.43</c:v>
                </c:pt>
                <c:pt idx="159">
                  <c:v>26.92</c:v>
                </c:pt>
                <c:pt idx="160">
                  <c:v>23.81</c:v>
                </c:pt>
                <c:pt idx="161">
                  <c:v>20.21</c:v>
                </c:pt>
                <c:pt idx="162">
                  <c:v>20.07</c:v>
                </c:pt>
                <c:pt idx="163">
                  <c:v>19.66</c:v>
                </c:pt>
                <c:pt idx="164">
                  <c:v>16.86</c:v>
                </c:pt>
                <c:pt idx="165">
                  <c:v>17.13</c:v>
                </c:pt>
                <c:pt idx="166">
                  <c:v>14.99</c:v>
                </c:pt>
                <c:pt idx="167">
                  <c:v>11.53</c:v>
                </c:pt>
                <c:pt idx="168">
                  <c:v>10.1</c:v>
                </c:pt>
                <c:pt idx="169">
                  <c:v>9.75</c:v>
                </c:pt>
                <c:pt idx="170">
                  <c:v>11.32</c:v>
                </c:pt>
                <c:pt idx="171">
                  <c:v>12.26</c:v>
                </c:pt>
                <c:pt idx="172">
                  <c:v>18.38</c:v>
                </c:pt>
                <c:pt idx="173">
                  <c:v>19.66</c:v>
                </c:pt>
                <c:pt idx="174">
                  <c:v>16.440000000000001</c:v>
                </c:pt>
                <c:pt idx="175">
                  <c:v>19.66</c:v>
                </c:pt>
                <c:pt idx="176">
                  <c:v>19.66</c:v>
                </c:pt>
                <c:pt idx="177">
                  <c:v>29.01</c:v>
                </c:pt>
                <c:pt idx="178">
                  <c:v>39.68</c:v>
                </c:pt>
                <c:pt idx="179">
                  <c:v>40.6</c:v>
                </c:pt>
                <c:pt idx="180">
                  <c:v>45</c:v>
                </c:pt>
                <c:pt idx="181">
                  <c:v>45.03</c:v>
                </c:pt>
                <c:pt idx="182">
                  <c:v>40.26</c:v>
                </c:pt>
                <c:pt idx="183">
                  <c:v>40</c:v>
                </c:pt>
                <c:pt idx="184">
                  <c:v>39.83</c:v>
                </c:pt>
                <c:pt idx="185">
                  <c:v>39.78</c:v>
                </c:pt>
                <c:pt idx="186">
                  <c:v>39.700000000000003</c:v>
                </c:pt>
                <c:pt idx="187">
                  <c:v>39.28</c:v>
                </c:pt>
                <c:pt idx="188">
                  <c:v>38.25</c:v>
                </c:pt>
                <c:pt idx="189">
                  <c:v>26.79</c:v>
                </c:pt>
                <c:pt idx="190">
                  <c:v>23.81</c:v>
                </c:pt>
                <c:pt idx="191">
                  <c:v>18.38</c:v>
                </c:pt>
                <c:pt idx="192">
                  <c:v>18.38</c:v>
                </c:pt>
                <c:pt idx="193">
                  <c:v>18.38</c:v>
                </c:pt>
                <c:pt idx="194">
                  <c:v>20</c:v>
                </c:pt>
                <c:pt idx="195">
                  <c:v>20.07</c:v>
                </c:pt>
                <c:pt idx="196">
                  <c:v>20.07</c:v>
                </c:pt>
                <c:pt idx="197">
                  <c:v>20.21</c:v>
                </c:pt>
                <c:pt idx="198">
                  <c:v>24.18</c:v>
                </c:pt>
                <c:pt idx="199">
                  <c:v>24.18</c:v>
                </c:pt>
                <c:pt idx="200">
                  <c:v>20.21</c:v>
                </c:pt>
                <c:pt idx="201">
                  <c:v>23.81</c:v>
                </c:pt>
                <c:pt idx="202">
                  <c:v>26.06</c:v>
                </c:pt>
                <c:pt idx="203">
                  <c:v>31.84</c:v>
                </c:pt>
                <c:pt idx="204">
                  <c:v>39.93</c:v>
                </c:pt>
                <c:pt idx="205">
                  <c:v>31</c:v>
                </c:pt>
                <c:pt idx="206">
                  <c:v>24.28</c:v>
                </c:pt>
                <c:pt idx="207">
                  <c:v>19.89</c:v>
                </c:pt>
                <c:pt idx="208">
                  <c:v>16.440000000000001</c:v>
                </c:pt>
                <c:pt idx="209">
                  <c:v>13.88</c:v>
                </c:pt>
                <c:pt idx="210">
                  <c:v>11.24</c:v>
                </c:pt>
                <c:pt idx="211">
                  <c:v>10.34</c:v>
                </c:pt>
                <c:pt idx="212">
                  <c:v>9.75</c:v>
                </c:pt>
                <c:pt idx="213">
                  <c:v>9.75</c:v>
                </c:pt>
                <c:pt idx="214">
                  <c:v>9.39</c:v>
                </c:pt>
                <c:pt idx="215">
                  <c:v>9.39</c:v>
                </c:pt>
                <c:pt idx="216">
                  <c:v>1.3</c:v>
                </c:pt>
                <c:pt idx="217">
                  <c:v>0.01</c:v>
                </c:pt>
                <c:pt idx="218">
                  <c:v>9.39</c:v>
                </c:pt>
                <c:pt idx="219">
                  <c:v>9.39</c:v>
                </c:pt>
                <c:pt idx="220">
                  <c:v>9.39</c:v>
                </c:pt>
                <c:pt idx="221">
                  <c:v>9.75</c:v>
                </c:pt>
                <c:pt idx="222">
                  <c:v>2</c:v>
                </c:pt>
                <c:pt idx="223">
                  <c:v>10.1</c:v>
                </c:pt>
                <c:pt idx="224">
                  <c:v>12.29</c:v>
                </c:pt>
                <c:pt idx="225">
                  <c:v>24.18</c:v>
                </c:pt>
                <c:pt idx="226">
                  <c:v>24.45</c:v>
                </c:pt>
                <c:pt idx="227">
                  <c:v>35</c:v>
                </c:pt>
                <c:pt idx="228">
                  <c:v>38.24</c:v>
                </c:pt>
                <c:pt idx="229">
                  <c:v>39.479999999999997</c:v>
                </c:pt>
                <c:pt idx="230">
                  <c:v>32.57</c:v>
                </c:pt>
                <c:pt idx="231">
                  <c:v>29.87</c:v>
                </c:pt>
                <c:pt idx="232">
                  <c:v>30</c:v>
                </c:pt>
                <c:pt idx="233">
                  <c:v>26.79</c:v>
                </c:pt>
                <c:pt idx="234">
                  <c:v>25.87</c:v>
                </c:pt>
                <c:pt idx="235">
                  <c:v>24.45</c:v>
                </c:pt>
                <c:pt idx="236">
                  <c:v>29.73</c:v>
                </c:pt>
                <c:pt idx="237">
                  <c:v>19.13</c:v>
                </c:pt>
                <c:pt idx="238">
                  <c:v>18.38</c:v>
                </c:pt>
                <c:pt idx="239">
                  <c:v>14.99</c:v>
                </c:pt>
                <c:pt idx="240">
                  <c:v>12.45</c:v>
                </c:pt>
                <c:pt idx="241">
                  <c:v>12.66</c:v>
                </c:pt>
                <c:pt idx="242">
                  <c:v>15.73</c:v>
                </c:pt>
                <c:pt idx="243">
                  <c:v>16.73</c:v>
                </c:pt>
                <c:pt idx="244">
                  <c:v>17.13</c:v>
                </c:pt>
                <c:pt idx="245">
                  <c:v>18.38</c:v>
                </c:pt>
                <c:pt idx="246">
                  <c:v>20.21</c:v>
                </c:pt>
                <c:pt idx="247">
                  <c:v>20.21</c:v>
                </c:pt>
                <c:pt idx="248">
                  <c:v>20.21</c:v>
                </c:pt>
                <c:pt idx="249">
                  <c:v>26.79</c:v>
                </c:pt>
                <c:pt idx="250">
                  <c:v>20.21</c:v>
                </c:pt>
                <c:pt idx="251">
                  <c:v>20.21</c:v>
                </c:pt>
                <c:pt idx="252">
                  <c:v>20.07</c:v>
                </c:pt>
                <c:pt idx="253">
                  <c:v>16.47</c:v>
                </c:pt>
                <c:pt idx="254">
                  <c:v>16.440000000000001</c:v>
                </c:pt>
                <c:pt idx="255">
                  <c:v>11.53</c:v>
                </c:pt>
                <c:pt idx="256">
                  <c:v>10.1</c:v>
                </c:pt>
                <c:pt idx="257">
                  <c:v>7.48</c:v>
                </c:pt>
                <c:pt idx="258">
                  <c:v>2</c:v>
                </c:pt>
                <c:pt idx="259">
                  <c:v>0.01</c:v>
                </c:pt>
                <c:pt idx="260">
                  <c:v>0.01</c:v>
                </c:pt>
                <c:pt idx="261">
                  <c:v>0.01</c:v>
                </c:pt>
                <c:pt idx="262">
                  <c:v>0.01</c:v>
                </c:pt>
                <c:pt idx="263">
                  <c:v>0.01</c:v>
                </c:pt>
                <c:pt idx="264">
                  <c:v>0.01</c:v>
                </c:pt>
                <c:pt idx="265">
                  <c:v>0.01</c:v>
                </c:pt>
                <c:pt idx="266">
                  <c:v>0.01</c:v>
                </c:pt>
                <c:pt idx="267">
                  <c:v>0.01</c:v>
                </c:pt>
                <c:pt idx="268">
                  <c:v>0.01</c:v>
                </c:pt>
                <c:pt idx="269">
                  <c:v>0.01</c:v>
                </c:pt>
                <c:pt idx="270">
                  <c:v>0.01</c:v>
                </c:pt>
                <c:pt idx="271">
                  <c:v>9.39</c:v>
                </c:pt>
                <c:pt idx="272">
                  <c:v>9.92</c:v>
                </c:pt>
                <c:pt idx="273">
                  <c:v>16.29</c:v>
                </c:pt>
                <c:pt idx="274">
                  <c:v>24.28</c:v>
                </c:pt>
                <c:pt idx="275">
                  <c:v>24.45</c:v>
                </c:pt>
                <c:pt idx="276">
                  <c:v>24.46</c:v>
                </c:pt>
                <c:pt idx="277">
                  <c:v>24.46</c:v>
                </c:pt>
                <c:pt idx="278">
                  <c:v>24.46</c:v>
                </c:pt>
                <c:pt idx="279">
                  <c:v>24.45</c:v>
                </c:pt>
                <c:pt idx="280">
                  <c:v>24.45</c:v>
                </c:pt>
                <c:pt idx="281">
                  <c:v>24.45</c:v>
                </c:pt>
                <c:pt idx="282">
                  <c:v>24.45</c:v>
                </c:pt>
                <c:pt idx="283">
                  <c:v>24.28</c:v>
                </c:pt>
                <c:pt idx="284">
                  <c:v>20.21</c:v>
                </c:pt>
                <c:pt idx="285">
                  <c:v>16.73</c:v>
                </c:pt>
                <c:pt idx="286">
                  <c:v>16.47</c:v>
                </c:pt>
                <c:pt idx="287">
                  <c:v>12.26</c:v>
                </c:pt>
                <c:pt idx="288">
                  <c:v>16.86</c:v>
                </c:pt>
                <c:pt idx="289">
                  <c:v>17.3</c:v>
                </c:pt>
                <c:pt idx="290">
                  <c:v>18.38</c:v>
                </c:pt>
                <c:pt idx="291">
                  <c:v>24.18</c:v>
                </c:pt>
                <c:pt idx="292">
                  <c:v>24.18</c:v>
                </c:pt>
                <c:pt idx="293">
                  <c:v>26.06</c:v>
                </c:pt>
                <c:pt idx="294">
                  <c:v>26.79</c:v>
                </c:pt>
                <c:pt idx="295">
                  <c:v>28.89</c:v>
                </c:pt>
                <c:pt idx="296">
                  <c:v>26.79</c:v>
                </c:pt>
                <c:pt idx="297">
                  <c:v>26.92</c:v>
                </c:pt>
                <c:pt idx="298">
                  <c:v>30</c:v>
                </c:pt>
                <c:pt idx="299">
                  <c:v>30.18</c:v>
                </c:pt>
                <c:pt idx="300">
                  <c:v>26.79</c:v>
                </c:pt>
                <c:pt idx="301">
                  <c:v>23.81</c:v>
                </c:pt>
                <c:pt idx="302">
                  <c:v>23.56</c:v>
                </c:pt>
                <c:pt idx="303">
                  <c:v>18.38</c:v>
                </c:pt>
                <c:pt idx="304">
                  <c:v>16.29</c:v>
                </c:pt>
                <c:pt idx="305">
                  <c:v>16.29</c:v>
                </c:pt>
                <c:pt idx="306">
                  <c:v>16.29</c:v>
                </c:pt>
                <c:pt idx="307">
                  <c:v>11.39</c:v>
                </c:pt>
                <c:pt idx="308">
                  <c:v>9.75</c:v>
                </c:pt>
                <c:pt idx="309">
                  <c:v>10.1</c:v>
                </c:pt>
                <c:pt idx="310">
                  <c:v>9.75</c:v>
                </c:pt>
                <c:pt idx="311">
                  <c:v>9.39</c:v>
                </c:pt>
                <c:pt idx="312">
                  <c:v>0.01</c:v>
                </c:pt>
                <c:pt idx="313">
                  <c:v>0.01</c:v>
                </c:pt>
                <c:pt idx="314">
                  <c:v>9.18</c:v>
                </c:pt>
                <c:pt idx="315">
                  <c:v>9.39</c:v>
                </c:pt>
                <c:pt idx="316">
                  <c:v>9.75</c:v>
                </c:pt>
                <c:pt idx="317">
                  <c:v>10.1</c:v>
                </c:pt>
                <c:pt idx="318">
                  <c:v>10.1</c:v>
                </c:pt>
                <c:pt idx="319">
                  <c:v>12.45</c:v>
                </c:pt>
                <c:pt idx="320">
                  <c:v>16.29</c:v>
                </c:pt>
                <c:pt idx="321">
                  <c:v>23.56</c:v>
                </c:pt>
                <c:pt idx="322">
                  <c:v>24.28</c:v>
                </c:pt>
                <c:pt idx="323">
                  <c:v>32.159999999999997</c:v>
                </c:pt>
                <c:pt idx="324">
                  <c:v>35</c:v>
                </c:pt>
                <c:pt idx="325">
                  <c:v>39.58</c:v>
                </c:pt>
                <c:pt idx="326">
                  <c:v>32.57</c:v>
                </c:pt>
                <c:pt idx="327">
                  <c:v>31.05</c:v>
                </c:pt>
                <c:pt idx="328">
                  <c:v>31.84</c:v>
                </c:pt>
                <c:pt idx="329">
                  <c:v>27.67</c:v>
                </c:pt>
                <c:pt idx="330">
                  <c:v>30.28</c:v>
                </c:pt>
                <c:pt idx="331">
                  <c:v>26.79</c:v>
                </c:pt>
                <c:pt idx="332">
                  <c:v>30.96</c:v>
                </c:pt>
                <c:pt idx="333">
                  <c:v>25.87</c:v>
                </c:pt>
                <c:pt idx="334">
                  <c:v>23.81</c:v>
                </c:pt>
                <c:pt idx="335">
                  <c:v>17.13</c:v>
                </c:pt>
                <c:pt idx="336">
                  <c:v>16.73</c:v>
                </c:pt>
                <c:pt idx="337">
                  <c:v>17.13</c:v>
                </c:pt>
                <c:pt idx="338">
                  <c:v>18.38</c:v>
                </c:pt>
                <c:pt idx="339">
                  <c:v>20.07</c:v>
                </c:pt>
                <c:pt idx="340">
                  <c:v>24.18</c:v>
                </c:pt>
                <c:pt idx="341">
                  <c:v>26.06</c:v>
                </c:pt>
                <c:pt idx="342">
                  <c:v>26.79</c:v>
                </c:pt>
                <c:pt idx="343">
                  <c:v>26.79</c:v>
                </c:pt>
                <c:pt idx="344">
                  <c:v>26.06</c:v>
                </c:pt>
                <c:pt idx="345">
                  <c:v>26.06</c:v>
                </c:pt>
                <c:pt idx="346">
                  <c:v>26.79</c:v>
                </c:pt>
                <c:pt idx="347">
                  <c:v>29.81</c:v>
                </c:pt>
                <c:pt idx="348">
                  <c:v>23.68</c:v>
                </c:pt>
                <c:pt idx="349">
                  <c:v>23.67</c:v>
                </c:pt>
                <c:pt idx="350">
                  <c:v>19.13</c:v>
                </c:pt>
                <c:pt idx="351">
                  <c:v>16.47</c:v>
                </c:pt>
                <c:pt idx="352">
                  <c:v>10.77</c:v>
                </c:pt>
                <c:pt idx="353">
                  <c:v>10.1</c:v>
                </c:pt>
                <c:pt idx="354">
                  <c:v>9.75</c:v>
                </c:pt>
                <c:pt idx="355">
                  <c:v>8.3000000000000007</c:v>
                </c:pt>
                <c:pt idx="356">
                  <c:v>1.3</c:v>
                </c:pt>
                <c:pt idx="357">
                  <c:v>2</c:v>
                </c:pt>
                <c:pt idx="358">
                  <c:v>2</c:v>
                </c:pt>
                <c:pt idx="359">
                  <c:v>0.03</c:v>
                </c:pt>
                <c:pt idx="360">
                  <c:v>0.01</c:v>
                </c:pt>
                <c:pt idx="361">
                  <c:v>0.01</c:v>
                </c:pt>
                <c:pt idx="362">
                  <c:v>0.01</c:v>
                </c:pt>
                <c:pt idx="363">
                  <c:v>0.05</c:v>
                </c:pt>
                <c:pt idx="364">
                  <c:v>4.6500000000000004</c:v>
                </c:pt>
                <c:pt idx="365">
                  <c:v>0.17</c:v>
                </c:pt>
                <c:pt idx="366">
                  <c:v>8.69</c:v>
                </c:pt>
                <c:pt idx="367">
                  <c:v>10.1</c:v>
                </c:pt>
                <c:pt idx="368">
                  <c:v>14.99</c:v>
                </c:pt>
                <c:pt idx="369">
                  <c:v>23.68</c:v>
                </c:pt>
                <c:pt idx="370">
                  <c:v>24.28</c:v>
                </c:pt>
                <c:pt idx="371">
                  <c:v>32.159999999999997</c:v>
                </c:pt>
                <c:pt idx="372">
                  <c:v>30.48</c:v>
                </c:pt>
                <c:pt idx="373">
                  <c:v>31.84</c:v>
                </c:pt>
                <c:pt idx="374">
                  <c:v>27.67</c:v>
                </c:pt>
                <c:pt idx="375">
                  <c:v>26.79</c:v>
                </c:pt>
                <c:pt idx="376">
                  <c:v>26.79</c:v>
                </c:pt>
                <c:pt idx="377">
                  <c:v>25.01</c:v>
                </c:pt>
                <c:pt idx="378">
                  <c:v>26.79</c:v>
                </c:pt>
                <c:pt idx="379">
                  <c:v>26.79</c:v>
                </c:pt>
                <c:pt idx="380">
                  <c:v>31.75</c:v>
                </c:pt>
                <c:pt idx="381">
                  <c:v>29.5</c:v>
                </c:pt>
                <c:pt idx="382">
                  <c:v>29.02</c:v>
                </c:pt>
                <c:pt idx="383">
                  <c:v>19.13</c:v>
                </c:pt>
                <c:pt idx="384">
                  <c:v>23.27</c:v>
                </c:pt>
                <c:pt idx="385">
                  <c:v>23.27</c:v>
                </c:pt>
                <c:pt idx="386">
                  <c:v>24.47</c:v>
                </c:pt>
                <c:pt idx="387">
                  <c:v>23.27</c:v>
                </c:pt>
                <c:pt idx="388">
                  <c:v>23.27</c:v>
                </c:pt>
                <c:pt idx="389">
                  <c:v>24.94</c:v>
                </c:pt>
                <c:pt idx="390">
                  <c:v>24.23</c:v>
                </c:pt>
                <c:pt idx="391">
                  <c:v>20.58</c:v>
                </c:pt>
                <c:pt idx="392">
                  <c:v>20.58</c:v>
                </c:pt>
                <c:pt idx="393">
                  <c:v>21.67</c:v>
                </c:pt>
                <c:pt idx="394">
                  <c:v>20.25</c:v>
                </c:pt>
                <c:pt idx="395">
                  <c:v>23.57</c:v>
                </c:pt>
                <c:pt idx="396">
                  <c:v>20.25</c:v>
                </c:pt>
                <c:pt idx="397">
                  <c:v>10.85</c:v>
                </c:pt>
                <c:pt idx="398">
                  <c:v>0.16</c:v>
                </c:pt>
                <c:pt idx="399">
                  <c:v>0.01</c:v>
                </c:pt>
                <c:pt idx="400">
                  <c:v>0.01</c:v>
                </c:pt>
                <c:pt idx="401">
                  <c:v>0.01</c:v>
                </c:pt>
                <c:pt idx="402">
                  <c:v>0.01</c:v>
                </c:pt>
                <c:pt idx="403">
                  <c:v>0.01</c:v>
                </c:pt>
                <c:pt idx="404">
                  <c:v>0.01</c:v>
                </c:pt>
                <c:pt idx="405">
                  <c:v>0.01</c:v>
                </c:pt>
                <c:pt idx="406">
                  <c:v>0.01</c:v>
                </c:pt>
                <c:pt idx="407">
                  <c:v>0.01</c:v>
                </c:pt>
                <c:pt idx="408">
                  <c:v>0.01</c:v>
                </c:pt>
                <c:pt idx="409">
                  <c:v>0.01</c:v>
                </c:pt>
                <c:pt idx="410">
                  <c:v>0.01</c:v>
                </c:pt>
                <c:pt idx="411">
                  <c:v>0.01</c:v>
                </c:pt>
                <c:pt idx="412">
                  <c:v>0.01</c:v>
                </c:pt>
                <c:pt idx="413">
                  <c:v>0.01</c:v>
                </c:pt>
                <c:pt idx="414">
                  <c:v>0.01</c:v>
                </c:pt>
                <c:pt idx="415">
                  <c:v>0.01</c:v>
                </c:pt>
                <c:pt idx="416">
                  <c:v>0.01</c:v>
                </c:pt>
                <c:pt idx="417">
                  <c:v>0.45</c:v>
                </c:pt>
                <c:pt idx="418">
                  <c:v>11.36</c:v>
                </c:pt>
                <c:pt idx="419">
                  <c:v>23.27</c:v>
                </c:pt>
                <c:pt idx="420">
                  <c:v>23.39</c:v>
                </c:pt>
                <c:pt idx="421">
                  <c:v>23.39</c:v>
                </c:pt>
                <c:pt idx="422">
                  <c:v>23.39</c:v>
                </c:pt>
                <c:pt idx="423">
                  <c:v>23.38</c:v>
                </c:pt>
                <c:pt idx="424">
                  <c:v>23.38</c:v>
                </c:pt>
                <c:pt idx="425">
                  <c:v>23.27</c:v>
                </c:pt>
                <c:pt idx="426">
                  <c:v>19.48</c:v>
                </c:pt>
                <c:pt idx="427">
                  <c:v>18.38</c:v>
                </c:pt>
                <c:pt idx="428">
                  <c:v>18.38</c:v>
                </c:pt>
                <c:pt idx="429">
                  <c:v>16.78</c:v>
                </c:pt>
                <c:pt idx="430">
                  <c:v>16.55</c:v>
                </c:pt>
                <c:pt idx="431">
                  <c:v>11.21</c:v>
                </c:pt>
                <c:pt idx="432">
                  <c:v>9.5299999999999994</c:v>
                </c:pt>
                <c:pt idx="433">
                  <c:v>11.21</c:v>
                </c:pt>
                <c:pt idx="434">
                  <c:v>16.55</c:v>
                </c:pt>
                <c:pt idx="435">
                  <c:v>17.04</c:v>
                </c:pt>
                <c:pt idx="436">
                  <c:v>17.45</c:v>
                </c:pt>
                <c:pt idx="437">
                  <c:v>17.45</c:v>
                </c:pt>
                <c:pt idx="438">
                  <c:v>17.170000000000002</c:v>
                </c:pt>
                <c:pt idx="439">
                  <c:v>18.38</c:v>
                </c:pt>
                <c:pt idx="440">
                  <c:v>19.63</c:v>
                </c:pt>
                <c:pt idx="441">
                  <c:v>19.48</c:v>
                </c:pt>
                <c:pt idx="442">
                  <c:v>19.48</c:v>
                </c:pt>
                <c:pt idx="443">
                  <c:v>17.04</c:v>
                </c:pt>
                <c:pt idx="444">
                  <c:v>17.45</c:v>
                </c:pt>
                <c:pt idx="445">
                  <c:v>8.3000000000000007</c:v>
                </c:pt>
                <c:pt idx="446">
                  <c:v>8.41</c:v>
                </c:pt>
                <c:pt idx="447">
                  <c:v>0.01</c:v>
                </c:pt>
                <c:pt idx="448">
                  <c:v>0.01</c:v>
                </c:pt>
                <c:pt idx="449">
                  <c:v>0.01</c:v>
                </c:pt>
                <c:pt idx="450">
                  <c:v>0.01</c:v>
                </c:pt>
                <c:pt idx="451">
                  <c:v>0.01</c:v>
                </c:pt>
                <c:pt idx="452">
                  <c:v>0.01</c:v>
                </c:pt>
                <c:pt idx="453">
                  <c:v>0.01</c:v>
                </c:pt>
                <c:pt idx="454">
                  <c:v>0.01</c:v>
                </c:pt>
                <c:pt idx="455">
                  <c:v>0.01</c:v>
                </c:pt>
                <c:pt idx="456">
                  <c:v>0.01</c:v>
                </c:pt>
                <c:pt idx="457">
                  <c:v>0.01</c:v>
                </c:pt>
                <c:pt idx="458">
                  <c:v>0.01</c:v>
                </c:pt>
                <c:pt idx="459">
                  <c:v>0.01</c:v>
                </c:pt>
                <c:pt idx="460">
                  <c:v>0.01</c:v>
                </c:pt>
                <c:pt idx="461">
                  <c:v>0.01</c:v>
                </c:pt>
                <c:pt idx="462">
                  <c:v>0.01</c:v>
                </c:pt>
                <c:pt idx="463">
                  <c:v>0.01</c:v>
                </c:pt>
                <c:pt idx="464">
                  <c:v>0.03</c:v>
                </c:pt>
                <c:pt idx="465">
                  <c:v>14.76</c:v>
                </c:pt>
                <c:pt idx="466">
                  <c:v>16.78</c:v>
                </c:pt>
                <c:pt idx="467">
                  <c:v>20</c:v>
                </c:pt>
                <c:pt idx="468">
                  <c:v>18.38</c:v>
                </c:pt>
                <c:pt idx="469">
                  <c:v>22.74</c:v>
                </c:pt>
                <c:pt idx="470">
                  <c:v>22.74</c:v>
                </c:pt>
                <c:pt idx="471">
                  <c:v>22.74</c:v>
                </c:pt>
                <c:pt idx="472">
                  <c:v>22.74</c:v>
                </c:pt>
                <c:pt idx="473">
                  <c:v>19.23</c:v>
                </c:pt>
                <c:pt idx="474">
                  <c:v>18.28</c:v>
                </c:pt>
                <c:pt idx="475">
                  <c:v>16.11</c:v>
                </c:pt>
                <c:pt idx="476">
                  <c:v>14.99</c:v>
                </c:pt>
                <c:pt idx="477">
                  <c:v>10.72</c:v>
                </c:pt>
                <c:pt idx="478">
                  <c:v>10.76</c:v>
                </c:pt>
                <c:pt idx="479">
                  <c:v>8.92</c:v>
                </c:pt>
                <c:pt idx="480">
                  <c:v>10</c:v>
                </c:pt>
                <c:pt idx="481">
                  <c:v>17.170000000000002</c:v>
                </c:pt>
                <c:pt idx="482">
                  <c:v>18.38</c:v>
                </c:pt>
                <c:pt idx="483">
                  <c:v>18.38</c:v>
                </c:pt>
                <c:pt idx="484">
                  <c:v>18.38</c:v>
                </c:pt>
                <c:pt idx="485">
                  <c:v>18.38</c:v>
                </c:pt>
                <c:pt idx="486">
                  <c:v>19.600000000000001</c:v>
                </c:pt>
                <c:pt idx="487">
                  <c:v>19.63</c:v>
                </c:pt>
                <c:pt idx="488">
                  <c:v>19.23</c:v>
                </c:pt>
                <c:pt idx="489">
                  <c:v>19.63</c:v>
                </c:pt>
                <c:pt idx="490">
                  <c:v>19.63</c:v>
                </c:pt>
                <c:pt idx="491">
                  <c:v>17.45</c:v>
                </c:pt>
                <c:pt idx="492">
                  <c:v>17.57</c:v>
                </c:pt>
                <c:pt idx="493">
                  <c:v>17.04</c:v>
                </c:pt>
                <c:pt idx="494">
                  <c:v>15</c:v>
                </c:pt>
                <c:pt idx="495">
                  <c:v>11.02</c:v>
                </c:pt>
                <c:pt idx="496">
                  <c:v>11.3</c:v>
                </c:pt>
                <c:pt idx="497">
                  <c:v>11.57</c:v>
                </c:pt>
                <c:pt idx="498">
                  <c:v>12.29</c:v>
                </c:pt>
                <c:pt idx="499">
                  <c:v>10.73</c:v>
                </c:pt>
                <c:pt idx="500">
                  <c:v>4.6500000000000004</c:v>
                </c:pt>
                <c:pt idx="501">
                  <c:v>8.93</c:v>
                </c:pt>
                <c:pt idx="502">
                  <c:v>8.41</c:v>
                </c:pt>
                <c:pt idx="503">
                  <c:v>4.6500000000000004</c:v>
                </c:pt>
                <c:pt idx="504">
                  <c:v>0.01</c:v>
                </c:pt>
                <c:pt idx="505">
                  <c:v>0.01</c:v>
                </c:pt>
                <c:pt idx="506">
                  <c:v>7.66</c:v>
                </c:pt>
                <c:pt idx="507">
                  <c:v>10</c:v>
                </c:pt>
                <c:pt idx="508">
                  <c:v>4.6500000000000004</c:v>
                </c:pt>
                <c:pt idx="509">
                  <c:v>4.6500000000000004</c:v>
                </c:pt>
                <c:pt idx="510">
                  <c:v>8.41</c:v>
                </c:pt>
                <c:pt idx="511">
                  <c:v>11.69</c:v>
                </c:pt>
                <c:pt idx="512">
                  <c:v>16.739999999999998</c:v>
                </c:pt>
                <c:pt idx="513">
                  <c:v>19.63</c:v>
                </c:pt>
                <c:pt idx="514">
                  <c:v>20.98</c:v>
                </c:pt>
                <c:pt idx="515">
                  <c:v>24.94</c:v>
                </c:pt>
                <c:pt idx="516">
                  <c:v>29.03</c:v>
                </c:pt>
                <c:pt idx="517">
                  <c:v>32.43</c:v>
                </c:pt>
                <c:pt idx="518">
                  <c:v>25.38</c:v>
                </c:pt>
                <c:pt idx="519">
                  <c:v>22.9</c:v>
                </c:pt>
                <c:pt idx="520">
                  <c:v>24.94</c:v>
                </c:pt>
                <c:pt idx="521">
                  <c:v>23.27</c:v>
                </c:pt>
                <c:pt idx="522">
                  <c:v>20.98</c:v>
                </c:pt>
                <c:pt idx="523">
                  <c:v>19.63</c:v>
                </c:pt>
                <c:pt idx="524">
                  <c:v>19.63</c:v>
                </c:pt>
                <c:pt idx="525">
                  <c:v>17.45</c:v>
                </c:pt>
                <c:pt idx="526">
                  <c:v>14.99</c:v>
                </c:pt>
                <c:pt idx="527">
                  <c:v>11.91</c:v>
                </c:pt>
                <c:pt idx="528">
                  <c:v>12.8</c:v>
                </c:pt>
                <c:pt idx="529">
                  <c:v>13.45</c:v>
                </c:pt>
                <c:pt idx="530">
                  <c:v>16.739999999999998</c:v>
                </c:pt>
                <c:pt idx="531">
                  <c:v>17.170000000000002</c:v>
                </c:pt>
                <c:pt idx="532">
                  <c:v>17.04</c:v>
                </c:pt>
                <c:pt idx="533">
                  <c:v>16.78</c:v>
                </c:pt>
                <c:pt idx="534">
                  <c:v>16.739999999999998</c:v>
                </c:pt>
                <c:pt idx="535">
                  <c:v>16.739999999999998</c:v>
                </c:pt>
                <c:pt idx="536">
                  <c:v>14.99</c:v>
                </c:pt>
                <c:pt idx="537">
                  <c:v>15.4</c:v>
                </c:pt>
                <c:pt idx="538">
                  <c:v>17.04</c:v>
                </c:pt>
                <c:pt idx="539">
                  <c:v>17.04</c:v>
                </c:pt>
                <c:pt idx="540">
                  <c:v>15.74</c:v>
                </c:pt>
                <c:pt idx="541">
                  <c:v>11.16</c:v>
                </c:pt>
                <c:pt idx="542">
                  <c:v>10.82</c:v>
                </c:pt>
                <c:pt idx="543">
                  <c:v>7.93</c:v>
                </c:pt>
                <c:pt idx="544">
                  <c:v>8.41</c:v>
                </c:pt>
                <c:pt idx="545">
                  <c:v>2</c:v>
                </c:pt>
                <c:pt idx="546">
                  <c:v>0.01</c:v>
                </c:pt>
                <c:pt idx="547">
                  <c:v>0.01</c:v>
                </c:pt>
                <c:pt idx="548">
                  <c:v>0.01</c:v>
                </c:pt>
                <c:pt idx="549">
                  <c:v>0.01</c:v>
                </c:pt>
                <c:pt idx="550">
                  <c:v>0.01</c:v>
                </c:pt>
                <c:pt idx="551">
                  <c:v>0.01</c:v>
                </c:pt>
                <c:pt idx="552">
                  <c:v>0.01</c:v>
                </c:pt>
                <c:pt idx="553">
                  <c:v>0.01</c:v>
                </c:pt>
                <c:pt idx="554">
                  <c:v>0.01</c:v>
                </c:pt>
                <c:pt idx="555">
                  <c:v>0.01</c:v>
                </c:pt>
                <c:pt idx="556">
                  <c:v>0.01</c:v>
                </c:pt>
                <c:pt idx="557">
                  <c:v>3</c:v>
                </c:pt>
                <c:pt idx="558">
                  <c:v>1.8</c:v>
                </c:pt>
                <c:pt idx="559">
                  <c:v>9.23</c:v>
                </c:pt>
                <c:pt idx="560">
                  <c:v>11.45</c:v>
                </c:pt>
                <c:pt idx="561">
                  <c:v>19.48</c:v>
                </c:pt>
                <c:pt idx="562">
                  <c:v>20.25</c:v>
                </c:pt>
                <c:pt idx="563">
                  <c:v>22.51</c:v>
                </c:pt>
                <c:pt idx="564">
                  <c:v>22.51</c:v>
                </c:pt>
                <c:pt idx="565">
                  <c:v>22.9</c:v>
                </c:pt>
                <c:pt idx="566">
                  <c:v>22.9</c:v>
                </c:pt>
                <c:pt idx="567">
                  <c:v>22.9</c:v>
                </c:pt>
                <c:pt idx="568">
                  <c:v>22.51</c:v>
                </c:pt>
                <c:pt idx="569">
                  <c:v>22.51</c:v>
                </c:pt>
                <c:pt idx="570">
                  <c:v>22.51</c:v>
                </c:pt>
                <c:pt idx="571">
                  <c:v>22.5</c:v>
                </c:pt>
                <c:pt idx="572">
                  <c:v>24.43</c:v>
                </c:pt>
                <c:pt idx="573">
                  <c:v>18.760000000000002</c:v>
                </c:pt>
                <c:pt idx="574">
                  <c:v>16.75</c:v>
                </c:pt>
                <c:pt idx="575">
                  <c:v>11.31</c:v>
                </c:pt>
                <c:pt idx="576">
                  <c:v>11.24</c:v>
                </c:pt>
                <c:pt idx="577">
                  <c:v>11.94</c:v>
                </c:pt>
                <c:pt idx="578">
                  <c:v>12.14</c:v>
                </c:pt>
                <c:pt idx="579">
                  <c:v>14.99</c:v>
                </c:pt>
                <c:pt idx="580">
                  <c:v>15</c:v>
                </c:pt>
                <c:pt idx="581">
                  <c:v>16.78</c:v>
                </c:pt>
                <c:pt idx="582">
                  <c:v>17.3</c:v>
                </c:pt>
                <c:pt idx="583">
                  <c:v>17.3</c:v>
                </c:pt>
                <c:pt idx="584">
                  <c:v>17.04</c:v>
                </c:pt>
                <c:pt idx="585">
                  <c:v>17.170000000000002</c:v>
                </c:pt>
                <c:pt idx="586">
                  <c:v>17.45</c:v>
                </c:pt>
                <c:pt idx="587">
                  <c:v>17.3</c:v>
                </c:pt>
                <c:pt idx="588">
                  <c:v>17.3</c:v>
                </c:pt>
                <c:pt idx="589">
                  <c:v>18.38</c:v>
                </c:pt>
                <c:pt idx="590">
                  <c:v>19.23</c:v>
                </c:pt>
                <c:pt idx="591">
                  <c:v>18.38</c:v>
                </c:pt>
                <c:pt idx="592">
                  <c:v>18.38</c:v>
                </c:pt>
                <c:pt idx="593">
                  <c:v>18.38</c:v>
                </c:pt>
                <c:pt idx="594">
                  <c:v>19.48</c:v>
                </c:pt>
                <c:pt idx="595">
                  <c:v>18.38</c:v>
                </c:pt>
                <c:pt idx="596">
                  <c:v>17.04</c:v>
                </c:pt>
                <c:pt idx="597">
                  <c:v>19.23</c:v>
                </c:pt>
                <c:pt idx="598">
                  <c:v>18.38</c:v>
                </c:pt>
                <c:pt idx="599">
                  <c:v>18.38</c:v>
                </c:pt>
                <c:pt idx="600">
                  <c:v>11.57</c:v>
                </c:pt>
                <c:pt idx="601">
                  <c:v>11.57</c:v>
                </c:pt>
                <c:pt idx="602">
                  <c:v>18.38</c:v>
                </c:pt>
                <c:pt idx="603">
                  <c:v>18.38</c:v>
                </c:pt>
                <c:pt idx="604">
                  <c:v>20</c:v>
                </c:pt>
                <c:pt idx="605">
                  <c:v>20</c:v>
                </c:pt>
                <c:pt idx="606">
                  <c:v>18.38</c:v>
                </c:pt>
                <c:pt idx="607">
                  <c:v>22.44</c:v>
                </c:pt>
                <c:pt idx="608">
                  <c:v>22.44</c:v>
                </c:pt>
                <c:pt idx="609">
                  <c:v>23.27</c:v>
                </c:pt>
                <c:pt idx="610">
                  <c:v>23.27</c:v>
                </c:pt>
                <c:pt idx="611">
                  <c:v>26.79</c:v>
                </c:pt>
                <c:pt idx="612">
                  <c:v>26.99</c:v>
                </c:pt>
                <c:pt idx="613">
                  <c:v>31.41</c:v>
                </c:pt>
                <c:pt idx="614">
                  <c:v>26.92</c:v>
                </c:pt>
                <c:pt idx="615">
                  <c:v>22.9</c:v>
                </c:pt>
                <c:pt idx="616">
                  <c:v>23.27</c:v>
                </c:pt>
                <c:pt idx="617">
                  <c:v>23.27</c:v>
                </c:pt>
                <c:pt idx="618">
                  <c:v>22.44</c:v>
                </c:pt>
                <c:pt idx="619">
                  <c:v>20.58</c:v>
                </c:pt>
                <c:pt idx="620">
                  <c:v>22.9</c:v>
                </c:pt>
                <c:pt idx="621">
                  <c:v>17.45</c:v>
                </c:pt>
                <c:pt idx="622">
                  <c:v>17.04</c:v>
                </c:pt>
                <c:pt idx="623">
                  <c:v>11.97</c:v>
                </c:pt>
                <c:pt idx="624">
                  <c:v>16.78</c:v>
                </c:pt>
                <c:pt idx="625">
                  <c:v>16.78</c:v>
                </c:pt>
                <c:pt idx="626">
                  <c:v>16.920000000000002</c:v>
                </c:pt>
                <c:pt idx="627">
                  <c:v>14.99</c:v>
                </c:pt>
                <c:pt idx="628">
                  <c:v>16.78</c:v>
                </c:pt>
                <c:pt idx="629">
                  <c:v>17.45</c:v>
                </c:pt>
                <c:pt idx="630">
                  <c:v>17.170000000000002</c:v>
                </c:pt>
                <c:pt idx="631">
                  <c:v>17.3</c:v>
                </c:pt>
                <c:pt idx="632">
                  <c:v>17.28</c:v>
                </c:pt>
                <c:pt idx="633">
                  <c:v>17.309999999999999</c:v>
                </c:pt>
                <c:pt idx="634">
                  <c:v>19.48</c:v>
                </c:pt>
                <c:pt idx="635">
                  <c:v>18.38</c:v>
                </c:pt>
                <c:pt idx="636">
                  <c:v>19.48</c:v>
                </c:pt>
                <c:pt idx="637">
                  <c:v>19.48</c:v>
                </c:pt>
                <c:pt idx="638">
                  <c:v>22.9</c:v>
                </c:pt>
                <c:pt idx="639">
                  <c:v>23.94</c:v>
                </c:pt>
                <c:pt idx="640">
                  <c:v>24.28</c:v>
                </c:pt>
                <c:pt idx="641">
                  <c:v>32.69</c:v>
                </c:pt>
                <c:pt idx="642">
                  <c:v>26.79</c:v>
                </c:pt>
                <c:pt idx="643">
                  <c:v>25.9</c:v>
                </c:pt>
                <c:pt idx="644">
                  <c:v>25.92</c:v>
                </c:pt>
                <c:pt idx="645">
                  <c:v>32.69</c:v>
                </c:pt>
                <c:pt idx="646">
                  <c:v>32.69</c:v>
                </c:pt>
                <c:pt idx="647">
                  <c:v>32.69</c:v>
                </c:pt>
                <c:pt idx="648">
                  <c:v>24.75</c:v>
                </c:pt>
                <c:pt idx="649">
                  <c:v>24.38</c:v>
                </c:pt>
                <c:pt idx="650">
                  <c:v>24.39</c:v>
                </c:pt>
                <c:pt idx="651">
                  <c:v>24.39</c:v>
                </c:pt>
                <c:pt idx="652">
                  <c:v>24.75</c:v>
                </c:pt>
                <c:pt idx="653">
                  <c:v>24.39</c:v>
                </c:pt>
                <c:pt idx="654">
                  <c:v>24.39</c:v>
                </c:pt>
                <c:pt idx="655">
                  <c:v>32.69</c:v>
                </c:pt>
                <c:pt idx="656">
                  <c:v>32.69</c:v>
                </c:pt>
                <c:pt idx="657">
                  <c:v>36.42</c:v>
                </c:pt>
                <c:pt idx="658">
                  <c:v>35.770000000000003</c:v>
                </c:pt>
                <c:pt idx="659">
                  <c:v>36.42</c:v>
                </c:pt>
                <c:pt idx="660">
                  <c:v>36.51</c:v>
                </c:pt>
                <c:pt idx="661">
                  <c:v>36.590000000000003</c:v>
                </c:pt>
                <c:pt idx="662">
                  <c:v>35</c:v>
                </c:pt>
                <c:pt idx="663">
                  <c:v>32.69</c:v>
                </c:pt>
                <c:pt idx="664">
                  <c:v>28.58</c:v>
                </c:pt>
                <c:pt idx="665">
                  <c:v>26.79</c:v>
                </c:pt>
                <c:pt idx="666">
                  <c:v>24.39</c:v>
                </c:pt>
                <c:pt idx="667">
                  <c:v>24.38</c:v>
                </c:pt>
                <c:pt idx="668">
                  <c:v>22.9</c:v>
                </c:pt>
                <c:pt idx="669">
                  <c:v>18.38</c:v>
                </c:pt>
                <c:pt idx="670">
                  <c:v>16.78</c:v>
                </c:pt>
                <c:pt idx="671">
                  <c:v>12.1</c:v>
                </c:pt>
                <c:pt idx="672">
                  <c:v>14.52</c:v>
                </c:pt>
                <c:pt idx="673">
                  <c:v>18.38</c:v>
                </c:pt>
                <c:pt idx="674">
                  <c:v>18.2</c:v>
                </c:pt>
                <c:pt idx="675">
                  <c:v>18.2</c:v>
                </c:pt>
                <c:pt idx="676">
                  <c:v>19.48</c:v>
                </c:pt>
                <c:pt idx="677">
                  <c:v>19.489999999999998</c:v>
                </c:pt>
                <c:pt idx="678">
                  <c:v>22.37</c:v>
                </c:pt>
                <c:pt idx="679">
                  <c:v>23</c:v>
                </c:pt>
                <c:pt idx="680">
                  <c:v>20.25</c:v>
                </c:pt>
                <c:pt idx="681">
                  <c:v>20.25</c:v>
                </c:pt>
                <c:pt idx="682">
                  <c:v>22.9</c:v>
                </c:pt>
                <c:pt idx="683">
                  <c:v>22.9</c:v>
                </c:pt>
                <c:pt idx="684">
                  <c:v>23</c:v>
                </c:pt>
                <c:pt idx="685">
                  <c:v>23</c:v>
                </c:pt>
                <c:pt idx="686">
                  <c:v>22.9</c:v>
                </c:pt>
                <c:pt idx="687">
                  <c:v>22.9</c:v>
                </c:pt>
                <c:pt idx="688">
                  <c:v>27.86</c:v>
                </c:pt>
                <c:pt idx="689">
                  <c:v>32.69</c:v>
                </c:pt>
                <c:pt idx="690">
                  <c:v>28.82</c:v>
                </c:pt>
                <c:pt idx="691">
                  <c:v>28.82</c:v>
                </c:pt>
                <c:pt idx="692">
                  <c:v>28.82</c:v>
                </c:pt>
                <c:pt idx="693">
                  <c:v>28.82</c:v>
                </c:pt>
                <c:pt idx="694">
                  <c:v>30.49</c:v>
                </c:pt>
                <c:pt idx="695">
                  <c:v>24.75</c:v>
                </c:pt>
                <c:pt idx="696">
                  <c:v>23</c:v>
                </c:pt>
                <c:pt idx="697">
                  <c:v>22.9</c:v>
                </c:pt>
                <c:pt idx="698">
                  <c:v>24.28</c:v>
                </c:pt>
                <c:pt idx="699">
                  <c:v>24.37</c:v>
                </c:pt>
                <c:pt idx="700">
                  <c:v>24.28</c:v>
                </c:pt>
                <c:pt idx="701">
                  <c:v>24.37</c:v>
                </c:pt>
                <c:pt idx="702">
                  <c:v>24.28</c:v>
                </c:pt>
                <c:pt idx="703">
                  <c:v>24.37</c:v>
                </c:pt>
                <c:pt idx="704">
                  <c:v>24.38</c:v>
                </c:pt>
                <c:pt idx="705">
                  <c:v>32.33</c:v>
                </c:pt>
                <c:pt idx="706">
                  <c:v>32.43</c:v>
                </c:pt>
                <c:pt idx="707">
                  <c:v>36.409999999999997</c:v>
                </c:pt>
                <c:pt idx="708">
                  <c:v>36.24</c:v>
                </c:pt>
                <c:pt idx="709">
                  <c:v>36.590000000000003</c:v>
                </c:pt>
                <c:pt idx="710">
                  <c:v>36.86</c:v>
                </c:pt>
                <c:pt idx="711">
                  <c:v>36.47</c:v>
                </c:pt>
                <c:pt idx="712">
                  <c:v>37</c:v>
                </c:pt>
                <c:pt idx="713">
                  <c:v>36.47</c:v>
                </c:pt>
                <c:pt idx="714">
                  <c:v>35.97</c:v>
                </c:pt>
                <c:pt idx="715">
                  <c:v>32.43</c:v>
                </c:pt>
                <c:pt idx="716">
                  <c:v>35.9</c:v>
                </c:pt>
                <c:pt idx="717">
                  <c:v>26</c:v>
                </c:pt>
                <c:pt idx="718">
                  <c:v>23</c:v>
                </c:pt>
                <c:pt idx="719">
                  <c:v>19.48</c:v>
                </c:pt>
                <c:pt idx="720">
                  <c:v>18.38</c:v>
                </c:pt>
                <c:pt idx="721">
                  <c:v>19.489999999999998</c:v>
                </c:pt>
                <c:pt idx="722">
                  <c:v>12.18</c:v>
                </c:pt>
                <c:pt idx="723">
                  <c:v>18.38</c:v>
                </c:pt>
                <c:pt idx="724">
                  <c:v>19.489999999999998</c:v>
                </c:pt>
                <c:pt idx="725">
                  <c:v>19.899999999999999</c:v>
                </c:pt>
                <c:pt idx="726">
                  <c:v>19.489999999999998</c:v>
                </c:pt>
                <c:pt idx="727">
                  <c:v>20.54</c:v>
                </c:pt>
                <c:pt idx="728">
                  <c:v>20.54</c:v>
                </c:pt>
                <c:pt idx="729">
                  <c:v>22.18</c:v>
                </c:pt>
                <c:pt idx="730">
                  <c:v>22.99</c:v>
                </c:pt>
                <c:pt idx="731">
                  <c:v>21.14</c:v>
                </c:pt>
                <c:pt idx="732">
                  <c:v>18.38</c:v>
                </c:pt>
                <c:pt idx="733">
                  <c:v>13.19</c:v>
                </c:pt>
                <c:pt idx="734">
                  <c:v>13.95</c:v>
                </c:pt>
                <c:pt idx="735">
                  <c:v>9.75</c:v>
                </c:pt>
                <c:pt idx="736">
                  <c:v>9.75</c:v>
                </c:pt>
                <c:pt idx="737">
                  <c:v>5.7</c:v>
                </c:pt>
                <c:pt idx="738">
                  <c:v>1</c:v>
                </c:pt>
                <c:pt idx="739">
                  <c:v>0.01</c:v>
                </c:pt>
                <c:pt idx="740">
                  <c:v>0.01</c:v>
                </c:pt>
                <c:pt idx="741">
                  <c:v>0.01</c:v>
                </c:pt>
                <c:pt idx="742">
                  <c:v>0.01</c:v>
                </c:pt>
                <c:pt idx="743">
                  <c:v>0.01</c:v>
                </c:pt>
                <c:pt idx="744">
                  <c:v>0.01</c:v>
                </c:pt>
                <c:pt idx="745">
                  <c:v>0.01</c:v>
                </c:pt>
                <c:pt idx="746">
                  <c:v>0.01</c:v>
                </c:pt>
                <c:pt idx="747">
                  <c:v>0.01</c:v>
                </c:pt>
                <c:pt idx="748">
                  <c:v>0.01</c:v>
                </c:pt>
                <c:pt idx="749">
                  <c:v>0.01</c:v>
                </c:pt>
                <c:pt idx="750">
                  <c:v>0.01</c:v>
                </c:pt>
                <c:pt idx="751">
                  <c:v>0.02</c:v>
                </c:pt>
                <c:pt idx="752">
                  <c:v>8.11</c:v>
                </c:pt>
                <c:pt idx="753">
                  <c:v>9.75</c:v>
                </c:pt>
                <c:pt idx="754">
                  <c:v>17.3</c:v>
                </c:pt>
                <c:pt idx="755">
                  <c:v>23.02</c:v>
                </c:pt>
                <c:pt idx="756">
                  <c:v>25.1</c:v>
                </c:pt>
                <c:pt idx="757">
                  <c:v>26.79</c:v>
                </c:pt>
                <c:pt idx="758">
                  <c:v>25.25</c:v>
                </c:pt>
                <c:pt idx="759">
                  <c:v>24.43</c:v>
                </c:pt>
                <c:pt idx="760">
                  <c:v>23.02</c:v>
                </c:pt>
                <c:pt idx="761">
                  <c:v>23.01</c:v>
                </c:pt>
                <c:pt idx="762">
                  <c:v>23.01</c:v>
                </c:pt>
                <c:pt idx="763">
                  <c:v>22.62</c:v>
                </c:pt>
                <c:pt idx="764">
                  <c:v>22.62</c:v>
                </c:pt>
                <c:pt idx="765">
                  <c:v>21.98</c:v>
                </c:pt>
                <c:pt idx="766">
                  <c:v>22.62</c:v>
                </c:pt>
                <c:pt idx="767">
                  <c:v>19.489999999999998</c:v>
                </c:pt>
                <c:pt idx="768">
                  <c:v>14.09</c:v>
                </c:pt>
                <c:pt idx="769">
                  <c:v>17.3</c:v>
                </c:pt>
                <c:pt idx="770">
                  <c:v>19.489999999999998</c:v>
                </c:pt>
                <c:pt idx="771">
                  <c:v>18.38</c:v>
                </c:pt>
                <c:pt idx="772">
                  <c:v>19.489999999999998</c:v>
                </c:pt>
                <c:pt idx="773">
                  <c:v>20.54</c:v>
                </c:pt>
                <c:pt idx="774">
                  <c:v>20.54</c:v>
                </c:pt>
                <c:pt idx="775">
                  <c:v>19.489999999999998</c:v>
                </c:pt>
                <c:pt idx="776">
                  <c:v>21.92</c:v>
                </c:pt>
                <c:pt idx="777">
                  <c:v>21.38</c:v>
                </c:pt>
                <c:pt idx="778">
                  <c:v>20.54</c:v>
                </c:pt>
                <c:pt idx="779">
                  <c:v>17.3</c:v>
                </c:pt>
                <c:pt idx="780">
                  <c:v>8.08</c:v>
                </c:pt>
                <c:pt idx="781">
                  <c:v>0.09</c:v>
                </c:pt>
                <c:pt idx="782">
                  <c:v>0.01</c:v>
                </c:pt>
                <c:pt idx="783">
                  <c:v>0.01</c:v>
                </c:pt>
                <c:pt idx="784">
                  <c:v>0.01</c:v>
                </c:pt>
                <c:pt idx="785">
                  <c:v>0.01</c:v>
                </c:pt>
                <c:pt idx="786">
                  <c:v>0.01</c:v>
                </c:pt>
                <c:pt idx="787">
                  <c:v>0.01</c:v>
                </c:pt>
                <c:pt idx="788">
                  <c:v>0.01</c:v>
                </c:pt>
                <c:pt idx="789">
                  <c:v>0.01</c:v>
                </c:pt>
                <c:pt idx="790">
                  <c:v>0.01</c:v>
                </c:pt>
                <c:pt idx="791">
                  <c:v>0.01</c:v>
                </c:pt>
                <c:pt idx="792">
                  <c:v>0.01</c:v>
                </c:pt>
                <c:pt idx="793">
                  <c:v>0.01</c:v>
                </c:pt>
                <c:pt idx="794">
                  <c:v>0.01</c:v>
                </c:pt>
                <c:pt idx="795">
                  <c:v>0.01</c:v>
                </c:pt>
                <c:pt idx="796">
                  <c:v>0.01</c:v>
                </c:pt>
                <c:pt idx="797">
                  <c:v>0.01</c:v>
                </c:pt>
                <c:pt idx="798">
                  <c:v>0.01</c:v>
                </c:pt>
                <c:pt idx="799">
                  <c:v>0.01</c:v>
                </c:pt>
                <c:pt idx="800">
                  <c:v>0.01</c:v>
                </c:pt>
                <c:pt idx="801">
                  <c:v>0.02</c:v>
                </c:pt>
                <c:pt idx="802">
                  <c:v>8.06</c:v>
                </c:pt>
                <c:pt idx="803">
                  <c:v>15.86</c:v>
                </c:pt>
                <c:pt idx="804">
                  <c:v>23.03</c:v>
                </c:pt>
                <c:pt idx="805">
                  <c:v>23.04</c:v>
                </c:pt>
                <c:pt idx="806">
                  <c:v>23.03</c:v>
                </c:pt>
                <c:pt idx="807">
                  <c:v>23.03</c:v>
                </c:pt>
                <c:pt idx="808">
                  <c:v>22.62</c:v>
                </c:pt>
                <c:pt idx="809">
                  <c:v>20.309999999999999</c:v>
                </c:pt>
                <c:pt idx="810">
                  <c:v>18.38</c:v>
                </c:pt>
                <c:pt idx="811">
                  <c:v>14.99</c:v>
                </c:pt>
                <c:pt idx="812">
                  <c:v>15</c:v>
                </c:pt>
                <c:pt idx="813">
                  <c:v>14.24</c:v>
                </c:pt>
                <c:pt idx="814">
                  <c:v>18.38</c:v>
                </c:pt>
                <c:pt idx="815">
                  <c:v>13.19</c:v>
                </c:pt>
                <c:pt idx="816">
                  <c:v>17.39</c:v>
                </c:pt>
                <c:pt idx="817">
                  <c:v>16</c:v>
                </c:pt>
                <c:pt idx="818">
                  <c:v>16.43</c:v>
                </c:pt>
                <c:pt idx="819">
                  <c:v>17.57</c:v>
                </c:pt>
                <c:pt idx="820">
                  <c:v>12.52</c:v>
                </c:pt>
                <c:pt idx="821">
                  <c:v>19.48</c:v>
                </c:pt>
                <c:pt idx="822">
                  <c:v>19.489999999999998</c:v>
                </c:pt>
                <c:pt idx="823">
                  <c:v>19.71</c:v>
                </c:pt>
                <c:pt idx="824">
                  <c:v>19.489999999999998</c:v>
                </c:pt>
                <c:pt idx="825">
                  <c:v>22.99</c:v>
                </c:pt>
                <c:pt idx="826">
                  <c:v>22.99</c:v>
                </c:pt>
                <c:pt idx="827">
                  <c:v>23.59</c:v>
                </c:pt>
                <c:pt idx="828">
                  <c:v>23</c:v>
                </c:pt>
                <c:pt idx="829">
                  <c:v>19.489999999999998</c:v>
                </c:pt>
                <c:pt idx="830">
                  <c:v>14.76</c:v>
                </c:pt>
                <c:pt idx="831">
                  <c:v>11.58</c:v>
                </c:pt>
                <c:pt idx="832">
                  <c:v>16</c:v>
                </c:pt>
                <c:pt idx="833">
                  <c:v>18.38</c:v>
                </c:pt>
                <c:pt idx="834">
                  <c:v>20.49</c:v>
                </c:pt>
                <c:pt idx="835">
                  <c:v>18.38</c:v>
                </c:pt>
                <c:pt idx="836">
                  <c:v>15.97</c:v>
                </c:pt>
                <c:pt idx="837">
                  <c:v>18.38</c:v>
                </c:pt>
                <c:pt idx="838">
                  <c:v>18.38</c:v>
                </c:pt>
                <c:pt idx="839">
                  <c:v>16.29</c:v>
                </c:pt>
                <c:pt idx="840">
                  <c:v>10.1</c:v>
                </c:pt>
                <c:pt idx="841">
                  <c:v>10.1</c:v>
                </c:pt>
                <c:pt idx="842">
                  <c:v>19.489999999999998</c:v>
                </c:pt>
                <c:pt idx="843">
                  <c:v>19.489999999999998</c:v>
                </c:pt>
                <c:pt idx="844">
                  <c:v>19.489999999999998</c:v>
                </c:pt>
                <c:pt idx="845">
                  <c:v>22.99</c:v>
                </c:pt>
                <c:pt idx="846">
                  <c:v>22.99</c:v>
                </c:pt>
                <c:pt idx="847">
                  <c:v>23.01</c:v>
                </c:pt>
                <c:pt idx="848">
                  <c:v>24.28</c:v>
                </c:pt>
                <c:pt idx="849">
                  <c:v>24.28</c:v>
                </c:pt>
                <c:pt idx="850">
                  <c:v>23.01</c:v>
                </c:pt>
                <c:pt idx="851">
                  <c:v>24.62</c:v>
                </c:pt>
                <c:pt idx="852">
                  <c:v>26.79</c:v>
                </c:pt>
                <c:pt idx="853">
                  <c:v>26.79</c:v>
                </c:pt>
                <c:pt idx="854">
                  <c:v>25.85</c:v>
                </c:pt>
                <c:pt idx="855">
                  <c:v>23.01</c:v>
                </c:pt>
                <c:pt idx="856">
                  <c:v>23</c:v>
                </c:pt>
                <c:pt idx="857">
                  <c:v>23</c:v>
                </c:pt>
                <c:pt idx="858">
                  <c:v>22.62</c:v>
                </c:pt>
                <c:pt idx="859">
                  <c:v>20.170000000000002</c:v>
                </c:pt>
                <c:pt idx="860">
                  <c:v>21.32</c:v>
                </c:pt>
                <c:pt idx="861">
                  <c:v>21.89</c:v>
                </c:pt>
                <c:pt idx="862">
                  <c:v>20.54</c:v>
                </c:pt>
                <c:pt idx="863">
                  <c:v>13.87</c:v>
                </c:pt>
                <c:pt idx="864">
                  <c:v>16.23</c:v>
                </c:pt>
                <c:pt idx="865">
                  <c:v>17.399999999999999</c:v>
                </c:pt>
                <c:pt idx="866">
                  <c:v>18.940000000000001</c:v>
                </c:pt>
                <c:pt idx="867">
                  <c:v>18.38</c:v>
                </c:pt>
                <c:pt idx="868">
                  <c:v>19.489999999999998</c:v>
                </c:pt>
                <c:pt idx="869">
                  <c:v>20.54</c:v>
                </c:pt>
                <c:pt idx="870">
                  <c:v>20.54</c:v>
                </c:pt>
                <c:pt idx="871">
                  <c:v>22.35</c:v>
                </c:pt>
                <c:pt idx="872">
                  <c:v>20.54</c:v>
                </c:pt>
                <c:pt idx="873">
                  <c:v>21.47</c:v>
                </c:pt>
                <c:pt idx="874">
                  <c:v>23</c:v>
                </c:pt>
                <c:pt idx="875">
                  <c:v>22.62</c:v>
                </c:pt>
                <c:pt idx="876">
                  <c:v>22.62</c:v>
                </c:pt>
                <c:pt idx="877">
                  <c:v>18.38</c:v>
                </c:pt>
                <c:pt idx="878">
                  <c:v>13.87</c:v>
                </c:pt>
                <c:pt idx="879">
                  <c:v>10.93</c:v>
                </c:pt>
                <c:pt idx="880">
                  <c:v>13.22</c:v>
                </c:pt>
                <c:pt idx="881">
                  <c:v>10.71</c:v>
                </c:pt>
                <c:pt idx="882">
                  <c:v>9.39</c:v>
                </c:pt>
                <c:pt idx="883">
                  <c:v>9.18</c:v>
                </c:pt>
                <c:pt idx="884">
                  <c:v>0.02</c:v>
                </c:pt>
                <c:pt idx="885">
                  <c:v>0.01</c:v>
                </c:pt>
                <c:pt idx="886">
                  <c:v>0.01</c:v>
                </c:pt>
                <c:pt idx="887">
                  <c:v>0.01</c:v>
                </c:pt>
                <c:pt idx="888">
                  <c:v>0.01</c:v>
                </c:pt>
                <c:pt idx="889">
                  <c:v>0.01</c:v>
                </c:pt>
                <c:pt idx="890">
                  <c:v>0.01</c:v>
                </c:pt>
                <c:pt idx="891">
                  <c:v>0.01</c:v>
                </c:pt>
                <c:pt idx="892">
                  <c:v>2</c:v>
                </c:pt>
                <c:pt idx="893">
                  <c:v>8.9600000000000009</c:v>
                </c:pt>
                <c:pt idx="894">
                  <c:v>9.57</c:v>
                </c:pt>
                <c:pt idx="895">
                  <c:v>10.34</c:v>
                </c:pt>
                <c:pt idx="896">
                  <c:v>18.38</c:v>
                </c:pt>
                <c:pt idx="897">
                  <c:v>23.81</c:v>
                </c:pt>
                <c:pt idx="898">
                  <c:v>23.81</c:v>
                </c:pt>
                <c:pt idx="899">
                  <c:v>23.82</c:v>
                </c:pt>
                <c:pt idx="900">
                  <c:v>23.82</c:v>
                </c:pt>
                <c:pt idx="901">
                  <c:v>24.43</c:v>
                </c:pt>
                <c:pt idx="902">
                  <c:v>23.82</c:v>
                </c:pt>
                <c:pt idx="903">
                  <c:v>23.81</c:v>
                </c:pt>
                <c:pt idx="904">
                  <c:v>23.81</c:v>
                </c:pt>
                <c:pt idx="905">
                  <c:v>22.62</c:v>
                </c:pt>
                <c:pt idx="906">
                  <c:v>22.62</c:v>
                </c:pt>
                <c:pt idx="907">
                  <c:v>19.86</c:v>
                </c:pt>
                <c:pt idx="908">
                  <c:v>22.38</c:v>
                </c:pt>
                <c:pt idx="909">
                  <c:v>22.62</c:v>
                </c:pt>
                <c:pt idx="910">
                  <c:v>22.62</c:v>
                </c:pt>
                <c:pt idx="911">
                  <c:v>19.489999999999998</c:v>
                </c:pt>
                <c:pt idx="912">
                  <c:v>18.38</c:v>
                </c:pt>
                <c:pt idx="913">
                  <c:v>18.38</c:v>
                </c:pt>
                <c:pt idx="914">
                  <c:v>19.670000000000002</c:v>
                </c:pt>
                <c:pt idx="915">
                  <c:v>21.38</c:v>
                </c:pt>
                <c:pt idx="916">
                  <c:v>21.72</c:v>
                </c:pt>
                <c:pt idx="917">
                  <c:v>22.99</c:v>
                </c:pt>
                <c:pt idx="918">
                  <c:v>22.99</c:v>
                </c:pt>
                <c:pt idx="919">
                  <c:v>23</c:v>
                </c:pt>
                <c:pt idx="920">
                  <c:v>22.99</c:v>
                </c:pt>
                <c:pt idx="921">
                  <c:v>23</c:v>
                </c:pt>
                <c:pt idx="922">
                  <c:v>24.05</c:v>
                </c:pt>
                <c:pt idx="923">
                  <c:v>24.08</c:v>
                </c:pt>
                <c:pt idx="924">
                  <c:v>22.62</c:v>
                </c:pt>
                <c:pt idx="925">
                  <c:v>19.489999999999998</c:v>
                </c:pt>
                <c:pt idx="926">
                  <c:v>18.38</c:v>
                </c:pt>
                <c:pt idx="927">
                  <c:v>11.58</c:v>
                </c:pt>
                <c:pt idx="928">
                  <c:v>10.1</c:v>
                </c:pt>
                <c:pt idx="929">
                  <c:v>10.1</c:v>
                </c:pt>
                <c:pt idx="930">
                  <c:v>8.9600000000000009</c:v>
                </c:pt>
                <c:pt idx="931">
                  <c:v>8.69</c:v>
                </c:pt>
                <c:pt idx="932">
                  <c:v>1</c:v>
                </c:pt>
                <c:pt idx="933">
                  <c:v>1.05</c:v>
                </c:pt>
                <c:pt idx="934">
                  <c:v>0.02</c:v>
                </c:pt>
                <c:pt idx="935">
                  <c:v>0.02</c:v>
                </c:pt>
                <c:pt idx="936">
                  <c:v>0.01</c:v>
                </c:pt>
                <c:pt idx="937">
                  <c:v>0.01</c:v>
                </c:pt>
                <c:pt idx="938">
                  <c:v>4.6500000000000004</c:v>
                </c:pt>
                <c:pt idx="939">
                  <c:v>8</c:v>
                </c:pt>
                <c:pt idx="940">
                  <c:v>9.39</c:v>
                </c:pt>
                <c:pt idx="941">
                  <c:v>9.83</c:v>
                </c:pt>
                <c:pt idx="942">
                  <c:v>9.75</c:v>
                </c:pt>
                <c:pt idx="943">
                  <c:v>10.1</c:v>
                </c:pt>
                <c:pt idx="944">
                  <c:v>15</c:v>
                </c:pt>
                <c:pt idx="945">
                  <c:v>22.99</c:v>
                </c:pt>
                <c:pt idx="946">
                  <c:v>22.99</c:v>
                </c:pt>
                <c:pt idx="947">
                  <c:v>26.07</c:v>
                </c:pt>
                <c:pt idx="948">
                  <c:v>26.79</c:v>
                </c:pt>
                <c:pt idx="949">
                  <c:v>26.79</c:v>
                </c:pt>
                <c:pt idx="950">
                  <c:v>26.73</c:v>
                </c:pt>
                <c:pt idx="951">
                  <c:v>24.79</c:v>
                </c:pt>
                <c:pt idx="952">
                  <c:v>24.62</c:v>
                </c:pt>
                <c:pt idx="953">
                  <c:v>24.43</c:v>
                </c:pt>
                <c:pt idx="954">
                  <c:v>24.21</c:v>
                </c:pt>
                <c:pt idx="955">
                  <c:v>22.99</c:v>
                </c:pt>
                <c:pt idx="956">
                  <c:v>24.28</c:v>
                </c:pt>
                <c:pt idx="957">
                  <c:v>23</c:v>
                </c:pt>
                <c:pt idx="958">
                  <c:v>22.62</c:v>
                </c:pt>
                <c:pt idx="959">
                  <c:v>18.38</c:v>
                </c:pt>
                <c:pt idx="960">
                  <c:v>18.38</c:v>
                </c:pt>
                <c:pt idx="961">
                  <c:v>15.7</c:v>
                </c:pt>
                <c:pt idx="962">
                  <c:v>18.38</c:v>
                </c:pt>
                <c:pt idx="963">
                  <c:v>17.649999999999999</c:v>
                </c:pt>
                <c:pt idx="964">
                  <c:v>18.38</c:v>
                </c:pt>
                <c:pt idx="965">
                  <c:v>19.489999999999998</c:v>
                </c:pt>
                <c:pt idx="966">
                  <c:v>19.489999999999998</c:v>
                </c:pt>
                <c:pt idx="967">
                  <c:v>19.489999999999998</c:v>
                </c:pt>
                <c:pt idx="968">
                  <c:v>19.05</c:v>
                </c:pt>
                <c:pt idx="969">
                  <c:v>20.2</c:v>
                </c:pt>
                <c:pt idx="970">
                  <c:v>21.71</c:v>
                </c:pt>
                <c:pt idx="971">
                  <c:v>19.489999999999998</c:v>
                </c:pt>
                <c:pt idx="972">
                  <c:v>19.489999999999998</c:v>
                </c:pt>
                <c:pt idx="973">
                  <c:v>19.489999999999998</c:v>
                </c:pt>
                <c:pt idx="974">
                  <c:v>18.38</c:v>
                </c:pt>
                <c:pt idx="975">
                  <c:v>17.309999999999999</c:v>
                </c:pt>
                <c:pt idx="976">
                  <c:v>17.309999999999999</c:v>
                </c:pt>
                <c:pt idx="977">
                  <c:v>18.38</c:v>
                </c:pt>
                <c:pt idx="978">
                  <c:v>18.38</c:v>
                </c:pt>
                <c:pt idx="979">
                  <c:v>18.38</c:v>
                </c:pt>
                <c:pt idx="980">
                  <c:v>18.38</c:v>
                </c:pt>
                <c:pt idx="981">
                  <c:v>21.01</c:v>
                </c:pt>
                <c:pt idx="982">
                  <c:v>21.03</c:v>
                </c:pt>
                <c:pt idx="983">
                  <c:v>21.15</c:v>
                </c:pt>
                <c:pt idx="984">
                  <c:v>15.97</c:v>
                </c:pt>
                <c:pt idx="985">
                  <c:v>15.97</c:v>
                </c:pt>
                <c:pt idx="986">
                  <c:v>22.98</c:v>
                </c:pt>
                <c:pt idx="987">
                  <c:v>21.94</c:v>
                </c:pt>
                <c:pt idx="988">
                  <c:v>22.99</c:v>
                </c:pt>
                <c:pt idx="989">
                  <c:v>22.99</c:v>
                </c:pt>
                <c:pt idx="990">
                  <c:v>22.99</c:v>
                </c:pt>
                <c:pt idx="991">
                  <c:v>23.63</c:v>
                </c:pt>
                <c:pt idx="992">
                  <c:v>26.23</c:v>
                </c:pt>
                <c:pt idx="993">
                  <c:v>32.18</c:v>
                </c:pt>
                <c:pt idx="994">
                  <c:v>32.200000000000003</c:v>
                </c:pt>
                <c:pt idx="995">
                  <c:v>32.270000000000003</c:v>
                </c:pt>
                <c:pt idx="996">
                  <c:v>32.67</c:v>
                </c:pt>
                <c:pt idx="997">
                  <c:v>32.76</c:v>
                </c:pt>
                <c:pt idx="998">
                  <c:v>32.22</c:v>
                </c:pt>
                <c:pt idx="999">
                  <c:v>32.06</c:v>
                </c:pt>
                <c:pt idx="1000">
                  <c:v>24.96</c:v>
                </c:pt>
                <c:pt idx="1001">
                  <c:v>24.43</c:v>
                </c:pt>
                <c:pt idx="1002">
                  <c:v>22.98</c:v>
                </c:pt>
                <c:pt idx="1003">
                  <c:v>22.98</c:v>
                </c:pt>
                <c:pt idx="1004">
                  <c:v>23.97</c:v>
                </c:pt>
                <c:pt idx="1005">
                  <c:v>22.62</c:v>
                </c:pt>
                <c:pt idx="1006">
                  <c:v>20.51</c:v>
                </c:pt>
                <c:pt idx="1007">
                  <c:v>13.19</c:v>
                </c:pt>
                <c:pt idx="1008">
                  <c:v>16.75</c:v>
                </c:pt>
                <c:pt idx="1009">
                  <c:v>15</c:v>
                </c:pt>
                <c:pt idx="1010">
                  <c:v>17.04</c:v>
                </c:pt>
                <c:pt idx="1011">
                  <c:v>17.18</c:v>
                </c:pt>
                <c:pt idx="1012">
                  <c:v>18.38</c:v>
                </c:pt>
                <c:pt idx="1013">
                  <c:v>20.59</c:v>
                </c:pt>
                <c:pt idx="1014">
                  <c:v>20.11</c:v>
                </c:pt>
                <c:pt idx="1015">
                  <c:v>22.99</c:v>
                </c:pt>
                <c:pt idx="1016">
                  <c:v>20.59</c:v>
                </c:pt>
                <c:pt idx="1017">
                  <c:v>22.99</c:v>
                </c:pt>
                <c:pt idx="1018">
                  <c:v>22.99</c:v>
                </c:pt>
                <c:pt idx="1019">
                  <c:v>22.99</c:v>
                </c:pt>
                <c:pt idx="1020">
                  <c:v>22.62</c:v>
                </c:pt>
                <c:pt idx="1021">
                  <c:v>18.38</c:v>
                </c:pt>
                <c:pt idx="1022">
                  <c:v>18.38</c:v>
                </c:pt>
                <c:pt idx="1023">
                  <c:v>17.18</c:v>
                </c:pt>
                <c:pt idx="1024">
                  <c:v>14.03</c:v>
                </c:pt>
                <c:pt idx="1025">
                  <c:v>11.35</c:v>
                </c:pt>
                <c:pt idx="1026">
                  <c:v>10.1</c:v>
                </c:pt>
                <c:pt idx="1027">
                  <c:v>9.75</c:v>
                </c:pt>
                <c:pt idx="1028">
                  <c:v>9.39</c:v>
                </c:pt>
                <c:pt idx="1029">
                  <c:v>9.18</c:v>
                </c:pt>
                <c:pt idx="1030">
                  <c:v>8.41</c:v>
                </c:pt>
                <c:pt idx="1031">
                  <c:v>3</c:v>
                </c:pt>
                <c:pt idx="1032">
                  <c:v>0.01</c:v>
                </c:pt>
                <c:pt idx="1033">
                  <c:v>0.01</c:v>
                </c:pt>
                <c:pt idx="1034">
                  <c:v>7.67</c:v>
                </c:pt>
                <c:pt idx="1035">
                  <c:v>3</c:v>
                </c:pt>
                <c:pt idx="1036">
                  <c:v>2</c:v>
                </c:pt>
                <c:pt idx="1037">
                  <c:v>8.69</c:v>
                </c:pt>
                <c:pt idx="1038">
                  <c:v>8.9600000000000009</c:v>
                </c:pt>
                <c:pt idx="1039">
                  <c:v>10.1</c:v>
                </c:pt>
                <c:pt idx="1040">
                  <c:v>17.04</c:v>
                </c:pt>
                <c:pt idx="1041">
                  <c:v>23.95</c:v>
                </c:pt>
                <c:pt idx="1042">
                  <c:v>23.96</c:v>
                </c:pt>
                <c:pt idx="1043">
                  <c:v>24.28</c:v>
                </c:pt>
                <c:pt idx="1044">
                  <c:v>25.25</c:v>
                </c:pt>
                <c:pt idx="1045">
                  <c:v>26.79</c:v>
                </c:pt>
                <c:pt idx="1046">
                  <c:v>26.04</c:v>
                </c:pt>
                <c:pt idx="1047">
                  <c:v>26.73</c:v>
                </c:pt>
                <c:pt idx="1048">
                  <c:v>26.04</c:v>
                </c:pt>
                <c:pt idx="1049">
                  <c:v>23.96</c:v>
                </c:pt>
                <c:pt idx="1050">
                  <c:v>23.96</c:v>
                </c:pt>
                <c:pt idx="1051">
                  <c:v>23.77</c:v>
                </c:pt>
                <c:pt idx="1052">
                  <c:v>23.89</c:v>
                </c:pt>
                <c:pt idx="1053">
                  <c:v>22.62</c:v>
                </c:pt>
                <c:pt idx="1054">
                  <c:v>22.35</c:v>
                </c:pt>
                <c:pt idx="1055">
                  <c:v>17.45</c:v>
                </c:pt>
                <c:pt idx="1056">
                  <c:v>18.38</c:v>
                </c:pt>
                <c:pt idx="1057">
                  <c:v>18.38</c:v>
                </c:pt>
                <c:pt idx="1058">
                  <c:v>18.38</c:v>
                </c:pt>
                <c:pt idx="1059">
                  <c:v>18.38</c:v>
                </c:pt>
                <c:pt idx="1060">
                  <c:v>19.809999999999999</c:v>
                </c:pt>
                <c:pt idx="1061">
                  <c:v>18.38</c:v>
                </c:pt>
                <c:pt idx="1062">
                  <c:v>18.38</c:v>
                </c:pt>
                <c:pt idx="1063">
                  <c:v>20.14</c:v>
                </c:pt>
                <c:pt idx="1064">
                  <c:v>19.920000000000002</c:v>
                </c:pt>
                <c:pt idx="1065">
                  <c:v>21.46</c:v>
                </c:pt>
                <c:pt idx="1066">
                  <c:v>20.93</c:v>
                </c:pt>
                <c:pt idx="1067">
                  <c:v>18.38</c:v>
                </c:pt>
                <c:pt idx="1068">
                  <c:v>22.52</c:v>
                </c:pt>
                <c:pt idx="1069">
                  <c:v>22.43</c:v>
                </c:pt>
                <c:pt idx="1070">
                  <c:v>20.93</c:v>
                </c:pt>
                <c:pt idx="1071">
                  <c:v>17.059999999999999</c:v>
                </c:pt>
                <c:pt idx="1072">
                  <c:v>15.96</c:v>
                </c:pt>
                <c:pt idx="1073">
                  <c:v>13.94</c:v>
                </c:pt>
                <c:pt idx="1074">
                  <c:v>14.93</c:v>
                </c:pt>
                <c:pt idx="1075">
                  <c:v>14.95</c:v>
                </c:pt>
                <c:pt idx="1076">
                  <c:v>11.53</c:v>
                </c:pt>
                <c:pt idx="1077">
                  <c:v>9.76</c:v>
                </c:pt>
                <c:pt idx="1078">
                  <c:v>8.83</c:v>
                </c:pt>
                <c:pt idx="1079">
                  <c:v>8.17</c:v>
                </c:pt>
                <c:pt idx="1080">
                  <c:v>0.21</c:v>
                </c:pt>
                <c:pt idx="1081">
                  <c:v>0.02</c:v>
                </c:pt>
                <c:pt idx="1082">
                  <c:v>2</c:v>
                </c:pt>
                <c:pt idx="1083">
                  <c:v>4.6500000000000004</c:v>
                </c:pt>
                <c:pt idx="1084">
                  <c:v>7.93</c:v>
                </c:pt>
                <c:pt idx="1085">
                  <c:v>9.43</c:v>
                </c:pt>
                <c:pt idx="1086">
                  <c:v>11.26</c:v>
                </c:pt>
                <c:pt idx="1087">
                  <c:v>13.94</c:v>
                </c:pt>
                <c:pt idx="1088">
                  <c:v>11.58</c:v>
                </c:pt>
                <c:pt idx="1089">
                  <c:v>18.27</c:v>
                </c:pt>
                <c:pt idx="1090">
                  <c:v>21.48</c:v>
                </c:pt>
                <c:pt idx="1091">
                  <c:v>23.31</c:v>
                </c:pt>
                <c:pt idx="1092">
                  <c:v>23.6</c:v>
                </c:pt>
                <c:pt idx="1093">
                  <c:v>23.92</c:v>
                </c:pt>
                <c:pt idx="1094">
                  <c:v>23.92</c:v>
                </c:pt>
                <c:pt idx="1095">
                  <c:v>23.47</c:v>
                </c:pt>
                <c:pt idx="1096">
                  <c:v>23.38</c:v>
                </c:pt>
                <c:pt idx="1097">
                  <c:v>23.19</c:v>
                </c:pt>
                <c:pt idx="1098">
                  <c:v>21.46</c:v>
                </c:pt>
                <c:pt idx="1099">
                  <c:v>18.38</c:v>
                </c:pt>
                <c:pt idx="1100">
                  <c:v>20.85</c:v>
                </c:pt>
                <c:pt idx="1101">
                  <c:v>19.809999999999999</c:v>
                </c:pt>
                <c:pt idx="1102">
                  <c:v>18.38</c:v>
                </c:pt>
                <c:pt idx="1103">
                  <c:v>18.38</c:v>
                </c:pt>
                <c:pt idx="1104">
                  <c:v>18.38</c:v>
                </c:pt>
                <c:pt idx="1105">
                  <c:v>19.809999999999999</c:v>
                </c:pt>
                <c:pt idx="1106">
                  <c:v>18.38</c:v>
                </c:pt>
                <c:pt idx="1107">
                  <c:v>18</c:v>
                </c:pt>
                <c:pt idx="1108">
                  <c:v>18.38</c:v>
                </c:pt>
                <c:pt idx="1109">
                  <c:v>19.809999999999999</c:v>
                </c:pt>
                <c:pt idx="1110">
                  <c:v>21.47</c:v>
                </c:pt>
                <c:pt idx="1111">
                  <c:v>22.6</c:v>
                </c:pt>
                <c:pt idx="1112">
                  <c:v>21.54</c:v>
                </c:pt>
                <c:pt idx="1113">
                  <c:v>20.93</c:v>
                </c:pt>
                <c:pt idx="1114">
                  <c:v>20.93</c:v>
                </c:pt>
                <c:pt idx="1115">
                  <c:v>18.38</c:v>
                </c:pt>
                <c:pt idx="1116">
                  <c:v>17.739999999999998</c:v>
                </c:pt>
                <c:pt idx="1117">
                  <c:v>17.02</c:v>
                </c:pt>
                <c:pt idx="1118">
                  <c:v>13.94</c:v>
                </c:pt>
                <c:pt idx="1119">
                  <c:v>11.31</c:v>
                </c:pt>
                <c:pt idx="1120">
                  <c:v>8.5500000000000007</c:v>
                </c:pt>
                <c:pt idx="1121">
                  <c:v>9.39</c:v>
                </c:pt>
                <c:pt idx="1122">
                  <c:v>9.34</c:v>
                </c:pt>
                <c:pt idx="1123">
                  <c:v>7.93</c:v>
                </c:pt>
                <c:pt idx="1124">
                  <c:v>7.93</c:v>
                </c:pt>
                <c:pt idx="1125">
                  <c:v>9.35</c:v>
                </c:pt>
                <c:pt idx="1126">
                  <c:v>9.4</c:v>
                </c:pt>
                <c:pt idx="1127">
                  <c:v>10.31</c:v>
                </c:pt>
                <c:pt idx="1128">
                  <c:v>11.57</c:v>
                </c:pt>
                <c:pt idx="1129">
                  <c:v>10.71</c:v>
                </c:pt>
                <c:pt idx="1130">
                  <c:v>11.35</c:v>
                </c:pt>
                <c:pt idx="1131">
                  <c:v>11.35</c:v>
                </c:pt>
                <c:pt idx="1132">
                  <c:v>11.31</c:v>
                </c:pt>
                <c:pt idx="1133">
                  <c:v>11.17</c:v>
                </c:pt>
                <c:pt idx="1134">
                  <c:v>11.17</c:v>
                </c:pt>
                <c:pt idx="1135">
                  <c:v>17.02</c:v>
                </c:pt>
                <c:pt idx="1136">
                  <c:v>18.38</c:v>
                </c:pt>
                <c:pt idx="1137">
                  <c:v>19.809999999999999</c:v>
                </c:pt>
                <c:pt idx="1138">
                  <c:v>24.28</c:v>
                </c:pt>
                <c:pt idx="1139">
                  <c:v>25.01</c:v>
                </c:pt>
                <c:pt idx="1140">
                  <c:v>25.47</c:v>
                </c:pt>
                <c:pt idx="1141">
                  <c:v>25.47</c:v>
                </c:pt>
                <c:pt idx="1142">
                  <c:v>25.47</c:v>
                </c:pt>
                <c:pt idx="1143">
                  <c:v>25.05</c:v>
                </c:pt>
                <c:pt idx="1144">
                  <c:v>25.05</c:v>
                </c:pt>
                <c:pt idx="1145">
                  <c:v>24.12</c:v>
                </c:pt>
                <c:pt idx="1146">
                  <c:v>23.47</c:v>
                </c:pt>
                <c:pt idx="1147">
                  <c:v>23</c:v>
                </c:pt>
                <c:pt idx="1148">
                  <c:v>22.9</c:v>
                </c:pt>
                <c:pt idx="1149">
                  <c:v>19.96</c:v>
                </c:pt>
                <c:pt idx="1150">
                  <c:v>19.809999999999999</c:v>
                </c:pt>
                <c:pt idx="1151">
                  <c:v>17.059999999999999</c:v>
                </c:pt>
                <c:pt idx="1152">
                  <c:v>19.809999999999999</c:v>
                </c:pt>
                <c:pt idx="1153">
                  <c:v>17.32</c:v>
                </c:pt>
                <c:pt idx="1154">
                  <c:v>17.46</c:v>
                </c:pt>
                <c:pt idx="1155">
                  <c:v>17.059999999999999</c:v>
                </c:pt>
                <c:pt idx="1156">
                  <c:v>18.2</c:v>
                </c:pt>
                <c:pt idx="1157">
                  <c:v>19.809999999999999</c:v>
                </c:pt>
                <c:pt idx="1158">
                  <c:v>19.96</c:v>
                </c:pt>
                <c:pt idx="1159">
                  <c:v>22.57</c:v>
                </c:pt>
                <c:pt idx="1160">
                  <c:v>20.25</c:v>
                </c:pt>
                <c:pt idx="1161">
                  <c:v>22.97</c:v>
                </c:pt>
                <c:pt idx="1162">
                  <c:v>23.3</c:v>
                </c:pt>
                <c:pt idx="1163">
                  <c:v>22.99</c:v>
                </c:pt>
                <c:pt idx="1164">
                  <c:v>22.95</c:v>
                </c:pt>
                <c:pt idx="1165">
                  <c:v>17.739999999999998</c:v>
                </c:pt>
                <c:pt idx="1166">
                  <c:v>13.94</c:v>
                </c:pt>
                <c:pt idx="1167">
                  <c:v>9.98</c:v>
                </c:pt>
                <c:pt idx="1168">
                  <c:v>9.69</c:v>
                </c:pt>
                <c:pt idx="1169">
                  <c:v>11.57</c:v>
                </c:pt>
                <c:pt idx="1170">
                  <c:v>10.8</c:v>
                </c:pt>
                <c:pt idx="1171">
                  <c:v>9.6999999999999993</c:v>
                </c:pt>
                <c:pt idx="1172">
                  <c:v>8</c:v>
                </c:pt>
                <c:pt idx="1173">
                  <c:v>10</c:v>
                </c:pt>
                <c:pt idx="1174">
                  <c:v>9.5299999999999994</c:v>
                </c:pt>
                <c:pt idx="1175">
                  <c:v>9.6999999999999993</c:v>
                </c:pt>
                <c:pt idx="1176">
                  <c:v>3</c:v>
                </c:pt>
                <c:pt idx="1177">
                  <c:v>4.6500000000000004</c:v>
                </c:pt>
                <c:pt idx="1178">
                  <c:v>10.039999999999999</c:v>
                </c:pt>
                <c:pt idx="1179">
                  <c:v>10.039999999999999</c:v>
                </c:pt>
                <c:pt idx="1180">
                  <c:v>11.2</c:v>
                </c:pt>
                <c:pt idx="1181">
                  <c:v>11.96</c:v>
                </c:pt>
                <c:pt idx="1182">
                  <c:v>17.02</c:v>
                </c:pt>
                <c:pt idx="1183">
                  <c:v>20.190000000000001</c:v>
                </c:pt>
                <c:pt idx="1184">
                  <c:v>24.28</c:v>
                </c:pt>
                <c:pt idx="1185">
                  <c:v>25.62</c:v>
                </c:pt>
                <c:pt idx="1186">
                  <c:v>26.47</c:v>
                </c:pt>
                <c:pt idx="1187">
                  <c:v>30</c:v>
                </c:pt>
                <c:pt idx="1188">
                  <c:v>31</c:v>
                </c:pt>
                <c:pt idx="1189">
                  <c:v>31.17</c:v>
                </c:pt>
                <c:pt idx="1190">
                  <c:v>29.52</c:v>
                </c:pt>
                <c:pt idx="1191">
                  <c:v>26.79</c:v>
                </c:pt>
                <c:pt idx="1192">
                  <c:v>26.47</c:v>
                </c:pt>
                <c:pt idx="1193">
                  <c:v>25.63</c:v>
                </c:pt>
                <c:pt idx="1194">
                  <c:v>25.62</c:v>
                </c:pt>
                <c:pt idx="1195">
                  <c:v>23.84</c:v>
                </c:pt>
                <c:pt idx="1196">
                  <c:v>23.95</c:v>
                </c:pt>
                <c:pt idx="1197">
                  <c:v>23.39</c:v>
                </c:pt>
                <c:pt idx="1198">
                  <c:v>23.3</c:v>
                </c:pt>
                <c:pt idx="1199">
                  <c:v>20.25</c:v>
                </c:pt>
                <c:pt idx="1200">
                  <c:v>23.88</c:v>
                </c:pt>
                <c:pt idx="1201">
                  <c:v>23</c:v>
                </c:pt>
                <c:pt idx="1202">
                  <c:v>23</c:v>
                </c:pt>
                <c:pt idx="1203">
                  <c:v>19.96</c:v>
                </c:pt>
                <c:pt idx="1204">
                  <c:v>20.170000000000002</c:v>
                </c:pt>
                <c:pt idx="1205">
                  <c:v>21.34</c:v>
                </c:pt>
                <c:pt idx="1206">
                  <c:v>23</c:v>
                </c:pt>
                <c:pt idx="1207">
                  <c:v>23.23</c:v>
                </c:pt>
                <c:pt idx="1208">
                  <c:v>20.93</c:v>
                </c:pt>
                <c:pt idx="1209">
                  <c:v>20.93</c:v>
                </c:pt>
                <c:pt idx="1210">
                  <c:v>23</c:v>
                </c:pt>
                <c:pt idx="1211">
                  <c:v>20.93</c:v>
                </c:pt>
                <c:pt idx="1212">
                  <c:v>20.93</c:v>
                </c:pt>
                <c:pt idx="1213">
                  <c:v>20.93</c:v>
                </c:pt>
                <c:pt idx="1214">
                  <c:v>19.96</c:v>
                </c:pt>
                <c:pt idx="1215">
                  <c:v>19.96</c:v>
                </c:pt>
                <c:pt idx="1216">
                  <c:v>20.68</c:v>
                </c:pt>
                <c:pt idx="1217">
                  <c:v>23.23</c:v>
                </c:pt>
                <c:pt idx="1218">
                  <c:v>24.28</c:v>
                </c:pt>
                <c:pt idx="1219">
                  <c:v>23.6</c:v>
                </c:pt>
                <c:pt idx="1220">
                  <c:v>24.18</c:v>
                </c:pt>
                <c:pt idx="1221">
                  <c:v>24.85</c:v>
                </c:pt>
                <c:pt idx="1222">
                  <c:v>25.05</c:v>
                </c:pt>
                <c:pt idx="1223">
                  <c:v>25.02</c:v>
                </c:pt>
                <c:pt idx="1224">
                  <c:v>23.52</c:v>
                </c:pt>
                <c:pt idx="1225">
                  <c:v>23.51</c:v>
                </c:pt>
                <c:pt idx="1226">
                  <c:v>26.72</c:v>
                </c:pt>
                <c:pt idx="1227">
                  <c:v>26.72</c:v>
                </c:pt>
                <c:pt idx="1228">
                  <c:v>26.72</c:v>
                </c:pt>
                <c:pt idx="1229">
                  <c:v>26.73</c:v>
                </c:pt>
                <c:pt idx="1230">
                  <c:v>26.72</c:v>
                </c:pt>
                <c:pt idx="1231">
                  <c:v>28.72</c:v>
                </c:pt>
                <c:pt idx="1232">
                  <c:v>30.14</c:v>
                </c:pt>
                <c:pt idx="1233">
                  <c:v>31.09</c:v>
                </c:pt>
                <c:pt idx="1234">
                  <c:v>26.79</c:v>
                </c:pt>
                <c:pt idx="1235">
                  <c:v>31.17</c:v>
                </c:pt>
                <c:pt idx="1236">
                  <c:v>31.32</c:v>
                </c:pt>
                <c:pt idx="1237">
                  <c:v>31.42</c:v>
                </c:pt>
                <c:pt idx="1238">
                  <c:v>30</c:v>
                </c:pt>
                <c:pt idx="1239">
                  <c:v>26.72</c:v>
                </c:pt>
                <c:pt idx="1240">
                  <c:v>26.72</c:v>
                </c:pt>
                <c:pt idx="1241">
                  <c:v>26.72</c:v>
                </c:pt>
                <c:pt idx="1242">
                  <c:v>24.84</c:v>
                </c:pt>
                <c:pt idx="1243">
                  <c:v>23.23</c:v>
                </c:pt>
                <c:pt idx="1244">
                  <c:v>23</c:v>
                </c:pt>
                <c:pt idx="1245">
                  <c:v>20.75</c:v>
                </c:pt>
                <c:pt idx="1246">
                  <c:v>17.32</c:v>
                </c:pt>
                <c:pt idx="1247">
                  <c:v>17.02</c:v>
                </c:pt>
                <c:pt idx="1248">
                  <c:v>17.059999999999999</c:v>
                </c:pt>
                <c:pt idx="1249">
                  <c:v>17.46</c:v>
                </c:pt>
                <c:pt idx="1250">
                  <c:v>20.190000000000001</c:v>
                </c:pt>
                <c:pt idx="1251">
                  <c:v>20</c:v>
                </c:pt>
                <c:pt idx="1252">
                  <c:v>19.809999999999999</c:v>
                </c:pt>
                <c:pt idx="1253">
                  <c:v>20.25</c:v>
                </c:pt>
                <c:pt idx="1254">
                  <c:v>19.809999999999999</c:v>
                </c:pt>
                <c:pt idx="1255">
                  <c:v>20.93</c:v>
                </c:pt>
                <c:pt idx="1256">
                  <c:v>19.96</c:v>
                </c:pt>
                <c:pt idx="1257">
                  <c:v>19.96</c:v>
                </c:pt>
                <c:pt idx="1258">
                  <c:v>19.96</c:v>
                </c:pt>
                <c:pt idx="1259">
                  <c:v>21.31</c:v>
                </c:pt>
                <c:pt idx="1260">
                  <c:v>23</c:v>
                </c:pt>
                <c:pt idx="1261">
                  <c:v>23.21</c:v>
                </c:pt>
                <c:pt idx="1262">
                  <c:v>23.88</c:v>
                </c:pt>
                <c:pt idx="1263">
                  <c:v>23.21</c:v>
                </c:pt>
                <c:pt idx="1264">
                  <c:v>23</c:v>
                </c:pt>
                <c:pt idx="1265">
                  <c:v>23</c:v>
                </c:pt>
                <c:pt idx="1266">
                  <c:v>23.21</c:v>
                </c:pt>
                <c:pt idx="1267">
                  <c:v>23</c:v>
                </c:pt>
                <c:pt idx="1268">
                  <c:v>23</c:v>
                </c:pt>
                <c:pt idx="1269">
                  <c:v>19.809999999999999</c:v>
                </c:pt>
                <c:pt idx="1270">
                  <c:v>18.03</c:v>
                </c:pt>
                <c:pt idx="1271">
                  <c:v>17.739999999999998</c:v>
                </c:pt>
                <c:pt idx="1272">
                  <c:v>11.57</c:v>
                </c:pt>
                <c:pt idx="1273">
                  <c:v>10.85</c:v>
                </c:pt>
                <c:pt idx="1274">
                  <c:v>18.38</c:v>
                </c:pt>
                <c:pt idx="1275">
                  <c:v>17.739999999999998</c:v>
                </c:pt>
                <c:pt idx="1276">
                  <c:v>20.93</c:v>
                </c:pt>
                <c:pt idx="1277">
                  <c:v>23</c:v>
                </c:pt>
                <c:pt idx="1278">
                  <c:v>23</c:v>
                </c:pt>
                <c:pt idx="1279">
                  <c:v>23.1</c:v>
                </c:pt>
                <c:pt idx="1280">
                  <c:v>24.28</c:v>
                </c:pt>
                <c:pt idx="1281">
                  <c:v>28.41</c:v>
                </c:pt>
                <c:pt idx="1282">
                  <c:v>28.55</c:v>
                </c:pt>
                <c:pt idx="1283">
                  <c:v>27</c:v>
                </c:pt>
                <c:pt idx="1284">
                  <c:v>31.46</c:v>
                </c:pt>
                <c:pt idx="1285">
                  <c:v>31.48</c:v>
                </c:pt>
                <c:pt idx="1286">
                  <c:v>31.46</c:v>
                </c:pt>
                <c:pt idx="1287">
                  <c:v>30</c:v>
                </c:pt>
                <c:pt idx="1288">
                  <c:v>26.79</c:v>
                </c:pt>
                <c:pt idx="1289">
                  <c:v>26.47</c:v>
                </c:pt>
                <c:pt idx="1290">
                  <c:v>23</c:v>
                </c:pt>
                <c:pt idx="1291">
                  <c:v>23</c:v>
                </c:pt>
                <c:pt idx="1292">
                  <c:v>23</c:v>
                </c:pt>
                <c:pt idx="1293">
                  <c:v>20.85</c:v>
                </c:pt>
                <c:pt idx="1294">
                  <c:v>17.059999999999999</c:v>
                </c:pt>
                <c:pt idx="1295">
                  <c:v>13.94</c:v>
                </c:pt>
                <c:pt idx="1296">
                  <c:v>17.739999999999998</c:v>
                </c:pt>
                <c:pt idx="1297">
                  <c:v>18.71</c:v>
                </c:pt>
                <c:pt idx="1298">
                  <c:v>20.85</c:v>
                </c:pt>
                <c:pt idx="1299">
                  <c:v>19.809999999999999</c:v>
                </c:pt>
                <c:pt idx="1300">
                  <c:v>23.02</c:v>
                </c:pt>
                <c:pt idx="1301">
                  <c:v>23.13</c:v>
                </c:pt>
                <c:pt idx="1302">
                  <c:v>23.04</c:v>
                </c:pt>
                <c:pt idx="1303">
                  <c:v>23.23</c:v>
                </c:pt>
                <c:pt idx="1304">
                  <c:v>23.06</c:v>
                </c:pt>
                <c:pt idx="1305">
                  <c:v>23.06</c:v>
                </c:pt>
                <c:pt idx="1306">
                  <c:v>23.1</c:v>
                </c:pt>
                <c:pt idx="1307">
                  <c:v>23</c:v>
                </c:pt>
                <c:pt idx="1308">
                  <c:v>20.6</c:v>
                </c:pt>
                <c:pt idx="1309">
                  <c:v>17.97</c:v>
                </c:pt>
                <c:pt idx="1310">
                  <c:v>17.02</c:v>
                </c:pt>
                <c:pt idx="1311">
                  <c:v>14.99</c:v>
                </c:pt>
                <c:pt idx="1312">
                  <c:v>11.37</c:v>
                </c:pt>
                <c:pt idx="1313">
                  <c:v>11.55</c:v>
                </c:pt>
                <c:pt idx="1314">
                  <c:v>10.039999999999999</c:v>
                </c:pt>
                <c:pt idx="1315">
                  <c:v>10.039999999999999</c:v>
                </c:pt>
                <c:pt idx="1316">
                  <c:v>9.6999999999999993</c:v>
                </c:pt>
                <c:pt idx="1317">
                  <c:v>10.039999999999999</c:v>
                </c:pt>
                <c:pt idx="1318">
                  <c:v>10.039999999999999</c:v>
                </c:pt>
                <c:pt idx="1319">
                  <c:v>9.6999999999999993</c:v>
                </c:pt>
                <c:pt idx="1320">
                  <c:v>1.3</c:v>
                </c:pt>
                <c:pt idx="1321">
                  <c:v>2</c:v>
                </c:pt>
                <c:pt idx="1322">
                  <c:v>9.6999999999999993</c:v>
                </c:pt>
                <c:pt idx="1323">
                  <c:v>9.6999999999999993</c:v>
                </c:pt>
                <c:pt idx="1324">
                  <c:v>10.039999999999999</c:v>
                </c:pt>
                <c:pt idx="1325">
                  <c:v>10.039999999999999</c:v>
                </c:pt>
                <c:pt idx="1326">
                  <c:v>9.6300000000000008</c:v>
                </c:pt>
                <c:pt idx="1327">
                  <c:v>11.59</c:v>
                </c:pt>
                <c:pt idx="1328">
                  <c:v>18.27</c:v>
                </c:pt>
                <c:pt idx="1329">
                  <c:v>23.31</c:v>
                </c:pt>
                <c:pt idx="1330">
                  <c:v>24.28</c:v>
                </c:pt>
                <c:pt idx="1331">
                  <c:v>27.89</c:v>
                </c:pt>
                <c:pt idx="1332">
                  <c:v>28.81</c:v>
                </c:pt>
                <c:pt idx="1333">
                  <c:v>31.21</c:v>
                </c:pt>
                <c:pt idx="1334">
                  <c:v>29.19</c:v>
                </c:pt>
                <c:pt idx="1335">
                  <c:v>28.36</c:v>
                </c:pt>
                <c:pt idx="1336">
                  <c:v>29.79</c:v>
                </c:pt>
                <c:pt idx="1337">
                  <c:v>26.87</c:v>
                </c:pt>
                <c:pt idx="1338">
                  <c:v>25.48</c:v>
                </c:pt>
                <c:pt idx="1339">
                  <c:v>25.48</c:v>
                </c:pt>
                <c:pt idx="1340">
                  <c:v>26.47</c:v>
                </c:pt>
                <c:pt idx="1341">
                  <c:v>24.69</c:v>
                </c:pt>
                <c:pt idx="1342">
                  <c:v>24.28</c:v>
                </c:pt>
                <c:pt idx="1343">
                  <c:v>21.39</c:v>
                </c:pt>
                <c:pt idx="1344">
                  <c:v>18.38</c:v>
                </c:pt>
                <c:pt idx="1345">
                  <c:v>18.38</c:v>
                </c:pt>
                <c:pt idx="1346">
                  <c:v>18.38</c:v>
                </c:pt>
                <c:pt idx="1347">
                  <c:v>18.38</c:v>
                </c:pt>
                <c:pt idx="1348">
                  <c:v>18.38</c:v>
                </c:pt>
                <c:pt idx="1349">
                  <c:v>19.809999999999999</c:v>
                </c:pt>
                <c:pt idx="1350">
                  <c:v>20.93</c:v>
                </c:pt>
                <c:pt idx="1351">
                  <c:v>24.28</c:v>
                </c:pt>
                <c:pt idx="1352">
                  <c:v>23</c:v>
                </c:pt>
                <c:pt idx="1353">
                  <c:v>23</c:v>
                </c:pt>
                <c:pt idx="1354">
                  <c:v>23</c:v>
                </c:pt>
                <c:pt idx="1355">
                  <c:v>19.809999999999999</c:v>
                </c:pt>
                <c:pt idx="1356">
                  <c:v>17.46</c:v>
                </c:pt>
                <c:pt idx="1357">
                  <c:v>16.920000000000002</c:v>
                </c:pt>
                <c:pt idx="1358">
                  <c:v>11.99</c:v>
                </c:pt>
                <c:pt idx="1359">
                  <c:v>13.18</c:v>
                </c:pt>
                <c:pt idx="1360">
                  <c:v>14.52</c:v>
                </c:pt>
                <c:pt idx="1361">
                  <c:v>17.32</c:v>
                </c:pt>
                <c:pt idx="1362">
                  <c:v>17.739999999999998</c:v>
                </c:pt>
                <c:pt idx="1363">
                  <c:v>19.809999999999999</c:v>
                </c:pt>
                <c:pt idx="1364">
                  <c:v>17.739999999999998</c:v>
                </c:pt>
                <c:pt idx="1365">
                  <c:v>20.93</c:v>
                </c:pt>
                <c:pt idx="1366">
                  <c:v>23.34</c:v>
                </c:pt>
                <c:pt idx="1367">
                  <c:v>24.28</c:v>
                </c:pt>
                <c:pt idx="1368">
                  <c:v>24.28</c:v>
                </c:pt>
                <c:pt idx="1369">
                  <c:v>24.28</c:v>
                </c:pt>
                <c:pt idx="1370">
                  <c:v>26.47</c:v>
                </c:pt>
                <c:pt idx="1371">
                  <c:v>26.47</c:v>
                </c:pt>
                <c:pt idx="1372">
                  <c:v>28.33</c:v>
                </c:pt>
                <c:pt idx="1373">
                  <c:v>28.33</c:v>
                </c:pt>
                <c:pt idx="1374">
                  <c:v>24.28</c:v>
                </c:pt>
                <c:pt idx="1375">
                  <c:v>24.28</c:v>
                </c:pt>
                <c:pt idx="1376">
                  <c:v>25.05</c:v>
                </c:pt>
                <c:pt idx="1377">
                  <c:v>26.47</c:v>
                </c:pt>
                <c:pt idx="1378">
                  <c:v>26.12</c:v>
                </c:pt>
                <c:pt idx="1379">
                  <c:v>30.13</c:v>
                </c:pt>
                <c:pt idx="1380">
                  <c:v>31.88</c:v>
                </c:pt>
                <c:pt idx="1381">
                  <c:v>32.24</c:v>
                </c:pt>
                <c:pt idx="1382">
                  <c:v>31.93</c:v>
                </c:pt>
                <c:pt idx="1383">
                  <c:v>31.46</c:v>
                </c:pt>
                <c:pt idx="1384">
                  <c:v>31.43</c:v>
                </c:pt>
                <c:pt idx="1385">
                  <c:v>31.43</c:v>
                </c:pt>
                <c:pt idx="1386">
                  <c:v>30.26</c:v>
                </c:pt>
                <c:pt idx="1387">
                  <c:v>25.05</c:v>
                </c:pt>
                <c:pt idx="1388">
                  <c:v>24.28</c:v>
                </c:pt>
                <c:pt idx="1389">
                  <c:v>23.67</c:v>
                </c:pt>
                <c:pt idx="1390">
                  <c:v>23.34</c:v>
                </c:pt>
                <c:pt idx="1391">
                  <c:v>23.34</c:v>
                </c:pt>
                <c:pt idx="1392">
                  <c:v>17.100000000000001</c:v>
                </c:pt>
                <c:pt idx="1393">
                  <c:v>17.13</c:v>
                </c:pt>
                <c:pt idx="1394">
                  <c:v>17.850000000000001</c:v>
                </c:pt>
                <c:pt idx="1395">
                  <c:v>19.7</c:v>
                </c:pt>
                <c:pt idx="1396">
                  <c:v>20.399999999999999</c:v>
                </c:pt>
                <c:pt idx="1397">
                  <c:v>20.59</c:v>
                </c:pt>
                <c:pt idx="1398">
                  <c:v>20.72</c:v>
                </c:pt>
                <c:pt idx="1399">
                  <c:v>21.34</c:v>
                </c:pt>
                <c:pt idx="1400">
                  <c:v>21.16</c:v>
                </c:pt>
                <c:pt idx="1401">
                  <c:v>21.44</c:v>
                </c:pt>
                <c:pt idx="1402">
                  <c:v>20.39</c:v>
                </c:pt>
                <c:pt idx="1403">
                  <c:v>17.850000000000001</c:v>
                </c:pt>
                <c:pt idx="1404">
                  <c:v>16.37</c:v>
                </c:pt>
                <c:pt idx="1405">
                  <c:v>7.61</c:v>
                </c:pt>
                <c:pt idx="1406">
                  <c:v>0.21</c:v>
                </c:pt>
                <c:pt idx="1407">
                  <c:v>0.01</c:v>
                </c:pt>
                <c:pt idx="1408">
                  <c:v>0.01</c:v>
                </c:pt>
                <c:pt idx="1409">
                  <c:v>0.01</c:v>
                </c:pt>
                <c:pt idx="1410">
                  <c:v>0.01</c:v>
                </c:pt>
                <c:pt idx="1411">
                  <c:v>0.01</c:v>
                </c:pt>
                <c:pt idx="1412">
                  <c:v>0.01</c:v>
                </c:pt>
                <c:pt idx="1413">
                  <c:v>0.01</c:v>
                </c:pt>
                <c:pt idx="1414">
                  <c:v>0.01</c:v>
                </c:pt>
                <c:pt idx="1415">
                  <c:v>0.01</c:v>
                </c:pt>
                <c:pt idx="1416">
                  <c:v>0.01</c:v>
                </c:pt>
                <c:pt idx="1417">
                  <c:v>0.01</c:v>
                </c:pt>
                <c:pt idx="1418">
                  <c:v>0.01</c:v>
                </c:pt>
                <c:pt idx="1419">
                  <c:v>0.01</c:v>
                </c:pt>
                <c:pt idx="1420">
                  <c:v>0.01</c:v>
                </c:pt>
                <c:pt idx="1421">
                  <c:v>0.01</c:v>
                </c:pt>
                <c:pt idx="1422">
                  <c:v>0.01</c:v>
                </c:pt>
                <c:pt idx="1423">
                  <c:v>0.01</c:v>
                </c:pt>
                <c:pt idx="1424">
                  <c:v>2</c:v>
                </c:pt>
                <c:pt idx="1425">
                  <c:v>14.99</c:v>
                </c:pt>
                <c:pt idx="1426">
                  <c:v>23.02</c:v>
                </c:pt>
                <c:pt idx="1427">
                  <c:v>25.12</c:v>
                </c:pt>
                <c:pt idx="1428">
                  <c:v>26.97</c:v>
                </c:pt>
                <c:pt idx="1429">
                  <c:v>26.98</c:v>
                </c:pt>
                <c:pt idx="1430">
                  <c:v>27.8</c:v>
                </c:pt>
                <c:pt idx="1431">
                  <c:v>26.98</c:v>
                </c:pt>
                <c:pt idx="1432">
                  <c:v>26.97</c:v>
                </c:pt>
                <c:pt idx="1433">
                  <c:v>26.97</c:v>
                </c:pt>
                <c:pt idx="1434">
                  <c:v>26.97</c:v>
                </c:pt>
                <c:pt idx="1435">
                  <c:v>26.97</c:v>
                </c:pt>
                <c:pt idx="1436">
                  <c:v>28.03</c:v>
                </c:pt>
                <c:pt idx="1437">
                  <c:v>25.04</c:v>
                </c:pt>
                <c:pt idx="1438">
                  <c:v>21.57</c:v>
                </c:pt>
                <c:pt idx="1439">
                  <c:v>18.38</c:v>
                </c:pt>
              </c:numCache>
            </c:numRef>
          </c:val>
          <c:smooth val="0"/>
          <c:extLst>
            <c:ext xmlns:c16="http://schemas.microsoft.com/office/drawing/2014/chart" uri="{C3380CC4-5D6E-409C-BE32-E72D297353CC}">
              <c16:uniqueId val="{00000000-6307-4E70-838B-244EF8B972D0}"/>
            </c:ext>
          </c:extLst>
        </c:ser>
        <c:dLbls>
          <c:showLegendKey val="0"/>
          <c:showVal val="0"/>
          <c:showCatName val="0"/>
          <c:showSerName val="0"/>
          <c:showPercent val="0"/>
          <c:showBubbleSize val="0"/>
        </c:dLbls>
        <c:smooth val="0"/>
        <c:axId val="874286464"/>
        <c:axId val="874284064"/>
      </c:lineChart>
      <c:catAx>
        <c:axId val="874286464"/>
        <c:scaling>
          <c:orientation val="minMax"/>
        </c:scaling>
        <c:delete val="1"/>
        <c:axPos val="b"/>
        <c:numFmt formatCode="General" sourceLinked="1"/>
        <c:majorTickMark val="none"/>
        <c:minorTickMark val="none"/>
        <c:tickLblPos val="nextTo"/>
        <c:crossAx val="874284064"/>
        <c:crosses val="autoZero"/>
        <c:auto val="1"/>
        <c:lblAlgn val="ctr"/>
        <c:lblOffset val="100"/>
        <c:noMultiLvlLbl val="0"/>
      </c:catAx>
      <c:valAx>
        <c:axId val="874284064"/>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lang="ja-JP" sz="1000" b="0" i="0" u="none" strike="noStrike" kern="1200" baseline="0">
                    <a:solidFill>
                      <a:schemeClr val="tx1">
                        <a:lumMod val="65000"/>
                        <a:lumOff val="35000"/>
                      </a:schemeClr>
                    </a:solidFill>
                    <a:latin typeface="+mn-lt"/>
                    <a:ea typeface="+mn-ea"/>
                    <a:cs typeface="+mn-cs"/>
                  </a:defRPr>
                </a:pPr>
                <a:r>
                  <a:rPr lang="en-US" altLang="ja-JP" sz="800" dirty="0"/>
                  <a:t>spot price [yen/kWh]</a:t>
                </a:r>
                <a:endParaRPr lang="ja-JP" altLang="en-US" sz="800" dirty="0"/>
              </a:p>
            </c:rich>
          </c:tx>
          <c:layout>
            <c:manualLayout>
              <c:xMode val="edge"/>
              <c:yMode val="edge"/>
              <c:x val="1.5547692503236296E-2"/>
              <c:y val="0.27083943550351941"/>
            </c:manualLayout>
          </c:layout>
          <c:overlay val="0"/>
          <c:spPr>
            <a:noFill/>
            <a:ln>
              <a:noFill/>
            </a:ln>
            <a:effectLst/>
          </c:spPr>
          <c:txPr>
            <a:bodyPr rot="-5400000" spcFirstLastPara="1" vertOverflow="ellipsis" vert="horz" wrap="square" anchor="ctr" anchorCtr="1"/>
            <a:lstStyle/>
            <a:p>
              <a:pPr>
                <a:defRPr lang="ja-JP"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ja-JP" sz="900" b="0" i="0" u="none" strike="noStrike" kern="1200" baseline="0">
                <a:solidFill>
                  <a:schemeClr val="tx1">
                    <a:lumMod val="65000"/>
                    <a:lumOff val="35000"/>
                  </a:schemeClr>
                </a:solidFill>
                <a:latin typeface="+mn-lt"/>
                <a:ea typeface="+mn-ea"/>
                <a:cs typeface="+mn-cs"/>
              </a:defRPr>
            </a:pPr>
            <a:endParaRPr lang="en-US"/>
          </a:p>
        </c:txPr>
        <c:crossAx val="874286464"/>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14108E-E9D4-467B-9B7B-0955BA4B5DD6}" type="datetimeFigureOut">
              <a:rPr lang="en-US" smtClean="0"/>
              <a:t>12/18/2024</a:t>
            </a:fld>
            <a:endParaRPr lang="en-US"/>
          </a:p>
        </p:txBody>
      </p:sp>
      <p:sp>
        <p:nvSpPr>
          <p:cNvPr id="4" name="スライド イメージ プレースホルダー 3"/>
          <p:cNvSpPr>
            <a:spLocks noGrp="1" noRot="1" noChangeAspect="1"/>
          </p:cNvSpPr>
          <p:nvPr>
            <p:ph type="sldImg" idx="2"/>
          </p:nvPr>
        </p:nvSpPr>
        <p:spPr>
          <a:xfrm>
            <a:off x="1200150" y="1143000"/>
            <a:ext cx="44577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7517ECB-A323-4F20-B0A5-9FB9A69857E2}" type="slidenum">
              <a:rPr lang="en-US" smtClean="0"/>
              <a:t>‹#›</a:t>
            </a:fld>
            <a:endParaRPr lang="en-US"/>
          </a:p>
        </p:txBody>
      </p:sp>
    </p:spTree>
    <p:extLst>
      <p:ext uri="{BB962C8B-B14F-4D97-AF65-F5344CB8AC3E}">
        <p14:creationId xmlns:p14="http://schemas.microsoft.com/office/powerpoint/2010/main" val="153416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表紙">
    <p:spTree>
      <p:nvGrpSpPr>
        <p:cNvPr id="1" name=""/>
        <p:cNvGrpSpPr/>
        <p:nvPr/>
      </p:nvGrpSpPr>
      <p:grpSpPr>
        <a:xfrm>
          <a:off x="0" y="0"/>
          <a:ext cx="0" cy="0"/>
          <a:chOff x="0" y="0"/>
          <a:chExt cx="0" cy="0"/>
        </a:xfrm>
      </p:grpSpPr>
      <p:sp>
        <p:nvSpPr>
          <p:cNvPr id="3" name="字幕 2">
            <a:extLst>
              <a:ext uri="{FF2B5EF4-FFF2-40B4-BE49-F238E27FC236}">
                <a16:creationId xmlns:a16="http://schemas.microsoft.com/office/drawing/2014/main" id="{8D21F722-56FD-42BC-AF3B-13EFFBBEA5F5}"/>
              </a:ext>
            </a:extLst>
          </p:cNvPr>
          <p:cNvSpPr>
            <a:spLocks noGrp="1"/>
          </p:cNvSpPr>
          <p:nvPr>
            <p:ph type="subTitle" idx="1"/>
          </p:nvPr>
        </p:nvSpPr>
        <p:spPr>
          <a:xfrm>
            <a:off x="1238250" y="3536052"/>
            <a:ext cx="7429500" cy="1073656"/>
          </a:xfrm>
          <a:prstGeom prst="rect">
            <a:avLst/>
          </a:prstGeom>
        </p:spPr>
        <p:txBody>
          <a:bodyPr anchor="ctr" anchorCtr="1"/>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ja-JP" altLang="en-US"/>
              <a:t>マスター サブタイトルの書式設定</a:t>
            </a:r>
            <a:endParaRPr lang="en-US" dirty="0"/>
          </a:p>
        </p:txBody>
      </p:sp>
      <p:sp>
        <p:nvSpPr>
          <p:cNvPr id="10" name="タイトル 9">
            <a:extLst>
              <a:ext uri="{FF2B5EF4-FFF2-40B4-BE49-F238E27FC236}">
                <a16:creationId xmlns:a16="http://schemas.microsoft.com/office/drawing/2014/main" id="{C82F0508-9BC1-48D9-A7F5-332731FB3AC0}"/>
              </a:ext>
            </a:extLst>
          </p:cNvPr>
          <p:cNvSpPr>
            <a:spLocks noGrp="1"/>
          </p:cNvSpPr>
          <p:nvPr>
            <p:ph type="title"/>
          </p:nvPr>
        </p:nvSpPr>
        <p:spPr>
          <a:xfrm>
            <a:off x="766885" y="1243915"/>
            <a:ext cx="8372230" cy="2078037"/>
          </a:xfrm>
          <a:prstGeom prst="rect">
            <a:avLst/>
          </a:prstGeom>
        </p:spPr>
        <p:txBody>
          <a:bodyPr anchor="ctr" anchorCtr="1">
            <a:normAutofit/>
          </a:bodyPr>
          <a:lstStyle>
            <a:lvl1pPr>
              <a:defRPr sz="3600"/>
            </a:lvl1pPr>
          </a:lstStyle>
          <a:p>
            <a:r>
              <a:rPr lang="ja-JP" altLang="en-US"/>
              <a:t>マスター タイトルの書式設定</a:t>
            </a:r>
            <a:endParaRPr lang="en-US" dirty="0"/>
          </a:p>
        </p:txBody>
      </p:sp>
      <p:cxnSp>
        <p:nvCxnSpPr>
          <p:cNvPr id="20" name="直線コネクタ 19">
            <a:extLst>
              <a:ext uri="{FF2B5EF4-FFF2-40B4-BE49-F238E27FC236}">
                <a16:creationId xmlns:a16="http://schemas.microsoft.com/office/drawing/2014/main" id="{A35AF668-149E-41EA-8F56-12650BA0F84F}"/>
              </a:ext>
            </a:extLst>
          </p:cNvPr>
          <p:cNvCxnSpPr>
            <a:cxnSpLocks/>
          </p:cNvCxnSpPr>
          <p:nvPr userDrawn="1"/>
        </p:nvCxnSpPr>
        <p:spPr>
          <a:xfrm>
            <a:off x="0" y="725864"/>
            <a:ext cx="9906000" cy="0"/>
          </a:xfrm>
          <a:prstGeom prst="line">
            <a:avLst/>
          </a:prstGeom>
          <a:ln w="19050">
            <a:solidFill>
              <a:schemeClr val="tx1">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26" name="コンテンツ プレースホルダー 25">
            <a:extLst>
              <a:ext uri="{FF2B5EF4-FFF2-40B4-BE49-F238E27FC236}">
                <a16:creationId xmlns:a16="http://schemas.microsoft.com/office/drawing/2014/main" id="{0F8866CA-4AB9-4957-9BBE-9221BB6943C2}"/>
              </a:ext>
            </a:extLst>
          </p:cNvPr>
          <p:cNvSpPr>
            <a:spLocks noGrp="1"/>
          </p:cNvSpPr>
          <p:nvPr>
            <p:ph sz="quarter" idx="14" hasCustomPrompt="1"/>
          </p:nvPr>
        </p:nvSpPr>
        <p:spPr>
          <a:xfrm>
            <a:off x="5154695" y="5005634"/>
            <a:ext cx="4450040" cy="1611976"/>
          </a:xfrm>
          <a:prstGeom prst="rect">
            <a:avLst/>
          </a:prstGeom>
        </p:spPr>
        <p:txBody>
          <a:bodyPr/>
          <a:lstStyle>
            <a:lvl1pPr marL="0" indent="0">
              <a:buNone/>
              <a:defRPr/>
            </a:lvl1pPr>
          </a:lstStyle>
          <a:p>
            <a:pPr lvl="0"/>
            <a:r>
              <a:rPr lang="ja-JP" altLang="en-US" dirty="0"/>
              <a:t>名前などなど</a:t>
            </a:r>
            <a:endParaRPr lang="en-US" dirty="0"/>
          </a:p>
        </p:txBody>
      </p:sp>
      <p:sp>
        <p:nvSpPr>
          <p:cNvPr id="27" name="フッター プレースホルダー 5">
            <a:extLst>
              <a:ext uri="{FF2B5EF4-FFF2-40B4-BE49-F238E27FC236}">
                <a16:creationId xmlns:a16="http://schemas.microsoft.com/office/drawing/2014/main" id="{1BC7DA1C-B5D7-4572-BA6A-9279CF435D34}"/>
              </a:ext>
            </a:extLst>
          </p:cNvPr>
          <p:cNvSpPr>
            <a:spLocks noGrp="1"/>
          </p:cNvSpPr>
          <p:nvPr>
            <p:ph type="ftr" sz="quarter" idx="11"/>
          </p:nvPr>
        </p:nvSpPr>
        <p:spPr>
          <a:xfrm>
            <a:off x="3281363" y="6356352"/>
            <a:ext cx="3343275" cy="365125"/>
          </a:xfrm>
          <a:prstGeom prst="rect">
            <a:avLst/>
          </a:prstGeom>
        </p:spPr>
        <p:txBody>
          <a:bodyPr/>
          <a:lstStyle/>
          <a:p>
            <a:endParaRPr lang="en-US"/>
          </a:p>
        </p:txBody>
      </p:sp>
      <p:sp>
        <p:nvSpPr>
          <p:cNvPr id="31" name="コンテンツ プレースホルダー 30">
            <a:extLst>
              <a:ext uri="{FF2B5EF4-FFF2-40B4-BE49-F238E27FC236}">
                <a16:creationId xmlns:a16="http://schemas.microsoft.com/office/drawing/2014/main" id="{F7B80C78-A1F8-467A-9309-35D1629FFC88}"/>
              </a:ext>
            </a:extLst>
          </p:cNvPr>
          <p:cNvSpPr>
            <a:spLocks noGrp="1"/>
          </p:cNvSpPr>
          <p:nvPr>
            <p:ph sz="quarter" idx="16" hasCustomPrompt="1"/>
          </p:nvPr>
        </p:nvSpPr>
        <p:spPr>
          <a:xfrm>
            <a:off x="123827" y="93599"/>
            <a:ext cx="9015289" cy="525214"/>
          </a:xfrm>
          <a:prstGeom prst="rect">
            <a:avLst/>
          </a:prstGeom>
        </p:spPr>
        <p:txBody>
          <a:bodyPr anchor="ctr" anchorCtr="0"/>
          <a:lstStyle>
            <a:lvl1pPr marL="0" indent="0">
              <a:buNone/>
              <a:defRPr sz="2100" b="1"/>
            </a:lvl1pPr>
          </a:lstStyle>
          <a:p>
            <a:pPr lvl="0"/>
            <a:r>
              <a:rPr lang="ja-JP" altLang="en-US" dirty="0"/>
              <a:t>タイトル</a:t>
            </a:r>
            <a:endParaRPr lang="en-US" dirty="0"/>
          </a:p>
        </p:txBody>
      </p:sp>
    </p:spTree>
    <p:extLst>
      <p:ext uri="{BB962C8B-B14F-4D97-AF65-F5344CB8AC3E}">
        <p14:creationId xmlns:p14="http://schemas.microsoft.com/office/powerpoint/2010/main" val="31020939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 つのコンテンツ">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E0C0FAB2-A9F2-4B3C-B518-24524B7E5662}"/>
              </a:ext>
            </a:extLst>
          </p:cNvPr>
          <p:cNvSpPr>
            <a:spLocks noGrp="1"/>
          </p:cNvSpPr>
          <p:nvPr>
            <p:ph sz="half" idx="1" hasCustomPrompt="1"/>
          </p:nvPr>
        </p:nvSpPr>
        <p:spPr>
          <a:xfrm>
            <a:off x="569341" y="1036948"/>
            <a:ext cx="4217709" cy="5319402"/>
          </a:xfrm>
          <a:prstGeom prst="rect">
            <a:avLst/>
          </a:prstGeom>
        </p:spPr>
        <p:txBody>
          <a:bodyPr/>
          <a:lstStyle>
            <a:lvl1pPr marL="0" indent="0">
              <a:buNone/>
              <a:defRPr sz="1600"/>
            </a:lvl1pPr>
          </a:lstStyle>
          <a:p>
            <a:pPr lvl="0"/>
            <a:r>
              <a:rPr lang="ja-JP" altLang="en-US" dirty="0"/>
              <a:t>本文</a:t>
            </a:r>
            <a:endParaRPr lang="en-US" dirty="0"/>
          </a:p>
        </p:txBody>
      </p:sp>
      <p:sp>
        <p:nvSpPr>
          <p:cNvPr id="4" name="コンテンツ プレースホルダー 3">
            <a:extLst>
              <a:ext uri="{FF2B5EF4-FFF2-40B4-BE49-F238E27FC236}">
                <a16:creationId xmlns:a16="http://schemas.microsoft.com/office/drawing/2014/main" id="{A0D7B414-1B18-4F33-9452-A92B3D09ABBC}"/>
              </a:ext>
            </a:extLst>
          </p:cNvPr>
          <p:cNvSpPr>
            <a:spLocks noGrp="1"/>
          </p:cNvSpPr>
          <p:nvPr>
            <p:ph sz="half" idx="2" hasCustomPrompt="1"/>
          </p:nvPr>
        </p:nvSpPr>
        <p:spPr>
          <a:xfrm>
            <a:off x="5118951" y="1036948"/>
            <a:ext cx="4217710" cy="5319402"/>
          </a:xfrm>
          <a:prstGeom prst="rect">
            <a:avLst/>
          </a:prstGeom>
        </p:spPr>
        <p:txBody>
          <a:bodyPr/>
          <a:lstStyle>
            <a:lvl1pPr marL="0" indent="0">
              <a:buNone/>
              <a:defRPr sz="1600"/>
            </a:lvl1pPr>
          </a:lstStyle>
          <a:p>
            <a:pPr lvl="0"/>
            <a:r>
              <a:rPr lang="ja-JP" altLang="en-US" dirty="0"/>
              <a:t>本文</a:t>
            </a:r>
            <a:endParaRPr lang="en-US" dirty="0"/>
          </a:p>
        </p:txBody>
      </p:sp>
      <p:sp>
        <p:nvSpPr>
          <p:cNvPr id="6" name="フッター プレースホルダー 5">
            <a:extLst>
              <a:ext uri="{FF2B5EF4-FFF2-40B4-BE49-F238E27FC236}">
                <a16:creationId xmlns:a16="http://schemas.microsoft.com/office/drawing/2014/main" id="{35CEE59A-712E-4584-A46F-555D873EE714}"/>
              </a:ext>
            </a:extLst>
          </p:cNvPr>
          <p:cNvSpPr>
            <a:spLocks noGrp="1"/>
          </p:cNvSpPr>
          <p:nvPr>
            <p:ph type="ftr" sz="quarter" idx="11"/>
          </p:nvPr>
        </p:nvSpPr>
        <p:spPr>
          <a:xfrm>
            <a:off x="3281363" y="6356352"/>
            <a:ext cx="3343275" cy="365125"/>
          </a:xfrm>
          <a:prstGeom prst="rect">
            <a:avLst/>
          </a:prstGeom>
        </p:spPr>
        <p:txBody>
          <a:bodyPr/>
          <a:lstStyle/>
          <a:p>
            <a:endParaRPr lang="en-US"/>
          </a:p>
        </p:txBody>
      </p:sp>
      <p:sp>
        <p:nvSpPr>
          <p:cNvPr id="10" name="コンテンツ プレースホルダー 30">
            <a:extLst>
              <a:ext uri="{FF2B5EF4-FFF2-40B4-BE49-F238E27FC236}">
                <a16:creationId xmlns:a16="http://schemas.microsoft.com/office/drawing/2014/main" id="{49454B7E-400A-47A5-AB34-DCBAD0AF9668}"/>
              </a:ext>
            </a:extLst>
          </p:cNvPr>
          <p:cNvSpPr>
            <a:spLocks noGrp="1"/>
          </p:cNvSpPr>
          <p:nvPr>
            <p:ph sz="quarter" idx="16" hasCustomPrompt="1"/>
          </p:nvPr>
        </p:nvSpPr>
        <p:spPr>
          <a:xfrm>
            <a:off x="123825" y="93599"/>
            <a:ext cx="9018182" cy="525214"/>
          </a:xfrm>
          <a:prstGeom prst="rect">
            <a:avLst/>
          </a:prstGeom>
        </p:spPr>
        <p:txBody>
          <a:bodyPr anchor="ctr" anchorCtr="0"/>
          <a:lstStyle>
            <a:lvl1pPr marL="0" indent="0">
              <a:buNone/>
              <a:defRPr sz="2100" b="1"/>
            </a:lvl1pPr>
          </a:lstStyle>
          <a:p>
            <a:pPr lvl="0"/>
            <a:r>
              <a:rPr lang="ja-JP" altLang="en-US" dirty="0"/>
              <a:t>タイトル</a:t>
            </a:r>
            <a:endParaRPr lang="en-US" dirty="0"/>
          </a:p>
        </p:txBody>
      </p:sp>
      <p:cxnSp>
        <p:nvCxnSpPr>
          <p:cNvPr id="8" name="直線コネクタ 19">
            <a:extLst>
              <a:ext uri="{FF2B5EF4-FFF2-40B4-BE49-F238E27FC236}">
                <a16:creationId xmlns:a16="http://schemas.microsoft.com/office/drawing/2014/main" id="{E124DAD4-12E8-24CF-DDF1-EB21A2A880AD}"/>
              </a:ext>
            </a:extLst>
          </p:cNvPr>
          <p:cNvCxnSpPr>
            <a:cxnSpLocks/>
          </p:cNvCxnSpPr>
          <p:nvPr userDrawn="1"/>
        </p:nvCxnSpPr>
        <p:spPr>
          <a:xfrm>
            <a:off x="0" y="725864"/>
            <a:ext cx="9906000" cy="0"/>
          </a:xfrm>
          <a:prstGeom prst="line">
            <a:avLst/>
          </a:prstGeom>
          <a:ln w="19050">
            <a:solidFill>
              <a:schemeClr val="tx1">
                <a:lumMod val="60000"/>
                <a:lumOff val="4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341038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つのコンテンツ">
    <p:spTree>
      <p:nvGrpSpPr>
        <p:cNvPr id="1" name=""/>
        <p:cNvGrpSpPr/>
        <p:nvPr/>
      </p:nvGrpSpPr>
      <p:grpSpPr>
        <a:xfrm>
          <a:off x="0" y="0"/>
          <a:ext cx="0" cy="0"/>
          <a:chOff x="0" y="0"/>
          <a:chExt cx="0" cy="0"/>
        </a:xfrm>
      </p:grpSpPr>
      <p:sp>
        <p:nvSpPr>
          <p:cNvPr id="9" name="フッター プレースホルダー 4">
            <a:extLst>
              <a:ext uri="{FF2B5EF4-FFF2-40B4-BE49-F238E27FC236}">
                <a16:creationId xmlns:a16="http://schemas.microsoft.com/office/drawing/2014/main" id="{EFAD21B6-C914-4376-93DE-45104B7F7B22}"/>
              </a:ext>
            </a:extLst>
          </p:cNvPr>
          <p:cNvSpPr>
            <a:spLocks noGrp="1"/>
          </p:cNvSpPr>
          <p:nvPr>
            <p:ph type="ftr" sz="quarter" idx="3"/>
          </p:nvPr>
        </p:nvSpPr>
        <p:spPr>
          <a:xfrm>
            <a:off x="3281363" y="6356352"/>
            <a:ext cx="3343275"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dirty="0"/>
          </a:p>
        </p:txBody>
      </p:sp>
      <p:sp>
        <p:nvSpPr>
          <p:cNvPr id="14" name="コンテンツ プレースホルダー 13">
            <a:extLst>
              <a:ext uri="{FF2B5EF4-FFF2-40B4-BE49-F238E27FC236}">
                <a16:creationId xmlns:a16="http://schemas.microsoft.com/office/drawing/2014/main" id="{C326FFC7-AF17-4503-9AAB-9E641C053071}"/>
              </a:ext>
            </a:extLst>
          </p:cNvPr>
          <p:cNvSpPr>
            <a:spLocks noGrp="1"/>
          </p:cNvSpPr>
          <p:nvPr>
            <p:ph sz="quarter" idx="17" hasCustomPrompt="1"/>
          </p:nvPr>
        </p:nvSpPr>
        <p:spPr>
          <a:xfrm>
            <a:off x="569341" y="1046377"/>
            <a:ext cx="8767320" cy="5309975"/>
          </a:xfrm>
          <a:prstGeom prst="rect">
            <a:avLst/>
          </a:prstGeom>
        </p:spPr>
        <p:txBody>
          <a:bodyPr/>
          <a:lstStyle>
            <a:lvl1pPr marL="0" indent="0">
              <a:buNone/>
              <a:defRPr sz="1600"/>
            </a:lvl1pPr>
          </a:lstStyle>
          <a:p>
            <a:pPr lvl="0"/>
            <a:r>
              <a:rPr lang="ja-JP" altLang="en-US" dirty="0"/>
              <a:t>本文</a:t>
            </a:r>
            <a:endParaRPr lang="en-US" dirty="0"/>
          </a:p>
        </p:txBody>
      </p:sp>
      <p:cxnSp>
        <p:nvCxnSpPr>
          <p:cNvPr id="7" name="直線コネクタ 19">
            <a:extLst>
              <a:ext uri="{FF2B5EF4-FFF2-40B4-BE49-F238E27FC236}">
                <a16:creationId xmlns:a16="http://schemas.microsoft.com/office/drawing/2014/main" id="{074EB4F2-5F06-92BD-9890-AEE1F718678C}"/>
              </a:ext>
            </a:extLst>
          </p:cNvPr>
          <p:cNvCxnSpPr>
            <a:cxnSpLocks/>
          </p:cNvCxnSpPr>
          <p:nvPr userDrawn="1"/>
        </p:nvCxnSpPr>
        <p:spPr>
          <a:xfrm>
            <a:off x="0" y="725864"/>
            <a:ext cx="9906000" cy="0"/>
          </a:xfrm>
          <a:prstGeom prst="line">
            <a:avLst/>
          </a:prstGeom>
          <a:ln w="19050">
            <a:solidFill>
              <a:schemeClr val="tx1">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10" name="コンテンツ プレースホルダー 30">
            <a:extLst>
              <a:ext uri="{FF2B5EF4-FFF2-40B4-BE49-F238E27FC236}">
                <a16:creationId xmlns:a16="http://schemas.microsoft.com/office/drawing/2014/main" id="{5C21FBAB-FD3A-E0EC-66AA-DE757C815A51}"/>
              </a:ext>
            </a:extLst>
          </p:cNvPr>
          <p:cNvSpPr>
            <a:spLocks noGrp="1"/>
          </p:cNvSpPr>
          <p:nvPr>
            <p:ph sz="quarter" idx="16" hasCustomPrompt="1"/>
          </p:nvPr>
        </p:nvSpPr>
        <p:spPr>
          <a:xfrm>
            <a:off x="123825" y="93599"/>
            <a:ext cx="9018182" cy="525214"/>
          </a:xfrm>
          <a:prstGeom prst="rect">
            <a:avLst/>
          </a:prstGeom>
        </p:spPr>
        <p:txBody>
          <a:bodyPr anchor="ctr" anchorCtr="0"/>
          <a:lstStyle>
            <a:lvl1pPr marL="0" indent="0">
              <a:buNone/>
              <a:defRPr sz="2100" b="1"/>
            </a:lvl1pPr>
          </a:lstStyle>
          <a:p>
            <a:pPr lvl="0"/>
            <a:r>
              <a:rPr lang="ja-JP" altLang="en-US" dirty="0"/>
              <a:t>タイトル</a:t>
            </a:r>
            <a:endParaRPr lang="en-US" dirty="0"/>
          </a:p>
        </p:txBody>
      </p:sp>
    </p:spTree>
    <p:extLst>
      <p:ext uri="{BB962C8B-B14F-4D97-AF65-F5344CB8AC3E}">
        <p14:creationId xmlns:p14="http://schemas.microsoft.com/office/powerpoint/2010/main" val="28252040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つのコンテンツ、2つまでの引用">
    <p:spTree>
      <p:nvGrpSpPr>
        <p:cNvPr id="1" name=""/>
        <p:cNvGrpSpPr/>
        <p:nvPr/>
      </p:nvGrpSpPr>
      <p:grpSpPr>
        <a:xfrm>
          <a:off x="0" y="0"/>
          <a:ext cx="0" cy="0"/>
          <a:chOff x="0" y="0"/>
          <a:chExt cx="0" cy="0"/>
        </a:xfrm>
      </p:grpSpPr>
      <p:sp>
        <p:nvSpPr>
          <p:cNvPr id="9" name="フッター プレースホルダー 4">
            <a:extLst>
              <a:ext uri="{FF2B5EF4-FFF2-40B4-BE49-F238E27FC236}">
                <a16:creationId xmlns:a16="http://schemas.microsoft.com/office/drawing/2014/main" id="{EFAD21B6-C914-4376-93DE-45104B7F7B22}"/>
              </a:ext>
            </a:extLst>
          </p:cNvPr>
          <p:cNvSpPr>
            <a:spLocks noGrp="1"/>
          </p:cNvSpPr>
          <p:nvPr>
            <p:ph type="ftr" sz="quarter" idx="3"/>
          </p:nvPr>
        </p:nvSpPr>
        <p:spPr>
          <a:xfrm>
            <a:off x="3281363" y="6356352"/>
            <a:ext cx="3343275"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dirty="0"/>
          </a:p>
        </p:txBody>
      </p:sp>
      <p:sp>
        <p:nvSpPr>
          <p:cNvPr id="14" name="コンテンツ プレースホルダー 13">
            <a:extLst>
              <a:ext uri="{FF2B5EF4-FFF2-40B4-BE49-F238E27FC236}">
                <a16:creationId xmlns:a16="http://schemas.microsoft.com/office/drawing/2014/main" id="{C326FFC7-AF17-4503-9AAB-9E641C053071}"/>
              </a:ext>
            </a:extLst>
          </p:cNvPr>
          <p:cNvSpPr>
            <a:spLocks noGrp="1"/>
          </p:cNvSpPr>
          <p:nvPr>
            <p:ph sz="quarter" idx="17" hasCustomPrompt="1"/>
          </p:nvPr>
        </p:nvSpPr>
        <p:spPr>
          <a:xfrm>
            <a:off x="569341" y="1046377"/>
            <a:ext cx="8767320" cy="5309975"/>
          </a:xfrm>
          <a:prstGeom prst="rect">
            <a:avLst/>
          </a:prstGeom>
        </p:spPr>
        <p:txBody>
          <a:bodyPr/>
          <a:lstStyle>
            <a:lvl1pPr marL="0" indent="0">
              <a:buNone/>
              <a:defRPr sz="1600"/>
            </a:lvl1pPr>
          </a:lstStyle>
          <a:p>
            <a:pPr lvl="0"/>
            <a:r>
              <a:rPr lang="ja-JP" altLang="en-US" dirty="0"/>
              <a:t>本文</a:t>
            </a:r>
            <a:endParaRPr lang="en-US" dirty="0"/>
          </a:p>
        </p:txBody>
      </p:sp>
      <p:cxnSp>
        <p:nvCxnSpPr>
          <p:cNvPr id="7" name="直線コネクタ 19">
            <a:extLst>
              <a:ext uri="{FF2B5EF4-FFF2-40B4-BE49-F238E27FC236}">
                <a16:creationId xmlns:a16="http://schemas.microsoft.com/office/drawing/2014/main" id="{074EB4F2-5F06-92BD-9890-AEE1F718678C}"/>
              </a:ext>
            </a:extLst>
          </p:cNvPr>
          <p:cNvCxnSpPr>
            <a:cxnSpLocks/>
          </p:cNvCxnSpPr>
          <p:nvPr userDrawn="1"/>
        </p:nvCxnSpPr>
        <p:spPr>
          <a:xfrm>
            <a:off x="0" y="725864"/>
            <a:ext cx="9906000" cy="0"/>
          </a:xfrm>
          <a:prstGeom prst="line">
            <a:avLst/>
          </a:prstGeom>
          <a:ln w="19050">
            <a:solidFill>
              <a:schemeClr val="tx1">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10" name="コンテンツ プレースホルダー 30">
            <a:extLst>
              <a:ext uri="{FF2B5EF4-FFF2-40B4-BE49-F238E27FC236}">
                <a16:creationId xmlns:a16="http://schemas.microsoft.com/office/drawing/2014/main" id="{5C21FBAB-FD3A-E0EC-66AA-DE757C815A51}"/>
              </a:ext>
            </a:extLst>
          </p:cNvPr>
          <p:cNvSpPr>
            <a:spLocks noGrp="1"/>
          </p:cNvSpPr>
          <p:nvPr>
            <p:ph sz="quarter" idx="16" hasCustomPrompt="1"/>
          </p:nvPr>
        </p:nvSpPr>
        <p:spPr>
          <a:xfrm>
            <a:off x="123825" y="93599"/>
            <a:ext cx="9018182" cy="525214"/>
          </a:xfrm>
          <a:prstGeom prst="rect">
            <a:avLst/>
          </a:prstGeom>
        </p:spPr>
        <p:txBody>
          <a:bodyPr anchor="ctr" anchorCtr="0"/>
          <a:lstStyle>
            <a:lvl1pPr marL="0" indent="0">
              <a:buNone/>
              <a:defRPr sz="2100" b="1"/>
            </a:lvl1pPr>
          </a:lstStyle>
          <a:p>
            <a:pPr lvl="0"/>
            <a:r>
              <a:rPr lang="ja-JP" altLang="en-US" dirty="0"/>
              <a:t>タイトル</a:t>
            </a:r>
            <a:endParaRPr lang="en-US" dirty="0"/>
          </a:p>
        </p:txBody>
      </p:sp>
      <p:cxnSp>
        <p:nvCxnSpPr>
          <p:cNvPr id="8" name="直線コネクタ 12">
            <a:extLst>
              <a:ext uri="{FF2B5EF4-FFF2-40B4-BE49-F238E27FC236}">
                <a16:creationId xmlns:a16="http://schemas.microsoft.com/office/drawing/2014/main" id="{3D722369-D19D-6517-D4B3-16B645F54C0E}"/>
              </a:ext>
            </a:extLst>
          </p:cNvPr>
          <p:cNvCxnSpPr>
            <a:cxnSpLocks/>
          </p:cNvCxnSpPr>
          <p:nvPr userDrawn="1"/>
        </p:nvCxnSpPr>
        <p:spPr>
          <a:xfrm>
            <a:off x="149547" y="6488772"/>
            <a:ext cx="9643242" cy="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504428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1つのコンテンツ、4つまでの引用">
    <p:spTree>
      <p:nvGrpSpPr>
        <p:cNvPr id="1" name=""/>
        <p:cNvGrpSpPr/>
        <p:nvPr/>
      </p:nvGrpSpPr>
      <p:grpSpPr>
        <a:xfrm>
          <a:off x="0" y="0"/>
          <a:ext cx="0" cy="0"/>
          <a:chOff x="0" y="0"/>
          <a:chExt cx="0" cy="0"/>
        </a:xfrm>
      </p:grpSpPr>
      <p:sp>
        <p:nvSpPr>
          <p:cNvPr id="9" name="フッター プレースホルダー 4">
            <a:extLst>
              <a:ext uri="{FF2B5EF4-FFF2-40B4-BE49-F238E27FC236}">
                <a16:creationId xmlns:a16="http://schemas.microsoft.com/office/drawing/2014/main" id="{EFAD21B6-C914-4376-93DE-45104B7F7B22}"/>
              </a:ext>
            </a:extLst>
          </p:cNvPr>
          <p:cNvSpPr>
            <a:spLocks noGrp="1"/>
          </p:cNvSpPr>
          <p:nvPr>
            <p:ph type="ftr" sz="quarter" idx="3"/>
          </p:nvPr>
        </p:nvSpPr>
        <p:spPr>
          <a:xfrm>
            <a:off x="3281363" y="6356352"/>
            <a:ext cx="3343275"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dirty="0"/>
          </a:p>
        </p:txBody>
      </p:sp>
      <p:sp>
        <p:nvSpPr>
          <p:cNvPr id="14" name="コンテンツ プレースホルダー 13">
            <a:extLst>
              <a:ext uri="{FF2B5EF4-FFF2-40B4-BE49-F238E27FC236}">
                <a16:creationId xmlns:a16="http://schemas.microsoft.com/office/drawing/2014/main" id="{C326FFC7-AF17-4503-9AAB-9E641C053071}"/>
              </a:ext>
            </a:extLst>
          </p:cNvPr>
          <p:cNvSpPr>
            <a:spLocks noGrp="1"/>
          </p:cNvSpPr>
          <p:nvPr>
            <p:ph sz="quarter" idx="17" hasCustomPrompt="1"/>
          </p:nvPr>
        </p:nvSpPr>
        <p:spPr>
          <a:xfrm>
            <a:off x="569341" y="1046378"/>
            <a:ext cx="8767320" cy="4912564"/>
          </a:xfrm>
          <a:prstGeom prst="rect">
            <a:avLst/>
          </a:prstGeom>
        </p:spPr>
        <p:txBody>
          <a:bodyPr/>
          <a:lstStyle>
            <a:lvl1pPr marL="0" indent="0">
              <a:buNone/>
              <a:defRPr sz="1600"/>
            </a:lvl1pPr>
          </a:lstStyle>
          <a:p>
            <a:pPr lvl="0"/>
            <a:r>
              <a:rPr lang="ja-JP" altLang="en-US" dirty="0"/>
              <a:t>本文</a:t>
            </a:r>
            <a:endParaRPr lang="en-US" dirty="0"/>
          </a:p>
        </p:txBody>
      </p:sp>
      <p:cxnSp>
        <p:nvCxnSpPr>
          <p:cNvPr id="7" name="直線コネクタ 19">
            <a:extLst>
              <a:ext uri="{FF2B5EF4-FFF2-40B4-BE49-F238E27FC236}">
                <a16:creationId xmlns:a16="http://schemas.microsoft.com/office/drawing/2014/main" id="{074EB4F2-5F06-92BD-9890-AEE1F718678C}"/>
              </a:ext>
            </a:extLst>
          </p:cNvPr>
          <p:cNvCxnSpPr>
            <a:cxnSpLocks/>
          </p:cNvCxnSpPr>
          <p:nvPr userDrawn="1"/>
        </p:nvCxnSpPr>
        <p:spPr>
          <a:xfrm>
            <a:off x="0" y="725864"/>
            <a:ext cx="9906000" cy="0"/>
          </a:xfrm>
          <a:prstGeom prst="line">
            <a:avLst/>
          </a:prstGeom>
          <a:ln w="19050">
            <a:solidFill>
              <a:schemeClr val="tx1">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10" name="コンテンツ プレースホルダー 30">
            <a:extLst>
              <a:ext uri="{FF2B5EF4-FFF2-40B4-BE49-F238E27FC236}">
                <a16:creationId xmlns:a16="http://schemas.microsoft.com/office/drawing/2014/main" id="{5C21FBAB-FD3A-E0EC-66AA-DE757C815A51}"/>
              </a:ext>
            </a:extLst>
          </p:cNvPr>
          <p:cNvSpPr>
            <a:spLocks noGrp="1"/>
          </p:cNvSpPr>
          <p:nvPr>
            <p:ph sz="quarter" idx="16" hasCustomPrompt="1"/>
          </p:nvPr>
        </p:nvSpPr>
        <p:spPr>
          <a:xfrm>
            <a:off x="123825" y="93599"/>
            <a:ext cx="9018182" cy="525214"/>
          </a:xfrm>
          <a:prstGeom prst="rect">
            <a:avLst/>
          </a:prstGeom>
        </p:spPr>
        <p:txBody>
          <a:bodyPr anchor="ctr" anchorCtr="0"/>
          <a:lstStyle>
            <a:lvl1pPr marL="0" indent="0">
              <a:buNone/>
              <a:defRPr sz="2100" b="1"/>
            </a:lvl1pPr>
          </a:lstStyle>
          <a:p>
            <a:pPr lvl="0"/>
            <a:r>
              <a:rPr lang="ja-JP" altLang="en-US" dirty="0"/>
              <a:t>タイトル</a:t>
            </a:r>
            <a:endParaRPr lang="en-US" dirty="0"/>
          </a:p>
        </p:txBody>
      </p:sp>
      <p:cxnSp>
        <p:nvCxnSpPr>
          <p:cNvPr id="8" name="直線コネクタ 12">
            <a:extLst>
              <a:ext uri="{FF2B5EF4-FFF2-40B4-BE49-F238E27FC236}">
                <a16:creationId xmlns:a16="http://schemas.microsoft.com/office/drawing/2014/main" id="{3D722369-D19D-6517-D4B3-16B645F54C0E}"/>
              </a:ext>
            </a:extLst>
          </p:cNvPr>
          <p:cNvCxnSpPr>
            <a:cxnSpLocks/>
          </p:cNvCxnSpPr>
          <p:nvPr userDrawn="1"/>
        </p:nvCxnSpPr>
        <p:spPr>
          <a:xfrm>
            <a:off x="149547" y="6126689"/>
            <a:ext cx="9643242" cy="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986498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_1つのコンテンツ、いっぱいの引用">
    <p:spTree>
      <p:nvGrpSpPr>
        <p:cNvPr id="1" name=""/>
        <p:cNvGrpSpPr/>
        <p:nvPr/>
      </p:nvGrpSpPr>
      <p:grpSpPr>
        <a:xfrm>
          <a:off x="0" y="0"/>
          <a:ext cx="0" cy="0"/>
          <a:chOff x="0" y="0"/>
          <a:chExt cx="0" cy="0"/>
        </a:xfrm>
      </p:grpSpPr>
      <p:sp>
        <p:nvSpPr>
          <p:cNvPr id="9" name="フッター プレースホルダー 4">
            <a:extLst>
              <a:ext uri="{FF2B5EF4-FFF2-40B4-BE49-F238E27FC236}">
                <a16:creationId xmlns:a16="http://schemas.microsoft.com/office/drawing/2014/main" id="{EFAD21B6-C914-4376-93DE-45104B7F7B22}"/>
              </a:ext>
            </a:extLst>
          </p:cNvPr>
          <p:cNvSpPr>
            <a:spLocks noGrp="1"/>
          </p:cNvSpPr>
          <p:nvPr>
            <p:ph type="ftr" sz="quarter" idx="3"/>
          </p:nvPr>
        </p:nvSpPr>
        <p:spPr>
          <a:xfrm>
            <a:off x="3281363" y="6356352"/>
            <a:ext cx="3343275"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dirty="0"/>
          </a:p>
        </p:txBody>
      </p:sp>
      <p:sp>
        <p:nvSpPr>
          <p:cNvPr id="14" name="コンテンツ プレースホルダー 13">
            <a:extLst>
              <a:ext uri="{FF2B5EF4-FFF2-40B4-BE49-F238E27FC236}">
                <a16:creationId xmlns:a16="http://schemas.microsoft.com/office/drawing/2014/main" id="{C326FFC7-AF17-4503-9AAB-9E641C053071}"/>
              </a:ext>
            </a:extLst>
          </p:cNvPr>
          <p:cNvSpPr>
            <a:spLocks noGrp="1"/>
          </p:cNvSpPr>
          <p:nvPr>
            <p:ph sz="quarter" idx="17" hasCustomPrompt="1"/>
          </p:nvPr>
        </p:nvSpPr>
        <p:spPr>
          <a:xfrm>
            <a:off x="569341" y="1046378"/>
            <a:ext cx="8767320" cy="4046995"/>
          </a:xfrm>
          <a:prstGeom prst="rect">
            <a:avLst/>
          </a:prstGeom>
        </p:spPr>
        <p:txBody>
          <a:bodyPr/>
          <a:lstStyle>
            <a:lvl1pPr marL="0" indent="0">
              <a:buNone/>
              <a:defRPr sz="1600"/>
            </a:lvl1pPr>
          </a:lstStyle>
          <a:p>
            <a:pPr lvl="0"/>
            <a:r>
              <a:rPr lang="ja-JP" altLang="en-US" dirty="0"/>
              <a:t>本文</a:t>
            </a:r>
            <a:endParaRPr lang="en-US" dirty="0"/>
          </a:p>
        </p:txBody>
      </p:sp>
      <p:cxnSp>
        <p:nvCxnSpPr>
          <p:cNvPr id="7" name="直線コネクタ 19">
            <a:extLst>
              <a:ext uri="{FF2B5EF4-FFF2-40B4-BE49-F238E27FC236}">
                <a16:creationId xmlns:a16="http://schemas.microsoft.com/office/drawing/2014/main" id="{074EB4F2-5F06-92BD-9890-AEE1F718678C}"/>
              </a:ext>
            </a:extLst>
          </p:cNvPr>
          <p:cNvCxnSpPr>
            <a:cxnSpLocks/>
          </p:cNvCxnSpPr>
          <p:nvPr userDrawn="1"/>
        </p:nvCxnSpPr>
        <p:spPr>
          <a:xfrm>
            <a:off x="0" y="725864"/>
            <a:ext cx="9906000" cy="0"/>
          </a:xfrm>
          <a:prstGeom prst="line">
            <a:avLst/>
          </a:prstGeom>
          <a:ln w="19050">
            <a:solidFill>
              <a:schemeClr val="tx1">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10" name="コンテンツ プレースホルダー 30">
            <a:extLst>
              <a:ext uri="{FF2B5EF4-FFF2-40B4-BE49-F238E27FC236}">
                <a16:creationId xmlns:a16="http://schemas.microsoft.com/office/drawing/2014/main" id="{5C21FBAB-FD3A-E0EC-66AA-DE757C815A51}"/>
              </a:ext>
            </a:extLst>
          </p:cNvPr>
          <p:cNvSpPr>
            <a:spLocks noGrp="1"/>
          </p:cNvSpPr>
          <p:nvPr>
            <p:ph sz="quarter" idx="16" hasCustomPrompt="1"/>
          </p:nvPr>
        </p:nvSpPr>
        <p:spPr>
          <a:xfrm>
            <a:off x="123825" y="93599"/>
            <a:ext cx="9018182" cy="525214"/>
          </a:xfrm>
          <a:prstGeom prst="rect">
            <a:avLst/>
          </a:prstGeom>
        </p:spPr>
        <p:txBody>
          <a:bodyPr anchor="ctr" anchorCtr="0"/>
          <a:lstStyle>
            <a:lvl1pPr marL="0" indent="0">
              <a:buNone/>
              <a:defRPr sz="2100" b="1"/>
            </a:lvl1pPr>
          </a:lstStyle>
          <a:p>
            <a:pPr lvl="0"/>
            <a:r>
              <a:rPr lang="ja-JP" altLang="en-US" dirty="0"/>
              <a:t>タイトル</a:t>
            </a:r>
            <a:endParaRPr lang="en-US" dirty="0"/>
          </a:p>
        </p:txBody>
      </p:sp>
      <p:cxnSp>
        <p:nvCxnSpPr>
          <p:cNvPr id="8" name="直線コネクタ 12">
            <a:extLst>
              <a:ext uri="{FF2B5EF4-FFF2-40B4-BE49-F238E27FC236}">
                <a16:creationId xmlns:a16="http://schemas.microsoft.com/office/drawing/2014/main" id="{3D722369-D19D-6517-D4B3-16B645F54C0E}"/>
              </a:ext>
            </a:extLst>
          </p:cNvPr>
          <p:cNvCxnSpPr>
            <a:cxnSpLocks/>
          </p:cNvCxnSpPr>
          <p:nvPr userDrawn="1"/>
        </p:nvCxnSpPr>
        <p:spPr>
          <a:xfrm>
            <a:off x="149547" y="5200427"/>
            <a:ext cx="9643242" cy="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025757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白紙">
    <p:spTree>
      <p:nvGrpSpPr>
        <p:cNvPr id="1" name=""/>
        <p:cNvGrpSpPr/>
        <p:nvPr/>
      </p:nvGrpSpPr>
      <p:grpSpPr>
        <a:xfrm>
          <a:off x="0" y="0"/>
          <a:ext cx="0" cy="0"/>
          <a:chOff x="0" y="0"/>
          <a:chExt cx="0" cy="0"/>
        </a:xfrm>
      </p:grpSpPr>
      <p:sp>
        <p:nvSpPr>
          <p:cNvPr id="4" name="フッター プレースホルダー 3">
            <a:extLst>
              <a:ext uri="{FF2B5EF4-FFF2-40B4-BE49-F238E27FC236}">
                <a16:creationId xmlns:a16="http://schemas.microsoft.com/office/drawing/2014/main" id="{6446EF14-7783-4EF7-AA0A-3B021F61F609}"/>
              </a:ext>
            </a:extLst>
          </p:cNvPr>
          <p:cNvSpPr>
            <a:spLocks noGrp="1"/>
          </p:cNvSpPr>
          <p:nvPr>
            <p:ph type="ftr" sz="quarter" idx="11"/>
          </p:nvPr>
        </p:nvSpPr>
        <p:spPr/>
        <p:txBody>
          <a:bodyPr/>
          <a:lstStyle/>
          <a:p>
            <a:endParaRPr lang="en-US" dirty="0"/>
          </a:p>
        </p:txBody>
      </p:sp>
    </p:spTree>
    <p:extLst>
      <p:ext uri="{BB962C8B-B14F-4D97-AF65-F5344CB8AC3E}">
        <p14:creationId xmlns:p14="http://schemas.microsoft.com/office/powerpoint/2010/main" val="40983298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フッター プレースホルダー 4">
            <a:extLst>
              <a:ext uri="{FF2B5EF4-FFF2-40B4-BE49-F238E27FC236}">
                <a16:creationId xmlns:a16="http://schemas.microsoft.com/office/drawing/2014/main" id="{5B330C0F-4F4C-4112-8E93-0FB05D046033}"/>
              </a:ext>
            </a:extLst>
          </p:cNvPr>
          <p:cNvSpPr>
            <a:spLocks noGrp="1"/>
          </p:cNvSpPr>
          <p:nvPr>
            <p:ph type="ftr" sz="quarter" idx="3"/>
          </p:nvPr>
        </p:nvSpPr>
        <p:spPr>
          <a:xfrm>
            <a:off x="3281363" y="6356352"/>
            <a:ext cx="3343275"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dirty="0"/>
          </a:p>
        </p:txBody>
      </p:sp>
      <p:sp>
        <p:nvSpPr>
          <p:cNvPr id="8" name="スライド番号プレースホルダー 8">
            <a:extLst>
              <a:ext uri="{FF2B5EF4-FFF2-40B4-BE49-F238E27FC236}">
                <a16:creationId xmlns:a16="http://schemas.microsoft.com/office/drawing/2014/main" id="{E4C20F36-0477-4157-90F1-481B3801CDAB}"/>
              </a:ext>
            </a:extLst>
          </p:cNvPr>
          <p:cNvSpPr txBox="1">
            <a:spLocks/>
          </p:cNvSpPr>
          <p:nvPr userDrawn="1"/>
        </p:nvSpPr>
        <p:spPr>
          <a:xfrm>
            <a:off x="9329617" y="68609"/>
            <a:ext cx="508065"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72D2193-934F-4ABA-AF5E-BAAF841B8E8B}" type="slidenum">
              <a:rPr lang="en-US" sz="1350" smtClean="0"/>
              <a:pPr/>
              <a:t>‹#›</a:t>
            </a:fld>
            <a:endParaRPr lang="en-US" sz="1350" dirty="0"/>
          </a:p>
        </p:txBody>
      </p:sp>
      <p:sp>
        <p:nvSpPr>
          <p:cNvPr id="6" name="日付プレースホルダー 3">
            <a:extLst>
              <a:ext uri="{FF2B5EF4-FFF2-40B4-BE49-F238E27FC236}">
                <a16:creationId xmlns:a16="http://schemas.microsoft.com/office/drawing/2014/main" id="{AB37F929-A103-406E-B52C-710ACD605810}"/>
              </a:ext>
            </a:extLst>
          </p:cNvPr>
          <p:cNvSpPr txBox="1">
            <a:spLocks/>
          </p:cNvSpPr>
          <p:nvPr userDrawn="1"/>
        </p:nvSpPr>
        <p:spPr>
          <a:xfrm>
            <a:off x="8667750" y="6435048"/>
            <a:ext cx="1183596"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C1C07C7-5269-4ABF-88CE-7C4B9569CDB4}" type="datetime1">
              <a:rPr lang="en-US" sz="1200" smtClean="0"/>
              <a:pPr/>
              <a:t>12/18/2024</a:t>
            </a:fld>
            <a:endParaRPr lang="en-US" sz="1200" dirty="0"/>
          </a:p>
        </p:txBody>
      </p:sp>
    </p:spTree>
    <p:extLst>
      <p:ext uri="{BB962C8B-B14F-4D97-AF65-F5344CB8AC3E}">
        <p14:creationId xmlns:p14="http://schemas.microsoft.com/office/powerpoint/2010/main" val="3483400429"/>
      </p:ext>
    </p:extLst>
  </p:cSld>
  <p:clrMap bg1="lt1" tx1="dk1" bg2="lt2" tx2="dk2" accent1="accent1" accent2="accent2" accent3="accent3" accent4="accent4" accent5="accent5" accent6="accent6" hlink="hlink" folHlink="folHlink"/>
  <p:sldLayoutIdLst>
    <p:sldLayoutId id="2147483649" r:id="rId1"/>
    <p:sldLayoutId id="2147483652" r:id="rId2"/>
    <p:sldLayoutId id="2147483655" r:id="rId3"/>
    <p:sldLayoutId id="2147483657" r:id="rId4"/>
    <p:sldLayoutId id="2147483658" r:id="rId5"/>
    <p:sldLayoutId id="2147483659" r:id="rId6"/>
    <p:sldLayoutId id="2147483656" r:id="rId7"/>
  </p:sldLayoutIdLst>
  <p:hf sldNum="0" hdr="0" ftr="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chart" Target="../charts/chart3.xml"/><Relationship Id="rId3" Type="http://schemas.openxmlformats.org/officeDocument/2006/relationships/hyperlink" Target="https://www.enecho.meti.go.jp/" TargetMode="External"/><Relationship Id="rId7" Type="http://schemas.openxmlformats.org/officeDocument/2006/relationships/chart" Target="../charts/chart2.xml"/><Relationship Id="rId2" Type="http://schemas.openxmlformats.org/officeDocument/2006/relationships/image" Target="../media/image1.png"/><Relationship Id="rId1" Type="http://schemas.openxmlformats.org/officeDocument/2006/relationships/slideLayout" Target="../slideLayouts/slideLayout4.xml"/><Relationship Id="rId6" Type="http://schemas.openxmlformats.org/officeDocument/2006/relationships/chart" Target="../charts/chart1.xml"/><Relationship Id="rId5" Type="http://schemas.openxmlformats.org/officeDocument/2006/relationships/hyperlink" Target="https://app.electricitymaps.com/" TargetMode="External"/><Relationship Id="rId4" Type="http://schemas.openxmlformats.org/officeDocument/2006/relationships/hyperlink" Target="https://www.jepx.jp/electricpower/market-data/spot/" TargetMode="External"/></Relationships>
</file>

<file path=ppt/slides/_rels/slide5.xml.rels><?xml version="1.0" encoding="UTF-8" standalone="yes"?>
<Relationships xmlns="http://schemas.openxmlformats.org/package/2006/relationships"><Relationship Id="rId2" Type="http://schemas.openxmlformats.org/officeDocument/2006/relationships/hyperlink" Target="https://www.nef.or.jp/keyword/ta/articles_te_01_01.html" TargetMode="Externa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hyperlink" Target="https://www.nef.or.jp/keyword/ta/articles_te_01_01.html" TargetMode="Externa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hyperlink" Target="https://www.californiadgstats.ca.gov/downloads/" TargetMode="External"/><Relationship Id="rId7" Type="http://schemas.openxmlformats.org/officeDocument/2006/relationships/image" Target="../media/image4.png"/><Relationship Id="rId2" Type="http://schemas.openxmlformats.org/officeDocument/2006/relationships/hyperlink" Target="https://www.kaggle.com/code/claytonmiller/building-data-genome-project-2-overview/data" TargetMode="External"/><Relationship Id="rId1" Type="http://schemas.openxmlformats.org/officeDocument/2006/relationships/slideLayout" Target="../slideLayouts/slideLayout5.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hyperlink" Target="https://www.caiso.com/Pages/default.aspx"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hyperlink" Target="https://from.sonysonpo.co.jp/topics/pr/2023/07/20230727_01.html" TargetMode="Externa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8" Type="http://schemas.openxmlformats.org/officeDocument/2006/relationships/image" Target="../media/image13.svg"/><Relationship Id="rId13" Type="http://schemas.openxmlformats.org/officeDocument/2006/relationships/image" Target="../media/image18.svg"/><Relationship Id="rId3" Type="http://schemas.openxmlformats.org/officeDocument/2006/relationships/image" Target="../media/image8.png"/><Relationship Id="rId7" Type="http://schemas.openxmlformats.org/officeDocument/2006/relationships/image" Target="../media/image12.png"/><Relationship Id="rId12" Type="http://schemas.openxmlformats.org/officeDocument/2006/relationships/image" Target="../media/image17.png"/><Relationship Id="rId2" Type="http://schemas.openxmlformats.org/officeDocument/2006/relationships/image" Target="../media/image7.png"/><Relationship Id="rId1" Type="http://schemas.openxmlformats.org/officeDocument/2006/relationships/slideLayout" Target="../slideLayouts/slideLayout3.xml"/><Relationship Id="rId6" Type="http://schemas.openxmlformats.org/officeDocument/2006/relationships/image" Target="../media/image11.svg"/><Relationship Id="rId11" Type="http://schemas.openxmlformats.org/officeDocument/2006/relationships/image" Target="../media/image16.png"/><Relationship Id="rId5" Type="http://schemas.openxmlformats.org/officeDocument/2006/relationships/image" Target="../media/image10.png"/><Relationship Id="rId15" Type="http://schemas.openxmlformats.org/officeDocument/2006/relationships/image" Target="../media/image20.svg"/><Relationship Id="rId10" Type="http://schemas.openxmlformats.org/officeDocument/2006/relationships/image" Target="../media/image15.svg"/><Relationship Id="rId4" Type="http://schemas.openxmlformats.org/officeDocument/2006/relationships/image" Target="../media/image9.svg"/><Relationship Id="rId9" Type="http://schemas.openxmlformats.org/officeDocument/2006/relationships/image" Target="../media/image14.png"/><Relationship Id="rId14" Type="http://schemas.openxmlformats.org/officeDocument/2006/relationships/image" Target="../media/image1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00.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20.png"/><Relationship Id="rId1" Type="http://schemas.openxmlformats.org/officeDocument/2006/relationships/slideLayout" Target="../slideLayouts/slideLayout3.xml"/><Relationship Id="rId5" Type="http://schemas.openxmlformats.org/officeDocument/2006/relationships/image" Target="../media/image23.png"/><Relationship Id="rId4" Type="http://schemas.openxmlformats.org/officeDocument/2006/relationships/image" Target="../media/image22.png"/></Relationships>
</file>

<file path=ppt/slides/_rels/slide2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6.png"/><Relationship Id="rId1" Type="http://schemas.openxmlformats.org/officeDocument/2006/relationships/slideLayout" Target="../slideLayouts/slideLayout3.xml"/><Relationship Id="rId4" Type="http://schemas.openxmlformats.org/officeDocument/2006/relationships/image" Target="../media/image25.png"/></Relationships>
</file>

<file path=ppt/slides/_rels/slide2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3.xml"/><Relationship Id="rId5" Type="http://schemas.openxmlformats.org/officeDocument/2006/relationships/image" Target="../media/image30.png"/><Relationship Id="rId4" Type="http://schemas.openxmlformats.org/officeDocument/2006/relationships/image" Target="../media/image29.png"/></Relationships>
</file>

<file path=ppt/slides/_rels/slide2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3.xml"/><Relationship Id="rId5" Type="http://schemas.openxmlformats.org/officeDocument/2006/relationships/image" Target="../media/image34.png"/><Relationship Id="rId4" Type="http://schemas.openxmlformats.org/officeDocument/2006/relationships/image" Target="../media/image33.png"/></Relationships>
</file>

<file path=ppt/slides/_rels/slide2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3.xml"/><Relationship Id="rId4" Type="http://schemas.openxmlformats.org/officeDocument/2006/relationships/image" Target="../media/image37.png"/></Relationships>
</file>

<file path=ppt/slides/_rels/slide28.xml.rels><?xml version="1.0" encoding="UTF-8" standalone="yes"?>
<Relationships xmlns="http://schemas.openxmlformats.org/package/2006/relationships"><Relationship Id="rId8" Type="http://schemas.openxmlformats.org/officeDocument/2006/relationships/image" Target="../media/image14.png"/><Relationship Id="rId13" Type="http://schemas.openxmlformats.org/officeDocument/2006/relationships/image" Target="../media/image19.png"/><Relationship Id="rId3" Type="http://schemas.openxmlformats.org/officeDocument/2006/relationships/image" Target="../media/image9.svg"/><Relationship Id="rId7" Type="http://schemas.openxmlformats.org/officeDocument/2006/relationships/image" Target="../media/image13.svg"/><Relationship Id="rId12" Type="http://schemas.openxmlformats.org/officeDocument/2006/relationships/image" Target="../media/image18.svg"/><Relationship Id="rId2" Type="http://schemas.openxmlformats.org/officeDocument/2006/relationships/image" Target="../media/image8.png"/><Relationship Id="rId16" Type="http://schemas.openxmlformats.org/officeDocument/2006/relationships/image" Target="../media/image39.svg"/><Relationship Id="rId1" Type="http://schemas.openxmlformats.org/officeDocument/2006/relationships/slideLayout" Target="../slideLayouts/slideLayout3.xml"/><Relationship Id="rId6" Type="http://schemas.openxmlformats.org/officeDocument/2006/relationships/image" Target="../media/image12.png"/><Relationship Id="rId11" Type="http://schemas.openxmlformats.org/officeDocument/2006/relationships/image" Target="../media/image17.png"/><Relationship Id="rId5" Type="http://schemas.openxmlformats.org/officeDocument/2006/relationships/image" Target="../media/image11.svg"/><Relationship Id="rId15" Type="http://schemas.openxmlformats.org/officeDocument/2006/relationships/image" Target="../media/image38.png"/><Relationship Id="rId10" Type="http://schemas.openxmlformats.org/officeDocument/2006/relationships/image" Target="../media/image16.png"/><Relationship Id="rId4" Type="http://schemas.openxmlformats.org/officeDocument/2006/relationships/image" Target="../media/image10.png"/><Relationship Id="rId9" Type="http://schemas.openxmlformats.org/officeDocument/2006/relationships/image" Target="../media/image15.svg"/><Relationship Id="rId14" Type="http://schemas.openxmlformats.org/officeDocument/2006/relationships/image" Target="../media/image20.sv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240.png"/><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222.png"/><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350.png"/><Relationship Id="rId2" Type="http://schemas.openxmlformats.org/officeDocument/2006/relationships/image" Target="../media/image340.png"/><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380.png"/><Relationship Id="rId1" Type="http://schemas.openxmlformats.org/officeDocument/2006/relationships/slideLayout" Target="../slideLayouts/slideLayout3.xml"/><Relationship Id="rId6" Type="http://schemas.openxmlformats.org/officeDocument/2006/relationships/image" Target="../media/image44.png"/><Relationship Id="rId5" Type="http://schemas.openxmlformats.org/officeDocument/2006/relationships/image" Target="../media/image400.png"/><Relationship Id="rId4" Type="http://schemas.openxmlformats.org/officeDocument/2006/relationships/image" Target="../media/image4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9.png"/><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4.xml"/><Relationship Id="rId5" Type="http://schemas.openxmlformats.org/officeDocument/2006/relationships/image" Target="../media/image53.png"/><Relationship Id="rId4" Type="http://schemas.openxmlformats.org/officeDocument/2006/relationships/image" Target="../media/image52.png"/></Relationships>
</file>

<file path=ppt/slides/_rels/slide4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4.png"/><Relationship Id="rId1" Type="http://schemas.openxmlformats.org/officeDocument/2006/relationships/slideLayout" Target="../slideLayouts/slideLayout4.xml"/><Relationship Id="rId5" Type="http://schemas.openxmlformats.org/officeDocument/2006/relationships/image" Target="../media/image50.png"/><Relationship Id="rId4" Type="http://schemas.openxmlformats.org/officeDocument/2006/relationships/image" Target="../media/image53.png"/></Relationships>
</file>

<file path=ppt/slides/_rels/slide4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3" Type="http://schemas.openxmlformats.org/officeDocument/2006/relationships/hyperlink" Target="https://www.deloitte.com/nl/en/Industries/energy/blogs/peer-to-peer-energy-trading.html" TargetMode="External"/><Relationship Id="rId2" Type="http://schemas.openxmlformats.org/officeDocument/2006/relationships/image" Target="../media/image69.png"/><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2" Type="http://schemas.openxmlformats.org/officeDocument/2006/relationships/hyperlink" Target="https://www.nef.or.jp/keyword/ta/articles_te_01_01.html" TargetMode="External"/><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hyperlink" Target="https://www.nrel.gov/docs/fy22osti/83586.pdf" TargetMode="External"/><Relationship Id="rId1" Type="http://schemas.openxmlformats.org/officeDocument/2006/relationships/slideLayout" Target="../slideLayouts/slideLayout4.xml"/><Relationship Id="rId6" Type="http://schemas.openxmlformats.org/officeDocument/2006/relationships/image" Target="../media/image73.png"/><Relationship Id="rId5" Type="http://schemas.openxmlformats.org/officeDocument/2006/relationships/image" Target="../media/image72.png"/><Relationship Id="rId4" Type="http://schemas.openxmlformats.org/officeDocument/2006/relationships/image" Target="../media/image71.png"/></Relationships>
</file>

<file path=ppt/slides/_rels/slide56.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hyperlink" Target="https://www.nrel.gov/docs/fy22osti/83586.pdf" TargetMode="External"/><Relationship Id="rId1" Type="http://schemas.openxmlformats.org/officeDocument/2006/relationships/slideLayout" Target="../slideLayouts/slideLayout4.xml"/><Relationship Id="rId4" Type="http://schemas.openxmlformats.org/officeDocument/2006/relationships/image" Target="../media/image75.png"/></Relationships>
</file>

<file path=ppt/slides/_rels/slide57.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6.png"/><Relationship Id="rId1" Type="http://schemas.openxmlformats.org/officeDocument/2006/relationships/slideLayout" Target="../slideLayouts/slideLayout4.xml"/><Relationship Id="rId6" Type="http://schemas.openxmlformats.org/officeDocument/2006/relationships/image" Target="../media/image78.png"/><Relationship Id="rId5" Type="http://schemas.openxmlformats.org/officeDocument/2006/relationships/image" Target="../media/image70.png"/><Relationship Id="rId4" Type="http://schemas.openxmlformats.org/officeDocument/2006/relationships/hyperlink" Target="https://www.nrel.gov/docs/fy22osti/83586.pdf"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3" Type="http://schemas.openxmlformats.org/officeDocument/2006/relationships/hyperlink" Target="https://www.occto.or.jp/iinkai/chouseiryoku/jukyuchousei/2019/files/jukyu_shijyo_11_04_02_02.pdf" TargetMode="External"/><Relationship Id="rId2" Type="http://schemas.openxmlformats.org/officeDocument/2006/relationships/image" Target="../media/image79.jpeg"/><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3" Type="http://schemas.openxmlformats.org/officeDocument/2006/relationships/image" Target="../media/image81.svg"/><Relationship Id="rId2" Type="http://schemas.openxmlformats.org/officeDocument/2006/relationships/image" Target="../media/image80.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260E93D4-C834-4EC0-854E-425ACAB431B2}"/>
              </a:ext>
            </a:extLst>
          </p:cNvPr>
          <p:cNvSpPr>
            <a:spLocks noGrp="1"/>
          </p:cNvSpPr>
          <p:nvPr>
            <p:ph type="title"/>
          </p:nvPr>
        </p:nvSpPr>
        <p:spPr>
          <a:xfrm>
            <a:off x="997630" y="1263877"/>
            <a:ext cx="7910740" cy="3422423"/>
          </a:xfrm>
        </p:spPr>
        <p:txBody>
          <a:bodyPr>
            <a:normAutofit fontScale="90000"/>
          </a:bodyPr>
          <a:lstStyle/>
          <a:p>
            <a:r>
              <a:rPr lang="ja-JP" altLang="en-US" dirty="0"/>
              <a:t>マルチエージェント強化学習を用いた自律分散型マイクログリッドのデザイン</a:t>
            </a:r>
            <a:br>
              <a:rPr lang="en-US" altLang="ja-JP" dirty="0"/>
            </a:br>
            <a:br>
              <a:rPr lang="en-US" altLang="ja-JP" dirty="0"/>
            </a:br>
            <a:br>
              <a:rPr lang="en-US" altLang="ja-JP" dirty="0"/>
            </a:br>
            <a:r>
              <a:rPr lang="en-US" altLang="ja-JP" dirty="0"/>
              <a:t>Design of Autonomous Decentralized Microgrids Using Multi-Agent Reinforcement Learning</a:t>
            </a:r>
            <a:endParaRPr lang="en-US" dirty="0"/>
          </a:p>
        </p:txBody>
      </p:sp>
      <p:sp>
        <p:nvSpPr>
          <p:cNvPr id="4" name="コンテンツ プレースホルダー 3">
            <a:extLst>
              <a:ext uri="{FF2B5EF4-FFF2-40B4-BE49-F238E27FC236}">
                <a16:creationId xmlns:a16="http://schemas.microsoft.com/office/drawing/2014/main" id="{CA00FC3D-C692-4913-B44A-2B5CBECFD5BE}"/>
              </a:ext>
            </a:extLst>
          </p:cNvPr>
          <p:cNvSpPr>
            <a:spLocks noGrp="1"/>
          </p:cNvSpPr>
          <p:nvPr>
            <p:ph sz="quarter" idx="14"/>
          </p:nvPr>
        </p:nvSpPr>
        <p:spPr>
          <a:xfrm>
            <a:off x="6654140" y="5005634"/>
            <a:ext cx="2950595" cy="1611976"/>
          </a:xfrm>
        </p:spPr>
        <p:txBody>
          <a:bodyPr/>
          <a:lstStyle/>
          <a:p>
            <a:r>
              <a:rPr lang="en-US" altLang="ja-JP" sz="2400" dirty="0"/>
              <a:t>M2 Morita Yudai</a:t>
            </a:r>
            <a:endParaRPr lang="en-US" sz="2400" dirty="0"/>
          </a:p>
        </p:txBody>
      </p:sp>
      <p:sp>
        <p:nvSpPr>
          <p:cNvPr id="5" name="コンテンツ プレースホルダー 4">
            <a:extLst>
              <a:ext uri="{FF2B5EF4-FFF2-40B4-BE49-F238E27FC236}">
                <a16:creationId xmlns:a16="http://schemas.microsoft.com/office/drawing/2014/main" id="{229ABE75-C320-4EDA-A47B-69A10A2CFB0F}"/>
              </a:ext>
            </a:extLst>
          </p:cNvPr>
          <p:cNvSpPr>
            <a:spLocks noGrp="1"/>
          </p:cNvSpPr>
          <p:nvPr>
            <p:ph sz="quarter" idx="16"/>
          </p:nvPr>
        </p:nvSpPr>
        <p:spPr/>
        <p:txBody>
          <a:bodyPr/>
          <a:lstStyle/>
          <a:p>
            <a:r>
              <a:rPr lang="en-US" sz="2400" dirty="0"/>
              <a:t>Weekly seminar @Nakata Lab.</a:t>
            </a:r>
          </a:p>
        </p:txBody>
      </p:sp>
    </p:spTree>
    <p:extLst>
      <p:ext uri="{BB962C8B-B14F-4D97-AF65-F5344CB8AC3E}">
        <p14:creationId xmlns:p14="http://schemas.microsoft.com/office/powerpoint/2010/main" val="38477670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コンテンツ プレースホルダー 1">
            <a:extLst>
              <a:ext uri="{FF2B5EF4-FFF2-40B4-BE49-F238E27FC236}">
                <a16:creationId xmlns:a16="http://schemas.microsoft.com/office/drawing/2014/main" id="{A69F8014-B60B-E06E-B259-E733D46851C0}"/>
              </a:ext>
            </a:extLst>
          </p:cNvPr>
          <p:cNvSpPr>
            <a:spLocks noGrp="1"/>
          </p:cNvSpPr>
          <p:nvPr>
            <p:ph sz="quarter" idx="17"/>
          </p:nvPr>
        </p:nvSpPr>
        <p:spPr>
          <a:xfrm>
            <a:off x="569340" y="904862"/>
            <a:ext cx="8767320" cy="5686438"/>
          </a:xfrm>
        </p:spPr>
        <p:txBody>
          <a:bodyPr/>
          <a:lstStyle/>
          <a:p>
            <a:r>
              <a:rPr kumimoji="1" lang="en-US" altLang="ja-JP" dirty="0"/>
              <a:t>1. Introduction and background</a:t>
            </a:r>
          </a:p>
          <a:p>
            <a:pPr marL="342900" indent="-342900">
              <a:buAutoNum type="arabicPeriod"/>
            </a:pPr>
            <a:endParaRPr kumimoji="1" lang="en-US" altLang="ja-JP" dirty="0"/>
          </a:p>
          <a:p>
            <a:r>
              <a:rPr kumimoji="1" lang="en-US" altLang="ja-JP" dirty="0"/>
              <a:t>2. Objective</a:t>
            </a:r>
          </a:p>
          <a:p>
            <a:endParaRPr kumimoji="1" lang="en-US" altLang="ja-JP" dirty="0"/>
          </a:p>
          <a:p>
            <a:r>
              <a:rPr kumimoji="1" lang="en-US" altLang="ja-JP" dirty="0"/>
              <a:t>3. Methodology</a:t>
            </a:r>
          </a:p>
          <a:p>
            <a:r>
              <a:rPr kumimoji="1" lang="en-US" altLang="ja-JP" sz="1200" dirty="0"/>
              <a:t>3.1 Step 1: </a:t>
            </a:r>
            <a:r>
              <a:rPr lang="en-US" altLang="ja-JP" sz="1200" dirty="0"/>
              <a:t>Data collection</a:t>
            </a:r>
          </a:p>
          <a:p>
            <a:r>
              <a:rPr kumimoji="1" lang="en-US" altLang="ja-JP" sz="1200" dirty="0"/>
              <a:t>       3.1.1 Data (demand, PV supply, wholesale price, EV charging, CAPEX, OPEX)</a:t>
            </a:r>
          </a:p>
          <a:p>
            <a:r>
              <a:rPr kumimoji="1" lang="en-US" altLang="ja-JP" sz="1200" dirty="0"/>
              <a:t>       3.1.2 Technology parameter (battery charge/discharge speed limit, efficiency)</a:t>
            </a:r>
          </a:p>
          <a:p>
            <a:r>
              <a:rPr kumimoji="1" lang="en-US" altLang="ja-JP" sz="1200" dirty="0"/>
              <a:t>3.2 Step 2: </a:t>
            </a:r>
            <a:r>
              <a:rPr lang="en-US" altLang="ja-JP" sz="1200" dirty="0"/>
              <a:t>Model construction </a:t>
            </a:r>
            <a:r>
              <a:rPr kumimoji="1" lang="en-US" altLang="ja-JP" sz="1200" dirty="0"/>
              <a:t>	</a:t>
            </a:r>
          </a:p>
          <a:p>
            <a:r>
              <a:rPr kumimoji="1" lang="en-US" altLang="ja-JP" sz="1200" dirty="0"/>
              <a:t>       3.2.1 Generate agent</a:t>
            </a:r>
          </a:p>
          <a:p>
            <a:r>
              <a:rPr kumimoji="1" lang="en-US" altLang="ja-JP" sz="1200" dirty="0"/>
              <a:t>       3.2.2 Design P2P energy trading model</a:t>
            </a:r>
          </a:p>
          <a:p>
            <a:r>
              <a:rPr kumimoji="1" lang="en-US" altLang="ja-JP" sz="1200" dirty="0"/>
              <a:t>       3.2.3 Design non-P2P energy model</a:t>
            </a:r>
          </a:p>
          <a:p>
            <a:r>
              <a:rPr kumimoji="1" lang="en-US" altLang="ja-JP" sz="1200" dirty="0"/>
              <a:t>3.3 Step 3: Train agents</a:t>
            </a:r>
          </a:p>
          <a:p>
            <a:r>
              <a:rPr kumimoji="1" lang="en-US" altLang="ja-JP" sz="1200" dirty="0"/>
              <a:t>       3.3.1 Q table</a:t>
            </a:r>
          </a:p>
          <a:p>
            <a:r>
              <a:rPr kumimoji="1" lang="en-US" altLang="ja-JP" sz="1200" dirty="0"/>
              <a:t>       3.3.2 Reward</a:t>
            </a:r>
          </a:p>
          <a:p>
            <a:endParaRPr kumimoji="1" lang="en-US" altLang="ja-JP" sz="1200" dirty="0"/>
          </a:p>
          <a:p>
            <a:r>
              <a:rPr kumimoji="1" lang="en-US" altLang="ja-JP" dirty="0"/>
              <a:t>4. Results and analysis</a:t>
            </a:r>
          </a:p>
          <a:p>
            <a:endParaRPr kumimoji="1" lang="en-US" altLang="ja-JP" dirty="0"/>
          </a:p>
          <a:p>
            <a:r>
              <a:rPr kumimoji="1" lang="en-US" altLang="ja-JP" dirty="0"/>
              <a:t>5. Summary and future work</a:t>
            </a:r>
          </a:p>
          <a:p>
            <a:endParaRPr kumimoji="1" lang="ja-JP" altLang="en-US" dirty="0"/>
          </a:p>
        </p:txBody>
      </p:sp>
      <p:sp>
        <p:nvSpPr>
          <p:cNvPr id="3" name="コンテンツ プレースホルダー 2">
            <a:extLst>
              <a:ext uri="{FF2B5EF4-FFF2-40B4-BE49-F238E27FC236}">
                <a16:creationId xmlns:a16="http://schemas.microsoft.com/office/drawing/2014/main" id="{8144E4AA-4DE2-6001-26C0-0276D6F2A954}"/>
              </a:ext>
            </a:extLst>
          </p:cNvPr>
          <p:cNvSpPr>
            <a:spLocks noGrp="1"/>
          </p:cNvSpPr>
          <p:nvPr>
            <p:ph sz="quarter" idx="16"/>
          </p:nvPr>
        </p:nvSpPr>
        <p:spPr/>
        <p:txBody>
          <a:bodyPr/>
          <a:lstStyle/>
          <a:p>
            <a:r>
              <a:rPr kumimoji="1" lang="en-US" altLang="ja-JP" dirty="0"/>
              <a:t>CONTENT</a:t>
            </a:r>
            <a:endParaRPr kumimoji="1" lang="ja-JP" altLang="en-US" dirty="0"/>
          </a:p>
        </p:txBody>
      </p:sp>
    </p:spTree>
    <p:extLst>
      <p:ext uri="{BB962C8B-B14F-4D97-AF65-F5344CB8AC3E}">
        <p14:creationId xmlns:p14="http://schemas.microsoft.com/office/powerpoint/2010/main" val="12515857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687750-D56D-2B84-4641-D06850A4467C}"/>
            </a:ext>
          </a:extLst>
        </p:cNvPr>
        <p:cNvGrpSpPr/>
        <p:nvPr/>
      </p:nvGrpSpPr>
      <p:grpSpPr>
        <a:xfrm>
          <a:off x="0" y="0"/>
          <a:ext cx="0" cy="0"/>
          <a:chOff x="0" y="0"/>
          <a:chExt cx="0" cy="0"/>
        </a:xfrm>
      </p:grpSpPr>
      <p:sp>
        <p:nvSpPr>
          <p:cNvPr id="2" name="コンテンツ プレースホルダー 1">
            <a:extLst>
              <a:ext uri="{FF2B5EF4-FFF2-40B4-BE49-F238E27FC236}">
                <a16:creationId xmlns:a16="http://schemas.microsoft.com/office/drawing/2014/main" id="{D3A929C2-4A41-745F-78DA-EB0DDC7DAE35}"/>
              </a:ext>
            </a:extLst>
          </p:cNvPr>
          <p:cNvSpPr>
            <a:spLocks noGrp="1"/>
          </p:cNvSpPr>
          <p:nvPr>
            <p:ph sz="quarter" idx="17"/>
          </p:nvPr>
        </p:nvSpPr>
        <p:spPr>
          <a:xfrm>
            <a:off x="569340" y="904862"/>
            <a:ext cx="8767320" cy="5686438"/>
          </a:xfrm>
        </p:spPr>
        <p:txBody>
          <a:bodyPr/>
          <a:lstStyle/>
          <a:p>
            <a:r>
              <a:rPr kumimoji="1" lang="en-US" altLang="ja-JP" dirty="0"/>
              <a:t>1. Introduction and background</a:t>
            </a:r>
          </a:p>
          <a:p>
            <a:pPr marL="342900" indent="-342900">
              <a:buAutoNum type="arabicPeriod"/>
            </a:pPr>
            <a:endParaRPr kumimoji="1" lang="en-US" altLang="ja-JP" dirty="0"/>
          </a:p>
          <a:p>
            <a:r>
              <a:rPr kumimoji="1" lang="en-US" altLang="ja-JP" dirty="0">
                <a:solidFill>
                  <a:schemeClr val="tx1">
                    <a:lumMod val="40000"/>
                    <a:lumOff val="60000"/>
                  </a:schemeClr>
                </a:solidFill>
              </a:rPr>
              <a:t>2. Objective</a:t>
            </a:r>
          </a:p>
          <a:p>
            <a:endParaRPr kumimoji="1" lang="en-US" altLang="ja-JP" dirty="0">
              <a:solidFill>
                <a:schemeClr val="tx1">
                  <a:lumMod val="40000"/>
                  <a:lumOff val="60000"/>
                </a:schemeClr>
              </a:solidFill>
            </a:endParaRPr>
          </a:p>
          <a:p>
            <a:r>
              <a:rPr kumimoji="1" lang="en-US" altLang="ja-JP" dirty="0">
                <a:solidFill>
                  <a:schemeClr val="tx1">
                    <a:lumMod val="40000"/>
                    <a:lumOff val="60000"/>
                  </a:schemeClr>
                </a:solidFill>
              </a:rPr>
              <a:t>3. Methodology</a:t>
            </a:r>
          </a:p>
          <a:p>
            <a:r>
              <a:rPr kumimoji="1" lang="en-US" altLang="ja-JP" sz="1200" dirty="0">
                <a:solidFill>
                  <a:schemeClr val="tx1">
                    <a:lumMod val="40000"/>
                    <a:lumOff val="60000"/>
                  </a:schemeClr>
                </a:solidFill>
              </a:rPr>
              <a:t>3.1 Step 1: </a:t>
            </a:r>
            <a:r>
              <a:rPr lang="en-US" altLang="ja-JP" sz="1200" dirty="0">
                <a:solidFill>
                  <a:schemeClr val="tx1">
                    <a:lumMod val="40000"/>
                    <a:lumOff val="60000"/>
                  </a:schemeClr>
                </a:solidFill>
              </a:rPr>
              <a:t>Data collection</a:t>
            </a:r>
          </a:p>
          <a:p>
            <a:r>
              <a:rPr kumimoji="1" lang="en-US" altLang="ja-JP" sz="1200" dirty="0">
                <a:solidFill>
                  <a:schemeClr val="tx1">
                    <a:lumMod val="40000"/>
                    <a:lumOff val="60000"/>
                  </a:schemeClr>
                </a:solidFill>
              </a:rPr>
              <a:t>       3.1.1 Data (demand, PV supply, wholesale price, EV charging, CAPEX, OPEX)</a:t>
            </a:r>
          </a:p>
          <a:p>
            <a:r>
              <a:rPr kumimoji="1" lang="en-US" altLang="ja-JP" sz="1200" dirty="0">
                <a:solidFill>
                  <a:schemeClr val="tx1">
                    <a:lumMod val="40000"/>
                    <a:lumOff val="60000"/>
                  </a:schemeClr>
                </a:solidFill>
              </a:rPr>
              <a:t>       3.1.2 Technology parameter (battery charge/discharge speed limit, efficiency)</a:t>
            </a:r>
          </a:p>
          <a:p>
            <a:r>
              <a:rPr kumimoji="1" lang="en-US" altLang="ja-JP" sz="1200" dirty="0">
                <a:solidFill>
                  <a:schemeClr val="tx1">
                    <a:lumMod val="40000"/>
                    <a:lumOff val="60000"/>
                  </a:schemeClr>
                </a:solidFill>
              </a:rPr>
              <a:t>3.2 Step 2: </a:t>
            </a:r>
            <a:r>
              <a:rPr lang="en-US" altLang="ja-JP" sz="1200" dirty="0">
                <a:solidFill>
                  <a:schemeClr val="tx1">
                    <a:lumMod val="40000"/>
                    <a:lumOff val="60000"/>
                  </a:schemeClr>
                </a:solidFill>
              </a:rPr>
              <a:t>Model construction </a:t>
            </a:r>
            <a:r>
              <a:rPr kumimoji="1" lang="en-US" altLang="ja-JP" sz="1200" dirty="0">
                <a:solidFill>
                  <a:schemeClr val="tx1">
                    <a:lumMod val="40000"/>
                    <a:lumOff val="60000"/>
                  </a:schemeClr>
                </a:solidFill>
              </a:rPr>
              <a:t>	</a:t>
            </a:r>
          </a:p>
          <a:p>
            <a:r>
              <a:rPr kumimoji="1" lang="en-US" altLang="ja-JP" sz="1200" dirty="0">
                <a:solidFill>
                  <a:schemeClr val="tx1">
                    <a:lumMod val="40000"/>
                    <a:lumOff val="60000"/>
                  </a:schemeClr>
                </a:solidFill>
              </a:rPr>
              <a:t>       3.2.1 Generate agent</a:t>
            </a:r>
          </a:p>
          <a:p>
            <a:r>
              <a:rPr kumimoji="1" lang="en-US" altLang="ja-JP" sz="1200" dirty="0">
                <a:solidFill>
                  <a:schemeClr val="tx1">
                    <a:lumMod val="40000"/>
                    <a:lumOff val="60000"/>
                  </a:schemeClr>
                </a:solidFill>
              </a:rPr>
              <a:t>       3.2.2 Design P2P energy trading model</a:t>
            </a:r>
          </a:p>
          <a:p>
            <a:r>
              <a:rPr kumimoji="1" lang="en-US" altLang="ja-JP" sz="1200" dirty="0">
                <a:solidFill>
                  <a:schemeClr val="tx1">
                    <a:lumMod val="40000"/>
                    <a:lumOff val="60000"/>
                  </a:schemeClr>
                </a:solidFill>
              </a:rPr>
              <a:t>       3.2.3 Design non-P2P energy model</a:t>
            </a:r>
          </a:p>
          <a:p>
            <a:r>
              <a:rPr kumimoji="1" lang="en-US" altLang="ja-JP" sz="1200" dirty="0">
                <a:solidFill>
                  <a:schemeClr val="tx1">
                    <a:lumMod val="40000"/>
                    <a:lumOff val="60000"/>
                  </a:schemeClr>
                </a:solidFill>
              </a:rPr>
              <a:t>3.3 Step 3: Train agents</a:t>
            </a:r>
          </a:p>
          <a:p>
            <a:r>
              <a:rPr kumimoji="1" lang="en-US" altLang="ja-JP" sz="1200" dirty="0">
                <a:solidFill>
                  <a:schemeClr val="tx1">
                    <a:lumMod val="40000"/>
                    <a:lumOff val="60000"/>
                  </a:schemeClr>
                </a:solidFill>
              </a:rPr>
              <a:t>       3.3.1 Q table</a:t>
            </a:r>
          </a:p>
          <a:p>
            <a:r>
              <a:rPr kumimoji="1" lang="en-US" altLang="ja-JP" sz="1200" dirty="0">
                <a:solidFill>
                  <a:schemeClr val="tx1">
                    <a:lumMod val="40000"/>
                    <a:lumOff val="60000"/>
                  </a:schemeClr>
                </a:solidFill>
              </a:rPr>
              <a:t>       3.3.2 Reward</a:t>
            </a:r>
          </a:p>
          <a:p>
            <a:endParaRPr kumimoji="1" lang="en-US" altLang="ja-JP" sz="1200" dirty="0">
              <a:solidFill>
                <a:schemeClr val="tx1">
                  <a:lumMod val="40000"/>
                  <a:lumOff val="60000"/>
                </a:schemeClr>
              </a:solidFill>
            </a:endParaRPr>
          </a:p>
          <a:p>
            <a:r>
              <a:rPr kumimoji="1" lang="en-US" altLang="ja-JP" dirty="0">
                <a:solidFill>
                  <a:schemeClr val="tx1">
                    <a:lumMod val="40000"/>
                    <a:lumOff val="60000"/>
                  </a:schemeClr>
                </a:solidFill>
              </a:rPr>
              <a:t>4. Results and analysis</a:t>
            </a:r>
          </a:p>
          <a:p>
            <a:endParaRPr kumimoji="1" lang="en-US" altLang="ja-JP" dirty="0">
              <a:solidFill>
                <a:schemeClr val="tx1">
                  <a:lumMod val="40000"/>
                  <a:lumOff val="60000"/>
                </a:schemeClr>
              </a:solidFill>
            </a:endParaRPr>
          </a:p>
          <a:p>
            <a:r>
              <a:rPr kumimoji="1" lang="en-US" altLang="ja-JP" dirty="0">
                <a:solidFill>
                  <a:schemeClr val="tx1">
                    <a:lumMod val="40000"/>
                    <a:lumOff val="60000"/>
                  </a:schemeClr>
                </a:solidFill>
              </a:rPr>
              <a:t>5. Summary and future work</a:t>
            </a:r>
          </a:p>
          <a:p>
            <a:endParaRPr kumimoji="1" lang="ja-JP" altLang="en-US" dirty="0"/>
          </a:p>
        </p:txBody>
      </p:sp>
      <p:sp>
        <p:nvSpPr>
          <p:cNvPr id="3" name="コンテンツ プレースホルダー 2">
            <a:extLst>
              <a:ext uri="{FF2B5EF4-FFF2-40B4-BE49-F238E27FC236}">
                <a16:creationId xmlns:a16="http://schemas.microsoft.com/office/drawing/2014/main" id="{C624F47F-0262-F676-42A2-B8F078D9669C}"/>
              </a:ext>
            </a:extLst>
          </p:cNvPr>
          <p:cNvSpPr>
            <a:spLocks noGrp="1"/>
          </p:cNvSpPr>
          <p:nvPr>
            <p:ph sz="quarter" idx="16"/>
          </p:nvPr>
        </p:nvSpPr>
        <p:spPr/>
        <p:txBody>
          <a:bodyPr/>
          <a:lstStyle/>
          <a:p>
            <a:r>
              <a:rPr kumimoji="1" lang="en-US" altLang="ja-JP" dirty="0"/>
              <a:t>CONTENT</a:t>
            </a:r>
            <a:endParaRPr kumimoji="1" lang="ja-JP" altLang="en-US" dirty="0"/>
          </a:p>
        </p:txBody>
      </p:sp>
    </p:spTree>
    <p:extLst>
      <p:ext uri="{BB962C8B-B14F-4D97-AF65-F5344CB8AC3E}">
        <p14:creationId xmlns:p14="http://schemas.microsoft.com/office/powerpoint/2010/main" val="27465006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テキスト ボックス 8">
            <a:extLst>
              <a:ext uri="{FF2B5EF4-FFF2-40B4-BE49-F238E27FC236}">
                <a16:creationId xmlns:a16="http://schemas.microsoft.com/office/drawing/2014/main" id="{E6EAB069-EA18-84B7-DBA4-19E536917FF5}"/>
              </a:ext>
            </a:extLst>
          </p:cNvPr>
          <p:cNvSpPr txBox="1"/>
          <p:nvPr/>
        </p:nvSpPr>
        <p:spPr>
          <a:xfrm>
            <a:off x="6705530" y="6172765"/>
            <a:ext cx="2696572" cy="276999"/>
          </a:xfrm>
          <a:prstGeom prst="rect">
            <a:avLst/>
          </a:prstGeom>
          <a:noFill/>
        </p:spPr>
        <p:txBody>
          <a:bodyPr wrap="none" rtlCol="0">
            <a:spAutoFit/>
          </a:bodyPr>
          <a:lstStyle/>
          <a:p>
            <a:r>
              <a:rPr lang="ja-JP" altLang="en-US" sz="1200" dirty="0"/>
              <a:t>日本のエネルギーミックス</a:t>
            </a:r>
            <a:r>
              <a:rPr lang="en-US" altLang="ja-JP" sz="1200" dirty="0"/>
              <a:t> </a:t>
            </a:r>
            <a:r>
              <a:rPr lang="en-US" sz="1200" dirty="0"/>
              <a:t>(2024/12/2</a:t>
            </a:r>
            <a:r>
              <a:rPr lang="en-US" altLang="ja-JP" sz="1200" dirty="0"/>
              <a:t>)</a:t>
            </a:r>
            <a:r>
              <a:rPr lang="ja-JP" altLang="en-US" sz="1200" dirty="0"/>
              <a:t> </a:t>
            </a:r>
            <a:r>
              <a:rPr lang="en-US" altLang="ja-JP" sz="1200" dirty="0"/>
              <a:t>[3]</a:t>
            </a:r>
            <a:endParaRPr lang="en-US" sz="1200" dirty="0"/>
          </a:p>
        </p:txBody>
      </p:sp>
      <p:pic>
        <p:nvPicPr>
          <p:cNvPr id="12" name="図 11" descr="グラフ&#10;&#10;自動的に生成された説明">
            <a:extLst>
              <a:ext uri="{FF2B5EF4-FFF2-40B4-BE49-F238E27FC236}">
                <a16:creationId xmlns:a16="http://schemas.microsoft.com/office/drawing/2014/main" id="{3C7D2FC1-2943-EC7D-7340-B5CF2582E0FA}"/>
              </a:ext>
            </a:extLst>
          </p:cNvPr>
          <p:cNvPicPr>
            <a:picLocks noChangeAspect="1"/>
          </p:cNvPicPr>
          <p:nvPr/>
        </p:nvPicPr>
        <p:blipFill>
          <a:blip r:embed="rId2"/>
          <a:stretch>
            <a:fillRect/>
          </a:stretch>
        </p:blipFill>
        <p:spPr>
          <a:xfrm>
            <a:off x="6384609" y="4814356"/>
            <a:ext cx="3338416" cy="1338655"/>
          </a:xfrm>
          <a:prstGeom prst="rect">
            <a:avLst/>
          </a:prstGeom>
        </p:spPr>
      </p:pic>
      <p:sp>
        <p:nvSpPr>
          <p:cNvPr id="3" name="コンテンツ プレースホルダー 2">
            <a:extLst>
              <a:ext uri="{FF2B5EF4-FFF2-40B4-BE49-F238E27FC236}">
                <a16:creationId xmlns:a16="http://schemas.microsoft.com/office/drawing/2014/main" id="{002C81A3-1FBA-9DB9-26EA-6019CCB4626D}"/>
              </a:ext>
            </a:extLst>
          </p:cNvPr>
          <p:cNvSpPr>
            <a:spLocks noGrp="1"/>
          </p:cNvSpPr>
          <p:nvPr>
            <p:ph sz="quarter" idx="16"/>
          </p:nvPr>
        </p:nvSpPr>
        <p:spPr/>
        <p:txBody>
          <a:bodyPr/>
          <a:lstStyle/>
          <a:p>
            <a:r>
              <a:rPr lang="en-US" dirty="0"/>
              <a:t>1. Introduction and background</a:t>
            </a:r>
          </a:p>
        </p:txBody>
      </p:sp>
      <p:sp>
        <p:nvSpPr>
          <p:cNvPr id="11" name="テキスト ボックス 10">
            <a:extLst>
              <a:ext uri="{FF2B5EF4-FFF2-40B4-BE49-F238E27FC236}">
                <a16:creationId xmlns:a16="http://schemas.microsoft.com/office/drawing/2014/main" id="{08C80A9E-7498-711C-03CD-AF8E0E878355}"/>
              </a:ext>
            </a:extLst>
          </p:cNvPr>
          <p:cNvSpPr txBox="1"/>
          <p:nvPr/>
        </p:nvSpPr>
        <p:spPr>
          <a:xfrm>
            <a:off x="154379" y="6473479"/>
            <a:ext cx="4959926" cy="461665"/>
          </a:xfrm>
          <a:prstGeom prst="rect">
            <a:avLst/>
          </a:prstGeom>
          <a:noFill/>
        </p:spPr>
        <p:txBody>
          <a:bodyPr wrap="square">
            <a:spAutoFit/>
          </a:bodyPr>
          <a:lstStyle/>
          <a:p>
            <a:r>
              <a:rPr lang="en-US" sz="600" dirty="0"/>
              <a:t>[1] </a:t>
            </a:r>
            <a:r>
              <a:rPr lang="en-US" sz="600" dirty="0">
                <a:hlinkClick r:id="rId3"/>
              </a:rPr>
              <a:t>https://www.enecho.meti.go.jp</a:t>
            </a:r>
            <a:endParaRPr lang="en-US" sz="600" dirty="0"/>
          </a:p>
          <a:p>
            <a:r>
              <a:rPr lang="en-US" sz="600" dirty="0"/>
              <a:t>[2] </a:t>
            </a:r>
            <a:r>
              <a:rPr lang="en-US" sz="600" dirty="0">
                <a:hlinkClick r:id="rId4"/>
              </a:rPr>
              <a:t>https://www.jepx.jp/electricpower/market-data/spot/</a:t>
            </a:r>
            <a:endParaRPr lang="en-US" sz="600" dirty="0"/>
          </a:p>
          <a:p>
            <a:r>
              <a:rPr lang="en-US" sz="600" dirty="0"/>
              <a:t>[3] </a:t>
            </a:r>
            <a:r>
              <a:rPr lang="en-US" sz="600" dirty="0">
                <a:hlinkClick r:id="rId5"/>
              </a:rPr>
              <a:t>https://app.electricitymaps.com</a:t>
            </a:r>
            <a:endParaRPr lang="en-US" sz="600" dirty="0"/>
          </a:p>
          <a:p>
            <a:endParaRPr lang="en-US" sz="600" dirty="0"/>
          </a:p>
        </p:txBody>
      </p:sp>
      <p:sp>
        <p:nvSpPr>
          <p:cNvPr id="16" name="テキスト ボックス 15">
            <a:extLst>
              <a:ext uri="{FF2B5EF4-FFF2-40B4-BE49-F238E27FC236}">
                <a16:creationId xmlns:a16="http://schemas.microsoft.com/office/drawing/2014/main" id="{B47BF35C-300A-843F-5687-BE983E03E51B}"/>
              </a:ext>
            </a:extLst>
          </p:cNvPr>
          <p:cNvSpPr txBox="1"/>
          <p:nvPr/>
        </p:nvSpPr>
        <p:spPr>
          <a:xfrm>
            <a:off x="151068" y="4264021"/>
            <a:ext cx="3501116" cy="276999"/>
          </a:xfrm>
          <a:prstGeom prst="rect">
            <a:avLst/>
          </a:prstGeom>
          <a:noFill/>
        </p:spPr>
        <p:txBody>
          <a:bodyPr wrap="square" rtlCol="0">
            <a:spAutoFit/>
          </a:bodyPr>
          <a:lstStyle/>
          <a:p>
            <a:r>
              <a:rPr lang="en-US" altLang="ja-JP" sz="1200" dirty="0"/>
              <a:t>Trends in renewable energy adoption in Japan [1]</a:t>
            </a:r>
            <a:endParaRPr lang="en-US" sz="1200" dirty="0"/>
          </a:p>
        </p:txBody>
      </p:sp>
      <p:sp>
        <p:nvSpPr>
          <p:cNvPr id="17" name="テキスト ボックス 16">
            <a:extLst>
              <a:ext uri="{FF2B5EF4-FFF2-40B4-BE49-F238E27FC236}">
                <a16:creationId xmlns:a16="http://schemas.microsoft.com/office/drawing/2014/main" id="{53956B21-19B5-0383-0712-8BB0B53F8821}"/>
              </a:ext>
            </a:extLst>
          </p:cNvPr>
          <p:cNvSpPr txBox="1"/>
          <p:nvPr/>
        </p:nvSpPr>
        <p:spPr>
          <a:xfrm>
            <a:off x="5491270" y="4499350"/>
            <a:ext cx="2744662" cy="276999"/>
          </a:xfrm>
          <a:prstGeom prst="rect">
            <a:avLst/>
          </a:prstGeom>
          <a:noFill/>
        </p:spPr>
        <p:txBody>
          <a:bodyPr wrap="none" rtlCol="0">
            <a:spAutoFit/>
          </a:bodyPr>
          <a:lstStyle/>
          <a:p>
            <a:r>
              <a:rPr lang="en-US" sz="1200" dirty="0"/>
              <a:t>JEPX </a:t>
            </a:r>
            <a:r>
              <a:rPr lang="en-US" altLang="ja-JP" sz="1200" dirty="0"/>
              <a:t>spot price (30 min resolution)</a:t>
            </a:r>
            <a:r>
              <a:rPr lang="ja-JP" altLang="en-US" sz="1200" dirty="0"/>
              <a:t> </a:t>
            </a:r>
            <a:r>
              <a:rPr lang="en-US" altLang="ja-JP" sz="1200" dirty="0"/>
              <a:t>[2]</a:t>
            </a:r>
            <a:endParaRPr lang="en-US" sz="1200" dirty="0"/>
          </a:p>
        </p:txBody>
      </p:sp>
      <p:graphicFrame>
        <p:nvGraphicFramePr>
          <p:cNvPr id="4" name="グラフ 3">
            <a:extLst>
              <a:ext uri="{FF2B5EF4-FFF2-40B4-BE49-F238E27FC236}">
                <a16:creationId xmlns:a16="http://schemas.microsoft.com/office/drawing/2014/main" id="{549B9A79-B0DA-A979-6253-A6A318D502DC}"/>
              </a:ext>
            </a:extLst>
          </p:cNvPr>
          <p:cNvGraphicFramePr>
            <a:graphicFrameLocks/>
          </p:cNvGraphicFramePr>
          <p:nvPr/>
        </p:nvGraphicFramePr>
        <p:xfrm>
          <a:off x="0" y="906940"/>
          <a:ext cx="3652838" cy="3464018"/>
        </p:xfrm>
        <a:graphic>
          <a:graphicData uri="http://schemas.openxmlformats.org/drawingml/2006/chart">
            <c:chart xmlns:c="http://schemas.openxmlformats.org/drawingml/2006/chart" xmlns:r="http://schemas.openxmlformats.org/officeDocument/2006/relationships" r:id="rId6"/>
          </a:graphicData>
        </a:graphic>
      </p:graphicFrame>
      <p:sp>
        <p:nvSpPr>
          <p:cNvPr id="5" name="テキスト ボックス 4">
            <a:extLst>
              <a:ext uri="{FF2B5EF4-FFF2-40B4-BE49-F238E27FC236}">
                <a16:creationId xmlns:a16="http://schemas.microsoft.com/office/drawing/2014/main" id="{CE1627A4-9D74-3FED-1DB6-A8362E35853B}"/>
              </a:ext>
            </a:extLst>
          </p:cNvPr>
          <p:cNvSpPr txBox="1"/>
          <p:nvPr/>
        </p:nvSpPr>
        <p:spPr>
          <a:xfrm>
            <a:off x="1906719" y="1523492"/>
            <a:ext cx="397866" cy="200055"/>
          </a:xfrm>
          <a:prstGeom prst="rect">
            <a:avLst/>
          </a:prstGeom>
          <a:noFill/>
        </p:spPr>
        <p:txBody>
          <a:bodyPr wrap="none" rtlCol="0">
            <a:spAutoFit/>
          </a:bodyPr>
          <a:lstStyle/>
          <a:p>
            <a:r>
              <a:rPr lang="en-US" sz="700" dirty="0"/>
              <a:t>9.2 %</a:t>
            </a:r>
          </a:p>
        </p:txBody>
      </p:sp>
      <p:sp>
        <p:nvSpPr>
          <p:cNvPr id="6" name="テキスト ボックス 5">
            <a:extLst>
              <a:ext uri="{FF2B5EF4-FFF2-40B4-BE49-F238E27FC236}">
                <a16:creationId xmlns:a16="http://schemas.microsoft.com/office/drawing/2014/main" id="{620AB74B-F0C2-FCCD-DA4C-D605730E0800}"/>
              </a:ext>
            </a:extLst>
          </p:cNvPr>
          <p:cNvSpPr txBox="1"/>
          <p:nvPr/>
        </p:nvSpPr>
        <p:spPr>
          <a:xfrm>
            <a:off x="2768733" y="1859179"/>
            <a:ext cx="535724" cy="200055"/>
          </a:xfrm>
          <a:prstGeom prst="rect">
            <a:avLst/>
          </a:prstGeom>
          <a:noFill/>
        </p:spPr>
        <p:txBody>
          <a:bodyPr wrap="none" rtlCol="0">
            <a:spAutoFit/>
          </a:bodyPr>
          <a:lstStyle/>
          <a:p>
            <a:r>
              <a:rPr lang="en-US" sz="700" dirty="0"/>
              <a:t>14</a:t>
            </a:r>
            <a:r>
              <a:rPr lang="en-US" altLang="ja-JP" sz="700" dirty="0"/>
              <a:t>~16</a:t>
            </a:r>
            <a:r>
              <a:rPr lang="en-US" sz="700" dirty="0"/>
              <a:t> %</a:t>
            </a:r>
          </a:p>
        </p:txBody>
      </p:sp>
      <p:graphicFrame>
        <p:nvGraphicFramePr>
          <p:cNvPr id="2" name="グラフ 1">
            <a:extLst>
              <a:ext uri="{FF2B5EF4-FFF2-40B4-BE49-F238E27FC236}">
                <a16:creationId xmlns:a16="http://schemas.microsoft.com/office/drawing/2014/main" id="{915D3A8E-85F6-51FB-DFB0-1FABE215A3F5}"/>
              </a:ext>
            </a:extLst>
          </p:cNvPr>
          <p:cNvGraphicFramePr>
            <a:graphicFrameLocks/>
          </p:cNvGraphicFramePr>
          <p:nvPr/>
        </p:nvGraphicFramePr>
        <p:xfrm>
          <a:off x="3566368" y="837692"/>
          <a:ext cx="6089520" cy="1867505"/>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7" name="グラフ 6">
            <a:extLst>
              <a:ext uri="{FF2B5EF4-FFF2-40B4-BE49-F238E27FC236}">
                <a16:creationId xmlns:a16="http://schemas.microsoft.com/office/drawing/2014/main" id="{C2B3FE47-9B15-1452-D311-C1C3C1185928}"/>
              </a:ext>
            </a:extLst>
          </p:cNvPr>
          <p:cNvGraphicFramePr>
            <a:graphicFrameLocks/>
          </p:cNvGraphicFramePr>
          <p:nvPr/>
        </p:nvGraphicFramePr>
        <p:xfrm>
          <a:off x="3628654" y="2711392"/>
          <a:ext cx="6089521" cy="1867505"/>
        </p:xfrm>
        <a:graphic>
          <a:graphicData uri="http://schemas.openxmlformats.org/drawingml/2006/chart">
            <c:chart xmlns:c="http://schemas.openxmlformats.org/drawingml/2006/chart" xmlns:r="http://schemas.openxmlformats.org/officeDocument/2006/relationships" r:id="rId8"/>
          </a:graphicData>
        </a:graphic>
      </p:graphicFrame>
      <p:sp>
        <p:nvSpPr>
          <p:cNvPr id="8" name="テキスト ボックス 7">
            <a:extLst>
              <a:ext uri="{FF2B5EF4-FFF2-40B4-BE49-F238E27FC236}">
                <a16:creationId xmlns:a16="http://schemas.microsoft.com/office/drawing/2014/main" id="{575CF930-8F9C-6E7B-DB72-65553EB1DD23}"/>
              </a:ext>
            </a:extLst>
          </p:cNvPr>
          <p:cNvSpPr txBox="1"/>
          <p:nvPr/>
        </p:nvSpPr>
        <p:spPr>
          <a:xfrm>
            <a:off x="7804388" y="5337993"/>
            <a:ext cx="498855" cy="261610"/>
          </a:xfrm>
          <a:prstGeom prst="rect">
            <a:avLst/>
          </a:prstGeom>
          <a:noFill/>
        </p:spPr>
        <p:txBody>
          <a:bodyPr wrap="none" rtlCol="0">
            <a:spAutoFit/>
          </a:bodyPr>
          <a:lstStyle/>
          <a:p>
            <a:r>
              <a:rPr lang="en-US" sz="1100" dirty="0"/>
              <a:t>Solar</a:t>
            </a:r>
          </a:p>
        </p:txBody>
      </p:sp>
      <p:sp>
        <p:nvSpPr>
          <p:cNvPr id="10" name="テキスト ボックス 9">
            <a:extLst>
              <a:ext uri="{FF2B5EF4-FFF2-40B4-BE49-F238E27FC236}">
                <a16:creationId xmlns:a16="http://schemas.microsoft.com/office/drawing/2014/main" id="{DEEAF672-A456-3AF4-560D-1A474829DECE}"/>
              </a:ext>
            </a:extLst>
          </p:cNvPr>
          <p:cNvSpPr txBox="1"/>
          <p:nvPr/>
        </p:nvSpPr>
        <p:spPr>
          <a:xfrm>
            <a:off x="120525" y="4774551"/>
            <a:ext cx="6016391" cy="738664"/>
          </a:xfrm>
          <a:prstGeom prst="rect">
            <a:avLst/>
          </a:prstGeom>
          <a:noFill/>
        </p:spPr>
        <p:txBody>
          <a:bodyPr wrap="none" rtlCol="0">
            <a:spAutoFit/>
          </a:bodyPr>
          <a:lstStyle/>
          <a:p>
            <a:r>
              <a:rPr lang="ja-JP" altLang="en-US" sz="1400" dirty="0"/>
              <a:t>・ </a:t>
            </a:r>
            <a:r>
              <a:rPr lang="en-US" altLang="ja-JP" sz="1400" dirty="0"/>
              <a:t>Rooftop is considered as a location for installing further solar panels. [1]</a:t>
            </a:r>
          </a:p>
          <a:p>
            <a:r>
              <a:rPr lang="ja-JP" altLang="en-US" sz="1400" dirty="0"/>
              <a:t>・ </a:t>
            </a:r>
            <a:r>
              <a:rPr lang="en-US" altLang="ja-JP" sz="1400" dirty="0"/>
              <a:t>Volatility in electricity wholesale prices within a day increased.</a:t>
            </a:r>
          </a:p>
          <a:p>
            <a:r>
              <a:rPr lang="ja-JP" altLang="en-US" sz="1400" dirty="0"/>
              <a:t>・ </a:t>
            </a:r>
            <a:r>
              <a:rPr lang="en-US" altLang="ja-JP" sz="1400" dirty="0"/>
              <a:t>Up to approx.50% of electricity comes from solar panels on sunny days.</a:t>
            </a:r>
          </a:p>
        </p:txBody>
      </p:sp>
      <p:cxnSp>
        <p:nvCxnSpPr>
          <p:cNvPr id="18" name="コネクタ: カギ線 17">
            <a:extLst>
              <a:ext uri="{FF2B5EF4-FFF2-40B4-BE49-F238E27FC236}">
                <a16:creationId xmlns:a16="http://schemas.microsoft.com/office/drawing/2014/main" id="{46DB1781-A12B-9CC9-56BA-904DC4635A95}"/>
              </a:ext>
            </a:extLst>
          </p:cNvPr>
          <p:cNvCxnSpPr>
            <a:cxnSpLocks/>
          </p:cNvCxnSpPr>
          <p:nvPr/>
        </p:nvCxnSpPr>
        <p:spPr>
          <a:xfrm>
            <a:off x="301321" y="5468893"/>
            <a:ext cx="165279" cy="148859"/>
          </a:xfrm>
          <a:prstGeom prst="bentConnector3">
            <a:avLst>
              <a:gd name="adj1" fmla="val 54"/>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F184D0B8-AA0C-3949-7C85-7FFC49521F20}"/>
              </a:ext>
            </a:extLst>
          </p:cNvPr>
          <p:cNvSpPr txBox="1"/>
          <p:nvPr/>
        </p:nvSpPr>
        <p:spPr>
          <a:xfrm>
            <a:off x="480740" y="5468798"/>
            <a:ext cx="5806398" cy="523220"/>
          </a:xfrm>
          <a:prstGeom prst="rect">
            <a:avLst/>
          </a:prstGeom>
          <a:noFill/>
        </p:spPr>
        <p:txBody>
          <a:bodyPr wrap="none" rtlCol="0">
            <a:spAutoFit/>
          </a:bodyPr>
          <a:lstStyle/>
          <a:p>
            <a:r>
              <a:rPr lang="en-US" altLang="ja-JP" sz="1400" dirty="0"/>
              <a:t>In this context, a decentralized energy system has worth being studied </a:t>
            </a:r>
            <a:br>
              <a:rPr lang="en-US" altLang="ja-JP" sz="1400" dirty="0"/>
            </a:br>
            <a:r>
              <a:rPr lang="en-US" altLang="ja-JP" sz="1400" dirty="0"/>
              <a:t>for further usage of Distributed Energy Resources (DERs).</a:t>
            </a:r>
          </a:p>
        </p:txBody>
      </p:sp>
    </p:spTree>
    <p:extLst>
      <p:ext uri="{BB962C8B-B14F-4D97-AF65-F5344CB8AC3E}">
        <p14:creationId xmlns:p14="http://schemas.microsoft.com/office/powerpoint/2010/main" val="1498119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FE6268AB-47CD-7B46-2E65-B96DEF547A8D}"/>
              </a:ext>
            </a:extLst>
          </p:cNvPr>
          <p:cNvSpPr>
            <a:spLocks noGrp="1"/>
          </p:cNvSpPr>
          <p:nvPr>
            <p:ph sz="quarter" idx="16"/>
          </p:nvPr>
        </p:nvSpPr>
        <p:spPr/>
        <p:txBody>
          <a:bodyPr/>
          <a:lstStyle/>
          <a:p>
            <a:r>
              <a:rPr lang="en-US" altLang="ja-JP" dirty="0"/>
              <a:t>1. Introduction and background</a:t>
            </a:r>
          </a:p>
        </p:txBody>
      </p:sp>
      <p:sp>
        <p:nvSpPr>
          <p:cNvPr id="4" name="正方形/長方形 19">
            <a:extLst>
              <a:ext uri="{FF2B5EF4-FFF2-40B4-BE49-F238E27FC236}">
                <a16:creationId xmlns:a16="http://schemas.microsoft.com/office/drawing/2014/main" id="{BDD8722F-8082-748C-56F7-B157749239C8}"/>
              </a:ext>
            </a:extLst>
          </p:cNvPr>
          <p:cNvSpPr/>
          <p:nvPr/>
        </p:nvSpPr>
        <p:spPr>
          <a:xfrm>
            <a:off x="5011155" y="2027319"/>
            <a:ext cx="537412" cy="2171699"/>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矢印: 下 13">
            <a:extLst>
              <a:ext uri="{FF2B5EF4-FFF2-40B4-BE49-F238E27FC236}">
                <a16:creationId xmlns:a16="http://schemas.microsoft.com/office/drawing/2014/main" id="{C94EFCBD-0B5E-96AC-A061-303DDED74BA9}"/>
              </a:ext>
            </a:extLst>
          </p:cNvPr>
          <p:cNvSpPr/>
          <p:nvPr/>
        </p:nvSpPr>
        <p:spPr>
          <a:xfrm>
            <a:off x="1227225" y="1999572"/>
            <a:ext cx="1016666" cy="3456747"/>
          </a:xfrm>
          <a:prstGeom prst="downArrow">
            <a:avLst>
              <a:gd name="adj1" fmla="val 50000"/>
              <a:gd name="adj2" fmla="val 39941"/>
            </a:avLst>
          </a:prstGeom>
          <a:solidFill>
            <a:schemeClr val="accent1">
              <a:lumMod val="20000"/>
              <a:lumOff val="8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直線コネクタ 4">
            <a:extLst>
              <a:ext uri="{FF2B5EF4-FFF2-40B4-BE49-F238E27FC236}">
                <a16:creationId xmlns:a16="http://schemas.microsoft.com/office/drawing/2014/main" id="{F99C6207-090C-06C2-7D69-A4A461113417}"/>
              </a:ext>
            </a:extLst>
          </p:cNvPr>
          <p:cNvCxnSpPr>
            <a:cxnSpLocks/>
          </p:cNvCxnSpPr>
          <p:nvPr/>
        </p:nvCxnSpPr>
        <p:spPr>
          <a:xfrm flipV="1">
            <a:off x="3080086" y="824161"/>
            <a:ext cx="0" cy="5245768"/>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7" name="テキスト ボックス 10">
            <a:extLst>
              <a:ext uri="{FF2B5EF4-FFF2-40B4-BE49-F238E27FC236}">
                <a16:creationId xmlns:a16="http://schemas.microsoft.com/office/drawing/2014/main" id="{AF043FFC-7CD0-4EC2-924E-BDD6BC74C22A}"/>
              </a:ext>
            </a:extLst>
          </p:cNvPr>
          <p:cNvSpPr txBox="1"/>
          <p:nvPr/>
        </p:nvSpPr>
        <p:spPr>
          <a:xfrm>
            <a:off x="716689" y="819180"/>
            <a:ext cx="2037737" cy="307777"/>
          </a:xfrm>
          <a:prstGeom prst="rect">
            <a:avLst/>
          </a:prstGeom>
          <a:noFill/>
        </p:spPr>
        <p:txBody>
          <a:bodyPr wrap="none" rtlCol="0">
            <a:spAutoFit/>
          </a:bodyPr>
          <a:lstStyle/>
          <a:p>
            <a:r>
              <a:rPr lang="en-US" sz="1400" b="1" dirty="0"/>
              <a:t>Conventional</a:t>
            </a:r>
            <a:r>
              <a:rPr lang="ja-JP" altLang="en-US" sz="1400" b="1" dirty="0"/>
              <a:t> </a:t>
            </a:r>
            <a:r>
              <a:rPr lang="en-US" altLang="ja-JP" sz="1400" b="1" dirty="0"/>
              <a:t>structure</a:t>
            </a:r>
            <a:endParaRPr lang="en-US" sz="1400" b="1" dirty="0"/>
          </a:p>
        </p:txBody>
      </p:sp>
      <p:sp>
        <p:nvSpPr>
          <p:cNvPr id="8" name="テキスト ボックス 11">
            <a:extLst>
              <a:ext uri="{FF2B5EF4-FFF2-40B4-BE49-F238E27FC236}">
                <a16:creationId xmlns:a16="http://schemas.microsoft.com/office/drawing/2014/main" id="{D787FE96-5EC8-E025-F7AD-D495A70F1FB6}"/>
              </a:ext>
            </a:extLst>
          </p:cNvPr>
          <p:cNvSpPr txBox="1"/>
          <p:nvPr/>
        </p:nvSpPr>
        <p:spPr>
          <a:xfrm>
            <a:off x="552381" y="1486992"/>
            <a:ext cx="2438488" cy="276999"/>
          </a:xfrm>
          <a:prstGeom prst="rect">
            <a:avLst/>
          </a:prstGeom>
          <a:noFill/>
        </p:spPr>
        <p:txBody>
          <a:bodyPr wrap="none" rtlCol="0">
            <a:spAutoFit/>
          </a:bodyPr>
          <a:lstStyle/>
          <a:p>
            <a:r>
              <a:rPr lang="en-US" altLang="ja-JP" sz="1200" dirty="0"/>
              <a:t>Electric companies in each region</a:t>
            </a:r>
            <a:endParaRPr lang="en-US" sz="1200" dirty="0"/>
          </a:p>
        </p:txBody>
      </p:sp>
      <p:sp>
        <p:nvSpPr>
          <p:cNvPr id="9" name="テキスト ボックス 12">
            <a:extLst>
              <a:ext uri="{FF2B5EF4-FFF2-40B4-BE49-F238E27FC236}">
                <a16:creationId xmlns:a16="http://schemas.microsoft.com/office/drawing/2014/main" id="{8D506B38-B182-99E5-D72C-44A86A82B3A5}"/>
              </a:ext>
            </a:extLst>
          </p:cNvPr>
          <p:cNvSpPr txBox="1"/>
          <p:nvPr/>
        </p:nvSpPr>
        <p:spPr>
          <a:xfrm>
            <a:off x="1123301" y="1793314"/>
            <a:ext cx="1239252" cy="2800767"/>
          </a:xfrm>
          <a:prstGeom prst="rect">
            <a:avLst/>
          </a:prstGeom>
          <a:noFill/>
          <a:ln w="28575">
            <a:solidFill>
              <a:schemeClr val="accent1"/>
            </a:solidFill>
          </a:ln>
        </p:spPr>
        <p:txBody>
          <a:bodyPr wrap="square" rtlCol="0">
            <a:spAutoFit/>
          </a:bodyPr>
          <a:lstStyle/>
          <a:p>
            <a:pPr algn="ctr"/>
            <a:endParaRPr lang="en-US" altLang="ja-JP" dirty="0"/>
          </a:p>
          <a:p>
            <a:pPr algn="ctr"/>
            <a:r>
              <a:rPr lang="en-US" altLang="ja-JP" sz="1400" dirty="0"/>
              <a:t>Generation</a:t>
            </a:r>
          </a:p>
          <a:p>
            <a:pPr algn="ctr"/>
            <a:endParaRPr lang="en-US" sz="1400" dirty="0"/>
          </a:p>
          <a:p>
            <a:pPr algn="ctr"/>
            <a:endParaRPr lang="en-US" sz="1400" dirty="0"/>
          </a:p>
          <a:p>
            <a:pPr algn="ctr"/>
            <a:r>
              <a:rPr lang="en-US" altLang="ja-JP" sz="1400" dirty="0"/>
              <a:t>Transmission</a:t>
            </a:r>
          </a:p>
          <a:p>
            <a:pPr algn="ctr"/>
            <a:endParaRPr lang="en-US" sz="1400" dirty="0"/>
          </a:p>
          <a:p>
            <a:pPr algn="ctr"/>
            <a:endParaRPr lang="en-US" sz="1400" dirty="0"/>
          </a:p>
          <a:p>
            <a:pPr algn="ctr"/>
            <a:r>
              <a:rPr lang="en-US" altLang="ja-JP" sz="1400" dirty="0"/>
              <a:t>Distribution</a:t>
            </a:r>
          </a:p>
          <a:p>
            <a:pPr algn="ctr"/>
            <a:endParaRPr lang="en-US" sz="1400" dirty="0"/>
          </a:p>
          <a:p>
            <a:pPr algn="ctr"/>
            <a:endParaRPr lang="en-US" sz="1400" dirty="0"/>
          </a:p>
          <a:p>
            <a:pPr algn="ctr"/>
            <a:r>
              <a:rPr lang="en-US" altLang="ja-JP" sz="1400" dirty="0"/>
              <a:t>Retail</a:t>
            </a:r>
          </a:p>
          <a:p>
            <a:pPr algn="ctr"/>
            <a:endParaRPr lang="en-US" dirty="0"/>
          </a:p>
        </p:txBody>
      </p:sp>
      <p:sp>
        <p:nvSpPr>
          <p:cNvPr id="10" name="テキスト ボックス 14">
            <a:extLst>
              <a:ext uri="{FF2B5EF4-FFF2-40B4-BE49-F238E27FC236}">
                <a16:creationId xmlns:a16="http://schemas.microsoft.com/office/drawing/2014/main" id="{2530AD59-ADEF-DCCC-A29A-6A465351E5A1}"/>
              </a:ext>
            </a:extLst>
          </p:cNvPr>
          <p:cNvSpPr txBox="1"/>
          <p:nvPr/>
        </p:nvSpPr>
        <p:spPr>
          <a:xfrm>
            <a:off x="1123301" y="5553617"/>
            <a:ext cx="1239250" cy="433553"/>
          </a:xfrm>
          <a:prstGeom prst="rect">
            <a:avLst/>
          </a:prstGeom>
          <a:noFill/>
          <a:ln w="28575">
            <a:solidFill>
              <a:schemeClr val="tx1"/>
            </a:solidFill>
          </a:ln>
        </p:spPr>
        <p:txBody>
          <a:bodyPr wrap="square" tIns="108000" bIns="108000" rtlCol="0">
            <a:spAutoFit/>
          </a:bodyPr>
          <a:lstStyle/>
          <a:p>
            <a:pPr algn="ctr"/>
            <a:r>
              <a:rPr lang="en-US" sz="1400" dirty="0"/>
              <a:t>Consumers</a:t>
            </a:r>
          </a:p>
        </p:txBody>
      </p:sp>
      <p:sp>
        <p:nvSpPr>
          <p:cNvPr id="11" name="テキスト ボックス 15">
            <a:extLst>
              <a:ext uri="{FF2B5EF4-FFF2-40B4-BE49-F238E27FC236}">
                <a16:creationId xmlns:a16="http://schemas.microsoft.com/office/drawing/2014/main" id="{D8D2F725-E6E8-F137-22E6-F86F735BA25B}"/>
              </a:ext>
            </a:extLst>
          </p:cNvPr>
          <p:cNvSpPr txBox="1"/>
          <p:nvPr/>
        </p:nvSpPr>
        <p:spPr>
          <a:xfrm>
            <a:off x="279447" y="4588948"/>
            <a:ext cx="2908168" cy="646331"/>
          </a:xfrm>
          <a:prstGeom prst="rect">
            <a:avLst/>
          </a:prstGeom>
          <a:noFill/>
        </p:spPr>
        <p:txBody>
          <a:bodyPr wrap="none" rtlCol="0">
            <a:spAutoFit/>
          </a:bodyPr>
          <a:lstStyle/>
          <a:p>
            <a:pPr algn="ctr"/>
            <a:r>
              <a:rPr lang="en-US" sz="1200" dirty="0"/>
              <a:t>Supply obligations, regional monopolies</a:t>
            </a:r>
            <a:br>
              <a:rPr lang="en-US" sz="1200" dirty="0"/>
            </a:br>
            <a:r>
              <a:rPr lang="en-US" sz="1200" dirty="0"/>
              <a:t>Price regulation based on </a:t>
            </a:r>
            <a:br>
              <a:rPr lang="en-US" sz="1200" dirty="0"/>
            </a:br>
            <a:r>
              <a:rPr lang="en-US" sz="1200" dirty="0"/>
              <a:t>the full-cost method</a:t>
            </a:r>
          </a:p>
        </p:txBody>
      </p:sp>
      <p:sp>
        <p:nvSpPr>
          <p:cNvPr id="12" name="テキスト ボックス 16">
            <a:extLst>
              <a:ext uri="{FF2B5EF4-FFF2-40B4-BE49-F238E27FC236}">
                <a16:creationId xmlns:a16="http://schemas.microsoft.com/office/drawing/2014/main" id="{2F2E4D56-4CD6-4054-9295-7ABDAE8E6E26}"/>
              </a:ext>
            </a:extLst>
          </p:cNvPr>
          <p:cNvSpPr txBox="1"/>
          <p:nvPr/>
        </p:nvSpPr>
        <p:spPr>
          <a:xfrm>
            <a:off x="5516325" y="812977"/>
            <a:ext cx="2292615" cy="307777"/>
          </a:xfrm>
          <a:prstGeom prst="rect">
            <a:avLst/>
          </a:prstGeom>
          <a:noFill/>
        </p:spPr>
        <p:txBody>
          <a:bodyPr wrap="none" rtlCol="0">
            <a:spAutoFit/>
          </a:bodyPr>
          <a:lstStyle/>
          <a:p>
            <a:r>
              <a:rPr lang="en-US" altLang="ja-JP" sz="1400" b="1" dirty="0"/>
              <a:t>Current structure (2016</a:t>
            </a:r>
            <a:r>
              <a:rPr lang="ja-JP" altLang="en-US" sz="1400" b="1" dirty="0"/>
              <a:t>～</a:t>
            </a:r>
            <a:r>
              <a:rPr lang="en-US" altLang="ja-JP" sz="1400" b="1" dirty="0"/>
              <a:t>)</a:t>
            </a:r>
            <a:endParaRPr lang="en-US" sz="1400" b="1" dirty="0"/>
          </a:p>
        </p:txBody>
      </p:sp>
      <p:sp>
        <p:nvSpPr>
          <p:cNvPr id="13" name="テキスト ボックス 17">
            <a:extLst>
              <a:ext uri="{FF2B5EF4-FFF2-40B4-BE49-F238E27FC236}">
                <a16:creationId xmlns:a16="http://schemas.microsoft.com/office/drawing/2014/main" id="{521FD049-D40A-1887-C0F5-F92A6394B7C4}"/>
              </a:ext>
            </a:extLst>
          </p:cNvPr>
          <p:cNvSpPr txBox="1"/>
          <p:nvPr/>
        </p:nvSpPr>
        <p:spPr>
          <a:xfrm>
            <a:off x="3588795" y="1793314"/>
            <a:ext cx="2262157" cy="2585323"/>
          </a:xfrm>
          <a:prstGeom prst="rect">
            <a:avLst/>
          </a:prstGeom>
          <a:noFill/>
          <a:ln w="28575">
            <a:solidFill>
              <a:schemeClr val="accent1"/>
            </a:solidFill>
          </a:ln>
        </p:spPr>
        <p:txBody>
          <a:bodyPr wrap="square" rtlCol="0">
            <a:spAutoFit/>
          </a:bodyPr>
          <a:lstStyle/>
          <a:p>
            <a:endParaRPr lang="en-US" altLang="ja-JP" dirty="0"/>
          </a:p>
          <a:p>
            <a:r>
              <a:rPr lang="ja-JP" altLang="en-US" dirty="0"/>
              <a:t>　　　　　　</a:t>
            </a:r>
            <a:endParaRPr lang="en-US" altLang="ja-JP" dirty="0"/>
          </a:p>
          <a:p>
            <a:endParaRPr lang="en-US" dirty="0"/>
          </a:p>
          <a:p>
            <a:r>
              <a:rPr lang="ja-JP" altLang="en-US" dirty="0"/>
              <a:t>　 </a:t>
            </a:r>
            <a:r>
              <a:rPr lang="en-US" altLang="ja-JP" dirty="0"/>
              <a:t>TSO</a:t>
            </a:r>
          </a:p>
          <a:p>
            <a:r>
              <a:rPr lang="ja-JP" altLang="en-US" dirty="0"/>
              <a:t>　 </a:t>
            </a:r>
            <a:r>
              <a:rPr lang="en-US" altLang="ja-JP" dirty="0"/>
              <a:t>DSO</a:t>
            </a:r>
          </a:p>
          <a:p>
            <a:endParaRPr lang="en-US" dirty="0"/>
          </a:p>
          <a:p>
            <a:endParaRPr lang="en-US" dirty="0"/>
          </a:p>
          <a:p>
            <a:r>
              <a:rPr lang="ja-JP" altLang="en-US" dirty="0"/>
              <a:t>　　　　　　</a:t>
            </a:r>
            <a:endParaRPr lang="en-US" altLang="ja-JP" dirty="0"/>
          </a:p>
          <a:p>
            <a:endParaRPr lang="en-US" dirty="0"/>
          </a:p>
        </p:txBody>
      </p:sp>
      <p:sp>
        <p:nvSpPr>
          <p:cNvPr id="14" name="正方形/長方形 18">
            <a:extLst>
              <a:ext uri="{FF2B5EF4-FFF2-40B4-BE49-F238E27FC236}">
                <a16:creationId xmlns:a16="http://schemas.microsoft.com/office/drawing/2014/main" id="{5D02BDF8-953C-5BAF-E88D-8F677959B388}"/>
              </a:ext>
            </a:extLst>
          </p:cNvPr>
          <p:cNvSpPr/>
          <p:nvPr/>
        </p:nvSpPr>
        <p:spPr>
          <a:xfrm>
            <a:off x="3717760" y="2436393"/>
            <a:ext cx="1028700" cy="1022684"/>
          </a:xfrm>
          <a:prstGeom prst="rect">
            <a:avLst/>
          </a:prstGeom>
          <a:no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テキスト ボックス 20">
            <a:extLst>
              <a:ext uri="{FF2B5EF4-FFF2-40B4-BE49-F238E27FC236}">
                <a16:creationId xmlns:a16="http://schemas.microsoft.com/office/drawing/2014/main" id="{AC15B645-4841-4E78-F1AE-9FCCC9C93F36}"/>
              </a:ext>
            </a:extLst>
          </p:cNvPr>
          <p:cNvSpPr txBox="1"/>
          <p:nvPr/>
        </p:nvSpPr>
        <p:spPr>
          <a:xfrm>
            <a:off x="4678690" y="2382249"/>
            <a:ext cx="711086" cy="707886"/>
          </a:xfrm>
          <a:prstGeom prst="rect">
            <a:avLst/>
          </a:prstGeom>
          <a:noFill/>
        </p:spPr>
        <p:txBody>
          <a:bodyPr wrap="square" rtlCol="0">
            <a:spAutoFit/>
          </a:bodyPr>
          <a:lstStyle/>
          <a:p>
            <a:r>
              <a:rPr lang="en-US" altLang="ja-JP" sz="800" dirty="0"/>
              <a:t>Legal</a:t>
            </a:r>
            <a:br>
              <a:rPr lang="en-US" altLang="ja-JP" sz="800" dirty="0"/>
            </a:br>
            <a:r>
              <a:rPr lang="en-US" altLang="ja-JP" sz="800" dirty="0"/>
              <a:t>Separation</a:t>
            </a:r>
          </a:p>
          <a:p>
            <a:r>
              <a:rPr lang="ja-JP" altLang="en-US" sz="2400" dirty="0">
                <a:solidFill>
                  <a:schemeClr val="accent2"/>
                </a:solidFill>
              </a:rPr>
              <a:t>←</a:t>
            </a:r>
            <a:endParaRPr lang="en-US" sz="1000" dirty="0">
              <a:solidFill>
                <a:schemeClr val="accent2"/>
              </a:solidFill>
            </a:endParaRPr>
          </a:p>
        </p:txBody>
      </p:sp>
      <p:sp>
        <p:nvSpPr>
          <p:cNvPr id="16" name="テキスト ボックス 21">
            <a:extLst>
              <a:ext uri="{FF2B5EF4-FFF2-40B4-BE49-F238E27FC236}">
                <a16:creationId xmlns:a16="http://schemas.microsoft.com/office/drawing/2014/main" id="{E52C4B86-49CD-60B1-91ED-F5123001ACA0}"/>
              </a:ext>
            </a:extLst>
          </p:cNvPr>
          <p:cNvSpPr txBox="1"/>
          <p:nvPr/>
        </p:nvSpPr>
        <p:spPr>
          <a:xfrm>
            <a:off x="3937141" y="1486992"/>
            <a:ext cx="1483098" cy="276999"/>
          </a:xfrm>
          <a:prstGeom prst="rect">
            <a:avLst/>
          </a:prstGeom>
          <a:noFill/>
        </p:spPr>
        <p:txBody>
          <a:bodyPr wrap="none" rtlCol="0">
            <a:spAutoFit/>
          </a:bodyPr>
          <a:lstStyle/>
          <a:p>
            <a:r>
              <a:rPr lang="en-US" altLang="ja-JP" sz="1200" dirty="0"/>
              <a:t>Electric</a:t>
            </a:r>
            <a:r>
              <a:rPr lang="ja-JP" altLang="en-US" sz="1200" dirty="0"/>
              <a:t> </a:t>
            </a:r>
            <a:r>
              <a:rPr lang="en-US" altLang="ja-JP" sz="1200" dirty="0"/>
              <a:t>companies</a:t>
            </a:r>
            <a:endParaRPr lang="en-US" sz="1200" dirty="0"/>
          </a:p>
        </p:txBody>
      </p:sp>
      <p:sp>
        <p:nvSpPr>
          <p:cNvPr id="17" name="テキスト ボックス 22">
            <a:extLst>
              <a:ext uri="{FF2B5EF4-FFF2-40B4-BE49-F238E27FC236}">
                <a16:creationId xmlns:a16="http://schemas.microsoft.com/office/drawing/2014/main" id="{44A871DD-44E4-DC39-4A5E-A5A25CDBE244}"/>
              </a:ext>
            </a:extLst>
          </p:cNvPr>
          <p:cNvSpPr txBox="1"/>
          <p:nvPr/>
        </p:nvSpPr>
        <p:spPr>
          <a:xfrm>
            <a:off x="6365550" y="1794829"/>
            <a:ext cx="934871" cy="276999"/>
          </a:xfrm>
          <a:prstGeom prst="rect">
            <a:avLst/>
          </a:prstGeom>
          <a:noFill/>
          <a:ln w="28575">
            <a:solidFill>
              <a:schemeClr val="accent1"/>
            </a:solidFill>
          </a:ln>
        </p:spPr>
        <p:txBody>
          <a:bodyPr wrap="none" rtlCol="0">
            <a:spAutoFit/>
          </a:bodyPr>
          <a:lstStyle/>
          <a:p>
            <a:pPr algn="ctr"/>
            <a:r>
              <a:rPr lang="en-US" altLang="ja-JP" sz="1200" dirty="0"/>
              <a:t>Generation</a:t>
            </a:r>
            <a:endParaRPr lang="en-US" sz="1200" dirty="0"/>
          </a:p>
        </p:txBody>
      </p:sp>
      <p:sp>
        <p:nvSpPr>
          <p:cNvPr id="18" name="テキスト ボックス 23">
            <a:extLst>
              <a:ext uri="{FF2B5EF4-FFF2-40B4-BE49-F238E27FC236}">
                <a16:creationId xmlns:a16="http://schemas.microsoft.com/office/drawing/2014/main" id="{DA959842-FBB3-0A51-D2EF-CF8B3E83D7DF}"/>
              </a:ext>
            </a:extLst>
          </p:cNvPr>
          <p:cNvSpPr txBox="1"/>
          <p:nvPr/>
        </p:nvSpPr>
        <p:spPr>
          <a:xfrm>
            <a:off x="7343290" y="1790062"/>
            <a:ext cx="934871" cy="276999"/>
          </a:xfrm>
          <a:prstGeom prst="rect">
            <a:avLst/>
          </a:prstGeom>
          <a:noFill/>
          <a:ln w="28575">
            <a:solidFill>
              <a:schemeClr val="accent1"/>
            </a:solidFill>
          </a:ln>
        </p:spPr>
        <p:txBody>
          <a:bodyPr wrap="none" rtlCol="0">
            <a:spAutoFit/>
          </a:bodyPr>
          <a:lstStyle/>
          <a:p>
            <a:pPr algn="ctr"/>
            <a:r>
              <a:rPr lang="en-US" altLang="ja-JP" sz="1200" dirty="0"/>
              <a:t>Generation</a:t>
            </a:r>
            <a:endParaRPr lang="en-US" sz="1200" dirty="0"/>
          </a:p>
        </p:txBody>
      </p:sp>
      <p:sp>
        <p:nvSpPr>
          <p:cNvPr id="19" name="テキスト ボックス 24">
            <a:extLst>
              <a:ext uri="{FF2B5EF4-FFF2-40B4-BE49-F238E27FC236}">
                <a16:creationId xmlns:a16="http://schemas.microsoft.com/office/drawing/2014/main" id="{058C1461-BBF8-D112-D7D3-EFEB66121B78}"/>
              </a:ext>
            </a:extLst>
          </p:cNvPr>
          <p:cNvSpPr txBox="1"/>
          <p:nvPr/>
        </p:nvSpPr>
        <p:spPr>
          <a:xfrm>
            <a:off x="8319284" y="1790062"/>
            <a:ext cx="934871" cy="276999"/>
          </a:xfrm>
          <a:prstGeom prst="rect">
            <a:avLst/>
          </a:prstGeom>
          <a:noFill/>
          <a:ln w="28575">
            <a:solidFill>
              <a:schemeClr val="accent1"/>
            </a:solidFill>
          </a:ln>
        </p:spPr>
        <p:txBody>
          <a:bodyPr wrap="none" rtlCol="0">
            <a:spAutoFit/>
          </a:bodyPr>
          <a:lstStyle/>
          <a:p>
            <a:pPr algn="ctr"/>
            <a:r>
              <a:rPr lang="en-US" altLang="ja-JP" sz="1200" dirty="0"/>
              <a:t>Generation</a:t>
            </a:r>
            <a:endParaRPr lang="en-US" sz="1200" dirty="0"/>
          </a:p>
        </p:txBody>
      </p:sp>
      <p:sp>
        <p:nvSpPr>
          <p:cNvPr id="20" name="テキスト ボックス 25">
            <a:extLst>
              <a:ext uri="{FF2B5EF4-FFF2-40B4-BE49-F238E27FC236}">
                <a16:creationId xmlns:a16="http://schemas.microsoft.com/office/drawing/2014/main" id="{41D41CF5-0D73-9DB0-2FFF-84E30E113AD7}"/>
              </a:ext>
            </a:extLst>
          </p:cNvPr>
          <p:cNvSpPr txBox="1"/>
          <p:nvPr/>
        </p:nvSpPr>
        <p:spPr>
          <a:xfrm>
            <a:off x="6396149" y="2829262"/>
            <a:ext cx="2829151" cy="567811"/>
          </a:xfrm>
          <a:prstGeom prst="rect">
            <a:avLst/>
          </a:prstGeom>
          <a:noFill/>
          <a:ln w="28575">
            <a:solidFill>
              <a:schemeClr val="accent2"/>
            </a:solidFill>
          </a:ln>
        </p:spPr>
        <p:txBody>
          <a:bodyPr wrap="square" tIns="144000" bIns="144000" rtlCol="0" anchor="ctr" anchorCtr="1">
            <a:spAutoFit/>
          </a:bodyPr>
          <a:lstStyle/>
          <a:p>
            <a:pPr algn="ctr"/>
            <a:r>
              <a:rPr lang="en-US" altLang="ja-JP" dirty="0"/>
              <a:t>Wholesale Market(JEPX)</a:t>
            </a:r>
          </a:p>
        </p:txBody>
      </p:sp>
      <p:sp>
        <p:nvSpPr>
          <p:cNvPr id="21" name="テキスト ボックス 26">
            <a:extLst>
              <a:ext uri="{FF2B5EF4-FFF2-40B4-BE49-F238E27FC236}">
                <a16:creationId xmlns:a16="http://schemas.microsoft.com/office/drawing/2014/main" id="{2B201FB3-BD84-CD77-8678-144196C94976}"/>
              </a:ext>
            </a:extLst>
          </p:cNvPr>
          <p:cNvSpPr txBox="1"/>
          <p:nvPr/>
        </p:nvSpPr>
        <p:spPr>
          <a:xfrm>
            <a:off x="6499417" y="3727945"/>
            <a:ext cx="669702" cy="402775"/>
          </a:xfrm>
          <a:prstGeom prst="rect">
            <a:avLst/>
          </a:prstGeom>
          <a:noFill/>
          <a:ln w="28575">
            <a:solidFill>
              <a:schemeClr val="accent1"/>
            </a:solidFill>
          </a:ln>
        </p:spPr>
        <p:txBody>
          <a:bodyPr wrap="none" lIns="79200" tIns="108000" rIns="79200" bIns="108000" rtlCol="0">
            <a:spAutoFit/>
          </a:bodyPr>
          <a:lstStyle/>
          <a:p>
            <a:pPr algn="ctr"/>
            <a:r>
              <a:rPr lang="en-US" altLang="ja-JP" sz="1200" dirty="0"/>
              <a:t>Retailer</a:t>
            </a:r>
            <a:endParaRPr lang="en-US" sz="1200" dirty="0"/>
          </a:p>
        </p:txBody>
      </p:sp>
      <p:sp>
        <p:nvSpPr>
          <p:cNvPr id="22" name="テキスト ボックス 27">
            <a:extLst>
              <a:ext uri="{FF2B5EF4-FFF2-40B4-BE49-F238E27FC236}">
                <a16:creationId xmlns:a16="http://schemas.microsoft.com/office/drawing/2014/main" id="{5A762BD2-1FEF-1EC6-098E-985AEE392017}"/>
              </a:ext>
            </a:extLst>
          </p:cNvPr>
          <p:cNvSpPr txBox="1"/>
          <p:nvPr/>
        </p:nvSpPr>
        <p:spPr>
          <a:xfrm>
            <a:off x="7475875" y="3727945"/>
            <a:ext cx="669702" cy="402775"/>
          </a:xfrm>
          <a:prstGeom prst="rect">
            <a:avLst/>
          </a:prstGeom>
          <a:noFill/>
          <a:ln w="28575">
            <a:solidFill>
              <a:schemeClr val="accent1"/>
            </a:solidFill>
          </a:ln>
        </p:spPr>
        <p:txBody>
          <a:bodyPr wrap="none" lIns="79200" tIns="108000" rIns="79200" bIns="108000" rtlCol="0">
            <a:spAutoFit/>
          </a:bodyPr>
          <a:lstStyle/>
          <a:p>
            <a:pPr algn="ctr"/>
            <a:r>
              <a:rPr lang="en-US" altLang="ja-JP" sz="1200" dirty="0"/>
              <a:t>Retailer</a:t>
            </a:r>
            <a:endParaRPr lang="en-US" sz="1200" dirty="0"/>
          </a:p>
        </p:txBody>
      </p:sp>
      <p:sp>
        <p:nvSpPr>
          <p:cNvPr id="23" name="テキスト ボックス 28">
            <a:extLst>
              <a:ext uri="{FF2B5EF4-FFF2-40B4-BE49-F238E27FC236}">
                <a16:creationId xmlns:a16="http://schemas.microsoft.com/office/drawing/2014/main" id="{64BD5305-2E62-301E-95F2-4843EF33A262}"/>
              </a:ext>
            </a:extLst>
          </p:cNvPr>
          <p:cNvSpPr txBox="1"/>
          <p:nvPr/>
        </p:nvSpPr>
        <p:spPr>
          <a:xfrm>
            <a:off x="8452333" y="3727944"/>
            <a:ext cx="669702" cy="402775"/>
          </a:xfrm>
          <a:prstGeom prst="rect">
            <a:avLst/>
          </a:prstGeom>
          <a:noFill/>
          <a:ln w="28575">
            <a:solidFill>
              <a:schemeClr val="accent1"/>
            </a:solidFill>
          </a:ln>
        </p:spPr>
        <p:txBody>
          <a:bodyPr wrap="none" lIns="79200" tIns="108000" rIns="79200" bIns="108000" rtlCol="0">
            <a:spAutoFit/>
          </a:bodyPr>
          <a:lstStyle/>
          <a:p>
            <a:pPr algn="ctr"/>
            <a:r>
              <a:rPr lang="en-US" altLang="ja-JP" sz="1200" dirty="0"/>
              <a:t>Retailer</a:t>
            </a:r>
            <a:endParaRPr lang="en-US" sz="1200" dirty="0"/>
          </a:p>
        </p:txBody>
      </p:sp>
      <p:sp>
        <p:nvSpPr>
          <p:cNvPr id="25" name="テキスト ボックス 30">
            <a:extLst>
              <a:ext uri="{FF2B5EF4-FFF2-40B4-BE49-F238E27FC236}">
                <a16:creationId xmlns:a16="http://schemas.microsoft.com/office/drawing/2014/main" id="{759007AC-357A-2005-EFD2-0C0DDFB01852}"/>
              </a:ext>
            </a:extLst>
          </p:cNvPr>
          <p:cNvSpPr txBox="1"/>
          <p:nvPr/>
        </p:nvSpPr>
        <p:spPr>
          <a:xfrm>
            <a:off x="6208633" y="5254982"/>
            <a:ext cx="751657" cy="330072"/>
          </a:xfrm>
          <a:prstGeom prst="rect">
            <a:avLst/>
          </a:prstGeom>
          <a:noFill/>
          <a:ln w="28575">
            <a:solidFill>
              <a:schemeClr val="tx1"/>
            </a:solidFill>
          </a:ln>
        </p:spPr>
        <p:txBody>
          <a:bodyPr wrap="square" lIns="36000" tIns="72000" rIns="36000" bIns="72000" rtlCol="0">
            <a:spAutoFit/>
          </a:bodyPr>
          <a:lstStyle/>
          <a:p>
            <a:pPr algn="ctr"/>
            <a:r>
              <a:rPr lang="en-US" sz="1200" dirty="0"/>
              <a:t>Prosumer</a:t>
            </a:r>
          </a:p>
        </p:txBody>
      </p:sp>
      <p:cxnSp>
        <p:nvCxnSpPr>
          <p:cNvPr id="27" name="直線矢印コネクタ 38">
            <a:extLst>
              <a:ext uri="{FF2B5EF4-FFF2-40B4-BE49-F238E27FC236}">
                <a16:creationId xmlns:a16="http://schemas.microsoft.com/office/drawing/2014/main" id="{AFC9443D-F739-3591-7C9E-8795F25915E5}"/>
              </a:ext>
            </a:extLst>
          </p:cNvPr>
          <p:cNvCxnSpPr>
            <a:cxnSpLocks/>
          </p:cNvCxnSpPr>
          <p:nvPr/>
        </p:nvCxnSpPr>
        <p:spPr>
          <a:xfrm>
            <a:off x="5590762" y="2337201"/>
            <a:ext cx="870198" cy="51141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8" name="直線矢印コネクタ 46">
            <a:extLst>
              <a:ext uri="{FF2B5EF4-FFF2-40B4-BE49-F238E27FC236}">
                <a16:creationId xmlns:a16="http://schemas.microsoft.com/office/drawing/2014/main" id="{F26AC27C-2123-7977-2644-0543F584D9A6}"/>
              </a:ext>
            </a:extLst>
          </p:cNvPr>
          <p:cNvCxnSpPr>
            <a:cxnSpLocks/>
            <a:stCxn id="18" idx="2"/>
          </p:cNvCxnSpPr>
          <p:nvPr/>
        </p:nvCxnSpPr>
        <p:spPr>
          <a:xfrm flipH="1">
            <a:off x="7810724" y="2067061"/>
            <a:ext cx="2" cy="76220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9" name="直線矢印コネクタ 47">
            <a:extLst>
              <a:ext uri="{FF2B5EF4-FFF2-40B4-BE49-F238E27FC236}">
                <a16:creationId xmlns:a16="http://schemas.microsoft.com/office/drawing/2014/main" id="{334130E8-6ACF-FE5D-290C-66B439D4310B}"/>
              </a:ext>
            </a:extLst>
          </p:cNvPr>
          <p:cNvCxnSpPr>
            <a:cxnSpLocks/>
            <a:stCxn id="19" idx="2"/>
          </p:cNvCxnSpPr>
          <p:nvPr/>
        </p:nvCxnSpPr>
        <p:spPr>
          <a:xfrm flipH="1">
            <a:off x="8626699" y="2067061"/>
            <a:ext cx="160021" cy="792426"/>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0" name="直線矢印コネクタ 54">
            <a:extLst>
              <a:ext uri="{FF2B5EF4-FFF2-40B4-BE49-F238E27FC236}">
                <a16:creationId xmlns:a16="http://schemas.microsoft.com/office/drawing/2014/main" id="{C9B805AF-83A1-5221-D538-07656843E8AF}"/>
              </a:ext>
            </a:extLst>
          </p:cNvPr>
          <p:cNvCxnSpPr>
            <a:cxnSpLocks/>
            <a:endCxn id="21" idx="0"/>
          </p:cNvCxnSpPr>
          <p:nvPr/>
        </p:nvCxnSpPr>
        <p:spPr>
          <a:xfrm flipH="1">
            <a:off x="6834268" y="3408562"/>
            <a:ext cx="219754" cy="319383"/>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1" name="直線矢印コネクタ 56">
            <a:extLst>
              <a:ext uri="{FF2B5EF4-FFF2-40B4-BE49-F238E27FC236}">
                <a16:creationId xmlns:a16="http://schemas.microsoft.com/office/drawing/2014/main" id="{C0AD633A-1D0F-E4C8-BF82-83DD974E46B7}"/>
              </a:ext>
            </a:extLst>
          </p:cNvPr>
          <p:cNvCxnSpPr>
            <a:cxnSpLocks/>
            <a:endCxn id="23" idx="0"/>
          </p:cNvCxnSpPr>
          <p:nvPr/>
        </p:nvCxnSpPr>
        <p:spPr>
          <a:xfrm>
            <a:off x="8626699" y="3397933"/>
            <a:ext cx="160485" cy="33001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 name="直線矢印コネクタ 58">
            <a:extLst>
              <a:ext uri="{FF2B5EF4-FFF2-40B4-BE49-F238E27FC236}">
                <a16:creationId xmlns:a16="http://schemas.microsoft.com/office/drawing/2014/main" id="{27BDAEC2-7EA4-F12B-600F-08C3A42F8264}"/>
              </a:ext>
            </a:extLst>
          </p:cNvPr>
          <p:cNvCxnSpPr>
            <a:cxnSpLocks/>
            <a:endCxn id="22" idx="0"/>
          </p:cNvCxnSpPr>
          <p:nvPr/>
        </p:nvCxnSpPr>
        <p:spPr>
          <a:xfrm>
            <a:off x="7810724" y="3408562"/>
            <a:ext cx="2" cy="319383"/>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 name="直線矢印コネクタ 60">
            <a:extLst>
              <a:ext uri="{FF2B5EF4-FFF2-40B4-BE49-F238E27FC236}">
                <a16:creationId xmlns:a16="http://schemas.microsoft.com/office/drawing/2014/main" id="{66619850-B5B6-E1F0-DED1-FF2E2856D745}"/>
              </a:ext>
            </a:extLst>
          </p:cNvPr>
          <p:cNvCxnSpPr>
            <a:cxnSpLocks/>
          </p:cNvCxnSpPr>
          <p:nvPr/>
        </p:nvCxnSpPr>
        <p:spPr>
          <a:xfrm flipH="1">
            <a:off x="5548567" y="3418991"/>
            <a:ext cx="874284" cy="484675"/>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4" name="直線矢印コネクタ 62">
            <a:extLst>
              <a:ext uri="{FF2B5EF4-FFF2-40B4-BE49-F238E27FC236}">
                <a16:creationId xmlns:a16="http://schemas.microsoft.com/office/drawing/2014/main" id="{D5B52400-2294-2285-604B-15E0228B64A5}"/>
              </a:ext>
            </a:extLst>
          </p:cNvPr>
          <p:cNvCxnSpPr>
            <a:cxnSpLocks/>
            <a:stCxn id="58" idx="3"/>
            <a:endCxn id="48" idx="0"/>
          </p:cNvCxnSpPr>
          <p:nvPr/>
        </p:nvCxnSpPr>
        <p:spPr>
          <a:xfrm>
            <a:off x="5590762" y="4040180"/>
            <a:ext cx="2681238" cy="121984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5" name="直線矢印コネクタ 64">
            <a:extLst>
              <a:ext uri="{FF2B5EF4-FFF2-40B4-BE49-F238E27FC236}">
                <a16:creationId xmlns:a16="http://schemas.microsoft.com/office/drawing/2014/main" id="{79AF9451-D871-A397-BABD-3E9D8EF57223}"/>
              </a:ext>
            </a:extLst>
          </p:cNvPr>
          <p:cNvCxnSpPr>
            <a:cxnSpLocks/>
            <a:stCxn id="21" idx="2"/>
            <a:endCxn id="68" idx="0"/>
          </p:cNvCxnSpPr>
          <p:nvPr/>
        </p:nvCxnSpPr>
        <p:spPr>
          <a:xfrm>
            <a:off x="6834268" y="4130720"/>
            <a:ext cx="2275107" cy="112977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6" name="直線矢印コネクタ 69">
            <a:extLst>
              <a:ext uri="{FF2B5EF4-FFF2-40B4-BE49-F238E27FC236}">
                <a16:creationId xmlns:a16="http://schemas.microsoft.com/office/drawing/2014/main" id="{B748EA8F-F270-70B7-9076-7D5DF5495321}"/>
              </a:ext>
            </a:extLst>
          </p:cNvPr>
          <p:cNvCxnSpPr>
            <a:cxnSpLocks/>
            <a:stCxn id="22" idx="2"/>
            <a:endCxn id="47" idx="0"/>
          </p:cNvCxnSpPr>
          <p:nvPr/>
        </p:nvCxnSpPr>
        <p:spPr>
          <a:xfrm flipH="1">
            <a:off x="7418880" y="4130720"/>
            <a:ext cx="391846" cy="112930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7" name="直線矢印コネクタ 70">
            <a:extLst>
              <a:ext uri="{FF2B5EF4-FFF2-40B4-BE49-F238E27FC236}">
                <a16:creationId xmlns:a16="http://schemas.microsoft.com/office/drawing/2014/main" id="{0C604D6C-7C65-90EB-E35D-7485257DF15D}"/>
              </a:ext>
            </a:extLst>
          </p:cNvPr>
          <p:cNvCxnSpPr>
            <a:cxnSpLocks/>
            <a:stCxn id="23" idx="2"/>
            <a:endCxn id="25" idx="0"/>
          </p:cNvCxnSpPr>
          <p:nvPr/>
        </p:nvCxnSpPr>
        <p:spPr>
          <a:xfrm flipH="1">
            <a:off x="6584462" y="4130719"/>
            <a:ext cx="2202722" cy="1124263"/>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42" name="コネクタ: カギ線 95">
            <a:extLst>
              <a:ext uri="{FF2B5EF4-FFF2-40B4-BE49-F238E27FC236}">
                <a16:creationId xmlns:a16="http://schemas.microsoft.com/office/drawing/2014/main" id="{D516FDEA-FBA3-904A-9CBC-9B4CB00137C9}"/>
              </a:ext>
            </a:extLst>
          </p:cNvPr>
          <p:cNvCxnSpPr>
            <a:cxnSpLocks/>
            <a:endCxn id="14" idx="0"/>
          </p:cNvCxnSpPr>
          <p:nvPr/>
        </p:nvCxnSpPr>
        <p:spPr>
          <a:xfrm rot="10800000" flipV="1">
            <a:off x="4232111" y="1925049"/>
            <a:ext cx="2160677" cy="511343"/>
          </a:xfrm>
          <a:prstGeom prst="bentConnector2">
            <a:avLst/>
          </a:prstGeom>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100">
            <a:extLst>
              <a:ext uri="{FF2B5EF4-FFF2-40B4-BE49-F238E27FC236}">
                <a16:creationId xmlns:a16="http://schemas.microsoft.com/office/drawing/2014/main" id="{B4E4FC3A-691A-2608-FC90-59B8BED8BF66}"/>
              </a:ext>
            </a:extLst>
          </p:cNvPr>
          <p:cNvCxnSpPr>
            <a:cxnSpLocks/>
            <a:stCxn id="17" idx="1"/>
            <a:endCxn id="21" idx="1"/>
          </p:cNvCxnSpPr>
          <p:nvPr/>
        </p:nvCxnSpPr>
        <p:spPr>
          <a:xfrm rot="10800000" flipH="1" flipV="1">
            <a:off x="6365549" y="1933329"/>
            <a:ext cx="133867" cy="1996004"/>
          </a:xfrm>
          <a:prstGeom prst="bentConnector3">
            <a:avLst>
              <a:gd name="adj1" fmla="val -170767"/>
            </a:avLst>
          </a:prstGeom>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44" name="テキスト ボックス 105">
            <a:extLst>
              <a:ext uri="{FF2B5EF4-FFF2-40B4-BE49-F238E27FC236}">
                <a16:creationId xmlns:a16="http://schemas.microsoft.com/office/drawing/2014/main" id="{F5D67FED-F4FA-6621-C199-EED55D6E51B4}"/>
              </a:ext>
            </a:extLst>
          </p:cNvPr>
          <p:cNvSpPr txBox="1"/>
          <p:nvPr/>
        </p:nvSpPr>
        <p:spPr>
          <a:xfrm>
            <a:off x="5182027" y="5148542"/>
            <a:ext cx="415498" cy="307777"/>
          </a:xfrm>
          <a:prstGeom prst="rect">
            <a:avLst/>
          </a:prstGeom>
          <a:noFill/>
        </p:spPr>
        <p:txBody>
          <a:bodyPr wrap="none" rtlCol="0">
            <a:spAutoFit/>
          </a:bodyPr>
          <a:lstStyle/>
          <a:p>
            <a:r>
              <a:rPr lang="en-US" altLang="ja-JP" sz="1400" dirty="0">
                <a:solidFill>
                  <a:schemeClr val="accent2"/>
                </a:solidFill>
              </a:rPr>
              <a:t>FIT</a:t>
            </a:r>
            <a:endParaRPr lang="en-US" sz="1400" dirty="0">
              <a:solidFill>
                <a:schemeClr val="accent2"/>
              </a:solidFill>
            </a:endParaRPr>
          </a:p>
        </p:txBody>
      </p:sp>
      <p:sp>
        <p:nvSpPr>
          <p:cNvPr id="45" name="テキスト ボックス 106">
            <a:extLst>
              <a:ext uri="{FF2B5EF4-FFF2-40B4-BE49-F238E27FC236}">
                <a16:creationId xmlns:a16="http://schemas.microsoft.com/office/drawing/2014/main" id="{7609A01B-E8FA-8625-B66D-81C33305995E}"/>
              </a:ext>
            </a:extLst>
          </p:cNvPr>
          <p:cNvSpPr txBox="1"/>
          <p:nvPr/>
        </p:nvSpPr>
        <p:spPr>
          <a:xfrm>
            <a:off x="5850950" y="1663734"/>
            <a:ext cx="415498" cy="307777"/>
          </a:xfrm>
          <a:prstGeom prst="rect">
            <a:avLst/>
          </a:prstGeom>
          <a:noFill/>
        </p:spPr>
        <p:txBody>
          <a:bodyPr wrap="none" rtlCol="0">
            <a:spAutoFit/>
          </a:bodyPr>
          <a:lstStyle/>
          <a:p>
            <a:r>
              <a:rPr lang="en-US" altLang="ja-JP" sz="1400" dirty="0">
                <a:solidFill>
                  <a:schemeClr val="accent2"/>
                </a:solidFill>
              </a:rPr>
              <a:t>FIT</a:t>
            </a:r>
            <a:endParaRPr lang="en-US" sz="1400" dirty="0">
              <a:solidFill>
                <a:schemeClr val="accent2"/>
              </a:solidFill>
            </a:endParaRPr>
          </a:p>
        </p:txBody>
      </p:sp>
      <p:sp>
        <p:nvSpPr>
          <p:cNvPr id="46" name="テキスト ボックス 107">
            <a:extLst>
              <a:ext uri="{FF2B5EF4-FFF2-40B4-BE49-F238E27FC236}">
                <a16:creationId xmlns:a16="http://schemas.microsoft.com/office/drawing/2014/main" id="{3F6E944E-D673-26F8-B09E-DF3727525607}"/>
              </a:ext>
            </a:extLst>
          </p:cNvPr>
          <p:cNvSpPr txBox="1"/>
          <p:nvPr/>
        </p:nvSpPr>
        <p:spPr>
          <a:xfrm rot="16200000">
            <a:off x="5813641" y="2967526"/>
            <a:ext cx="421910" cy="307777"/>
          </a:xfrm>
          <a:prstGeom prst="rect">
            <a:avLst/>
          </a:prstGeom>
          <a:noFill/>
        </p:spPr>
        <p:txBody>
          <a:bodyPr wrap="none" rtlCol="0">
            <a:spAutoFit/>
          </a:bodyPr>
          <a:lstStyle/>
          <a:p>
            <a:r>
              <a:rPr lang="en-US" altLang="ja-JP" sz="1400" dirty="0">
                <a:solidFill>
                  <a:schemeClr val="accent2"/>
                </a:solidFill>
              </a:rPr>
              <a:t>FIP</a:t>
            </a:r>
            <a:endParaRPr lang="en-US" sz="1400" dirty="0">
              <a:solidFill>
                <a:schemeClr val="accent2"/>
              </a:solidFill>
            </a:endParaRPr>
          </a:p>
        </p:txBody>
      </p:sp>
      <p:sp>
        <p:nvSpPr>
          <p:cNvPr id="47" name="テキスト ボックス 51">
            <a:extLst>
              <a:ext uri="{FF2B5EF4-FFF2-40B4-BE49-F238E27FC236}">
                <a16:creationId xmlns:a16="http://schemas.microsoft.com/office/drawing/2014/main" id="{C81DE99E-D8E4-45DC-70F7-095CDFE8FAE2}"/>
              </a:ext>
            </a:extLst>
          </p:cNvPr>
          <p:cNvSpPr txBox="1"/>
          <p:nvPr/>
        </p:nvSpPr>
        <p:spPr>
          <a:xfrm>
            <a:off x="7023323" y="5260024"/>
            <a:ext cx="791113" cy="330072"/>
          </a:xfrm>
          <a:prstGeom prst="rect">
            <a:avLst/>
          </a:prstGeom>
          <a:noFill/>
          <a:ln w="28575">
            <a:solidFill>
              <a:schemeClr val="tx1"/>
            </a:solidFill>
          </a:ln>
        </p:spPr>
        <p:txBody>
          <a:bodyPr wrap="square" lIns="36000" tIns="72000" rIns="36000" bIns="72000" rtlCol="0">
            <a:spAutoFit/>
          </a:bodyPr>
          <a:lstStyle/>
          <a:p>
            <a:pPr algn="ctr"/>
            <a:r>
              <a:rPr lang="en-US" sz="1200" dirty="0"/>
              <a:t>Consumer</a:t>
            </a:r>
          </a:p>
        </p:txBody>
      </p:sp>
      <p:sp>
        <p:nvSpPr>
          <p:cNvPr id="48" name="テキスト ボックス 52">
            <a:extLst>
              <a:ext uri="{FF2B5EF4-FFF2-40B4-BE49-F238E27FC236}">
                <a16:creationId xmlns:a16="http://schemas.microsoft.com/office/drawing/2014/main" id="{4370FD7A-DBAC-FE87-5219-EBB00CB4ACEF}"/>
              </a:ext>
            </a:extLst>
          </p:cNvPr>
          <p:cNvSpPr txBox="1"/>
          <p:nvPr/>
        </p:nvSpPr>
        <p:spPr>
          <a:xfrm>
            <a:off x="7877469" y="5260024"/>
            <a:ext cx="789061" cy="330072"/>
          </a:xfrm>
          <a:prstGeom prst="rect">
            <a:avLst/>
          </a:prstGeom>
          <a:noFill/>
          <a:ln w="28575">
            <a:solidFill>
              <a:schemeClr val="tx1"/>
            </a:solidFill>
          </a:ln>
        </p:spPr>
        <p:txBody>
          <a:bodyPr wrap="square" lIns="36000" tIns="72000" rIns="36000" bIns="72000" rtlCol="0">
            <a:spAutoFit/>
          </a:bodyPr>
          <a:lstStyle/>
          <a:p>
            <a:pPr algn="ctr"/>
            <a:r>
              <a:rPr lang="en-US" altLang="ja-JP" sz="1200" dirty="0"/>
              <a:t>Consumer</a:t>
            </a:r>
            <a:endParaRPr lang="en-US" sz="1200" dirty="0"/>
          </a:p>
        </p:txBody>
      </p:sp>
      <p:cxnSp>
        <p:nvCxnSpPr>
          <p:cNvPr id="49" name="コネクタ: カギ線 57">
            <a:extLst>
              <a:ext uri="{FF2B5EF4-FFF2-40B4-BE49-F238E27FC236}">
                <a16:creationId xmlns:a16="http://schemas.microsoft.com/office/drawing/2014/main" id="{4BB1A0A8-5C7E-D655-C2F1-DA505892E6E7}"/>
              </a:ext>
            </a:extLst>
          </p:cNvPr>
          <p:cNvCxnSpPr>
            <a:cxnSpLocks/>
            <a:stCxn id="25" idx="1"/>
          </p:cNvCxnSpPr>
          <p:nvPr/>
        </p:nvCxnSpPr>
        <p:spPr>
          <a:xfrm rot="10800000">
            <a:off x="4555475" y="3459078"/>
            <a:ext cx="1653158" cy="1960941"/>
          </a:xfrm>
          <a:prstGeom prst="bentConnector2">
            <a:avLst/>
          </a:prstGeom>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線矢印コネクタ 66">
            <a:extLst>
              <a:ext uri="{FF2B5EF4-FFF2-40B4-BE49-F238E27FC236}">
                <a16:creationId xmlns:a16="http://schemas.microsoft.com/office/drawing/2014/main" id="{EFAD3B79-283C-AE5A-305D-31B30E12ABB5}"/>
              </a:ext>
            </a:extLst>
          </p:cNvPr>
          <p:cNvCxnSpPr>
            <a:cxnSpLocks/>
            <a:stCxn id="17" idx="2"/>
          </p:cNvCxnSpPr>
          <p:nvPr/>
        </p:nvCxnSpPr>
        <p:spPr>
          <a:xfrm>
            <a:off x="6832986" y="2071828"/>
            <a:ext cx="161819" cy="718248"/>
          </a:xfrm>
          <a:prstGeom prst="straightConnector1">
            <a:avLst/>
          </a:prstGeom>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56" name="テキスト ボックス 67">
            <a:extLst>
              <a:ext uri="{FF2B5EF4-FFF2-40B4-BE49-F238E27FC236}">
                <a16:creationId xmlns:a16="http://schemas.microsoft.com/office/drawing/2014/main" id="{EF804D4E-21B4-5877-5510-D912A8D6074A}"/>
              </a:ext>
            </a:extLst>
          </p:cNvPr>
          <p:cNvSpPr txBox="1"/>
          <p:nvPr/>
        </p:nvSpPr>
        <p:spPr>
          <a:xfrm>
            <a:off x="6889585" y="2419596"/>
            <a:ext cx="421910" cy="307777"/>
          </a:xfrm>
          <a:prstGeom prst="rect">
            <a:avLst/>
          </a:prstGeom>
          <a:noFill/>
        </p:spPr>
        <p:txBody>
          <a:bodyPr wrap="none" rtlCol="0">
            <a:spAutoFit/>
          </a:bodyPr>
          <a:lstStyle/>
          <a:p>
            <a:r>
              <a:rPr lang="en-US" altLang="ja-JP" sz="1400" dirty="0">
                <a:solidFill>
                  <a:schemeClr val="accent2"/>
                </a:solidFill>
              </a:rPr>
              <a:t>FIP</a:t>
            </a:r>
            <a:endParaRPr lang="en-US" sz="1400" dirty="0">
              <a:solidFill>
                <a:schemeClr val="accent2"/>
              </a:solidFill>
            </a:endParaRPr>
          </a:p>
        </p:txBody>
      </p:sp>
      <p:sp>
        <p:nvSpPr>
          <p:cNvPr id="57" name="テキスト ボックス 56">
            <a:extLst>
              <a:ext uri="{FF2B5EF4-FFF2-40B4-BE49-F238E27FC236}">
                <a16:creationId xmlns:a16="http://schemas.microsoft.com/office/drawing/2014/main" id="{27B3D961-6B31-5D59-A36D-61EC20106635}"/>
              </a:ext>
            </a:extLst>
          </p:cNvPr>
          <p:cNvSpPr txBox="1"/>
          <p:nvPr/>
        </p:nvSpPr>
        <p:spPr>
          <a:xfrm>
            <a:off x="4746460" y="2069489"/>
            <a:ext cx="1063112" cy="307777"/>
          </a:xfrm>
          <a:prstGeom prst="rect">
            <a:avLst/>
          </a:prstGeom>
          <a:noFill/>
        </p:spPr>
        <p:txBody>
          <a:bodyPr wrap="none" rtlCol="0">
            <a:spAutoFit/>
          </a:bodyPr>
          <a:lstStyle/>
          <a:p>
            <a:r>
              <a:rPr kumimoji="1" lang="en-US" altLang="ja-JP" sz="1400" dirty="0"/>
              <a:t>Generation</a:t>
            </a:r>
            <a:endParaRPr kumimoji="1" lang="ja-JP" altLang="en-US" sz="1400" dirty="0"/>
          </a:p>
        </p:txBody>
      </p:sp>
      <p:sp>
        <p:nvSpPr>
          <p:cNvPr id="58" name="テキスト ボックス 57">
            <a:extLst>
              <a:ext uri="{FF2B5EF4-FFF2-40B4-BE49-F238E27FC236}">
                <a16:creationId xmlns:a16="http://schemas.microsoft.com/office/drawing/2014/main" id="{B9FA4AB5-FC65-0E26-2EDD-185181C0180C}"/>
              </a:ext>
            </a:extLst>
          </p:cNvPr>
          <p:cNvSpPr txBox="1"/>
          <p:nvPr/>
        </p:nvSpPr>
        <p:spPr>
          <a:xfrm>
            <a:off x="4965270" y="3886291"/>
            <a:ext cx="625492" cy="307777"/>
          </a:xfrm>
          <a:prstGeom prst="rect">
            <a:avLst/>
          </a:prstGeom>
          <a:noFill/>
        </p:spPr>
        <p:txBody>
          <a:bodyPr wrap="none" rtlCol="0">
            <a:spAutoFit/>
          </a:bodyPr>
          <a:lstStyle/>
          <a:p>
            <a:pPr algn="r"/>
            <a:r>
              <a:rPr kumimoji="1" lang="en-US" altLang="ja-JP" sz="1400" dirty="0"/>
              <a:t>Retail</a:t>
            </a:r>
            <a:endParaRPr kumimoji="1" lang="ja-JP" altLang="en-US" sz="1400" dirty="0"/>
          </a:p>
        </p:txBody>
      </p:sp>
      <p:sp>
        <p:nvSpPr>
          <p:cNvPr id="68" name="テキスト ボックス 52">
            <a:extLst>
              <a:ext uri="{FF2B5EF4-FFF2-40B4-BE49-F238E27FC236}">
                <a16:creationId xmlns:a16="http://schemas.microsoft.com/office/drawing/2014/main" id="{9AA1CCA2-6CA2-3491-EBDC-B081E16E0D14}"/>
              </a:ext>
            </a:extLst>
          </p:cNvPr>
          <p:cNvSpPr txBox="1"/>
          <p:nvPr/>
        </p:nvSpPr>
        <p:spPr>
          <a:xfrm>
            <a:off x="8713818" y="5260490"/>
            <a:ext cx="791113" cy="330072"/>
          </a:xfrm>
          <a:prstGeom prst="rect">
            <a:avLst/>
          </a:prstGeom>
          <a:noFill/>
          <a:ln w="28575">
            <a:solidFill>
              <a:schemeClr val="tx1"/>
            </a:solidFill>
          </a:ln>
        </p:spPr>
        <p:txBody>
          <a:bodyPr wrap="square" lIns="36000" tIns="72000" rIns="36000" bIns="72000" rtlCol="0">
            <a:spAutoFit/>
          </a:bodyPr>
          <a:lstStyle/>
          <a:p>
            <a:pPr algn="ctr"/>
            <a:r>
              <a:rPr lang="en-US" altLang="ja-JP" sz="1200" dirty="0"/>
              <a:t>Consumer</a:t>
            </a:r>
            <a:endParaRPr lang="en-US" sz="1200" dirty="0"/>
          </a:p>
        </p:txBody>
      </p:sp>
      <p:sp>
        <p:nvSpPr>
          <p:cNvPr id="79" name="テキスト ボックス 15">
            <a:extLst>
              <a:ext uri="{FF2B5EF4-FFF2-40B4-BE49-F238E27FC236}">
                <a16:creationId xmlns:a16="http://schemas.microsoft.com/office/drawing/2014/main" id="{9C253855-5E36-EC07-DF40-3EE9B52B4215}"/>
              </a:ext>
            </a:extLst>
          </p:cNvPr>
          <p:cNvSpPr txBox="1"/>
          <p:nvPr/>
        </p:nvSpPr>
        <p:spPr>
          <a:xfrm>
            <a:off x="6334765" y="5641848"/>
            <a:ext cx="2890535" cy="461665"/>
          </a:xfrm>
          <a:prstGeom prst="rect">
            <a:avLst/>
          </a:prstGeom>
          <a:noFill/>
        </p:spPr>
        <p:txBody>
          <a:bodyPr wrap="none" rtlCol="0">
            <a:spAutoFit/>
          </a:bodyPr>
          <a:lstStyle/>
          <a:p>
            <a:pPr algn="ctr"/>
            <a:r>
              <a:rPr lang="en-US" sz="1200" dirty="0"/>
              <a:t>Each consumers/prosumers can choose </a:t>
            </a:r>
            <a:br>
              <a:rPr lang="en-US" sz="1200" dirty="0"/>
            </a:br>
            <a:r>
              <a:rPr lang="en-US" sz="1200" dirty="0"/>
              <a:t>appropriate Energy Retailer</a:t>
            </a:r>
          </a:p>
        </p:txBody>
      </p:sp>
      <p:sp>
        <p:nvSpPr>
          <p:cNvPr id="80" name="TextBox 16">
            <a:extLst>
              <a:ext uri="{FF2B5EF4-FFF2-40B4-BE49-F238E27FC236}">
                <a16:creationId xmlns:a16="http://schemas.microsoft.com/office/drawing/2014/main" id="{08A316E5-56FE-EFCD-ACB6-386FD9DAE18A}"/>
              </a:ext>
            </a:extLst>
          </p:cNvPr>
          <p:cNvSpPr txBox="1"/>
          <p:nvPr/>
        </p:nvSpPr>
        <p:spPr>
          <a:xfrm>
            <a:off x="123825" y="6558580"/>
            <a:ext cx="2719014" cy="338554"/>
          </a:xfrm>
          <a:prstGeom prst="rect">
            <a:avLst/>
          </a:prstGeom>
          <a:noFill/>
        </p:spPr>
        <p:txBody>
          <a:bodyPr wrap="none" rtlCol="0">
            <a:spAutoFit/>
          </a:bodyPr>
          <a:lstStyle/>
          <a:p>
            <a:r>
              <a:rPr lang="ja-JP" altLang="en-US" sz="800" dirty="0">
                <a:hlinkClick r:id="rId2"/>
              </a:rPr>
              <a:t>一般財団法人 新エネルギー財団 電力市場の概要</a:t>
            </a:r>
            <a:r>
              <a:rPr lang="en-US" altLang="ja-JP" sz="800" dirty="0">
                <a:hlinkClick r:id="rId2"/>
              </a:rPr>
              <a:t>(</a:t>
            </a:r>
            <a:r>
              <a:rPr lang="ja-JP" altLang="en-US" sz="800" dirty="0">
                <a:hlinkClick r:id="rId2"/>
              </a:rPr>
              <a:t>その</a:t>
            </a:r>
            <a:r>
              <a:rPr lang="en-US" altLang="ja-JP" sz="800" dirty="0">
                <a:hlinkClick r:id="rId2"/>
              </a:rPr>
              <a:t>1)</a:t>
            </a:r>
            <a:endParaRPr lang="en-US" sz="800" dirty="0"/>
          </a:p>
          <a:p>
            <a:endParaRPr lang="en-US" sz="800" dirty="0"/>
          </a:p>
        </p:txBody>
      </p:sp>
    </p:spTree>
    <p:extLst>
      <p:ext uri="{BB962C8B-B14F-4D97-AF65-F5344CB8AC3E}">
        <p14:creationId xmlns:p14="http://schemas.microsoft.com/office/powerpoint/2010/main" val="13056032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FE6268AB-47CD-7B46-2E65-B96DEF547A8D}"/>
              </a:ext>
            </a:extLst>
          </p:cNvPr>
          <p:cNvSpPr>
            <a:spLocks noGrp="1"/>
          </p:cNvSpPr>
          <p:nvPr>
            <p:ph sz="quarter" idx="16"/>
          </p:nvPr>
        </p:nvSpPr>
        <p:spPr/>
        <p:txBody>
          <a:bodyPr/>
          <a:lstStyle/>
          <a:p>
            <a:r>
              <a:rPr lang="en-US" altLang="ja-JP" dirty="0"/>
              <a:t>1. Introduction and background</a:t>
            </a:r>
          </a:p>
        </p:txBody>
      </p:sp>
      <p:sp>
        <p:nvSpPr>
          <p:cNvPr id="4" name="正方形/長方形 19">
            <a:extLst>
              <a:ext uri="{FF2B5EF4-FFF2-40B4-BE49-F238E27FC236}">
                <a16:creationId xmlns:a16="http://schemas.microsoft.com/office/drawing/2014/main" id="{BDD8722F-8082-748C-56F7-B157749239C8}"/>
              </a:ext>
            </a:extLst>
          </p:cNvPr>
          <p:cNvSpPr/>
          <p:nvPr/>
        </p:nvSpPr>
        <p:spPr>
          <a:xfrm>
            <a:off x="5011155" y="2027319"/>
            <a:ext cx="537412" cy="2171699"/>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矢印: 下 13">
            <a:extLst>
              <a:ext uri="{FF2B5EF4-FFF2-40B4-BE49-F238E27FC236}">
                <a16:creationId xmlns:a16="http://schemas.microsoft.com/office/drawing/2014/main" id="{C94EFCBD-0B5E-96AC-A061-303DDED74BA9}"/>
              </a:ext>
            </a:extLst>
          </p:cNvPr>
          <p:cNvSpPr/>
          <p:nvPr/>
        </p:nvSpPr>
        <p:spPr>
          <a:xfrm>
            <a:off x="1227225" y="1999572"/>
            <a:ext cx="1016666" cy="3456747"/>
          </a:xfrm>
          <a:prstGeom prst="downArrow">
            <a:avLst>
              <a:gd name="adj1" fmla="val 50000"/>
              <a:gd name="adj2" fmla="val 39941"/>
            </a:avLst>
          </a:prstGeom>
          <a:solidFill>
            <a:schemeClr val="accent1">
              <a:lumMod val="20000"/>
              <a:lumOff val="8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直線コネクタ 4">
            <a:extLst>
              <a:ext uri="{FF2B5EF4-FFF2-40B4-BE49-F238E27FC236}">
                <a16:creationId xmlns:a16="http://schemas.microsoft.com/office/drawing/2014/main" id="{F99C6207-090C-06C2-7D69-A4A461113417}"/>
              </a:ext>
            </a:extLst>
          </p:cNvPr>
          <p:cNvCxnSpPr>
            <a:cxnSpLocks/>
          </p:cNvCxnSpPr>
          <p:nvPr/>
        </p:nvCxnSpPr>
        <p:spPr>
          <a:xfrm flipV="1">
            <a:off x="3080086" y="824161"/>
            <a:ext cx="0" cy="5245768"/>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7" name="テキスト ボックス 10">
            <a:extLst>
              <a:ext uri="{FF2B5EF4-FFF2-40B4-BE49-F238E27FC236}">
                <a16:creationId xmlns:a16="http://schemas.microsoft.com/office/drawing/2014/main" id="{AF043FFC-7CD0-4EC2-924E-BDD6BC74C22A}"/>
              </a:ext>
            </a:extLst>
          </p:cNvPr>
          <p:cNvSpPr txBox="1"/>
          <p:nvPr/>
        </p:nvSpPr>
        <p:spPr>
          <a:xfrm>
            <a:off x="716689" y="819180"/>
            <a:ext cx="2037737" cy="307777"/>
          </a:xfrm>
          <a:prstGeom prst="rect">
            <a:avLst/>
          </a:prstGeom>
          <a:noFill/>
        </p:spPr>
        <p:txBody>
          <a:bodyPr wrap="none" rtlCol="0">
            <a:spAutoFit/>
          </a:bodyPr>
          <a:lstStyle/>
          <a:p>
            <a:r>
              <a:rPr lang="en-US" sz="1400" b="1" dirty="0"/>
              <a:t>Conventional</a:t>
            </a:r>
            <a:r>
              <a:rPr lang="ja-JP" altLang="en-US" sz="1400" b="1" dirty="0"/>
              <a:t> </a:t>
            </a:r>
            <a:r>
              <a:rPr lang="en-US" altLang="ja-JP" sz="1400" b="1" dirty="0"/>
              <a:t>structure</a:t>
            </a:r>
            <a:endParaRPr lang="en-US" sz="1400" b="1" dirty="0"/>
          </a:p>
        </p:txBody>
      </p:sp>
      <p:sp>
        <p:nvSpPr>
          <p:cNvPr id="8" name="テキスト ボックス 11">
            <a:extLst>
              <a:ext uri="{FF2B5EF4-FFF2-40B4-BE49-F238E27FC236}">
                <a16:creationId xmlns:a16="http://schemas.microsoft.com/office/drawing/2014/main" id="{D787FE96-5EC8-E025-F7AD-D495A70F1FB6}"/>
              </a:ext>
            </a:extLst>
          </p:cNvPr>
          <p:cNvSpPr txBox="1"/>
          <p:nvPr/>
        </p:nvSpPr>
        <p:spPr>
          <a:xfrm>
            <a:off x="552381" y="1486992"/>
            <a:ext cx="2438488" cy="276999"/>
          </a:xfrm>
          <a:prstGeom prst="rect">
            <a:avLst/>
          </a:prstGeom>
          <a:noFill/>
        </p:spPr>
        <p:txBody>
          <a:bodyPr wrap="none" rtlCol="0">
            <a:spAutoFit/>
          </a:bodyPr>
          <a:lstStyle/>
          <a:p>
            <a:r>
              <a:rPr lang="en-US" altLang="ja-JP" sz="1200" dirty="0"/>
              <a:t>Electric companies in each region</a:t>
            </a:r>
            <a:endParaRPr lang="en-US" sz="1200" dirty="0"/>
          </a:p>
        </p:txBody>
      </p:sp>
      <p:sp>
        <p:nvSpPr>
          <p:cNvPr id="9" name="テキスト ボックス 12">
            <a:extLst>
              <a:ext uri="{FF2B5EF4-FFF2-40B4-BE49-F238E27FC236}">
                <a16:creationId xmlns:a16="http://schemas.microsoft.com/office/drawing/2014/main" id="{8D506B38-B182-99E5-D72C-44A86A82B3A5}"/>
              </a:ext>
            </a:extLst>
          </p:cNvPr>
          <p:cNvSpPr txBox="1"/>
          <p:nvPr/>
        </p:nvSpPr>
        <p:spPr>
          <a:xfrm>
            <a:off x="1123301" y="1793314"/>
            <a:ext cx="1239252" cy="2800767"/>
          </a:xfrm>
          <a:prstGeom prst="rect">
            <a:avLst/>
          </a:prstGeom>
          <a:noFill/>
          <a:ln w="28575">
            <a:solidFill>
              <a:schemeClr val="accent1"/>
            </a:solidFill>
          </a:ln>
        </p:spPr>
        <p:txBody>
          <a:bodyPr wrap="square" rtlCol="0">
            <a:spAutoFit/>
          </a:bodyPr>
          <a:lstStyle/>
          <a:p>
            <a:pPr algn="ctr"/>
            <a:endParaRPr lang="en-US" altLang="ja-JP" dirty="0"/>
          </a:p>
          <a:p>
            <a:pPr algn="ctr"/>
            <a:r>
              <a:rPr lang="en-US" altLang="ja-JP" sz="1400" dirty="0"/>
              <a:t>Generation</a:t>
            </a:r>
          </a:p>
          <a:p>
            <a:pPr algn="ctr"/>
            <a:endParaRPr lang="en-US" sz="1400" dirty="0"/>
          </a:p>
          <a:p>
            <a:pPr algn="ctr"/>
            <a:endParaRPr lang="en-US" sz="1400" dirty="0"/>
          </a:p>
          <a:p>
            <a:pPr algn="ctr"/>
            <a:r>
              <a:rPr lang="en-US" altLang="ja-JP" sz="1400" dirty="0"/>
              <a:t>Transmission</a:t>
            </a:r>
          </a:p>
          <a:p>
            <a:pPr algn="ctr"/>
            <a:endParaRPr lang="en-US" sz="1400" dirty="0"/>
          </a:p>
          <a:p>
            <a:pPr algn="ctr"/>
            <a:endParaRPr lang="en-US" sz="1400" dirty="0"/>
          </a:p>
          <a:p>
            <a:pPr algn="ctr"/>
            <a:r>
              <a:rPr lang="en-US" altLang="ja-JP" sz="1400" dirty="0"/>
              <a:t>Distribution</a:t>
            </a:r>
          </a:p>
          <a:p>
            <a:pPr algn="ctr"/>
            <a:endParaRPr lang="en-US" sz="1400" dirty="0"/>
          </a:p>
          <a:p>
            <a:pPr algn="ctr"/>
            <a:endParaRPr lang="en-US" sz="1400" dirty="0"/>
          </a:p>
          <a:p>
            <a:pPr algn="ctr"/>
            <a:r>
              <a:rPr lang="en-US" altLang="ja-JP" sz="1400" dirty="0"/>
              <a:t>Retail</a:t>
            </a:r>
          </a:p>
          <a:p>
            <a:pPr algn="ctr"/>
            <a:endParaRPr lang="en-US" dirty="0"/>
          </a:p>
        </p:txBody>
      </p:sp>
      <p:sp>
        <p:nvSpPr>
          <p:cNvPr id="10" name="テキスト ボックス 14">
            <a:extLst>
              <a:ext uri="{FF2B5EF4-FFF2-40B4-BE49-F238E27FC236}">
                <a16:creationId xmlns:a16="http://schemas.microsoft.com/office/drawing/2014/main" id="{2530AD59-ADEF-DCCC-A29A-6A465351E5A1}"/>
              </a:ext>
            </a:extLst>
          </p:cNvPr>
          <p:cNvSpPr txBox="1"/>
          <p:nvPr/>
        </p:nvSpPr>
        <p:spPr>
          <a:xfrm>
            <a:off x="1123301" y="5553617"/>
            <a:ext cx="1239250" cy="433553"/>
          </a:xfrm>
          <a:prstGeom prst="rect">
            <a:avLst/>
          </a:prstGeom>
          <a:noFill/>
          <a:ln w="28575">
            <a:solidFill>
              <a:schemeClr val="tx1"/>
            </a:solidFill>
          </a:ln>
        </p:spPr>
        <p:txBody>
          <a:bodyPr wrap="square" tIns="108000" bIns="108000" rtlCol="0">
            <a:spAutoFit/>
          </a:bodyPr>
          <a:lstStyle/>
          <a:p>
            <a:pPr algn="ctr"/>
            <a:r>
              <a:rPr lang="en-US" sz="1400" dirty="0"/>
              <a:t>Consumers</a:t>
            </a:r>
          </a:p>
        </p:txBody>
      </p:sp>
      <p:sp>
        <p:nvSpPr>
          <p:cNvPr id="11" name="テキスト ボックス 15">
            <a:extLst>
              <a:ext uri="{FF2B5EF4-FFF2-40B4-BE49-F238E27FC236}">
                <a16:creationId xmlns:a16="http://schemas.microsoft.com/office/drawing/2014/main" id="{D8D2F725-E6E8-F137-22E6-F86F735BA25B}"/>
              </a:ext>
            </a:extLst>
          </p:cNvPr>
          <p:cNvSpPr txBox="1"/>
          <p:nvPr/>
        </p:nvSpPr>
        <p:spPr>
          <a:xfrm>
            <a:off x="279447" y="4588948"/>
            <a:ext cx="2908168" cy="646331"/>
          </a:xfrm>
          <a:prstGeom prst="rect">
            <a:avLst/>
          </a:prstGeom>
          <a:noFill/>
        </p:spPr>
        <p:txBody>
          <a:bodyPr wrap="none" rtlCol="0">
            <a:spAutoFit/>
          </a:bodyPr>
          <a:lstStyle/>
          <a:p>
            <a:pPr algn="ctr"/>
            <a:r>
              <a:rPr lang="en-US" sz="1200" dirty="0"/>
              <a:t>Supply obligations, regional monopolies</a:t>
            </a:r>
            <a:br>
              <a:rPr lang="en-US" sz="1200" dirty="0"/>
            </a:br>
            <a:r>
              <a:rPr lang="en-US" sz="1200" dirty="0"/>
              <a:t>Price regulation based on </a:t>
            </a:r>
            <a:br>
              <a:rPr lang="en-US" sz="1200" dirty="0"/>
            </a:br>
            <a:r>
              <a:rPr lang="en-US" sz="1200" dirty="0"/>
              <a:t>the full-cost method</a:t>
            </a:r>
          </a:p>
        </p:txBody>
      </p:sp>
      <p:sp>
        <p:nvSpPr>
          <p:cNvPr id="12" name="テキスト ボックス 16">
            <a:extLst>
              <a:ext uri="{FF2B5EF4-FFF2-40B4-BE49-F238E27FC236}">
                <a16:creationId xmlns:a16="http://schemas.microsoft.com/office/drawing/2014/main" id="{2F2E4D56-4CD6-4054-9295-7ABDAE8E6E26}"/>
              </a:ext>
            </a:extLst>
          </p:cNvPr>
          <p:cNvSpPr txBox="1"/>
          <p:nvPr/>
        </p:nvSpPr>
        <p:spPr>
          <a:xfrm>
            <a:off x="5599440" y="809923"/>
            <a:ext cx="2252540" cy="307777"/>
          </a:xfrm>
          <a:prstGeom prst="rect">
            <a:avLst/>
          </a:prstGeom>
          <a:noFill/>
        </p:spPr>
        <p:txBody>
          <a:bodyPr wrap="none" rtlCol="0">
            <a:spAutoFit/>
          </a:bodyPr>
          <a:lstStyle/>
          <a:p>
            <a:r>
              <a:rPr lang="en-US" altLang="ja-JP" sz="1400" b="1" dirty="0"/>
              <a:t>Future structure (20XX</a:t>
            </a:r>
            <a:r>
              <a:rPr lang="ja-JP" altLang="en-US" sz="1400" b="1" dirty="0"/>
              <a:t>～</a:t>
            </a:r>
            <a:r>
              <a:rPr lang="en-US" altLang="ja-JP" sz="1400" b="1" dirty="0"/>
              <a:t>)</a:t>
            </a:r>
            <a:endParaRPr lang="en-US" sz="1400" b="1" dirty="0"/>
          </a:p>
        </p:txBody>
      </p:sp>
      <p:sp>
        <p:nvSpPr>
          <p:cNvPr id="13" name="テキスト ボックス 17">
            <a:extLst>
              <a:ext uri="{FF2B5EF4-FFF2-40B4-BE49-F238E27FC236}">
                <a16:creationId xmlns:a16="http://schemas.microsoft.com/office/drawing/2014/main" id="{521FD049-D40A-1887-C0F5-F92A6394B7C4}"/>
              </a:ext>
            </a:extLst>
          </p:cNvPr>
          <p:cNvSpPr txBox="1"/>
          <p:nvPr/>
        </p:nvSpPr>
        <p:spPr>
          <a:xfrm>
            <a:off x="3588795" y="1793314"/>
            <a:ext cx="2262157" cy="2585323"/>
          </a:xfrm>
          <a:prstGeom prst="rect">
            <a:avLst/>
          </a:prstGeom>
          <a:noFill/>
          <a:ln w="28575">
            <a:solidFill>
              <a:schemeClr val="accent1"/>
            </a:solidFill>
          </a:ln>
        </p:spPr>
        <p:txBody>
          <a:bodyPr wrap="square" rtlCol="0">
            <a:spAutoFit/>
          </a:bodyPr>
          <a:lstStyle/>
          <a:p>
            <a:endParaRPr lang="en-US" altLang="ja-JP" dirty="0"/>
          </a:p>
          <a:p>
            <a:r>
              <a:rPr lang="ja-JP" altLang="en-US" dirty="0"/>
              <a:t>　　　　　　</a:t>
            </a:r>
            <a:endParaRPr lang="en-US" altLang="ja-JP" dirty="0"/>
          </a:p>
          <a:p>
            <a:endParaRPr lang="en-US" dirty="0"/>
          </a:p>
          <a:p>
            <a:r>
              <a:rPr lang="ja-JP" altLang="en-US" dirty="0"/>
              <a:t>　 </a:t>
            </a:r>
            <a:r>
              <a:rPr lang="en-US" altLang="ja-JP" dirty="0"/>
              <a:t>TSO</a:t>
            </a:r>
          </a:p>
          <a:p>
            <a:r>
              <a:rPr lang="ja-JP" altLang="en-US" dirty="0"/>
              <a:t>　 </a:t>
            </a:r>
            <a:r>
              <a:rPr lang="en-US" altLang="ja-JP" dirty="0"/>
              <a:t>DSO</a:t>
            </a:r>
          </a:p>
          <a:p>
            <a:endParaRPr lang="en-US" dirty="0"/>
          </a:p>
          <a:p>
            <a:endParaRPr lang="en-US" dirty="0"/>
          </a:p>
          <a:p>
            <a:r>
              <a:rPr lang="ja-JP" altLang="en-US" dirty="0"/>
              <a:t>　　　　　　</a:t>
            </a:r>
            <a:endParaRPr lang="en-US" altLang="ja-JP" dirty="0"/>
          </a:p>
          <a:p>
            <a:endParaRPr lang="en-US" dirty="0"/>
          </a:p>
        </p:txBody>
      </p:sp>
      <p:sp>
        <p:nvSpPr>
          <p:cNvPr id="14" name="正方形/長方形 18">
            <a:extLst>
              <a:ext uri="{FF2B5EF4-FFF2-40B4-BE49-F238E27FC236}">
                <a16:creationId xmlns:a16="http://schemas.microsoft.com/office/drawing/2014/main" id="{5D02BDF8-953C-5BAF-E88D-8F677959B388}"/>
              </a:ext>
            </a:extLst>
          </p:cNvPr>
          <p:cNvSpPr/>
          <p:nvPr/>
        </p:nvSpPr>
        <p:spPr>
          <a:xfrm>
            <a:off x="3717760" y="2436393"/>
            <a:ext cx="1028700" cy="1022684"/>
          </a:xfrm>
          <a:prstGeom prst="rect">
            <a:avLst/>
          </a:prstGeom>
          <a:no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テキスト ボックス 20">
            <a:extLst>
              <a:ext uri="{FF2B5EF4-FFF2-40B4-BE49-F238E27FC236}">
                <a16:creationId xmlns:a16="http://schemas.microsoft.com/office/drawing/2014/main" id="{AC15B645-4841-4E78-F1AE-9FCCC9C93F36}"/>
              </a:ext>
            </a:extLst>
          </p:cNvPr>
          <p:cNvSpPr txBox="1"/>
          <p:nvPr/>
        </p:nvSpPr>
        <p:spPr>
          <a:xfrm>
            <a:off x="4678690" y="2382249"/>
            <a:ext cx="711086" cy="707886"/>
          </a:xfrm>
          <a:prstGeom prst="rect">
            <a:avLst/>
          </a:prstGeom>
          <a:noFill/>
        </p:spPr>
        <p:txBody>
          <a:bodyPr wrap="square" rtlCol="0">
            <a:spAutoFit/>
          </a:bodyPr>
          <a:lstStyle/>
          <a:p>
            <a:r>
              <a:rPr lang="en-US" altLang="ja-JP" sz="800" dirty="0"/>
              <a:t>Legal</a:t>
            </a:r>
            <a:br>
              <a:rPr lang="en-US" altLang="ja-JP" sz="800" dirty="0"/>
            </a:br>
            <a:r>
              <a:rPr lang="en-US" altLang="ja-JP" sz="800" dirty="0"/>
              <a:t>Separation</a:t>
            </a:r>
          </a:p>
          <a:p>
            <a:r>
              <a:rPr lang="ja-JP" altLang="en-US" sz="2400" dirty="0">
                <a:solidFill>
                  <a:schemeClr val="accent2"/>
                </a:solidFill>
              </a:rPr>
              <a:t>←</a:t>
            </a:r>
            <a:endParaRPr lang="en-US" sz="1000" dirty="0">
              <a:solidFill>
                <a:schemeClr val="accent2"/>
              </a:solidFill>
            </a:endParaRPr>
          </a:p>
        </p:txBody>
      </p:sp>
      <p:sp>
        <p:nvSpPr>
          <p:cNvPr id="16" name="テキスト ボックス 21">
            <a:extLst>
              <a:ext uri="{FF2B5EF4-FFF2-40B4-BE49-F238E27FC236}">
                <a16:creationId xmlns:a16="http://schemas.microsoft.com/office/drawing/2014/main" id="{E52C4B86-49CD-60B1-91ED-F5123001ACA0}"/>
              </a:ext>
            </a:extLst>
          </p:cNvPr>
          <p:cNvSpPr txBox="1"/>
          <p:nvPr/>
        </p:nvSpPr>
        <p:spPr>
          <a:xfrm>
            <a:off x="3937141" y="1486992"/>
            <a:ext cx="1483098" cy="276999"/>
          </a:xfrm>
          <a:prstGeom prst="rect">
            <a:avLst/>
          </a:prstGeom>
          <a:noFill/>
        </p:spPr>
        <p:txBody>
          <a:bodyPr wrap="none" rtlCol="0">
            <a:spAutoFit/>
          </a:bodyPr>
          <a:lstStyle/>
          <a:p>
            <a:r>
              <a:rPr lang="en-US" altLang="ja-JP" sz="1200" dirty="0"/>
              <a:t>Electric</a:t>
            </a:r>
            <a:r>
              <a:rPr lang="ja-JP" altLang="en-US" sz="1200" dirty="0"/>
              <a:t> </a:t>
            </a:r>
            <a:r>
              <a:rPr lang="en-US" altLang="ja-JP" sz="1200" dirty="0"/>
              <a:t>companies</a:t>
            </a:r>
            <a:endParaRPr lang="en-US" sz="1200" dirty="0"/>
          </a:p>
        </p:txBody>
      </p:sp>
      <p:sp>
        <p:nvSpPr>
          <p:cNvPr id="17" name="テキスト ボックス 22">
            <a:extLst>
              <a:ext uri="{FF2B5EF4-FFF2-40B4-BE49-F238E27FC236}">
                <a16:creationId xmlns:a16="http://schemas.microsoft.com/office/drawing/2014/main" id="{44A871DD-44E4-DC39-4A5E-A5A25CDBE244}"/>
              </a:ext>
            </a:extLst>
          </p:cNvPr>
          <p:cNvSpPr txBox="1"/>
          <p:nvPr/>
        </p:nvSpPr>
        <p:spPr>
          <a:xfrm>
            <a:off x="6365550" y="1794829"/>
            <a:ext cx="934871" cy="276999"/>
          </a:xfrm>
          <a:prstGeom prst="rect">
            <a:avLst/>
          </a:prstGeom>
          <a:noFill/>
          <a:ln w="28575">
            <a:solidFill>
              <a:schemeClr val="accent1"/>
            </a:solidFill>
          </a:ln>
        </p:spPr>
        <p:txBody>
          <a:bodyPr wrap="none" rtlCol="0">
            <a:spAutoFit/>
          </a:bodyPr>
          <a:lstStyle/>
          <a:p>
            <a:pPr algn="ctr"/>
            <a:r>
              <a:rPr lang="en-US" altLang="ja-JP" sz="1200" dirty="0"/>
              <a:t>Generation</a:t>
            </a:r>
            <a:endParaRPr lang="en-US" sz="1200" dirty="0"/>
          </a:p>
        </p:txBody>
      </p:sp>
      <p:sp>
        <p:nvSpPr>
          <p:cNvPr id="18" name="テキスト ボックス 23">
            <a:extLst>
              <a:ext uri="{FF2B5EF4-FFF2-40B4-BE49-F238E27FC236}">
                <a16:creationId xmlns:a16="http://schemas.microsoft.com/office/drawing/2014/main" id="{DA959842-FBB3-0A51-D2EF-CF8B3E83D7DF}"/>
              </a:ext>
            </a:extLst>
          </p:cNvPr>
          <p:cNvSpPr txBox="1"/>
          <p:nvPr/>
        </p:nvSpPr>
        <p:spPr>
          <a:xfrm>
            <a:off x="7343290" y="1790062"/>
            <a:ext cx="934871" cy="276999"/>
          </a:xfrm>
          <a:prstGeom prst="rect">
            <a:avLst/>
          </a:prstGeom>
          <a:noFill/>
          <a:ln w="28575">
            <a:solidFill>
              <a:schemeClr val="accent1"/>
            </a:solidFill>
          </a:ln>
        </p:spPr>
        <p:txBody>
          <a:bodyPr wrap="none" rtlCol="0">
            <a:spAutoFit/>
          </a:bodyPr>
          <a:lstStyle/>
          <a:p>
            <a:pPr algn="ctr"/>
            <a:r>
              <a:rPr lang="en-US" altLang="ja-JP" sz="1200" dirty="0"/>
              <a:t>Generation</a:t>
            </a:r>
            <a:endParaRPr lang="en-US" sz="1200" dirty="0"/>
          </a:p>
        </p:txBody>
      </p:sp>
      <p:sp>
        <p:nvSpPr>
          <p:cNvPr id="19" name="テキスト ボックス 24">
            <a:extLst>
              <a:ext uri="{FF2B5EF4-FFF2-40B4-BE49-F238E27FC236}">
                <a16:creationId xmlns:a16="http://schemas.microsoft.com/office/drawing/2014/main" id="{058C1461-BBF8-D112-D7D3-EFEB66121B78}"/>
              </a:ext>
            </a:extLst>
          </p:cNvPr>
          <p:cNvSpPr txBox="1"/>
          <p:nvPr/>
        </p:nvSpPr>
        <p:spPr>
          <a:xfrm>
            <a:off x="8319284" y="1790062"/>
            <a:ext cx="934871" cy="276999"/>
          </a:xfrm>
          <a:prstGeom prst="rect">
            <a:avLst/>
          </a:prstGeom>
          <a:noFill/>
          <a:ln w="28575">
            <a:solidFill>
              <a:schemeClr val="accent1"/>
            </a:solidFill>
          </a:ln>
        </p:spPr>
        <p:txBody>
          <a:bodyPr wrap="none" rtlCol="0">
            <a:spAutoFit/>
          </a:bodyPr>
          <a:lstStyle/>
          <a:p>
            <a:pPr algn="ctr"/>
            <a:r>
              <a:rPr lang="en-US" altLang="ja-JP" sz="1200" dirty="0"/>
              <a:t>Generation</a:t>
            </a:r>
            <a:endParaRPr lang="en-US" sz="1200" dirty="0"/>
          </a:p>
        </p:txBody>
      </p:sp>
      <p:sp>
        <p:nvSpPr>
          <p:cNvPr id="20" name="テキスト ボックス 25">
            <a:extLst>
              <a:ext uri="{FF2B5EF4-FFF2-40B4-BE49-F238E27FC236}">
                <a16:creationId xmlns:a16="http://schemas.microsoft.com/office/drawing/2014/main" id="{41D41CF5-0D73-9DB0-2FFF-84E30E113AD7}"/>
              </a:ext>
            </a:extLst>
          </p:cNvPr>
          <p:cNvSpPr txBox="1"/>
          <p:nvPr/>
        </p:nvSpPr>
        <p:spPr>
          <a:xfrm>
            <a:off x="6396149" y="2829262"/>
            <a:ext cx="2829151" cy="567811"/>
          </a:xfrm>
          <a:prstGeom prst="rect">
            <a:avLst/>
          </a:prstGeom>
          <a:noFill/>
          <a:ln w="28575">
            <a:solidFill>
              <a:schemeClr val="accent2"/>
            </a:solidFill>
          </a:ln>
        </p:spPr>
        <p:txBody>
          <a:bodyPr wrap="square" tIns="144000" bIns="144000" rtlCol="0" anchor="ctr" anchorCtr="1">
            <a:spAutoFit/>
          </a:bodyPr>
          <a:lstStyle/>
          <a:p>
            <a:pPr algn="ctr"/>
            <a:r>
              <a:rPr lang="en-US" altLang="ja-JP" dirty="0"/>
              <a:t>Wholesale Market</a:t>
            </a:r>
          </a:p>
        </p:txBody>
      </p:sp>
      <p:sp>
        <p:nvSpPr>
          <p:cNvPr id="25" name="テキスト ボックス 30">
            <a:extLst>
              <a:ext uri="{FF2B5EF4-FFF2-40B4-BE49-F238E27FC236}">
                <a16:creationId xmlns:a16="http://schemas.microsoft.com/office/drawing/2014/main" id="{759007AC-357A-2005-EFD2-0C0DDFB01852}"/>
              </a:ext>
            </a:extLst>
          </p:cNvPr>
          <p:cNvSpPr txBox="1"/>
          <p:nvPr/>
        </p:nvSpPr>
        <p:spPr>
          <a:xfrm>
            <a:off x="6208633" y="4759680"/>
            <a:ext cx="751657" cy="330072"/>
          </a:xfrm>
          <a:prstGeom prst="rect">
            <a:avLst/>
          </a:prstGeom>
          <a:noFill/>
          <a:ln w="28575">
            <a:solidFill>
              <a:schemeClr val="tx1"/>
            </a:solidFill>
          </a:ln>
        </p:spPr>
        <p:txBody>
          <a:bodyPr wrap="square" lIns="36000" tIns="72000" rIns="36000" bIns="72000" rtlCol="0">
            <a:spAutoFit/>
          </a:bodyPr>
          <a:lstStyle/>
          <a:p>
            <a:pPr algn="ctr"/>
            <a:r>
              <a:rPr lang="en-US" sz="1200" dirty="0"/>
              <a:t>Prosumer</a:t>
            </a:r>
          </a:p>
        </p:txBody>
      </p:sp>
      <p:cxnSp>
        <p:nvCxnSpPr>
          <p:cNvPr id="27" name="直線矢印コネクタ 38">
            <a:extLst>
              <a:ext uri="{FF2B5EF4-FFF2-40B4-BE49-F238E27FC236}">
                <a16:creationId xmlns:a16="http://schemas.microsoft.com/office/drawing/2014/main" id="{AFC9443D-F739-3591-7C9E-8795F25915E5}"/>
              </a:ext>
            </a:extLst>
          </p:cNvPr>
          <p:cNvCxnSpPr>
            <a:cxnSpLocks/>
          </p:cNvCxnSpPr>
          <p:nvPr/>
        </p:nvCxnSpPr>
        <p:spPr>
          <a:xfrm>
            <a:off x="5590762" y="2337201"/>
            <a:ext cx="870198" cy="51141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8" name="直線矢印コネクタ 46">
            <a:extLst>
              <a:ext uri="{FF2B5EF4-FFF2-40B4-BE49-F238E27FC236}">
                <a16:creationId xmlns:a16="http://schemas.microsoft.com/office/drawing/2014/main" id="{F26AC27C-2123-7977-2644-0543F584D9A6}"/>
              </a:ext>
            </a:extLst>
          </p:cNvPr>
          <p:cNvCxnSpPr>
            <a:cxnSpLocks/>
            <a:stCxn id="18" idx="2"/>
          </p:cNvCxnSpPr>
          <p:nvPr/>
        </p:nvCxnSpPr>
        <p:spPr>
          <a:xfrm flipH="1">
            <a:off x="7810724" y="2067061"/>
            <a:ext cx="2" cy="76220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9" name="直線矢印コネクタ 47">
            <a:extLst>
              <a:ext uri="{FF2B5EF4-FFF2-40B4-BE49-F238E27FC236}">
                <a16:creationId xmlns:a16="http://schemas.microsoft.com/office/drawing/2014/main" id="{334130E8-6ACF-FE5D-290C-66B439D4310B}"/>
              </a:ext>
            </a:extLst>
          </p:cNvPr>
          <p:cNvCxnSpPr>
            <a:cxnSpLocks/>
            <a:stCxn id="19" idx="2"/>
          </p:cNvCxnSpPr>
          <p:nvPr/>
        </p:nvCxnSpPr>
        <p:spPr>
          <a:xfrm flipH="1">
            <a:off x="8626699" y="2067061"/>
            <a:ext cx="160021" cy="792426"/>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47" name="テキスト ボックス 51">
            <a:extLst>
              <a:ext uri="{FF2B5EF4-FFF2-40B4-BE49-F238E27FC236}">
                <a16:creationId xmlns:a16="http://schemas.microsoft.com/office/drawing/2014/main" id="{C81DE99E-D8E4-45DC-70F7-095CDFE8FAE2}"/>
              </a:ext>
            </a:extLst>
          </p:cNvPr>
          <p:cNvSpPr txBox="1"/>
          <p:nvPr/>
        </p:nvSpPr>
        <p:spPr>
          <a:xfrm>
            <a:off x="7023323" y="4764722"/>
            <a:ext cx="791113" cy="330072"/>
          </a:xfrm>
          <a:prstGeom prst="rect">
            <a:avLst/>
          </a:prstGeom>
          <a:noFill/>
          <a:ln w="28575">
            <a:solidFill>
              <a:schemeClr val="tx1"/>
            </a:solidFill>
          </a:ln>
        </p:spPr>
        <p:txBody>
          <a:bodyPr wrap="square" lIns="36000" tIns="72000" rIns="36000" bIns="72000" rtlCol="0">
            <a:spAutoFit/>
          </a:bodyPr>
          <a:lstStyle/>
          <a:p>
            <a:pPr algn="ctr"/>
            <a:r>
              <a:rPr lang="en-US" sz="1200" dirty="0"/>
              <a:t>Prosumer</a:t>
            </a:r>
          </a:p>
        </p:txBody>
      </p:sp>
      <p:sp>
        <p:nvSpPr>
          <p:cNvPr id="48" name="テキスト ボックス 52">
            <a:extLst>
              <a:ext uri="{FF2B5EF4-FFF2-40B4-BE49-F238E27FC236}">
                <a16:creationId xmlns:a16="http://schemas.microsoft.com/office/drawing/2014/main" id="{4370FD7A-DBAC-FE87-5219-EBB00CB4ACEF}"/>
              </a:ext>
            </a:extLst>
          </p:cNvPr>
          <p:cNvSpPr txBox="1"/>
          <p:nvPr/>
        </p:nvSpPr>
        <p:spPr>
          <a:xfrm>
            <a:off x="7877469" y="4764722"/>
            <a:ext cx="789061" cy="330072"/>
          </a:xfrm>
          <a:prstGeom prst="rect">
            <a:avLst/>
          </a:prstGeom>
          <a:noFill/>
          <a:ln w="28575">
            <a:solidFill>
              <a:schemeClr val="tx1"/>
            </a:solidFill>
          </a:ln>
        </p:spPr>
        <p:txBody>
          <a:bodyPr wrap="square" lIns="36000" tIns="72000" rIns="36000" bIns="72000" rtlCol="0">
            <a:spAutoFit/>
          </a:bodyPr>
          <a:lstStyle/>
          <a:p>
            <a:pPr algn="ctr"/>
            <a:r>
              <a:rPr lang="en-US" altLang="ja-JP" sz="1200" dirty="0"/>
              <a:t>Prosumer</a:t>
            </a:r>
            <a:endParaRPr lang="en-US" sz="1200" dirty="0"/>
          </a:p>
        </p:txBody>
      </p:sp>
      <p:cxnSp>
        <p:nvCxnSpPr>
          <p:cNvPr id="55" name="直線矢印コネクタ 66">
            <a:extLst>
              <a:ext uri="{FF2B5EF4-FFF2-40B4-BE49-F238E27FC236}">
                <a16:creationId xmlns:a16="http://schemas.microsoft.com/office/drawing/2014/main" id="{EFAD3B79-283C-AE5A-305D-31B30E12ABB5}"/>
              </a:ext>
            </a:extLst>
          </p:cNvPr>
          <p:cNvCxnSpPr>
            <a:cxnSpLocks/>
            <a:stCxn id="17" idx="2"/>
          </p:cNvCxnSpPr>
          <p:nvPr/>
        </p:nvCxnSpPr>
        <p:spPr>
          <a:xfrm>
            <a:off x="6832986" y="2071828"/>
            <a:ext cx="161819" cy="71824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57" name="テキスト ボックス 56">
            <a:extLst>
              <a:ext uri="{FF2B5EF4-FFF2-40B4-BE49-F238E27FC236}">
                <a16:creationId xmlns:a16="http://schemas.microsoft.com/office/drawing/2014/main" id="{27B3D961-6B31-5D59-A36D-61EC20106635}"/>
              </a:ext>
            </a:extLst>
          </p:cNvPr>
          <p:cNvSpPr txBox="1"/>
          <p:nvPr/>
        </p:nvSpPr>
        <p:spPr>
          <a:xfrm>
            <a:off x="4746460" y="2069489"/>
            <a:ext cx="1063112" cy="307777"/>
          </a:xfrm>
          <a:prstGeom prst="rect">
            <a:avLst/>
          </a:prstGeom>
          <a:noFill/>
        </p:spPr>
        <p:txBody>
          <a:bodyPr wrap="none" rtlCol="0">
            <a:spAutoFit/>
          </a:bodyPr>
          <a:lstStyle/>
          <a:p>
            <a:r>
              <a:rPr kumimoji="1" lang="en-US" altLang="ja-JP" sz="1400" dirty="0"/>
              <a:t>Generation</a:t>
            </a:r>
            <a:endParaRPr kumimoji="1" lang="ja-JP" altLang="en-US" sz="1400" dirty="0"/>
          </a:p>
        </p:txBody>
      </p:sp>
      <p:sp>
        <p:nvSpPr>
          <p:cNvPr id="68" name="テキスト ボックス 52">
            <a:extLst>
              <a:ext uri="{FF2B5EF4-FFF2-40B4-BE49-F238E27FC236}">
                <a16:creationId xmlns:a16="http://schemas.microsoft.com/office/drawing/2014/main" id="{9AA1CCA2-6CA2-3491-EBDC-B081E16E0D14}"/>
              </a:ext>
            </a:extLst>
          </p:cNvPr>
          <p:cNvSpPr txBox="1"/>
          <p:nvPr/>
        </p:nvSpPr>
        <p:spPr>
          <a:xfrm>
            <a:off x="8713818" y="4765188"/>
            <a:ext cx="791113" cy="330072"/>
          </a:xfrm>
          <a:prstGeom prst="rect">
            <a:avLst/>
          </a:prstGeom>
          <a:noFill/>
          <a:ln w="28575">
            <a:solidFill>
              <a:schemeClr val="tx1"/>
            </a:solidFill>
          </a:ln>
        </p:spPr>
        <p:txBody>
          <a:bodyPr wrap="square" lIns="36000" tIns="72000" rIns="36000" bIns="72000" rtlCol="0">
            <a:spAutoFit/>
          </a:bodyPr>
          <a:lstStyle/>
          <a:p>
            <a:pPr algn="ctr"/>
            <a:r>
              <a:rPr lang="en-US" altLang="ja-JP" sz="1200" dirty="0"/>
              <a:t>Prosumer</a:t>
            </a:r>
            <a:endParaRPr lang="en-US" sz="1200" dirty="0"/>
          </a:p>
        </p:txBody>
      </p:sp>
      <p:sp>
        <p:nvSpPr>
          <p:cNvPr id="2" name="TextBox 16">
            <a:extLst>
              <a:ext uri="{FF2B5EF4-FFF2-40B4-BE49-F238E27FC236}">
                <a16:creationId xmlns:a16="http://schemas.microsoft.com/office/drawing/2014/main" id="{7E48225E-58A6-66E6-10C3-6841090CE4C2}"/>
              </a:ext>
            </a:extLst>
          </p:cNvPr>
          <p:cNvSpPr txBox="1"/>
          <p:nvPr/>
        </p:nvSpPr>
        <p:spPr>
          <a:xfrm>
            <a:off x="123825" y="6558580"/>
            <a:ext cx="2719014" cy="338554"/>
          </a:xfrm>
          <a:prstGeom prst="rect">
            <a:avLst/>
          </a:prstGeom>
          <a:noFill/>
        </p:spPr>
        <p:txBody>
          <a:bodyPr wrap="none" rtlCol="0">
            <a:spAutoFit/>
          </a:bodyPr>
          <a:lstStyle/>
          <a:p>
            <a:r>
              <a:rPr lang="ja-JP" altLang="en-US" sz="800" dirty="0">
                <a:hlinkClick r:id="rId2"/>
              </a:rPr>
              <a:t>一般財団法人 新エネルギー財団 電力市場の概要</a:t>
            </a:r>
            <a:r>
              <a:rPr lang="en-US" altLang="ja-JP" sz="800" dirty="0">
                <a:hlinkClick r:id="rId2"/>
              </a:rPr>
              <a:t>(</a:t>
            </a:r>
            <a:r>
              <a:rPr lang="ja-JP" altLang="en-US" sz="800" dirty="0">
                <a:hlinkClick r:id="rId2"/>
              </a:rPr>
              <a:t>その</a:t>
            </a:r>
            <a:r>
              <a:rPr lang="en-US" altLang="ja-JP" sz="800" dirty="0">
                <a:hlinkClick r:id="rId2"/>
              </a:rPr>
              <a:t>1)</a:t>
            </a:r>
            <a:endParaRPr lang="en-US" sz="800" dirty="0"/>
          </a:p>
          <a:p>
            <a:endParaRPr lang="en-US" sz="800" dirty="0"/>
          </a:p>
        </p:txBody>
      </p:sp>
      <p:sp>
        <p:nvSpPr>
          <p:cNvPr id="24" name="テキスト ボックス 35">
            <a:extLst>
              <a:ext uri="{FF2B5EF4-FFF2-40B4-BE49-F238E27FC236}">
                <a16:creationId xmlns:a16="http://schemas.microsoft.com/office/drawing/2014/main" id="{C461A824-DD1F-2890-BAF7-895D4D78615D}"/>
              </a:ext>
            </a:extLst>
          </p:cNvPr>
          <p:cNvSpPr txBox="1"/>
          <p:nvPr/>
        </p:nvSpPr>
        <p:spPr>
          <a:xfrm>
            <a:off x="6616277" y="5607285"/>
            <a:ext cx="2428870" cy="307777"/>
          </a:xfrm>
          <a:prstGeom prst="rect">
            <a:avLst/>
          </a:prstGeom>
          <a:noFill/>
        </p:spPr>
        <p:txBody>
          <a:bodyPr wrap="none" rtlCol="0">
            <a:spAutoFit/>
          </a:bodyPr>
          <a:lstStyle/>
          <a:p>
            <a:r>
              <a:rPr lang="en-US" altLang="ja-JP" sz="1400" b="1" dirty="0">
                <a:solidFill>
                  <a:schemeClr val="accent6"/>
                </a:solidFill>
              </a:rPr>
              <a:t>Peer to Peer energy trading</a:t>
            </a:r>
            <a:endParaRPr lang="en-US" sz="1400" b="1" dirty="0">
              <a:solidFill>
                <a:schemeClr val="accent6"/>
              </a:solidFill>
            </a:endParaRPr>
          </a:p>
        </p:txBody>
      </p:sp>
      <p:sp>
        <p:nvSpPr>
          <p:cNvPr id="26" name="正方形/長方形 25">
            <a:extLst>
              <a:ext uri="{FF2B5EF4-FFF2-40B4-BE49-F238E27FC236}">
                <a16:creationId xmlns:a16="http://schemas.microsoft.com/office/drawing/2014/main" id="{CF566D30-1C13-1FA7-BB18-37FB352D123C}"/>
              </a:ext>
            </a:extLst>
          </p:cNvPr>
          <p:cNvSpPr/>
          <p:nvPr/>
        </p:nvSpPr>
        <p:spPr>
          <a:xfrm>
            <a:off x="6077407" y="4472557"/>
            <a:ext cx="3549146" cy="1149911"/>
          </a:xfrm>
          <a:prstGeom prst="rect">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8" name="直線矢印コネクタ 46">
            <a:extLst>
              <a:ext uri="{FF2B5EF4-FFF2-40B4-BE49-F238E27FC236}">
                <a16:creationId xmlns:a16="http://schemas.microsoft.com/office/drawing/2014/main" id="{993442FF-D8BD-076F-E08A-2139C4C2A260}"/>
              </a:ext>
            </a:extLst>
          </p:cNvPr>
          <p:cNvCxnSpPr>
            <a:cxnSpLocks/>
          </p:cNvCxnSpPr>
          <p:nvPr/>
        </p:nvCxnSpPr>
        <p:spPr>
          <a:xfrm>
            <a:off x="7343290" y="3397073"/>
            <a:ext cx="0" cy="107548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40" name="直線矢印コネクタ 46">
            <a:extLst>
              <a:ext uri="{FF2B5EF4-FFF2-40B4-BE49-F238E27FC236}">
                <a16:creationId xmlns:a16="http://schemas.microsoft.com/office/drawing/2014/main" id="{F5A19C72-DDD2-3899-4121-F5B2DE2D88A9}"/>
              </a:ext>
            </a:extLst>
          </p:cNvPr>
          <p:cNvCxnSpPr>
            <a:cxnSpLocks/>
          </p:cNvCxnSpPr>
          <p:nvPr/>
        </p:nvCxnSpPr>
        <p:spPr>
          <a:xfrm flipV="1">
            <a:off x="7581813" y="3397073"/>
            <a:ext cx="0" cy="107548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1" name="コネクタ: 曲線 8">
            <a:extLst>
              <a:ext uri="{FF2B5EF4-FFF2-40B4-BE49-F238E27FC236}">
                <a16:creationId xmlns:a16="http://schemas.microsoft.com/office/drawing/2014/main" id="{D958896B-C2BF-9ED5-0CA9-77181DFBBBB0}"/>
              </a:ext>
            </a:extLst>
          </p:cNvPr>
          <p:cNvCxnSpPr>
            <a:cxnSpLocks/>
          </p:cNvCxnSpPr>
          <p:nvPr/>
        </p:nvCxnSpPr>
        <p:spPr>
          <a:xfrm rot="16200000" flipH="1">
            <a:off x="7060453" y="4747563"/>
            <a:ext cx="15261" cy="744576"/>
          </a:xfrm>
          <a:prstGeom prst="curvedConnector3">
            <a:avLst>
              <a:gd name="adj1" fmla="val 1597936"/>
            </a:avLst>
          </a:prstGeom>
          <a:ln w="19050">
            <a:solidFill>
              <a:schemeClr val="accent6"/>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52" name="コネクタ: 曲線 32">
            <a:extLst>
              <a:ext uri="{FF2B5EF4-FFF2-40B4-BE49-F238E27FC236}">
                <a16:creationId xmlns:a16="http://schemas.microsoft.com/office/drawing/2014/main" id="{D4B1E52A-1626-A686-49D4-C2647B9946F2}"/>
              </a:ext>
            </a:extLst>
          </p:cNvPr>
          <p:cNvCxnSpPr/>
          <p:nvPr/>
        </p:nvCxnSpPr>
        <p:spPr>
          <a:xfrm rot="16200000" flipH="1">
            <a:off x="7812659" y="4755194"/>
            <a:ext cx="12700" cy="744576"/>
          </a:xfrm>
          <a:prstGeom prst="curvedConnector3">
            <a:avLst>
              <a:gd name="adj1" fmla="val 1800000"/>
            </a:avLst>
          </a:prstGeom>
          <a:ln w="19050">
            <a:solidFill>
              <a:schemeClr val="accent6"/>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53" name="コネクタ: 曲線 34">
            <a:extLst>
              <a:ext uri="{FF2B5EF4-FFF2-40B4-BE49-F238E27FC236}">
                <a16:creationId xmlns:a16="http://schemas.microsoft.com/office/drawing/2014/main" id="{0CC75692-8F30-FFF5-316D-DB20A811C90F}"/>
              </a:ext>
            </a:extLst>
          </p:cNvPr>
          <p:cNvCxnSpPr/>
          <p:nvPr/>
        </p:nvCxnSpPr>
        <p:spPr>
          <a:xfrm rot="5400000" flipH="1" flipV="1">
            <a:off x="8551673" y="4745976"/>
            <a:ext cx="14779" cy="748233"/>
          </a:xfrm>
          <a:prstGeom prst="curvedConnector3">
            <a:avLst>
              <a:gd name="adj1" fmla="val -1546789"/>
            </a:avLst>
          </a:prstGeom>
          <a:ln w="1905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21" name="テキスト ボックス 15">
            <a:extLst>
              <a:ext uri="{FF2B5EF4-FFF2-40B4-BE49-F238E27FC236}">
                <a16:creationId xmlns:a16="http://schemas.microsoft.com/office/drawing/2014/main" id="{4328E5AB-33A3-DFC9-1CE4-D02AD399BA39}"/>
              </a:ext>
            </a:extLst>
          </p:cNvPr>
          <p:cNvSpPr txBox="1"/>
          <p:nvPr/>
        </p:nvSpPr>
        <p:spPr>
          <a:xfrm>
            <a:off x="7542282" y="3747938"/>
            <a:ext cx="1874231" cy="461665"/>
          </a:xfrm>
          <a:prstGeom prst="rect">
            <a:avLst/>
          </a:prstGeom>
          <a:noFill/>
        </p:spPr>
        <p:txBody>
          <a:bodyPr wrap="none" rtlCol="0">
            <a:spAutoFit/>
          </a:bodyPr>
          <a:lstStyle/>
          <a:p>
            <a:pPr algn="ctr"/>
            <a:r>
              <a:rPr lang="en-US" sz="1200" dirty="0"/>
              <a:t>Participate as a </a:t>
            </a:r>
            <a:br>
              <a:rPr lang="en-US" sz="1200" dirty="0"/>
            </a:br>
            <a:r>
              <a:rPr lang="en-US" sz="1200" dirty="0"/>
              <a:t>Virtual Power Plant (VPP)</a:t>
            </a:r>
          </a:p>
        </p:txBody>
      </p:sp>
    </p:spTree>
    <p:extLst>
      <p:ext uri="{BB962C8B-B14F-4D97-AF65-F5344CB8AC3E}">
        <p14:creationId xmlns:p14="http://schemas.microsoft.com/office/powerpoint/2010/main" val="23138500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59C85433-6660-352D-657E-2E01EAD669DF}"/>
              </a:ext>
            </a:extLst>
          </p:cNvPr>
          <p:cNvSpPr>
            <a:spLocks noGrp="1"/>
          </p:cNvSpPr>
          <p:nvPr>
            <p:ph sz="quarter" idx="16"/>
          </p:nvPr>
        </p:nvSpPr>
        <p:spPr/>
        <p:txBody>
          <a:bodyPr/>
          <a:lstStyle/>
          <a:p>
            <a:r>
              <a:rPr lang="en-US" altLang="ja-JP" dirty="0"/>
              <a:t>1. Introduction and background</a:t>
            </a:r>
            <a:endParaRPr lang="en-US" dirty="0"/>
          </a:p>
        </p:txBody>
      </p:sp>
      <p:graphicFrame>
        <p:nvGraphicFramePr>
          <p:cNvPr id="4" name="表 3">
            <a:extLst>
              <a:ext uri="{FF2B5EF4-FFF2-40B4-BE49-F238E27FC236}">
                <a16:creationId xmlns:a16="http://schemas.microsoft.com/office/drawing/2014/main" id="{EFE8684F-F6AF-8793-AB22-ED1CCFD662E2}"/>
              </a:ext>
            </a:extLst>
          </p:cNvPr>
          <p:cNvGraphicFramePr>
            <a:graphicFrameLocks noGrp="1"/>
          </p:cNvGraphicFramePr>
          <p:nvPr>
            <p:extLst>
              <p:ext uri="{D42A27DB-BD31-4B8C-83A1-F6EECF244321}">
                <p14:modId xmlns:p14="http://schemas.microsoft.com/office/powerpoint/2010/main" val="4269418970"/>
              </p:ext>
            </p:extLst>
          </p:nvPr>
        </p:nvGraphicFramePr>
        <p:xfrm>
          <a:off x="123824" y="893494"/>
          <a:ext cx="9636130" cy="5511840"/>
        </p:xfrm>
        <a:graphic>
          <a:graphicData uri="http://schemas.openxmlformats.org/drawingml/2006/table">
            <a:tbl>
              <a:tblPr firstRow="1" bandRow="1">
                <a:tableStyleId>{073A0DAA-6AF3-43AB-8588-CEC1D06C72B9}</a:tableStyleId>
              </a:tblPr>
              <a:tblGrid>
                <a:gridCol w="1470026">
                  <a:extLst>
                    <a:ext uri="{9D8B030D-6E8A-4147-A177-3AD203B41FA5}">
                      <a16:colId xmlns:a16="http://schemas.microsoft.com/office/drawing/2014/main" val="4231123391"/>
                    </a:ext>
                  </a:extLst>
                </a:gridCol>
                <a:gridCol w="2584450">
                  <a:extLst>
                    <a:ext uri="{9D8B030D-6E8A-4147-A177-3AD203B41FA5}">
                      <a16:colId xmlns:a16="http://schemas.microsoft.com/office/drawing/2014/main" val="772813921"/>
                    </a:ext>
                  </a:extLst>
                </a:gridCol>
                <a:gridCol w="1943100">
                  <a:extLst>
                    <a:ext uri="{9D8B030D-6E8A-4147-A177-3AD203B41FA5}">
                      <a16:colId xmlns:a16="http://schemas.microsoft.com/office/drawing/2014/main" val="4027048990"/>
                    </a:ext>
                  </a:extLst>
                </a:gridCol>
                <a:gridCol w="831850">
                  <a:extLst>
                    <a:ext uri="{9D8B030D-6E8A-4147-A177-3AD203B41FA5}">
                      <a16:colId xmlns:a16="http://schemas.microsoft.com/office/drawing/2014/main" val="15736274"/>
                    </a:ext>
                  </a:extLst>
                </a:gridCol>
                <a:gridCol w="406400">
                  <a:extLst>
                    <a:ext uri="{9D8B030D-6E8A-4147-A177-3AD203B41FA5}">
                      <a16:colId xmlns:a16="http://schemas.microsoft.com/office/drawing/2014/main" val="2066017013"/>
                    </a:ext>
                  </a:extLst>
                </a:gridCol>
                <a:gridCol w="476250">
                  <a:extLst>
                    <a:ext uri="{9D8B030D-6E8A-4147-A177-3AD203B41FA5}">
                      <a16:colId xmlns:a16="http://schemas.microsoft.com/office/drawing/2014/main" val="4070284190"/>
                    </a:ext>
                  </a:extLst>
                </a:gridCol>
                <a:gridCol w="374650">
                  <a:extLst>
                    <a:ext uri="{9D8B030D-6E8A-4147-A177-3AD203B41FA5}">
                      <a16:colId xmlns:a16="http://schemas.microsoft.com/office/drawing/2014/main" val="41489326"/>
                    </a:ext>
                  </a:extLst>
                </a:gridCol>
                <a:gridCol w="495300">
                  <a:extLst>
                    <a:ext uri="{9D8B030D-6E8A-4147-A177-3AD203B41FA5}">
                      <a16:colId xmlns:a16="http://schemas.microsoft.com/office/drawing/2014/main" val="3902501801"/>
                    </a:ext>
                  </a:extLst>
                </a:gridCol>
                <a:gridCol w="558800">
                  <a:extLst>
                    <a:ext uri="{9D8B030D-6E8A-4147-A177-3AD203B41FA5}">
                      <a16:colId xmlns:a16="http://schemas.microsoft.com/office/drawing/2014/main" val="3154920407"/>
                    </a:ext>
                  </a:extLst>
                </a:gridCol>
                <a:gridCol w="495304">
                  <a:extLst>
                    <a:ext uri="{9D8B030D-6E8A-4147-A177-3AD203B41FA5}">
                      <a16:colId xmlns:a16="http://schemas.microsoft.com/office/drawing/2014/main" val="21045546"/>
                    </a:ext>
                  </a:extLst>
                </a:gridCol>
              </a:tblGrid>
              <a:tr h="313006">
                <a:tc>
                  <a:txBody>
                    <a:bodyPr/>
                    <a:lstStyle/>
                    <a:p>
                      <a:pPr algn="ctr"/>
                      <a:r>
                        <a:rPr lang="en-US" sz="1200" dirty="0"/>
                        <a:t>Author</a:t>
                      </a:r>
                    </a:p>
                  </a:txBody>
                  <a:tcPr anchor="ctr"/>
                </a:tc>
                <a:tc>
                  <a:txBody>
                    <a:bodyPr/>
                    <a:lstStyle/>
                    <a:p>
                      <a:pPr algn="ctr"/>
                      <a:r>
                        <a:rPr lang="en-US" altLang="ja-JP" sz="1200" dirty="0"/>
                        <a:t>Objective function</a:t>
                      </a:r>
                      <a:endParaRPr lang="en-US" sz="1200" dirty="0"/>
                    </a:p>
                  </a:txBody>
                  <a:tcPr anchor="ctr"/>
                </a:tc>
                <a:tc>
                  <a:txBody>
                    <a:bodyPr/>
                    <a:lstStyle/>
                    <a:p>
                      <a:pPr algn="ctr"/>
                      <a:r>
                        <a:rPr lang="en-US" sz="1200" dirty="0"/>
                        <a:t>Variable</a:t>
                      </a:r>
                    </a:p>
                  </a:txBody>
                  <a:tcPr anchor="ctr"/>
                </a:tc>
                <a:tc>
                  <a:txBody>
                    <a:bodyPr/>
                    <a:lstStyle/>
                    <a:p>
                      <a:pPr algn="ctr"/>
                      <a:r>
                        <a:rPr lang="en-US" sz="1200" dirty="0"/>
                        <a:t>method</a:t>
                      </a:r>
                    </a:p>
                  </a:txBody>
                  <a:tcPr anchor="ctr"/>
                </a:tc>
                <a:tc>
                  <a:txBody>
                    <a:bodyPr/>
                    <a:lstStyle/>
                    <a:p>
                      <a:pPr algn="ctr"/>
                      <a:r>
                        <a:rPr lang="en-US" sz="1200" dirty="0"/>
                        <a:t>DR</a:t>
                      </a:r>
                    </a:p>
                  </a:txBody>
                  <a:tcPr anchor="ctr"/>
                </a:tc>
                <a:tc>
                  <a:txBody>
                    <a:bodyPr/>
                    <a:lstStyle/>
                    <a:p>
                      <a:pPr algn="ctr"/>
                      <a:r>
                        <a:rPr lang="en-US" sz="1200" dirty="0"/>
                        <a:t>BES</a:t>
                      </a:r>
                    </a:p>
                  </a:txBody>
                  <a:tcPr anchor="ctr"/>
                </a:tc>
                <a:tc>
                  <a:txBody>
                    <a:bodyPr/>
                    <a:lstStyle/>
                    <a:p>
                      <a:pPr algn="ctr"/>
                      <a:r>
                        <a:rPr lang="en-US" altLang="ja-JP" sz="1200" dirty="0"/>
                        <a:t>EV</a:t>
                      </a:r>
                      <a:endParaRPr lang="en-US" sz="1200" dirty="0"/>
                    </a:p>
                  </a:txBody>
                  <a:tcPr anchor="ctr"/>
                </a:tc>
                <a:tc>
                  <a:txBody>
                    <a:bodyPr/>
                    <a:lstStyle/>
                    <a:p>
                      <a:pPr algn="ctr"/>
                      <a:r>
                        <a:rPr lang="en-US" sz="1200" dirty="0"/>
                        <a:t>bid</a:t>
                      </a:r>
                    </a:p>
                  </a:txBody>
                  <a:tcPr anchor="ctr"/>
                </a:tc>
                <a:tc>
                  <a:txBody>
                    <a:bodyPr/>
                    <a:lstStyle/>
                    <a:p>
                      <a:pPr algn="ctr"/>
                      <a:r>
                        <a:rPr lang="en-US" sz="1200" dirty="0"/>
                        <a:t>year</a:t>
                      </a:r>
                    </a:p>
                  </a:txBody>
                  <a:tcPr anchor="ctr"/>
                </a:tc>
                <a:tc>
                  <a:txBody>
                    <a:bodyPr/>
                    <a:lstStyle/>
                    <a:p>
                      <a:pPr algn="ctr"/>
                      <a:r>
                        <a:rPr lang="en-US" sz="1200" dirty="0"/>
                        <a:t>ref.</a:t>
                      </a:r>
                    </a:p>
                  </a:txBody>
                  <a:tcPr anchor="ctr"/>
                </a:tc>
                <a:extLst>
                  <a:ext uri="{0D108BD9-81ED-4DB2-BD59-A6C34878D82A}">
                    <a16:rowId xmlns:a16="http://schemas.microsoft.com/office/drawing/2014/main" val="2327245315"/>
                  </a:ext>
                </a:extLst>
              </a:tr>
              <a:tr h="778917">
                <a:tc>
                  <a:txBody>
                    <a:bodyPr/>
                    <a:lstStyle/>
                    <a:p>
                      <a:r>
                        <a:rPr lang="en-US" sz="1200" kern="1200" dirty="0">
                          <a:solidFill>
                            <a:schemeClr val="dk1"/>
                          </a:solidFill>
                          <a:effectLst/>
                          <a:latin typeface="+mn-lt"/>
                          <a:ea typeface="+mn-ea"/>
                          <a:cs typeface="+mn-cs"/>
                        </a:rPr>
                        <a:t>Lu et al.</a:t>
                      </a:r>
                      <a:endParaRPr lang="en-US" sz="1200" dirty="0"/>
                    </a:p>
                  </a:txBody>
                  <a:tcPr/>
                </a:tc>
                <a:tc>
                  <a:txBody>
                    <a:bodyPr/>
                    <a:lstStyle/>
                    <a:p>
                      <a:r>
                        <a:rPr lang="en-US" altLang="ja-JP" sz="1200" dirty="0"/>
                        <a:t>Maximize the </a:t>
                      </a:r>
                      <a:r>
                        <a:rPr lang="en-US" altLang="ja-JP" sz="1200" dirty="0" err="1"/>
                        <a:t>prifit</a:t>
                      </a:r>
                      <a:r>
                        <a:rPr lang="en-US" altLang="ja-JP" sz="1200" dirty="0"/>
                        <a:t> of aggregator.</a:t>
                      </a:r>
                      <a:br>
                        <a:rPr lang="en-US" altLang="ja-JP" sz="1200" dirty="0"/>
                      </a:br>
                      <a:r>
                        <a:rPr lang="en-US" altLang="ja-JP" sz="1200"/>
                        <a:t>Minimize </a:t>
                      </a:r>
                      <a:r>
                        <a:rPr lang="en-US" altLang="ja-JP" sz="1200" dirty="0"/>
                        <a:t>the cost of prosumers, including prosumer’s </a:t>
                      </a:r>
                      <a:r>
                        <a:rPr lang="en-US" altLang="ja-JP" sz="1200"/>
                        <a:t>dissatisfaction values.</a:t>
                      </a:r>
                      <a:endParaRPr lang="en-US" sz="1200" dirty="0"/>
                    </a:p>
                  </a:txBody>
                  <a:tcPr/>
                </a:tc>
                <a:tc>
                  <a:txBody>
                    <a:bodyPr/>
                    <a:lstStyle/>
                    <a:p>
                      <a:r>
                        <a:rPr lang="ja-JP" altLang="en-US" sz="1200" dirty="0"/>
                        <a:t>アグリゲーターの電力卸売価格．</a:t>
                      </a:r>
                      <a:endParaRPr lang="en-US" sz="1200" dirty="0"/>
                    </a:p>
                  </a:txBody>
                  <a:tcPr/>
                </a:tc>
                <a:tc>
                  <a:txBody>
                    <a:bodyPr/>
                    <a:lstStyle/>
                    <a:p>
                      <a:r>
                        <a:rPr lang="en-US" sz="1200" dirty="0"/>
                        <a:t>Q</a:t>
                      </a:r>
                      <a:r>
                        <a:rPr lang="ja-JP" altLang="en-US" sz="1200" dirty="0"/>
                        <a:t>学習</a:t>
                      </a:r>
                      <a:endParaRPr lang="en-US" sz="1200" dirty="0"/>
                    </a:p>
                  </a:txBody>
                  <a:tcPr/>
                </a:tc>
                <a:tc>
                  <a:txBody>
                    <a:bodyPr/>
                    <a:lstStyle/>
                    <a:p>
                      <a:r>
                        <a:rPr lang="ja-JP" altLang="en-US" sz="1200" dirty="0"/>
                        <a:t>✓</a:t>
                      </a:r>
                      <a:endParaRPr lang="en-US" sz="1200" dirty="0"/>
                    </a:p>
                  </a:txBody>
                  <a:tcPr/>
                </a:tc>
                <a:tc>
                  <a:txBody>
                    <a:bodyPr/>
                    <a:lstStyle/>
                    <a:p>
                      <a:r>
                        <a:rPr lang="en-US" sz="1200" dirty="0"/>
                        <a:t>-</a:t>
                      </a:r>
                    </a:p>
                  </a:txBody>
                  <a:tcPr/>
                </a:tc>
                <a:tc>
                  <a:txBody>
                    <a:bodyPr/>
                    <a:lstStyle/>
                    <a:p>
                      <a:r>
                        <a:rPr lang="en-US" sz="1200" dirty="0"/>
                        <a:t>-</a:t>
                      </a:r>
                    </a:p>
                  </a:txBody>
                  <a:tcPr/>
                </a:tc>
                <a:tc>
                  <a:txBody>
                    <a:bodyPr/>
                    <a:lstStyle/>
                    <a:p>
                      <a:r>
                        <a:rPr lang="en-US" sz="1200" dirty="0"/>
                        <a:t>-</a:t>
                      </a:r>
                    </a:p>
                  </a:txBody>
                  <a:tcPr/>
                </a:tc>
                <a:tc>
                  <a:txBody>
                    <a:bodyPr/>
                    <a:lstStyle/>
                    <a:p>
                      <a:r>
                        <a:rPr lang="en-US" sz="1200" dirty="0"/>
                        <a:t>2018</a:t>
                      </a:r>
                    </a:p>
                  </a:txBody>
                  <a:tcPr/>
                </a:tc>
                <a:tc>
                  <a:txBody>
                    <a:bodyPr/>
                    <a:lstStyle/>
                    <a:p>
                      <a:r>
                        <a:rPr lang="en-US" sz="1200" dirty="0"/>
                        <a:t>[6]</a:t>
                      </a:r>
                    </a:p>
                  </a:txBody>
                  <a:tcPr/>
                </a:tc>
                <a:extLst>
                  <a:ext uri="{0D108BD9-81ED-4DB2-BD59-A6C34878D82A}">
                    <a16:rowId xmlns:a16="http://schemas.microsoft.com/office/drawing/2014/main" val="2233490586"/>
                  </a:ext>
                </a:extLst>
              </a:tr>
              <a:tr h="496297">
                <a:tc>
                  <a:txBody>
                    <a:bodyPr/>
                    <a:lstStyle/>
                    <a:p>
                      <a:r>
                        <a:rPr lang="en-US" sz="1200" kern="1200" dirty="0">
                          <a:solidFill>
                            <a:schemeClr val="dk1"/>
                          </a:solidFill>
                          <a:effectLst/>
                          <a:latin typeface="+mn-lt"/>
                          <a:ea typeface="+mn-ea"/>
                          <a:cs typeface="+mn-cs"/>
                        </a:rPr>
                        <a:t>He et al.</a:t>
                      </a:r>
                      <a:endParaRPr lang="en-US" sz="1200" dirty="0"/>
                    </a:p>
                  </a:txBody>
                  <a:tcPr/>
                </a:tc>
                <a:tc>
                  <a:txBody>
                    <a:bodyPr/>
                    <a:lstStyle/>
                    <a:p>
                      <a:r>
                        <a:rPr lang="ja-JP" altLang="en-US" sz="1200" dirty="0"/>
                        <a:t>アグリゲーターの利益最大化．</a:t>
                      </a:r>
                      <a:endParaRPr lang="en-US" sz="1200" dirty="0"/>
                    </a:p>
                  </a:txBody>
                  <a:tcPr/>
                </a:tc>
                <a:tc>
                  <a:txBody>
                    <a:bodyPr/>
                    <a:lstStyle/>
                    <a:p>
                      <a:r>
                        <a:rPr lang="ja-JP" altLang="en-US" sz="1200" dirty="0"/>
                        <a:t>アグリゲーターの電力売買価格．</a:t>
                      </a:r>
                      <a:endParaRPr lang="en-US" sz="12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200" dirty="0"/>
                        <a:t>Q</a:t>
                      </a:r>
                      <a:r>
                        <a:rPr lang="ja-JP" altLang="en-US" sz="1200" dirty="0"/>
                        <a:t>学習</a:t>
                      </a:r>
                      <a:endParaRPr lang="en-US" sz="1200" dirty="0"/>
                    </a:p>
                    <a:p>
                      <a:endParaRPr lang="en-US" sz="12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ja-JP" altLang="en-US" sz="1200" dirty="0"/>
                        <a:t>✓</a:t>
                      </a:r>
                      <a:endParaRPr lang="en-US" sz="1200" dirty="0"/>
                    </a:p>
                    <a:p>
                      <a:endParaRPr lang="en-US" sz="12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ja-JP" altLang="en-US" sz="1200" dirty="0"/>
                        <a:t>✓</a:t>
                      </a:r>
                      <a:endParaRPr lang="en-US" sz="1200" dirty="0"/>
                    </a:p>
                    <a:p>
                      <a:endParaRPr lang="en-US" sz="1200" dirty="0"/>
                    </a:p>
                  </a:txBody>
                  <a:tcPr/>
                </a:tc>
                <a:tc>
                  <a:txBody>
                    <a:bodyPr/>
                    <a:lstStyle/>
                    <a:p>
                      <a:r>
                        <a:rPr lang="en-US" sz="1200" dirty="0"/>
                        <a:t>-</a:t>
                      </a:r>
                    </a:p>
                  </a:txBody>
                  <a:tcPr/>
                </a:tc>
                <a:tc>
                  <a:txBody>
                    <a:bodyPr/>
                    <a:lstStyle/>
                    <a:p>
                      <a:r>
                        <a:rPr lang="en-US" sz="1200" dirty="0"/>
                        <a:t>-</a:t>
                      </a:r>
                    </a:p>
                  </a:txBody>
                  <a:tcPr/>
                </a:tc>
                <a:tc>
                  <a:txBody>
                    <a:bodyPr/>
                    <a:lstStyle/>
                    <a:p>
                      <a:r>
                        <a:rPr lang="en-US" sz="1200" dirty="0"/>
                        <a:t>2021</a:t>
                      </a:r>
                    </a:p>
                  </a:txBody>
                  <a:tcPr/>
                </a:tc>
                <a:tc>
                  <a:txBody>
                    <a:bodyPr/>
                    <a:lstStyle/>
                    <a:p>
                      <a:r>
                        <a:rPr lang="en-US" sz="1200" dirty="0"/>
                        <a:t>[7]</a:t>
                      </a:r>
                    </a:p>
                  </a:txBody>
                  <a:tcPr/>
                </a:tc>
                <a:extLst>
                  <a:ext uri="{0D108BD9-81ED-4DB2-BD59-A6C34878D82A}">
                    <a16:rowId xmlns:a16="http://schemas.microsoft.com/office/drawing/2014/main" val="1805516932"/>
                  </a:ext>
                </a:extLst>
              </a:tr>
              <a:tr h="496297">
                <a:tc>
                  <a:txBody>
                    <a:bodyPr/>
                    <a:lstStyle/>
                    <a:p>
                      <a:r>
                        <a:rPr lang="en-US" sz="1200" kern="1200" dirty="0" err="1">
                          <a:solidFill>
                            <a:schemeClr val="dk1"/>
                          </a:solidFill>
                          <a:effectLst/>
                          <a:latin typeface="+mn-lt"/>
                          <a:ea typeface="+mn-ea"/>
                          <a:cs typeface="+mn-cs"/>
                        </a:rPr>
                        <a:t>Watari</a:t>
                      </a:r>
                      <a:r>
                        <a:rPr lang="en-US" sz="1200" kern="1200" dirty="0">
                          <a:solidFill>
                            <a:schemeClr val="dk1"/>
                          </a:solidFill>
                          <a:effectLst/>
                          <a:latin typeface="+mn-lt"/>
                          <a:ea typeface="+mn-ea"/>
                          <a:cs typeface="+mn-cs"/>
                        </a:rPr>
                        <a:t> et al.</a:t>
                      </a:r>
                      <a:endParaRPr lang="en-US" sz="1200" dirty="0"/>
                    </a:p>
                  </a:txBody>
                  <a:tcPr/>
                </a:tc>
                <a:tc>
                  <a:txBody>
                    <a:bodyPr/>
                    <a:lstStyle/>
                    <a:p>
                      <a:r>
                        <a:rPr lang="ja-JP" altLang="en-US" sz="1200" dirty="0"/>
                        <a:t>アグリゲーターの利益最大化，プロシューマーの不快度数を含めたコスト最小化，ダックカーブの緩和．</a:t>
                      </a:r>
                      <a:endParaRPr lang="en-US" sz="1200" dirty="0"/>
                    </a:p>
                  </a:txBody>
                  <a:tcPr/>
                </a:tc>
                <a:tc>
                  <a:txBody>
                    <a:bodyPr/>
                    <a:lstStyle/>
                    <a:p>
                      <a:r>
                        <a:rPr lang="ja-JP" altLang="en-US" sz="1200" dirty="0"/>
                        <a:t>各プロシューマーへの卸売価格．</a:t>
                      </a:r>
                      <a:endParaRPr lang="en-US" sz="1200" dirty="0"/>
                    </a:p>
                  </a:txBody>
                  <a:tcPr/>
                </a:tc>
                <a:tc>
                  <a:txBody>
                    <a:bodyPr/>
                    <a:lstStyle/>
                    <a:p>
                      <a:r>
                        <a:rPr lang="en-US" sz="1200" dirty="0"/>
                        <a:t>PPO</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ja-JP" altLang="en-US" sz="1200" dirty="0"/>
                        <a:t>✓</a:t>
                      </a:r>
                      <a:endParaRPr lang="en-US" sz="1200" dirty="0"/>
                    </a:p>
                    <a:p>
                      <a:endParaRPr lang="en-US" sz="12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ja-JP" altLang="en-US" sz="1200" dirty="0"/>
                        <a:t>✓</a:t>
                      </a:r>
                      <a:endParaRPr lang="en-US" sz="1200" dirty="0"/>
                    </a:p>
                    <a:p>
                      <a:endParaRPr lang="en-US" sz="1200" dirty="0"/>
                    </a:p>
                  </a:txBody>
                  <a:tcPr/>
                </a:tc>
                <a:tc>
                  <a:txBody>
                    <a:bodyPr/>
                    <a:lstStyle/>
                    <a:p>
                      <a:r>
                        <a:rPr lang="en-US" sz="1200" dirty="0"/>
                        <a:t>-</a:t>
                      </a:r>
                    </a:p>
                  </a:txBody>
                  <a:tcPr/>
                </a:tc>
                <a:tc>
                  <a:txBody>
                    <a:bodyPr/>
                    <a:lstStyle/>
                    <a:p>
                      <a:r>
                        <a:rPr lang="en-US" sz="1200" dirty="0"/>
                        <a:t>-</a:t>
                      </a:r>
                    </a:p>
                  </a:txBody>
                  <a:tcPr/>
                </a:tc>
                <a:tc>
                  <a:txBody>
                    <a:bodyPr/>
                    <a:lstStyle/>
                    <a:p>
                      <a:r>
                        <a:rPr lang="en-US" sz="1200" dirty="0"/>
                        <a:t>2024</a:t>
                      </a:r>
                    </a:p>
                  </a:txBody>
                  <a:tcPr/>
                </a:tc>
                <a:tc>
                  <a:txBody>
                    <a:bodyPr/>
                    <a:lstStyle/>
                    <a:p>
                      <a:r>
                        <a:rPr lang="en-US" sz="1200" dirty="0"/>
                        <a:t>[8]</a:t>
                      </a:r>
                    </a:p>
                  </a:txBody>
                  <a:tcPr/>
                </a:tc>
                <a:extLst>
                  <a:ext uri="{0D108BD9-81ED-4DB2-BD59-A6C34878D82A}">
                    <a16:rowId xmlns:a16="http://schemas.microsoft.com/office/drawing/2014/main" val="3484189794"/>
                  </a:ext>
                </a:extLst>
              </a:tr>
              <a:tr h="496297">
                <a:tc>
                  <a:txBody>
                    <a:bodyPr/>
                    <a:lstStyle/>
                    <a:p>
                      <a:r>
                        <a:rPr lang="en-US" sz="1200" kern="1200" dirty="0">
                          <a:solidFill>
                            <a:schemeClr val="dk1"/>
                          </a:solidFill>
                          <a:effectLst/>
                          <a:latin typeface="+mn-lt"/>
                          <a:ea typeface="+mn-ea"/>
                          <a:cs typeface="+mn-cs"/>
                        </a:rPr>
                        <a:t>Zhou et al.</a:t>
                      </a:r>
                      <a:endParaRPr lang="en-US" sz="1200" dirty="0"/>
                    </a:p>
                  </a:txBody>
                  <a:tcPr/>
                </a:tc>
                <a:tc>
                  <a:txBody>
                    <a:bodyPr/>
                    <a:lstStyle/>
                    <a:p>
                      <a:r>
                        <a:rPr lang="en-US" sz="1200" dirty="0"/>
                        <a:t>DR (EV</a:t>
                      </a:r>
                      <a:r>
                        <a:rPr lang="ja-JP" altLang="en-US" sz="1200" dirty="0"/>
                        <a:t>含む</a:t>
                      </a:r>
                      <a:r>
                        <a:rPr lang="en-US" sz="1200" dirty="0"/>
                        <a:t>) </a:t>
                      </a:r>
                      <a:r>
                        <a:rPr lang="ja-JP" altLang="en-US" sz="1200" dirty="0"/>
                        <a:t>の取引量最大化，各</a:t>
                      </a:r>
                      <a:r>
                        <a:rPr lang="en-US" altLang="ja-JP" sz="1200" dirty="0"/>
                        <a:t>DR</a:t>
                      </a:r>
                      <a:r>
                        <a:rPr lang="ja-JP" altLang="en-US" sz="1200" dirty="0"/>
                        <a:t>期間に対して供給する電力の変動の最小化．</a:t>
                      </a:r>
                      <a:endParaRPr lang="en-US" sz="1200" dirty="0"/>
                    </a:p>
                  </a:txBody>
                  <a:tcPr/>
                </a:tc>
                <a:tc>
                  <a:txBody>
                    <a:bodyPr/>
                    <a:lstStyle/>
                    <a:p>
                      <a:r>
                        <a:rPr lang="ja-JP" altLang="en-US" sz="1200" dirty="0"/>
                        <a:t>バッテリー </a:t>
                      </a:r>
                      <a:r>
                        <a:rPr lang="en-US" altLang="ja-JP" sz="1200" dirty="0"/>
                        <a:t>(BES) </a:t>
                      </a:r>
                      <a:r>
                        <a:rPr lang="ja-JP" altLang="en-US" sz="1200" dirty="0"/>
                        <a:t>の放電量．</a:t>
                      </a:r>
                      <a:endParaRPr lang="en-US" sz="1200" dirty="0"/>
                    </a:p>
                  </a:txBody>
                  <a:tcPr/>
                </a:tc>
                <a:tc>
                  <a:txBody>
                    <a:bodyPr/>
                    <a:lstStyle/>
                    <a:p>
                      <a:r>
                        <a:rPr lang="en-US" sz="1200" dirty="0"/>
                        <a:t>MILP</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ja-JP" altLang="en-US" sz="1200" dirty="0"/>
                        <a:t>✓</a:t>
                      </a:r>
                      <a:endParaRPr lang="en-US" sz="1200" dirty="0"/>
                    </a:p>
                    <a:p>
                      <a:endParaRPr lang="en-US" sz="12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ja-JP" altLang="en-US" sz="1200" dirty="0"/>
                        <a:t>✓</a:t>
                      </a:r>
                      <a:endParaRPr lang="en-US" sz="1200" dirty="0"/>
                    </a:p>
                    <a:p>
                      <a:endParaRPr lang="en-US" sz="12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ja-JP" altLang="en-US" sz="1200" dirty="0"/>
                        <a:t>✓</a:t>
                      </a:r>
                      <a:endParaRPr lang="en-US" sz="1200" dirty="0"/>
                    </a:p>
                    <a:p>
                      <a:endParaRPr lang="en-US" sz="12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ja-JP" altLang="en-US" sz="1200" dirty="0"/>
                        <a:t>✓</a:t>
                      </a:r>
                      <a:endParaRPr lang="en-US" sz="1200" dirty="0"/>
                    </a:p>
                    <a:p>
                      <a:endParaRPr lang="en-US" sz="1200" dirty="0"/>
                    </a:p>
                  </a:txBody>
                  <a:tcPr/>
                </a:tc>
                <a:tc>
                  <a:txBody>
                    <a:bodyPr/>
                    <a:lstStyle/>
                    <a:p>
                      <a:r>
                        <a:rPr lang="en-US" sz="1200" dirty="0"/>
                        <a:t>2020</a:t>
                      </a:r>
                    </a:p>
                  </a:txBody>
                  <a:tcPr/>
                </a:tc>
                <a:tc>
                  <a:txBody>
                    <a:bodyPr/>
                    <a:lstStyle/>
                    <a:p>
                      <a:r>
                        <a:rPr lang="en-US" sz="1200" dirty="0"/>
                        <a:t>[9]</a:t>
                      </a:r>
                    </a:p>
                  </a:txBody>
                  <a:tcPr/>
                </a:tc>
                <a:extLst>
                  <a:ext uri="{0D108BD9-81ED-4DB2-BD59-A6C34878D82A}">
                    <a16:rowId xmlns:a16="http://schemas.microsoft.com/office/drawing/2014/main" val="2396810606"/>
                  </a:ext>
                </a:extLst>
              </a:tr>
              <a:tr h="496297">
                <a:tc>
                  <a:txBody>
                    <a:bodyPr/>
                    <a:lstStyle/>
                    <a:p>
                      <a:r>
                        <a:rPr lang="en-US" sz="1200" kern="1200" dirty="0">
                          <a:solidFill>
                            <a:schemeClr val="dk1"/>
                          </a:solidFill>
                          <a:effectLst/>
                          <a:latin typeface="+mn-lt"/>
                          <a:ea typeface="+mn-ea"/>
                          <a:cs typeface="+mn-cs"/>
                        </a:rPr>
                        <a:t>Ilic et al.</a:t>
                      </a:r>
                      <a:endParaRPr lang="en-US" sz="1200" dirty="0"/>
                    </a:p>
                  </a:txBody>
                  <a:tcPr/>
                </a:tc>
                <a:tc>
                  <a:txBody>
                    <a:bodyPr/>
                    <a:lstStyle/>
                    <a:p>
                      <a:r>
                        <a:rPr lang="en-US" sz="1200" dirty="0"/>
                        <a:t>-</a:t>
                      </a:r>
                    </a:p>
                  </a:txBody>
                  <a:tcPr/>
                </a:tc>
                <a:tc>
                  <a:txBody>
                    <a:bodyPr/>
                    <a:lstStyle/>
                    <a:p>
                      <a:r>
                        <a:rPr lang="en-US" sz="1200" dirty="0"/>
                        <a:t>-</a:t>
                      </a:r>
                    </a:p>
                  </a:txBody>
                  <a:tcPr/>
                </a:tc>
                <a:tc>
                  <a:txBody>
                    <a:bodyPr/>
                    <a:lstStyle/>
                    <a:p>
                      <a:r>
                        <a:rPr lang="en-US" sz="1200" dirty="0"/>
                        <a:t>-</a:t>
                      </a:r>
                    </a:p>
                  </a:txBody>
                  <a:tcPr/>
                </a:tc>
                <a:tc>
                  <a:txBody>
                    <a:bodyPr/>
                    <a:lstStyle/>
                    <a:p>
                      <a:r>
                        <a:rPr lang="en-US" sz="1200" dirty="0"/>
                        <a:t>-</a:t>
                      </a:r>
                    </a:p>
                  </a:txBody>
                  <a:tcPr/>
                </a:tc>
                <a:tc>
                  <a:txBody>
                    <a:bodyPr/>
                    <a:lstStyle/>
                    <a:p>
                      <a:r>
                        <a:rPr lang="en-US" sz="1200" dirty="0"/>
                        <a:t>-</a:t>
                      </a:r>
                    </a:p>
                  </a:txBody>
                  <a:tcPr/>
                </a:tc>
                <a:tc>
                  <a:txBody>
                    <a:bodyPr/>
                    <a:lstStyle/>
                    <a:p>
                      <a:r>
                        <a:rPr lang="en-US" sz="1200" dirty="0"/>
                        <a:t>-</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ja-JP" altLang="en-US" sz="1200" dirty="0"/>
                        <a:t>✓</a:t>
                      </a:r>
                      <a:endParaRPr lang="en-US" sz="1200" dirty="0"/>
                    </a:p>
                    <a:p>
                      <a:endParaRPr lang="en-US" sz="1200" dirty="0"/>
                    </a:p>
                  </a:txBody>
                  <a:tcPr/>
                </a:tc>
                <a:tc>
                  <a:txBody>
                    <a:bodyPr/>
                    <a:lstStyle/>
                    <a:p>
                      <a:r>
                        <a:rPr lang="en-US" sz="1200" dirty="0"/>
                        <a:t>2012</a:t>
                      </a:r>
                    </a:p>
                  </a:txBody>
                  <a:tcPr/>
                </a:tc>
                <a:tc>
                  <a:txBody>
                    <a:bodyPr/>
                    <a:lstStyle/>
                    <a:p>
                      <a:r>
                        <a:rPr lang="en-US" sz="1200" dirty="0"/>
                        <a:t>[10]</a:t>
                      </a:r>
                    </a:p>
                  </a:txBody>
                  <a:tcPr/>
                </a:tc>
                <a:extLst>
                  <a:ext uri="{0D108BD9-81ED-4DB2-BD59-A6C34878D82A}">
                    <a16:rowId xmlns:a16="http://schemas.microsoft.com/office/drawing/2014/main" val="1354768245"/>
                  </a:ext>
                </a:extLst>
              </a:tr>
              <a:tr h="552780">
                <a:tc>
                  <a:txBody>
                    <a:bodyPr/>
                    <a:lstStyle/>
                    <a:p>
                      <a:r>
                        <a:rPr lang="en-US" sz="1200" kern="1200" dirty="0" err="1">
                          <a:solidFill>
                            <a:schemeClr val="dk1"/>
                          </a:solidFill>
                          <a:effectLst/>
                          <a:latin typeface="+mn-lt"/>
                          <a:ea typeface="+mn-ea"/>
                          <a:cs typeface="+mn-cs"/>
                        </a:rPr>
                        <a:t>Shojaeighadikolaei</a:t>
                      </a:r>
                      <a:r>
                        <a:rPr lang="en-US" sz="1200" kern="1200" dirty="0">
                          <a:solidFill>
                            <a:schemeClr val="dk1"/>
                          </a:solidFill>
                          <a:effectLst/>
                          <a:latin typeface="+mn-lt"/>
                          <a:ea typeface="+mn-ea"/>
                          <a:cs typeface="+mn-cs"/>
                        </a:rPr>
                        <a:t> et al.</a:t>
                      </a:r>
                      <a:endParaRPr lang="en-US" sz="12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ja-JP" altLang="en-US" sz="1200" dirty="0"/>
                        <a:t>アグリゲーターの利益最大化，プロシューマーの利益最大化．</a:t>
                      </a:r>
                      <a:endParaRPr lang="en-US" sz="1200" dirty="0"/>
                    </a:p>
                    <a:p>
                      <a:endParaRPr lang="en-US" sz="1200" dirty="0"/>
                    </a:p>
                  </a:txBody>
                  <a:tcPr/>
                </a:tc>
                <a:tc>
                  <a:txBody>
                    <a:bodyPr/>
                    <a:lstStyle/>
                    <a:p>
                      <a:r>
                        <a:rPr lang="ja-JP" altLang="en-US" sz="1200" dirty="0"/>
                        <a:t>アグリゲーターの電力売買価格，各プロシューマーのバッテリー充放電量．</a:t>
                      </a:r>
                      <a:endParaRPr lang="en-US" altLang="ja-JP" sz="1200" dirty="0"/>
                    </a:p>
                  </a:txBody>
                  <a:tcPr/>
                </a:tc>
                <a:tc>
                  <a:txBody>
                    <a:bodyPr/>
                    <a:lstStyle/>
                    <a:p>
                      <a:r>
                        <a:rPr lang="en-US" sz="1200" dirty="0"/>
                        <a:t>MADRL-DQN</a:t>
                      </a:r>
                    </a:p>
                  </a:txBody>
                  <a:tcPr/>
                </a:tc>
                <a:tc>
                  <a:txBody>
                    <a:bodyPr/>
                    <a:lstStyle/>
                    <a:p>
                      <a:r>
                        <a:rPr lang="en-US" sz="1200" dirty="0"/>
                        <a:t>-</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ja-JP" altLang="en-US" sz="1200" dirty="0"/>
                        <a:t>✓</a:t>
                      </a:r>
                      <a:endParaRPr lang="en-US" sz="1200" dirty="0"/>
                    </a:p>
                    <a:p>
                      <a:endParaRPr lang="en-US" sz="1200" dirty="0"/>
                    </a:p>
                  </a:txBody>
                  <a:tcPr/>
                </a:tc>
                <a:tc>
                  <a:txBody>
                    <a:bodyPr/>
                    <a:lstStyle/>
                    <a:p>
                      <a:r>
                        <a:rPr lang="en-US" sz="1200" dirty="0"/>
                        <a:t>-</a:t>
                      </a:r>
                    </a:p>
                  </a:txBody>
                  <a:tcPr/>
                </a:tc>
                <a:tc>
                  <a:txBody>
                    <a:bodyPr/>
                    <a:lstStyle/>
                    <a:p>
                      <a:r>
                        <a:rPr lang="en-US" sz="1200" dirty="0"/>
                        <a:t>-</a:t>
                      </a:r>
                    </a:p>
                  </a:txBody>
                  <a:tcPr/>
                </a:tc>
                <a:tc>
                  <a:txBody>
                    <a:bodyPr/>
                    <a:lstStyle/>
                    <a:p>
                      <a:r>
                        <a:rPr lang="en-US" sz="1200" dirty="0"/>
                        <a:t>2021</a:t>
                      </a:r>
                    </a:p>
                  </a:txBody>
                  <a:tcPr/>
                </a:tc>
                <a:tc>
                  <a:txBody>
                    <a:bodyPr/>
                    <a:lstStyle/>
                    <a:p>
                      <a:r>
                        <a:rPr lang="en-US" sz="1200" dirty="0"/>
                        <a:t>[11]</a:t>
                      </a:r>
                    </a:p>
                  </a:txBody>
                  <a:tcPr/>
                </a:tc>
                <a:extLst>
                  <a:ext uri="{0D108BD9-81ED-4DB2-BD59-A6C34878D82A}">
                    <a16:rowId xmlns:a16="http://schemas.microsoft.com/office/drawing/2014/main" val="166725940"/>
                  </a:ext>
                </a:extLst>
              </a:tr>
              <a:tr h="496297">
                <a:tc>
                  <a:txBody>
                    <a:bodyPr/>
                    <a:lstStyle/>
                    <a:p>
                      <a:r>
                        <a:rPr lang="en-US" sz="1200" kern="1200" dirty="0">
                          <a:solidFill>
                            <a:schemeClr val="dk1"/>
                          </a:solidFill>
                          <a:effectLst/>
                          <a:latin typeface="+mn-lt"/>
                          <a:ea typeface="+mn-ea"/>
                          <a:cs typeface="+mn-cs"/>
                        </a:rPr>
                        <a:t>Li et al.</a:t>
                      </a:r>
                      <a:endParaRPr lang="en-US" sz="1200" dirty="0"/>
                    </a:p>
                  </a:txBody>
                  <a:tcPr/>
                </a:tc>
                <a:tc>
                  <a:txBody>
                    <a:bodyPr/>
                    <a:lstStyle/>
                    <a:p>
                      <a:r>
                        <a:rPr lang="en-US" sz="1200" dirty="0"/>
                        <a:t>MGC</a:t>
                      </a:r>
                      <a:r>
                        <a:rPr lang="ja-JP" altLang="en-US" sz="1200" dirty="0"/>
                        <a:t>ごとの電力コスト，</a:t>
                      </a:r>
                      <a:r>
                        <a:rPr lang="en-US" altLang="ja-JP" sz="1200" dirty="0"/>
                        <a:t>BES</a:t>
                      </a:r>
                      <a:r>
                        <a:rPr lang="ja-JP" altLang="en-US" sz="1200" dirty="0"/>
                        <a:t>の劣化，室温に対する不快度数の最小化．</a:t>
                      </a:r>
                      <a:endParaRPr lang="en-US" sz="1200" dirty="0"/>
                    </a:p>
                  </a:txBody>
                  <a:tcPr/>
                </a:tc>
                <a:tc>
                  <a:txBody>
                    <a:bodyPr/>
                    <a:lstStyle/>
                    <a:p>
                      <a:r>
                        <a:rPr lang="en-US" altLang="ja-JP" sz="1200" dirty="0"/>
                        <a:t>MGC</a:t>
                      </a:r>
                      <a:r>
                        <a:rPr lang="ja-JP" altLang="en-US" sz="1200" dirty="0"/>
                        <a:t>ごとの電力希望取引価格と量．</a:t>
                      </a:r>
                      <a:endParaRPr lang="en-US" sz="1200" dirty="0"/>
                    </a:p>
                  </a:txBody>
                  <a:tcPr/>
                </a:tc>
                <a:tc>
                  <a:txBody>
                    <a:bodyPr/>
                    <a:lstStyle/>
                    <a:p>
                      <a:r>
                        <a:rPr lang="en-US" sz="1200" dirty="0"/>
                        <a:t>MADRL-transformer</a:t>
                      </a:r>
                    </a:p>
                  </a:txBody>
                  <a:tcPr/>
                </a:tc>
                <a:tc>
                  <a:txBody>
                    <a:bodyPr/>
                    <a:lstStyle/>
                    <a:p>
                      <a:r>
                        <a:rPr lang="en-US" sz="1200" dirty="0"/>
                        <a:t>-</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ja-JP" altLang="en-US" sz="1200" dirty="0"/>
                        <a:t>✓</a:t>
                      </a:r>
                      <a:endParaRPr lang="en-US" sz="1200" dirty="0"/>
                    </a:p>
                    <a:p>
                      <a:endParaRPr lang="en-US" sz="1200" dirty="0"/>
                    </a:p>
                  </a:txBody>
                  <a:tcPr/>
                </a:tc>
                <a:tc>
                  <a:txBody>
                    <a:bodyPr/>
                    <a:lstStyle/>
                    <a:p>
                      <a:r>
                        <a:rPr lang="en-US" sz="1200" dirty="0"/>
                        <a:t>-</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ja-JP" altLang="en-US" sz="1200" dirty="0"/>
                        <a:t>✓</a:t>
                      </a:r>
                      <a:endParaRPr lang="en-US" sz="1200" dirty="0"/>
                    </a:p>
                    <a:p>
                      <a:endParaRPr lang="en-US" sz="1200" dirty="0"/>
                    </a:p>
                  </a:txBody>
                  <a:tcPr/>
                </a:tc>
                <a:tc>
                  <a:txBody>
                    <a:bodyPr/>
                    <a:lstStyle/>
                    <a:p>
                      <a:r>
                        <a:rPr lang="en-US" sz="1200" dirty="0"/>
                        <a:t>2024</a:t>
                      </a:r>
                    </a:p>
                  </a:txBody>
                  <a:tcPr/>
                </a:tc>
                <a:tc>
                  <a:txBody>
                    <a:bodyPr/>
                    <a:lstStyle/>
                    <a:p>
                      <a:r>
                        <a:rPr lang="en-US" sz="1200" dirty="0"/>
                        <a:t>[12]</a:t>
                      </a:r>
                    </a:p>
                  </a:txBody>
                  <a:tcPr/>
                </a:tc>
                <a:extLst>
                  <a:ext uri="{0D108BD9-81ED-4DB2-BD59-A6C34878D82A}">
                    <a16:rowId xmlns:a16="http://schemas.microsoft.com/office/drawing/2014/main" val="4267294216"/>
                  </a:ext>
                </a:extLst>
              </a:tr>
              <a:tr h="496297">
                <a:tc>
                  <a:txBody>
                    <a:bodyPr/>
                    <a:lstStyle/>
                    <a:p>
                      <a:r>
                        <a:rPr lang="en-US" sz="1200" kern="1200" dirty="0">
                          <a:solidFill>
                            <a:schemeClr val="dk1"/>
                          </a:solidFill>
                          <a:effectLst/>
                          <a:latin typeface="+mn-lt"/>
                          <a:ea typeface="+mn-ea"/>
                          <a:cs typeface="+mn-cs"/>
                        </a:rPr>
                        <a:t>May et al.</a:t>
                      </a:r>
                      <a:endParaRPr lang="en-US" sz="1200" dirty="0"/>
                    </a:p>
                  </a:txBody>
                  <a:tcPr/>
                </a:tc>
                <a:tc>
                  <a:txBody>
                    <a:bodyPr/>
                    <a:lstStyle/>
                    <a:p>
                      <a:r>
                        <a:rPr lang="ja-JP" altLang="en-US" sz="1200" dirty="0"/>
                        <a:t>プロシューマーの利益最大化，</a:t>
                      </a:r>
                      <a:r>
                        <a:rPr lang="en-US" altLang="ja-JP" sz="1200" dirty="0"/>
                        <a:t>MGC</a:t>
                      </a:r>
                      <a:r>
                        <a:rPr lang="ja-JP" altLang="en-US" sz="1200" dirty="0"/>
                        <a:t>内の社会的厚生関数の最大化．</a:t>
                      </a:r>
                      <a:endParaRPr lang="en-US" sz="1200" dirty="0"/>
                    </a:p>
                  </a:txBody>
                  <a:tcPr/>
                </a:tc>
                <a:tc>
                  <a:txBody>
                    <a:bodyPr/>
                    <a:lstStyle/>
                    <a:p>
                      <a:r>
                        <a:rPr lang="en-US" sz="1200" dirty="0"/>
                        <a:t>MGC</a:t>
                      </a:r>
                      <a:r>
                        <a:rPr lang="ja-JP" altLang="en-US" sz="1200" dirty="0"/>
                        <a:t>内での取引価格，各プロシューマーの「売買，</a:t>
                      </a:r>
                      <a:r>
                        <a:rPr lang="en-US" altLang="ja-JP" sz="1200" dirty="0"/>
                        <a:t>BES</a:t>
                      </a:r>
                      <a:r>
                        <a:rPr lang="ja-JP" altLang="en-US" sz="1200" dirty="0"/>
                        <a:t>蓄電，何もしない」から行動選択</a:t>
                      </a:r>
                      <a:endParaRPr lang="en-US" sz="1200" dirty="0"/>
                    </a:p>
                  </a:txBody>
                  <a:tcPr/>
                </a:tc>
                <a:tc>
                  <a:txBody>
                    <a:bodyPr/>
                    <a:lstStyle/>
                    <a:p>
                      <a:r>
                        <a:rPr lang="en-US" sz="1200" dirty="0"/>
                        <a:t>MARL-PPO</a:t>
                      </a:r>
                    </a:p>
                  </a:txBody>
                  <a:tcPr/>
                </a:tc>
                <a:tc>
                  <a:txBody>
                    <a:bodyPr/>
                    <a:lstStyle/>
                    <a:p>
                      <a:r>
                        <a:rPr lang="en-US" sz="1200" dirty="0"/>
                        <a:t>-</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ja-JP" altLang="en-US" sz="1200" dirty="0"/>
                        <a:t>✓</a:t>
                      </a:r>
                      <a:endParaRPr lang="en-US" sz="1200" dirty="0"/>
                    </a:p>
                    <a:p>
                      <a:endParaRPr lang="en-US" sz="1200" dirty="0"/>
                    </a:p>
                  </a:txBody>
                  <a:tcPr/>
                </a:tc>
                <a:tc>
                  <a:txBody>
                    <a:bodyPr/>
                    <a:lstStyle/>
                    <a:p>
                      <a:r>
                        <a:rPr lang="en-US" sz="1200" dirty="0"/>
                        <a:t>-</a:t>
                      </a:r>
                    </a:p>
                  </a:txBody>
                  <a:tcPr/>
                </a:tc>
                <a:tc>
                  <a:txBody>
                    <a:bodyPr/>
                    <a:lstStyle/>
                    <a:p>
                      <a:r>
                        <a:rPr lang="en-US" sz="1200" dirty="0"/>
                        <a:t>-</a:t>
                      </a:r>
                    </a:p>
                  </a:txBody>
                  <a:tcPr/>
                </a:tc>
                <a:tc>
                  <a:txBody>
                    <a:bodyPr/>
                    <a:lstStyle/>
                    <a:p>
                      <a:r>
                        <a:rPr lang="en-US" sz="1200" dirty="0"/>
                        <a:t>2023</a:t>
                      </a:r>
                    </a:p>
                  </a:txBody>
                  <a:tcPr/>
                </a:tc>
                <a:tc>
                  <a:txBody>
                    <a:bodyPr/>
                    <a:lstStyle/>
                    <a:p>
                      <a:r>
                        <a:rPr lang="en-US" sz="1200" dirty="0"/>
                        <a:t>[13]</a:t>
                      </a:r>
                    </a:p>
                  </a:txBody>
                  <a:tcPr/>
                </a:tc>
                <a:extLst>
                  <a:ext uri="{0D108BD9-81ED-4DB2-BD59-A6C34878D82A}">
                    <a16:rowId xmlns:a16="http://schemas.microsoft.com/office/drawing/2014/main" val="1025488145"/>
                  </a:ext>
                </a:extLst>
              </a:tr>
            </a:tbl>
          </a:graphicData>
        </a:graphic>
      </p:graphicFrame>
    </p:spTree>
    <p:extLst>
      <p:ext uri="{BB962C8B-B14F-4D97-AF65-F5344CB8AC3E}">
        <p14:creationId xmlns:p14="http://schemas.microsoft.com/office/powerpoint/2010/main" val="21333819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38EF8-CBB9-D954-268E-C372E61A51AF}"/>
            </a:ext>
          </a:extLst>
        </p:cNvPr>
        <p:cNvGrpSpPr/>
        <p:nvPr/>
      </p:nvGrpSpPr>
      <p:grpSpPr>
        <a:xfrm>
          <a:off x="0" y="0"/>
          <a:ext cx="0" cy="0"/>
          <a:chOff x="0" y="0"/>
          <a:chExt cx="0" cy="0"/>
        </a:xfrm>
      </p:grpSpPr>
      <p:sp>
        <p:nvSpPr>
          <p:cNvPr id="2" name="コンテンツ プレースホルダー 1">
            <a:extLst>
              <a:ext uri="{FF2B5EF4-FFF2-40B4-BE49-F238E27FC236}">
                <a16:creationId xmlns:a16="http://schemas.microsoft.com/office/drawing/2014/main" id="{9075B61A-A00B-C6B7-5204-51829C27A1CB}"/>
              </a:ext>
            </a:extLst>
          </p:cNvPr>
          <p:cNvSpPr>
            <a:spLocks noGrp="1"/>
          </p:cNvSpPr>
          <p:nvPr>
            <p:ph sz="quarter" idx="17"/>
          </p:nvPr>
        </p:nvSpPr>
        <p:spPr>
          <a:xfrm>
            <a:off x="569340" y="904862"/>
            <a:ext cx="8767320" cy="5686438"/>
          </a:xfrm>
        </p:spPr>
        <p:txBody>
          <a:bodyPr/>
          <a:lstStyle/>
          <a:p>
            <a:r>
              <a:rPr kumimoji="1" lang="en-US" altLang="ja-JP" dirty="0"/>
              <a:t>1. Introduction and background</a:t>
            </a:r>
          </a:p>
          <a:p>
            <a:pPr marL="342900" indent="-342900">
              <a:buAutoNum type="arabicPeriod"/>
            </a:pPr>
            <a:endParaRPr kumimoji="1" lang="en-US" altLang="ja-JP" dirty="0"/>
          </a:p>
          <a:p>
            <a:r>
              <a:rPr kumimoji="1" lang="en-US" altLang="ja-JP" dirty="0"/>
              <a:t>2. Objective</a:t>
            </a:r>
          </a:p>
          <a:p>
            <a:endParaRPr kumimoji="1" lang="en-US" altLang="ja-JP" dirty="0"/>
          </a:p>
          <a:p>
            <a:r>
              <a:rPr kumimoji="1" lang="en-US" altLang="ja-JP" dirty="0"/>
              <a:t>3. Methodology</a:t>
            </a:r>
          </a:p>
          <a:p>
            <a:r>
              <a:rPr kumimoji="1" lang="en-US" altLang="ja-JP" sz="1200" dirty="0"/>
              <a:t>3.1 Step 1: </a:t>
            </a:r>
            <a:r>
              <a:rPr lang="en-US" altLang="ja-JP" sz="1200" dirty="0"/>
              <a:t>Data collection</a:t>
            </a:r>
          </a:p>
          <a:p>
            <a:r>
              <a:rPr kumimoji="1" lang="en-US" altLang="ja-JP" sz="1200" dirty="0"/>
              <a:t>       3.1.1 Data (demand, PV supply, wholesale price, EV charging, CAPEX, OPEX)</a:t>
            </a:r>
          </a:p>
          <a:p>
            <a:r>
              <a:rPr kumimoji="1" lang="en-US" altLang="ja-JP" sz="1200" dirty="0"/>
              <a:t>       3.1.2 Technology parameter (battery charge/discharge speed limit, efficiency)</a:t>
            </a:r>
          </a:p>
          <a:p>
            <a:r>
              <a:rPr kumimoji="1" lang="en-US" altLang="ja-JP" sz="1200" dirty="0"/>
              <a:t>3.2 Step 2: </a:t>
            </a:r>
            <a:r>
              <a:rPr lang="en-US" altLang="ja-JP" sz="1200" dirty="0"/>
              <a:t>Model construction </a:t>
            </a:r>
            <a:r>
              <a:rPr kumimoji="1" lang="en-US" altLang="ja-JP" sz="1200" dirty="0"/>
              <a:t>	</a:t>
            </a:r>
          </a:p>
          <a:p>
            <a:r>
              <a:rPr kumimoji="1" lang="en-US" altLang="ja-JP" sz="1200" dirty="0"/>
              <a:t>       3.2.1 Generate agent</a:t>
            </a:r>
          </a:p>
          <a:p>
            <a:r>
              <a:rPr kumimoji="1" lang="en-US" altLang="ja-JP" sz="1200" dirty="0"/>
              <a:t>       3.2.2 Design P2P energy trading model</a:t>
            </a:r>
          </a:p>
          <a:p>
            <a:r>
              <a:rPr kumimoji="1" lang="en-US" altLang="ja-JP" sz="1200" dirty="0"/>
              <a:t>       3.2.3 Design non-P2P energy model</a:t>
            </a:r>
          </a:p>
          <a:p>
            <a:r>
              <a:rPr kumimoji="1" lang="en-US" altLang="ja-JP" sz="1200" dirty="0"/>
              <a:t>3.3 Step 3: Train agents</a:t>
            </a:r>
          </a:p>
          <a:p>
            <a:r>
              <a:rPr kumimoji="1" lang="en-US" altLang="ja-JP" sz="1200" dirty="0"/>
              <a:t>       3.3.1 Q table</a:t>
            </a:r>
          </a:p>
          <a:p>
            <a:r>
              <a:rPr kumimoji="1" lang="en-US" altLang="ja-JP" sz="1200" dirty="0"/>
              <a:t>       3.3.2 Reward</a:t>
            </a:r>
          </a:p>
          <a:p>
            <a:endParaRPr kumimoji="1" lang="en-US" altLang="ja-JP" sz="1200" dirty="0"/>
          </a:p>
          <a:p>
            <a:r>
              <a:rPr kumimoji="1" lang="en-US" altLang="ja-JP" dirty="0"/>
              <a:t>4. Results and analysis</a:t>
            </a:r>
          </a:p>
          <a:p>
            <a:endParaRPr kumimoji="1" lang="en-US" altLang="ja-JP" dirty="0"/>
          </a:p>
          <a:p>
            <a:r>
              <a:rPr kumimoji="1" lang="en-US" altLang="ja-JP" dirty="0"/>
              <a:t>5. Summary and future work</a:t>
            </a:r>
          </a:p>
          <a:p>
            <a:endParaRPr kumimoji="1" lang="ja-JP" altLang="en-US" dirty="0"/>
          </a:p>
        </p:txBody>
      </p:sp>
      <p:sp>
        <p:nvSpPr>
          <p:cNvPr id="3" name="コンテンツ プレースホルダー 2">
            <a:extLst>
              <a:ext uri="{FF2B5EF4-FFF2-40B4-BE49-F238E27FC236}">
                <a16:creationId xmlns:a16="http://schemas.microsoft.com/office/drawing/2014/main" id="{39F1EF9D-AFD7-B8DC-7422-1A82719CF7B8}"/>
              </a:ext>
            </a:extLst>
          </p:cNvPr>
          <p:cNvSpPr>
            <a:spLocks noGrp="1"/>
          </p:cNvSpPr>
          <p:nvPr>
            <p:ph sz="quarter" idx="16"/>
          </p:nvPr>
        </p:nvSpPr>
        <p:spPr/>
        <p:txBody>
          <a:bodyPr/>
          <a:lstStyle/>
          <a:p>
            <a:r>
              <a:rPr kumimoji="1" lang="en-US" altLang="ja-JP" dirty="0"/>
              <a:t>CONTENT</a:t>
            </a:r>
            <a:endParaRPr kumimoji="1" lang="ja-JP" altLang="en-US" dirty="0"/>
          </a:p>
        </p:txBody>
      </p:sp>
    </p:spTree>
    <p:extLst>
      <p:ext uri="{BB962C8B-B14F-4D97-AF65-F5344CB8AC3E}">
        <p14:creationId xmlns:p14="http://schemas.microsoft.com/office/powerpoint/2010/main" val="23582437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D0AFC-34F5-D68A-5186-0B7CFCC62951}"/>
            </a:ext>
          </a:extLst>
        </p:cNvPr>
        <p:cNvGrpSpPr/>
        <p:nvPr/>
      </p:nvGrpSpPr>
      <p:grpSpPr>
        <a:xfrm>
          <a:off x="0" y="0"/>
          <a:ext cx="0" cy="0"/>
          <a:chOff x="0" y="0"/>
          <a:chExt cx="0" cy="0"/>
        </a:xfrm>
      </p:grpSpPr>
      <p:sp>
        <p:nvSpPr>
          <p:cNvPr id="2" name="コンテンツ プレースホルダー 1">
            <a:extLst>
              <a:ext uri="{FF2B5EF4-FFF2-40B4-BE49-F238E27FC236}">
                <a16:creationId xmlns:a16="http://schemas.microsoft.com/office/drawing/2014/main" id="{4CD21EB3-487F-76AE-67CC-89EC88948F13}"/>
              </a:ext>
            </a:extLst>
          </p:cNvPr>
          <p:cNvSpPr>
            <a:spLocks noGrp="1"/>
          </p:cNvSpPr>
          <p:nvPr>
            <p:ph sz="quarter" idx="17"/>
          </p:nvPr>
        </p:nvSpPr>
        <p:spPr>
          <a:xfrm>
            <a:off x="569340" y="904862"/>
            <a:ext cx="8767320" cy="5686438"/>
          </a:xfrm>
        </p:spPr>
        <p:txBody>
          <a:bodyPr/>
          <a:lstStyle/>
          <a:p>
            <a:r>
              <a:rPr kumimoji="1" lang="en-US" altLang="ja-JP" dirty="0">
                <a:solidFill>
                  <a:schemeClr val="tx1">
                    <a:lumMod val="20000"/>
                    <a:lumOff val="80000"/>
                  </a:schemeClr>
                </a:solidFill>
              </a:rPr>
              <a:t>1. Introduction and background</a:t>
            </a:r>
          </a:p>
          <a:p>
            <a:pPr marL="342900" indent="-342900">
              <a:buAutoNum type="arabicPeriod"/>
            </a:pPr>
            <a:endParaRPr kumimoji="1" lang="en-US" altLang="ja-JP" dirty="0"/>
          </a:p>
          <a:p>
            <a:r>
              <a:rPr kumimoji="1" lang="en-US" altLang="ja-JP" dirty="0"/>
              <a:t>2. Objective</a:t>
            </a:r>
          </a:p>
          <a:p>
            <a:endParaRPr kumimoji="1" lang="en-US" altLang="ja-JP" dirty="0"/>
          </a:p>
          <a:p>
            <a:r>
              <a:rPr kumimoji="1" lang="en-US" altLang="ja-JP" dirty="0">
                <a:solidFill>
                  <a:schemeClr val="tx1">
                    <a:lumMod val="20000"/>
                    <a:lumOff val="80000"/>
                  </a:schemeClr>
                </a:solidFill>
              </a:rPr>
              <a:t>3. Methodology</a:t>
            </a:r>
          </a:p>
          <a:p>
            <a:r>
              <a:rPr kumimoji="1" lang="en-US" altLang="ja-JP" sz="1200" dirty="0">
                <a:solidFill>
                  <a:schemeClr val="tx1">
                    <a:lumMod val="20000"/>
                    <a:lumOff val="80000"/>
                  </a:schemeClr>
                </a:solidFill>
              </a:rPr>
              <a:t>3.1 Step 1: </a:t>
            </a:r>
            <a:r>
              <a:rPr lang="en-US" altLang="ja-JP" sz="1200" dirty="0">
                <a:solidFill>
                  <a:schemeClr val="tx1">
                    <a:lumMod val="20000"/>
                    <a:lumOff val="80000"/>
                  </a:schemeClr>
                </a:solidFill>
              </a:rPr>
              <a:t>Data collection</a:t>
            </a:r>
          </a:p>
          <a:p>
            <a:r>
              <a:rPr kumimoji="1" lang="en-US" altLang="ja-JP" sz="1200" dirty="0">
                <a:solidFill>
                  <a:schemeClr val="tx1">
                    <a:lumMod val="20000"/>
                    <a:lumOff val="80000"/>
                  </a:schemeClr>
                </a:solidFill>
              </a:rPr>
              <a:t>       3.1.1 Data (demand, PV supply, wholesale price)</a:t>
            </a:r>
            <a:endParaRPr kumimoji="1" lang="ja-JP" altLang="en-US" sz="1200" dirty="0">
              <a:solidFill>
                <a:schemeClr val="tx1">
                  <a:lumMod val="20000"/>
                  <a:lumOff val="80000"/>
                </a:schemeClr>
              </a:solidFill>
            </a:endParaRPr>
          </a:p>
          <a:p>
            <a:r>
              <a:rPr kumimoji="1" lang="en-US" altLang="ja-JP" sz="1200" dirty="0">
                <a:solidFill>
                  <a:schemeClr val="tx1">
                    <a:lumMod val="20000"/>
                    <a:lumOff val="80000"/>
                  </a:schemeClr>
                </a:solidFill>
              </a:rPr>
              <a:t>       3.1.2 Car usage survey </a:t>
            </a:r>
            <a:r>
              <a:rPr kumimoji="1" lang="ja-JP" altLang="en-US" sz="1200" dirty="0">
                <a:solidFill>
                  <a:schemeClr val="tx1">
                    <a:lumMod val="20000"/>
                    <a:lumOff val="80000"/>
                  </a:schemeClr>
                </a:solidFill>
              </a:rPr>
              <a:t>→ </a:t>
            </a:r>
            <a:r>
              <a:rPr kumimoji="1" lang="en-US" altLang="ja-JP" sz="1200" dirty="0">
                <a:solidFill>
                  <a:schemeClr val="tx1">
                    <a:lumMod val="20000"/>
                    <a:lumOff val="80000"/>
                  </a:schemeClr>
                </a:solidFill>
              </a:rPr>
              <a:t>Car usage data</a:t>
            </a:r>
          </a:p>
          <a:p>
            <a:r>
              <a:rPr kumimoji="1" lang="en-US" altLang="ja-JP" sz="1200" dirty="0">
                <a:solidFill>
                  <a:schemeClr val="tx1">
                    <a:lumMod val="20000"/>
                    <a:lumOff val="80000"/>
                  </a:schemeClr>
                </a:solidFill>
              </a:rPr>
              <a:t>       3.1.3 Technology parameter (battery charge/discharge speed limit, efficiency)</a:t>
            </a:r>
          </a:p>
          <a:p>
            <a:r>
              <a:rPr kumimoji="1" lang="en-US" altLang="ja-JP" sz="1200" dirty="0">
                <a:solidFill>
                  <a:schemeClr val="tx1">
                    <a:lumMod val="20000"/>
                    <a:lumOff val="80000"/>
                  </a:schemeClr>
                </a:solidFill>
              </a:rPr>
              <a:t>3.2 Step 2: </a:t>
            </a:r>
            <a:r>
              <a:rPr lang="en-US" altLang="ja-JP" sz="1200" dirty="0">
                <a:solidFill>
                  <a:schemeClr val="tx1">
                    <a:lumMod val="20000"/>
                    <a:lumOff val="80000"/>
                  </a:schemeClr>
                </a:solidFill>
              </a:rPr>
              <a:t>Model construction </a:t>
            </a:r>
            <a:r>
              <a:rPr kumimoji="1" lang="en-US" altLang="ja-JP" sz="1200" dirty="0">
                <a:solidFill>
                  <a:schemeClr val="tx1">
                    <a:lumMod val="20000"/>
                    <a:lumOff val="80000"/>
                  </a:schemeClr>
                </a:solidFill>
              </a:rPr>
              <a:t>	</a:t>
            </a:r>
          </a:p>
          <a:p>
            <a:r>
              <a:rPr kumimoji="1" lang="en-US" altLang="ja-JP" sz="1200" dirty="0">
                <a:solidFill>
                  <a:schemeClr val="tx1">
                    <a:lumMod val="20000"/>
                    <a:lumOff val="80000"/>
                  </a:schemeClr>
                </a:solidFill>
              </a:rPr>
              <a:t>       3.2.1 Generate agent</a:t>
            </a:r>
          </a:p>
          <a:p>
            <a:r>
              <a:rPr kumimoji="1" lang="en-US" altLang="ja-JP" sz="1200" dirty="0">
                <a:solidFill>
                  <a:schemeClr val="tx1">
                    <a:lumMod val="20000"/>
                    <a:lumOff val="80000"/>
                  </a:schemeClr>
                </a:solidFill>
              </a:rPr>
              <a:t>       3.2.2 Design P2P energy trading model</a:t>
            </a:r>
          </a:p>
          <a:p>
            <a:r>
              <a:rPr kumimoji="1" lang="en-US" altLang="ja-JP" sz="1200" dirty="0">
                <a:solidFill>
                  <a:schemeClr val="tx1">
                    <a:lumMod val="20000"/>
                    <a:lumOff val="80000"/>
                  </a:schemeClr>
                </a:solidFill>
              </a:rPr>
              <a:t>       3.2.3 Design non-P2P energy model</a:t>
            </a:r>
          </a:p>
          <a:p>
            <a:r>
              <a:rPr kumimoji="1" lang="en-US" altLang="ja-JP" sz="1200" dirty="0">
                <a:solidFill>
                  <a:schemeClr val="tx1">
                    <a:lumMod val="20000"/>
                    <a:lumOff val="80000"/>
                  </a:schemeClr>
                </a:solidFill>
              </a:rPr>
              <a:t>3.3 Step 3: Train agents</a:t>
            </a:r>
          </a:p>
          <a:p>
            <a:r>
              <a:rPr kumimoji="1" lang="en-US" altLang="ja-JP" sz="1200" dirty="0">
                <a:solidFill>
                  <a:schemeClr val="tx1">
                    <a:lumMod val="20000"/>
                    <a:lumOff val="80000"/>
                  </a:schemeClr>
                </a:solidFill>
              </a:rPr>
              <a:t>       3.3.1 Q table</a:t>
            </a:r>
          </a:p>
          <a:p>
            <a:r>
              <a:rPr kumimoji="1" lang="en-US" altLang="ja-JP" sz="1200" dirty="0">
                <a:solidFill>
                  <a:schemeClr val="tx1">
                    <a:lumMod val="20000"/>
                    <a:lumOff val="80000"/>
                  </a:schemeClr>
                </a:solidFill>
              </a:rPr>
              <a:t>       3.3.2 Reward</a:t>
            </a:r>
          </a:p>
          <a:p>
            <a:endParaRPr kumimoji="1" lang="en-US" altLang="ja-JP" sz="1200" dirty="0">
              <a:solidFill>
                <a:schemeClr val="tx1">
                  <a:lumMod val="20000"/>
                  <a:lumOff val="80000"/>
                </a:schemeClr>
              </a:solidFill>
            </a:endParaRPr>
          </a:p>
          <a:p>
            <a:r>
              <a:rPr kumimoji="1" lang="en-US" altLang="ja-JP" dirty="0">
                <a:solidFill>
                  <a:schemeClr val="tx1">
                    <a:lumMod val="20000"/>
                    <a:lumOff val="80000"/>
                  </a:schemeClr>
                </a:solidFill>
              </a:rPr>
              <a:t>4. Results and analysis</a:t>
            </a:r>
          </a:p>
          <a:p>
            <a:endParaRPr kumimoji="1" lang="en-US" altLang="ja-JP" dirty="0">
              <a:solidFill>
                <a:schemeClr val="tx1">
                  <a:lumMod val="20000"/>
                  <a:lumOff val="80000"/>
                </a:schemeClr>
              </a:solidFill>
            </a:endParaRPr>
          </a:p>
          <a:p>
            <a:r>
              <a:rPr kumimoji="1" lang="en-US" altLang="ja-JP" dirty="0">
                <a:solidFill>
                  <a:schemeClr val="tx1">
                    <a:lumMod val="20000"/>
                    <a:lumOff val="80000"/>
                  </a:schemeClr>
                </a:solidFill>
              </a:rPr>
              <a:t>5. Summary and future work</a:t>
            </a:r>
          </a:p>
          <a:p>
            <a:endParaRPr kumimoji="1" lang="ja-JP" altLang="en-US" dirty="0"/>
          </a:p>
        </p:txBody>
      </p:sp>
      <p:sp>
        <p:nvSpPr>
          <p:cNvPr id="3" name="コンテンツ プレースホルダー 2">
            <a:extLst>
              <a:ext uri="{FF2B5EF4-FFF2-40B4-BE49-F238E27FC236}">
                <a16:creationId xmlns:a16="http://schemas.microsoft.com/office/drawing/2014/main" id="{5AE46B9A-439A-09BF-15B4-CD120D71EE04}"/>
              </a:ext>
            </a:extLst>
          </p:cNvPr>
          <p:cNvSpPr>
            <a:spLocks noGrp="1"/>
          </p:cNvSpPr>
          <p:nvPr>
            <p:ph sz="quarter" idx="16"/>
          </p:nvPr>
        </p:nvSpPr>
        <p:spPr/>
        <p:txBody>
          <a:bodyPr/>
          <a:lstStyle/>
          <a:p>
            <a:r>
              <a:rPr kumimoji="1" lang="en-US" altLang="ja-JP" dirty="0"/>
              <a:t>CONTENT</a:t>
            </a:r>
            <a:endParaRPr kumimoji="1" lang="ja-JP" altLang="en-US" dirty="0"/>
          </a:p>
        </p:txBody>
      </p:sp>
    </p:spTree>
    <p:extLst>
      <p:ext uri="{BB962C8B-B14F-4D97-AF65-F5344CB8AC3E}">
        <p14:creationId xmlns:p14="http://schemas.microsoft.com/office/powerpoint/2010/main" val="38670822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コンテンツ プレースホルダー 1">
            <a:extLst>
              <a:ext uri="{FF2B5EF4-FFF2-40B4-BE49-F238E27FC236}">
                <a16:creationId xmlns:a16="http://schemas.microsoft.com/office/drawing/2014/main" id="{EA54CCFF-5DFE-EE48-436B-E2A379A0BFAA}"/>
              </a:ext>
            </a:extLst>
          </p:cNvPr>
          <p:cNvSpPr>
            <a:spLocks noGrp="1"/>
          </p:cNvSpPr>
          <p:nvPr>
            <p:ph sz="quarter" idx="17"/>
          </p:nvPr>
        </p:nvSpPr>
        <p:spPr>
          <a:xfrm>
            <a:off x="569340" y="2247900"/>
            <a:ext cx="8767320" cy="2160814"/>
          </a:xfrm>
        </p:spPr>
        <p:txBody>
          <a:bodyPr/>
          <a:lstStyle/>
          <a:p>
            <a:r>
              <a:rPr kumimoji="1" lang="en-US" altLang="ja-JP" sz="1800" dirty="0"/>
              <a:t>The main objective is to propose an autonomous decentralized P2P energy trading system, and investigate its impact to both prosumers and energy grid.</a:t>
            </a:r>
          </a:p>
          <a:p>
            <a:endParaRPr kumimoji="1" lang="en-US" altLang="ja-JP" sz="1800" dirty="0"/>
          </a:p>
          <a:p>
            <a:r>
              <a:rPr kumimoji="1" lang="en-US" altLang="ja-JP" sz="1800" dirty="0"/>
              <a:t>Considering 2 scenarios:</a:t>
            </a:r>
          </a:p>
          <a:p>
            <a:r>
              <a:rPr kumimoji="1" lang="en-US" altLang="ja-JP" sz="1800" dirty="0"/>
              <a:t>	1. Prosumers without P2P energy trading. (future coming consequence)</a:t>
            </a:r>
          </a:p>
          <a:p>
            <a:r>
              <a:rPr kumimoji="1" lang="en-US" altLang="ja-JP" sz="1800" dirty="0"/>
              <a:t>	2. Prosumers community with P2P energy trading. (proposed)</a:t>
            </a:r>
            <a:endParaRPr kumimoji="1" lang="ja-JP" altLang="en-US" sz="1800" dirty="0"/>
          </a:p>
        </p:txBody>
      </p:sp>
      <p:sp>
        <p:nvSpPr>
          <p:cNvPr id="3" name="コンテンツ プレースホルダー 2">
            <a:extLst>
              <a:ext uri="{FF2B5EF4-FFF2-40B4-BE49-F238E27FC236}">
                <a16:creationId xmlns:a16="http://schemas.microsoft.com/office/drawing/2014/main" id="{75DE662A-8ECE-1894-C174-58B28FAFC896}"/>
              </a:ext>
            </a:extLst>
          </p:cNvPr>
          <p:cNvSpPr>
            <a:spLocks noGrp="1"/>
          </p:cNvSpPr>
          <p:nvPr>
            <p:ph sz="quarter" idx="16"/>
          </p:nvPr>
        </p:nvSpPr>
        <p:spPr/>
        <p:txBody>
          <a:bodyPr/>
          <a:lstStyle/>
          <a:p>
            <a:r>
              <a:rPr kumimoji="1" lang="en-US" altLang="ja-JP" dirty="0"/>
              <a:t>2. Objective</a:t>
            </a:r>
            <a:endParaRPr kumimoji="1" lang="ja-JP" altLang="en-US" dirty="0"/>
          </a:p>
        </p:txBody>
      </p:sp>
    </p:spTree>
    <p:extLst>
      <p:ext uri="{BB962C8B-B14F-4D97-AF65-F5344CB8AC3E}">
        <p14:creationId xmlns:p14="http://schemas.microsoft.com/office/powerpoint/2010/main" val="31856983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コンテンツ プレースホルダー 1">
            <a:extLst>
              <a:ext uri="{FF2B5EF4-FFF2-40B4-BE49-F238E27FC236}">
                <a16:creationId xmlns:a16="http://schemas.microsoft.com/office/drawing/2014/main" id="{EA54CCFF-5DFE-EE48-436B-E2A379A0BFAA}"/>
              </a:ext>
            </a:extLst>
          </p:cNvPr>
          <p:cNvSpPr>
            <a:spLocks noGrp="1"/>
          </p:cNvSpPr>
          <p:nvPr>
            <p:ph sz="quarter" idx="17"/>
          </p:nvPr>
        </p:nvSpPr>
        <p:spPr>
          <a:xfrm>
            <a:off x="569340" y="2247900"/>
            <a:ext cx="8767320" cy="2868386"/>
          </a:xfrm>
        </p:spPr>
        <p:txBody>
          <a:bodyPr/>
          <a:lstStyle/>
          <a:p>
            <a:r>
              <a:rPr kumimoji="1" lang="en-US" altLang="ja-JP" sz="1800" dirty="0"/>
              <a:t>The main objective is to propose an autonomous decentralized P2P energy trading system, and investigate its impact to both prosumers and energy grid.</a:t>
            </a:r>
          </a:p>
          <a:p>
            <a:endParaRPr kumimoji="1" lang="en-US" altLang="ja-JP" sz="1800" dirty="0"/>
          </a:p>
          <a:p>
            <a:r>
              <a:rPr kumimoji="1" lang="en-US" altLang="ja-JP" sz="1800" dirty="0"/>
              <a:t>Considering 2 scenarios:</a:t>
            </a:r>
          </a:p>
          <a:p>
            <a:r>
              <a:rPr kumimoji="1" lang="en-US" altLang="ja-JP" sz="1800" dirty="0"/>
              <a:t>	1. Prosumers without P2P energy trading. (future coming consequence)</a:t>
            </a:r>
          </a:p>
          <a:p>
            <a:r>
              <a:rPr kumimoji="1" lang="en-US" altLang="ja-JP" sz="1800" dirty="0">
                <a:solidFill>
                  <a:schemeClr val="tx1">
                    <a:lumMod val="20000"/>
                    <a:lumOff val="80000"/>
                  </a:schemeClr>
                </a:solidFill>
              </a:rPr>
              <a:t>		</a:t>
            </a:r>
            <a:r>
              <a:rPr kumimoji="1" lang="ja-JP" altLang="en-US" sz="1800" dirty="0"/>
              <a:t>➤</a:t>
            </a:r>
            <a:r>
              <a:rPr kumimoji="1" lang="en-US" altLang="ja-JP" sz="1800" strike="sngStrike" dirty="0"/>
              <a:t>Constructing the model…</a:t>
            </a:r>
            <a:r>
              <a:rPr kumimoji="1" lang="en-US" altLang="ja-JP" sz="1800" dirty="0">
                <a:solidFill>
                  <a:srgbClr val="FF0000"/>
                </a:solidFill>
              </a:rPr>
              <a:t> Done.</a:t>
            </a:r>
          </a:p>
          <a:p>
            <a:r>
              <a:rPr kumimoji="1" lang="en-US" altLang="ja-JP" sz="1800" dirty="0"/>
              <a:t>	2. Prosumers community with P2P energy trading. (proposed)</a:t>
            </a:r>
          </a:p>
          <a:p>
            <a:r>
              <a:rPr kumimoji="1" lang="en-US" altLang="ja-JP" sz="1800" dirty="0"/>
              <a:t>		</a:t>
            </a:r>
            <a:r>
              <a:rPr kumimoji="1" lang="ja-JP" altLang="en-US" sz="1800" dirty="0"/>
              <a:t>➤</a:t>
            </a:r>
            <a:r>
              <a:rPr kumimoji="1" lang="en-US" altLang="ja-JP" sz="1800" strike="sngStrike" dirty="0"/>
              <a:t>On training</a:t>
            </a:r>
            <a:r>
              <a:rPr kumimoji="1" lang="en-US" altLang="ja-JP" sz="1800" dirty="0"/>
              <a:t> </a:t>
            </a:r>
            <a:r>
              <a:rPr kumimoji="1" lang="en-US" altLang="ja-JP" sz="1800" dirty="0">
                <a:solidFill>
                  <a:srgbClr val="FF0000"/>
                </a:solidFill>
              </a:rPr>
              <a:t>Done.</a:t>
            </a:r>
            <a:endParaRPr kumimoji="1" lang="ja-JP" altLang="en-US" sz="1800" dirty="0">
              <a:solidFill>
                <a:srgbClr val="FF0000"/>
              </a:solidFill>
            </a:endParaRPr>
          </a:p>
        </p:txBody>
      </p:sp>
      <p:sp>
        <p:nvSpPr>
          <p:cNvPr id="3" name="コンテンツ プレースホルダー 2">
            <a:extLst>
              <a:ext uri="{FF2B5EF4-FFF2-40B4-BE49-F238E27FC236}">
                <a16:creationId xmlns:a16="http://schemas.microsoft.com/office/drawing/2014/main" id="{75DE662A-8ECE-1894-C174-58B28FAFC896}"/>
              </a:ext>
            </a:extLst>
          </p:cNvPr>
          <p:cNvSpPr>
            <a:spLocks noGrp="1"/>
          </p:cNvSpPr>
          <p:nvPr>
            <p:ph sz="quarter" idx="16"/>
          </p:nvPr>
        </p:nvSpPr>
        <p:spPr/>
        <p:txBody>
          <a:bodyPr/>
          <a:lstStyle/>
          <a:p>
            <a:r>
              <a:rPr kumimoji="1" lang="en-US" altLang="ja-JP" dirty="0"/>
              <a:t>2. Objective</a:t>
            </a:r>
            <a:endParaRPr kumimoji="1" lang="ja-JP" altLang="en-US" dirty="0"/>
          </a:p>
        </p:txBody>
      </p:sp>
    </p:spTree>
    <p:extLst>
      <p:ext uri="{BB962C8B-B14F-4D97-AF65-F5344CB8AC3E}">
        <p14:creationId xmlns:p14="http://schemas.microsoft.com/office/powerpoint/2010/main" val="4666039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5EEE9-587E-7557-2AE3-107E789D67C5}"/>
            </a:ext>
          </a:extLst>
        </p:cNvPr>
        <p:cNvGrpSpPr/>
        <p:nvPr/>
      </p:nvGrpSpPr>
      <p:grpSpPr>
        <a:xfrm>
          <a:off x="0" y="0"/>
          <a:ext cx="0" cy="0"/>
          <a:chOff x="0" y="0"/>
          <a:chExt cx="0" cy="0"/>
        </a:xfrm>
      </p:grpSpPr>
      <p:sp>
        <p:nvSpPr>
          <p:cNvPr id="2" name="コンテンツ プレースホルダー 1">
            <a:extLst>
              <a:ext uri="{FF2B5EF4-FFF2-40B4-BE49-F238E27FC236}">
                <a16:creationId xmlns:a16="http://schemas.microsoft.com/office/drawing/2014/main" id="{E85C951A-99EB-3CB2-4954-A96DB22FA282}"/>
              </a:ext>
            </a:extLst>
          </p:cNvPr>
          <p:cNvSpPr>
            <a:spLocks noGrp="1"/>
          </p:cNvSpPr>
          <p:nvPr>
            <p:ph sz="quarter" idx="17"/>
          </p:nvPr>
        </p:nvSpPr>
        <p:spPr>
          <a:xfrm>
            <a:off x="569340" y="904862"/>
            <a:ext cx="8767320" cy="5686438"/>
          </a:xfrm>
        </p:spPr>
        <p:txBody>
          <a:bodyPr/>
          <a:lstStyle/>
          <a:p>
            <a:r>
              <a:rPr kumimoji="1" lang="en-US" altLang="ja-JP" dirty="0">
                <a:solidFill>
                  <a:schemeClr val="tx1">
                    <a:lumMod val="20000"/>
                    <a:lumOff val="80000"/>
                  </a:schemeClr>
                </a:solidFill>
              </a:rPr>
              <a:t>1. Introduction and background</a:t>
            </a:r>
          </a:p>
          <a:p>
            <a:pPr marL="342900" indent="-342900">
              <a:buAutoNum type="arabicPeriod"/>
            </a:pPr>
            <a:endParaRPr kumimoji="1" lang="en-US" altLang="ja-JP" dirty="0">
              <a:solidFill>
                <a:schemeClr val="tx1">
                  <a:lumMod val="20000"/>
                  <a:lumOff val="80000"/>
                </a:schemeClr>
              </a:solidFill>
            </a:endParaRPr>
          </a:p>
          <a:p>
            <a:r>
              <a:rPr kumimoji="1" lang="en-US" altLang="ja-JP" dirty="0">
                <a:solidFill>
                  <a:schemeClr val="tx1">
                    <a:lumMod val="20000"/>
                    <a:lumOff val="80000"/>
                  </a:schemeClr>
                </a:solidFill>
              </a:rPr>
              <a:t>2. Objective</a:t>
            </a:r>
          </a:p>
          <a:p>
            <a:endParaRPr kumimoji="1" lang="en-US" altLang="ja-JP" dirty="0"/>
          </a:p>
          <a:p>
            <a:r>
              <a:rPr kumimoji="1" lang="en-US" altLang="ja-JP" dirty="0"/>
              <a:t>3. Methodology</a:t>
            </a:r>
          </a:p>
          <a:p>
            <a:r>
              <a:rPr kumimoji="1" lang="en-US" altLang="ja-JP" sz="1200" dirty="0">
                <a:solidFill>
                  <a:schemeClr val="tx1">
                    <a:lumMod val="20000"/>
                    <a:lumOff val="80000"/>
                  </a:schemeClr>
                </a:solidFill>
              </a:rPr>
              <a:t>3.1 Step 1: </a:t>
            </a:r>
            <a:r>
              <a:rPr lang="en-US" altLang="ja-JP" sz="1200" dirty="0">
                <a:solidFill>
                  <a:schemeClr val="tx1">
                    <a:lumMod val="20000"/>
                    <a:lumOff val="80000"/>
                  </a:schemeClr>
                </a:solidFill>
              </a:rPr>
              <a:t>Data collection</a:t>
            </a:r>
          </a:p>
          <a:p>
            <a:r>
              <a:rPr kumimoji="1" lang="en-US" altLang="ja-JP" sz="1200" dirty="0">
                <a:solidFill>
                  <a:schemeClr val="tx1">
                    <a:lumMod val="20000"/>
                    <a:lumOff val="80000"/>
                  </a:schemeClr>
                </a:solidFill>
              </a:rPr>
              <a:t>       3.1.1 Data (demand, PV supply, wholesale price)</a:t>
            </a:r>
            <a:endParaRPr kumimoji="1" lang="ja-JP" altLang="en-US" sz="1200" dirty="0">
              <a:solidFill>
                <a:schemeClr val="tx1">
                  <a:lumMod val="20000"/>
                  <a:lumOff val="80000"/>
                </a:schemeClr>
              </a:solidFill>
            </a:endParaRPr>
          </a:p>
          <a:p>
            <a:r>
              <a:rPr kumimoji="1" lang="en-US" altLang="ja-JP" sz="1200" dirty="0">
                <a:solidFill>
                  <a:schemeClr val="tx1">
                    <a:lumMod val="20000"/>
                    <a:lumOff val="80000"/>
                  </a:schemeClr>
                </a:solidFill>
              </a:rPr>
              <a:t>       3.1.2 Car usage survey </a:t>
            </a:r>
            <a:r>
              <a:rPr kumimoji="1" lang="ja-JP" altLang="en-US" sz="1200" dirty="0">
                <a:solidFill>
                  <a:schemeClr val="tx1">
                    <a:lumMod val="20000"/>
                    <a:lumOff val="80000"/>
                  </a:schemeClr>
                </a:solidFill>
              </a:rPr>
              <a:t>→ </a:t>
            </a:r>
            <a:r>
              <a:rPr kumimoji="1" lang="en-US" altLang="ja-JP" sz="1200" dirty="0">
                <a:solidFill>
                  <a:schemeClr val="tx1">
                    <a:lumMod val="20000"/>
                    <a:lumOff val="80000"/>
                  </a:schemeClr>
                </a:solidFill>
              </a:rPr>
              <a:t>Car usage data</a:t>
            </a:r>
          </a:p>
          <a:p>
            <a:r>
              <a:rPr kumimoji="1" lang="en-US" altLang="ja-JP" sz="1200" dirty="0">
                <a:solidFill>
                  <a:schemeClr val="tx1">
                    <a:lumMod val="20000"/>
                    <a:lumOff val="80000"/>
                  </a:schemeClr>
                </a:solidFill>
              </a:rPr>
              <a:t>       3.1.3 Technology parameter (battery charge/discharge speed limit, efficiency)</a:t>
            </a:r>
          </a:p>
          <a:p>
            <a:r>
              <a:rPr kumimoji="1" lang="en-US" altLang="ja-JP" sz="1200" dirty="0">
                <a:solidFill>
                  <a:schemeClr val="tx1">
                    <a:lumMod val="20000"/>
                    <a:lumOff val="80000"/>
                  </a:schemeClr>
                </a:solidFill>
              </a:rPr>
              <a:t>3.2 Step 2: </a:t>
            </a:r>
            <a:r>
              <a:rPr lang="en-US" altLang="ja-JP" sz="1200" dirty="0">
                <a:solidFill>
                  <a:schemeClr val="tx1">
                    <a:lumMod val="20000"/>
                    <a:lumOff val="80000"/>
                  </a:schemeClr>
                </a:solidFill>
              </a:rPr>
              <a:t>Model construction </a:t>
            </a:r>
            <a:r>
              <a:rPr kumimoji="1" lang="en-US" altLang="ja-JP" sz="1200" dirty="0">
                <a:solidFill>
                  <a:schemeClr val="tx1">
                    <a:lumMod val="20000"/>
                    <a:lumOff val="80000"/>
                  </a:schemeClr>
                </a:solidFill>
              </a:rPr>
              <a:t>	</a:t>
            </a:r>
          </a:p>
          <a:p>
            <a:r>
              <a:rPr kumimoji="1" lang="en-US" altLang="ja-JP" sz="1200" dirty="0">
                <a:solidFill>
                  <a:schemeClr val="tx1">
                    <a:lumMod val="20000"/>
                    <a:lumOff val="80000"/>
                  </a:schemeClr>
                </a:solidFill>
              </a:rPr>
              <a:t>       3.2.1 Generate agent</a:t>
            </a:r>
          </a:p>
          <a:p>
            <a:r>
              <a:rPr kumimoji="1" lang="en-US" altLang="ja-JP" sz="1200" dirty="0">
                <a:solidFill>
                  <a:schemeClr val="tx1">
                    <a:lumMod val="20000"/>
                    <a:lumOff val="80000"/>
                  </a:schemeClr>
                </a:solidFill>
              </a:rPr>
              <a:t>       3.2.2 Design P2P energy trading model</a:t>
            </a:r>
          </a:p>
          <a:p>
            <a:r>
              <a:rPr kumimoji="1" lang="en-US" altLang="ja-JP" sz="1200" dirty="0">
                <a:solidFill>
                  <a:schemeClr val="tx1">
                    <a:lumMod val="20000"/>
                    <a:lumOff val="80000"/>
                  </a:schemeClr>
                </a:solidFill>
              </a:rPr>
              <a:t>       3.2.3 Design non-P2P energy model</a:t>
            </a:r>
          </a:p>
          <a:p>
            <a:r>
              <a:rPr kumimoji="1" lang="en-US" altLang="ja-JP" sz="1200" dirty="0">
                <a:solidFill>
                  <a:schemeClr val="tx1">
                    <a:lumMod val="20000"/>
                    <a:lumOff val="80000"/>
                  </a:schemeClr>
                </a:solidFill>
              </a:rPr>
              <a:t>3.3 Step 3: Train agents</a:t>
            </a:r>
          </a:p>
          <a:p>
            <a:r>
              <a:rPr kumimoji="1" lang="en-US" altLang="ja-JP" sz="1200" dirty="0">
                <a:solidFill>
                  <a:schemeClr val="tx1">
                    <a:lumMod val="20000"/>
                    <a:lumOff val="80000"/>
                  </a:schemeClr>
                </a:solidFill>
              </a:rPr>
              <a:t>       3.3.1 Q table</a:t>
            </a:r>
          </a:p>
          <a:p>
            <a:r>
              <a:rPr kumimoji="1" lang="en-US" altLang="ja-JP" sz="1200" dirty="0">
                <a:solidFill>
                  <a:schemeClr val="tx1">
                    <a:lumMod val="20000"/>
                    <a:lumOff val="80000"/>
                  </a:schemeClr>
                </a:solidFill>
              </a:rPr>
              <a:t>       3.3.2 Reward</a:t>
            </a:r>
          </a:p>
          <a:p>
            <a:endParaRPr kumimoji="1" lang="en-US" altLang="ja-JP" sz="1200" dirty="0">
              <a:solidFill>
                <a:schemeClr val="tx1">
                  <a:lumMod val="20000"/>
                  <a:lumOff val="80000"/>
                </a:schemeClr>
              </a:solidFill>
            </a:endParaRPr>
          </a:p>
          <a:p>
            <a:r>
              <a:rPr kumimoji="1" lang="en-US" altLang="ja-JP" dirty="0">
                <a:solidFill>
                  <a:schemeClr val="tx1">
                    <a:lumMod val="20000"/>
                    <a:lumOff val="80000"/>
                  </a:schemeClr>
                </a:solidFill>
              </a:rPr>
              <a:t>4. Results and analysis</a:t>
            </a:r>
          </a:p>
          <a:p>
            <a:endParaRPr kumimoji="1" lang="en-US" altLang="ja-JP" dirty="0">
              <a:solidFill>
                <a:schemeClr val="tx1">
                  <a:lumMod val="20000"/>
                  <a:lumOff val="80000"/>
                </a:schemeClr>
              </a:solidFill>
            </a:endParaRPr>
          </a:p>
          <a:p>
            <a:r>
              <a:rPr kumimoji="1" lang="en-US" altLang="ja-JP" dirty="0">
                <a:solidFill>
                  <a:schemeClr val="tx1">
                    <a:lumMod val="20000"/>
                    <a:lumOff val="80000"/>
                  </a:schemeClr>
                </a:solidFill>
              </a:rPr>
              <a:t>5. Summary and future work</a:t>
            </a:r>
          </a:p>
          <a:p>
            <a:endParaRPr kumimoji="1" lang="ja-JP" altLang="en-US" dirty="0"/>
          </a:p>
        </p:txBody>
      </p:sp>
      <p:sp>
        <p:nvSpPr>
          <p:cNvPr id="3" name="コンテンツ プレースホルダー 2">
            <a:extLst>
              <a:ext uri="{FF2B5EF4-FFF2-40B4-BE49-F238E27FC236}">
                <a16:creationId xmlns:a16="http://schemas.microsoft.com/office/drawing/2014/main" id="{C280F164-4E97-14EE-3034-EC01B289786A}"/>
              </a:ext>
            </a:extLst>
          </p:cNvPr>
          <p:cNvSpPr>
            <a:spLocks noGrp="1"/>
          </p:cNvSpPr>
          <p:nvPr>
            <p:ph sz="quarter" idx="16"/>
          </p:nvPr>
        </p:nvSpPr>
        <p:spPr/>
        <p:txBody>
          <a:bodyPr/>
          <a:lstStyle/>
          <a:p>
            <a:r>
              <a:rPr kumimoji="1" lang="en-US" altLang="ja-JP" dirty="0"/>
              <a:t>CONTENT</a:t>
            </a:r>
            <a:endParaRPr kumimoji="1" lang="ja-JP" altLang="en-US" dirty="0"/>
          </a:p>
        </p:txBody>
      </p:sp>
    </p:spTree>
    <p:extLst>
      <p:ext uri="{BB962C8B-B14F-4D97-AF65-F5344CB8AC3E}">
        <p14:creationId xmlns:p14="http://schemas.microsoft.com/office/powerpoint/2010/main" val="17563438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正方形/長方形 152">
            <a:extLst>
              <a:ext uri="{FF2B5EF4-FFF2-40B4-BE49-F238E27FC236}">
                <a16:creationId xmlns:a16="http://schemas.microsoft.com/office/drawing/2014/main" id="{DCFD9E45-CDFE-D983-6086-FA9E0CAC9970}"/>
              </a:ext>
            </a:extLst>
          </p:cNvPr>
          <p:cNvSpPr/>
          <p:nvPr/>
        </p:nvSpPr>
        <p:spPr>
          <a:xfrm>
            <a:off x="6441323" y="4660046"/>
            <a:ext cx="2112170" cy="1023257"/>
          </a:xfrm>
          <a:prstGeom prst="rect">
            <a:avLst/>
          </a:prstGeom>
          <a:solidFill>
            <a:schemeClr val="tx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2" name="正方形/長方形 151">
            <a:extLst>
              <a:ext uri="{FF2B5EF4-FFF2-40B4-BE49-F238E27FC236}">
                <a16:creationId xmlns:a16="http://schemas.microsoft.com/office/drawing/2014/main" id="{9AFEB7F5-DCE4-8547-A1BE-F083BEA040EF}"/>
              </a:ext>
            </a:extLst>
          </p:cNvPr>
          <p:cNvSpPr/>
          <p:nvPr/>
        </p:nvSpPr>
        <p:spPr>
          <a:xfrm>
            <a:off x="6359110" y="4565017"/>
            <a:ext cx="2112170" cy="1023257"/>
          </a:xfrm>
          <a:prstGeom prst="rect">
            <a:avLst/>
          </a:prstGeom>
          <a:solidFill>
            <a:schemeClr val="tx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4" name="正方形/長方形 133">
            <a:extLst>
              <a:ext uri="{FF2B5EF4-FFF2-40B4-BE49-F238E27FC236}">
                <a16:creationId xmlns:a16="http://schemas.microsoft.com/office/drawing/2014/main" id="{BCBBEA6D-C97C-D40C-5C95-FF80127A3292}"/>
              </a:ext>
            </a:extLst>
          </p:cNvPr>
          <p:cNvSpPr/>
          <p:nvPr/>
        </p:nvSpPr>
        <p:spPr>
          <a:xfrm>
            <a:off x="8347440" y="1677864"/>
            <a:ext cx="1248262" cy="1023257"/>
          </a:xfrm>
          <a:prstGeom prst="rect">
            <a:avLst/>
          </a:prstGeom>
          <a:solidFill>
            <a:schemeClr val="tx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3" name="正方形/長方形 132">
            <a:extLst>
              <a:ext uri="{FF2B5EF4-FFF2-40B4-BE49-F238E27FC236}">
                <a16:creationId xmlns:a16="http://schemas.microsoft.com/office/drawing/2014/main" id="{DA63E6FD-2380-6CFB-49A5-C013E6584A69}"/>
              </a:ext>
            </a:extLst>
          </p:cNvPr>
          <p:cNvSpPr/>
          <p:nvPr/>
        </p:nvSpPr>
        <p:spPr>
          <a:xfrm>
            <a:off x="8244917" y="1581923"/>
            <a:ext cx="1248262" cy="1023257"/>
          </a:xfrm>
          <a:prstGeom prst="rect">
            <a:avLst/>
          </a:prstGeom>
          <a:solidFill>
            <a:schemeClr val="tx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1" name="正方形/長方形 130">
            <a:extLst>
              <a:ext uri="{FF2B5EF4-FFF2-40B4-BE49-F238E27FC236}">
                <a16:creationId xmlns:a16="http://schemas.microsoft.com/office/drawing/2014/main" id="{44578C9D-5795-9E05-3990-DCD7CDEBBB8B}"/>
              </a:ext>
            </a:extLst>
          </p:cNvPr>
          <p:cNvSpPr/>
          <p:nvPr/>
        </p:nvSpPr>
        <p:spPr>
          <a:xfrm>
            <a:off x="6467060" y="1677864"/>
            <a:ext cx="1248261" cy="1023257"/>
          </a:xfrm>
          <a:prstGeom prst="rect">
            <a:avLst/>
          </a:prstGeom>
          <a:solidFill>
            <a:schemeClr val="tx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0" name="正方形/長方形 129">
            <a:extLst>
              <a:ext uri="{FF2B5EF4-FFF2-40B4-BE49-F238E27FC236}">
                <a16:creationId xmlns:a16="http://schemas.microsoft.com/office/drawing/2014/main" id="{7F73BDA7-55CF-9D84-F90D-7E1F4C8CD500}"/>
              </a:ext>
            </a:extLst>
          </p:cNvPr>
          <p:cNvSpPr/>
          <p:nvPr/>
        </p:nvSpPr>
        <p:spPr>
          <a:xfrm>
            <a:off x="6359110" y="1576264"/>
            <a:ext cx="1248261" cy="1023257"/>
          </a:xfrm>
          <a:prstGeom prst="rect">
            <a:avLst/>
          </a:prstGeom>
          <a:solidFill>
            <a:schemeClr val="tx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8" name="正方形/長方形 127">
            <a:extLst>
              <a:ext uri="{FF2B5EF4-FFF2-40B4-BE49-F238E27FC236}">
                <a16:creationId xmlns:a16="http://schemas.microsoft.com/office/drawing/2014/main" id="{8C47CADE-12BE-6A6C-86EC-91710B1ACEC7}"/>
              </a:ext>
            </a:extLst>
          </p:cNvPr>
          <p:cNvSpPr/>
          <p:nvPr/>
        </p:nvSpPr>
        <p:spPr>
          <a:xfrm>
            <a:off x="3409948" y="1679111"/>
            <a:ext cx="2022961" cy="1023257"/>
          </a:xfrm>
          <a:prstGeom prst="rect">
            <a:avLst/>
          </a:prstGeom>
          <a:solidFill>
            <a:schemeClr val="tx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7" name="正方形/長方形 126">
            <a:extLst>
              <a:ext uri="{FF2B5EF4-FFF2-40B4-BE49-F238E27FC236}">
                <a16:creationId xmlns:a16="http://schemas.microsoft.com/office/drawing/2014/main" id="{8D1EDA1E-4B10-E9DB-CFEE-517C3138900F}"/>
              </a:ext>
            </a:extLst>
          </p:cNvPr>
          <p:cNvSpPr/>
          <p:nvPr/>
        </p:nvSpPr>
        <p:spPr>
          <a:xfrm>
            <a:off x="3308348" y="1583861"/>
            <a:ext cx="2022961" cy="1023257"/>
          </a:xfrm>
          <a:prstGeom prst="rect">
            <a:avLst/>
          </a:prstGeom>
          <a:solidFill>
            <a:schemeClr val="tx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コンテンツ プレースホルダー 2">
            <a:extLst>
              <a:ext uri="{FF2B5EF4-FFF2-40B4-BE49-F238E27FC236}">
                <a16:creationId xmlns:a16="http://schemas.microsoft.com/office/drawing/2014/main" id="{CBBC13BC-9FBD-E7C0-BA6A-9D362FED3A59}"/>
              </a:ext>
            </a:extLst>
          </p:cNvPr>
          <p:cNvSpPr>
            <a:spLocks noGrp="1"/>
          </p:cNvSpPr>
          <p:nvPr>
            <p:ph sz="quarter" idx="16"/>
          </p:nvPr>
        </p:nvSpPr>
        <p:spPr/>
        <p:txBody>
          <a:bodyPr/>
          <a:lstStyle/>
          <a:p>
            <a:r>
              <a:rPr lang="en-US" dirty="0"/>
              <a:t>3. Method description</a:t>
            </a:r>
          </a:p>
        </p:txBody>
      </p:sp>
      <p:sp>
        <p:nvSpPr>
          <p:cNvPr id="2" name="正方形/長方形 1">
            <a:extLst>
              <a:ext uri="{FF2B5EF4-FFF2-40B4-BE49-F238E27FC236}">
                <a16:creationId xmlns:a16="http://schemas.microsoft.com/office/drawing/2014/main" id="{6EB280C4-BC9E-67DE-60D7-73372A5B4FD3}"/>
              </a:ext>
            </a:extLst>
          </p:cNvPr>
          <p:cNvSpPr/>
          <p:nvPr/>
        </p:nvSpPr>
        <p:spPr>
          <a:xfrm>
            <a:off x="130943" y="1324170"/>
            <a:ext cx="2380069" cy="4630448"/>
          </a:xfrm>
          <a:prstGeom prst="rect">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4" name="テキスト ボックス 83">
            <a:extLst>
              <a:ext uri="{FF2B5EF4-FFF2-40B4-BE49-F238E27FC236}">
                <a16:creationId xmlns:a16="http://schemas.microsoft.com/office/drawing/2014/main" id="{AD1BE2D2-49CE-20FD-CC48-14600E8B289C}"/>
              </a:ext>
            </a:extLst>
          </p:cNvPr>
          <p:cNvSpPr txBox="1"/>
          <p:nvPr/>
        </p:nvSpPr>
        <p:spPr>
          <a:xfrm>
            <a:off x="340580" y="1003544"/>
            <a:ext cx="1960793" cy="307777"/>
          </a:xfrm>
          <a:prstGeom prst="rect">
            <a:avLst/>
          </a:prstGeom>
          <a:noFill/>
        </p:spPr>
        <p:txBody>
          <a:bodyPr wrap="none" rtlCol="0">
            <a:spAutoFit/>
          </a:bodyPr>
          <a:lstStyle/>
          <a:p>
            <a:r>
              <a:rPr lang="en-US" sz="1400" dirty="0"/>
              <a:t>Step 1: Data collection</a:t>
            </a:r>
          </a:p>
        </p:txBody>
      </p:sp>
      <p:sp>
        <p:nvSpPr>
          <p:cNvPr id="85" name="正方形/長方形 84">
            <a:extLst>
              <a:ext uri="{FF2B5EF4-FFF2-40B4-BE49-F238E27FC236}">
                <a16:creationId xmlns:a16="http://schemas.microsoft.com/office/drawing/2014/main" id="{68E5D170-78BE-70D0-24B6-7EF628E88D35}"/>
              </a:ext>
            </a:extLst>
          </p:cNvPr>
          <p:cNvSpPr/>
          <p:nvPr/>
        </p:nvSpPr>
        <p:spPr>
          <a:xfrm>
            <a:off x="263217" y="1480457"/>
            <a:ext cx="2115520" cy="1023257"/>
          </a:xfrm>
          <a:prstGeom prst="rect">
            <a:avLst/>
          </a:prstGeom>
          <a:solidFill>
            <a:schemeClr val="tx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テキスト ボックス 85">
            <a:extLst>
              <a:ext uri="{FF2B5EF4-FFF2-40B4-BE49-F238E27FC236}">
                <a16:creationId xmlns:a16="http://schemas.microsoft.com/office/drawing/2014/main" id="{8228B19E-91AA-1BD6-499F-9BFE974FA171}"/>
              </a:ext>
            </a:extLst>
          </p:cNvPr>
          <p:cNvSpPr txBox="1"/>
          <p:nvPr/>
        </p:nvSpPr>
        <p:spPr>
          <a:xfrm>
            <a:off x="208181" y="1730475"/>
            <a:ext cx="2234982" cy="523220"/>
          </a:xfrm>
          <a:prstGeom prst="rect">
            <a:avLst/>
          </a:prstGeom>
          <a:noFill/>
        </p:spPr>
        <p:txBody>
          <a:bodyPr wrap="square" rtlCol="0">
            <a:spAutoFit/>
          </a:bodyPr>
          <a:lstStyle/>
          <a:p>
            <a:pPr algn="ctr"/>
            <a:r>
              <a:rPr kumimoji="1" lang="en-US" altLang="ja-JP" sz="1400" dirty="0"/>
              <a:t>Data (demand, PV supply, </a:t>
            </a:r>
            <a:br>
              <a:rPr kumimoji="1" lang="en-US" altLang="ja-JP" sz="1400" dirty="0"/>
            </a:br>
            <a:r>
              <a:rPr kumimoji="1" lang="en-US" altLang="ja-JP" sz="1400" dirty="0"/>
              <a:t>wholesale price)</a:t>
            </a:r>
            <a:endParaRPr kumimoji="1" lang="ja-JP" altLang="en-US" sz="1400" dirty="0"/>
          </a:p>
        </p:txBody>
      </p:sp>
      <p:sp>
        <p:nvSpPr>
          <p:cNvPr id="90" name="正方形/長方形 89">
            <a:extLst>
              <a:ext uri="{FF2B5EF4-FFF2-40B4-BE49-F238E27FC236}">
                <a16:creationId xmlns:a16="http://schemas.microsoft.com/office/drawing/2014/main" id="{36F36BE8-E638-D2DA-5A98-2FB8285CD409}"/>
              </a:ext>
            </a:extLst>
          </p:cNvPr>
          <p:cNvSpPr/>
          <p:nvPr/>
        </p:nvSpPr>
        <p:spPr>
          <a:xfrm>
            <a:off x="263216" y="3104743"/>
            <a:ext cx="2115520" cy="1023257"/>
          </a:xfrm>
          <a:prstGeom prst="rect">
            <a:avLst/>
          </a:prstGeom>
          <a:solidFill>
            <a:schemeClr val="tx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テキスト ボックス 90">
            <a:extLst>
              <a:ext uri="{FF2B5EF4-FFF2-40B4-BE49-F238E27FC236}">
                <a16:creationId xmlns:a16="http://schemas.microsoft.com/office/drawing/2014/main" id="{FA0B9543-2481-E2CE-7F9C-27CABB2E0E9F}"/>
              </a:ext>
            </a:extLst>
          </p:cNvPr>
          <p:cNvSpPr txBox="1"/>
          <p:nvPr/>
        </p:nvSpPr>
        <p:spPr>
          <a:xfrm>
            <a:off x="130940" y="3351281"/>
            <a:ext cx="1718740" cy="523220"/>
          </a:xfrm>
          <a:prstGeom prst="rect">
            <a:avLst/>
          </a:prstGeom>
          <a:noFill/>
        </p:spPr>
        <p:txBody>
          <a:bodyPr wrap="none" rtlCol="0">
            <a:spAutoFit/>
          </a:bodyPr>
          <a:lstStyle/>
          <a:p>
            <a:pPr algn="ctr"/>
            <a:r>
              <a:rPr kumimoji="1" lang="en-US" altLang="ja-JP" sz="1400" dirty="0"/>
              <a:t>Car usage survey</a:t>
            </a:r>
          </a:p>
          <a:p>
            <a:r>
              <a:rPr kumimoji="1" lang="ja-JP" altLang="en-US" sz="1400" dirty="0"/>
              <a:t>    →</a:t>
            </a:r>
            <a:r>
              <a:rPr kumimoji="1" lang="en-US" altLang="ja-JP" sz="1400" dirty="0"/>
              <a:t>car usage data</a:t>
            </a:r>
            <a:endParaRPr kumimoji="1" lang="ja-JP" altLang="en-US" sz="1400" dirty="0"/>
          </a:p>
        </p:txBody>
      </p:sp>
      <p:sp>
        <p:nvSpPr>
          <p:cNvPr id="92" name="正方形/長方形 91">
            <a:extLst>
              <a:ext uri="{FF2B5EF4-FFF2-40B4-BE49-F238E27FC236}">
                <a16:creationId xmlns:a16="http://schemas.microsoft.com/office/drawing/2014/main" id="{8DAEA555-D6CD-B460-A9A6-C989F9B64383}"/>
              </a:ext>
            </a:extLst>
          </p:cNvPr>
          <p:cNvSpPr/>
          <p:nvPr/>
        </p:nvSpPr>
        <p:spPr>
          <a:xfrm>
            <a:off x="263216" y="4724553"/>
            <a:ext cx="2115520" cy="1023257"/>
          </a:xfrm>
          <a:prstGeom prst="rect">
            <a:avLst/>
          </a:prstGeom>
          <a:solidFill>
            <a:schemeClr val="tx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テキスト ボックス 92">
            <a:extLst>
              <a:ext uri="{FF2B5EF4-FFF2-40B4-BE49-F238E27FC236}">
                <a16:creationId xmlns:a16="http://schemas.microsoft.com/office/drawing/2014/main" id="{95C066F9-50FC-7FF2-86BC-FB2DA30055D8}"/>
              </a:ext>
            </a:extLst>
          </p:cNvPr>
          <p:cNvSpPr txBox="1"/>
          <p:nvPr/>
        </p:nvSpPr>
        <p:spPr>
          <a:xfrm>
            <a:off x="263216" y="4866849"/>
            <a:ext cx="2023311" cy="738664"/>
          </a:xfrm>
          <a:prstGeom prst="rect">
            <a:avLst/>
          </a:prstGeom>
          <a:noFill/>
        </p:spPr>
        <p:txBody>
          <a:bodyPr wrap="none" rtlCol="0">
            <a:spAutoFit/>
          </a:bodyPr>
          <a:lstStyle/>
          <a:p>
            <a:r>
              <a:rPr kumimoji="1" lang="en-US" altLang="ja-JP" sz="1400" dirty="0"/>
              <a:t>Technology parameter </a:t>
            </a:r>
            <a:br>
              <a:rPr kumimoji="1" lang="en-US" altLang="ja-JP" sz="1400" dirty="0"/>
            </a:br>
            <a:r>
              <a:rPr kumimoji="1" lang="en-US" altLang="ja-JP" sz="1400" dirty="0"/>
              <a:t>(charge/discharge </a:t>
            </a:r>
            <a:br>
              <a:rPr kumimoji="1" lang="en-US" altLang="ja-JP" sz="1400" dirty="0"/>
            </a:br>
            <a:r>
              <a:rPr kumimoji="1" lang="en-US" altLang="ja-JP" sz="1400" dirty="0"/>
              <a:t>speed limit, efficiency)</a:t>
            </a:r>
            <a:endParaRPr kumimoji="1" lang="ja-JP" altLang="en-US" sz="1400" dirty="0"/>
          </a:p>
        </p:txBody>
      </p:sp>
      <p:sp>
        <p:nvSpPr>
          <p:cNvPr id="94" name="テキスト ボックス 93">
            <a:extLst>
              <a:ext uri="{FF2B5EF4-FFF2-40B4-BE49-F238E27FC236}">
                <a16:creationId xmlns:a16="http://schemas.microsoft.com/office/drawing/2014/main" id="{D5980E91-79F5-E1B8-FFAC-9B36B4EFFB75}"/>
              </a:ext>
            </a:extLst>
          </p:cNvPr>
          <p:cNvSpPr txBox="1"/>
          <p:nvPr/>
        </p:nvSpPr>
        <p:spPr>
          <a:xfrm>
            <a:off x="3112013" y="1003543"/>
            <a:ext cx="2323072" cy="307777"/>
          </a:xfrm>
          <a:prstGeom prst="rect">
            <a:avLst/>
          </a:prstGeom>
          <a:noFill/>
        </p:spPr>
        <p:txBody>
          <a:bodyPr wrap="none" rtlCol="0">
            <a:spAutoFit/>
          </a:bodyPr>
          <a:lstStyle/>
          <a:p>
            <a:r>
              <a:rPr lang="en-US" sz="1400" dirty="0"/>
              <a:t>Step 2: Model construction</a:t>
            </a:r>
          </a:p>
        </p:txBody>
      </p:sp>
      <p:sp>
        <p:nvSpPr>
          <p:cNvPr id="95" name="正方形/長方形 94">
            <a:extLst>
              <a:ext uri="{FF2B5EF4-FFF2-40B4-BE49-F238E27FC236}">
                <a16:creationId xmlns:a16="http://schemas.microsoft.com/office/drawing/2014/main" id="{C90FC6B2-6F45-A29F-40B3-E34A8826BBBE}"/>
              </a:ext>
            </a:extLst>
          </p:cNvPr>
          <p:cNvSpPr/>
          <p:nvPr/>
        </p:nvSpPr>
        <p:spPr>
          <a:xfrm>
            <a:off x="3083515" y="1324170"/>
            <a:ext cx="2456340" cy="4630448"/>
          </a:xfrm>
          <a:prstGeom prst="rect">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6" name="正方形/長方形 95">
            <a:extLst>
              <a:ext uri="{FF2B5EF4-FFF2-40B4-BE49-F238E27FC236}">
                <a16:creationId xmlns:a16="http://schemas.microsoft.com/office/drawing/2014/main" id="{EF82C2B3-C559-2D2D-7FD9-F9DCAFD9D3E9}"/>
              </a:ext>
            </a:extLst>
          </p:cNvPr>
          <p:cNvSpPr/>
          <p:nvPr/>
        </p:nvSpPr>
        <p:spPr>
          <a:xfrm>
            <a:off x="3215789" y="1480457"/>
            <a:ext cx="2022961" cy="1023257"/>
          </a:xfrm>
          <a:prstGeom prst="rect">
            <a:avLst/>
          </a:prstGeom>
          <a:solidFill>
            <a:schemeClr val="tx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7" name="テキスト ボックス 96">
            <a:extLst>
              <a:ext uri="{FF2B5EF4-FFF2-40B4-BE49-F238E27FC236}">
                <a16:creationId xmlns:a16="http://schemas.microsoft.com/office/drawing/2014/main" id="{25F3F05A-3DB7-B2C4-14E0-02942FF19F1A}"/>
              </a:ext>
            </a:extLst>
          </p:cNvPr>
          <p:cNvSpPr txBox="1"/>
          <p:nvPr/>
        </p:nvSpPr>
        <p:spPr>
          <a:xfrm>
            <a:off x="3474209" y="1780470"/>
            <a:ext cx="1410964" cy="307777"/>
          </a:xfrm>
          <a:prstGeom prst="rect">
            <a:avLst/>
          </a:prstGeom>
          <a:noFill/>
        </p:spPr>
        <p:txBody>
          <a:bodyPr wrap="none" rtlCol="0">
            <a:spAutoFit/>
          </a:bodyPr>
          <a:lstStyle/>
          <a:p>
            <a:r>
              <a:rPr kumimoji="1" lang="en-US" altLang="ja-JP" sz="1400" dirty="0"/>
              <a:t>Generate agent</a:t>
            </a:r>
            <a:endParaRPr kumimoji="1" lang="ja-JP" altLang="en-US" sz="1400" dirty="0"/>
          </a:p>
        </p:txBody>
      </p:sp>
      <p:cxnSp>
        <p:nvCxnSpPr>
          <p:cNvPr id="99" name="直線矢印コネクタ 98">
            <a:extLst>
              <a:ext uri="{FF2B5EF4-FFF2-40B4-BE49-F238E27FC236}">
                <a16:creationId xmlns:a16="http://schemas.microsoft.com/office/drawing/2014/main" id="{3554FC2B-1619-DB13-E251-A813486F9968}"/>
              </a:ext>
            </a:extLst>
          </p:cNvPr>
          <p:cNvCxnSpPr>
            <a:cxnSpLocks/>
            <a:stCxn id="85" idx="3"/>
            <a:endCxn id="96" idx="1"/>
          </p:cNvCxnSpPr>
          <p:nvPr/>
        </p:nvCxnSpPr>
        <p:spPr>
          <a:xfrm>
            <a:off x="2378737" y="1992086"/>
            <a:ext cx="837052"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コネクタ: カギ線 108">
            <a:extLst>
              <a:ext uri="{FF2B5EF4-FFF2-40B4-BE49-F238E27FC236}">
                <a16:creationId xmlns:a16="http://schemas.microsoft.com/office/drawing/2014/main" id="{5E1FC696-6456-EF1E-A329-B719DF839DC4}"/>
              </a:ext>
            </a:extLst>
          </p:cNvPr>
          <p:cNvCxnSpPr>
            <a:cxnSpLocks/>
            <a:stCxn id="90" idx="3"/>
            <a:endCxn id="96" idx="1"/>
          </p:cNvCxnSpPr>
          <p:nvPr/>
        </p:nvCxnSpPr>
        <p:spPr>
          <a:xfrm flipV="1">
            <a:off x="2378736" y="1992086"/>
            <a:ext cx="837053" cy="1624286"/>
          </a:xfrm>
          <a:prstGeom prst="bentConnector3">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コネクタ: カギ線 110">
            <a:extLst>
              <a:ext uri="{FF2B5EF4-FFF2-40B4-BE49-F238E27FC236}">
                <a16:creationId xmlns:a16="http://schemas.microsoft.com/office/drawing/2014/main" id="{4CDBC0B5-F7ED-2AB5-9222-77484A1F8BF8}"/>
              </a:ext>
            </a:extLst>
          </p:cNvPr>
          <p:cNvCxnSpPr>
            <a:cxnSpLocks/>
            <a:stCxn id="92" idx="3"/>
            <a:endCxn id="96" idx="1"/>
          </p:cNvCxnSpPr>
          <p:nvPr/>
        </p:nvCxnSpPr>
        <p:spPr>
          <a:xfrm flipV="1">
            <a:off x="2378736" y="1992086"/>
            <a:ext cx="837053" cy="3244096"/>
          </a:xfrm>
          <a:prstGeom prst="bentConnector3">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2" name="正方形/長方形 111">
            <a:extLst>
              <a:ext uri="{FF2B5EF4-FFF2-40B4-BE49-F238E27FC236}">
                <a16:creationId xmlns:a16="http://schemas.microsoft.com/office/drawing/2014/main" id="{5BB2FA8C-62B9-8594-DA5D-328A7AF47ACB}"/>
              </a:ext>
            </a:extLst>
          </p:cNvPr>
          <p:cNvSpPr/>
          <p:nvPr/>
        </p:nvSpPr>
        <p:spPr>
          <a:xfrm>
            <a:off x="3216855" y="3104743"/>
            <a:ext cx="2216053" cy="2643067"/>
          </a:xfrm>
          <a:prstGeom prst="rect">
            <a:avLst/>
          </a:prstGeom>
          <a:solidFill>
            <a:schemeClr val="tx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3" name="テキスト ボックス 112">
            <a:extLst>
              <a:ext uri="{FF2B5EF4-FFF2-40B4-BE49-F238E27FC236}">
                <a16:creationId xmlns:a16="http://schemas.microsoft.com/office/drawing/2014/main" id="{4B24583F-E787-0788-584D-60FCAE471040}"/>
              </a:ext>
            </a:extLst>
          </p:cNvPr>
          <p:cNvSpPr txBox="1"/>
          <p:nvPr/>
        </p:nvSpPr>
        <p:spPr>
          <a:xfrm>
            <a:off x="3430811" y="3683807"/>
            <a:ext cx="1983126" cy="1600438"/>
          </a:xfrm>
          <a:prstGeom prst="rect">
            <a:avLst/>
          </a:prstGeom>
          <a:noFill/>
        </p:spPr>
        <p:txBody>
          <a:bodyPr wrap="square" rtlCol="0">
            <a:spAutoFit/>
          </a:bodyPr>
          <a:lstStyle/>
          <a:p>
            <a:r>
              <a:rPr kumimoji="1" lang="en-US" altLang="ja-JP" sz="1400" dirty="0"/>
              <a:t>Design P2P energy trading model</a:t>
            </a:r>
          </a:p>
          <a:p>
            <a:endParaRPr kumimoji="1" lang="en-US" altLang="ja-JP" sz="1400" dirty="0"/>
          </a:p>
          <a:p>
            <a:endParaRPr kumimoji="1" lang="en-US" altLang="ja-JP" sz="1400" dirty="0"/>
          </a:p>
          <a:p>
            <a:r>
              <a:rPr kumimoji="1" lang="en-US" altLang="ja-JP" sz="1400" dirty="0"/>
              <a:t>Design non-P2P energy model</a:t>
            </a:r>
          </a:p>
          <a:p>
            <a:endParaRPr kumimoji="1" lang="ja-JP" altLang="en-US" sz="1400" dirty="0"/>
          </a:p>
        </p:txBody>
      </p:sp>
      <p:sp>
        <p:nvSpPr>
          <p:cNvPr id="117" name="正方形/長方形 116">
            <a:extLst>
              <a:ext uri="{FF2B5EF4-FFF2-40B4-BE49-F238E27FC236}">
                <a16:creationId xmlns:a16="http://schemas.microsoft.com/office/drawing/2014/main" id="{89C71ECD-63CA-F76C-19C7-68668EF38C28}"/>
              </a:ext>
            </a:extLst>
          </p:cNvPr>
          <p:cNvSpPr/>
          <p:nvPr/>
        </p:nvSpPr>
        <p:spPr>
          <a:xfrm>
            <a:off x="6112357" y="1324170"/>
            <a:ext cx="3662699" cy="4630448"/>
          </a:xfrm>
          <a:prstGeom prst="rect">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8" name="テキスト ボックス 117">
            <a:extLst>
              <a:ext uri="{FF2B5EF4-FFF2-40B4-BE49-F238E27FC236}">
                <a16:creationId xmlns:a16="http://schemas.microsoft.com/office/drawing/2014/main" id="{83569EDB-B886-1E07-0078-ED27CB1197AD}"/>
              </a:ext>
            </a:extLst>
          </p:cNvPr>
          <p:cNvSpPr txBox="1"/>
          <p:nvPr/>
        </p:nvSpPr>
        <p:spPr>
          <a:xfrm>
            <a:off x="6905120" y="1004100"/>
            <a:ext cx="1749197" cy="307777"/>
          </a:xfrm>
          <a:prstGeom prst="rect">
            <a:avLst/>
          </a:prstGeom>
          <a:noFill/>
        </p:spPr>
        <p:txBody>
          <a:bodyPr wrap="none" rtlCol="0">
            <a:spAutoFit/>
          </a:bodyPr>
          <a:lstStyle/>
          <a:p>
            <a:r>
              <a:rPr lang="en-US" sz="1400" dirty="0"/>
              <a:t>Step 3: Train agents</a:t>
            </a:r>
          </a:p>
        </p:txBody>
      </p:sp>
      <p:sp>
        <p:nvSpPr>
          <p:cNvPr id="120" name="正方形/長方形 119">
            <a:extLst>
              <a:ext uri="{FF2B5EF4-FFF2-40B4-BE49-F238E27FC236}">
                <a16:creationId xmlns:a16="http://schemas.microsoft.com/office/drawing/2014/main" id="{37634806-0E8E-F537-3DD0-F4CBC5A02D30}"/>
              </a:ext>
            </a:extLst>
          </p:cNvPr>
          <p:cNvSpPr/>
          <p:nvPr/>
        </p:nvSpPr>
        <p:spPr>
          <a:xfrm>
            <a:off x="6270210" y="1481014"/>
            <a:ext cx="1248261" cy="1023257"/>
          </a:xfrm>
          <a:prstGeom prst="rect">
            <a:avLst/>
          </a:prstGeom>
          <a:solidFill>
            <a:schemeClr val="tx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1" name="テキスト ボックス 120">
            <a:extLst>
              <a:ext uri="{FF2B5EF4-FFF2-40B4-BE49-F238E27FC236}">
                <a16:creationId xmlns:a16="http://schemas.microsoft.com/office/drawing/2014/main" id="{3399F792-0BF6-B866-CD58-3ACA884DF626}"/>
              </a:ext>
            </a:extLst>
          </p:cNvPr>
          <p:cNvSpPr txBox="1"/>
          <p:nvPr/>
        </p:nvSpPr>
        <p:spPr>
          <a:xfrm>
            <a:off x="6534029" y="1831714"/>
            <a:ext cx="662361" cy="307777"/>
          </a:xfrm>
          <a:prstGeom prst="rect">
            <a:avLst/>
          </a:prstGeom>
          <a:noFill/>
        </p:spPr>
        <p:txBody>
          <a:bodyPr wrap="none" rtlCol="0">
            <a:spAutoFit/>
          </a:bodyPr>
          <a:lstStyle/>
          <a:p>
            <a:r>
              <a:rPr kumimoji="1" lang="en-US" altLang="ja-JP" sz="1400" dirty="0"/>
              <a:t>Agent</a:t>
            </a:r>
            <a:endParaRPr kumimoji="1" lang="ja-JP" altLang="en-US" sz="1400" dirty="0"/>
          </a:p>
        </p:txBody>
      </p:sp>
      <p:sp>
        <p:nvSpPr>
          <p:cNvPr id="122" name="正方形/長方形 121">
            <a:extLst>
              <a:ext uri="{FF2B5EF4-FFF2-40B4-BE49-F238E27FC236}">
                <a16:creationId xmlns:a16="http://schemas.microsoft.com/office/drawing/2014/main" id="{55B66007-298C-0055-8728-14CF7AD3771D}"/>
              </a:ext>
            </a:extLst>
          </p:cNvPr>
          <p:cNvSpPr/>
          <p:nvPr/>
        </p:nvSpPr>
        <p:spPr>
          <a:xfrm>
            <a:off x="8133234" y="1480456"/>
            <a:ext cx="1248262" cy="1023257"/>
          </a:xfrm>
          <a:prstGeom prst="rect">
            <a:avLst/>
          </a:prstGeom>
          <a:solidFill>
            <a:schemeClr val="tx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3" name="テキスト ボックス 122">
            <a:extLst>
              <a:ext uri="{FF2B5EF4-FFF2-40B4-BE49-F238E27FC236}">
                <a16:creationId xmlns:a16="http://schemas.microsoft.com/office/drawing/2014/main" id="{6E4E576F-E3AF-2719-A443-6D540A457953}"/>
              </a:ext>
            </a:extLst>
          </p:cNvPr>
          <p:cNvSpPr txBox="1"/>
          <p:nvPr/>
        </p:nvSpPr>
        <p:spPr>
          <a:xfrm>
            <a:off x="8358172" y="1829674"/>
            <a:ext cx="776175" cy="307777"/>
          </a:xfrm>
          <a:prstGeom prst="rect">
            <a:avLst/>
          </a:prstGeom>
          <a:noFill/>
        </p:spPr>
        <p:txBody>
          <a:bodyPr wrap="none" rtlCol="0">
            <a:spAutoFit/>
          </a:bodyPr>
          <a:lstStyle/>
          <a:p>
            <a:r>
              <a:rPr kumimoji="1" lang="en-US" altLang="ja-JP" sz="1400" dirty="0"/>
              <a:t>Reward</a:t>
            </a:r>
            <a:endParaRPr kumimoji="1" lang="ja-JP" altLang="en-US" sz="1400" dirty="0"/>
          </a:p>
        </p:txBody>
      </p:sp>
      <p:sp>
        <p:nvSpPr>
          <p:cNvPr id="129" name="テキスト ボックス 128">
            <a:extLst>
              <a:ext uri="{FF2B5EF4-FFF2-40B4-BE49-F238E27FC236}">
                <a16:creationId xmlns:a16="http://schemas.microsoft.com/office/drawing/2014/main" id="{514004B4-7740-7DE7-0340-02EF47EB52A5}"/>
              </a:ext>
            </a:extLst>
          </p:cNvPr>
          <p:cNvSpPr txBox="1"/>
          <p:nvPr/>
        </p:nvSpPr>
        <p:spPr>
          <a:xfrm rot="1776148">
            <a:off x="5277527" y="2596292"/>
            <a:ext cx="316112" cy="307777"/>
          </a:xfrm>
          <a:prstGeom prst="rect">
            <a:avLst/>
          </a:prstGeom>
          <a:noFill/>
        </p:spPr>
        <p:txBody>
          <a:bodyPr wrap="none" rtlCol="0">
            <a:spAutoFit/>
          </a:bodyPr>
          <a:lstStyle/>
          <a:p>
            <a:r>
              <a:rPr kumimoji="1" lang="en-US" altLang="ja-JP" sz="1400" dirty="0"/>
              <a:t>…</a:t>
            </a:r>
            <a:endParaRPr kumimoji="1" lang="ja-JP" altLang="en-US" sz="1400" dirty="0"/>
          </a:p>
        </p:txBody>
      </p:sp>
      <p:sp>
        <p:nvSpPr>
          <p:cNvPr id="132" name="テキスト ボックス 131">
            <a:extLst>
              <a:ext uri="{FF2B5EF4-FFF2-40B4-BE49-F238E27FC236}">
                <a16:creationId xmlns:a16="http://schemas.microsoft.com/office/drawing/2014/main" id="{14DFAF1C-3A7C-A663-9402-A5ED39534905}"/>
              </a:ext>
            </a:extLst>
          </p:cNvPr>
          <p:cNvSpPr txBox="1"/>
          <p:nvPr/>
        </p:nvSpPr>
        <p:spPr>
          <a:xfrm rot="1776148">
            <a:off x="7621936" y="2596849"/>
            <a:ext cx="316112" cy="307777"/>
          </a:xfrm>
          <a:prstGeom prst="rect">
            <a:avLst/>
          </a:prstGeom>
          <a:noFill/>
        </p:spPr>
        <p:txBody>
          <a:bodyPr wrap="none" rtlCol="0">
            <a:spAutoFit/>
          </a:bodyPr>
          <a:lstStyle/>
          <a:p>
            <a:r>
              <a:rPr kumimoji="1" lang="en-US" altLang="ja-JP" sz="1400" dirty="0"/>
              <a:t>…</a:t>
            </a:r>
            <a:endParaRPr kumimoji="1" lang="ja-JP" altLang="en-US" sz="1400" dirty="0"/>
          </a:p>
        </p:txBody>
      </p:sp>
      <p:sp>
        <p:nvSpPr>
          <p:cNvPr id="135" name="テキスト ボックス 134">
            <a:extLst>
              <a:ext uri="{FF2B5EF4-FFF2-40B4-BE49-F238E27FC236}">
                <a16:creationId xmlns:a16="http://schemas.microsoft.com/office/drawing/2014/main" id="{A22E6715-D675-ACA9-855B-CDAAD0EA212D}"/>
              </a:ext>
            </a:extLst>
          </p:cNvPr>
          <p:cNvSpPr txBox="1"/>
          <p:nvPr/>
        </p:nvSpPr>
        <p:spPr>
          <a:xfrm rot="1776148">
            <a:off x="9501924" y="2598663"/>
            <a:ext cx="316112" cy="307777"/>
          </a:xfrm>
          <a:prstGeom prst="rect">
            <a:avLst/>
          </a:prstGeom>
          <a:noFill/>
        </p:spPr>
        <p:txBody>
          <a:bodyPr wrap="none" rtlCol="0">
            <a:spAutoFit/>
          </a:bodyPr>
          <a:lstStyle/>
          <a:p>
            <a:r>
              <a:rPr kumimoji="1" lang="en-US" altLang="ja-JP" sz="1400" dirty="0"/>
              <a:t>…</a:t>
            </a:r>
            <a:endParaRPr kumimoji="1" lang="ja-JP" altLang="en-US" sz="1400" dirty="0"/>
          </a:p>
        </p:txBody>
      </p:sp>
      <p:cxnSp>
        <p:nvCxnSpPr>
          <p:cNvPr id="136" name="直線矢印コネクタ 135">
            <a:extLst>
              <a:ext uri="{FF2B5EF4-FFF2-40B4-BE49-F238E27FC236}">
                <a16:creationId xmlns:a16="http://schemas.microsoft.com/office/drawing/2014/main" id="{4680E282-22D1-5EF6-43D0-667080AB2C2B}"/>
              </a:ext>
            </a:extLst>
          </p:cNvPr>
          <p:cNvCxnSpPr>
            <a:cxnSpLocks/>
          </p:cNvCxnSpPr>
          <p:nvPr/>
        </p:nvCxnSpPr>
        <p:spPr>
          <a:xfrm flipH="1">
            <a:off x="7753350" y="2126791"/>
            <a:ext cx="304975"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9" name="正方形/長方形 138">
            <a:extLst>
              <a:ext uri="{FF2B5EF4-FFF2-40B4-BE49-F238E27FC236}">
                <a16:creationId xmlns:a16="http://schemas.microsoft.com/office/drawing/2014/main" id="{EEA6BBD9-CD22-DFEB-E73C-F167CD5C1559}"/>
              </a:ext>
            </a:extLst>
          </p:cNvPr>
          <p:cNvSpPr/>
          <p:nvPr/>
        </p:nvSpPr>
        <p:spPr>
          <a:xfrm>
            <a:off x="6273490" y="3080148"/>
            <a:ext cx="2115520" cy="1023257"/>
          </a:xfrm>
          <a:prstGeom prst="rect">
            <a:avLst/>
          </a:prstGeom>
          <a:solidFill>
            <a:schemeClr val="tx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0" name="テキスト ボックス 139">
            <a:extLst>
              <a:ext uri="{FF2B5EF4-FFF2-40B4-BE49-F238E27FC236}">
                <a16:creationId xmlns:a16="http://schemas.microsoft.com/office/drawing/2014/main" id="{A24EF358-0338-F2D2-F85E-1F56F48933C2}"/>
              </a:ext>
            </a:extLst>
          </p:cNvPr>
          <p:cNvSpPr txBox="1"/>
          <p:nvPr/>
        </p:nvSpPr>
        <p:spPr>
          <a:xfrm>
            <a:off x="7018016" y="3437887"/>
            <a:ext cx="626468" cy="307777"/>
          </a:xfrm>
          <a:prstGeom prst="rect">
            <a:avLst/>
          </a:prstGeom>
          <a:noFill/>
        </p:spPr>
        <p:txBody>
          <a:bodyPr wrap="square" rtlCol="0">
            <a:spAutoFit/>
          </a:bodyPr>
          <a:lstStyle/>
          <a:p>
            <a:r>
              <a:rPr kumimoji="1" lang="en-US" altLang="ja-JP" sz="1400" dirty="0"/>
              <a:t>State</a:t>
            </a:r>
            <a:endParaRPr kumimoji="1" lang="ja-JP" altLang="en-US" sz="1400" dirty="0"/>
          </a:p>
        </p:txBody>
      </p:sp>
      <p:cxnSp>
        <p:nvCxnSpPr>
          <p:cNvPr id="141" name="直線矢印コネクタ 140">
            <a:extLst>
              <a:ext uri="{FF2B5EF4-FFF2-40B4-BE49-F238E27FC236}">
                <a16:creationId xmlns:a16="http://schemas.microsoft.com/office/drawing/2014/main" id="{AF13D220-105D-8336-4A96-08F9226CDACC}"/>
              </a:ext>
            </a:extLst>
          </p:cNvPr>
          <p:cNvCxnSpPr>
            <a:cxnSpLocks/>
          </p:cNvCxnSpPr>
          <p:nvPr/>
        </p:nvCxnSpPr>
        <p:spPr>
          <a:xfrm>
            <a:off x="6983240" y="2731130"/>
            <a:ext cx="0" cy="354563"/>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4" name="正方形/長方形 143">
            <a:extLst>
              <a:ext uri="{FF2B5EF4-FFF2-40B4-BE49-F238E27FC236}">
                <a16:creationId xmlns:a16="http://schemas.microsoft.com/office/drawing/2014/main" id="{A6020973-0065-6030-B13E-F36061033B36}"/>
              </a:ext>
            </a:extLst>
          </p:cNvPr>
          <p:cNvSpPr/>
          <p:nvPr/>
        </p:nvSpPr>
        <p:spPr>
          <a:xfrm>
            <a:off x="6276840" y="4467358"/>
            <a:ext cx="2112170" cy="1023257"/>
          </a:xfrm>
          <a:prstGeom prst="rect">
            <a:avLst/>
          </a:prstGeom>
          <a:solidFill>
            <a:schemeClr val="tx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45" name="コネクタ: カギ線 144">
            <a:extLst>
              <a:ext uri="{FF2B5EF4-FFF2-40B4-BE49-F238E27FC236}">
                <a16:creationId xmlns:a16="http://schemas.microsoft.com/office/drawing/2014/main" id="{6B587A83-6758-B51E-7A2A-C3F18857FC7E}"/>
              </a:ext>
            </a:extLst>
          </p:cNvPr>
          <p:cNvCxnSpPr>
            <a:cxnSpLocks/>
            <a:stCxn id="112" idx="3"/>
            <a:endCxn id="144" idx="1"/>
          </p:cNvCxnSpPr>
          <p:nvPr/>
        </p:nvCxnSpPr>
        <p:spPr>
          <a:xfrm>
            <a:off x="5432908" y="4426277"/>
            <a:ext cx="843932" cy="552710"/>
          </a:xfrm>
          <a:prstGeom prst="bentConnector3">
            <a:avLst>
              <a:gd name="adj1" fmla="val 50000"/>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8" name="直線矢印コネクタ 147">
            <a:extLst>
              <a:ext uri="{FF2B5EF4-FFF2-40B4-BE49-F238E27FC236}">
                <a16:creationId xmlns:a16="http://schemas.microsoft.com/office/drawing/2014/main" id="{6813027A-BFF3-3212-63A5-A2D9D4735F9B}"/>
              </a:ext>
            </a:extLst>
          </p:cNvPr>
          <p:cNvCxnSpPr>
            <a:cxnSpLocks/>
            <a:stCxn id="128" idx="3"/>
          </p:cNvCxnSpPr>
          <p:nvPr/>
        </p:nvCxnSpPr>
        <p:spPr>
          <a:xfrm>
            <a:off x="5432909" y="2190740"/>
            <a:ext cx="814518"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1" name="テキスト ボックス 150">
            <a:extLst>
              <a:ext uri="{FF2B5EF4-FFF2-40B4-BE49-F238E27FC236}">
                <a16:creationId xmlns:a16="http://schemas.microsoft.com/office/drawing/2014/main" id="{2FF76309-767F-AF1A-9E21-C92678E679AB}"/>
              </a:ext>
            </a:extLst>
          </p:cNvPr>
          <p:cNvSpPr txBox="1"/>
          <p:nvPr/>
        </p:nvSpPr>
        <p:spPr>
          <a:xfrm>
            <a:off x="6949295" y="4825097"/>
            <a:ext cx="772447" cy="307777"/>
          </a:xfrm>
          <a:prstGeom prst="rect">
            <a:avLst/>
          </a:prstGeom>
          <a:noFill/>
        </p:spPr>
        <p:txBody>
          <a:bodyPr wrap="square" rtlCol="0">
            <a:spAutoFit/>
          </a:bodyPr>
          <a:lstStyle/>
          <a:p>
            <a:r>
              <a:rPr kumimoji="1" lang="en-US" altLang="ja-JP" sz="1400" dirty="0"/>
              <a:t>Action</a:t>
            </a:r>
            <a:endParaRPr kumimoji="1" lang="ja-JP" altLang="en-US" sz="1400" dirty="0"/>
          </a:p>
        </p:txBody>
      </p:sp>
      <p:sp>
        <p:nvSpPr>
          <p:cNvPr id="154" name="テキスト ボックス 153">
            <a:extLst>
              <a:ext uri="{FF2B5EF4-FFF2-40B4-BE49-F238E27FC236}">
                <a16:creationId xmlns:a16="http://schemas.microsoft.com/office/drawing/2014/main" id="{E005A408-CDC4-44B7-4699-7C406F3544EE}"/>
              </a:ext>
            </a:extLst>
          </p:cNvPr>
          <p:cNvSpPr txBox="1"/>
          <p:nvPr/>
        </p:nvSpPr>
        <p:spPr>
          <a:xfrm rot="1776148">
            <a:off x="8504319" y="5548605"/>
            <a:ext cx="316112" cy="307777"/>
          </a:xfrm>
          <a:prstGeom prst="rect">
            <a:avLst/>
          </a:prstGeom>
          <a:noFill/>
        </p:spPr>
        <p:txBody>
          <a:bodyPr wrap="none" rtlCol="0">
            <a:spAutoFit/>
          </a:bodyPr>
          <a:lstStyle/>
          <a:p>
            <a:r>
              <a:rPr kumimoji="1" lang="en-US" altLang="ja-JP" sz="1400" dirty="0"/>
              <a:t>…</a:t>
            </a:r>
            <a:endParaRPr kumimoji="1" lang="ja-JP" altLang="en-US" sz="1400" dirty="0"/>
          </a:p>
        </p:txBody>
      </p:sp>
      <p:cxnSp>
        <p:nvCxnSpPr>
          <p:cNvPr id="155" name="直線矢印コネクタ 154">
            <a:extLst>
              <a:ext uri="{FF2B5EF4-FFF2-40B4-BE49-F238E27FC236}">
                <a16:creationId xmlns:a16="http://schemas.microsoft.com/office/drawing/2014/main" id="{818A510B-EE30-E452-8E85-AF37D0439B3E}"/>
              </a:ext>
            </a:extLst>
          </p:cNvPr>
          <p:cNvCxnSpPr>
            <a:cxnSpLocks/>
            <a:stCxn id="139" idx="2"/>
          </p:cNvCxnSpPr>
          <p:nvPr/>
        </p:nvCxnSpPr>
        <p:spPr>
          <a:xfrm>
            <a:off x="7331250" y="4103405"/>
            <a:ext cx="0" cy="32287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2" name="コネクタ: カギ線 161">
            <a:extLst>
              <a:ext uri="{FF2B5EF4-FFF2-40B4-BE49-F238E27FC236}">
                <a16:creationId xmlns:a16="http://schemas.microsoft.com/office/drawing/2014/main" id="{F728C510-0CAC-60E9-6D1E-677449D79007}"/>
              </a:ext>
            </a:extLst>
          </p:cNvPr>
          <p:cNvCxnSpPr>
            <a:cxnSpLocks/>
          </p:cNvCxnSpPr>
          <p:nvPr/>
        </p:nvCxnSpPr>
        <p:spPr>
          <a:xfrm rot="5400000" flipH="1" flipV="1">
            <a:off x="7601571" y="3747159"/>
            <a:ext cx="2382695" cy="388739"/>
          </a:xfrm>
          <a:prstGeom prst="bentConnector3">
            <a:avLst>
              <a:gd name="adj1" fmla="val 430"/>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4" name="コネクタ: カギ線 173">
            <a:extLst>
              <a:ext uri="{FF2B5EF4-FFF2-40B4-BE49-F238E27FC236}">
                <a16:creationId xmlns:a16="http://schemas.microsoft.com/office/drawing/2014/main" id="{8F4F1661-C48D-77C0-B60C-BC16BAFFFB7D}"/>
              </a:ext>
            </a:extLst>
          </p:cNvPr>
          <p:cNvCxnSpPr>
            <a:stCxn id="112" idx="3"/>
            <a:endCxn id="139" idx="1"/>
          </p:cNvCxnSpPr>
          <p:nvPr/>
        </p:nvCxnSpPr>
        <p:spPr>
          <a:xfrm flipV="1">
            <a:off x="5432908" y="3591777"/>
            <a:ext cx="840582" cy="834500"/>
          </a:xfrm>
          <a:prstGeom prst="bentConnector3">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048242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コンテンツ プレースホルダー 1">
            <a:extLst>
              <a:ext uri="{FF2B5EF4-FFF2-40B4-BE49-F238E27FC236}">
                <a16:creationId xmlns:a16="http://schemas.microsoft.com/office/drawing/2014/main" id="{A69F8014-B60B-E06E-B259-E733D46851C0}"/>
              </a:ext>
            </a:extLst>
          </p:cNvPr>
          <p:cNvSpPr>
            <a:spLocks noGrp="1"/>
          </p:cNvSpPr>
          <p:nvPr>
            <p:ph sz="quarter" idx="17"/>
          </p:nvPr>
        </p:nvSpPr>
        <p:spPr>
          <a:xfrm>
            <a:off x="569340" y="904862"/>
            <a:ext cx="8767320" cy="5686438"/>
          </a:xfrm>
        </p:spPr>
        <p:txBody>
          <a:bodyPr/>
          <a:lstStyle/>
          <a:p>
            <a:r>
              <a:rPr kumimoji="1" lang="en-US" altLang="ja-JP" dirty="0">
                <a:solidFill>
                  <a:schemeClr val="tx1">
                    <a:lumMod val="20000"/>
                    <a:lumOff val="80000"/>
                  </a:schemeClr>
                </a:solidFill>
              </a:rPr>
              <a:t>1. Introduction and background</a:t>
            </a:r>
          </a:p>
          <a:p>
            <a:pPr marL="342900" indent="-342900">
              <a:buAutoNum type="arabicPeriod"/>
            </a:pPr>
            <a:endParaRPr kumimoji="1" lang="en-US" altLang="ja-JP" dirty="0">
              <a:solidFill>
                <a:schemeClr val="tx1">
                  <a:lumMod val="20000"/>
                  <a:lumOff val="80000"/>
                </a:schemeClr>
              </a:solidFill>
            </a:endParaRPr>
          </a:p>
          <a:p>
            <a:r>
              <a:rPr kumimoji="1" lang="en-US" altLang="ja-JP" dirty="0">
                <a:solidFill>
                  <a:schemeClr val="tx1">
                    <a:lumMod val="20000"/>
                    <a:lumOff val="80000"/>
                  </a:schemeClr>
                </a:solidFill>
              </a:rPr>
              <a:t>2. Objective</a:t>
            </a:r>
          </a:p>
          <a:p>
            <a:endParaRPr kumimoji="1" lang="en-US" altLang="ja-JP" dirty="0">
              <a:solidFill>
                <a:schemeClr val="tx1">
                  <a:lumMod val="20000"/>
                  <a:lumOff val="80000"/>
                </a:schemeClr>
              </a:solidFill>
            </a:endParaRPr>
          </a:p>
          <a:p>
            <a:r>
              <a:rPr kumimoji="1" lang="en-US" altLang="ja-JP" dirty="0">
                <a:solidFill>
                  <a:schemeClr val="tx1">
                    <a:lumMod val="20000"/>
                    <a:lumOff val="80000"/>
                  </a:schemeClr>
                </a:solidFill>
              </a:rPr>
              <a:t>3. Methodology</a:t>
            </a:r>
          </a:p>
          <a:p>
            <a:r>
              <a:rPr kumimoji="1" lang="en-US" altLang="ja-JP" sz="1200" dirty="0"/>
              <a:t>3.1 Step 1: </a:t>
            </a:r>
            <a:r>
              <a:rPr lang="en-US" altLang="ja-JP" sz="1200" dirty="0"/>
              <a:t>Data collection</a:t>
            </a:r>
          </a:p>
          <a:p>
            <a:r>
              <a:rPr kumimoji="1" lang="en-US" altLang="ja-JP" sz="1200" dirty="0"/>
              <a:t>       3.1.1 Data (demand, PV supply, wholesale price)</a:t>
            </a:r>
            <a:endParaRPr kumimoji="1" lang="ja-JP" altLang="en-US" sz="1200" dirty="0"/>
          </a:p>
          <a:p>
            <a:r>
              <a:rPr kumimoji="1" lang="en-US" altLang="ja-JP" sz="1200" dirty="0"/>
              <a:t>       3.1.2 Car usage survey </a:t>
            </a:r>
            <a:r>
              <a:rPr kumimoji="1" lang="ja-JP" altLang="en-US" sz="1200" dirty="0"/>
              <a:t>→ </a:t>
            </a:r>
            <a:r>
              <a:rPr kumimoji="1" lang="en-US" altLang="ja-JP" sz="1200" dirty="0"/>
              <a:t>Car usage data</a:t>
            </a:r>
          </a:p>
          <a:p>
            <a:r>
              <a:rPr kumimoji="1" lang="en-US" altLang="ja-JP" sz="1200" dirty="0"/>
              <a:t>       3.1.3 Technology parameter (battery charge/discharge speed limit, efficiency)</a:t>
            </a:r>
          </a:p>
          <a:p>
            <a:r>
              <a:rPr kumimoji="1" lang="en-US" altLang="ja-JP" sz="1200" dirty="0">
                <a:solidFill>
                  <a:schemeClr val="tx1">
                    <a:lumMod val="20000"/>
                    <a:lumOff val="80000"/>
                  </a:schemeClr>
                </a:solidFill>
              </a:rPr>
              <a:t>3.2 Step 2: </a:t>
            </a:r>
            <a:r>
              <a:rPr lang="en-US" altLang="ja-JP" sz="1200" dirty="0">
                <a:solidFill>
                  <a:schemeClr val="tx1">
                    <a:lumMod val="20000"/>
                    <a:lumOff val="80000"/>
                  </a:schemeClr>
                </a:solidFill>
              </a:rPr>
              <a:t>Model construction </a:t>
            </a:r>
            <a:r>
              <a:rPr kumimoji="1" lang="en-US" altLang="ja-JP" sz="1200" dirty="0">
                <a:solidFill>
                  <a:schemeClr val="tx1">
                    <a:lumMod val="20000"/>
                    <a:lumOff val="80000"/>
                  </a:schemeClr>
                </a:solidFill>
              </a:rPr>
              <a:t>	</a:t>
            </a:r>
          </a:p>
          <a:p>
            <a:r>
              <a:rPr kumimoji="1" lang="en-US" altLang="ja-JP" sz="1200" dirty="0">
                <a:solidFill>
                  <a:schemeClr val="tx1">
                    <a:lumMod val="20000"/>
                    <a:lumOff val="80000"/>
                  </a:schemeClr>
                </a:solidFill>
              </a:rPr>
              <a:t>       3.2.1 Generate agent</a:t>
            </a:r>
          </a:p>
          <a:p>
            <a:r>
              <a:rPr kumimoji="1" lang="en-US" altLang="ja-JP" sz="1200" dirty="0">
                <a:solidFill>
                  <a:schemeClr val="tx1">
                    <a:lumMod val="20000"/>
                    <a:lumOff val="80000"/>
                  </a:schemeClr>
                </a:solidFill>
              </a:rPr>
              <a:t>       3.2.2 Design P2P energy trading model</a:t>
            </a:r>
          </a:p>
          <a:p>
            <a:r>
              <a:rPr kumimoji="1" lang="en-US" altLang="ja-JP" sz="1200" dirty="0">
                <a:solidFill>
                  <a:schemeClr val="tx1">
                    <a:lumMod val="20000"/>
                    <a:lumOff val="80000"/>
                  </a:schemeClr>
                </a:solidFill>
              </a:rPr>
              <a:t>       3.2.3 Design non-P2P energy model</a:t>
            </a:r>
          </a:p>
          <a:p>
            <a:r>
              <a:rPr kumimoji="1" lang="en-US" altLang="ja-JP" sz="1200" dirty="0">
                <a:solidFill>
                  <a:schemeClr val="tx1">
                    <a:lumMod val="20000"/>
                    <a:lumOff val="80000"/>
                  </a:schemeClr>
                </a:solidFill>
              </a:rPr>
              <a:t>3.3 Step 3: Train agents</a:t>
            </a:r>
          </a:p>
          <a:p>
            <a:r>
              <a:rPr kumimoji="1" lang="en-US" altLang="ja-JP" sz="1200" dirty="0">
                <a:solidFill>
                  <a:schemeClr val="tx1">
                    <a:lumMod val="20000"/>
                    <a:lumOff val="80000"/>
                  </a:schemeClr>
                </a:solidFill>
              </a:rPr>
              <a:t>       3.3.1 Q table</a:t>
            </a:r>
          </a:p>
          <a:p>
            <a:r>
              <a:rPr kumimoji="1" lang="en-US" altLang="ja-JP" sz="1200" dirty="0">
                <a:solidFill>
                  <a:schemeClr val="tx1">
                    <a:lumMod val="20000"/>
                    <a:lumOff val="80000"/>
                  </a:schemeClr>
                </a:solidFill>
              </a:rPr>
              <a:t>       3.3.2 Reward</a:t>
            </a:r>
          </a:p>
          <a:p>
            <a:endParaRPr kumimoji="1" lang="en-US" altLang="ja-JP" sz="1200" dirty="0">
              <a:solidFill>
                <a:schemeClr val="tx1">
                  <a:lumMod val="20000"/>
                  <a:lumOff val="80000"/>
                </a:schemeClr>
              </a:solidFill>
            </a:endParaRPr>
          </a:p>
          <a:p>
            <a:r>
              <a:rPr kumimoji="1" lang="en-US" altLang="ja-JP" dirty="0">
                <a:solidFill>
                  <a:schemeClr val="tx1">
                    <a:lumMod val="20000"/>
                    <a:lumOff val="80000"/>
                  </a:schemeClr>
                </a:solidFill>
              </a:rPr>
              <a:t>4. Results and analysis</a:t>
            </a:r>
          </a:p>
          <a:p>
            <a:endParaRPr kumimoji="1" lang="en-US" altLang="ja-JP" dirty="0">
              <a:solidFill>
                <a:schemeClr val="tx1">
                  <a:lumMod val="20000"/>
                  <a:lumOff val="80000"/>
                </a:schemeClr>
              </a:solidFill>
            </a:endParaRPr>
          </a:p>
          <a:p>
            <a:r>
              <a:rPr kumimoji="1" lang="en-US" altLang="ja-JP" dirty="0">
                <a:solidFill>
                  <a:schemeClr val="tx1">
                    <a:lumMod val="20000"/>
                    <a:lumOff val="80000"/>
                  </a:schemeClr>
                </a:solidFill>
              </a:rPr>
              <a:t>5. Summary and future work</a:t>
            </a:r>
          </a:p>
          <a:p>
            <a:endParaRPr kumimoji="1" lang="ja-JP" altLang="en-US" dirty="0"/>
          </a:p>
        </p:txBody>
      </p:sp>
      <p:sp>
        <p:nvSpPr>
          <p:cNvPr id="3" name="コンテンツ プレースホルダー 2">
            <a:extLst>
              <a:ext uri="{FF2B5EF4-FFF2-40B4-BE49-F238E27FC236}">
                <a16:creationId xmlns:a16="http://schemas.microsoft.com/office/drawing/2014/main" id="{8144E4AA-4DE2-6001-26C0-0276D6F2A954}"/>
              </a:ext>
            </a:extLst>
          </p:cNvPr>
          <p:cNvSpPr>
            <a:spLocks noGrp="1"/>
          </p:cNvSpPr>
          <p:nvPr>
            <p:ph sz="quarter" idx="16"/>
          </p:nvPr>
        </p:nvSpPr>
        <p:spPr/>
        <p:txBody>
          <a:bodyPr/>
          <a:lstStyle/>
          <a:p>
            <a:r>
              <a:rPr kumimoji="1" lang="en-US" altLang="ja-JP" dirty="0"/>
              <a:t>CONTENT</a:t>
            </a:r>
            <a:endParaRPr kumimoji="1" lang="ja-JP" altLang="en-US" dirty="0"/>
          </a:p>
        </p:txBody>
      </p:sp>
    </p:spTree>
    <p:extLst>
      <p:ext uri="{BB962C8B-B14F-4D97-AF65-F5344CB8AC3E}">
        <p14:creationId xmlns:p14="http://schemas.microsoft.com/office/powerpoint/2010/main" val="8906571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D4C74A73-0A1E-4D88-1FAE-69EF86217424}"/>
              </a:ext>
            </a:extLst>
          </p:cNvPr>
          <p:cNvSpPr>
            <a:spLocks noGrp="1"/>
          </p:cNvSpPr>
          <p:nvPr>
            <p:ph sz="quarter" idx="16"/>
          </p:nvPr>
        </p:nvSpPr>
        <p:spPr/>
        <p:txBody>
          <a:bodyPr/>
          <a:lstStyle/>
          <a:p>
            <a:r>
              <a:rPr lang="en-US" dirty="0"/>
              <a:t>3.1.1 Data</a:t>
            </a:r>
          </a:p>
        </p:txBody>
      </p:sp>
      <p:graphicFrame>
        <p:nvGraphicFramePr>
          <p:cNvPr id="4" name="表 3">
            <a:extLst>
              <a:ext uri="{FF2B5EF4-FFF2-40B4-BE49-F238E27FC236}">
                <a16:creationId xmlns:a16="http://schemas.microsoft.com/office/drawing/2014/main" id="{4C64BD87-FB7E-6275-1700-13FFD63909E3}"/>
              </a:ext>
            </a:extLst>
          </p:cNvPr>
          <p:cNvGraphicFramePr>
            <a:graphicFrameLocks noGrp="1"/>
          </p:cNvGraphicFramePr>
          <p:nvPr>
            <p:extLst>
              <p:ext uri="{D42A27DB-BD31-4B8C-83A1-F6EECF244321}">
                <p14:modId xmlns:p14="http://schemas.microsoft.com/office/powerpoint/2010/main" val="703169722"/>
              </p:ext>
            </p:extLst>
          </p:nvPr>
        </p:nvGraphicFramePr>
        <p:xfrm>
          <a:off x="827314" y="1203365"/>
          <a:ext cx="8138556" cy="4661216"/>
        </p:xfrm>
        <a:graphic>
          <a:graphicData uri="http://schemas.openxmlformats.org/drawingml/2006/table">
            <a:tbl>
              <a:tblPr firstRow="1" firstCol="1" bandRow="1">
                <a:tableStyleId>{073A0DAA-6AF3-43AB-8588-CEC1D06C72B9}</a:tableStyleId>
              </a:tblPr>
              <a:tblGrid>
                <a:gridCol w="2118936">
                  <a:extLst>
                    <a:ext uri="{9D8B030D-6E8A-4147-A177-3AD203B41FA5}">
                      <a16:colId xmlns:a16="http://schemas.microsoft.com/office/drawing/2014/main" val="1028031971"/>
                    </a:ext>
                  </a:extLst>
                </a:gridCol>
                <a:gridCol w="2118936">
                  <a:extLst>
                    <a:ext uri="{9D8B030D-6E8A-4147-A177-3AD203B41FA5}">
                      <a16:colId xmlns:a16="http://schemas.microsoft.com/office/drawing/2014/main" val="2277309603"/>
                    </a:ext>
                  </a:extLst>
                </a:gridCol>
                <a:gridCol w="2006811">
                  <a:extLst>
                    <a:ext uri="{9D8B030D-6E8A-4147-A177-3AD203B41FA5}">
                      <a16:colId xmlns:a16="http://schemas.microsoft.com/office/drawing/2014/main" val="3991979406"/>
                    </a:ext>
                  </a:extLst>
                </a:gridCol>
                <a:gridCol w="1893873">
                  <a:extLst>
                    <a:ext uri="{9D8B030D-6E8A-4147-A177-3AD203B41FA5}">
                      <a16:colId xmlns:a16="http://schemas.microsoft.com/office/drawing/2014/main" val="124853328"/>
                    </a:ext>
                  </a:extLst>
                </a:gridCol>
              </a:tblGrid>
              <a:tr h="506743">
                <a:tc>
                  <a:txBody>
                    <a:bodyPr/>
                    <a:lstStyle/>
                    <a:p>
                      <a:endParaRPr lang="en-US" sz="1200" dirty="0"/>
                    </a:p>
                  </a:txBody>
                  <a:tcPr/>
                </a:tc>
                <a:tc>
                  <a:txBody>
                    <a:bodyPr/>
                    <a:lstStyle/>
                    <a:p>
                      <a:r>
                        <a:rPr lang="en-US" sz="1200" dirty="0"/>
                        <a:t>Consumption</a:t>
                      </a:r>
                    </a:p>
                  </a:txBody>
                  <a:tcPr/>
                </a:tc>
                <a:tc>
                  <a:txBody>
                    <a:bodyPr/>
                    <a:lstStyle/>
                    <a:p>
                      <a:r>
                        <a:rPr lang="en-US" sz="1200" dirty="0"/>
                        <a:t>PV production</a:t>
                      </a:r>
                    </a:p>
                  </a:txBody>
                  <a:tcPr/>
                </a:tc>
                <a:tc>
                  <a:txBody>
                    <a:bodyPr/>
                    <a:lstStyle/>
                    <a:p>
                      <a:r>
                        <a:rPr lang="en-US" sz="1200" dirty="0"/>
                        <a:t>Wholesale electricity price</a:t>
                      </a:r>
                    </a:p>
                  </a:txBody>
                  <a:tcPr/>
                </a:tc>
                <a:extLst>
                  <a:ext uri="{0D108BD9-81ED-4DB2-BD59-A6C34878D82A}">
                    <a16:rowId xmlns:a16="http://schemas.microsoft.com/office/drawing/2014/main" val="3683012988"/>
                  </a:ext>
                </a:extLst>
              </a:tr>
              <a:tr h="509349">
                <a:tc>
                  <a:txBody>
                    <a:bodyPr/>
                    <a:lstStyle/>
                    <a:p>
                      <a:r>
                        <a:rPr lang="en-US" dirty="0"/>
                        <a:t>Location</a:t>
                      </a:r>
                    </a:p>
                  </a:txBody>
                  <a:tcPr/>
                </a:tc>
                <a:tc>
                  <a:txBody>
                    <a:bodyPr/>
                    <a:lstStyle/>
                    <a:p>
                      <a:r>
                        <a:rPr lang="en-US" dirty="0"/>
                        <a:t>UC Barkley (California)</a:t>
                      </a:r>
                    </a:p>
                  </a:txBody>
                  <a:tcPr/>
                </a:tc>
                <a:tc>
                  <a:txBody>
                    <a:bodyPr/>
                    <a:lstStyle/>
                    <a:p>
                      <a:r>
                        <a:rPr lang="en-US" dirty="0"/>
                        <a:t>California (For each </a:t>
                      </a:r>
                      <a:r>
                        <a:rPr lang="en-US" dirty="0" err="1"/>
                        <a:t>zipcode</a:t>
                      </a:r>
                      <a:r>
                        <a:rPr lang="en-US" dirty="0"/>
                        <a:t>)</a:t>
                      </a:r>
                    </a:p>
                  </a:txBody>
                  <a:tcPr/>
                </a:tc>
                <a:tc>
                  <a:txBody>
                    <a:bodyPr/>
                    <a:lstStyle/>
                    <a:p>
                      <a:r>
                        <a:rPr lang="en-US" dirty="0"/>
                        <a:t>California (For each zone)</a:t>
                      </a:r>
                    </a:p>
                  </a:txBody>
                  <a:tcPr/>
                </a:tc>
                <a:extLst>
                  <a:ext uri="{0D108BD9-81ED-4DB2-BD59-A6C34878D82A}">
                    <a16:rowId xmlns:a16="http://schemas.microsoft.com/office/drawing/2014/main" val="3210442989"/>
                  </a:ext>
                </a:extLst>
              </a:tr>
              <a:tr h="1288808">
                <a:tc>
                  <a:txBody>
                    <a:bodyPr/>
                    <a:lstStyle/>
                    <a:p>
                      <a:r>
                        <a:rPr lang="en-US" dirty="0"/>
                        <a:t>Number of columns</a:t>
                      </a:r>
                    </a:p>
                  </a:txBody>
                  <a:tcPr/>
                </a:tc>
                <a:tc>
                  <a:txBody>
                    <a:bodyPr/>
                    <a:lstStyle/>
                    <a:p>
                      <a:r>
                        <a:rPr lang="en-US" dirty="0"/>
                        <a:t>62 (93)</a:t>
                      </a:r>
                    </a:p>
                    <a:p>
                      <a:r>
                        <a:rPr lang="en-US" sz="800" dirty="0"/>
                        <a:t>Columns with more than 10% missing values are discarded, and the remaining columns are linearly interpolated.</a:t>
                      </a:r>
                    </a:p>
                    <a:p>
                      <a:r>
                        <a:rPr lang="en-US" sz="800" dirty="0"/>
                        <a:t>Data columns with average value of more than 30 [</a:t>
                      </a:r>
                      <a:r>
                        <a:rPr lang="en-US" sz="800" dirty="0" err="1"/>
                        <a:t>Wh</a:t>
                      </a:r>
                      <a:r>
                        <a:rPr lang="en-US" sz="800" dirty="0"/>
                        <a:t>/m^2*h] and less than </a:t>
                      </a:r>
                      <a:br>
                        <a:rPr lang="en-US" sz="800" dirty="0"/>
                      </a:br>
                      <a:r>
                        <a:rPr lang="en-US" sz="800" dirty="0"/>
                        <a:t>1 </a:t>
                      </a:r>
                      <a:r>
                        <a:rPr lang="en-US" altLang="ja-JP" sz="800" dirty="0"/>
                        <a:t>[</a:t>
                      </a:r>
                      <a:r>
                        <a:rPr lang="en-US" altLang="ja-JP" sz="800" dirty="0" err="1"/>
                        <a:t>Wh</a:t>
                      </a:r>
                      <a:r>
                        <a:rPr lang="en-US" altLang="ja-JP" sz="800" dirty="0"/>
                        <a:t>/m^2*h] are discarded.</a:t>
                      </a:r>
                    </a:p>
                    <a:p>
                      <a:endParaRPr lang="en-US" sz="800" dirty="0"/>
                    </a:p>
                    <a:p>
                      <a:endParaRPr lang="en-US" sz="800" dirty="0"/>
                    </a:p>
                  </a:txBody>
                  <a:tcPr/>
                </a:tc>
                <a:tc>
                  <a:txBody>
                    <a:bodyPr/>
                    <a:lstStyle/>
                    <a:p>
                      <a:r>
                        <a:rPr lang="en-US" dirty="0"/>
                        <a:t>267</a:t>
                      </a:r>
                    </a:p>
                  </a:txBody>
                  <a:tcPr/>
                </a:tc>
                <a:tc>
                  <a:txBody>
                    <a:bodyPr/>
                    <a:lstStyle/>
                    <a:p>
                      <a:r>
                        <a:rPr lang="en-US" dirty="0"/>
                        <a:t>1 (4)</a:t>
                      </a:r>
                    </a:p>
                    <a:p>
                      <a:r>
                        <a:rPr lang="en-US" sz="800" dirty="0"/>
                        <a:t>Price data from</a:t>
                      </a:r>
                      <a:br>
                        <a:rPr lang="en-US" sz="800" dirty="0"/>
                      </a:br>
                      <a:r>
                        <a:rPr lang="en-US" sz="800" dirty="0"/>
                        <a:t>Pacific Gas &amp;</a:t>
                      </a:r>
                      <a:br>
                        <a:rPr lang="en-US" sz="800" dirty="0"/>
                      </a:br>
                      <a:r>
                        <a:rPr lang="en-US" sz="800" dirty="0"/>
                        <a:t>Electric is </a:t>
                      </a:r>
                      <a:br>
                        <a:rPr lang="en-US" sz="800" dirty="0"/>
                      </a:br>
                      <a:r>
                        <a:rPr lang="en-US" sz="800" dirty="0"/>
                        <a:t>selected.</a:t>
                      </a:r>
                    </a:p>
                  </a:txBody>
                  <a:tcPr/>
                </a:tc>
                <a:extLst>
                  <a:ext uri="{0D108BD9-81ED-4DB2-BD59-A6C34878D82A}">
                    <a16:rowId xmlns:a16="http://schemas.microsoft.com/office/drawing/2014/main" val="4094834131"/>
                  </a:ext>
                </a:extLst>
              </a:tr>
              <a:tr h="506743">
                <a:tc>
                  <a:txBody>
                    <a:bodyPr/>
                    <a:lstStyle/>
                    <a:p>
                      <a:r>
                        <a:rPr lang="en-US" dirty="0"/>
                        <a:t>Year</a:t>
                      </a:r>
                    </a:p>
                  </a:txBody>
                  <a:tcPr/>
                </a:tc>
                <a:tc>
                  <a:txBody>
                    <a:bodyPr/>
                    <a:lstStyle/>
                    <a:p>
                      <a:r>
                        <a:rPr lang="en-US" dirty="0"/>
                        <a:t>2016/1/1~2017/12/31</a:t>
                      </a:r>
                    </a:p>
                  </a:txBody>
                  <a:tcPr/>
                </a:tc>
                <a:tc>
                  <a:txBody>
                    <a:bodyPr/>
                    <a:lstStyle/>
                    <a:p>
                      <a:r>
                        <a:rPr lang="en-US" dirty="0"/>
                        <a:t>2011/1/1~2016/12/31</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dirty="0"/>
                        <a:t>2016/1/1~</a:t>
                      </a:r>
                    </a:p>
                  </a:txBody>
                  <a:tcPr/>
                </a:tc>
                <a:extLst>
                  <a:ext uri="{0D108BD9-81ED-4DB2-BD59-A6C34878D82A}">
                    <a16:rowId xmlns:a16="http://schemas.microsoft.com/office/drawing/2014/main" val="3325424039"/>
                  </a:ext>
                </a:extLst>
              </a:tr>
              <a:tr h="506743">
                <a:tc>
                  <a:txBody>
                    <a:bodyPr/>
                    <a:lstStyle/>
                    <a:p>
                      <a:r>
                        <a:rPr lang="en-US" dirty="0"/>
                        <a:t>Source</a:t>
                      </a:r>
                    </a:p>
                  </a:txBody>
                  <a:tcPr/>
                </a:tc>
                <a:tc>
                  <a:txBody>
                    <a:bodyPr/>
                    <a:lstStyle/>
                    <a:p>
                      <a:r>
                        <a:rPr lang="en-US" dirty="0"/>
                        <a:t>[1]</a:t>
                      </a:r>
                    </a:p>
                  </a:txBody>
                  <a:tcPr/>
                </a:tc>
                <a:tc>
                  <a:txBody>
                    <a:bodyPr/>
                    <a:lstStyle/>
                    <a:p>
                      <a:r>
                        <a:rPr lang="en-US" dirty="0"/>
                        <a:t>[2]</a:t>
                      </a:r>
                    </a:p>
                  </a:txBody>
                  <a:tcPr/>
                </a:tc>
                <a:tc>
                  <a:txBody>
                    <a:bodyPr/>
                    <a:lstStyle/>
                    <a:p>
                      <a:r>
                        <a:rPr lang="en-US" dirty="0"/>
                        <a:t>[3]</a:t>
                      </a:r>
                    </a:p>
                  </a:txBody>
                  <a:tcPr/>
                </a:tc>
                <a:extLst>
                  <a:ext uri="{0D108BD9-81ED-4DB2-BD59-A6C34878D82A}">
                    <a16:rowId xmlns:a16="http://schemas.microsoft.com/office/drawing/2014/main" val="1374433075"/>
                  </a:ext>
                </a:extLst>
              </a:tr>
              <a:tr h="1342830">
                <a:tc>
                  <a:txBody>
                    <a:bodyPr/>
                    <a:lstStyle/>
                    <a:p>
                      <a:r>
                        <a:rPr lang="en-US" dirty="0"/>
                        <a:t>Histogram (average)</a:t>
                      </a:r>
                    </a:p>
                  </a:txBody>
                  <a:tcPr/>
                </a:tc>
                <a:tc>
                  <a:txBody>
                    <a:bodyPr/>
                    <a:lstStyle/>
                    <a:p>
                      <a:endParaRPr lang="en-US" dirty="0"/>
                    </a:p>
                    <a:p>
                      <a:endParaRPr lang="en-US" dirty="0"/>
                    </a:p>
                    <a:p>
                      <a:endParaRPr lang="en-US" dirty="0"/>
                    </a:p>
                    <a:p>
                      <a:endParaRPr lang="en-US" dirty="0"/>
                    </a:p>
                    <a:p>
                      <a:endParaRPr lang="en-US" dirty="0"/>
                    </a:p>
                    <a:p>
                      <a:endParaRPr lang="en-US" dirty="0"/>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1021101085"/>
                  </a:ext>
                </a:extLst>
              </a:tr>
            </a:tbl>
          </a:graphicData>
        </a:graphic>
      </p:graphicFrame>
      <p:sp>
        <p:nvSpPr>
          <p:cNvPr id="9" name="テキスト ボックス 8">
            <a:extLst>
              <a:ext uri="{FF2B5EF4-FFF2-40B4-BE49-F238E27FC236}">
                <a16:creationId xmlns:a16="http://schemas.microsoft.com/office/drawing/2014/main" id="{33E7633F-E11C-1FAA-9EA3-C0FFFA4E11ED}"/>
              </a:ext>
            </a:extLst>
          </p:cNvPr>
          <p:cNvSpPr txBox="1"/>
          <p:nvPr/>
        </p:nvSpPr>
        <p:spPr>
          <a:xfrm>
            <a:off x="123825" y="6176596"/>
            <a:ext cx="9669359" cy="461665"/>
          </a:xfrm>
          <a:prstGeom prst="rect">
            <a:avLst/>
          </a:prstGeom>
          <a:noFill/>
        </p:spPr>
        <p:txBody>
          <a:bodyPr wrap="square">
            <a:spAutoFit/>
          </a:bodyPr>
          <a:lstStyle/>
          <a:p>
            <a:r>
              <a:rPr lang="en-US" sz="600" dirty="0"/>
              <a:t>[1] </a:t>
            </a:r>
            <a:r>
              <a:rPr lang="en-US" sz="600" dirty="0">
                <a:hlinkClick r:id="rId2"/>
              </a:rPr>
              <a:t>https://www.kaggle.com/code/claytonmiller/building-data-genome-project-2-overview/data</a:t>
            </a:r>
            <a:endParaRPr lang="en-US" sz="600" dirty="0"/>
          </a:p>
          <a:p>
            <a:r>
              <a:rPr lang="en-US" sz="600" dirty="0"/>
              <a:t>[2] </a:t>
            </a:r>
            <a:r>
              <a:rPr lang="en-US" sz="600" dirty="0">
                <a:hlinkClick r:id="rId3"/>
              </a:rPr>
              <a:t>https://www.californiadgstats.ca.gov/downloads/</a:t>
            </a:r>
            <a:endParaRPr lang="en-US" sz="600" dirty="0"/>
          </a:p>
          <a:p>
            <a:r>
              <a:rPr lang="en-US" sz="600" dirty="0"/>
              <a:t>[3] </a:t>
            </a:r>
            <a:r>
              <a:rPr lang="en-US" sz="600" dirty="0">
                <a:hlinkClick r:id="rId4"/>
              </a:rPr>
              <a:t>https://www.caiso.com/Pages/default.aspx</a:t>
            </a:r>
            <a:endParaRPr lang="en-US" sz="600" dirty="0"/>
          </a:p>
          <a:p>
            <a:endParaRPr lang="en-US" sz="600" dirty="0"/>
          </a:p>
        </p:txBody>
      </p:sp>
      <p:grpSp>
        <p:nvGrpSpPr>
          <p:cNvPr id="19" name="グループ化 18">
            <a:extLst>
              <a:ext uri="{FF2B5EF4-FFF2-40B4-BE49-F238E27FC236}">
                <a16:creationId xmlns:a16="http://schemas.microsoft.com/office/drawing/2014/main" id="{ADB93099-DD10-5FC9-97C7-16AFD58D09B6}"/>
              </a:ext>
            </a:extLst>
          </p:cNvPr>
          <p:cNvGrpSpPr/>
          <p:nvPr/>
        </p:nvGrpSpPr>
        <p:grpSpPr>
          <a:xfrm>
            <a:off x="3148724" y="2253429"/>
            <a:ext cx="5817146" cy="3616650"/>
            <a:chOff x="3148724" y="2253429"/>
            <a:chExt cx="5817146" cy="3616650"/>
          </a:xfrm>
        </p:grpSpPr>
        <p:pic>
          <p:nvPicPr>
            <p:cNvPr id="8" name="図 7" descr="マップ&#10;&#10;自動的に生成された説明">
              <a:extLst>
                <a:ext uri="{FF2B5EF4-FFF2-40B4-BE49-F238E27FC236}">
                  <a16:creationId xmlns:a16="http://schemas.microsoft.com/office/drawing/2014/main" id="{74DAF10F-F72D-EAC7-5A64-C098530DEF0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917600" y="2253429"/>
              <a:ext cx="1031891" cy="1175572"/>
            </a:xfrm>
            <a:prstGeom prst="rect">
              <a:avLst/>
            </a:prstGeom>
          </p:spPr>
        </p:pic>
        <p:sp>
          <p:nvSpPr>
            <p:cNvPr id="12" name="テキスト ボックス 11">
              <a:extLst>
                <a:ext uri="{FF2B5EF4-FFF2-40B4-BE49-F238E27FC236}">
                  <a16:creationId xmlns:a16="http://schemas.microsoft.com/office/drawing/2014/main" id="{3927BEDA-F31D-EF01-0200-5B088585225F}"/>
                </a:ext>
              </a:extLst>
            </p:cNvPr>
            <p:cNvSpPr txBox="1"/>
            <p:nvPr/>
          </p:nvSpPr>
          <p:spPr>
            <a:xfrm>
              <a:off x="3148724" y="5654635"/>
              <a:ext cx="1706521" cy="215444"/>
            </a:xfrm>
            <a:prstGeom prst="rect">
              <a:avLst/>
            </a:prstGeom>
            <a:noFill/>
          </p:spPr>
          <p:txBody>
            <a:bodyPr wrap="square">
              <a:spAutoFit/>
            </a:bodyPr>
            <a:lstStyle/>
            <a:p>
              <a:r>
                <a:rPr lang="en-US" sz="800" dirty="0"/>
                <a:t>Consumption [</a:t>
              </a:r>
              <a:r>
                <a:rPr lang="en-US" sz="800" dirty="0" err="1"/>
                <a:t>Wh</a:t>
              </a:r>
              <a:r>
                <a:rPr lang="en-US" sz="800" dirty="0"/>
                <a:t>/m^2 per hour]</a:t>
              </a:r>
            </a:p>
          </p:txBody>
        </p:sp>
        <p:pic>
          <p:nvPicPr>
            <p:cNvPr id="14" name="図 13">
              <a:extLst>
                <a:ext uri="{FF2B5EF4-FFF2-40B4-BE49-F238E27FC236}">
                  <a16:creationId xmlns:a16="http://schemas.microsoft.com/office/drawing/2014/main" id="{32467222-DBCB-4892-A245-F734E254CE88}"/>
                </a:ext>
              </a:extLst>
            </p:cNvPr>
            <p:cNvPicPr>
              <a:picLocks noChangeAspect="1"/>
            </p:cNvPicPr>
            <p:nvPr/>
          </p:nvPicPr>
          <p:blipFill>
            <a:blip r:embed="rId6"/>
            <a:stretch>
              <a:fillRect/>
            </a:stretch>
          </p:blipFill>
          <p:spPr>
            <a:xfrm>
              <a:off x="5072095" y="4691121"/>
              <a:ext cx="1993723" cy="987262"/>
            </a:xfrm>
            <a:prstGeom prst="rect">
              <a:avLst/>
            </a:prstGeom>
          </p:spPr>
        </p:pic>
        <p:sp>
          <p:nvSpPr>
            <p:cNvPr id="15" name="テキスト ボックス 14">
              <a:extLst>
                <a:ext uri="{FF2B5EF4-FFF2-40B4-BE49-F238E27FC236}">
                  <a16:creationId xmlns:a16="http://schemas.microsoft.com/office/drawing/2014/main" id="{61512E75-A90A-044D-B7F8-21C8A30B1E45}"/>
                </a:ext>
              </a:extLst>
            </p:cNvPr>
            <p:cNvSpPr txBox="1"/>
            <p:nvPr/>
          </p:nvSpPr>
          <p:spPr>
            <a:xfrm>
              <a:off x="5204036" y="5649139"/>
              <a:ext cx="1706521" cy="215444"/>
            </a:xfrm>
            <a:prstGeom prst="rect">
              <a:avLst/>
            </a:prstGeom>
            <a:noFill/>
          </p:spPr>
          <p:txBody>
            <a:bodyPr wrap="square">
              <a:spAutoFit/>
            </a:bodyPr>
            <a:lstStyle/>
            <a:p>
              <a:r>
                <a:rPr lang="en-US" sz="800" dirty="0"/>
                <a:t>Production [kWh/kW per hour]</a:t>
              </a:r>
            </a:p>
          </p:txBody>
        </p:sp>
        <p:pic>
          <p:nvPicPr>
            <p:cNvPr id="17" name="図 16">
              <a:extLst>
                <a:ext uri="{FF2B5EF4-FFF2-40B4-BE49-F238E27FC236}">
                  <a16:creationId xmlns:a16="http://schemas.microsoft.com/office/drawing/2014/main" id="{6187F7CB-D594-1C56-A64C-19D3A7BD9F17}"/>
                </a:ext>
              </a:extLst>
            </p:cNvPr>
            <p:cNvPicPr>
              <a:picLocks noChangeAspect="1"/>
            </p:cNvPicPr>
            <p:nvPr/>
          </p:nvPicPr>
          <p:blipFill>
            <a:blip r:embed="rId7"/>
            <a:stretch>
              <a:fillRect/>
            </a:stretch>
          </p:blipFill>
          <p:spPr>
            <a:xfrm>
              <a:off x="7086941" y="4691121"/>
              <a:ext cx="1878929" cy="987262"/>
            </a:xfrm>
            <a:prstGeom prst="rect">
              <a:avLst/>
            </a:prstGeom>
          </p:spPr>
        </p:pic>
        <p:sp>
          <p:nvSpPr>
            <p:cNvPr id="18" name="テキスト ボックス 17">
              <a:extLst>
                <a:ext uri="{FF2B5EF4-FFF2-40B4-BE49-F238E27FC236}">
                  <a16:creationId xmlns:a16="http://schemas.microsoft.com/office/drawing/2014/main" id="{6D002208-BCAF-E4FD-623E-8F7A56BC4041}"/>
                </a:ext>
              </a:extLst>
            </p:cNvPr>
            <p:cNvSpPr txBox="1"/>
            <p:nvPr/>
          </p:nvSpPr>
          <p:spPr>
            <a:xfrm>
              <a:off x="7525004" y="5649139"/>
              <a:ext cx="1002801" cy="215444"/>
            </a:xfrm>
            <a:prstGeom prst="rect">
              <a:avLst/>
            </a:prstGeom>
            <a:noFill/>
          </p:spPr>
          <p:txBody>
            <a:bodyPr wrap="square">
              <a:spAutoFit/>
            </a:bodyPr>
            <a:lstStyle/>
            <a:p>
              <a:r>
                <a:rPr lang="en-US" sz="800" dirty="0"/>
                <a:t>Price [cents/kWh]</a:t>
              </a:r>
            </a:p>
          </p:txBody>
        </p:sp>
      </p:grpSp>
      <p:pic>
        <p:nvPicPr>
          <p:cNvPr id="5" name="図 4">
            <a:extLst>
              <a:ext uri="{FF2B5EF4-FFF2-40B4-BE49-F238E27FC236}">
                <a16:creationId xmlns:a16="http://schemas.microsoft.com/office/drawing/2014/main" id="{9244025A-8830-BFB2-F8C4-E36946F264EB}"/>
              </a:ext>
            </a:extLst>
          </p:cNvPr>
          <p:cNvPicPr>
            <a:picLocks noChangeAspect="1"/>
          </p:cNvPicPr>
          <p:nvPr/>
        </p:nvPicPr>
        <p:blipFill>
          <a:blip r:embed="rId8"/>
          <a:srcRect t="5436"/>
          <a:stretch/>
        </p:blipFill>
        <p:spPr>
          <a:xfrm>
            <a:off x="2969839" y="4544786"/>
            <a:ext cx="2069593" cy="1137556"/>
          </a:xfrm>
          <a:prstGeom prst="rect">
            <a:avLst/>
          </a:prstGeom>
        </p:spPr>
      </p:pic>
    </p:spTree>
    <p:extLst>
      <p:ext uri="{BB962C8B-B14F-4D97-AF65-F5344CB8AC3E}">
        <p14:creationId xmlns:p14="http://schemas.microsoft.com/office/powerpoint/2010/main" val="6928956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DB2859CD-DD42-C74E-0251-BCA6ABC71D8E}"/>
              </a:ext>
            </a:extLst>
          </p:cNvPr>
          <p:cNvSpPr>
            <a:spLocks noGrp="1"/>
          </p:cNvSpPr>
          <p:nvPr>
            <p:ph sz="quarter" idx="16"/>
          </p:nvPr>
        </p:nvSpPr>
        <p:spPr/>
        <p:txBody>
          <a:bodyPr/>
          <a:lstStyle/>
          <a:p>
            <a:r>
              <a:rPr lang="en-US" altLang="ja-JP" dirty="0"/>
              <a:t>3.1.2 Car usage survey </a:t>
            </a:r>
            <a:r>
              <a:rPr lang="ja-JP" altLang="en-US" dirty="0"/>
              <a:t>→ </a:t>
            </a:r>
            <a:r>
              <a:rPr lang="en-US" altLang="ja-JP" dirty="0"/>
              <a:t>car usage data</a:t>
            </a:r>
          </a:p>
        </p:txBody>
      </p:sp>
      <p:graphicFrame>
        <p:nvGraphicFramePr>
          <p:cNvPr id="4" name="表 3">
            <a:extLst>
              <a:ext uri="{FF2B5EF4-FFF2-40B4-BE49-F238E27FC236}">
                <a16:creationId xmlns:a16="http://schemas.microsoft.com/office/drawing/2014/main" id="{67E6FA68-1F99-E885-10BC-2A1318AFB7C4}"/>
              </a:ext>
            </a:extLst>
          </p:cNvPr>
          <p:cNvGraphicFramePr>
            <a:graphicFrameLocks noGrp="1"/>
          </p:cNvGraphicFramePr>
          <p:nvPr>
            <p:extLst>
              <p:ext uri="{D42A27DB-BD31-4B8C-83A1-F6EECF244321}">
                <p14:modId xmlns:p14="http://schemas.microsoft.com/office/powerpoint/2010/main" val="1089471599"/>
              </p:ext>
            </p:extLst>
          </p:nvPr>
        </p:nvGraphicFramePr>
        <p:xfrm>
          <a:off x="379828" y="1096278"/>
          <a:ext cx="8661373" cy="3030824"/>
        </p:xfrm>
        <a:graphic>
          <a:graphicData uri="http://schemas.openxmlformats.org/drawingml/2006/table">
            <a:tbl>
              <a:tblPr firstRow="1" bandRow="1">
                <a:tableStyleId>{073A0DAA-6AF3-43AB-8588-CEC1D06C72B9}</a:tableStyleId>
              </a:tblPr>
              <a:tblGrid>
                <a:gridCol w="2243797">
                  <a:extLst>
                    <a:ext uri="{9D8B030D-6E8A-4147-A177-3AD203B41FA5}">
                      <a16:colId xmlns:a16="http://schemas.microsoft.com/office/drawing/2014/main" val="2081844268"/>
                    </a:ext>
                  </a:extLst>
                </a:gridCol>
                <a:gridCol w="5412544">
                  <a:extLst>
                    <a:ext uri="{9D8B030D-6E8A-4147-A177-3AD203B41FA5}">
                      <a16:colId xmlns:a16="http://schemas.microsoft.com/office/drawing/2014/main" val="2099169623"/>
                    </a:ext>
                  </a:extLst>
                </a:gridCol>
                <a:gridCol w="1005032">
                  <a:extLst>
                    <a:ext uri="{9D8B030D-6E8A-4147-A177-3AD203B41FA5}">
                      <a16:colId xmlns:a16="http://schemas.microsoft.com/office/drawing/2014/main" val="838983769"/>
                    </a:ext>
                  </a:extLst>
                </a:gridCol>
              </a:tblGrid>
              <a:tr h="378853">
                <a:tc>
                  <a:txBody>
                    <a:bodyPr/>
                    <a:lstStyle/>
                    <a:p>
                      <a:r>
                        <a:rPr lang="en-US" dirty="0"/>
                        <a:t>Annual mileage [km/year]</a:t>
                      </a:r>
                    </a:p>
                  </a:txBody>
                  <a:tcPr/>
                </a:tc>
                <a:tc>
                  <a:txBody>
                    <a:bodyPr/>
                    <a:lstStyle/>
                    <a:p>
                      <a:r>
                        <a:rPr lang="en-US" dirty="0"/>
                        <a:t>Usage frequency</a:t>
                      </a:r>
                    </a:p>
                  </a:txBody>
                  <a:tcPr/>
                </a:tc>
                <a:tc>
                  <a:txBody>
                    <a:bodyPr/>
                    <a:lstStyle/>
                    <a:p>
                      <a:r>
                        <a:rPr lang="en-US" dirty="0"/>
                        <a:t>Ratio [%]</a:t>
                      </a:r>
                    </a:p>
                  </a:txBody>
                  <a:tcPr/>
                </a:tc>
                <a:extLst>
                  <a:ext uri="{0D108BD9-81ED-4DB2-BD59-A6C34878D82A}">
                    <a16:rowId xmlns:a16="http://schemas.microsoft.com/office/drawing/2014/main" val="1061694334"/>
                  </a:ext>
                </a:extLst>
              </a:tr>
              <a:tr h="378853">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altLang="ja-JP" sz="1350" b="0" kern="1200" dirty="0">
                          <a:solidFill>
                            <a:schemeClr val="dk1"/>
                          </a:solidFill>
                          <a:effectLst/>
                          <a:latin typeface="+mn-lt"/>
                          <a:ea typeface="+mn-ea"/>
                          <a:cs typeface="+mn-cs"/>
                        </a:rPr>
                        <a:t>~ 3000</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altLang="ja-JP" sz="1350" b="0" kern="1200" dirty="0">
                          <a:solidFill>
                            <a:schemeClr val="dk1"/>
                          </a:solidFill>
                          <a:effectLst/>
                          <a:latin typeface="+mn-lt"/>
                          <a:ea typeface="+mn-ea"/>
                          <a:cs typeface="+mn-cs"/>
                        </a:rPr>
                        <a:t>Do not ride often</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350" b="0" kern="1200" dirty="0">
                          <a:solidFill>
                            <a:schemeClr val="dk1"/>
                          </a:solidFill>
                          <a:effectLst/>
                          <a:latin typeface="+mn-lt"/>
                          <a:ea typeface="+mn-ea"/>
                          <a:cs typeface="+mn-cs"/>
                        </a:rPr>
                        <a:t>12.9</a:t>
                      </a:r>
                    </a:p>
                  </a:txBody>
                  <a:tcPr/>
                </a:tc>
                <a:extLst>
                  <a:ext uri="{0D108BD9-81ED-4DB2-BD59-A6C34878D82A}">
                    <a16:rowId xmlns:a16="http://schemas.microsoft.com/office/drawing/2014/main" val="484519250"/>
                  </a:ext>
                </a:extLst>
              </a:tr>
              <a:tr h="378853">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altLang="ja-JP" sz="1350" b="0" kern="1200" dirty="0">
                          <a:solidFill>
                            <a:schemeClr val="dk1"/>
                          </a:solidFill>
                          <a:effectLst/>
                          <a:latin typeface="+mn-lt"/>
                          <a:ea typeface="+mn-ea"/>
                          <a:cs typeface="+mn-cs"/>
                        </a:rPr>
                        <a:t>3000 ~ 5000</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altLang="ja-JP" sz="1350" b="0" kern="1200" dirty="0">
                          <a:solidFill>
                            <a:schemeClr val="dk1"/>
                          </a:solidFill>
                          <a:effectLst/>
                          <a:latin typeface="+mn-lt"/>
                          <a:ea typeface="+mn-ea"/>
                          <a:cs typeface="+mn-cs"/>
                        </a:rPr>
                        <a:t>Mostly for nearby shopping</a:t>
                      </a:r>
                    </a:p>
                  </a:txBody>
                  <a:tcPr/>
                </a:tc>
                <a:tc>
                  <a:txBody>
                    <a:bodyPr/>
                    <a:lstStyle/>
                    <a:p>
                      <a:r>
                        <a:rPr lang="en-US" dirty="0"/>
                        <a:t>25.8</a:t>
                      </a:r>
                    </a:p>
                  </a:txBody>
                  <a:tcPr/>
                </a:tc>
                <a:extLst>
                  <a:ext uri="{0D108BD9-81ED-4DB2-BD59-A6C34878D82A}">
                    <a16:rowId xmlns:a16="http://schemas.microsoft.com/office/drawing/2014/main" val="2329611386"/>
                  </a:ext>
                </a:extLst>
              </a:tr>
              <a:tr h="378853">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altLang="ja-JP" sz="1350" b="0" kern="1200" dirty="0">
                          <a:solidFill>
                            <a:schemeClr val="dk1"/>
                          </a:solidFill>
                          <a:effectLst/>
                          <a:latin typeface="+mn-lt"/>
                          <a:ea typeface="+mn-ea"/>
                          <a:cs typeface="+mn-cs"/>
                        </a:rPr>
                        <a:t>5000 ~ 7000</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altLang="ja-JP" sz="1350" b="0" kern="1200" dirty="0">
                          <a:solidFill>
                            <a:schemeClr val="dk1"/>
                          </a:solidFill>
                          <a:effectLst/>
                          <a:latin typeface="+mn-lt"/>
                          <a:ea typeface="+mn-ea"/>
                          <a:cs typeface="+mn-cs"/>
                        </a:rPr>
                        <a:t>Mostly for commuting to work or school (approx. 30 min/one way)</a:t>
                      </a:r>
                    </a:p>
                  </a:txBody>
                  <a:tcPr/>
                </a:tc>
                <a:tc>
                  <a:txBody>
                    <a:bodyPr/>
                    <a:lstStyle/>
                    <a:p>
                      <a:r>
                        <a:rPr lang="en-US" dirty="0"/>
                        <a:t>22.5</a:t>
                      </a:r>
                    </a:p>
                  </a:txBody>
                  <a:tcPr/>
                </a:tc>
                <a:extLst>
                  <a:ext uri="{0D108BD9-81ED-4DB2-BD59-A6C34878D82A}">
                    <a16:rowId xmlns:a16="http://schemas.microsoft.com/office/drawing/2014/main" val="2435684139"/>
                  </a:ext>
                </a:extLst>
              </a:tr>
              <a:tr h="378853">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altLang="ja-JP" sz="1350" b="0" kern="1200" dirty="0">
                          <a:solidFill>
                            <a:schemeClr val="dk1"/>
                          </a:solidFill>
                          <a:effectLst/>
                          <a:latin typeface="+mn-lt"/>
                          <a:ea typeface="+mn-ea"/>
                          <a:cs typeface="+mn-cs"/>
                        </a:rPr>
                        <a:t>7000 ~ 9000</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altLang="ja-JP" sz="1350" b="0" kern="1200" dirty="0">
                          <a:solidFill>
                            <a:schemeClr val="dk1"/>
                          </a:solidFill>
                          <a:effectLst/>
                          <a:latin typeface="+mn-lt"/>
                          <a:ea typeface="+mn-ea"/>
                          <a:cs typeface="+mn-cs"/>
                        </a:rPr>
                        <a:t>Mostly used on weekends, sometimes trips</a:t>
                      </a:r>
                    </a:p>
                  </a:txBody>
                  <a:tcPr/>
                </a:tc>
                <a:tc>
                  <a:txBody>
                    <a:bodyPr/>
                    <a:lstStyle/>
                    <a:p>
                      <a:r>
                        <a:rPr lang="en-US" dirty="0"/>
                        <a:t>14.8</a:t>
                      </a:r>
                    </a:p>
                  </a:txBody>
                  <a:tcPr/>
                </a:tc>
                <a:extLst>
                  <a:ext uri="{0D108BD9-81ED-4DB2-BD59-A6C34878D82A}">
                    <a16:rowId xmlns:a16="http://schemas.microsoft.com/office/drawing/2014/main" val="3916366717"/>
                  </a:ext>
                </a:extLst>
              </a:tr>
              <a:tr h="378853">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altLang="ja-JP" sz="1350" b="0" kern="1200" dirty="0">
                          <a:solidFill>
                            <a:schemeClr val="dk1"/>
                          </a:solidFill>
                          <a:effectLst/>
                          <a:latin typeface="+mn-lt"/>
                          <a:ea typeface="+mn-ea"/>
                          <a:cs typeface="+mn-cs"/>
                        </a:rPr>
                        <a:t>9000 ~ 11000</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altLang="ja-JP" sz="1350" b="0" kern="1200" dirty="0">
                          <a:solidFill>
                            <a:schemeClr val="dk1"/>
                          </a:solidFill>
                          <a:effectLst/>
                          <a:latin typeface="+mn-lt"/>
                          <a:ea typeface="+mn-ea"/>
                          <a:cs typeface="+mn-cs"/>
                        </a:rPr>
                        <a:t>Mostly for commuting to work or school (approx. 60 min/one way)</a:t>
                      </a:r>
                    </a:p>
                  </a:txBody>
                  <a:tcPr/>
                </a:tc>
                <a:tc>
                  <a:txBody>
                    <a:bodyPr/>
                    <a:lstStyle/>
                    <a:p>
                      <a:r>
                        <a:rPr lang="en-US" dirty="0"/>
                        <a:t>13.8</a:t>
                      </a:r>
                    </a:p>
                  </a:txBody>
                  <a:tcPr/>
                </a:tc>
                <a:extLst>
                  <a:ext uri="{0D108BD9-81ED-4DB2-BD59-A6C34878D82A}">
                    <a16:rowId xmlns:a16="http://schemas.microsoft.com/office/drawing/2014/main" val="1247754287"/>
                  </a:ext>
                </a:extLst>
              </a:tr>
              <a:tr h="378853">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altLang="ja-JP" sz="1350" b="0" kern="1200" dirty="0">
                          <a:solidFill>
                            <a:schemeClr val="dk1"/>
                          </a:solidFill>
                          <a:effectLst/>
                          <a:latin typeface="+mn-lt"/>
                          <a:ea typeface="+mn-ea"/>
                          <a:cs typeface="+mn-cs"/>
                        </a:rPr>
                        <a:t>11000 ~ 16000</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altLang="ja-JP" sz="1350" b="0" kern="1200" dirty="0">
                          <a:solidFill>
                            <a:schemeClr val="dk1"/>
                          </a:solidFill>
                          <a:effectLst/>
                          <a:latin typeface="+mn-lt"/>
                          <a:ea typeface="+mn-ea"/>
                          <a:cs typeface="+mn-cs"/>
                        </a:rPr>
                        <a:t>Long drive every day</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350" b="0" kern="1200" dirty="0">
                          <a:solidFill>
                            <a:schemeClr val="dk1"/>
                          </a:solidFill>
                          <a:effectLst/>
                          <a:latin typeface="+mn-lt"/>
                          <a:ea typeface="+mn-ea"/>
                          <a:cs typeface="+mn-cs"/>
                        </a:rPr>
                        <a:t>6.0</a:t>
                      </a:r>
                    </a:p>
                  </a:txBody>
                  <a:tcPr/>
                </a:tc>
                <a:extLst>
                  <a:ext uri="{0D108BD9-81ED-4DB2-BD59-A6C34878D82A}">
                    <a16:rowId xmlns:a16="http://schemas.microsoft.com/office/drawing/2014/main" val="2028647967"/>
                  </a:ext>
                </a:extLst>
              </a:tr>
              <a:tr h="378853">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altLang="ja-JP" sz="1350" b="0" kern="1200" dirty="0">
                          <a:solidFill>
                            <a:schemeClr val="dk1"/>
                          </a:solidFill>
                          <a:effectLst/>
                          <a:latin typeface="+mn-lt"/>
                          <a:ea typeface="+mn-ea"/>
                          <a:cs typeface="+mn-cs"/>
                        </a:rPr>
                        <a:t>16000 ~</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altLang="ja-JP" sz="1350" b="0" kern="1200" dirty="0">
                          <a:solidFill>
                            <a:schemeClr val="dk1"/>
                          </a:solidFill>
                          <a:effectLst/>
                          <a:latin typeface="+mn-lt"/>
                          <a:ea typeface="+mn-ea"/>
                          <a:cs typeface="+mn-cs"/>
                        </a:rPr>
                        <a:t>Super long drive</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350" b="0" kern="1200" dirty="0">
                          <a:solidFill>
                            <a:schemeClr val="dk1"/>
                          </a:solidFill>
                          <a:effectLst/>
                          <a:latin typeface="+mn-lt"/>
                          <a:ea typeface="+mn-ea"/>
                          <a:cs typeface="+mn-cs"/>
                        </a:rPr>
                        <a:t>4.2</a:t>
                      </a:r>
                    </a:p>
                  </a:txBody>
                  <a:tcPr/>
                </a:tc>
                <a:extLst>
                  <a:ext uri="{0D108BD9-81ED-4DB2-BD59-A6C34878D82A}">
                    <a16:rowId xmlns:a16="http://schemas.microsoft.com/office/drawing/2014/main" val="2549589444"/>
                  </a:ext>
                </a:extLst>
              </a:tr>
            </a:tbl>
          </a:graphicData>
        </a:graphic>
      </p:graphicFrame>
      <p:sp>
        <p:nvSpPr>
          <p:cNvPr id="5" name="テキスト ボックス 4">
            <a:extLst>
              <a:ext uri="{FF2B5EF4-FFF2-40B4-BE49-F238E27FC236}">
                <a16:creationId xmlns:a16="http://schemas.microsoft.com/office/drawing/2014/main" id="{A552A0DD-78E9-5081-CD99-956033DCF3B6}"/>
              </a:ext>
            </a:extLst>
          </p:cNvPr>
          <p:cNvSpPr txBox="1"/>
          <p:nvPr/>
        </p:nvSpPr>
        <p:spPr>
          <a:xfrm>
            <a:off x="3910441" y="788501"/>
            <a:ext cx="1831720" cy="307777"/>
          </a:xfrm>
          <a:prstGeom prst="rect">
            <a:avLst/>
          </a:prstGeom>
          <a:noFill/>
        </p:spPr>
        <p:txBody>
          <a:bodyPr wrap="square" rtlCol="0">
            <a:spAutoFit/>
          </a:bodyPr>
          <a:lstStyle/>
          <a:p>
            <a:r>
              <a:rPr lang="en-US" altLang="ja-JP" sz="1400" dirty="0"/>
              <a:t>Car usage survey [1]</a:t>
            </a:r>
            <a:endParaRPr lang="en-US" sz="1400" dirty="0"/>
          </a:p>
        </p:txBody>
      </p:sp>
      <p:sp>
        <p:nvSpPr>
          <p:cNvPr id="6" name="テキスト ボックス 5">
            <a:extLst>
              <a:ext uri="{FF2B5EF4-FFF2-40B4-BE49-F238E27FC236}">
                <a16:creationId xmlns:a16="http://schemas.microsoft.com/office/drawing/2014/main" id="{410031BC-7903-602C-6D7D-337BDEABF343}"/>
              </a:ext>
            </a:extLst>
          </p:cNvPr>
          <p:cNvSpPr txBox="1"/>
          <p:nvPr/>
        </p:nvSpPr>
        <p:spPr>
          <a:xfrm>
            <a:off x="118320" y="6488668"/>
            <a:ext cx="9669359" cy="276999"/>
          </a:xfrm>
          <a:prstGeom prst="rect">
            <a:avLst/>
          </a:prstGeom>
          <a:noFill/>
        </p:spPr>
        <p:txBody>
          <a:bodyPr wrap="square">
            <a:spAutoFit/>
          </a:bodyPr>
          <a:lstStyle/>
          <a:p>
            <a:r>
              <a:rPr lang="en-US" sz="600" dirty="0"/>
              <a:t>[1] </a:t>
            </a:r>
            <a:r>
              <a:rPr lang="en-US" sz="600" dirty="0">
                <a:hlinkClick r:id="rId2"/>
              </a:rPr>
              <a:t>https://from.sonysonpo.co.jp/topics/pr/2023/07/20230727_01.html</a:t>
            </a:r>
            <a:endParaRPr lang="en-US" sz="600" dirty="0"/>
          </a:p>
          <a:p>
            <a:endParaRPr lang="en-US" sz="600" dirty="0"/>
          </a:p>
        </p:txBody>
      </p:sp>
      <p:sp>
        <p:nvSpPr>
          <p:cNvPr id="8" name="テキスト ボックス 7">
            <a:extLst>
              <a:ext uri="{FF2B5EF4-FFF2-40B4-BE49-F238E27FC236}">
                <a16:creationId xmlns:a16="http://schemas.microsoft.com/office/drawing/2014/main" id="{385258E9-B945-C378-3D97-59E9E318AB90}"/>
              </a:ext>
            </a:extLst>
          </p:cNvPr>
          <p:cNvSpPr txBox="1"/>
          <p:nvPr/>
        </p:nvSpPr>
        <p:spPr>
          <a:xfrm>
            <a:off x="5799311" y="5126562"/>
            <a:ext cx="3810784" cy="523220"/>
          </a:xfrm>
          <a:prstGeom prst="rect">
            <a:avLst/>
          </a:prstGeom>
          <a:noFill/>
        </p:spPr>
        <p:txBody>
          <a:bodyPr wrap="square" rtlCol="0">
            <a:spAutoFit/>
          </a:bodyPr>
          <a:lstStyle/>
          <a:p>
            <a:r>
              <a:rPr lang="en-US" altLang="ja-JP" sz="1400" dirty="0"/>
              <a:t>1000 car usage profile are made according to the distribution of the car usage frequency</a:t>
            </a:r>
          </a:p>
        </p:txBody>
      </p:sp>
      <p:pic>
        <p:nvPicPr>
          <p:cNvPr id="7" name="図 6">
            <a:extLst>
              <a:ext uri="{FF2B5EF4-FFF2-40B4-BE49-F238E27FC236}">
                <a16:creationId xmlns:a16="http://schemas.microsoft.com/office/drawing/2014/main" id="{D50A3784-EB91-C1F7-CDFA-B527D924B7C6}"/>
              </a:ext>
            </a:extLst>
          </p:cNvPr>
          <p:cNvPicPr>
            <a:picLocks noChangeAspect="1"/>
          </p:cNvPicPr>
          <p:nvPr/>
        </p:nvPicPr>
        <p:blipFill>
          <a:blip r:embed="rId3"/>
          <a:stretch>
            <a:fillRect/>
          </a:stretch>
        </p:blipFill>
        <p:spPr>
          <a:xfrm>
            <a:off x="379828" y="4459573"/>
            <a:ext cx="5362333" cy="1857199"/>
          </a:xfrm>
          <a:prstGeom prst="rect">
            <a:avLst/>
          </a:prstGeom>
        </p:spPr>
      </p:pic>
    </p:spTree>
    <p:extLst>
      <p:ext uri="{BB962C8B-B14F-4D97-AF65-F5344CB8AC3E}">
        <p14:creationId xmlns:p14="http://schemas.microsoft.com/office/powerpoint/2010/main" val="11115442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92B9D8B1-86F2-2078-723C-6005DDAF6484}"/>
              </a:ext>
            </a:extLst>
          </p:cNvPr>
          <p:cNvSpPr>
            <a:spLocks noGrp="1"/>
          </p:cNvSpPr>
          <p:nvPr>
            <p:ph sz="quarter" idx="16"/>
          </p:nvPr>
        </p:nvSpPr>
        <p:spPr/>
        <p:txBody>
          <a:bodyPr/>
          <a:lstStyle/>
          <a:p>
            <a:r>
              <a:rPr lang="en-US" dirty="0"/>
              <a:t>3.1.3 Technology parameter </a:t>
            </a:r>
          </a:p>
        </p:txBody>
      </p:sp>
      <p:graphicFrame>
        <p:nvGraphicFramePr>
          <p:cNvPr id="5" name="表 4">
            <a:extLst>
              <a:ext uri="{FF2B5EF4-FFF2-40B4-BE49-F238E27FC236}">
                <a16:creationId xmlns:a16="http://schemas.microsoft.com/office/drawing/2014/main" id="{682B2C5C-1569-1AA9-9CDD-91D7FF025808}"/>
              </a:ext>
            </a:extLst>
          </p:cNvPr>
          <p:cNvGraphicFramePr>
            <a:graphicFrameLocks noGrp="1"/>
          </p:cNvGraphicFramePr>
          <p:nvPr>
            <p:extLst>
              <p:ext uri="{D42A27DB-BD31-4B8C-83A1-F6EECF244321}">
                <p14:modId xmlns:p14="http://schemas.microsoft.com/office/powerpoint/2010/main" val="1282470143"/>
              </p:ext>
            </p:extLst>
          </p:nvPr>
        </p:nvGraphicFramePr>
        <p:xfrm>
          <a:off x="1629350" y="1430991"/>
          <a:ext cx="6783130" cy="3788530"/>
        </p:xfrm>
        <a:graphic>
          <a:graphicData uri="http://schemas.openxmlformats.org/drawingml/2006/table">
            <a:tbl>
              <a:tblPr firstRow="1" bandRow="1">
                <a:tableStyleId>{073A0DAA-6AF3-43AB-8588-CEC1D06C72B9}</a:tableStyleId>
              </a:tblPr>
              <a:tblGrid>
                <a:gridCol w="3064513">
                  <a:extLst>
                    <a:ext uri="{9D8B030D-6E8A-4147-A177-3AD203B41FA5}">
                      <a16:colId xmlns:a16="http://schemas.microsoft.com/office/drawing/2014/main" val="2081844268"/>
                    </a:ext>
                  </a:extLst>
                </a:gridCol>
                <a:gridCol w="3718617">
                  <a:extLst>
                    <a:ext uri="{9D8B030D-6E8A-4147-A177-3AD203B41FA5}">
                      <a16:colId xmlns:a16="http://schemas.microsoft.com/office/drawing/2014/main" val="2099169623"/>
                    </a:ext>
                  </a:extLst>
                </a:gridCol>
              </a:tblGrid>
              <a:tr h="378853">
                <a:tc>
                  <a:txBody>
                    <a:bodyPr/>
                    <a:lstStyle/>
                    <a:p>
                      <a:r>
                        <a:rPr lang="en-US" dirty="0"/>
                        <a:t>Parameter</a:t>
                      </a:r>
                    </a:p>
                  </a:txBody>
                  <a:tcPr/>
                </a:tc>
                <a:tc>
                  <a:txBody>
                    <a:bodyPr/>
                    <a:lstStyle/>
                    <a:p>
                      <a:r>
                        <a:rPr lang="en-US" dirty="0"/>
                        <a:t>Value</a:t>
                      </a:r>
                    </a:p>
                  </a:txBody>
                  <a:tcPr/>
                </a:tc>
                <a:extLst>
                  <a:ext uri="{0D108BD9-81ED-4DB2-BD59-A6C34878D82A}">
                    <a16:rowId xmlns:a16="http://schemas.microsoft.com/office/drawing/2014/main" val="1061694334"/>
                  </a:ext>
                </a:extLst>
              </a:tr>
              <a:tr h="378853">
                <a:tc>
                  <a:txBody>
                    <a:bodyPr/>
                    <a:lstStyle/>
                    <a:p>
                      <a:r>
                        <a:rPr lang="en-US" dirty="0"/>
                        <a:t>Battery charge efficiency [-]</a:t>
                      </a:r>
                    </a:p>
                  </a:txBody>
                  <a:tcPr/>
                </a:tc>
                <a:tc>
                  <a:txBody>
                    <a:bodyPr/>
                    <a:lstStyle/>
                    <a:p>
                      <a:r>
                        <a:rPr lang="en-US" dirty="0"/>
                        <a:t>0.9</a:t>
                      </a:r>
                    </a:p>
                  </a:txBody>
                  <a:tcPr/>
                </a:tc>
                <a:extLst>
                  <a:ext uri="{0D108BD9-81ED-4DB2-BD59-A6C34878D82A}">
                    <a16:rowId xmlns:a16="http://schemas.microsoft.com/office/drawing/2014/main" val="3916366717"/>
                  </a:ext>
                </a:extLst>
              </a:tr>
              <a:tr h="378853">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dirty="0"/>
                        <a:t>Battery discharge efficiency [-]</a:t>
                      </a:r>
                    </a:p>
                  </a:txBody>
                  <a:tcPr/>
                </a:tc>
                <a:tc>
                  <a:txBody>
                    <a:bodyPr/>
                    <a:lstStyle/>
                    <a:p>
                      <a:r>
                        <a:rPr lang="en-US" dirty="0"/>
                        <a:t>0.9</a:t>
                      </a:r>
                    </a:p>
                  </a:txBody>
                  <a:tcPr/>
                </a:tc>
                <a:extLst>
                  <a:ext uri="{0D108BD9-81ED-4DB2-BD59-A6C34878D82A}">
                    <a16:rowId xmlns:a16="http://schemas.microsoft.com/office/drawing/2014/main" val="1247754287"/>
                  </a:ext>
                </a:extLst>
              </a:tr>
              <a:tr h="378853">
                <a:tc>
                  <a:txBody>
                    <a:bodyPr/>
                    <a:lstStyle/>
                    <a:p>
                      <a:r>
                        <a:rPr lang="en-US" dirty="0"/>
                        <a:t>EV battery charge efficiency [-]</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350" b="0" kern="1200" dirty="0">
                          <a:solidFill>
                            <a:schemeClr val="dk1"/>
                          </a:solidFill>
                          <a:effectLst/>
                        </a:rPr>
                        <a:t>0.9</a:t>
                      </a:r>
                      <a:endParaRPr lang="en-US" sz="1350" b="0" kern="1200" dirty="0">
                        <a:solidFill>
                          <a:schemeClr val="dk1"/>
                        </a:solidFill>
                        <a:effectLst/>
                        <a:latin typeface="+mn-lt"/>
                        <a:ea typeface="+mn-ea"/>
                        <a:cs typeface="+mn-cs"/>
                      </a:endParaRPr>
                    </a:p>
                  </a:txBody>
                  <a:tcPr/>
                </a:tc>
                <a:extLst>
                  <a:ext uri="{0D108BD9-81ED-4DB2-BD59-A6C34878D82A}">
                    <a16:rowId xmlns:a16="http://schemas.microsoft.com/office/drawing/2014/main" val="2028647967"/>
                  </a:ext>
                </a:extLst>
              </a:tr>
              <a:tr h="378853">
                <a:tc>
                  <a:txBody>
                    <a:bodyPr/>
                    <a:lstStyle/>
                    <a:p>
                      <a:r>
                        <a:rPr lang="en-US" dirty="0"/>
                        <a:t>EV battery discharge efficiency [-]</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350" b="0" kern="1200" dirty="0">
                          <a:solidFill>
                            <a:schemeClr val="dk1"/>
                          </a:solidFill>
                          <a:effectLst/>
                        </a:rPr>
                        <a:t>0.9</a:t>
                      </a:r>
                      <a:endParaRPr lang="en-US" sz="1350" b="0" kern="1200" dirty="0">
                        <a:solidFill>
                          <a:schemeClr val="dk1"/>
                        </a:solidFill>
                        <a:effectLst/>
                        <a:latin typeface="+mn-lt"/>
                        <a:ea typeface="+mn-ea"/>
                        <a:cs typeface="+mn-cs"/>
                      </a:endParaRPr>
                    </a:p>
                  </a:txBody>
                  <a:tcPr/>
                </a:tc>
                <a:extLst>
                  <a:ext uri="{0D108BD9-81ED-4DB2-BD59-A6C34878D82A}">
                    <a16:rowId xmlns:a16="http://schemas.microsoft.com/office/drawing/2014/main" val="2549589444"/>
                  </a:ext>
                </a:extLst>
              </a:tr>
              <a:tr h="378853">
                <a:tc>
                  <a:txBody>
                    <a:bodyPr/>
                    <a:lstStyle/>
                    <a:p>
                      <a:r>
                        <a:rPr lang="en-US" dirty="0"/>
                        <a:t>EV efficiency [km/kWh]</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350" b="0" kern="1200" dirty="0">
                          <a:solidFill>
                            <a:schemeClr val="dk1"/>
                          </a:solidFill>
                          <a:effectLst/>
                        </a:rPr>
                        <a:t>7</a:t>
                      </a:r>
                      <a:endParaRPr lang="en-US" sz="1350" b="0" kern="1200" dirty="0">
                        <a:solidFill>
                          <a:schemeClr val="dk1"/>
                        </a:solidFill>
                        <a:effectLst/>
                        <a:latin typeface="+mn-lt"/>
                        <a:ea typeface="+mn-ea"/>
                        <a:cs typeface="+mn-cs"/>
                      </a:endParaRPr>
                    </a:p>
                  </a:txBody>
                  <a:tcPr/>
                </a:tc>
                <a:extLst>
                  <a:ext uri="{0D108BD9-81ED-4DB2-BD59-A6C34878D82A}">
                    <a16:rowId xmlns:a16="http://schemas.microsoft.com/office/drawing/2014/main" val="329001356"/>
                  </a:ext>
                </a:extLst>
              </a:tr>
              <a:tr h="378853">
                <a:tc>
                  <a:txBody>
                    <a:bodyPr/>
                    <a:lstStyle/>
                    <a:p>
                      <a:r>
                        <a:rPr lang="en-US" dirty="0"/>
                        <a:t>Max battery charge speed [kW]</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350" b="0" kern="1200" dirty="0">
                          <a:solidFill>
                            <a:schemeClr val="dk1"/>
                          </a:solidFill>
                          <a:effectLst/>
                          <a:latin typeface="+mn-lt"/>
                          <a:ea typeface="+mn-ea"/>
                          <a:cs typeface="+mn-cs"/>
                        </a:rPr>
                        <a:t>3.0</a:t>
                      </a:r>
                    </a:p>
                  </a:txBody>
                  <a:tcPr/>
                </a:tc>
                <a:extLst>
                  <a:ext uri="{0D108BD9-81ED-4DB2-BD59-A6C34878D82A}">
                    <a16:rowId xmlns:a16="http://schemas.microsoft.com/office/drawing/2014/main" val="3409587564"/>
                  </a:ext>
                </a:extLst>
              </a:tr>
              <a:tr h="378853">
                <a:tc>
                  <a:txBody>
                    <a:bodyPr/>
                    <a:lstStyle/>
                    <a:p>
                      <a:r>
                        <a:rPr lang="en-US" dirty="0"/>
                        <a:t>Max battery discharge speed [kW]</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350" b="0" kern="1200" dirty="0">
                          <a:solidFill>
                            <a:schemeClr val="dk1"/>
                          </a:solidFill>
                          <a:effectLst/>
                          <a:latin typeface="+mn-lt"/>
                          <a:ea typeface="+mn-ea"/>
                          <a:cs typeface="+mn-cs"/>
                        </a:rPr>
                        <a:t>3.0</a:t>
                      </a:r>
                    </a:p>
                  </a:txBody>
                  <a:tcPr/>
                </a:tc>
                <a:extLst>
                  <a:ext uri="{0D108BD9-81ED-4DB2-BD59-A6C34878D82A}">
                    <a16:rowId xmlns:a16="http://schemas.microsoft.com/office/drawing/2014/main" val="3750085775"/>
                  </a:ext>
                </a:extLst>
              </a:tr>
              <a:tr h="378853">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altLang="ja-JP" dirty="0"/>
                        <a:t>Max EV charge speed [kW]</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350" b="0" kern="1200" dirty="0">
                          <a:solidFill>
                            <a:schemeClr val="dk1"/>
                          </a:solidFill>
                          <a:effectLst/>
                          <a:latin typeface="+mn-lt"/>
                          <a:ea typeface="+mn-ea"/>
                          <a:cs typeface="+mn-cs"/>
                        </a:rPr>
                        <a:t>6.0</a:t>
                      </a:r>
                    </a:p>
                  </a:txBody>
                  <a:tcPr/>
                </a:tc>
                <a:extLst>
                  <a:ext uri="{0D108BD9-81ED-4DB2-BD59-A6C34878D82A}">
                    <a16:rowId xmlns:a16="http://schemas.microsoft.com/office/drawing/2014/main" val="2995265036"/>
                  </a:ext>
                </a:extLst>
              </a:tr>
              <a:tr h="378853">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altLang="ja-JP" dirty="0"/>
                        <a:t>Max EV discharge speed [kW]</a:t>
                      </a:r>
                    </a:p>
                  </a:txBody>
                  <a:tcPr/>
                </a:tc>
                <a:tc>
                  <a:txBody>
                    <a:bodyPr/>
                    <a:lstStyle/>
                    <a:p>
                      <a:r>
                        <a:rPr lang="en-US" altLang="ja-JP" sz="1350" b="0" kern="1200" dirty="0">
                          <a:solidFill>
                            <a:schemeClr val="dk1"/>
                          </a:solidFill>
                          <a:effectLst/>
                          <a:latin typeface="+mn-lt"/>
                          <a:ea typeface="+mn-ea"/>
                          <a:cs typeface="+mn-cs"/>
                        </a:rPr>
                        <a:t>3.0</a:t>
                      </a:r>
                    </a:p>
                  </a:txBody>
                  <a:tcPr/>
                </a:tc>
                <a:extLst>
                  <a:ext uri="{0D108BD9-81ED-4DB2-BD59-A6C34878D82A}">
                    <a16:rowId xmlns:a16="http://schemas.microsoft.com/office/drawing/2014/main" val="2956947660"/>
                  </a:ext>
                </a:extLst>
              </a:tr>
            </a:tbl>
          </a:graphicData>
        </a:graphic>
      </p:graphicFrame>
    </p:spTree>
    <p:extLst>
      <p:ext uri="{BB962C8B-B14F-4D97-AF65-F5344CB8AC3E}">
        <p14:creationId xmlns:p14="http://schemas.microsoft.com/office/powerpoint/2010/main" val="7896054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コンテンツ プレースホルダー 1">
            <a:extLst>
              <a:ext uri="{FF2B5EF4-FFF2-40B4-BE49-F238E27FC236}">
                <a16:creationId xmlns:a16="http://schemas.microsoft.com/office/drawing/2014/main" id="{A69F8014-B60B-E06E-B259-E733D46851C0}"/>
              </a:ext>
            </a:extLst>
          </p:cNvPr>
          <p:cNvSpPr>
            <a:spLocks noGrp="1"/>
          </p:cNvSpPr>
          <p:nvPr>
            <p:ph sz="quarter" idx="17"/>
          </p:nvPr>
        </p:nvSpPr>
        <p:spPr>
          <a:xfrm>
            <a:off x="569340" y="904862"/>
            <a:ext cx="8767320" cy="5686438"/>
          </a:xfrm>
        </p:spPr>
        <p:txBody>
          <a:bodyPr/>
          <a:lstStyle/>
          <a:p>
            <a:r>
              <a:rPr kumimoji="1" lang="en-US" altLang="ja-JP" dirty="0">
                <a:solidFill>
                  <a:schemeClr val="tx1">
                    <a:lumMod val="20000"/>
                    <a:lumOff val="80000"/>
                  </a:schemeClr>
                </a:solidFill>
              </a:rPr>
              <a:t>1. Introduction and background</a:t>
            </a:r>
          </a:p>
          <a:p>
            <a:pPr marL="342900" indent="-342900">
              <a:buAutoNum type="arabicPeriod"/>
            </a:pPr>
            <a:endParaRPr kumimoji="1" lang="en-US" altLang="ja-JP" dirty="0">
              <a:solidFill>
                <a:schemeClr val="tx1">
                  <a:lumMod val="20000"/>
                  <a:lumOff val="80000"/>
                </a:schemeClr>
              </a:solidFill>
            </a:endParaRPr>
          </a:p>
          <a:p>
            <a:r>
              <a:rPr kumimoji="1" lang="en-US" altLang="ja-JP" dirty="0">
                <a:solidFill>
                  <a:schemeClr val="tx1">
                    <a:lumMod val="20000"/>
                    <a:lumOff val="80000"/>
                  </a:schemeClr>
                </a:solidFill>
              </a:rPr>
              <a:t>2. Objective</a:t>
            </a:r>
          </a:p>
          <a:p>
            <a:endParaRPr kumimoji="1" lang="en-US" altLang="ja-JP" dirty="0">
              <a:solidFill>
                <a:schemeClr val="tx1">
                  <a:lumMod val="20000"/>
                  <a:lumOff val="80000"/>
                </a:schemeClr>
              </a:solidFill>
            </a:endParaRPr>
          </a:p>
          <a:p>
            <a:r>
              <a:rPr kumimoji="1" lang="en-US" altLang="ja-JP" dirty="0">
                <a:solidFill>
                  <a:schemeClr val="tx1">
                    <a:lumMod val="20000"/>
                    <a:lumOff val="80000"/>
                  </a:schemeClr>
                </a:solidFill>
              </a:rPr>
              <a:t>3. Methodology</a:t>
            </a:r>
          </a:p>
          <a:p>
            <a:r>
              <a:rPr kumimoji="1" lang="en-US" altLang="ja-JP" sz="1200" dirty="0">
                <a:solidFill>
                  <a:schemeClr val="tx1">
                    <a:lumMod val="20000"/>
                    <a:lumOff val="80000"/>
                  </a:schemeClr>
                </a:solidFill>
              </a:rPr>
              <a:t>3.1 Step 1: </a:t>
            </a:r>
            <a:r>
              <a:rPr lang="en-US" altLang="ja-JP" sz="1200" dirty="0">
                <a:solidFill>
                  <a:schemeClr val="tx1">
                    <a:lumMod val="20000"/>
                    <a:lumOff val="80000"/>
                  </a:schemeClr>
                </a:solidFill>
              </a:rPr>
              <a:t>Data collection</a:t>
            </a:r>
          </a:p>
          <a:p>
            <a:r>
              <a:rPr kumimoji="1" lang="en-US" altLang="ja-JP" sz="1200" dirty="0">
                <a:solidFill>
                  <a:schemeClr val="tx1">
                    <a:lumMod val="20000"/>
                    <a:lumOff val="80000"/>
                  </a:schemeClr>
                </a:solidFill>
              </a:rPr>
              <a:t>       3.1.1 Data (demand, PV supply, wholesale price)</a:t>
            </a:r>
            <a:endParaRPr kumimoji="1" lang="ja-JP" altLang="en-US" sz="1200" dirty="0">
              <a:solidFill>
                <a:schemeClr val="tx1">
                  <a:lumMod val="20000"/>
                  <a:lumOff val="80000"/>
                </a:schemeClr>
              </a:solidFill>
            </a:endParaRPr>
          </a:p>
          <a:p>
            <a:r>
              <a:rPr kumimoji="1" lang="en-US" altLang="ja-JP" sz="1200" dirty="0">
                <a:solidFill>
                  <a:schemeClr val="tx1">
                    <a:lumMod val="20000"/>
                    <a:lumOff val="80000"/>
                  </a:schemeClr>
                </a:solidFill>
              </a:rPr>
              <a:t>       3.1.2 Car usage survey </a:t>
            </a:r>
            <a:r>
              <a:rPr kumimoji="1" lang="ja-JP" altLang="en-US" sz="1200" dirty="0">
                <a:solidFill>
                  <a:schemeClr val="tx1">
                    <a:lumMod val="20000"/>
                    <a:lumOff val="80000"/>
                  </a:schemeClr>
                </a:solidFill>
              </a:rPr>
              <a:t>→ </a:t>
            </a:r>
            <a:r>
              <a:rPr kumimoji="1" lang="en-US" altLang="ja-JP" sz="1200" dirty="0">
                <a:solidFill>
                  <a:schemeClr val="tx1">
                    <a:lumMod val="20000"/>
                    <a:lumOff val="80000"/>
                  </a:schemeClr>
                </a:solidFill>
              </a:rPr>
              <a:t>Car usage data</a:t>
            </a:r>
          </a:p>
          <a:p>
            <a:r>
              <a:rPr kumimoji="1" lang="en-US" altLang="ja-JP" sz="1200" dirty="0">
                <a:solidFill>
                  <a:schemeClr val="tx1">
                    <a:lumMod val="20000"/>
                    <a:lumOff val="80000"/>
                  </a:schemeClr>
                </a:solidFill>
              </a:rPr>
              <a:t>       3.1.3 Technology parameter (battery charge/discharge speed limit, efficiency)</a:t>
            </a:r>
          </a:p>
          <a:p>
            <a:r>
              <a:rPr kumimoji="1" lang="en-US" altLang="ja-JP" sz="1200" dirty="0"/>
              <a:t>3.2 Step 2: </a:t>
            </a:r>
            <a:r>
              <a:rPr lang="en-US" altLang="ja-JP" sz="1200" dirty="0"/>
              <a:t>Model construction </a:t>
            </a:r>
            <a:r>
              <a:rPr kumimoji="1" lang="en-US" altLang="ja-JP" sz="1200" dirty="0"/>
              <a:t>	</a:t>
            </a:r>
          </a:p>
          <a:p>
            <a:r>
              <a:rPr kumimoji="1" lang="en-US" altLang="ja-JP" sz="1200" dirty="0"/>
              <a:t>       3.2.1 Generate agent</a:t>
            </a:r>
          </a:p>
          <a:p>
            <a:r>
              <a:rPr kumimoji="1" lang="en-US" altLang="ja-JP" sz="1200" dirty="0"/>
              <a:t>       3.2.2 Design P2P energy trading model</a:t>
            </a:r>
          </a:p>
          <a:p>
            <a:r>
              <a:rPr kumimoji="1" lang="en-US" altLang="ja-JP" sz="1200" dirty="0"/>
              <a:t>       3.2.3 Design non-P2P energy model</a:t>
            </a:r>
          </a:p>
          <a:p>
            <a:r>
              <a:rPr kumimoji="1" lang="en-US" altLang="ja-JP" sz="1200" dirty="0">
                <a:solidFill>
                  <a:schemeClr val="tx1">
                    <a:lumMod val="20000"/>
                    <a:lumOff val="80000"/>
                  </a:schemeClr>
                </a:solidFill>
              </a:rPr>
              <a:t>3.3 Step 3: Train agents</a:t>
            </a:r>
          </a:p>
          <a:p>
            <a:r>
              <a:rPr kumimoji="1" lang="en-US" altLang="ja-JP" sz="1200" dirty="0">
                <a:solidFill>
                  <a:schemeClr val="tx1">
                    <a:lumMod val="20000"/>
                    <a:lumOff val="80000"/>
                  </a:schemeClr>
                </a:solidFill>
              </a:rPr>
              <a:t>       3.3.1 Q table</a:t>
            </a:r>
          </a:p>
          <a:p>
            <a:r>
              <a:rPr kumimoji="1" lang="en-US" altLang="ja-JP" sz="1200" dirty="0">
                <a:solidFill>
                  <a:schemeClr val="tx1">
                    <a:lumMod val="20000"/>
                    <a:lumOff val="80000"/>
                  </a:schemeClr>
                </a:solidFill>
              </a:rPr>
              <a:t>       3.3.2 Reward</a:t>
            </a:r>
          </a:p>
          <a:p>
            <a:endParaRPr kumimoji="1" lang="en-US" altLang="ja-JP" sz="1200" dirty="0">
              <a:solidFill>
                <a:schemeClr val="tx1">
                  <a:lumMod val="20000"/>
                  <a:lumOff val="80000"/>
                </a:schemeClr>
              </a:solidFill>
            </a:endParaRPr>
          </a:p>
          <a:p>
            <a:r>
              <a:rPr kumimoji="1" lang="en-US" altLang="ja-JP" dirty="0">
                <a:solidFill>
                  <a:schemeClr val="tx1">
                    <a:lumMod val="20000"/>
                    <a:lumOff val="80000"/>
                  </a:schemeClr>
                </a:solidFill>
              </a:rPr>
              <a:t>4. Results and analysis</a:t>
            </a:r>
          </a:p>
          <a:p>
            <a:endParaRPr kumimoji="1" lang="en-US" altLang="ja-JP" dirty="0">
              <a:solidFill>
                <a:schemeClr val="tx1">
                  <a:lumMod val="20000"/>
                  <a:lumOff val="80000"/>
                </a:schemeClr>
              </a:solidFill>
            </a:endParaRPr>
          </a:p>
          <a:p>
            <a:r>
              <a:rPr kumimoji="1" lang="en-US" altLang="ja-JP" dirty="0">
                <a:solidFill>
                  <a:schemeClr val="tx1">
                    <a:lumMod val="20000"/>
                    <a:lumOff val="80000"/>
                  </a:schemeClr>
                </a:solidFill>
              </a:rPr>
              <a:t>5. Summary and future work</a:t>
            </a:r>
          </a:p>
          <a:p>
            <a:endParaRPr kumimoji="1" lang="ja-JP" altLang="en-US" dirty="0"/>
          </a:p>
        </p:txBody>
      </p:sp>
      <p:sp>
        <p:nvSpPr>
          <p:cNvPr id="3" name="コンテンツ プレースホルダー 2">
            <a:extLst>
              <a:ext uri="{FF2B5EF4-FFF2-40B4-BE49-F238E27FC236}">
                <a16:creationId xmlns:a16="http://schemas.microsoft.com/office/drawing/2014/main" id="{8144E4AA-4DE2-6001-26C0-0276D6F2A954}"/>
              </a:ext>
            </a:extLst>
          </p:cNvPr>
          <p:cNvSpPr>
            <a:spLocks noGrp="1"/>
          </p:cNvSpPr>
          <p:nvPr>
            <p:ph sz="quarter" idx="16"/>
          </p:nvPr>
        </p:nvSpPr>
        <p:spPr/>
        <p:txBody>
          <a:bodyPr/>
          <a:lstStyle/>
          <a:p>
            <a:r>
              <a:rPr kumimoji="1" lang="en-US" altLang="ja-JP" dirty="0"/>
              <a:t>CONTENT</a:t>
            </a:r>
            <a:endParaRPr kumimoji="1" lang="ja-JP" altLang="en-US" dirty="0"/>
          </a:p>
        </p:txBody>
      </p:sp>
    </p:spTree>
    <p:extLst>
      <p:ext uri="{BB962C8B-B14F-4D97-AF65-F5344CB8AC3E}">
        <p14:creationId xmlns:p14="http://schemas.microsoft.com/office/powerpoint/2010/main" val="35125366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CBBC13BC-9FBD-E7C0-BA6A-9D362FED3A59}"/>
              </a:ext>
            </a:extLst>
          </p:cNvPr>
          <p:cNvSpPr>
            <a:spLocks noGrp="1"/>
          </p:cNvSpPr>
          <p:nvPr>
            <p:ph sz="quarter" idx="16"/>
          </p:nvPr>
        </p:nvSpPr>
        <p:spPr/>
        <p:txBody>
          <a:bodyPr/>
          <a:lstStyle/>
          <a:p>
            <a:r>
              <a:rPr lang="en-US" dirty="0"/>
              <a:t>3.2.1 Generate prosumer (agent)</a:t>
            </a:r>
          </a:p>
        </p:txBody>
      </p:sp>
      <p:graphicFrame>
        <p:nvGraphicFramePr>
          <p:cNvPr id="2" name="表 1">
            <a:extLst>
              <a:ext uri="{FF2B5EF4-FFF2-40B4-BE49-F238E27FC236}">
                <a16:creationId xmlns:a16="http://schemas.microsoft.com/office/drawing/2014/main" id="{8EC546BE-F62D-AB77-C2EF-5712B26746A9}"/>
              </a:ext>
            </a:extLst>
          </p:cNvPr>
          <p:cNvGraphicFramePr>
            <a:graphicFrameLocks noGrp="1"/>
          </p:cNvGraphicFramePr>
          <p:nvPr>
            <p:extLst>
              <p:ext uri="{D42A27DB-BD31-4B8C-83A1-F6EECF244321}">
                <p14:modId xmlns:p14="http://schemas.microsoft.com/office/powerpoint/2010/main" val="2471044333"/>
              </p:ext>
            </p:extLst>
          </p:nvPr>
        </p:nvGraphicFramePr>
        <p:xfrm>
          <a:off x="123825" y="804607"/>
          <a:ext cx="6647299" cy="5303942"/>
        </p:xfrm>
        <a:graphic>
          <a:graphicData uri="http://schemas.openxmlformats.org/drawingml/2006/table">
            <a:tbl>
              <a:tblPr firstRow="1" bandRow="1">
                <a:tableStyleId>{073A0DAA-6AF3-43AB-8588-CEC1D06C72B9}</a:tableStyleId>
              </a:tblPr>
              <a:tblGrid>
                <a:gridCol w="3003147">
                  <a:extLst>
                    <a:ext uri="{9D8B030D-6E8A-4147-A177-3AD203B41FA5}">
                      <a16:colId xmlns:a16="http://schemas.microsoft.com/office/drawing/2014/main" val="2081844268"/>
                    </a:ext>
                  </a:extLst>
                </a:gridCol>
                <a:gridCol w="3644152">
                  <a:extLst>
                    <a:ext uri="{9D8B030D-6E8A-4147-A177-3AD203B41FA5}">
                      <a16:colId xmlns:a16="http://schemas.microsoft.com/office/drawing/2014/main" val="2099169623"/>
                    </a:ext>
                  </a:extLst>
                </a:gridCol>
              </a:tblGrid>
              <a:tr h="378853">
                <a:tc>
                  <a:txBody>
                    <a:bodyPr/>
                    <a:lstStyle/>
                    <a:p>
                      <a:r>
                        <a:rPr lang="en-US" dirty="0"/>
                        <a:t>Parameter</a:t>
                      </a:r>
                    </a:p>
                  </a:txBody>
                  <a:tcPr/>
                </a:tc>
                <a:tc>
                  <a:txBody>
                    <a:bodyPr/>
                    <a:lstStyle/>
                    <a:p>
                      <a:r>
                        <a:rPr lang="en-US" dirty="0"/>
                        <a:t>Value</a:t>
                      </a:r>
                    </a:p>
                  </a:txBody>
                  <a:tcPr/>
                </a:tc>
                <a:extLst>
                  <a:ext uri="{0D108BD9-81ED-4DB2-BD59-A6C34878D82A}">
                    <a16:rowId xmlns:a16="http://schemas.microsoft.com/office/drawing/2014/main" val="1061694334"/>
                  </a:ext>
                </a:extLst>
              </a:tr>
              <a:tr h="378853">
                <a:tc>
                  <a:txBody>
                    <a:bodyPr/>
                    <a:lstStyle/>
                    <a:p>
                      <a:r>
                        <a:rPr lang="en-US" dirty="0"/>
                        <a:t>Demand Response (DR)</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350" b="0" kern="1200" dirty="0">
                          <a:solidFill>
                            <a:schemeClr val="dk1"/>
                          </a:solidFill>
                          <a:effectLst/>
                          <a:latin typeface="+mn-lt"/>
                          <a:ea typeface="+mn-ea"/>
                          <a:cs typeface="+mn-cs"/>
                        </a:rPr>
                        <a:t>True, False</a:t>
                      </a:r>
                    </a:p>
                  </a:txBody>
                  <a:tcPr/>
                </a:tc>
                <a:extLst>
                  <a:ext uri="{0D108BD9-81ED-4DB2-BD59-A6C34878D82A}">
                    <a16:rowId xmlns:a16="http://schemas.microsoft.com/office/drawing/2014/main" val="2502884538"/>
                  </a:ext>
                </a:extLst>
              </a:tr>
              <a:tr h="378853">
                <a:tc>
                  <a:txBody>
                    <a:bodyPr/>
                    <a:lstStyle/>
                    <a:p>
                      <a:r>
                        <a:rPr lang="en-US" dirty="0"/>
                        <a:t>DR shift limit [h]</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350" b="0" kern="1200" dirty="0">
                          <a:solidFill>
                            <a:schemeClr val="dk1"/>
                          </a:solidFill>
                          <a:effectLst/>
                        </a:rPr>
                        <a:t>6.0, 12.0, 18.0, or 24.0</a:t>
                      </a:r>
                      <a:endParaRPr lang="en-US" sz="1350" b="0" kern="1200" dirty="0">
                        <a:solidFill>
                          <a:schemeClr val="dk1"/>
                        </a:solidFill>
                        <a:effectLst/>
                        <a:latin typeface="+mn-lt"/>
                        <a:ea typeface="+mn-ea"/>
                        <a:cs typeface="+mn-cs"/>
                      </a:endParaRPr>
                    </a:p>
                  </a:txBody>
                  <a:tcPr/>
                </a:tc>
                <a:extLst>
                  <a:ext uri="{0D108BD9-81ED-4DB2-BD59-A6C34878D82A}">
                    <a16:rowId xmlns:a16="http://schemas.microsoft.com/office/drawing/2014/main" val="484519250"/>
                  </a:ext>
                </a:extLst>
              </a:tr>
              <a:tr h="378853">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altLang="ja-JP" dirty="0"/>
                        <a:t>Elastic ratio [-]</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altLang="ja-JP" sz="1350" b="0" kern="1200" dirty="0">
                          <a:solidFill>
                            <a:schemeClr val="dk1"/>
                          </a:solidFill>
                          <a:effectLst/>
                          <a:latin typeface="+mn-lt"/>
                          <a:ea typeface="+mn-ea"/>
                          <a:cs typeface="+mn-cs"/>
                        </a:rPr>
                        <a:t>off-peak: 0.5, mid-peak: 0.3, on-peak: 0.1※</a:t>
                      </a:r>
                    </a:p>
                  </a:txBody>
                  <a:tcPr/>
                </a:tc>
                <a:extLst>
                  <a:ext uri="{0D108BD9-81ED-4DB2-BD59-A6C34878D82A}">
                    <a16:rowId xmlns:a16="http://schemas.microsoft.com/office/drawing/2014/main" val="3281549562"/>
                  </a:ext>
                </a:extLst>
              </a:tr>
              <a:tr h="378853">
                <a:tc>
                  <a:txBody>
                    <a:bodyPr/>
                    <a:lstStyle/>
                    <a:p>
                      <a:r>
                        <a:rPr lang="en-US" dirty="0"/>
                        <a:t>Battery capacity [kWh]</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350" b="0" kern="1200" dirty="0">
                          <a:solidFill>
                            <a:schemeClr val="dk1"/>
                          </a:solidFill>
                          <a:effectLst/>
                        </a:rPr>
                        <a:t>0 or 13.5</a:t>
                      </a:r>
                      <a:endParaRPr lang="en-US" sz="1350" b="0" kern="1200" dirty="0">
                        <a:solidFill>
                          <a:schemeClr val="dk1"/>
                        </a:solidFill>
                        <a:effectLst/>
                        <a:latin typeface="+mn-lt"/>
                        <a:ea typeface="+mn-ea"/>
                        <a:cs typeface="+mn-cs"/>
                      </a:endParaRPr>
                    </a:p>
                  </a:txBody>
                  <a:tcPr/>
                </a:tc>
                <a:extLst>
                  <a:ext uri="{0D108BD9-81ED-4DB2-BD59-A6C34878D82A}">
                    <a16:rowId xmlns:a16="http://schemas.microsoft.com/office/drawing/2014/main" val="4220848720"/>
                  </a:ext>
                </a:extLst>
              </a:tr>
              <a:tr h="378853">
                <a:tc>
                  <a:txBody>
                    <a:bodyPr/>
                    <a:lstStyle/>
                    <a:p>
                      <a:r>
                        <a:rPr lang="en-US" dirty="0"/>
                        <a:t>EV battery capacity [kWh]</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350" b="0" kern="1200" dirty="0">
                          <a:solidFill>
                            <a:schemeClr val="dk1"/>
                          </a:solidFill>
                          <a:effectLst/>
                        </a:rPr>
                        <a:t>0 or 40</a:t>
                      </a:r>
                      <a:endParaRPr lang="en-US" sz="1350" b="0" kern="1200" dirty="0">
                        <a:solidFill>
                          <a:schemeClr val="dk1"/>
                        </a:solidFill>
                        <a:effectLst/>
                        <a:latin typeface="+mn-lt"/>
                        <a:ea typeface="+mn-ea"/>
                        <a:cs typeface="+mn-cs"/>
                      </a:endParaRPr>
                    </a:p>
                  </a:txBody>
                  <a:tcPr/>
                </a:tc>
                <a:extLst>
                  <a:ext uri="{0D108BD9-81ED-4DB2-BD59-A6C34878D82A}">
                    <a16:rowId xmlns:a16="http://schemas.microsoft.com/office/drawing/2014/main" val="2161999932"/>
                  </a:ext>
                </a:extLst>
              </a:tr>
              <a:tr h="378853">
                <a:tc>
                  <a:txBody>
                    <a:bodyPr/>
                    <a:lstStyle/>
                    <a:p>
                      <a:r>
                        <a:rPr lang="en-US" dirty="0"/>
                        <a:t>PV install capacity [kW]</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350" b="0" kern="1200" dirty="0">
                          <a:solidFill>
                            <a:schemeClr val="dk1"/>
                          </a:solidFill>
                          <a:effectLst/>
                          <a:latin typeface="+mn-lt"/>
                          <a:ea typeface="+mn-ea"/>
                          <a:cs typeface="+mn-cs"/>
                        </a:rPr>
                        <a:t>0 or 5</a:t>
                      </a:r>
                    </a:p>
                  </a:txBody>
                  <a:tcPr/>
                </a:tc>
                <a:extLst>
                  <a:ext uri="{0D108BD9-81ED-4DB2-BD59-A6C34878D82A}">
                    <a16:rowId xmlns:a16="http://schemas.microsoft.com/office/drawing/2014/main" val="2940053055"/>
                  </a:ext>
                </a:extLst>
              </a:tr>
              <a:tr h="378853">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altLang="ja-JP" dirty="0"/>
                        <a:t>Car speed [km/h]</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350" b="0" kern="1200" dirty="0">
                          <a:solidFill>
                            <a:schemeClr val="dk1"/>
                          </a:solidFill>
                          <a:effectLst/>
                          <a:latin typeface="+mn-lt"/>
                          <a:ea typeface="+mn-ea"/>
                          <a:cs typeface="+mn-cs"/>
                        </a:rPr>
                        <a:t>30</a:t>
                      </a:r>
                    </a:p>
                  </a:txBody>
                  <a:tcPr/>
                </a:tc>
                <a:extLst>
                  <a:ext uri="{0D108BD9-81ED-4DB2-BD59-A6C34878D82A}">
                    <a16:rowId xmlns:a16="http://schemas.microsoft.com/office/drawing/2014/main" val="3914295053"/>
                  </a:ext>
                </a:extLst>
              </a:tr>
              <a:tr h="378853">
                <a:tc>
                  <a:txBody>
                    <a:bodyPr/>
                    <a:lstStyle/>
                    <a:p>
                      <a:r>
                        <a:rPr lang="en-US" dirty="0"/>
                        <a:t>Alpha</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350" b="0" kern="1200" dirty="0">
                          <a:solidFill>
                            <a:schemeClr val="dk1"/>
                          </a:solidFill>
                          <a:effectLst/>
                        </a:rPr>
                        <a:t>1, 1.5, 2, 2.5, 3, 3.5, or 4</a:t>
                      </a:r>
                      <a:endParaRPr lang="en-US" sz="1350" b="0" kern="1200" dirty="0">
                        <a:solidFill>
                          <a:schemeClr val="dk1"/>
                        </a:solidFill>
                        <a:effectLst/>
                        <a:latin typeface="+mn-lt"/>
                        <a:ea typeface="+mn-ea"/>
                        <a:cs typeface="+mn-cs"/>
                      </a:endParaRPr>
                    </a:p>
                  </a:txBody>
                  <a:tcPr/>
                </a:tc>
                <a:extLst>
                  <a:ext uri="{0D108BD9-81ED-4DB2-BD59-A6C34878D82A}">
                    <a16:rowId xmlns:a16="http://schemas.microsoft.com/office/drawing/2014/main" val="2477692932"/>
                  </a:ext>
                </a:extLst>
              </a:tr>
              <a:tr h="378853">
                <a:tc>
                  <a:txBody>
                    <a:bodyPr/>
                    <a:lstStyle/>
                    <a:p>
                      <a:r>
                        <a:rPr lang="en-US" dirty="0"/>
                        <a:t>Beta </a:t>
                      </a:r>
                    </a:p>
                  </a:txBody>
                  <a:tcPr/>
                </a:tc>
                <a:tc>
                  <a:txBody>
                    <a:bodyPr/>
                    <a:lstStyle/>
                    <a:p>
                      <a:r>
                        <a:rPr lang="en-US" dirty="0"/>
                        <a:t>1, 1.5, or 2</a:t>
                      </a:r>
                    </a:p>
                  </a:txBody>
                  <a:tcPr/>
                </a:tc>
                <a:extLst>
                  <a:ext uri="{0D108BD9-81ED-4DB2-BD59-A6C34878D82A}">
                    <a16:rowId xmlns:a16="http://schemas.microsoft.com/office/drawing/2014/main" val="782122007"/>
                  </a:ext>
                </a:extLst>
              </a:tr>
              <a:tr h="378853">
                <a:tc>
                  <a:txBody>
                    <a:bodyPr/>
                    <a:lstStyle/>
                    <a:p>
                      <a:r>
                        <a:rPr lang="en-US" dirty="0"/>
                        <a:t>Gamma</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350" b="0" kern="1200" dirty="0">
                          <a:solidFill>
                            <a:schemeClr val="dk1"/>
                          </a:solidFill>
                          <a:effectLst/>
                        </a:rPr>
                        <a:t>1, 1.5, 2, 2.5, 3, 3.5, or 4</a:t>
                      </a:r>
                      <a:endParaRPr lang="en-US" sz="1350" b="0" kern="1200" dirty="0">
                        <a:solidFill>
                          <a:schemeClr val="dk1"/>
                        </a:solidFill>
                        <a:effectLst/>
                        <a:latin typeface="+mn-lt"/>
                        <a:ea typeface="+mn-ea"/>
                        <a:cs typeface="+mn-cs"/>
                      </a:endParaRPr>
                    </a:p>
                  </a:txBody>
                  <a:tcPr/>
                </a:tc>
                <a:extLst>
                  <a:ext uri="{0D108BD9-81ED-4DB2-BD59-A6C34878D82A}">
                    <a16:rowId xmlns:a16="http://schemas.microsoft.com/office/drawing/2014/main" val="4054557495"/>
                  </a:ext>
                </a:extLst>
              </a:tr>
              <a:tr h="378853">
                <a:tc>
                  <a:txBody>
                    <a:bodyPr/>
                    <a:lstStyle/>
                    <a:p>
                      <a:r>
                        <a:rPr lang="en-US" dirty="0"/>
                        <a:t>Epsilon</a:t>
                      </a:r>
                    </a:p>
                  </a:txBody>
                  <a:tcPr/>
                </a:tc>
                <a:tc>
                  <a:txBody>
                    <a:bodyPr/>
                    <a:lstStyle/>
                    <a:p>
                      <a:r>
                        <a:rPr lang="en-US" dirty="0"/>
                        <a:t>1</a:t>
                      </a:r>
                      <a:r>
                        <a:rPr lang="en-US" altLang="ja-JP" dirty="0"/>
                        <a:t>, 1.5, or 2</a:t>
                      </a:r>
                      <a:endParaRPr lang="en-US" dirty="0"/>
                    </a:p>
                  </a:txBody>
                  <a:tcPr/>
                </a:tc>
                <a:extLst>
                  <a:ext uri="{0D108BD9-81ED-4DB2-BD59-A6C34878D82A}">
                    <a16:rowId xmlns:a16="http://schemas.microsoft.com/office/drawing/2014/main" val="562707049"/>
                  </a:ext>
                </a:extLst>
              </a:tr>
              <a:tr h="378853">
                <a:tc>
                  <a:txBody>
                    <a:bodyPr/>
                    <a:lstStyle/>
                    <a:p>
                      <a:r>
                        <a:rPr lang="en-US" dirty="0"/>
                        <a:t>Psi</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350" b="0" kern="1200" dirty="0">
                          <a:solidFill>
                            <a:schemeClr val="dk1"/>
                          </a:solidFill>
                          <a:effectLst/>
                        </a:rPr>
                        <a:t>1, 1.5, 2, 2.5, 3, 3.5, or 4</a:t>
                      </a:r>
                      <a:endParaRPr lang="en-US" sz="1350" b="0" kern="1200" dirty="0">
                        <a:solidFill>
                          <a:schemeClr val="dk1"/>
                        </a:solidFill>
                        <a:effectLst/>
                        <a:latin typeface="+mn-lt"/>
                        <a:ea typeface="+mn-ea"/>
                        <a:cs typeface="+mn-cs"/>
                      </a:endParaRPr>
                    </a:p>
                  </a:txBody>
                  <a:tcPr/>
                </a:tc>
                <a:extLst>
                  <a:ext uri="{0D108BD9-81ED-4DB2-BD59-A6C34878D82A}">
                    <a16:rowId xmlns:a16="http://schemas.microsoft.com/office/drawing/2014/main" val="380039872"/>
                  </a:ext>
                </a:extLst>
              </a:tr>
              <a:tr h="378853">
                <a:tc>
                  <a:txBody>
                    <a:bodyPr/>
                    <a:lstStyle/>
                    <a:p>
                      <a:r>
                        <a:rPr lang="en-US" dirty="0"/>
                        <a:t>Omega</a:t>
                      </a:r>
                    </a:p>
                  </a:txBody>
                  <a:tcPr/>
                </a:tc>
                <a:tc>
                  <a:txBody>
                    <a:bodyPr/>
                    <a:lstStyle/>
                    <a:p>
                      <a:r>
                        <a:rPr lang="en-US" dirty="0"/>
                        <a:t>1</a:t>
                      </a:r>
                      <a:r>
                        <a:rPr lang="en-US" altLang="ja-JP" dirty="0"/>
                        <a:t>, 1.5, or 2</a:t>
                      </a:r>
                      <a:endParaRPr lang="en-US" dirty="0"/>
                    </a:p>
                  </a:txBody>
                  <a:tcPr/>
                </a:tc>
                <a:extLst>
                  <a:ext uri="{0D108BD9-81ED-4DB2-BD59-A6C34878D82A}">
                    <a16:rowId xmlns:a16="http://schemas.microsoft.com/office/drawing/2014/main" val="3916063151"/>
                  </a:ext>
                </a:extLst>
              </a:tr>
            </a:tbl>
          </a:graphicData>
        </a:graphic>
      </p:graphicFrame>
      <p:sp>
        <p:nvSpPr>
          <p:cNvPr id="84" name="テキスト ボックス 83">
            <a:extLst>
              <a:ext uri="{FF2B5EF4-FFF2-40B4-BE49-F238E27FC236}">
                <a16:creationId xmlns:a16="http://schemas.microsoft.com/office/drawing/2014/main" id="{84F1F0F1-5EFD-FE31-50F2-14774AF6719D}"/>
              </a:ext>
            </a:extLst>
          </p:cNvPr>
          <p:cNvSpPr txBox="1"/>
          <p:nvPr/>
        </p:nvSpPr>
        <p:spPr>
          <a:xfrm>
            <a:off x="3075517" y="6183309"/>
            <a:ext cx="4889663" cy="276999"/>
          </a:xfrm>
          <a:prstGeom prst="rect">
            <a:avLst/>
          </a:prstGeom>
          <a:noFill/>
        </p:spPr>
        <p:txBody>
          <a:bodyPr wrap="square" rtlCol="0">
            <a:spAutoFit/>
          </a:bodyPr>
          <a:lstStyle/>
          <a:p>
            <a:r>
              <a:rPr lang="en-US" altLang="ja-JP" sz="1200" dirty="0"/>
              <a:t>※22PM-6AM: off-peak, 7AM-16PM: mid-peak, 17PM-21PM: on-peak</a:t>
            </a:r>
          </a:p>
        </p:txBody>
      </p:sp>
      <p:sp>
        <p:nvSpPr>
          <p:cNvPr id="85" name="テキスト ボックス 84">
            <a:extLst>
              <a:ext uri="{FF2B5EF4-FFF2-40B4-BE49-F238E27FC236}">
                <a16:creationId xmlns:a16="http://schemas.microsoft.com/office/drawing/2014/main" id="{000205A6-52AE-5199-16D3-A930621B4E95}"/>
              </a:ext>
            </a:extLst>
          </p:cNvPr>
          <p:cNvSpPr txBox="1"/>
          <p:nvPr/>
        </p:nvSpPr>
        <p:spPr>
          <a:xfrm>
            <a:off x="6794103" y="1675824"/>
            <a:ext cx="3048000" cy="1169551"/>
          </a:xfrm>
          <a:prstGeom prst="rect">
            <a:avLst/>
          </a:prstGeom>
          <a:noFill/>
        </p:spPr>
        <p:txBody>
          <a:bodyPr wrap="square" rtlCol="0">
            <a:spAutoFit/>
          </a:bodyPr>
          <a:lstStyle/>
          <a:p>
            <a:r>
              <a:rPr lang="en-US" altLang="ja-JP" sz="1400" dirty="0"/>
              <a:t>Demand, PV Supply, Car usage data are randomly chosen for each agent.</a:t>
            </a:r>
          </a:p>
          <a:p>
            <a:endParaRPr lang="en-US" altLang="ja-JP" sz="1400" dirty="0"/>
          </a:p>
          <a:p>
            <a:r>
              <a:rPr lang="en-US" altLang="ja-JP" sz="1400" dirty="0"/>
              <a:t>Other parameters for each agent are showed in the table</a:t>
            </a:r>
          </a:p>
        </p:txBody>
      </p:sp>
      <p:sp>
        <p:nvSpPr>
          <p:cNvPr id="88" name="円弧 87">
            <a:extLst>
              <a:ext uri="{FF2B5EF4-FFF2-40B4-BE49-F238E27FC236}">
                <a16:creationId xmlns:a16="http://schemas.microsoft.com/office/drawing/2014/main" id="{ECC75F2C-246E-3C3E-EC73-861B77BC11AC}"/>
              </a:ext>
            </a:extLst>
          </p:cNvPr>
          <p:cNvSpPr/>
          <p:nvPr/>
        </p:nvSpPr>
        <p:spPr>
          <a:xfrm rot="3284018">
            <a:off x="3960482" y="3568990"/>
            <a:ext cx="3212941" cy="3136571"/>
          </a:xfrm>
          <a:prstGeom prst="arc">
            <a:avLst>
              <a:gd name="adj1" fmla="val 16200000"/>
              <a:gd name="adj2" fmla="val 20513151"/>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89" name="テキスト ボックス 88">
            <a:extLst>
              <a:ext uri="{FF2B5EF4-FFF2-40B4-BE49-F238E27FC236}">
                <a16:creationId xmlns:a16="http://schemas.microsoft.com/office/drawing/2014/main" id="{D1D3ED61-85A2-6379-EECA-FD05F9538BD6}"/>
              </a:ext>
            </a:extLst>
          </p:cNvPr>
          <p:cNvSpPr txBox="1"/>
          <p:nvPr/>
        </p:nvSpPr>
        <p:spPr>
          <a:xfrm>
            <a:off x="7168753" y="4992808"/>
            <a:ext cx="2613422" cy="307777"/>
          </a:xfrm>
          <a:prstGeom prst="rect">
            <a:avLst/>
          </a:prstGeom>
          <a:noFill/>
        </p:spPr>
        <p:txBody>
          <a:bodyPr wrap="square" rtlCol="0">
            <a:spAutoFit/>
          </a:bodyPr>
          <a:lstStyle/>
          <a:p>
            <a:r>
              <a:rPr lang="en-US" altLang="ja-JP" sz="1400" dirty="0"/>
              <a:t>Described in 3.3.2 reward</a:t>
            </a:r>
          </a:p>
        </p:txBody>
      </p:sp>
    </p:spTree>
    <p:extLst>
      <p:ext uri="{BB962C8B-B14F-4D97-AF65-F5344CB8AC3E}">
        <p14:creationId xmlns:p14="http://schemas.microsoft.com/office/powerpoint/2010/main" val="362173056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 name="図 91" descr="グラフ, 折れ線グラフ&#10;&#10;自動的に生成された説明">
            <a:extLst>
              <a:ext uri="{FF2B5EF4-FFF2-40B4-BE49-F238E27FC236}">
                <a16:creationId xmlns:a16="http://schemas.microsoft.com/office/drawing/2014/main" id="{1303FDDE-1159-765C-809B-3F36D059C480}"/>
              </a:ext>
            </a:extLst>
          </p:cNvPr>
          <p:cNvPicPr>
            <a:picLocks noChangeAspect="1"/>
          </p:cNvPicPr>
          <p:nvPr/>
        </p:nvPicPr>
        <p:blipFill>
          <a:blip r:embed="rId2">
            <a:extLst>
              <a:ext uri="{28A0092B-C50C-407E-A947-70E740481C1C}">
                <a14:useLocalDpi xmlns:a14="http://schemas.microsoft.com/office/drawing/2010/main" val="0"/>
              </a:ext>
            </a:extLst>
          </a:blip>
          <a:srcRect l="3322" t="11812" r="8154" b="3352"/>
          <a:stretch/>
        </p:blipFill>
        <p:spPr>
          <a:xfrm>
            <a:off x="5488926" y="2948370"/>
            <a:ext cx="2046576" cy="1470975"/>
          </a:xfrm>
          <a:prstGeom prst="rect">
            <a:avLst/>
          </a:prstGeom>
        </p:spPr>
      </p:pic>
      <p:sp>
        <p:nvSpPr>
          <p:cNvPr id="86" name="四角形: 角を丸くする 85">
            <a:extLst>
              <a:ext uri="{FF2B5EF4-FFF2-40B4-BE49-F238E27FC236}">
                <a16:creationId xmlns:a16="http://schemas.microsoft.com/office/drawing/2014/main" id="{37A690EE-3378-F737-91BE-BCC96363A46B}"/>
              </a:ext>
            </a:extLst>
          </p:cNvPr>
          <p:cNvSpPr/>
          <p:nvPr/>
        </p:nvSpPr>
        <p:spPr>
          <a:xfrm>
            <a:off x="4154322" y="4532354"/>
            <a:ext cx="2413669" cy="1685567"/>
          </a:xfrm>
          <a:prstGeom prst="roundRect">
            <a:avLst/>
          </a:prstGeom>
          <a:solidFill>
            <a:schemeClr val="bg1"/>
          </a:solid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四角形: 角を丸くする 84">
            <a:extLst>
              <a:ext uri="{FF2B5EF4-FFF2-40B4-BE49-F238E27FC236}">
                <a16:creationId xmlns:a16="http://schemas.microsoft.com/office/drawing/2014/main" id="{7CBFD21F-487D-6EBF-D8AD-471FA76D36E1}"/>
              </a:ext>
            </a:extLst>
          </p:cNvPr>
          <p:cNvSpPr/>
          <p:nvPr/>
        </p:nvSpPr>
        <p:spPr>
          <a:xfrm>
            <a:off x="6800920" y="4532355"/>
            <a:ext cx="2413669" cy="1685567"/>
          </a:xfrm>
          <a:prstGeom prst="roundRect">
            <a:avLst/>
          </a:prstGeom>
          <a:solidFill>
            <a:schemeClr val="bg1"/>
          </a:solid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四角形: 角を丸くする 83">
            <a:extLst>
              <a:ext uri="{FF2B5EF4-FFF2-40B4-BE49-F238E27FC236}">
                <a16:creationId xmlns:a16="http://schemas.microsoft.com/office/drawing/2014/main" id="{7A05ECC7-C85D-D061-F861-4B954E09E290}"/>
              </a:ext>
            </a:extLst>
          </p:cNvPr>
          <p:cNvSpPr/>
          <p:nvPr/>
        </p:nvSpPr>
        <p:spPr>
          <a:xfrm>
            <a:off x="4148167" y="1109546"/>
            <a:ext cx="2413669" cy="1685567"/>
          </a:xfrm>
          <a:prstGeom prst="roundRect">
            <a:avLst/>
          </a:prstGeom>
          <a:solidFill>
            <a:schemeClr val="bg1"/>
          </a:solid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四角形: 角を丸くする 1">
            <a:extLst>
              <a:ext uri="{FF2B5EF4-FFF2-40B4-BE49-F238E27FC236}">
                <a16:creationId xmlns:a16="http://schemas.microsoft.com/office/drawing/2014/main" id="{47343DD3-8B15-97ED-8E8C-AEF68BC61DEC}"/>
              </a:ext>
            </a:extLst>
          </p:cNvPr>
          <p:cNvSpPr/>
          <p:nvPr/>
        </p:nvSpPr>
        <p:spPr>
          <a:xfrm>
            <a:off x="6800920" y="1103770"/>
            <a:ext cx="2413669" cy="1685567"/>
          </a:xfrm>
          <a:prstGeom prst="roundRect">
            <a:avLst/>
          </a:prstGeom>
          <a:solidFill>
            <a:schemeClr val="bg1"/>
          </a:solid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CBBC13BC-9FBD-E7C0-BA6A-9D362FED3A59}"/>
              </a:ext>
            </a:extLst>
          </p:cNvPr>
          <p:cNvSpPr>
            <a:spLocks noGrp="1"/>
          </p:cNvSpPr>
          <p:nvPr>
            <p:ph sz="quarter" idx="16"/>
          </p:nvPr>
        </p:nvSpPr>
        <p:spPr/>
        <p:txBody>
          <a:bodyPr/>
          <a:lstStyle/>
          <a:p>
            <a:r>
              <a:rPr lang="en-US" dirty="0"/>
              <a:t>3.2.2 Design P2P energy trading model</a:t>
            </a:r>
          </a:p>
        </p:txBody>
      </p:sp>
      <p:grpSp>
        <p:nvGrpSpPr>
          <p:cNvPr id="4" name="グループ化 3">
            <a:extLst>
              <a:ext uri="{FF2B5EF4-FFF2-40B4-BE49-F238E27FC236}">
                <a16:creationId xmlns:a16="http://schemas.microsoft.com/office/drawing/2014/main" id="{BC6B52DD-52C6-0CE2-5C15-E568C7FB271B}"/>
              </a:ext>
            </a:extLst>
          </p:cNvPr>
          <p:cNvGrpSpPr/>
          <p:nvPr/>
        </p:nvGrpSpPr>
        <p:grpSpPr>
          <a:xfrm>
            <a:off x="443909" y="973772"/>
            <a:ext cx="9018182" cy="5490362"/>
            <a:chOff x="237469" y="857175"/>
            <a:chExt cx="9535917" cy="6117010"/>
          </a:xfrm>
        </p:grpSpPr>
        <p:grpSp>
          <p:nvGrpSpPr>
            <p:cNvPr id="5" name="グループ化 4">
              <a:extLst>
                <a:ext uri="{FF2B5EF4-FFF2-40B4-BE49-F238E27FC236}">
                  <a16:creationId xmlns:a16="http://schemas.microsoft.com/office/drawing/2014/main" id="{9B1891B1-7BC8-FCDB-9238-AE6D98B35AD4}"/>
                </a:ext>
              </a:extLst>
            </p:cNvPr>
            <p:cNvGrpSpPr/>
            <p:nvPr/>
          </p:nvGrpSpPr>
          <p:grpSpPr>
            <a:xfrm>
              <a:off x="4055958" y="1096495"/>
              <a:ext cx="5338617" cy="5509222"/>
              <a:chOff x="3359278" y="1262743"/>
              <a:chExt cx="5338617" cy="5509222"/>
            </a:xfrm>
          </p:grpSpPr>
          <p:grpSp>
            <p:nvGrpSpPr>
              <p:cNvPr id="13" name="グループ化 12">
                <a:extLst>
                  <a:ext uri="{FF2B5EF4-FFF2-40B4-BE49-F238E27FC236}">
                    <a16:creationId xmlns:a16="http://schemas.microsoft.com/office/drawing/2014/main" id="{ED4C03A0-7AE8-3F22-6EA9-359396062D76}"/>
                  </a:ext>
                </a:extLst>
              </p:cNvPr>
              <p:cNvGrpSpPr/>
              <p:nvPr/>
            </p:nvGrpSpPr>
            <p:grpSpPr>
              <a:xfrm>
                <a:off x="3359278" y="1262743"/>
                <a:ext cx="5338617" cy="5509222"/>
                <a:chOff x="3244930" y="817493"/>
                <a:chExt cx="5452968" cy="5955085"/>
              </a:xfrm>
            </p:grpSpPr>
            <p:grpSp>
              <p:nvGrpSpPr>
                <p:cNvPr id="31" name="グループ化 30">
                  <a:extLst>
                    <a:ext uri="{FF2B5EF4-FFF2-40B4-BE49-F238E27FC236}">
                      <a16:creationId xmlns:a16="http://schemas.microsoft.com/office/drawing/2014/main" id="{1171532A-BB97-56AC-AE1A-D7C22A8848B6}"/>
                    </a:ext>
                  </a:extLst>
                </p:cNvPr>
                <p:cNvGrpSpPr/>
                <p:nvPr/>
              </p:nvGrpSpPr>
              <p:grpSpPr>
                <a:xfrm>
                  <a:off x="3246349" y="4742644"/>
                  <a:ext cx="2606904" cy="2029934"/>
                  <a:chOff x="191703" y="4089192"/>
                  <a:chExt cx="2835582" cy="2503781"/>
                </a:xfrm>
              </p:grpSpPr>
              <p:sp>
                <p:nvSpPr>
                  <p:cNvPr id="81" name="四角形: 角を丸くする 80">
                    <a:extLst>
                      <a:ext uri="{FF2B5EF4-FFF2-40B4-BE49-F238E27FC236}">
                        <a16:creationId xmlns:a16="http://schemas.microsoft.com/office/drawing/2014/main" id="{BE909F0B-3504-C1CD-D862-FE75D977CE84}"/>
                      </a:ext>
                    </a:extLst>
                  </p:cNvPr>
                  <p:cNvSpPr/>
                  <p:nvPr/>
                </p:nvSpPr>
                <p:spPr>
                  <a:xfrm>
                    <a:off x="191703" y="4089192"/>
                    <a:ext cx="2835582" cy="2503781"/>
                  </a:xfrm>
                  <a:prstGeom prst="roundRect">
                    <a:avLst/>
                  </a:prstGeom>
                  <a:solidFill>
                    <a:schemeClr val="bg1"/>
                  </a:solid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3" name="グラフィックス 72" descr="ホーム 枠線">
                    <a:extLst>
                      <a:ext uri="{FF2B5EF4-FFF2-40B4-BE49-F238E27FC236}">
                        <a16:creationId xmlns:a16="http://schemas.microsoft.com/office/drawing/2014/main" id="{1FE372E7-FE1F-88DC-3A6D-00FCD1EF6B70}"/>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685858" y="4965074"/>
                    <a:ext cx="1023255" cy="1023256"/>
                  </a:xfrm>
                  <a:prstGeom prst="rect">
                    <a:avLst/>
                  </a:prstGeom>
                </p:spPr>
              </p:pic>
              <p:pic>
                <p:nvPicPr>
                  <p:cNvPr id="74" name="グラフィックス 73" descr="電池を充電中 単色塗りつぶし">
                    <a:extLst>
                      <a:ext uri="{FF2B5EF4-FFF2-40B4-BE49-F238E27FC236}">
                        <a16:creationId xmlns:a16="http://schemas.microsoft.com/office/drawing/2014/main" id="{321B5240-327A-40DC-5A90-AB9A6388436D}"/>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614112" y="5817133"/>
                    <a:ext cx="566056" cy="566056"/>
                  </a:xfrm>
                  <a:prstGeom prst="rect">
                    <a:avLst/>
                  </a:prstGeom>
                </p:spPr>
              </p:pic>
              <p:pic>
                <p:nvPicPr>
                  <p:cNvPr id="75" name="グラフィックス 74" descr="ランプ 単色塗りつぶし">
                    <a:extLst>
                      <a:ext uri="{FF2B5EF4-FFF2-40B4-BE49-F238E27FC236}">
                        <a16:creationId xmlns:a16="http://schemas.microsoft.com/office/drawing/2014/main" id="{19D414B7-DE68-CF98-3F23-EE6062FFC05C}"/>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065374" y="4857204"/>
                    <a:ext cx="566056" cy="566056"/>
                  </a:xfrm>
                  <a:prstGeom prst="rect">
                    <a:avLst/>
                  </a:prstGeom>
                </p:spPr>
              </p:pic>
              <p:grpSp>
                <p:nvGrpSpPr>
                  <p:cNvPr id="76" name="グループ化 75">
                    <a:extLst>
                      <a:ext uri="{FF2B5EF4-FFF2-40B4-BE49-F238E27FC236}">
                        <a16:creationId xmlns:a16="http://schemas.microsoft.com/office/drawing/2014/main" id="{E7988ACD-E572-4888-B393-220E7C9B1A04}"/>
                      </a:ext>
                    </a:extLst>
                  </p:cNvPr>
                  <p:cNvGrpSpPr/>
                  <p:nvPr/>
                </p:nvGrpSpPr>
                <p:grpSpPr>
                  <a:xfrm>
                    <a:off x="1979021" y="4288173"/>
                    <a:ext cx="912915" cy="852059"/>
                    <a:chOff x="1652432" y="4184015"/>
                    <a:chExt cx="914400" cy="914400"/>
                  </a:xfrm>
                </p:grpSpPr>
                <p:pic>
                  <p:nvPicPr>
                    <p:cNvPr id="82" name="グラフィックス 81" descr="ソーラー パネル 単色塗りつぶし">
                      <a:extLst>
                        <a:ext uri="{FF2B5EF4-FFF2-40B4-BE49-F238E27FC236}">
                          <a16:creationId xmlns:a16="http://schemas.microsoft.com/office/drawing/2014/main" id="{0A2C30A0-6B4E-4173-113E-ED1C2D015242}"/>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1652432" y="4184015"/>
                      <a:ext cx="914400" cy="914400"/>
                    </a:xfrm>
                    <a:prstGeom prst="rect">
                      <a:avLst/>
                    </a:prstGeom>
                  </p:spPr>
                </p:pic>
                <p:pic>
                  <p:nvPicPr>
                    <p:cNvPr id="83" name="Picture 4" descr="真っ白な壁紙イラストのフリー素材｜イラストイメージ">
                      <a:extLst>
                        <a:ext uri="{FF2B5EF4-FFF2-40B4-BE49-F238E27FC236}">
                          <a16:creationId xmlns:a16="http://schemas.microsoft.com/office/drawing/2014/main" id="{7103100D-5B63-6F2F-D3C6-1280E9631C30}"/>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1660127" y="4216729"/>
                      <a:ext cx="281052" cy="268188"/>
                    </a:xfrm>
                    <a:prstGeom prst="rect">
                      <a:avLst/>
                    </a:prstGeom>
                    <a:noFill/>
                    <a:ln>
                      <a:noFill/>
                    </a:ln>
                    <a:extLst>
                      <a:ext uri="{909E8E84-426E-40DD-AFC4-6F175D3DCCD1}">
                        <a14:hiddenFill xmlns:a14="http://schemas.microsoft.com/office/drawing/2010/main">
                          <a:solidFill>
                            <a:srgbClr val="FFFFFF"/>
                          </a:solidFill>
                        </a14:hiddenFill>
                      </a:ext>
                    </a:extLst>
                  </p:spPr>
                </p:pic>
              </p:grpSp>
              <p:sp>
                <p:nvSpPr>
                  <p:cNvPr id="77" name="テキスト ボックス 76">
                    <a:extLst>
                      <a:ext uri="{FF2B5EF4-FFF2-40B4-BE49-F238E27FC236}">
                        <a16:creationId xmlns:a16="http://schemas.microsoft.com/office/drawing/2014/main" id="{A58D2E13-568B-7F81-79D8-529D1079D613}"/>
                      </a:ext>
                    </a:extLst>
                  </p:cNvPr>
                  <p:cNvSpPr txBox="1"/>
                  <p:nvPr/>
                </p:nvSpPr>
                <p:spPr>
                  <a:xfrm>
                    <a:off x="207578" y="5013274"/>
                    <a:ext cx="960518" cy="253915"/>
                  </a:xfrm>
                  <a:prstGeom prst="rect">
                    <a:avLst/>
                  </a:prstGeom>
                  <a:noFill/>
                </p:spPr>
                <p:txBody>
                  <a:bodyPr wrap="none" rtlCol="0">
                    <a:spAutoFit/>
                  </a:bodyPr>
                  <a:lstStyle/>
                  <a:p>
                    <a:r>
                      <a:rPr lang="en-US" sz="1050" dirty="0"/>
                      <a:t>Inelastic load</a:t>
                    </a:r>
                  </a:p>
                </p:txBody>
              </p:sp>
              <p:sp>
                <p:nvSpPr>
                  <p:cNvPr id="78" name="テキスト ボックス 77">
                    <a:extLst>
                      <a:ext uri="{FF2B5EF4-FFF2-40B4-BE49-F238E27FC236}">
                        <a16:creationId xmlns:a16="http://schemas.microsoft.com/office/drawing/2014/main" id="{91B90F30-2CD3-4F01-1D1E-235085AAD713}"/>
                      </a:ext>
                    </a:extLst>
                  </p:cNvPr>
                  <p:cNvSpPr txBox="1"/>
                  <p:nvPr/>
                </p:nvSpPr>
                <p:spPr>
                  <a:xfrm>
                    <a:off x="1577118" y="6255246"/>
                    <a:ext cx="603050" cy="253915"/>
                  </a:xfrm>
                  <a:prstGeom prst="rect">
                    <a:avLst/>
                  </a:prstGeom>
                  <a:noFill/>
                </p:spPr>
                <p:txBody>
                  <a:bodyPr wrap="none" rtlCol="0">
                    <a:spAutoFit/>
                  </a:bodyPr>
                  <a:lstStyle/>
                  <a:p>
                    <a:r>
                      <a:rPr lang="en-US" sz="1050" dirty="0"/>
                      <a:t>Battery</a:t>
                    </a:r>
                  </a:p>
                </p:txBody>
              </p:sp>
              <p:sp>
                <p:nvSpPr>
                  <p:cNvPr id="79" name="テキスト ボックス 78">
                    <a:extLst>
                      <a:ext uri="{FF2B5EF4-FFF2-40B4-BE49-F238E27FC236}">
                        <a16:creationId xmlns:a16="http://schemas.microsoft.com/office/drawing/2014/main" id="{D0492AD4-9EAE-5ECA-79D1-0FF28A331C9B}"/>
                      </a:ext>
                    </a:extLst>
                  </p:cNvPr>
                  <p:cNvSpPr txBox="1"/>
                  <p:nvPr/>
                </p:nvSpPr>
                <p:spPr>
                  <a:xfrm>
                    <a:off x="1924167" y="4422124"/>
                    <a:ext cx="343363" cy="253917"/>
                  </a:xfrm>
                  <a:prstGeom prst="rect">
                    <a:avLst/>
                  </a:prstGeom>
                  <a:noFill/>
                </p:spPr>
                <p:txBody>
                  <a:bodyPr wrap="none" rtlCol="0">
                    <a:spAutoFit/>
                  </a:bodyPr>
                  <a:lstStyle/>
                  <a:p>
                    <a:r>
                      <a:rPr lang="en-US" sz="1050" dirty="0"/>
                      <a:t>PV</a:t>
                    </a:r>
                  </a:p>
                </p:txBody>
              </p:sp>
              <p:sp>
                <p:nvSpPr>
                  <p:cNvPr id="80" name="テキスト ボックス 79">
                    <a:extLst>
                      <a:ext uri="{FF2B5EF4-FFF2-40B4-BE49-F238E27FC236}">
                        <a16:creationId xmlns:a16="http://schemas.microsoft.com/office/drawing/2014/main" id="{FC602629-6F62-C31B-3F48-3EBA25B60488}"/>
                      </a:ext>
                    </a:extLst>
                  </p:cNvPr>
                  <p:cNvSpPr txBox="1"/>
                  <p:nvPr/>
                </p:nvSpPr>
                <p:spPr>
                  <a:xfrm>
                    <a:off x="321790" y="4155553"/>
                    <a:ext cx="1299346" cy="379621"/>
                  </a:xfrm>
                  <a:prstGeom prst="rect">
                    <a:avLst/>
                  </a:prstGeom>
                  <a:noFill/>
                </p:spPr>
                <p:txBody>
                  <a:bodyPr wrap="none" rtlCol="0">
                    <a:spAutoFit/>
                  </a:bodyPr>
                  <a:lstStyle/>
                  <a:p>
                    <a:r>
                      <a:rPr lang="en-US" sz="1400" dirty="0"/>
                      <a:t>Prosumer #3</a:t>
                    </a:r>
                  </a:p>
                </p:txBody>
              </p:sp>
            </p:grpSp>
            <p:grpSp>
              <p:nvGrpSpPr>
                <p:cNvPr id="32" name="グループ化 31">
                  <a:extLst>
                    <a:ext uri="{FF2B5EF4-FFF2-40B4-BE49-F238E27FC236}">
                      <a16:creationId xmlns:a16="http://schemas.microsoft.com/office/drawing/2014/main" id="{4F2E4B93-FA58-D856-FF3E-34FED7EB2388}"/>
                    </a:ext>
                  </a:extLst>
                </p:cNvPr>
                <p:cNvGrpSpPr/>
                <p:nvPr/>
              </p:nvGrpSpPr>
              <p:grpSpPr>
                <a:xfrm>
                  <a:off x="6090993" y="4734467"/>
                  <a:ext cx="2606905" cy="2029934"/>
                  <a:chOff x="358879" y="4079106"/>
                  <a:chExt cx="2835582" cy="2503781"/>
                </a:xfrm>
              </p:grpSpPr>
              <p:sp>
                <p:nvSpPr>
                  <p:cNvPr id="72" name="四角形: 角を丸くする 71">
                    <a:extLst>
                      <a:ext uri="{FF2B5EF4-FFF2-40B4-BE49-F238E27FC236}">
                        <a16:creationId xmlns:a16="http://schemas.microsoft.com/office/drawing/2014/main" id="{993989E6-4D67-534C-49C4-A7BE84845A45}"/>
                      </a:ext>
                    </a:extLst>
                  </p:cNvPr>
                  <p:cNvSpPr/>
                  <p:nvPr/>
                </p:nvSpPr>
                <p:spPr>
                  <a:xfrm>
                    <a:off x="358879" y="4079106"/>
                    <a:ext cx="2835582" cy="2503781"/>
                  </a:xfrm>
                  <a:prstGeom prst="roundRect">
                    <a:avLst/>
                  </a:prstGeom>
                  <a:solidFill>
                    <a:schemeClr val="bg1"/>
                  </a:solid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3" name="グラフィックス 62" descr="ホーム 枠線">
                    <a:extLst>
                      <a:ext uri="{FF2B5EF4-FFF2-40B4-BE49-F238E27FC236}">
                        <a16:creationId xmlns:a16="http://schemas.microsoft.com/office/drawing/2014/main" id="{AB926459-A97F-7492-7F15-C6DBF7332C3A}"/>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853045" y="4954988"/>
                    <a:ext cx="1023256" cy="1023256"/>
                  </a:xfrm>
                  <a:prstGeom prst="rect">
                    <a:avLst/>
                  </a:prstGeom>
                </p:spPr>
              </p:pic>
              <p:pic>
                <p:nvPicPr>
                  <p:cNvPr id="64" name="グラフィックス 63" descr="電気自動車 単色塗りつぶし">
                    <a:extLst>
                      <a:ext uri="{FF2B5EF4-FFF2-40B4-BE49-F238E27FC236}">
                        <a16:creationId xmlns:a16="http://schemas.microsoft.com/office/drawing/2014/main" id="{C0A4F695-6461-55E9-6DAA-D11C92A1556E}"/>
                      </a:ext>
                    </a:extLst>
                  </p:cNvPr>
                  <p:cNvPicPr>
                    <a:picLocks noChangeAspect="1"/>
                  </p:cNvPicPr>
                  <p:nvPr/>
                </p:nvPicPr>
                <p:blipFill>
                  <a:blip r:embed="rId12">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2401661" y="5807047"/>
                    <a:ext cx="566056" cy="566056"/>
                  </a:xfrm>
                  <a:prstGeom prst="rect">
                    <a:avLst/>
                  </a:prstGeom>
                </p:spPr>
              </p:pic>
              <p:pic>
                <p:nvPicPr>
                  <p:cNvPr id="65" name="グラフィックス 64" descr="洗濯機 単色塗りつぶし">
                    <a:extLst>
                      <a:ext uri="{FF2B5EF4-FFF2-40B4-BE49-F238E27FC236}">
                        <a16:creationId xmlns:a16="http://schemas.microsoft.com/office/drawing/2014/main" id="{4FB2F9A5-3512-5808-11F6-042772424B9E}"/>
                      </a:ext>
                    </a:extLst>
                  </p:cNvPr>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1232561" y="5413174"/>
                    <a:ext cx="566056" cy="566056"/>
                  </a:xfrm>
                  <a:prstGeom prst="rect">
                    <a:avLst/>
                  </a:prstGeom>
                </p:spPr>
              </p:pic>
              <p:pic>
                <p:nvPicPr>
                  <p:cNvPr id="66" name="グラフィックス 65" descr="ランプ 単色塗りつぶし">
                    <a:extLst>
                      <a:ext uri="{FF2B5EF4-FFF2-40B4-BE49-F238E27FC236}">
                        <a16:creationId xmlns:a16="http://schemas.microsoft.com/office/drawing/2014/main" id="{976A9300-FA76-4C57-B21D-B506D172EFE2}"/>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232561" y="4847118"/>
                    <a:ext cx="566056" cy="566056"/>
                  </a:xfrm>
                  <a:prstGeom prst="rect">
                    <a:avLst/>
                  </a:prstGeom>
                </p:spPr>
              </p:pic>
              <p:pic>
                <p:nvPicPr>
                  <p:cNvPr id="67" name="Picture 4" descr="真っ白な壁紙イラストのフリー素材｜イラストイメージ">
                    <a:extLst>
                      <a:ext uri="{FF2B5EF4-FFF2-40B4-BE49-F238E27FC236}">
                        <a16:creationId xmlns:a16="http://schemas.microsoft.com/office/drawing/2014/main" id="{A267A726-8920-2AEC-6027-E705DF259F92}"/>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2154121" y="4318658"/>
                    <a:ext cx="280596" cy="249903"/>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68" name="テキスト ボックス 67">
                    <a:extLst>
                      <a:ext uri="{FF2B5EF4-FFF2-40B4-BE49-F238E27FC236}">
                        <a16:creationId xmlns:a16="http://schemas.microsoft.com/office/drawing/2014/main" id="{DD6F952B-CC93-181C-D865-A4D31F06206B}"/>
                      </a:ext>
                    </a:extLst>
                  </p:cNvPr>
                  <p:cNvSpPr txBox="1"/>
                  <p:nvPr/>
                </p:nvSpPr>
                <p:spPr>
                  <a:xfrm>
                    <a:off x="374763" y="5003188"/>
                    <a:ext cx="960519" cy="253916"/>
                  </a:xfrm>
                  <a:prstGeom prst="rect">
                    <a:avLst/>
                  </a:prstGeom>
                  <a:noFill/>
                </p:spPr>
                <p:txBody>
                  <a:bodyPr wrap="none" rtlCol="0">
                    <a:spAutoFit/>
                  </a:bodyPr>
                  <a:lstStyle/>
                  <a:p>
                    <a:r>
                      <a:rPr lang="en-US" sz="1050" dirty="0"/>
                      <a:t>Inelastic load</a:t>
                    </a:r>
                  </a:p>
                </p:txBody>
              </p:sp>
              <p:sp>
                <p:nvSpPr>
                  <p:cNvPr id="69" name="テキスト ボックス 68">
                    <a:extLst>
                      <a:ext uri="{FF2B5EF4-FFF2-40B4-BE49-F238E27FC236}">
                        <a16:creationId xmlns:a16="http://schemas.microsoft.com/office/drawing/2014/main" id="{EAF43B66-83B4-5BE3-C83D-BDA76F049AC7}"/>
                      </a:ext>
                    </a:extLst>
                  </p:cNvPr>
                  <p:cNvSpPr txBox="1"/>
                  <p:nvPr/>
                </p:nvSpPr>
                <p:spPr>
                  <a:xfrm>
                    <a:off x="358879" y="5628475"/>
                    <a:ext cx="845103" cy="253916"/>
                  </a:xfrm>
                  <a:prstGeom prst="rect">
                    <a:avLst/>
                  </a:prstGeom>
                  <a:noFill/>
                </p:spPr>
                <p:txBody>
                  <a:bodyPr wrap="none" rtlCol="0">
                    <a:spAutoFit/>
                  </a:bodyPr>
                  <a:lstStyle/>
                  <a:p>
                    <a:r>
                      <a:rPr lang="en-US" sz="1050" dirty="0"/>
                      <a:t>Elastic load</a:t>
                    </a:r>
                  </a:p>
                </p:txBody>
              </p:sp>
              <p:sp>
                <p:nvSpPr>
                  <p:cNvPr id="70" name="テキスト ボックス 69">
                    <a:extLst>
                      <a:ext uri="{FF2B5EF4-FFF2-40B4-BE49-F238E27FC236}">
                        <a16:creationId xmlns:a16="http://schemas.microsoft.com/office/drawing/2014/main" id="{DA6A979E-9025-B868-D13E-9C049E929185}"/>
                      </a:ext>
                    </a:extLst>
                  </p:cNvPr>
                  <p:cNvSpPr txBox="1"/>
                  <p:nvPr/>
                </p:nvSpPr>
                <p:spPr>
                  <a:xfrm>
                    <a:off x="2514110" y="6245159"/>
                    <a:ext cx="335348" cy="253916"/>
                  </a:xfrm>
                  <a:prstGeom prst="rect">
                    <a:avLst/>
                  </a:prstGeom>
                  <a:noFill/>
                </p:spPr>
                <p:txBody>
                  <a:bodyPr wrap="none" rtlCol="0">
                    <a:spAutoFit/>
                  </a:bodyPr>
                  <a:lstStyle/>
                  <a:p>
                    <a:r>
                      <a:rPr lang="en-US" sz="1050" dirty="0"/>
                      <a:t>EV</a:t>
                    </a:r>
                  </a:p>
                </p:txBody>
              </p:sp>
              <p:sp>
                <p:nvSpPr>
                  <p:cNvPr id="71" name="テキスト ボックス 70">
                    <a:extLst>
                      <a:ext uri="{FF2B5EF4-FFF2-40B4-BE49-F238E27FC236}">
                        <a16:creationId xmlns:a16="http://schemas.microsoft.com/office/drawing/2014/main" id="{8C7E70C5-EA40-40DB-7FC3-A60C59B70961}"/>
                      </a:ext>
                    </a:extLst>
                  </p:cNvPr>
                  <p:cNvSpPr txBox="1"/>
                  <p:nvPr/>
                </p:nvSpPr>
                <p:spPr>
                  <a:xfrm>
                    <a:off x="488976" y="4145468"/>
                    <a:ext cx="1299344" cy="379621"/>
                  </a:xfrm>
                  <a:prstGeom prst="rect">
                    <a:avLst/>
                  </a:prstGeom>
                  <a:noFill/>
                </p:spPr>
                <p:txBody>
                  <a:bodyPr wrap="none" rtlCol="0">
                    <a:spAutoFit/>
                  </a:bodyPr>
                  <a:lstStyle/>
                  <a:p>
                    <a:r>
                      <a:rPr lang="en-US" sz="1400" dirty="0"/>
                      <a:t>Prosumer #4</a:t>
                    </a:r>
                  </a:p>
                </p:txBody>
              </p:sp>
            </p:grpSp>
            <p:grpSp>
              <p:nvGrpSpPr>
                <p:cNvPr id="33" name="グループ化 32">
                  <a:extLst>
                    <a:ext uri="{FF2B5EF4-FFF2-40B4-BE49-F238E27FC236}">
                      <a16:creationId xmlns:a16="http://schemas.microsoft.com/office/drawing/2014/main" id="{F667C6D0-A1CE-B148-51E8-DC87A1EAAA33}"/>
                    </a:ext>
                  </a:extLst>
                </p:cNvPr>
                <p:cNvGrpSpPr/>
                <p:nvPr/>
              </p:nvGrpSpPr>
              <p:grpSpPr>
                <a:xfrm>
                  <a:off x="3244930" y="817493"/>
                  <a:ext cx="2606905" cy="2029934"/>
                  <a:chOff x="168212" y="4079106"/>
                  <a:chExt cx="2835583" cy="2503781"/>
                </a:xfrm>
              </p:grpSpPr>
              <p:sp>
                <p:nvSpPr>
                  <p:cNvPr id="60" name="四角形: 角を丸くする 59">
                    <a:extLst>
                      <a:ext uri="{FF2B5EF4-FFF2-40B4-BE49-F238E27FC236}">
                        <a16:creationId xmlns:a16="http://schemas.microsoft.com/office/drawing/2014/main" id="{FF53B9DD-D398-69BD-5FC7-F630B2F63AD3}"/>
                      </a:ext>
                    </a:extLst>
                  </p:cNvPr>
                  <p:cNvSpPr/>
                  <p:nvPr/>
                </p:nvSpPr>
                <p:spPr>
                  <a:xfrm>
                    <a:off x="168212" y="4079106"/>
                    <a:ext cx="2835583" cy="2503781"/>
                  </a:xfrm>
                  <a:prstGeom prst="roundRect">
                    <a:avLst/>
                  </a:prstGeom>
                  <a:solidFill>
                    <a:schemeClr val="bg1"/>
                  </a:solid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8" name="グラフィックス 47" descr="ホーム 枠線">
                    <a:extLst>
                      <a:ext uri="{FF2B5EF4-FFF2-40B4-BE49-F238E27FC236}">
                        <a16:creationId xmlns:a16="http://schemas.microsoft.com/office/drawing/2014/main" id="{2462E3EF-2B5A-3ED5-A032-B0BEE693CD2A}"/>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662398" y="4954988"/>
                    <a:ext cx="1023255" cy="1023256"/>
                  </a:xfrm>
                  <a:prstGeom prst="rect">
                    <a:avLst/>
                  </a:prstGeom>
                </p:spPr>
              </p:pic>
              <p:pic>
                <p:nvPicPr>
                  <p:cNvPr id="49" name="グラフィックス 48" descr="電池を充電中 単色塗りつぶし">
                    <a:extLst>
                      <a:ext uri="{FF2B5EF4-FFF2-40B4-BE49-F238E27FC236}">
                        <a16:creationId xmlns:a16="http://schemas.microsoft.com/office/drawing/2014/main" id="{7A356070-0200-33FA-83DF-A10AFFF0C836}"/>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590654" y="5807047"/>
                    <a:ext cx="566056" cy="566056"/>
                  </a:xfrm>
                  <a:prstGeom prst="rect">
                    <a:avLst/>
                  </a:prstGeom>
                </p:spPr>
              </p:pic>
              <p:pic>
                <p:nvPicPr>
                  <p:cNvPr id="50" name="グラフィックス 49" descr="電気自動車 単色塗りつぶし">
                    <a:extLst>
                      <a:ext uri="{FF2B5EF4-FFF2-40B4-BE49-F238E27FC236}">
                        <a16:creationId xmlns:a16="http://schemas.microsoft.com/office/drawing/2014/main" id="{81D31238-251C-96A9-CF6D-F9CFC72CACE8}"/>
                      </a:ext>
                    </a:extLst>
                  </p:cNvPr>
                  <p:cNvPicPr>
                    <a:picLocks noChangeAspect="1"/>
                  </p:cNvPicPr>
                  <p:nvPr/>
                </p:nvPicPr>
                <p:blipFill>
                  <a:blip r:embed="rId12">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2211016" y="5807047"/>
                    <a:ext cx="566056" cy="566056"/>
                  </a:xfrm>
                  <a:prstGeom prst="rect">
                    <a:avLst/>
                  </a:prstGeom>
                </p:spPr>
              </p:pic>
              <p:pic>
                <p:nvPicPr>
                  <p:cNvPr id="51" name="グラフィックス 50" descr="洗濯機 単色塗りつぶし">
                    <a:extLst>
                      <a:ext uri="{FF2B5EF4-FFF2-40B4-BE49-F238E27FC236}">
                        <a16:creationId xmlns:a16="http://schemas.microsoft.com/office/drawing/2014/main" id="{8F7DDBB4-185C-19D8-1C7F-83E9591ADD7A}"/>
                      </a:ext>
                    </a:extLst>
                  </p:cNvPr>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1041914" y="5413174"/>
                    <a:ext cx="566056" cy="566056"/>
                  </a:xfrm>
                  <a:prstGeom prst="rect">
                    <a:avLst/>
                  </a:prstGeom>
                </p:spPr>
              </p:pic>
              <p:pic>
                <p:nvPicPr>
                  <p:cNvPr id="52" name="グラフィックス 51" descr="ランプ 単色塗りつぶし">
                    <a:extLst>
                      <a:ext uri="{FF2B5EF4-FFF2-40B4-BE49-F238E27FC236}">
                        <a16:creationId xmlns:a16="http://schemas.microsoft.com/office/drawing/2014/main" id="{8EE075A6-C33E-D616-8015-5C9BC25EA91B}"/>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041914" y="4847118"/>
                    <a:ext cx="566056" cy="566056"/>
                  </a:xfrm>
                  <a:prstGeom prst="rect">
                    <a:avLst/>
                  </a:prstGeom>
                </p:spPr>
              </p:pic>
              <p:grpSp>
                <p:nvGrpSpPr>
                  <p:cNvPr id="53" name="グループ化 52">
                    <a:extLst>
                      <a:ext uri="{FF2B5EF4-FFF2-40B4-BE49-F238E27FC236}">
                        <a16:creationId xmlns:a16="http://schemas.microsoft.com/office/drawing/2014/main" id="{FCAB1A24-AC68-16DB-B10D-EF9DA260A323}"/>
                      </a:ext>
                    </a:extLst>
                  </p:cNvPr>
                  <p:cNvGrpSpPr/>
                  <p:nvPr/>
                </p:nvGrpSpPr>
                <p:grpSpPr>
                  <a:xfrm>
                    <a:off x="1955574" y="4278087"/>
                    <a:ext cx="912915" cy="852059"/>
                    <a:chOff x="1628938" y="4173191"/>
                    <a:chExt cx="914400" cy="914400"/>
                  </a:xfrm>
                </p:grpSpPr>
                <p:pic>
                  <p:nvPicPr>
                    <p:cNvPr id="61" name="グラフィックス 60" descr="ソーラー パネル 単色塗りつぶし">
                      <a:extLst>
                        <a:ext uri="{FF2B5EF4-FFF2-40B4-BE49-F238E27FC236}">
                          <a16:creationId xmlns:a16="http://schemas.microsoft.com/office/drawing/2014/main" id="{1D08A6A7-C1B5-68F0-4777-B1CB38CE7C24}"/>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1628938" y="4173191"/>
                      <a:ext cx="914400" cy="914400"/>
                    </a:xfrm>
                    <a:prstGeom prst="rect">
                      <a:avLst/>
                    </a:prstGeom>
                  </p:spPr>
                </p:pic>
                <p:pic>
                  <p:nvPicPr>
                    <p:cNvPr id="62" name="Picture 4" descr="真っ白な壁紙イラストのフリー素材｜イラストイメージ">
                      <a:extLst>
                        <a:ext uri="{FF2B5EF4-FFF2-40B4-BE49-F238E27FC236}">
                          <a16:creationId xmlns:a16="http://schemas.microsoft.com/office/drawing/2014/main" id="{CE180A66-EDB6-4261-919D-A808A2181B4E}"/>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1636842" y="4216729"/>
                      <a:ext cx="281052" cy="268188"/>
                    </a:xfrm>
                    <a:prstGeom prst="rect">
                      <a:avLst/>
                    </a:prstGeom>
                    <a:noFill/>
                    <a:ln>
                      <a:noFill/>
                    </a:ln>
                    <a:extLst>
                      <a:ext uri="{909E8E84-426E-40DD-AFC4-6F175D3DCCD1}">
                        <a14:hiddenFill xmlns:a14="http://schemas.microsoft.com/office/drawing/2010/main">
                          <a:solidFill>
                            <a:srgbClr val="FFFFFF"/>
                          </a:solidFill>
                        </a14:hiddenFill>
                      </a:ext>
                    </a:extLst>
                  </p:spPr>
                </p:pic>
              </p:grpSp>
              <p:sp>
                <p:nvSpPr>
                  <p:cNvPr id="54" name="テキスト ボックス 53">
                    <a:extLst>
                      <a:ext uri="{FF2B5EF4-FFF2-40B4-BE49-F238E27FC236}">
                        <a16:creationId xmlns:a16="http://schemas.microsoft.com/office/drawing/2014/main" id="{FA6B1CEE-0C9F-D7B2-47CE-EE450685C3B9}"/>
                      </a:ext>
                    </a:extLst>
                  </p:cNvPr>
                  <p:cNvSpPr txBox="1"/>
                  <p:nvPr/>
                </p:nvSpPr>
                <p:spPr>
                  <a:xfrm>
                    <a:off x="184118" y="5003188"/>
                    <a:ext cx="960521" cy="253915"/>
                  </a:xfrm>
                  <a:prstGeom prst="rect">
                    <a:avLst/>
                  </a:prstGeom>
                  <a:noFill/>
                </p:spPr>
                <p:txBody>
                  <a:bodyPr wrap="none" rtlCol="0">
                    <a:spAutoFit/>
                  </a:bodyPr>
                  <a:lstStyle/>
                  <a:p>
                    <a:r>
                      <a:rPr lang="en-US" sz="1050" dirty="0"/>
                      <a:t>Inelastic load</a:t>
                    </a:r>
                  </a:p>
                </p:txBody>
              </p:sp>
              <p:sp>
                <p:nvSpPr>
                  <p:cNvPr id="55" name="テキスト ボックス 54">
                    <a:extLst>
                      <a:ext uri="{FF2B5EF4-FFF2-40B4-BE49-F238E27FC236}">
                        <a16:creationId xmlns:a16="http://schemas.microsoft.com/office/drawing/2014/main" id="{BB26C382-48A3-65F5-E2D1-B514FD215A82}"/>
                      </a:ext>
                    </a:extLst>
                  </p:cNvPr>
                  <p:cNvSpPr txBox="1"/>
                  <p:nvPr/>
                </p:nvSpPr>
                <p:spPr>
                  <a:xfrm>
                    <a:off x="168237" y="5628476"/>
                    <a:ext cx="845103" cy="253915"/>
                  </a:xfrm>
                  <a:prstGeom prst="rect">
                    <a:avLst/>
                  </a:prstGeom>
                  <a:noFill/>
                </p:spPr>
                <p:txBody>
                  <a:bodyPr wrap="none" rtlCol="0">
                    <a:spAutoFit/>
                  </a:bodyPr>
                  <a:lstStyle/>
                  <a:p>
                    <a:r>
                      <a:rPr lang="en-US" sz="1050" dirty="0"/>
                      <a:t>Elastic load</a:t>
                    </a:r>
                  </a:p>
                </p:txBody>
              </p:sp>
              <p:sp>
                <p:nvSpPr>
                  <p:cNvPr id="56" name="テキスト ボックス 55">
                    <a:extLst>
                      <a:ext uri="{FF2B5EF4-FFF2-40B4-BE49-F238E27FC236}">
                        <a16:creationId xmlns:a16="http://schemas.microsoft.com/office/drawing/2014/main" id="{9B2A916A-2C33-D602-3436-624B9F879675}"/>
                      </a:ext>
                    </a:extLst>
                  </p:cNvPr>
                  <p:cNvSpPr txBox="1"/>
                  <p:nvPr/>
                </p:nvSpPr>
                <p:spPr>
                  <a:xfrm>
                    <a:off x="1553657" y="6245160"/>
                    <a:ext cx="603050" cy="253915"/>
                  </a:xfrm>
                  <a:prstGeom prst="rect">
                    <a:avLst/>
                  </a:prstGeom>
                  <a:noFill/>
                </p:spPr>
                <p:txBody>
                  <a:bodyPr wrap="none" rtlCol="0">
                    <a:spAutoFit/>
                  </a:bodyPr>
                  <a:lstStyle/>
                  <a:p>
                    <a:r>
                      <a:rPr lang="en-US" sz="1050" dirty="0"/>
                      <a:t>Battery</a:t>
                    </a:r>
                  </a:p>
                </p:txBody>
              </p:sp>
              <p:sp>
                <p:nvSpPr>
                  <p:cNvPr id="57" name="テキスト ボックス 56">
                    <a:extLst>
                      <a:ext uri="{FF2B5EF4-FFF2-40B4-BE49-F238E27FC236}">
                        <a16:creationId xmlns:a16="http://schemas.microsoft.com/office/drawing/2014/main" id="{7919F73E-2196-D959-B889-C0F17AC02198}"/>
                      </a:ext>
                    </a:extLst>
                  </p:cNvPr>
                  <p:cNvSpPr txBox="1"/>
                  <p:nvPr/>
                </p:nvSpPr>
                <p:spPr>
                  <a:xfrm>
                    <a:off x="2323464" y="6245160"/>
                    <a:ext cx="335347" cy="253915"/>
                  </a:xfrm>
                  <a:prstGeom prst="rect">
                    <a:avLst/>
                  </a:prstGeom>
                  <a:noFill/>
                </p:spPr>
                <p:txBody>
                  <a:bodyPr wrap="none" rtlCol="0">
                    <a:spAutoFit/>
                  </a:bodyPr>
                  <a:lstStyle/>
                  <a:p>
                    <a:r>
                      <a:rPr lang="en-US" sz="1050" dirty="0"/>
                      <a:t>EV</a:t>
                    </a:r>
                  </a:p>
                </p:txBody>
              </p:sp>
              <p:sp>
                <p:nvSpPr>
                  <p:cNvPr id="58" name="テキスト ボックス 57">
                    <a:extLst>
                      <a:ext uri="{FF2B5EF4-FFF2-40B4-BE49-F238E27FC236}">
                        <a16:creationId xmlns:a16="http://schemas.microsoft.com/office/drawing/2014/main" id="{B3AB7448-0ADE-82F0-B512-18D636B6AAC5}"/>
                      </a:ext>
                    </a:extLst>
                  </p:cNvPr>
                  <p:cNvSpPr txBox="1"/>
                  <p:nvPr/>
                </p:nvSpPr>
                <p:spPr>
                  <a:xfrm>
                    <a:off x="1896735" y="4398130"/>
                    <a:ext cx="343365" cy="253917"/>
                  </a:xfrm>
                  <a:prstGeom prst="rect">
                    <a:avLst/>
                  </a:prstGeom>
                  <a:noFill/>
                </p:spPr>
                <p:txBody>
                  <a:bodyPr wrap="none" rtlCol="0">
                    <a:spAutoFit/>
                  </a:bodyPr>
                  <a:lstStyle/>
                  <a:p>
                    <a:r>
                      <a:rPr lang="en-US" sz="1050" dirty="0"/>
                      <a:t>PV</a:t>
                    </a:r>
                  </a:p>
                </p:txBody>
              </p:sp>
              <p:sp>
                <p:nvSpPr>
                  <p:cNvPr id="59" name="テキスト ボックス 58">
                    <a:extLst>
                      <a:ext uri="{FF2B5EF4-FFF2-40B4-BE49-F238E27FC236}">
                        <a16:creationId xmlns:a16="http://schemas.microsoft.com/office/drawing/2014/main" id="{86123A3D-69F8-F51C-0C74-4314EE822820}"/>
                      </a:ext>
                    </a:extLst>
                  </p:cNvPr>
                  <p:cNvSpPr txBox="1"/>
                  <p:nvPr/>
                </p:nvSpPr>
                <p:spPr>
                  <a:xfrm>
                    <a:off x="298330" y="4145467"/>
                    <a:ext cx="1194558" cy="307777"/>
                  </a:xfrm>
                  <a:prstGeom prst="rect">
                    <a:avLst/>
                  </a:prstGeom>
                  <a:noFill/>
                </p:spPr>
                <p:txBody>
                  <a:bodyPr wrap="none" rtlCol="0">
                    <a:spAutoFit/>
                  </a:bodyPr>
                  <a:lstStyle/>
                  <a:p>
                    <a:r>
                      <a:rPr lang="en-US" sz="1400" dirty="0"/>
                      <a:t>Prosumer #1</a:t>
                    </a:r>
                  </a:p>
                </p:txBody>
              </p:sp>
            </p:grpSp>
            <p:grpSp>
              <p:nvGrpSpPr>
                <p:cNvPr id="34" name="グループ化 33">
                  <a:extLst>
                    <a:ext uri="{FF2B5EF4-FFF2-40B4-BE49-F238E27FC236}">
                      <a16:creationId xmlns:a16="http://schemas.microsoft.com/office/drawing/2014/main" id="{28C6BC3E-E185-DA56-01D7-4CF465E28077}"/>
                    </a:ext>
                  </a:extLst>
                </p:cNvPr>
                <p:cNvGrpSpPr/>
                <p:nvPr/>
              </p:nvGrpSpPr>
              <p:grpSpPr>
                <a:xfrm>
                  <a:off x="6090994" y="817493"/>
                  <a:ext cx="2606904" cy="2029934"/>
                  <a:chOff x="358879" y="4079106"/>
                  <a:chExt cx="2835582" cy="2503781"/>
                </a:xfrm>
              </p:grpSpPr>
              <p:sp>
                <p:nvSpPr>
                  <p:cNvPr id="45" name="四角形: 角を丸くする 44">
                    <a:extLst>
                      <a:ext uri="{FF2B5EF4-FFF2-40B4-BE49-F238E27FC236}">
                        <a16:creationId xmlns:a16="http://schemas.microsoft.com/office/drawing/2014/main" id="{911A9F85-D07C-0416-90DE-9073CA49B388}"/>
                      </a:ext>
                    </a:extLst>
                  </p:cNvPr>
                  <p:cNvSpPr/>
                  <p:nvPr/>
                </p:nvSpPr>
                <p:spPr>
                  <a:xfrm>
                    <a:off x="358879" y="4079106"/>
                    <a:ext cx="2835582" cy="2503781"/>
                  </a:xfrm>
                  <a:prstGeom prst="roundRect">
                    <a:avLst/>
                  </a:prstGeom>
                  <a:solidFill>
                    <a:schemeClr val="bg1"/>
                  </a:solid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5" name="グラフィックス 34" descr="ホーム 枠線">
                    <a:extLst>
                      <a:ext uri="{FF2B5EF4-FFF2-40B4-BE49-F238E27FC236}">
                        <a16:creationId xmlns:a16="http://schemas.microsoft.com/office/drawing/2014/main" id="{C576E8C8-72BD-C01E-F582-1D27D9C069EE}"/>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853045" y="4954988"/>
                    <a:ext cx="1023256" cy="1023256"/>
                  </a:xfrm>
                  <a:prstGeom prst="rect">
                    <a:avLst/>
                  </a:prstGeom>
                </p:spPr>
              </p:pic>
              <p:pic>
                <p:nvPicPr>
                  <p:cNvPr id="36" name="グラフィックス 35" descr="電気自動車 単色塗りつぶし">
                    <a:extLst>
                      <a:ext uri="{FF2B5EF4-FFF2-40B4-BE49-F238E27FC236}">
                        <a16:creationId xmlns:a16="http://schemas.microsoft.com/office/drawing/2014/main" id="{AA890960-78E4-D10D-BD7E-58E306AB3168}"/>
                      </a:ext>
                    </a:extLst>
                  </p:cNvPr>
                  <p:cNvPicPr>
                    <a:picLocks noChangeAspect="1"/>
                  </p:cNvPicPr>
                  <p:nvPr/>
                </p:nvPicPr>
                <p:blipFill>
                  <a:blip r:embed="rId12">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2401661" y="5807047"/>
                    <a:ext cx="566056" cy="566056"/>
                  </a:xfrm>
                  <a:prstGeom prst="rect">
                    <a:avLst/>
                  </a:prstGeom>
                </p:spPr>
              </p:pic>
              <p:pic>
                <p:nvPicPr>
                  <p:cNvPr id="37" name="グラフィックス 36" descr="洗濯機 単色塗りつぶし">
                    <a:extLst>
                      <a:ext uri="{FF2B5EF4-FFF2-40B4-BE49-F238E27FC236}">
                        <a16:creationId xmlns:a16="http://schemas.microsoft.com/office/drawing/2014/main" id="{F5128FBC-849A-D868-0D72-F2E38233914B}"/>
                      </a:ext>
                    </a:extLst>
                  </p:cNvPr>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1232561" y="5413174"/>
                    <a:ext cx="566056" cy="566056"/>
                  </a:xfrm>
                  <a:prstGeom prst="rect">
                    <a:avLst/>
                  </a:prstGeom>
                </p:spPr>
              </p:pic>
              <p:pic>
                <p:nvPicPr>
                  <p:cNvPr id="38" name="グラフィックス 37" descr="ランプ 単色塗りつぶし">
                    <a:extLst>
                      <a:ext uri="{FF2B5EF4-FFF2-40B4-BE49-F238E27FC236}">
                        <a16:creationId xmlns:a16="http://schemas.microsoft.com/office/drawing/2014/main" id="{99004AE8-6E1B-7A2E-929C-6FE4CBABDE83}"/>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232561" y="4847118"/>
                    <a:ext cx="566056" cy="566056"/>
                  </a:xfrm>
                  <a:prstGeom prst="rect">
                    <a:avLst/>
                  </a:prstGeom>
                </p:spPr>
              </p:pic>
              <p:grpSp>
                <p:nvGrpSpPr>
                  <p:cNvPr id="39" name="グループ化 38">
                    <a:extLst>
                      <a:ext uri="{FF2B5EF4-FFF2-40B4-BE49-F238E27FC236}">
                        <a16:creationId xmlns:a16="http://schemas.microsoft.com/office/drawing/2014/main" id="{4483CB32-F5A1-42BC-53D2-1735884C5077}"/>
                      </a:ext>
                    </a:extLst>
                  </p:cNvPr>
                  <p:cNvGrpSpPr/>
                  <p:nvPr/>
                </p:nvGrpSpPr>
                <p:grpSpPr>
                  <a:xfrm>
                    <a:off x="2146218" y="4278087"/>
                    <a:ext cx="912915" cy="852059"/>
                    <a:chOff x="1819894" y="4173191"/>
                    <a:chExt cx="914400" cy="914400"/>
                  </a:xfrm>
                </p:grpSpPr>
                <p:pic>
                  <p:nvPicPr>
                    <p:cNvPr id="46" name="グラフィックス 45" descr="ソーラー パネル 単色塗りつぶし">
                      <a:extLst>
                        <a:ext uri="{FF2B5EF4-FFF2-40B4-BE49-F238E27FC236}">
                          <a16:creationId xmlns:a16="http://schemas.microsoft.com/office/drawing/2014/main" id="{9A386972-0195-2921-6AAE-DBE0DE449BE8}"/>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1819894" y="4173191"/>
                      <a:ext cx="914400" cy="914400"/>
                    </a:xfrm>
                    <a:prstGeom prst="rect">
                      <a:avLst/>
                    </a:prstGeom>
                  </p:spPr>
                </p:pic>
                <p:pic>
                  <p:nvPicPr>
                    <p:cNvPr id="47" name="Picture 4" descr="真っ白な壁紙イラストのフリー素材｜イラストイメージ">
                      <a:extLst>
                        <a:ext uri="{FF2B5EF4-FFF2-40B4-BE49-F238E27FC236}">
                          <a16:creationId xmlns:a16="http://schemas.microsoft.com/office/drawing/2014/main" id="{5C8841B1-6345-F330-A24C-6EF48A1B0F65}"/>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1827810" y="4216730"/>
                      <a:ext cx="281052" cy="268187"/>
                    </a:xfrm>
                    <a:prstGeom prst="rect">
                      <a:avLst/>
                    </a:prstGeom>
                    <a:noFill/>
                    <a:ln>
                      <a:noFill/>
                    </a:ln>
                    <a:extLst>
                      <a:ext uri="{909E8E84-426E-40DD-AFC4-6F175D3DCCD1}">
                        <a14:hiddenFill xmlns:a14="http://schemas.microsoft.com/office/drawing/2010/main">
                          <a:solidFill>
                            <a:srgbClr val="FFFFFF"/>
                          </a:solidFill>
                        </a14:hiddenFill>
                      </a:ext>
                    </a:extLst>
                  </p:spPr>
                </p:pic>
              </p:grpSp>
              <p:sp>
                <p:nvSpPr>
                  <p:cNvPr id="40" name="テキスト ボックス 39">
                    <a:extLst>
                      <a:ext uri="{FF2B5EF4-FFF2-40B4-BE49-F238E27FC236}">
                        <a16:creationId xmlns:a16="http://schemas.microsoft.com/office/drawing/2014/main" id="{D7F2D2D0-CBA7-8D8C-F5AB-01EEE0C654C8}"/>
                      </a:ext>
                    </a:extLst>
                  </p:cNvPr>
                  <p:cNvSpPr txBox="1"/>
                  <p:nvPr/>
                </p:nvSpPr>
                <p:spPr>
                  <a:xfrm>
                    <a:off x="374763" y="5003188"/>
                    <a:ext cx="960519" cy="253916"/>
                  </a:xfrm>
                  <a:prstGeom prst="rect">
                    <a:avLst/>
                  </a:prstGeom>
                  <a:noFill/>
                </p:spPr>
                <p:txBody>
                  <a:bodyPr wrap="none" rtlCol="0">
                    <a:spAutoFit/>
                  </a:bodyPr>
                  <a:lstStyle/>
                  <a:p>
                    <a:r>
                      <a:rPr lang="en-US" sz="1050" dirty="0"/>
                      <a:t>Inelastic load</a:t>
                    </a:r>
                  </a:p>
                </p:txBody>
              </p:sp>
              <p:sp>
                <p:nvSpPr>
                  <p:cNvPr id="41" name="テキスト ボックス 40">
                    <a:extLst>
                      <a:ext uri="{FF2B5EF4-FFF2-40B4-BE49-F238E27FC236}">
                        <a16:creationId xmlns:a16="http://schemas.microsoft.com/office/drawing/2014/main" id="{CDBEBE0D-AB41-44A5-6FBD-3656F96226AA}"/>
                      </a:ext>
                    </a:extLst>
                  </p:cNvPr>
                  <p:cNvSpPr txBox="1"/>
                  <p:nvPr/>
                </p:nvSpPr>
                <p:spPr>
                  <a:xfrm>
                    <a:off x="358879" y="5628475"/>
                    <a:ext cx="845103" cy="253916"/>
                  </a:xfrm>
                  <a:prstGeom prst="rect">
                    <a:avLst/>
                  </a:prstGeom>
                  <a:noFill/>
                </p:spPr>
                <p:txBody>
                  <a:bodyPr wrap="none" rtlCol="0">
                    <a:spAutoFit/>
                  </a:bodyPr>
                  <a:lstStyle/>
                  <a:p>
                    <a:r>
                      <a:rPr lang="en-US" sz="1050" dirty="0"/>
                      <a:t>Elastic load</a:t>
                    </a:r>
                  </a:p>
                </p:txBody>
              </p:sp>
              <p:sp>
                <p:nvSpPr>
                  <p:cNvPr id="42" name="テキスト ボックス 41">
                    <a:extLst>
                      <a:ext uri="{FF2B5EF4-FFF2-40B4-BE49-F238E27FC236}">
                        <a16:creationId xmlns:a16="http://schemas.microsoft.com/office/drawing/2014/main" id="{805D0280-E7BA-B661-C49A-5D6A2452116F}"/>
                      </a:ext>
                    </a:extLst>
                  </p:cNvPr>
                  <p:cNvSpPr txBox="1"/>
                  <p:nvPr/>
                </p:nvSpPr>
                <p:spPr>
                  <a:xfrm>
                    <a:off x="2514110" y="6245159"/>
                    <a:ext cx="335348" cy="253916"/>
                  </a:xfrm>
                  <a:prstGeom prst="rect">
                    <a:avLst/>
                  </a:prstGeom>
                  <a:noFill/>
                </p:spPr>
                <p:txBody>
                  <a:bodyPr wrap="none" rtlCol="0">
                    <a:spAutoFit/>
                  </a:bodyPr>
                  <a:lstStyle/>
                  <a:p>
                    <a:r>
                      <a:rPr lang="en-US" sz="1050" dirty="0"/>
                      <a:t>EV</a:t>
                    </a:r>
                  </a:p>
                </p:txBody>
              </p:sp>
              <p:sp>
                <p:nvSpPr>
                  <p:cNvPr id="43" name="テキスト ボックス 42">
                    <a:extLst>
                      <a:ext uri="{FF2B5EF4-FFF2-40B4-BE49-F238E27FC236}">
                        <a16:creationId xmlns:a16="http://schemas.microsoft.com/office/drawing/2014/main" id="{1AD84234-E765-34FB-F9F6-53DFC9220472}"/>
                      </a:ext>
                    </a:extLst>
                  </p:cNvPr>
                  <p:cNvSpPr txBox="1"/>
                  <p:nvPr/>
                </p:nvSpPr>
                <p:spPr>
                  <a:xfrm>
                    <a:off x="2099257" y="4419537"/>
                    <a:ext cx="343364" cy="253917"/>
                  </a:xfrm>
                  <a:prstGeom prst="rect">
                    <a:avLst/>
                  </a:prstGeom>
                  <a:noFill/>
                </p:spPr>
                <p:txBody>
                  <a:bodyPr wrap="none" rtlCol="0">
                    <a:spAutoFit/>
                  </a:bodyPr>
                  <a:lstStyle/>
                  <a:p>
                    <a:r>
                      <a:rPr lang="en-US" sz="1050" dirty="0"/>
                      <a:t>PV</a:t>
                    </a:r>
                  </a:p>
                </p:txBody>
              </p:sp>
              <p:sp>
                <p:nvSpPr>
                  <p:cNvPr id="44" name="テキスト ボックス 43">
                    <a:extLst>
                      <a:ext uri="{FF2B5EF4-FFF2-40B4-BE49-F238E27FC236}">
                        <a16:creationId xmlns:a16="http://schemas.microsoft.com/office/drawing/2014/main" id="{2F2F08FB-1342-037D-BD9F-0BB23186ADA6}"/>
                      </a:ext>
                    </a:extLst>
                  </p:cNvPr>
                  <p:cNvSpPr txBox="1"/>
                  <p:nvPr/>
                </p:nvSpPr>
                <p:spPr>
                  <a:xfrm>
                    <a:off x="488976" y="4145468"/>
                    <a:ext cx="1299345" cy="379621"/>
                  </a:xfrm>
                  <a:prstGeom prst="rect">
                    <a:avLst/>
                  </a:prstGeom>
                  <a:noFill/>
                </p:spPr>
                <p:txBody>
                  <a:bodyPr wrap="none" rtlCol="0">
                    <a:spAutoFit/>
                  </a:bodyPr>
                  <a:lstStyle/>
                  <a:p>
                    <a:r>
                      <a:rPr lang="en-US" sz="1400" dirty="0"/>
                      <a:t>Prosumer #2</a:t>
                    </a:r>
                  </a:p>
                </p:txBody>
              </p:sp>
            </p:grpSp>
          </p:grpSp>
          <p:cxnSp>
            <p:nvCxnSpPr>
              <p:cNvPr id="14" name="直線矢印コネクタ 13">
                <a:extLst>
                  <a:ext uri="{FF2B5EF4-FFF2-40B4-BE49-F238E27FC236}">
                    <a16:creationId xmlns:a16="http://schemas.microsoft.com/office/drawing/2014/main" id="{2C278EC1-9E3F-9B90-E213-B241DB7F8959}"/>
                  </a:ext>
                </a:extLst>
              </p:cNvPr>
              <p:cNvCxnSpPr>
                <a:cxnSpLocks/>
                <a:stCxn id="81" idx="0"/>
              </p:cNvCxnSpPr>
              <p:nvPr/>
            </p:nvCxnSpPr>
            <p:spPr>
              <a:xfrm flipV="1">
                <a:off x="4636788" y="4381431"/>
                <a:ext cx="258912" cy="512583"/>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線矢印コネクタ 14">
                <a:extLst>
                  <a:ext uri="{FF2B5EF4-FFF2-40B4-BE49-F238E27FC236}">
                    <a16:creationId xmlns:a16="http://schemas.microsoft.com/office/drawing/2014/main" id="{B6CE5F41-00BE-5C39-BB34-F078C057E094}"/>
                  </a:ext>
                </a:extLst>
              </p:cNvPr>
              <p:cNvCxnSpPr>
                <a:cxnSpLocks/>
                <a:stCxn id="72" idx="0"/>
              </p:cNvCxnSpPr>
              <p:nvPr/>
            </p:nvCxnSpPr>
            <p:spPr>
              <a:xfrm flipH="1" flipV="1">
                <a:off x="7073735" y="4352165"/>
                <a:ext cx="348044" cy="534284"/>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線矢印コネクタ 15">
                <a:extLst>
                  <a:ext uri="{FF2B5EF4-FFF2-40B4-BE49-F238E27FC236}">
                    <a16:creationId xmlns:a16="http://schemas.microsoft.com/office/drawing/2014/main" id="{A0395DDC-1676-D539-79C4-91DD9E92756F}"/>
                  </a:ext>
                </a:extLst>
              </p:cNvPr>
              <p:cNvCxnSpPr>
                <a:cxnSpLocks/>
                <a:stCxn id="60" idx="2"/>
              </p:cNvCxnSpPr>
              <p:nvPr/>
            </p:nvCxnSpPr>
            <p:spPr>
              <a:xfrm>
                <a:off x="4635402" y="3140694"/>
                <a:ext cx="222510" cy="521292"/>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線矢印コネクタ 16">
                <a:extLst>
                  <a:ext uri="{FF2B5EF4-FFF2-40B4-BE49-F238E27FC236}">
                    <a16:creationId xmlns:a16="http://schemas.microsoft.com/office/drawing/2014/main" id="{9ABB1F0C-A250-370A-E141-AC0302DF90AF}"/>
                  </a:ext>
                </a:extLst>
              </p:cNvPr>
              <p:cNvCxnSpPr>
                <a:cxnSpLocks/>
                <a:stCxn id="45" idx="2"/>
              </p:cNvCxnSpPr>
              <p:nvPr/>
            </p:nvCxnSpPr>
            <p:spPr>
              <a:xfrm flipH="1">
                <a:off x="7073735" y="3140694"/>
                <a:ext cx="348045" cy="561566"/>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82BF994B-F05C-71B2-FB7D-40D445525D73}"/>
                  </a:ext>
                </a:extLst>
              </p:cNvPr>
              <p:cNvSpPr txBox="1"/>
              <p:nvPr/>
            </p:nvSpPr>
            <p:spPr>
              <a:xfrm>
                <a:off x="4671770" y="3170875"/>
                <a:ext cx="372218" cy="253916"/>
              </a:xfrm>
              <a:prstGeom prst="rect">
                <a:avLst/>
              </a:prstGeom>
              <a:noFill/>
            </p:spPr>
            <p:txBody>
              <a:bodyPr wrap="none" rtlCol="0">
                <a:spAutoFit/>
              </a:bodyPr>
              <a:lstStyle/>
              <a:p>
                <a:r>
                  <a:rPr lang="en-US" sz="1050" dirty="0"/>
                  <a:t>Bid</a:t>
                </a:r>
              </a:p>
            </p:txBody>
          </p:sp>
          <p:sp>
            <p:nvSpPr>
              <p:cNvPr id="19" name="テキスト ボックス 18">
                <a:extLst>
                  <a:ext uri="{FF2B5EF4-FFF2-40B4-BE49-F238E27FC236}">
                    <a16:creationId xmlns:a16="http://schemas.microsoft.com/office/drawing/2014/main" id="{F8ADE94B-69A4-D6E6-0E5F-D9F27E5D2870}"/>
                  </a:ext>
                </a:extLst>
              </p:cNvPr>
              <p:cNvSpPr txBox="1"/>
              <p:nvPr/>
            </p:nvSpPr>
            <p:spPr>
              <a:xfrm>
                <a:off x="4676297" y="4599525"/>
                <a:ext cx="372218" cy="253916"/>
              </a:xfrm>
              <a:prstGeom prst="rect">
                <a:avLst/>
              </a:prstGeom>
              <a:noFill/>
            </p:spPr>
            <p:txBody>
              <a:bodyPr wrap="none" rtlCol="0">
                <a:spAutoFit/>
              </a:bodyPr>
              <a:lstStyle/>
              <a:p>
                <a:r>
                  <a:rPr lang="en-US" sz="1050" dirty="0"/>
                  <a:t>Bid</a:t>
                </a:r>
              </a:p>
            </p:txBody>
          </p:sp>
          <p:sp>
            <p:nvSpPr>
              <p:cNvPr id="20" name="テキスト ボックス 19">
                <a:extLst>
                  <a:ext uri="{FF2B5EF4-FFF2-40B4-BE49-F238E27FC236}">
                    <a16:creationId xmlns:a16="http://schemas.microsoft.com/office/drawing/2014/main" id="{AE7836CE-47C8-8163-4941-EEFDABD62E8D}"/>
                  </a:ext>
                </a:extLst>
              </p:cNvPr>
              <p:cNvSpPr txBox="1"/>
              <p:nvPr/>
            </p:nvSpPr>
            <p:spPr>
              <a:xfrm>
                <a:off x="6965041" y="3181442"/>
                <a:ext cx="372218" cy="253916"/>
              </a:xfrm>
              <a:prstGeom prst="rect">
                <a:avLst/>
              </a:prstGeom>
              <a:noFill/>
            </p:spPr>
            <p:txBody>
              <a:bodyPr wrap="none" rtlCol="0">
                <a:spAutoFit/>
              </a:bodyPr>
              <a:lstStyle/>
              <a:p>
                <a:r>
                  <a:rPr lang="en-US" sz="1050" dirty="0"/>
                  <a:t>Bid</a:t>
                </a:r>
              </a:p>
            </p:txBody>
          </p:sp>
          <p:sp>
            <p:nvSpPr>
              <p:cNvPr id="21" name="テキスト ボックス 20">
                <a:extLst>
                  <a:ext uri="{FF2B5EF4-FFF2-40B4-BE49-F238E27FC236}">
                    <a16:creationId xmlns:a16="http://schemas.microsoft.com/office/drawing/2014/main" id="{C23C4F0C-BFA4-0B83-4FC8-7CB793CAEC02}"/>
                  </a:ext>
                </a:extLst>
              </p:cNvPr>
              <p:cNvSpPr txBox="1"/>
              <p:nvPr/>
            </p:nvSpPr>
            <p:spPr>
              <a:xfrm>
                <a:off x="6987033" y="4612982"/>
                <a:ext cx="372218" cy="253916"/>
              </a:xfrm>
              <a:prstGeom prst="rect">
                <a:avLst/>
              </a:prstGeom>
              <a:noFill/>
            </p:spPr>
            <p:txBody>
              <a:bodyPr wrap="none" rtlCol="0">
                <a:spAutoFit/>
              </a:bodyPr>
              <a:lstStyle/>
              <a:p>
                <a:r>
                  <a:rPr lang="en-US" sz="1050" dirty="0"/>
                  <a:t>Bid</a:t>
                </a:r>
              </a:p>
            </p:txBody>
          </p:sp>
          <p:cxnSp>
            <p:nvCxnSpPr>
              <p:cNvPr id="22" name="直線矢印コネクタ 21">
                <a:extLst>
                  <a:ext uri="{FF2B5EF4-FFF2-40B4-BE49-F238E27FC236}">
                    <a16:creationId xmlns:a16="http://schemas.microsoft.com/office/drawing/2014/main" id="{A5238979-3AAB-70E0-2780-782C71262189}"/>
                  </a:ext>
                </a:extLst>
              </p:cNvPr>
              <p:cNvCxnSpPr>
                <a:cxnSpLocks/>
              </p:cNvCxnSpPr>
              <p:nvPr/>
            </p:nvCxnSpPr>
            <p:spPr>
              <a:xfrm flipV="1">
                <a:off x="7125486" y="3139955"/>
                <a:ext cx="375266" cy="592464"/>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線矢印コネクタ 22">
                <a:extLst>
                  <a:ext uri="{FF2B5EF4-FFF2-40B4-BE49-F238E27FC236}">
                    <a16:creationId xmlns:a16="http://schemas.microsoft.com/office/drawing/2014/main" id="{D9C9DAF5-7960-D78E-3F24-C26135F8FF21}"/>
                  </a:ext>
                </a:extLst>
              </p:cNvPr>
              <p:cNvCxnSpPr>
                <a:cxnSpLocks/>
              </p:cNvCxnSpPr>
              <p:nvPr/>
            </p:nvCxnSpPr>
            <p:spPr>
              <a:xfrm>
                <a:off x="7125486" y="4322006"/>
                <a:ext cx="353328" cy="546566"/>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31B50FEE-77C3-1BED-EC46-93A205D3CE8D}"/>
                  </a:ext>
                </a:extLst>
              </p:cNvPr>
              <p:cNvCxnSpPr>
                <a:cxnSpLocks/>
              </p:cNvCxnSpPr>
              <p:nvPr/>
            </p:nvCxnSpPr>
            <p:spPr>
              <a:xfrm flipH="1">
                <a:off x="4565796" y="4374022"/>
                <a:ext cx="267246" cy="51194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5" name="テキスト ボックス 24">
                <a:extLst>
                  <a:ext uri="{FF2B5EF4-FFF2-40B4-BE49-F238E27FC236}">
                    <a16:creationId xmlns:a16="http://schemas.microsoft.com/office/drawing/2014/main" id="{5965F4CF-6CB2-0989-6BBB-8B95D41A9B34}"/>
                  </a:ext>
                </a:extLst>
              </p:cNvPr>
              <p:cNvSpPr txBox="1"/>
              <p:nvPr/>
            </p:nvSpPr>
            <p:spPr>
              <a:xfrm>
                <a:off x="7199587" y="3454439"/>
                <a:ext cx="1088760" cy="253916"/>
              </a:xfrm>
              <a:prstGeom prst="rect">
                <a:avLst/>
              </a:prstGeom>
              <a:noFill/>
            </p:spPr>
            <p:txBody>
              <a:bodyPr wrap="none" rtlCol="0">
                <a:spAutoFit/>
              </a:bodyPr>
              <a:lstStyle/>
              <a:p>
                <a:r>
                  <a:rPr lang="en-US" sz="1050" dirty="0"/>
                  <a:t>Price, Amount</a:t>
                </a:r>
                <a:r>
                  <a:rPr lang="en-US" sz="1050" baseline="-25000" dirty="0"/>
                  <a:t>2</a:t>
                </a:r>
              </a:p>
            </p:txBody>
          </p:sp>
          <p:cxnSp>
            <p:nvCxnSpPr>
              <p:cNvPr id="26" name="直線矢印コネクタ 25">
                <a:extLst>
                  <a:ext uri="{FF2B5EF4-FFF2-40B4-BE49-F238E27FC236}">
                    <a16:creationId xmlns:a16="http://schemas.microsoft.com/office/drawing/2014/main" id="{7F866B09-A7DD-5F2A-4500-954854B282B1}"/>
                  </a:ext>
                </a:extLst>
              </p:cNvPr>
              <p:cNvCxnSpPr>
                <a:cxnSpLocks/>
              </p:cNvCxnSpPr>
              <p:nvPr/>
            </p:nvCxnSpPr>
            <p:spPr>
              <a:xfrm flipH="1" flipV="1">
                <a:off x="4572781" y="3155356"/>
                <a:ext cx="222475" cy="535442"/>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テキスト ボックス 26">
                <a:extLst>
                  <a:ext uri="{FF2B5EF4-FFF2-40B4-BE49-F238E27FC236}">
                    <a16:creationId xmlns:a16="http://schemas.microsoft.com/office/drawing/2014/main" id="{AE7C77C6-22D7-89D8-5E14-2C0A80953BE3}"/>
                  </a:ext>
                </a:extLst>
              </p:cNvPr>
              <p:cNvSpPr txBox="1"/>
              <p:nvPr/>
            </p:nvSpPr>
            <p:spPr>
              <a:xfrm>
                <a:off x="7232662" y="4408330"/>
                <a:ext cx="1064715" cy="253916"/>
              </a:xfrm>
              <a:prstGeom prst="rect">
                <a:avLst/>
              </a:prstGeom>
              <a:noFill/>
            </p:spPr>
            <p:txBody>
              <a:bodyPr wrap="none" rtlCol="0">
                <a:spAutoFit/>
              </a:bodyPr>
              <a:lstStyle/>
              <a:p>
                <a:r>
                  <a:rPr lang="en-US" sz="1050" dirty="0"/>
                  <a:t>Price, Amount</a:t>
                </a:r>
                <a:r>
                  <a:rPr lang="en-US" sz="1050" baseline="-25000" dirty="0"/>
                  <a:t>4</a:t>
                </a:r>
              </a:p>
            </p:txBody>
          </p:sp>
          <p:sp>
            <p:nvSpPr>
              <p:cNvPr id="28" name="テキスト ボックス 27">
                <a:extLst>
                  <a:ext uri="{FF2B5EF4-FFF2-40B4-BE49-F238E27FC236}">
                    <a16:creationId xmlns:a16="http://schemas.microsoft.com/office/drawing/2014/main" id="{317A5AB4-0C8B-ECFD-2496-98C79CDB7D19}"/>
                  </a:ext>
                </a:extLst>
              </p:cNvPr>
              <p:cNvSpPr txBox="1"/>
              <p:nvPr/>
            </p:nvSpPr>
            <p:spPr>
              <a:xfrm>
                <a:off x="3623443" y="3338149"/>
                <a:ext cx="1064715" cy="253916"/>
              </a:xfrm>
              <a:prstGeom prst="rect">
                <a:avLst/>
              </a:prstGeom>
              <a:noFill/>
            </p:spPr>
            <p:txBody>
              <a:bodyPr wrap="none" rtlCol="0">
                <a:spAutoFit/>
              </a:bodyPr>
              <a:lstStyle/>
              <a:p>
                <a:r>
                  <a:rPr lang="en-US" sz="1050" dirty="0"/>
                  <a:t>Price, Amount</a:t>
                </a:r>
                <a:r>
                  <a:rPr lang="en-US" sz="1050" baseline="-25000" dirty="0"/>
                  <a:t>1</a:t>
                </a:r>
              </a:p>
            </p:txBody>
          </p:sp>
          <p:sp>
            <p:nvSpPr>
              <p:cNvPr id="29" name="テキスト ボックス 28">
                <a:extLst>
                  <a:ext uri="{FF2B5EF4-FFF2-40B4-BE49-F238E27FC236}">
                    <a16:creationId xmlns:a16="http://schemas.microsoft.com/office/drawing/2014/main" id="{DE7FAA91-61AA-DBD0-0512-F8CC54B95B15}"/>
                  </a:ext>
                </a:extLst>
              </p:cNvPr>
              <p:cNvSpPr txBox="1"/>
              <p:nvPr/>
            </p:nvSpPr>
            <p:spPr>
              <a:xfrm>
                <a:off x="3585707" y="4441245"/>
                <a:ext cx="1064715" cy="253916"/>
              </a:xfrm>
              <a:prstGeom prst="rect">
                <a:avLst/>
              </a:prstGeom>
              <a:noFill/>
            </p:spPr>
            <p:txBody>
              <a:bodyPr wrap="none" rtlCol="0">
                <a:spAutoFit/>
              </a:bodyPr>
              <a:lstStyle/>
              <a:p>
                <a:r>
                  <a:rPr lang="en-US" sz="1050" dirty="0"/>
                  <a:t>Price, Amount</a:t>
                </a:r>
                <a:r>
                  <a:rPr lang="en-US" sz="1050" baseline="-25000" dirty="0"/>
                  <a:t>3</a:t>
                </a:r>
              </a:p>
            </p:txBody>
          </p:sp>
        </p:grpSp>
        <p:sp>
          <p:nvSpPr>
            <p:cNvPr id="6" name="正方形/長方形 5">
              <a:extLst>
                <a:ext uri="{FF2B5EF4-FFF2-40B4-BE49-F238E27FC236}">
                  <a16:creationId xmlns:a16="http://schemas.microsoft.com/office/drawing/2014/main" id="{604B7C84-4FB0-7230-515C-213D863F065D}"/>
                </a:ext>
              </a:extLst>
            </p:cNvPr>
            <p:cNvSpPr/>
            <p:nvPr/>
          </p:nvSpPr>
          <p:spPr>
            <a:xfrm>
              <a:off x="237469" y="857175"/>
              <a:ext cx="2516709" cy="6117003"/>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テキスト ボックス 6">
              <a:extLst>
                <a:ext uri="{FF2B5EF4-FFF2-40B4-BE49-F238E27FC236}">
                  <a16:creationId xmlns:a16="http://schemas.microsoft.com/office/drawing/2014/main" id="{C3657563-6124-9864-6959-B384CBD9197B}"/>
                </a:ext>
              </a:extLst>
            </p:cNvPr>
            <p:cNvSpPr txBox="1"/>
            <p:nvPr/>
          </p:nvSpPr>
          <p:spPr>
            <a:xfrm>
              <a:off x="284429" y="3105446"/>
              <a:ext cx="2531462" cy="1169551"/>
            </a:xfrm>
            <a:prstGeom prst="rect">
              <a:avLst/>
            </a:prstGeom>
            <a:noFill/>
          </p:spPr>
          <p:txBody>
            <a:bodyPr wrap="none" rtlCol="0">
              <a:spAutoFit/>
            </a:bodyPr>
            <a:lstStyle/>
            <a:p>
              <a:r>
                <a:rPr lang="en-US" sz="1200" dirty="0"/>
                <a:t>Wholesale electricity market </a:t>
              </a:r>
            </a:p>
            <a:p>
              <a:endParaRPr lang="en-US" sz="1200" dirty="0"/>
            </a:p>
            <a:p>
              <a:pPr algn="ctr"/>
              <a:r>
                <a:rPr lang="en-US" sz="1200" dirty="0"/>
                <a:t>&amp; </a:t>
              </a:r>
            </a:p>
            <a:p>
              <a:endParaRPr lang="en-US" sz="1200" dirty="0"/>
            </a:p>
            <a:p>
              <a:r>
                <a:rPr lang="en-US" sz="1200" dirty="0"/>
                <a:t>independent system operator</a:t>
              </a:r>
            </a:p>
          </p:txBody>
        </p:sp>
        <p:sp>
          <p:nvSpPr>
            <p:cNvPr id="8" name="正方形/長方形 7">
              <a:extLst>
                <a:ext uri="{FF2B5EF4-FFF2-40B4-BE49-F238E27FC236}">
                  <a16:creationId xmlns:a16="http://schemas.microsoft.com/office/drawing/2014/main" id="{DAFBC932-911F-6749-825E-9C5E40855598}"/>
                </a:ext>
              </a:extLst>
            </p:cNvPr>
            <p:cNvSpPr/>
            <p:nvPr/>
          </p:nvSpPr>
          <p:spPr>
            <a:xfrm>
              <a:off x="3847599" y="857182"/>
              <a:ext cx="5925787" cy="6117003"/>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テキスト ボックス 8">
              <a:extLst>
                <a:ext uri="{FF2B5EF4-FFF2-40B4-BE49-F238E27FC236}">
                  <a16:creationId xmlns:a16="http://schemas.microsoft.com/office/drawing/2014/main" id="{6BF77438-6365-B48C-76C7-487CC25FF3DF}"/>
                </a:ext>
              </a:extLst>
            </p:cNvPr>
            <p:cNvSpPr txBox="1"/>
            <p:nvPr/>
          </p:nvSpPr>
          <p:spPr>
            <a:xfrm>
              <a:off x="2754245" y="1950816"/>
              <a:ext cx="1078010" cy="319986"/>
            </a:xfrm>
            <a:prstGeom prst="rect">
              <a:avLst/>
            </a:prstGeom>
            <a:noFill/>
          </p:spPr>
          <p:txBody>
            <a:bodyPr wrap="none" rtlCol="0">
              <a:spAutoFit/>
            </a:bodyPr>
            <a:lstStyle/>
            <a:p>
              <a:r>
                <a:rPr lang="en-US" sz="1200" dirty="0"/>
                <a:t>Grid import</a:t>
              </a:r>
            </a:p>
          </p:txBody>
        </p:sp>
        <p:sp>
          <p:nvSpPr>
            <p:cNvPr id="10" name="テキスト ボックス 9">
              <a:extLst>
                <a:ext uri="{FF2B5EF4-FFF2-40B4-BE49-F238E27FC236}">
                  <a16:creationId xmlns:a16="http://schemas.microsoft.com/office/drawing/2014/main" id="{D02B6E5D-4793-D4F8-8DB4-A8D2672E3B6C}"/>
                </a:ext>
              </a:extLst>
            </p:cNvPr>
            <p:cNvSpPr txBox="1"/>
            <p:nvPr/>
          </p:nvSpPr>
          <p:spPr>
            <a:xfrm>
              <a:off x="2780133" y="4712149"/>
              <a:ext cx="1056600" cy="319986"/>
            </a:xfrm>
            <a:prstGeom prst="rect">
              <a:avLst/>
            </a:prstGeom>
            <a:noFill/>
          </p:spPr>
          <p:txBody>
            <a:bodyPr wrap="none" rtlCol="0">
              <a:spAutoFit/>
            </a:bodyPr>
            <a:lstStyle/>
            <a:p>
              <a:r>
                <a:rPr lang="en-US" sz="1200" dirty="0"/>
                <a:t>Grid export</a:t>
              </a:r>
            </a:p>
          </p:txBody>
        </p:sp>
        <p:cxnSp>
          <p:nvCxnSpPr>
            <p:cNvPr id="11" name="直線矢印コネクタ 10">
              <a:extLst>
                <a:ext uri="{FF2B5EF4-FFF2-40B4-BE49-F238E27FC236}">
                  <a16:creationId xmlns:a16="http://schemas.microsoft.com/office/drawing/2014/main" id="{CD5DD97E-8581-FCD0-4C16-23E9B3DC049B}"/>
                </a:ext>
              </a:extLst>
            </p:cNvPr>
            <p:cNvCxnSpPr>
              <a:cxnSpLocks/>
            </p:cNvCxnSpPr>
            <p:nvPr/>
          </p:nvCxnSpPr>
          <p:spPr>
            <a:xfrm>
              <a:off x="2782198" y="2280344"/>
              <a:ext cx="1053841"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線矢印コネクタ 11">
              <a:extLst>
                <a:ext uri="{FF2B5EF4-FFF2-40B4-BE49-F238E27FC236}">
                  <a16:creationId xmlns:a16="http://schemas.microsoft.com/office/drawing/2014/main" id="{7A57D825-5589-0279-C971-3B718C31772B}"/>
                </a:ext>
              </a:extLst>
            </p:cNvPr>
            <p:cNvCxnSpPr>
              <a:cxnSpLocks/>
            </p:cNvCxnSpPr>
            <p:nvPr/>
          </p:nvCxnSpPr>
          <p:spPr>
            <a:xfrm flipH="1">
              <a:off x="2773925" y="5044934"/>
              <a:ext cx="1086217"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87" name="テキスト ボックス 86">
            <a:extLst>
              <a:ext uri="{FF2B5EF4-FFF2-40B4-BE49-F238E27FC236}">
                <a16:creationId xmlns:a16="http://schemas.microsoft.com/office/drawing/2014/main" id="{E2262AB9-03D7-CCED-C505-7E6C69B31BD9}"/>
              </a:ext>
            </a:extLst>
          </p:cNvPr>
          <p:cNvSpPr txBox="1"/>
          <p:nvPr/>
        </p:nvSpPr>
        <p:spPr>
          <a:xfrm rot="1819595">
            <a:off x="6471891" y="5963513"/>
            <a:ext cx="354584" cy="369332"/>
          </a:xfrm>
          <a:prstGeom prst="rect">
            <a:avLst/>
          </a:prstGeom>
          <a:noFill/>
        </p:spPr>
        <p:txBody>
          <a:bodyPr wrap="none" rtlCol="0">
            <a:spAutoFit/>
          </a:bodyPr>
          <a:lstStyle/>
          <a:p>
            <a:r>
              <a:rPr lang="en-US" dirty="0"/>
              <a:t>…</a:t>
            </a:r>
          </a:p>
        </p:txBody>
      </p:sp>
      <p:sp>
        <p:nvSpPr>
          <p:cNvPr id="88" name="テキスト ボックス 87">
            <a:extLst>
              <a:ext uri="{FF2B5EF4-FFF2-40B4-BE49-F238E27FC236}">
                <a16:creationId xmlns:a16="http://schemas.microsoft.com/office/drawing/2014/main" id="{3C287569-3058-47DA-8A5F-C62248814F36}"/>
              </a:ext>
            </a:extLst>
          </p:cNvPr>
          <p:cNvSpPr txBox="1"/>
          <p:nvPr/>
        </p:nvSpPr>
        <p:spPr>
          <a:xfrm rot="19560513">
            <a:off x="9058892" y="905877"/>
            <a:ext cx="354584" cy="369332"/>
          </a:xfrm>
          <a:prstGeom prst="rect">
            <a:avLst/>
          </a:prstGeom>
          <a:noFill/>
        </p:spPr>
        <p:txBody>
          <a:bodyPr wrap="none" rtlCol="0">
            <a:spAutoFit/>
          </a:bodyPr>
          <a:lstStyle/>
          <a:p>
            <a:r>
              <a:rPr lang="en-US" dirty="0"/>
              <a:t>…</a:t>
            </a:r>
          </a:p>
        </p:txBody>
      </p:sp>
      <p:sp>
        <p:nvSpPr>
          <p:cNvPr id="89" name="テキスト ボックス 88">
            <a:extLst>
              <a:ext uri="{FF2B5EF4-FFF2-40B4-BE49-F238E27FC236}">
                <a16:creationId xmlns:a16="http://schemas.microsoft.com/office/drawing/2014/main" id="{DAAC0F83-33CF-D311-F02F-DEF1166A9C94}"/>
              </a:ext>
            </a:extLst>
          </p:cNvPr>
          <p:cNvSpPr txBox="1"/>
          <p:nvPr/>
        </p:nvSpPr>
        <p:spPr>
          <a:xfrm rot="19560513">
            <a:off x="6402173" y="922196"/>
            <a:ext cx="354584" cy="369332"/>
          </a:xfrm>
          <a:prstGeom prst="rect">
            <a:avLst/>
          </a:prstGeom>
          <a:noFill/>
        </p:spPr>
        <p:txBody>
          <a:bodyPr wrap="none" rtlCol="0">
            <a:spAutoFit/>
          </a:bodyPr>
          <a:lstStyle/>
          <a:p>
            <a:r>
              <a:rPr lang="en-US" dirty="0"/>
              <a:t>…</a:t>
            </a:r>
          </a:p>
        </p:txBody>
      </p:sp>
      <p:sp>
        <p:nvSpPr>
          <p:cNvPr id="90" name="テキスト ボックス 89">
            <a:extLst>
              <a:ext uri="{FF2B5EF4-FFF2-40B4-BE49-F238E27FC236}">
                <a16:creationId xmlns:a16="http://schemas.microsoft.com/office/drawing/2014/main" id="{32C9A4EC-1598-79CF-BDE1-2FC1DC9A6784}"/>
              </a:ext>
            </a:extLst>
          </p:cNvPr>
          <p:cNvSpPr txBox="1"/>
          <p:nvPr/>
        </p:nvSpPr>
        <p:spPr>
          <a:xfrm rot="1819595">
            <a:off x="9137957" y="5963514"/>
            <a:ext cx="354584" cy="369332"/>
          </a:xfrm>
          <a:prstGeom prst="rect">
            <a:avLst/>
          </a:prstGeom>
          <a:noFill/>
        </p:spPr>
        <p:txBody>
          <a:bodyPr wrap="none" rtlCol="0">
            <a:spAutoFit/>
          </a:bodyPr>
          <a:lstStyle/>
          <a:p>
            <a:r>
              <a:rPr lang="en-US" dirty="0"/>
              <a:t>…</a:t>
            </a:r>
          </a:p>
        </p:txBody>
      </p:sp>
      <p:sp>
        <p:nvSpPr>
          <p:cNvPr id="93" name="テキスト ボックス 92">
            <a:extLst>
              <a:ext uri="{FF2B5EF4-FFF2-40B4-BE49-F238E27FC236}">
                <a16:creationId xmlns:a16="http://schemas.microsoft.com/office/drawing/2014/main" id="{EDD61B68-1AEA-8D48-E5D2-24B70A8B4F76}"/>
              </a:ext>
            </a:extLst>
          </p:cNvPr>
          <p:cNvSpPr txBox="1"/>
          <p:nvPr/>
        </p:nvSpPr>
        <p:spPr>
          <a:xfrm>
            <a:off x="5909881" y="3593881"/>
            <a:ext cx="1072730" cy="215444"/>
          </a:xfrm>
          <a:prstGeom prst="rect">
            <a:avLst/>
          </a:prstGeom>
          <a:noFill/>
        </p:spPr>
        <p:txBody>
          <a:bodyPr wrap="none" rtlCol="0">
            <a:spAutoFit/>
          </a:bodyPr>
          <a:lstStyle/>
          <a:p>
            <a:r>
              <a:rPr lang="en-US" sz="800" dirty="0">
                <a:solidFill>
                  <a:srgbClr val="7373FF"/>
                </a:solidFill>
              </a:rPr>
              <a:t>Price of grid import</a:t>
            </a:r>
            <a:endParaRPr lang="en-US" sz="800" baseline="-25000" dirty="0">
              <a:solidFill>
                <a:srgbClr val="7373FF"/>
              </a:solidFill>
            </a:endParaRPr>
          </a:p>
        </p:txBody>
      </p:sp>
    </p:spTree>
    <p:extLst>
      <p:ext uri="{BB962C8B-B14F-4D97-AF65-F5344CB8AC3E}">
        <p14:creationId xmlns:p14="http://schemas.microsoft.com/office/powerpoint/2010/main" val="10580936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92B9D8B1-86F2-2078-723C-6005DDAF6484}"/>
              </a:ext>
            </a:extLst>
          </p:cNvPr>
          <p:cNvSpPr>
            <a:spLocks noGrp="1"/>
          </p:cNvSpPr>
          <p:nvPr>
            <p:ph sz="quarter" idx="16"/>
          </p:nvPr>
        </p:nvSpPr>
        <p:spPr/>
        <p:txBody>
          <a:bodyPr/>
          <a:lstStyle/>
          <a:p>
            <a:r>
              <a:rPr lang="en-US" dirty="0"/>
              <a:t>3.2.2</a:t>
            </a:r>
            <a:r>
              <a:rPr lang="en-US" altLang="ja-JP" dirty="0"/>
              <a:t> Design P2P energy trading model</a:t>
            </a:r>
            <a:endParaRPr lang="en-US" dirty="0"/>
          </a:p>
        </p:txBody>
      </p:sp>
      <p:graphicFrame>
        <p:nvGraphicFramePr>
          <p:cNvPr id="5" name="表 4">
            <a:extLst>
              <a:ext uri="{FF2B5EF4-FFF2-40B4-BE49-F238E27FC236}">
                <a16:creationId xmlns:a16="http://schemas.microsoft.com/office/drawing/2014/main" id="{682B2C5C-1569-1AA9-9CDD-91D7FF025808}"/>
              </a:ext>
            </a:extLst>
          </p:cNvPr>
          <p:cNvGraphicFramePr>
            <a:graphicFrameLocks noGrp="1"/>
          </p:cNvGraphicFramePr>
          <p:nvPr>
            <p:extLst>
              <p:ext uri="{D42A27DB-BD31-4B8C-83A1-F6EECF244321}">
                <p14:modId xmlns:p14="http://schemas.microsoft.com/office/powerpoint/2010/main" val="1304926018"/>
              </p:ext>
            </p:extLst>
          </p:nvPr>
        </p:nvGraphicFramePr>
        <p:xfrm>
          <a:off x="1561435" y="2443767"/>
          <a:ext cx="6783130" cy="2651971"/>
        </p:xfrm>
        <a:graphic>
          <a:graphicData uri="http://schemas.openxmlformats.org/drawingml/2006/table">
            <a:tbl>
              <a:tblPr firstRow="1" bandRow="1">
                <a:tableStyleId>{073A0DAA-6AF3-43AB-8588-CEC1D06C72B9}</a:tableStyleId>
              </a:tblPr>
              <a:tblGrid>
                <a:gridCol w="3064513">
                  <a:extLst>
                    <a:ext uri="{9D8B030D-6E8A-4147-A177-3AD203B41FA5}">
                      <a16:colId xmlns:a16="http://schemas.microsoft.com/office/drawing/2014/main" val="2081844268"/>
                    </a:ext>
                  </a:extLst>
                </a:gridCol>
                <a:gridCol w="3718617">
                  <a:extLst>
                    <a:ext uri="{9D8B030D-6E8A-4147-A177-3AD203B41FA5}">
                      <a16:colId xmlns:a16="http://schemas.microsoft.com/office/drawing/2014/main" val="2099169623"/>
                    </a:ext>
                  </a:extLst>
                </a:gridCol>
              </a:tblGrid>
              <a:tr h="378853">
                <a:tc>
                  <a:txBody>
                    <a:bodyPr/>
                    <a:lstStyle/>
                    <a:p>
                      <a:r>
                        <a:rPr lang="en-US" dirty="0"/>
                        <a:t>Parameter</a:t>
                      </a:r>
                    </a:p>
                  </a:txBody>
                  <a:tcPr/>
                </a:tc>
                <a:tc>
                  <a:txBody>
                    <a:bodyPr/>
                    <a:lstStyle/>
                    <a:p>
                      <a:r>
                        <a:rPr lang="en-US" dirty="0"/>
                        <a:t>Value</a:t>
                      </a:r>
                    </a:p>
                  </a:txBody>
                  <a:tcPr/>
                </a:tc>
                <a:extLst>
                  <a:ext uri="{0D108BD9-81ED-4DB2-BD59-A6C34878D82A}">
                    <a16:rowId xmlns:a16="http://schemas.microsoft.com/office/drawing/2014/main" val="1061694334"/>
                  </a:ext>
                </a:extLst>
              </a:tr>
              <a:tr h="378853">
                <a:tc>
                  <a:txBody>
                    <a:bodyPr/>
                    <a:lstStyle/>
                    <a:p>
                      <a:r>
                        <a:rPr lang="en-US" dirty="0"/>
                        <a:t>Bid price max [cents/kWh]</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350" b="0" kern="1200" dirty="0">
                          <a:solidFill>
                            <a:schemeClr val="dk1"/>
                          </a:solidFill>
                          <a:effectLst/>
                        </a:rPr>
                        <a:t>120</a:t>
                      </a:r>
                      <a:endParaRPr lang="en-US" sz="1350" b="0" kern="1200" dirty="0">
                        <a:solidFill>
                          <a:schemeClr val="dk1"/>
                        </a:solidFill>
                        <a:effectLst/>
                        <a:latin typeface="+mn-lt"/>
                        <a:ea typeface="+mn-ea"/>
                        <a:cs typeface="+mn-cs"/>
                      </a:endParaRPr>
                    </a:p>
                  </a:txBody>
                  <a:tcPr/>
                </a:tc>
                <a:extLst>
                  <a:ext uri="{0D108BD9-81ED-4DB2-BD59-A6C34878D82A}">
                    <a16:rowId xmlns:a16="http://schemas.microsoft.com/office/drawing/2014/main" val="484519250"/>
                  </a:ext>
                </a:extLst>
              </a:tr>
              <a:tr h="378853">
                <a:tc>
                  <a:txBody>
                    <a:bodyPr/>
                    <a:lstStyle/>
                    <a:p>
                      <a:r>
                        <a:rPr lang="en-US" dirty="0"/>
                        <a:t>Bid price min [cents/kWh]</a:t>
                      </a:r>
                    </a:p>
                  </a:txBody>
                  <a:tcPr/>
                </a:tc>
                <a:tc>
                  <a:txBody>
                    <a:bodyPr/>
                    <a:lstStyle/>
                    <a:p>
                      <a:r>
                        <a:rPr lang="en-US" dirty="0"/>
                        <a:t>10</a:t>
                      </a:r>
                    </a:p>
                  </a:txBody>
                  <a:tcPr/>
                </a:tc>
                <a:extLst>
                  <a:ext uri="{0D108BD9-81ED-4DB2-BD59-A6C34878D82A}">
                    <a16:rowId xmlns:a16="http://schemas.microsoft.com/office/drawing/2014/main" val="2329611386"/>
                  </a:ext>
                </a:extLst>
              </a:tr>
              <a:tr h="378853">
                <a:tc>
                  <a:txBody>
                    <a:bodyPr/>
                    <a:lstStyle/>
                    <a:p>
                      <a:r>
                        <a:rPr lang="en-US" dirty="0"/>
                        <a:t>Wheeling charge [cents/kWh]</a:t>
                      </a:r>
                    </a:p>
                  </a:txBody>
                  <a:tcPr/>
                </a:tc>
                <a:tc>
                  <a:txBody>
                    <a:bodyPr/>
                    <a:lstStyle/>
                    <a:p>
                      <a:r>
                        <a:rPr lang="en-US" dirty="0"/>
                        <a:t>10</a:t>
                      </a:r>
                    </a:p>
                  </a:txBody>
                  <a:tcPr/>
                </a:tc>
                <a:extLst>
                  <a:ext uri="{0D108BD9-81ED-4DB2-BD59-A6C34878D82A}">
                    <a16:rowId xmlns:a16="http://schemas.microsoft.com/office/drawing/2014/main" val="2435684139"/>
                  </a:ext>
                </a:extLst>
              </a:tr>
              <a:tr h="378853">
                <a:tc>
                  <a:txBody>
                    <a:bodyPr/>
                    <a:lstStyle/>
                    <a:p>
                      <a:r>
                        <a:rPr lang="en-US" dirty="0"/>
                        <a:t>Sell price to grid [cents/kWh]</a:t>
                      </a:r>
                    </a:p>
                  </a:txBody>
                  <a:tcPr/>
                </a:tc>
                <a:tc>
                  <a:txBody>
                    <a:bodyPr/>
                    <a:lstStyle/>
                    <a:p>
                      <a:r>
                        <a:rPr lang="en-US" dirty="0"/>
                        <a:t>0</a:t>
                      </a:r>
                    </a:p>
                  </a:txBody>
                  <a:tcPr/>
                </a:tc>
                <a:extLst>
                  <a:ext uri="{0D108BD9-81ED-4DB2-BD59-A6C34878D82A}">
                    <a16:rowId xmlns:a16="http://schemas.microsoft.com/office/drawing/2014/main" val="3116007086"/>
                  </a:ext>
                </a:extLst>
              </a:tr>
              <a:tr h="378853">
                <a:tc>
                  <a:txBody>
                    <a:bodyPr/>
                    <a:lstStyle/>
                    <a:p>
                      <a:r>
                        <a:rPr lang="en-US" dirty="0"/>
                        <a:t>Trade frequency [h]</a:t>
                      </a:r>
                    </a:p>
                  </a:txBody>
                  <a:tcPr/>
                </a:tc>
                <a:tc>
                  <a:txBody>
                    <a:bodyPr/>
                    <a:lstStyle/>
                    <a:p>
                      <a:r>
                        <a:rPr lang="en-US" dirty="0"/>
                        <a:t>1</a:t>
                      </a:r>
                    </a:p>
                  </a:txBody>
                  <a:tcPr/>
                </a:tc>
                <a:extLst>
                  <a:ext uri="{0D108BD9-81ED-4DB2-BD59-A6C34878D82A}">
                    <a16:rowId xmlns:a16="http://schemas.microsoft.com/office/drawing/2014/main" val="1607011185"/>
                  </a:ext>
                </a:extLst>
              </a:tr>
              <a:tr h="378853">
                <a:tc>
                  <a:txBody>
                    <a:bodyPr/>
                    <a:lstStyle/>
                    <a:p>
                      <a:r>
                        <a:rPr lang="en-US" dirty="0"/>
                        <a:t>Number of agent [-]</a:t>
                      </a:r>
                    </a:p>
                  </a:txBody>
                  <a:tcPr/>
                </a:tc>
                <a:tc>
                  <a:txBody>
                    <a:bodyPr/>
                    <a:lstStyle/>
                    <a:p>
                      <a:r>
                        <a:rPr lang="en-US" dirty="0"/>
                        <a:t>100</a:t>
                      </a:r>
                    </a:p>
                  </a:txBody>
                  <a:tcPr/>
                </a:tc>
                <a:extLst>
                  <a:ext uri="{0D108BD9-81ED-4DB2-BD59-A6C34878D82A}">
                    <a16:rowId xmlns:a16="http://schemas.microsoft.com/office/drawing/2014/main" val="935211675"/>
                  </a:ext>
                </a:extLst>
              </a:tr>
            </a:tbl>
          </a:graphicData>
        </a:graphic>
      </p:graphicFrame>
    </p:spTree>
    <p:extLst>
      <p:ext uri="{BB962C8B-B14F-4D97-AF65-F5344CB8AC3E}">
        <p14:creationId xmlns:p14="http://schemas.microsoft.com/office/powerpoint/2010/main" val="180904488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7076FFE9-C1BB-DE12-AC60-5CC1B7621355}"/>
              </a:ext>
            </a:extLst>
          </p:cNvPr>
          <p:cNvSpPr>
            <a:spLocks noGrp="1"/>
          </p:cNvSpPr>
          <p:nvPr>
            <p:ph sz="quarter" idx="16"/>
          </p:nvPr>
        </p:nvSpPr>
        <p:spPr/>
        <p:txBody>
          <a:bodyPr/>
          <a:lstStyle/>
          <a:p>
            <a:r>
              <a:rPr lang="en-US" altLang="ja-JP" dirty="0"/>
              <a:t>3.2.2 Design P2P energy trading model</a:t>
            </a:r>
          </a:p>
        </p:txBody>
      </p:sp>
      <mc:AlternateContent xmlns:mc="http://schemas.openxmlformats.org/markup-compatibility/2006" xmlns:a14="http://schemas.microsoft.com/office/drawing/2010/main">
        <mc:Choice Requires="a14">
          <p:sp>
            <p:nvSpPr>
              <p:cNvPr id="5" name="テキスト ボックス 4">
                <a:extLst>
                  <a:ext uri="{FF2B5EF4-FFF2-40B4-BE49-F238E27FC236}">
                    <a16:creationId xmlns:a16="http://schemas.microsoft.com/office/drawing/2014/main" id="{A82EA327-CF61-DB75-F8EC-C9AC0E05851B}"/>
                  </a:ext>
                </a:extLst>
              </p:cNvPr>
              <p:cNvSpPr txBox="1"/>
              <p:nvPr/>
            </p:nvSpPr>
            <p:spPr>
              <a:xfrm>
                <a:off x="1801091" y="1385927"/>
                <a:ext cx="5737760" cy="45608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eqArr>
                        <m:eqArrPr>
                          <m:ctrlPr>
                            <a:rPr lang="en-US" i="1" smtClean="0">
                              <a:latin typeface="Cambria Math" panose="02040503050406030204" pitchFamily="18" charset="0"/>
                            </a:rPr>
                          </m:ctrlPr>
                        </m:eqArrPr>
                        <m:e>
                          <m:sSubSup>
                            <m:sSubSupPr>
                              <m:ctrlPr>
                                <a:rPr lang="en-US" i="1">
                                  <a:latin typeface="Cambria Math" panose="02040503050406030204" pitchFamily="18" charset="0"/>
                                </a:rPr>
                              </m:ctrlPr>
                            </m:sSubSupPr>
                            <m:e>
                              <m:r>
                                <a:rPr lang="en-US" i="1">
                                  <a:latin typeface="Cambria Math" panose="02040503050406030204" pitchFamily="18" charset="0"/>
                                </a:rPr>
                                <m:t>𝑒</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𝑛</m:t>
                              </m:r>
                            </m:sub>
                            <m:sup>
                              <m:r>
                                <a:rPr lang="en-US" i="1">
                                  <a:latin typeface="Cambria Math" panose="02040503050406030204" pitchFamily="18" charset="0"/>
                                </a:rPr>
                                <m:t>𝑛𝑒𝑡</m:t>
                              </m:r>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𝑒</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𝑛</m:t>
                              </m:r>
                            </m:sub>
                            <m:sup>
                              <m:r>
                                <a:rPr lang="en-US" i="1">
                                  <a:latin typeface="Cambria Math" panose="02040503050406030204" pitchFamily="18" charset="0"/>
                                </a:rPr>
                                <m:t>𝑖𝑛𝑒𝑙𝑎𝑠</m:t>
                              </m:r>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𝑒</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𝑛</m:t>
                              </m:r>
                            </m:sub>
                            <m:sup>
                              <m:r>
                                <a:rPr lang="en-US" i="1">
                                  <a:latin typeface="Cambria Math" panose="02040503050406030204" pitchFamily="18" charset="0"/>
                                </a:rPr>
                                <m:t>𝑒𝑙𝑎𝑠</m:t>
                              </m:r>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𝑒</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𝑛</m:t>
                              </m:r>
                            </m:sub>
                            <m:sup>
                              <m:r>
                                <a:rPr lang="en-US" i="1">
                                  <a:latin typeface="Cambria Math" panose="02040503050406030204" pitchFamily="18" charset="0"/>
                                </a:rPr>
                                <m:t>𝑠h𝑖𝑓𝑡</m:t>
                              </m:r>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𝑒</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𝑛</m:t>
                              </m:r>
                            </m:sub>
                            <m:sup>
                              <m:r>
                                <a:rPr lang="en-US" i="1">
                                  <a:latin typeface="Cambria Math" panose="02040503050406030204" pitchFamily="18" charset="0"/>
                                </a:rPr>
                                <m:t>𝑏𝑎𝑡</m:t>
                              </m:r>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𝑒</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𝑛</m:t>
                              </m:r>
                            </m:sub>
                            <m:sup>
                              <m:r>
                                <a:rPr lang="en-US" i="1">
                                  <a:latin typeface="Cambria Math" panose="02040503050406030204" pitchFamily="18" charset="0"/>
                                </a:rPr>
                                <m:t>𝐸𝑉</m:t>
                              </m:r>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𝑒</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𝑛</m:t>
                              </m:r>
                            </m:sub>
                            <m:sup>
                              <m:r>
                                <a:rPr lang="en-US" i="1">
                                  <a:latin typeface="Cambria Math" panose="02040503050406030204" pitchFamily="18" charset="0"/>
                                </a:rPr>
                                <m:t>𝑃𝑉</m:t>
                              </m:r>
                            </m:sup>
                          </m:sSubSup>
                          <m:r>
                            <a:rPr lang="ja-JP" altLang="en-US" i="1">
                              <a:latin typeface="Cambria Math" panose="02040503050406030204" pitchFamily="18" charset="0"/>
                            </a:rPr>
                            <m:t>　</m:t>
                          </m:r>
                          <m:r>
                            <a:rPr lang="en-US" i="1">
                              <a:latin typeface="Cambria Math" panose="02040503050406030204" pitchFamily="18" charset="0"/>
                            </a:rPr>
                            <m:t>(1)</m:t>
                          </m:r>
                        </m:e>
                      </m:eqArr>
                    </m:oMath>
                  </m:oMathPara>
                </a14:m>
                <a:endParaRPr lang="en-US" dirty="0"/>
              </a:p>
            </p:txBody>
          </p:sp>
        </mc:Choice>
        <mc:Fallback xmlns="">
          <p:sp>
            <p:nvSpPr>
              <p:cNvPr id="5" name="テキスト ボックス 4">
                <a:extLst>
                  <a:ext uri="{FF2B5EF4-FFF2-40B4-BE49-F238E27FC236}">
                    <a16:creationId xmlns:a16="http://schemas.microsoft.com/office/drawing/2014/main" id="{A82EA327-CF61-DB75-F8EC-C9AC0E05851B}"/>
                  </a:ext>
                </a:extLst>
              </p:cNvPr>
              <p:cNvSpPr txBox="1">
                <a:spLocks noRot="1" noChangeAspect="1" noMove="1" noResize="1" noEditPoints="1" noAdjustHandles="1" noChangeArrowheads="1" noChangeShapeType="1" noTextEdit="1"/>
              </p:cNvSpPr>
              <p:nvPr/>
            </p:nvSpPr>
            <p:spPr>
              <a:xfrm>
                <a:off x="1801091" y="1385927"/>
                <a:ext cx="5737760" cy="456087"/>
              </a:xfrm>
              <a:prstGeom prst="rect">
                <a:avLst/>
              </a:prstGeom>
              <a:blipFill>
                <a:blip r:embed="rId2"/>
                <a:stretch>
                  <a:fillRect b="-5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9" name="表 8">
                <a:extLst>
                  <a:ext uri="{FF2B5EF4-FFF2-40B4-BE49-F238E27FC236}">
                    <a16:creationId xmlns:a16="http://schemas.microsoft.com/office/drawing/2014/main" id="{937BC028-F450-8528-8CA7-31ECA94F58DC}"/>
                  </a:ext>
                </a:extLst>
              </p:cNvPr>
              <p:cNvGraphicFramePr>
                <a:graphicFrameLocks noGrp="1"/>
              </p:cNvGraphicFramePr>
              <p:nvPr>
                <p:extLst>
                  <p:ext uri="{D42A27DB-BD31-4B8C-83A1-F6EECF244321}">
                    <p14:modId xmlns:p14="http://schemas.microsoft.com/office/powerpoint/2010/main" val="3386456217"/>
                  </p:ext>
                </p:extLst>
              </p:nvPr>
            </p:nvGraphicFramePr>
            <p:xfrm>
              <a:off x="787730" y="2505691"/>
              <a:ext cx="8910452" cy="3754583"/>
            </p:xfrm>
            <a:graphic>
              <a:graphicData uri="http://schemas.openxmlformats.org/drawingml/2006/table">
                <a:tbl>
                  <a:tblPr bandRow="1">
                    <a:tableStyleId>{5C22544A-7EE6-4342-B048-85BDC9FD1C3A}</a:tableStyleId>
                  </a:tblPr>
                  <a:tblGrid>
                    <a:gridCol w="1167575">
                      <a:extLst>
                        <a:ext uri="{9D8B030D-6E8A-4147-A177-3AD203B41FA5}">
                          <a16:colId xmlns:a16="http://schemas.microsoft.com/office/drawing/2014/main" val="2815638221"/>
                        </a:ext>
                      </a:extLst>
                    </a:gridCol>
                    <a:gridCol w="302869">
                      <a:extLst>
                        <a:ext uri="{9D8B030D-6E8A-4147-A177-3AD203B41FA5}">
                          <a16:colId xmlns:a16="http://schemas.microsoft.com/office/drawing/2014/main" val="3280904105"/>
                        </a:ext>
                      </a:extLst>
                    </a:gridCol>
                    <a:gridCol w="7440008">
                      <a:extLst>
                        <a:ext uri="{9D8B030D-6E8A-4147-A177-3AD203B41FA5}">
                          <a16:colId xmlns:a16="http://schemas.microsoft.com/office/drawing/2014/main" val="2064586492"/>
                        </a:ext>
                      </a:extLst>
                    </a:gridCol>
                  </a:tblGrid>
                  <a:tr h="536369">
                    <a:tc>
                      <a:txBody>
                        <a:bodyPr/>
                        <a:lstStyle/>
                        <a:p>
                          <a:pPr/>
                          <a14:m>
                            <m:oMathPara xmlns:m="http://schemas.openxmlformats.org/officeDocument/2006/math">
                              <m:oMathParaPr>
                                <m:jc m:val="left"/>
                              </m:oMathParaPr>
                              <m:oMath xmlns:m="http://schemas.openxmlformats.org/officeDocument/2006/math">
                                <m:sSubSup>
                                  <m:sSubSupPr>
                                    <m:ctrlPr>
                                      <a:rPr lang="en-US" sz="1600" i="1" smtClean="0">
                                        <a:latin typeface="Cambria Math" panose="02040503050406030204" pitchFamily="18" charset="0"/>
                                      </a:rPr>
                                    </m:ctrlPr>
                                  </m:sSubSupPr>
                                  <m:e>
                                    <m:r>
                                      <a:rPr lang="en-US" sz="1600" i="1">
                                        <a:latin typeface="Cambria Math" panose="02040503050406030204" pitchFamily="18" charset="0"/>
                                      </a:rPr>
                                      <m:t>𝑒</m:t>
                                    </m:r>
                                  </m:e>
                                  <m:sub>
                                    <m:r>
                                      <a:rPr lang="en-US" sz="1600" i="1">
                                        <a:latin typeface="Cambria Math" panose="02040503050406030204" pitchFamily="18" charset="0"/>
                                      </a:rPr>
                                      <m:t>𝑡</m:t>
                                    </m:r>
                                    <m:r>
                                      <a:rPr lang="en-US" sz="1600" i="1">
                                        <a:latin typeface="Cambria Math" panose="02040503050406030204" pitchFamily="18" charset="0"/>
                                      </a:rPr>
                                      <m:t>,</m:t>
                                    </m:r>
                                    <m:r>
                                      <a:rPr lang="en-US" sz="1600" i="1">
                                        <a:latin typeface="Cambria Math" panose="02040503050406030204" pitchFamily="18" charset="0"/>
                                      </a:rPr>
                                      <m:t>𝑛</m:t>
                                    </m:r>
                                  </m:sub>
                                  <m:sup>
                                    <m:r>
                                      <a:rPr lang="en-US" sz="1600" i="1">
                                        <a:latin typeface="Cambria Math" panose="02040503050406030204" pitchFamily="18" charset="0"/>
                                      </a:rPr>
                                      <m:t>𝑛𝑒𝑡</m:t>
                                    </m:r>
                                  </m:sup>
                                </m:sSubSup>
                              </m:oMath>
                            </m:oMathPara>
                          </a14:m>
                          <a:endParaRPr lang="en-US" sz="1600" dirty="0"/>
                        </a:p>
                      </a:txBody>
                      <a:tcPr>
                        <a:no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600" dirty="0"/>
                            <a:t>:</a:t>
                          </a:r>
                        </a:p>
                      </a:txBody>
                      <a:tcPr>
                        <a:noFill/>
                      </a:tcPr>
                    </a:tc>
                    <a:tc>
                      <a:txBody>
                        <a:bodyPr/>
                        <a:lstStyle/>
                        <a:p>
                          <a:r>
                            <a:rPr lang="en-US" sz="1600" dirty="0"/>
                            <a:t>Net consumption at timeslot </a:t>
                          </a:r>
                          <a14:m>
                            <m:oMath xmlns:m="http://schemas.openxmlformats.org/officeDocument/2006/math">
                              <m:r>
                                <a:rPr lang="en-US" altLang="ja-JP" sz="1600" b="0" i="1" smtClean="0">
                                  <a:latin typeface="Cambria Math" panose="02040503050406030204" pitchFamily="18" charset="0"/>
                                </a:rPr>
                                <m:t>𝑡</m:t>
                              </m:r>
                            </m:oMath>
                          </a14:m>
                          <a:r>
                            <a:rPr lang="en-US" altLang="ja-JP" sz="1600" dirty="0"/>
                            <a:t> of</a:t>
                          </a:r>
                          <a:r>
                            <a:rPr lang="en-US" altLang="ja-JP" sz="1600" baseline="0" dirty="0"/>
                            <a:t> agent </a:t>
                          </a:r>
                          <a14:m>
                            <m:oMath xmlns:m="http://schemas.openxmlformats.org/officeDocument/2006/math">
                              <m:r>
                                <a:rPr lang="en-US" altLang="ja-JP" sz="1600" b="0" i="1" smtClean="0">
                                  <a:latin typeface="Cambria Math" panose="02040503050406030204" pitchFamily="18" charset="0"/>
                                </a:rPr>
                                <m:t>𝑛</m:t>
                              </m:r>
                            </m:oMath>
                          </a14:m>
                          <a:endParaRPr lang="en-US" sz="1600" dirty="0"/>
                        </a:p>
                      </a:txBody>
                      <a:tcPr>
                        <a:noFill/>
                      </a:tcPr>
                    </a:tc>
                    <a:extLst>
                      <a:ext uri="{0D108BD9-81ED-4DB2-BD59-A6C34878D82A}">
                        <a16:rowId xmlns:a16="http://schemas.microsoft.com/office/drawing/2014/main" val="2567745939"/>
                      </a:ext>
                    </a:extLst>
                  </a:tr>
                  <a:tr h="536369">
                    <a:tc>
                      <a:txBody>
                        <a:bodyPr/>
                        <a:lstStyle/>
                        <a:p>
                          <a:pPr/>
                          <a14:m>
                            <m:oMathPara xmlns:m="http://schemas.openxmlformats.org/officeDocument/2006/math">
                              <m:oMathParaPr>
                                <m:jc m:val="left"/>
                              </m:oMathParaPr>
                              <m:oMath xmlns:m="http://schemas.openxmlformats.org/officeDocument/2006/math">
                                <m:sSubSup>
                                  <m:sSubSupPr>
                                    <m:ctrlPr>
                                      <a:rPr lang="en-US" sz="1600" i="1" smtClean="0">
                                        <a:latin typeface="Cambria Math" panose="02040503050406030204" pitchFamily="18" charset="0"/>
                                      </a:rPr>
                                    </m:ctrlPr>
                                  </m:sSubSupPr>
                                  <m:e>
                                    <m:r>
                                      <a:rPr lang="en-US" sz="1600" i="1">
                                        <a:latin typeface="Cambria Math" panose="02040503050406030204" pitchFamily="18" charset="0"/>
                                      </a:rPr>
                                      <m:t>𝑒</m:t>
                                    </m:r>
                                  </m:e>
                                  <m:sub>
                                    <m:r>
                                      <a:rPr lang="en-US" sz="1600" i="1">
                                        <a:latin typeface="Cambria Math" panose="02040503050406030204" pitchFamily="18" charset="0"/>
                                      </a:rPr>
                                      <m:t>𝑡</m:t>
                                    </m:r>
                                    <m:r>
                                      <a:rPr lang="en-US" sz="1600" i="1">
                                        <a:latin typeface="Cambria Math" panose="02040503050406030204" pitchFamily="18" charset="0"/>
                                      </a:rPr>
                                      <m:t>,</m:t>
                                    </m:r>
                                    <m:r>
                                      <a:rPr lang="en-US" sz="1600" i="1">
                                        <a:latin typeface="Cambria Math" panose="02040503050406030204" pitchFamily="18" charset="0"/>
                                      </a:rPr>
                                      <m:t>𝑛</m:t>
                                    </m:r>
                                  </m:sub>
                                  <m:sup>
                                    <m:r>
                                      <a:rPr lang="en-US" sz="1600" i="1">
                                        <a:latin typeface="Cambria Math" panose="02040503050406030204" pitchFamily="18" charset="0"/>
                                      </a:rPr>
                                      <m:t>𝑖𝑛𝑒𝑙𝑎𝑠</m:t>
                                    </m:r>
                                  </m:sup>
                                </m:sSubSup>
                              </m:oMath>
                            </m:oMathPara>
                          </a14:m>
                          <a:endParaRPr lang="en-US" sz="1600" dirty="0"/>
                        </a:p>
                      </a:txBody>
                      <a:tcPr>
                        <a:noFill/>
                      </a:tcPr>
                    </a:tc>
                    <a:tc>
                      <a:txBody>
                        <a:bodyPr/>
                        <a:lstStyle/>
                        <a:p>
                          <a:r>
                            <a:rPr lang="en-US" sz="1600" dirty="0"/>
                            <a:t>:</a:t>
                          </a:r>
                        </a:p>
                      </a:txBody>
                      <a:tcPr>
                        <a:noFill/>
                      </a:tcPr>
                    </a:tc>
                    <a:tc>
                      <a:txBody>
                        <a:bodyPr/>
                        <a:lstStyle/>
                        <a:p>
                          <a:r>
                            <a:rPr lang="en-US" sz="1600" dirty="0"/>
                            <a:t>Inelastic consumption at timeslot </a:t>
                          </a:r>
                          <a14:m>
                            <m:oMath xmlns:m="http://schemas.openxmlformats.org/officeDocument/2006/math">
                              <m:r>
                                <a:rPr lang="en-US" altLang="ja-JP" sz="1600" b="0" i="1" smtClean="0">
                                  <a:latin typeface="Cambria Math" panose="02040503050406030204" pitchFamily="18" charset="0"/>
                                </a:rPr>
                                <m:t>𝑡</m:t>
                              </m:r>
                            </m:oMath>
                          </a14:m>
                          <a:r>
                            <a:rPr lang="en-US" altLang="ja-JP" sz="1600" dirty="0"/>
                            <a:t> of</a:t>
                          </a:r>
                          <a:r>
                            <a:rPr lang="en-US" altLang="ja-JP" sz="1600" baseline="0" dirty="0"/>
                            <a:t> agent </a:t>
                          </a:r>
                          <a14:m>
                            <m:oMath xmlns:m="http://schemas.openxmlformats.org/officeDocument/2006/math">
                              <m:r>
                                <a:rPr lang="en-US" altLang="ja-JP" sz="1600" b="0" i="1" smtClean="0">
                                  <a:latin typeface="Cambria Math" panose="02040503050406030204" pitchFamily="18" charset="0"/>
                                </a:rPr>
                                <m:t>𝑛</m:t>
                              </m:r>
                            </m:oMath>
                          </a14:m>
                          <a:endParaRPr lang="en-US" sz="1600" dirty="0"/>
                        </a:p>
                      </a:txBody>
                      <a:tcPr>
                        <a:noFill/>
                      </a:tcPr>
                    </a:tc>
                    <a:extLst>
                      <a:ext uri="{0D108BD9-81ED-4DB2-BD59-A6C34878D82A}">
                        <a16:rowId xmlns:a16="http://schemas.microsoft.com/office/drawing/2014/main" val="1172270262"/>
                      </a:ext>
                    </a:extLst>
                  </a:tr>
                  <a:tr h="536369">
                    <a:tc>
                      <a:txBody>
                        <a:bodyPr/>
                        <a:lstStyle/>
                        <a:p>
                          <a:pPr/>
                          <a14:m>
                            <m:oMathPara xmlns:m="http://schemas.openxmlformats.org/officeDocument/2006/math">
                              <m:oMathParaPr>
                                <m:jc m:val="left"/>
                              </m:oMathParaPr>
                              <m:oMath xmlns:m="http://schemas.openxmlformats.org/officeDocument/2006/math">
                                <m:sSubSup>
                                  <m:sSubSupPr>
                                    <m:ctrlPr>
                                      <a:rPr lang="en-US" sz="1600" i="1" smtClean="0">
                                        <a:latin typeface="Cambria Math" panose="02040503050406030204" pitchFamily="18" charset="0"/>
                                      </a:rPr>
                                    </m:ctrlPr>
                                  </m:sSubSupPr>
                                  <m:e>
                                    <m:r>
                                      <a:rPr lang="en-US" sz="1600" i="1">
                                        <a:latin typeface="Cambria Math" panose="02040503050406030204" pitchFamily="18" charset="0"/>
                                      </a:rPr>
                                      <m:t>𝑒</m:t>
                                    </m:r>
                                  </m:e>
                                  <m:sub>
                                    <m:r>
                                      <a:rPr lang="en-US" sz="1600" i="1">
                                        <a:latin typeface="Cambria Math" panose="02040503050406030204" pitchFamily="18" charset="0"/>
                                      </a:rPr>
                                      <m:t>𝑡</m:t>
                                    </m:r>
                                    <m:r>
                                      <a:rPr lang="en-US" sz="1600" i="1">
                                        <a:latin typeface="Cambria Math" panose="02040503050406030204" pitchFamily="18" charset="0"/>
                                      </a:rPr>
                                      <m:t>,</m:t>
                                    </m:r>
                                    <m:r>
                                      <a:rPr lang="en-US" sz="1600" i="1">
                                        <a:latin typeface="Cambria Math" panose="02040503050406030204" pitchFamily="18" charset="0"/>
                                      </a:rPr>
                                      <m:t>𝑛</m:t>
                                    </m:r>
                                  </m:sub>
                                  <m:sup>
                                    <m:r>
                                      <a:rPr lang="en-US" sz="1600" i="1">
                                        <a:latin typeface="Cambria Math" panose="02040503050406030204" pitchFamily="18" charset="0"/>
                                      </a:rPr>
                                      <m:t>𝑒𝑙𝑎𝑠</m:t>
                                    </m:r>
                                  </m:sup>
                                </m:sSubSup>
                              </m:oMath>
                            </m:oMathPara>
                          </a14:m>
                          <a:endParaRPr lang="en-US" sz="1600" dirty="0"/>
                        </a:p>
                      </a:txBody>
                      <a:tcPr>
                        <a:noFill/>
                      </a:tcPr>
                    </a:tc>
                    <a:tc>
                      <a:txBody>
                        <a:bodyPr/>
                        <a:lstStyle/>
                        <a:p>
                          <a:r>
                            <a:rPr lang="en-US" sz="1600" dirty="0"/>
                            <a:t>:</a:t>
                          </a:r>
                        </a:p>
                      </a:txBody>
                      <a:tcPr>
                        <a:noFill/>
                      </a:tcPr>
                    </a:tc>
                    <a:tc>
                      <a:txBody>
                        <a:bodyPr/>
                        <a:lstStyle/>
                        <a:p>
                          <a:r>
                            <a:rPr lang="en-US" sz="1600" dirty="0"/>
                            <a:t>Elastic consumption (Demand Response) at timeslot </a:t>
                          </a:r>
                          <a14:m>
                            <m:oMath xmlns:m="http://schemas.openxmlformats.org/officeDocument/2006/math">
                              <m:r>
                                <a:rPr lang="en-US" altLang="ja-JP" sz="1600" b="0" i="1" smtClean="0">
                                  <a:latin typeface="Cambria Math" panose="02040503050406030204" pitchFamily="18" charset="0"/>
                                </a:rPr>
                                <m:t>𝑡</m:t>
                              </m:r>
                            </m:oMath>
                          </a14:m>
                          <a:r>
                            <a:rPr lang="en-US" altLang="ja-JP" sz="1600" dirty="0"/>
                            <a:t> of</a:t>
                          </a:r>
                          <a:r>
                            <a:rPr lang="en-US" altLang="ja-JP" sz="1600" baseline="0" dirty="0"/>
                            <a:t> agent </a:t>
                          </a:r>
                          <a14:m>
                            <m:oMath xmlns:m="http://schemas.openxmlformats.org/officeDocument/2006/math">
                              <m:r>
                                <a:rPr lang="en-US" altLang="ja-JP" sz="1600" b="0" i="1" smtClean="0">
                                  <a:latin typeface="Cambria Math" panose="02040503050406030204" pitchFamily="18" charset="0"/>
                                </a:rPr>
                                <m:t>𝑛</m:t>
                              </m:r>
                            </m:oMath>
                          </a14:m>
                          <a:endParaRPr lang="en-US" sz="1600" dirty="0"/>
                        </a:p>
                      </a:txBody>
                      <a:tcPr>
                        <a:noFill/>
                      </a:tcPr>
                    </a:tc>
                    <a:extLst>
                      <a:ext uri="{0D108BD9-81ED-4DB2-BD59-A6C34878D82A}">
                        <a16:rowId xmlns:a16="http://schemas.microsoft.com/office/drawing/2014/main" val="4272089726"/>
                      </a:ext>
                    </a:extLst>
                  </a:tr>
                  <a:tr h="536369">
                    <a:tc>
                      <a:txBody>
                        <a:bodyPr/>
                        <a:lstStyle/>
                        <a:p>
                          <a:pPr/>
                          <a14:m>
                            <m:oMathPara xmlns:m="http://schemas.openxmlformats.org/officeDocument/2006/math">
                              <m:oMathParaPr>
                                <m:jc m:val="left"/>
                              </m:oMathParaPr>
                              <m:oMath xmlns:m="http://schemas.openxmlformats.org/officeDocument/2006/math">
                                <m:sSubSup>
                                  <m:sSubSupPr>
                                    <m:ctrlPr>
                                      <a:rPr lang="en-US" sz="1600" i="1" smtClean="0">
                                        <a:latin typeface="Cambria Math" panose="02040503050406030204" pitchFamily="18" charset="0"/>
                                      </a:rPr>
                                    </m:ctrlPr>
                                  </m:sSubSupPr>
                                  <m:e>
                                    <m:r>
                                      <a:rPr lang="en-US" sz="1600" i="1">
                                        <a:latin typeface="Cambria Math" panose="02040503050406030204" pitchFamily="18" charset="0"/>
                                      </a:rPr>
                                      <m:t>𝑒</m:t>
                                    </m:r>
                                  </m:e>
                                  <m:sub>
                                    <m:r>
                                      <a:rPr lang="en-US" sz="1600" i="1">
                                        <a:latin typeface="Cambria Math" panose="02040503050406030204" pitchFamily="18" charset="0"/>
                                      </a:rPr>
                                      <m:t>𝑡</m:t>
                                    </m:r>
                                    <m:r>
                                      <a:rPr lang="en-US" sz="1600" i="1">
                                        <a:latin typeface="Cambria Math" panose="02040503050406030204" pitchFamily="18" charset="0"/>
                                      </a:rPr>
                                      <m:t>,</m:t>
                                    </m:r>
                                    <m:r>
                                      <a:rPr lang="en-US" sz="1600" i="1">
                                        <a:latin typeface="Cambria Math" panose="02040503050406030204" pitchFamily="18" charset="0"/>
                                      </a:rPr>
                                      <m:t>𝑛</m:t>
                                    </m:r>
                                  </m:sub>
                                  <m:sup>
                                    <m:r>
                                      <a:rPr lang="en-US" sz="1600" i="1">
                                        <a:latin typeface="Cambria Math" panose="02040503050406030204" pitchFamily="18" charset="0"/>
                                      </a:rPr>
                                      <m:t>𝑠h𝑖𝑓𝑡</m:t>
                                    </m:r>
                                  </m:sup>
                                </m:sSubSup>
                              </m:oMath>
                            </m:oMathPara>
                          </a14:m>
                          <a:endParaRPr lang="en-US" sz="1600" dirty="0"/>
                        </a:p>
                      </a:txBody>
                      <a:tcPr>
                        <a:noFill/>
                      </a:tcPr>
                    </a:tc>
                    <a:tc>
                      <a:txBody>
                        <a:bodyPr/>
                        <a:lstStyle/>
                        <a:p>
                          <a:r>
                            <a:rPr lang="en-US" sz="1600" dirty="0"/>
                            <a:t>:</a:t>
                          </a:r>
                        </a:p>
                      </a:txBody>
                      <a:tcPr>
                        <a:noFill/>
                      </a:tcPr>
                    </a:tc>
                    <a:tc>
                      <a:txBody>
                        <a:bodyPr/>
                        <a:lstStyle/>
                        <a:p>
                          <a:r>
                            <a:rPr lang="en-US" sz="1600" dirty="0"/>
                            <a:t>Shifted consumption from past DR at timeslot </a:t>
                          </a:r>
                          <a14:m>
                            <m:oMath xmlns:m="http://schemas.openxmlformats.org/officeDocument/2006/math">
                              <m:r>
                                <a:rPr lang="en-US" altLang="ja-JP" sz="1600" b="0" i="1" smtClean="0">
                                  <a:latin typeface="Cambria Math" panose="02040503050406030204" pitchFamily="18" charset="0"/>
                                </a:rPr>
                                <m:t>𝑡</m:t>
                              </m:r>
                            </m:oMath>
                          </a14:m>
                          <a:r>
                            <a:rPr lang="en-US" altLang="ja-JP" sz="1600" dirty="0"/>
                            <a:t> of</a:t>
                          </a:r>
                          <a:r>
                            <a:rPr lang="en-US" altLang="ja-JP" sz="1600" baseline="0" dirty="0"/>
                            <a:t> agent </a:t>
                          </a:r>
                          <a14:m>
                            <m:oMath xmlns:m="http://schemas.openxmlformats.org/officeDocument/2006/math">
                              <m:r>
                                <a:rPr lang="en-US" altLang="ja-JP" sz="1600" b="0" i="1" smtClean="0">
                                  <a:latin typeface="Cambria Math" panose="02040503050406030204" pitchFamily="18" charset="0"/>
                                </a:rPr>
                                <m:t>𝑛</m:t>
                              </m:r>
                            </m:oMath>
                          </a14:m>
                          <a:endParaRPr lang="en-US" sz="1600" dirty="0"/>
                        </a:p>
                      </a:txBody>
                      <a:tcPr>
                        <a:noFill/>
                      </a:tcPr>
                    </a:tc>
                    <a:extLst>
                      <a:ext uri="{0D108BD9-81ED-4DB2-BD59-A6C34878D82A}">
                        <a16:rowId xmlns:a16="http://schemas.microsoft.com/office/drawing/2014/main" val="199082574"/>
                      </a:ext>
                    </a:extLst>
                  </a:tr>
                  <a:tr h="536369">
                    <a:tc>
                      <a:txBody>
                        <a:bodyPr/>
                        <a:lstStyle/>
                        <a:p>
                          <a:pPr/>
                          <a14:m>
                            <m:oMathPara xmlns:m="http://schemas.openxmlformats.org/officeDocument/2006/math">
                              <m:oMathParaPr>
                                <m:jc m:val="left"/>
                              </m:oMathParaPr>
                              <m:oMath xmlns:m="http://schemas.openxmlformats.org/officeDocument/2006/math">
                                <m:sSubSup>
                                  <m:sSubSupPr>
                                    <m:ctrlPr>
                                      <a:rPr lang="en-US" sz="1600" i="1" smtClean="0">
                                        <a:latin typeface="Cambria Math" panose="02040503050406030204" pitchFamily="18" charset="0"/>
                                      </a:rPr>
                                    </m:ctrlPr>
                                  </m:sSubSupPr>
                                  <m:e>
                                    <m:r>
                                      <a:rPr lang="en-US" sz="1600" i="1">
                                        <a:latin typeface="Cambria Math" panose="02040503050406030204" pitchFamily="18" charset="0"/>
                                      </a:rPr>
                                      <m:t>𝑒</m:t>
                                    </m:r>
                                  </m:e>
                                  <m:sub>
                                    <m:r>
                                      <a:rPr lang="en-US" sz="1600" i="1">
                                        <a:latin typeface="Cambria Math" panose="02040503050406030204" pitchFamily="18" charset="0"/>
                                      </a:rPr>
                                      <m:t>𝑡</m:t>
                                    </m:r>
                                    <m:r>
                                      <a:rPr lang="en-US" sz="1600" i="1">
                                        <a:latin typeface="Cambria Math" panose="02040503050406030204" pitchFamily="18" charset="0"/>
                                      </a:rPr>
                                      <m:t>,</m:t>
                                    </m:r>
                                    <m:r>
                                      <a:rPr lang="en-US" sz="1600" i="1">
                                        <a:latin typeface="Cambria Math" panose="02040503050406030204" pitchFamily="18" charset="0"/>
                                      </a:rPr>
                                      <m:t>𝑛</m:t>
                                    </m:r>
                                  </m:sub>
                                  <m:sup>
                                    <m:r>
                                      <a:rPr lang="en-US" sz="1600" i="1">
                                        <a:latin typeface="Cambria Math" panose="02040503050406030204" pitchFamily="18" charset="0"/>
                                      </a:rPr>
                                      <m:t>𝑏𝑎𝑡</m:t>
                                    </m:r>
                                  </m:sup>
                                </m:sSubSup>
                              </m:oMath>
                            </m:oMathPara>
                          </a14:m>
                          <a:endParaRPr lang="en-US" sz="1600" dirty="0"/>
                        </a:p>
                      </a:txBody>
                      <a:tcPr>
                        <a:noFill/>
                      </a:tcPr>
                    </a:tc>
                    <a:tc>
                      <a:txBody>
                        <a:bodyPr/>
                        <a:lstStyle/>
                        <a:p>
                          <a:r>
                            <a:rPr lang="en-US" sz="1600" dirty="0"/>
                            <a:t>:</a:t>
                          </a:r>
                        </a:p>
                      </a:txBody>
                      <a:tcPr>
                        <a:noFill/>
                      </a:tcPr>
                    </a:tc>
                    <a:tc>
                      <a:txBody>
                        <a:bodyPr/>
                        <a:lstStyle/>
                        <a:p>
                          <a:r>
                            <a:rPr lang="en-US" altLang="ja-JP" sz="1600" dirty="0"/>
                            <a:t>Battery charge/discharge (positive value for charging) </a:t>
                          </a:r>
                          <a:r>
                            <a:rPr lang="en-US" sz="1600" dirty="0"/>
                            <a:t>at timeslot </a:t>
                          </a:r>
                          <a14:m>
                            <m:oMath xmlns:m="http://schemas.openxmlformats.org/officeDocument/2006/math">
                              <m:r>
                                <a:rPr lang="en-US" altLang="ja-JP" sz="1600" b="0" i="1" smtClean="0">
                                  <a:latin typeface="Cambria Math" panose="02040503050406030204" pitchFamily="18" charset="0"/>
                                </a:rPr>
                                <m:t>𝑡</m:t>
                              </m:r>
                            </m:oMath>
                          </a14:m>
                          <a:r>
                            <a:rPr lang="en-US" altLang="ja-JP" sz="1600" dirty="0"/>
                            <a:t> of</a:t>
                          </a:r>
                          <a:r>
                            <a:rPr lang="en-US" altLang="ja-JP" sz="1600" baseline="0" dirty="0"/>
                            <a:t> agent </a:t>
                          </a:r>
                          <a14:m>
                            <m:oMath xmlns:m="http://schemas.openxmlformats.org/officeDocument/2006/math">
                              <m:r>
                                <a:rPr lang="en-US" altLang="ja-JP" sz="1600" b="0" i="1" smtClean="0">
                                  <a:latin typeface="Cambria Math" panose="02040503050406030204" pitchFamily="18" charset="0"/>
                                </a:rPr>
                                <m:t>𝑛</m:t>
                              </m:r>
                            </m:oMath>
                          </a14:m>
                          <a:endParaRPr lang="en-US" sz="1600" dirty="0"/>
                        </a:p>
                      </a:txBody>
                      <a:tcPr>
                        <a:noFill/>
                      </a:tcPr>
                    </a:tc>
                    <a:extLst>
                      <a:ext uri="{0D108BD9-81ED-4DB2-BD59-A6C34878D82A}">
                        <a16:rowId xmlns:a16="http://schemas.microsoft.com/office/drawing/2014/main" val="938949808"/>
                      </a:ext>
                    </a:extLst>
                  </a:tr>
                  <a:tr h="536369">
                    <a:tc>
                      <a:txBody>
                        <a:bodyPr/>
                        <a:lstStyle/>
                        <a:p>
                          <a:pPr/>
                          <a14:m>
                            <m:oMathPara xmlns:m="http://schemas.openxmlformats.org/officeDocument/2006/math">
                              <m:oMathParaPr>
                                <m:jc m:val="left"/>
                              </m:oMathParaPr>
                              <m:oMath xmlns:m="http://schemas.openxmlformats.org/officeDocument/2006/math">
                                <m:sSubSup>
                                  <m:sSubSupPr>
                                    <m:ctrlPr>
                                      <a:rPr lang="en-US" sz="1600" i="1" smtClean="0">
                                        <a:latin typeface="Cambria Math" panose="02040503050406030204" pitchFamily="18" charset="0"/>
                                      </a:rPr>
                                    </m:ctrlPr>
                                  </m:sSubSupPr>
                                  <m:e>
                                    <m:r>
                                      <a:rPr lang="en-US" sz="1600" i="1">
                                        <a:latin typeface="Cambria Math" panose="02040503050406030204" pitchFamily="18" charset="0"/>
                                      </a:rPr>
                                      <m:t>𝑒</m:t>
                                    </m:r>
                                  </m:e>
                                  <m:sub>
                                    <m:r>
                                      <a:rPr lang="en-US" sz="1600" i="1">
                                        <a:latin typeface="Cambria Math" panose="02040503050406030204" pitchFamily="18" charset="0"/>
                                      </a:rPr>
                                      <m:t>𝑡</m:t>
                                    </m:r>
                                    <m:r>
                                      <a:rPr lang="en-US" sz="1600" i="1">
                                        <a:latin typeface="Cambria Math" panose="02040503050406030204" pitchFamily="18" charset="0"/>
                                      </a:rPr>
                                      <m:t>,</m:t>
                                    </m:r>
                                    <m:r>
                                      <a:rPr lang="en-US" sz="1600" i="1">
                                        <a:latin typeface="Cambria Math" panose="02040503050406030204" pitchFamily="18" charset="0"/>
                                      </a:rPr>
                                      <m:t>𝑛</m:t>
                                    </m:r>
                                  </m:sub>
                                  <m:sup>
                                    <m:r>
                                      <a:rPr lang="en-US" sz="1600" i="1">
                                        <a:latin typeface="Cambria Math" panose="02040503050406030204" pitchFamily="18" charset="0"/>
                                      </a:rPr>
                                      <m:t>𝐸𝑉</m:t>
                                    </m:r>
                                  </m:sup>
                                </m:sSubSup>
                              </m:oMath>
                            </m:oMathPara>
                          </a14:m>
                          <a:endParaRPr lang="en-US" sz="1600" dirty="0"/>
                        </a:p>
                      </a:txBody>
                      <a:tcPr>
                        <a:noFill/>
                      </a:tcPr>
                    </a:tc>
                    <a:tc>
                      <a:txBody>
                        <a:bodyPr/>
                        <a:lstStyle/>
                        <a:p>
                          <a:r>
                            <a:rPr lang="en-US" sz="1600" dirty="0"/>
                            <a:t>:</a:t>
                          </a:r>
                        </a:p>
                      </a:txBody>
                      <a:tcPr>
                        <a:noFill/>
                      </a:tcPr>
                    </a:tc>
                    <a:tc>
                      <a:txBody>
                        <a:bodyPr/>
                        <a:lstStyle/>
                        <a:p>
                          <a:r>
                            <a:rPr lang="en-US" altLang="ja-JP" sz="1600" dirty="0"/>
                            <a:t>EV battery charge/discharge (positive value for charging) </a:t>
                          </a:r>
                          <a:r>
                            <a:rPr lang="en-US" sz="1600" dirty="0"/>
                            <a:t>at timeslot </a:t>
                          </a:r>
                          <a14:m>
                            <m:oMath xmlns:m="http://schemas.openxmlformats.org/officeDocument/2006/math">
                              <m:r>
                                <a:rPr lang="en-US" altLang="ja-JP" sz="1600" b="0" i="1" smtClean="0">
                                  <a:latin typeface="Cambria Math" panose="02040503050406030204" pitchFamily="18" charset="0"/>
                                </a:rPr>
                                <m:t>𝑡</m:t>
                              </m:r>
                            </m:oMath>
                          </a14:m>
                          <a:r>
                            <a:rPr lang="en-US" altLang="ja-JP" sz="1600" dirty="0"/>
                            <a:t> of</a:t>
                          </a:r>
                          <a:r>
                            <a:rPr lang="en-US" altLang="ja-JP" sz="1600" baseline="0" dirty="0"/>
                            <a:t> agent </a:t>
                          </a:r>
                          <a14:m>
                            <m:oMath xmlns:m="http://schemas.openxmlformats.org/officeDocument/2006/math">
                              <m:r>
                                <a:rPr lang="en-US" altLang="ja-JP" sz="1600" b="0" i="1" smtClean="0">
                                  <a:latin typeface="Cambria Math" panose="02040503050406030204" pitchFamily="18" charset="0"/>
                                </a:rPr>
                                <m:t>𝑛</m:t>
                              </m:r>
                            </m:oMath>
                          </a14:m>
                          <a:endParaRPr lang="en-US" sz="1600" dirty="0"/>
                        </a:p>
                      </a:txBody>
                      <a:tcPr>
                        <a:noFill/>
                      </a:tcPr>
                    </a:tc>
                    <a:extLst>
                      <a:ext uri="{0D108BD9-81ED-4DB2-BD59-A6C34878D82A}">
                        <a16:rowId xmlns:a16="http://schemas.microsoft.com/office/drawing/2014/main" val="926870822"/>
                      </a:ext>
                    </a:extLst>
                  </a:tr>
                  <a:tr h="536369">
                    <a:tc>
                      <a:txBody>
                        <a:bodyPr/>
                        <a:lstStyle/>
                        <a:p>
                          <a:pPr/>
                          <a14:m>
                            <m:oMathPara xmlns:m="http://schemas.openxmlformats.org/officeDocument/2006/math">
                              <m:oMathParaPr>
                                <m:jc m:val="left"/>
                              </m:oMathParaPr>
                              <m:oMath xmlns:m="http://schemas.openxmlformats.org/officeDocument/2006/math">
                                <m:sSubSup>
                                  <m:sSubSupPr>
                                    <m:ctrlPr>
                                      <a:rPr lang="en-US" sz="1600" i="1" smtClean="0">
                                        <a:latin typeface="Cambria Math" panose="02040503050406030204" pitchFamily="18" charset="0"/>
                                      </a:rPr>
                                    </m:ctrlPr>
                                  </m:sSubSupPr>
                                  <m:e>
                                    <m:r>
                                      <a:rPr lang="en-US" sz="1600" i="1">
                                        <a:latin typeface="Cambria Math" panose="02040503050406030204" pitchFamily="18" charset="0"/>
                                      </a:rPr>
                                      <m:t>𝑒</m:t>
                                    </m:r>
                                  </m:e>
                                  <m:sub>
                                    <m:r>
                                      <a:rPr lang="en-US" sz="1600" i="1">
                                        <a:latin typeface="Cambria Math" panose="02040503050406030204" pitchFamily="18" charset="0"/>
                                      </a:rPr>
                                      <m:t>𝑡</m:t>
                                    </m:r>
                                    <m:r>
                                      <a:rPr lang="en-US" sz="1600" i="1">
                                        <a:latin typeface="Cambria Math" panose="02040503050406030204" pitchFamily="18" charset="0"/>
                                      </a:rPr>
                                      <m:t>,</m:t>
                                    </m:r>
                                    <m:r>
                                      <a:rPr lang="en-US" sz="1600" i="1">
                                        <a:latin typeface="Cambria Math" panose="02040503050406030204" pitchFamily="18" charset="0"/>
                                      </a:rPr>
                                      <m:t>𝑛</m:t>
                                    </m:r>
                                  </m:sub>
                                  <m:sup>
                                    <m:r>
                                      <a:rPr lang="en-US" sz="1600" i="1">
                                        <a:latin typeface="Cambria Math" panose="02040503050406030204" pitchFamily="18" charset="0"/>
                                      </a:rPr>
                                      <m:t>𝑃𝑉</m:t>
                                    </m:r>
                                  </m:sup>
                                </m:sSubSup>
                              </m:oMath>
                            </m:oMathPara>
                          </a14:m>
                          <a:endParaRPr lang="en-US" sz="1600" dirty="0"/>
                        </a:p>
                      </a:txBody>
                      <a:tcPr>
                        <a:noFill/>
                      </a:tcPr>
                    </a:tc>
                    <a:tc>
                      <a:txBody>
                        <a:bodyPr/>
                        <a:lstStyle/>
                        <a:p>
                          <a:r>
                            <a:rPr lang="en-US" sz="1600" dirty="0"/>
                            <a:t>:</a:t>
                          </a:r>
                        </a:p>
                      </a:txBody>
                      <a:tcPr>
                        <a:noFill/>
                      </a:tcPr>
                    </a:tc>
                    <a:tc>
                      <a:txBody>
                        <a:bodyPr/>
                        <a:lstStyle/>
                        <a:p>
                          <a:r>
                            <a:rPr lang="en-US" altLang="ja-JP" sz="1600" dirty="0"/>
                            <a:t>Production from PV panel </a:t>
                          </a:r>
                          <a:r>
                            <a:rPr lang="en-US" sz="1600" dirty="0"/>
                            <a:t>at timeslot </a:t>
                          </a:r>
                          <a14:m>
                            <m:oMath xmlns:m="http://schemas.openxmlformats.org/officeDocument/2006/math">
                              <m:r>
                                <a:rPr lang="en-US" altLang="ja-JP" sz="1600" b="0" i="1" smtClean="0">
                                  <a:latin typeface="Cambria Math" panose="02040503050406030204" pitchFamily="18" charset="0"/>
                                </a:rPr>
                                <m:t>𝑡</m:t>
                              </m:r>
                            </m:oMath>
                          </a14:m>
                          <a:r>
                            <a:rPr lang="en-US" altLang="ja-JP" sz="1600" dirty="0"/>
                            <a:t> of</a:t>
                          </a:r>
                          <a:r>
                            <a:rPr lang="en-US" altLang="ja-JP" sz="1600" baseline="0" dirty="0"/>
                            <a:t> agent </a:t>
                          </a:r>
                          <a14:m>
                            <m:oMath xmlns:m="http://schemas.openxmlformats.org/officeDocument/2006/math">
                              <m:r>
                                <a:rPr lang="en-US" altLang="ja-JP" sz="1600" b="0" i="1" smtClean="0">
                                  <a:latin typeface="Cambria Math" panose="02040503050406030204" pitchFamily="18" charset="0"/>
                                </a:rPr>
                                <m:t>𝑛</m:t>
                              </m:r>
                            </m:oMath>
                          </a14:m>
                          <a:endParaRPr lang="en-US" sz="1600" dirty="0"/>
                        </a:p>
                      </a:txBody>
                      <a:tcPr>
                        <a:noFill/>
                      </a:tcPr>
                    </a:tc>
                    <a:extLst>
                      <a:ext uri="{0D108BD9-81ED-4DB2-BD59-A6C34878D82A}">
                        <a16:rowId xmlns:a16="http://schemas.microsoft.com/office/drawing/2014/main" val="3815214825"/>
                      </a:ext>
                    </a:extLst>
                  </a:tr>
                </a:tbl>
              </a:graphicData>
            </a:graphic>
          </p:graphicFrame>
        </mc:Choice>
        <mc:Fallback xmlns="">
          <p:graphicFrame>
            <p:nvGraphicFramePr>
              <p:cNvPr id="9" name="表 8">
                <a:extLst>
                  <a:ext uri="{FF2B5EF4-FFF2-40B4-BE49-F238E27FC236}">
                    <a16:creationId xmlns:a16="http://schemas.microsoft.com/office/drawing/2014/main" id="{937BC028-F450-8528-8CA7-31ECA94F58DC}"/>
                  </a:ext>
                </a:extLst>
              </p:cNvPr>
              <p:cNvGraphicFramePr>
                <a:graphicFrameLocks noGrp="1"/>
              </p:cNvGraphicFramePr>
              <p:nvPr>
                <p:extLst>
                  <p:ext uri="{D42A27DB-BD31-4B8C-83A1-F6EECF244321}">
                    <p14:modId xmlns:p14="http://schemas.microsoft.com/office/powerpoint/2010/main" val="3386456217"/>
                  </p:ext>
                </p:extLst>
              </p:nvPr>
            </p:nvGraphicFramePr>
            <p:xfrm>
              <a:off x="787730" y="2505691"/>
              <a:ext cx="8910452" cy="3754583"/>
            </p:xfrm>
            <a:graphic>
              <a:graphicData uri="http://schemas.openxmlformats.org/drawingml/2006/table">
                <a:tbl>
                  <a:tblPr bandRow="1">
                    <a:tableStyleId>{5C22544A-7EE6-4342-B048-85BDC9FD1C3A}</a:tableStyleId>
                  </a:tblPr>
                  <a:tblGrid>
                    <a:gridCol w="1167575">
                      <a:extLst>
                        <a:ext uri="{9D8B030D-6E8A-4147-A177-3AD203B41FA5}">
                          <a16:colId xmlns:a16="http://schemas.microsoft.com/office/drawing/2014/main" val="2815638221"/>
                        </a:ext>
                      </a:extLst>
                    </a:gridCol>
                    <a:gridCol w="302869">
                      <a:extLst>
                        <a:ext uri="{9D8B030D-6E8A-4147-A177-3AD203B41FA5}">
                          <a16:colId xmlns:a16="http://schemas.microsoft.com/office/drawing/2014/main" val="3280904105"/>
                        </a:ext>
                      </a:extLst>
                    </a:gridCol>
                    <a:gridCol w="7440008">
                      <a:extLst>
                        <a:ext uri="{9D8B030D-6E8A-4147-A177-3AD203B41FA5}">
                          <a16:colId xmlns:a16="http://schemas.microsoft.com/office/drawing/2014/main" val="2064586492"/>
                        </a:ext>
                      </a:extLst>
                    </a:gridCol>
                  </a:tblGrid>
                  <a:tr h="536369">
                    <a:tc>
                      <a:txBody>
                        <a:bodyPr/>
                        <a:lstStyle/>
                        <a:p>
                          <a:endParaRPr lang="en-US"/>
                        </a:p>
                      </a:txBody>
                      <a:tcPr>
                        <a:blipFill>
                          <a:blip r:embed="rId3"/>
                          <a:stretch>
                            <a:fillRect l="-521" t="-4545" r="-662500" b="-603409"/>
                          </a:stretch>
                        </a:blip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600" dirty="0"/>
                            <a:t>:</a:t>
                          </a:r>
                        </a:p>
                      </a:txBody>
                      <a:tcPr>
                        <a:noFill/>
                      </a:tcPr>
                    </a:tc>
                    <a:tc>
                      <a:txBody>
                        <a:bodyPr/>
                        <a:lstStyle/>
                        <a:p>
                          <a:endParaRPr lang="en-US"/>
                        </a:p>
                      </a:txBody>
                      <a:tcPr>
                        <a:blipFill>
                          <a:blip r:embed="rId3"/>
                          <a:stretch>
                            <a:fillRect l="-19820" t="-4545" r="-164" b="-603409"/>
                          </a:stretch>
                        </a:blipFill>
                      </a:tcPr>
                    </a:tc>
                    <a:extLst>
                      <a:ext uri="{0D108BD9-81ED-4DB2-BD59-A6C34878D82A}">
                        <a16:rowId xmlns:a16="http://schemas.microsoft.com/office/drawing/2014/main" val="2567745939"/>
                      </a:ext>
                    </a:extLst>
                  </a:tr>
                  <a:tr h="536369">
                    <a:tc>
                      <a:txBody>
                        <a:bodyPr/>
                        <a:lstStyle/>
                        <a:p>
                          <a:endParaRPr lang="en-US"/>
                        </a:p>
                      </a:txBody>
                      <a:tcPr>
                        <a:blipFill>
                          <a:blip r:embed="rId3"/>
                          <a:stretch>
                            <a:fillRect l="-521" t="-104545" r="-662500" b="-503409"/>
                          </a:stretch>
                        </a:blipFill>
                      </a:tcPr>
                    </a:tc>
                    <a:tc>
                      <a:txBody>
                        <a:bodyPr/>
                        <a:lstStyle/>
                        <a:p>
                          <a:r>
                            <a:rPr lang="en-US" sz="1600" dirty="0"/>
                            <a:t>:</a:t>
                          </a:r>
                        </a:p>
                      </a:txBody>
                      <a:tcPr>
                        <a:noFill/>
                      </a:tcPr>
                    </a:tc>
                    <a:tc>
                      <a:txBody>
                        <a:bodyPr/>
                        <a:lstStyle/>
                        <a:p>
                          <a:endParaRPr lang="en-US"/>
                        </a:p>
                      </a:txBody>
                      <a:tcPr>
                        <a:blipFill>
                          <a:blip r:embed="rId3"/>
                          <a:stretch>
                            <a:fillRect l="-19820" t="-104545" r="-164" b="-503409"/>
                          </a:stretch>
                        </a:blipFill>
                      </a:tcPr>
                    </a:tc>
                    <a:extLst>
                      <a:ext uri="{0D108BD9-81ED-4DB2-BD59-A6C34878D82A}">
                        <a16:rowId xmlns:a16="http://schemas.microsoft.com/office/drawing/2014/main" val="1172270262"/>
                      </a:ext>
                    </a:extLst>
                  </a:tr>
                  <a:tr h="536369">
                    <a:tc>
                      <a:txBody>
                        <a:bodyPr/>
                        <a:lstStyle/>
                        <a:p>
                          <a:endParaRPr lang="en-US"/>
                        </a:p>
                      </a:txBody>
                      <a:tcPr>
                        <a:blipFill>
                          <a:blip r:embed="rId3"/>
                          <a:stretch>
                            <a:fillRect l="-521" t="-204545" r="-662500" b="-403409"/>
                          </a:stretch>
                        </a:blipFill>
                      </a:tcPr>
                    </a:tc>
                    <a:tc>
                      <a:txBody>
                        <a:bodyPr/>
                        <a:lstStyle/>
                        <a:p>
                          <a:r>
                            <a:rPr lang="en-US" sz="1600" dirty="0"/>
                            <a:t>:</a:t>
                          </a:r>
                        </a:p>
                      </a:txBody>
                      <a:tcPr>
                        <a:noFill/>
                      </a:tcPr>
                    </a:tc>
                    <a:tc>
                      <a:txBody>
                        <a:bodyPr/>
                        <a:lstStyle/>
                        <a:p>
                          <a:endParaRPr lang="en-US"/>
                        </a:p>
                      </a:txBody>
                      <a:tcPr>
                        <a:blipFill>
                          <a:blip r:embed="rId3"/>
                          <a:stretch>
                            <a:fillRect l="-19820" t="-204545" r="-164" b="-403409"/>
                          </a:stretch>
                        </a:blipFill>
                      </a:tcPr>
                    </a:tc>
                    <a:extLst>
                      <a:ext uri="{0D108BD9-81ED-4DB2-BD59-A6C34878D82A}">
                        <a16:rowId xmlns:a16="http://schemas.microsoft.com/office/drawing/2014/main" val="4272089726"/>
                      </a:ext>
                    </a:extLst>
                  </a:tr>
                  <a:tr h="536369">
                    <a:tc>
                      <a:txBody>
                        <a:bodyPr/>
                        <a:lstStyle/>
                        <a:p>
                          <a:endParaRPr lang="en-US"/>
                        </a:p>
                      </a:txBody>
                      <a:tcPr>
                        <a:blipFill>
                          <a:blip r:embed="rId3"/>
                          <a:stretch>
                            <a:fillRect l="-521" t="-304545" r="-662500" b="-303409"/>
                          </a:stretch>
                        </a:blipFill>
                      </a:tcPr>
                    </a:tc>
                    <a:tc>
                      <a:txBody>
                        <a:bodyPr/>
                        <a:lstStyle/>
                        <a:p>
                          <a:r>
                            <a:rPr lang="en-US" sz="1600" dirty="0"/>
                            <a:t>:</a:t>
                          </a:r>
                        </a:p>
                      </a:txBody>
                      <a:tcPr>
                        <a:noFill/>
                      </a:tcPr>
                    </a:tc>
                    <a:tc>
                      <a:txBody>
                        <a:bodyPr/>
                        <a:lstStyle/>
                        <a:p>
                          <a:endParaRPr lang="en-US"/>
                        </a:p>
                      </a:txBody>
                      <a:tcPr>
                        <a:blipFill>
                          <a:blip r:embed="rId3"/>
                          <a:stretch>
                            <a:fillRect l="-19820" t="-304545" r="-164" b="-303409"/>
                          </a:stretch>
                        </a:blipFill>
                      </a:tcPr>
                    </a:tc>
                    <a:extLst>
                      <a:ext uri="{0D108BD9-81ED-4DB2-BD59-A6C34878D82A}">
                        <a16:rowId xmlns:a16="http://schemas.microsoft.com/office/drawing/2014/main" val="199082574"/>
                      </a:ext>
                    </a:extLst>
                  </a:tr>
                  <a:tr h="536369">
                    <a:tc>
                      <a:txBody>
                        <a:bodyPr/>
                        <a:lstStyle/>
                        <a:p>
                          <a:endParaRPr lang="en-US"/>
                        </a:p>
                      </a:txBody>
                      <a:tcPr>
                        <a:blipFill>
                          <a:blip r:embed="rId3"/>
                          <a:stretch>
                            <a:fillRect l="-521" t="-404545" r="-662500" b="-203409"/>
                          </a:stretch>
                        </a:blipFill>
                      </a:tcPr>
                    </a:tc>
                    <a:tc>
                      <a:txBody>
                        <a:bodyPr/>
                        <a:lstStyle/>
                        <a:p>
                          <a:r>
                            <a:rPr lang="en-US" sz="1600" dirty="0"/>
                            <a:t>:</a:t>
                          </a:r>
                        </a:p>
                      </a:txBody>
                      <a:tcPr>
                        <a:noFill/>
                      </a:tcPr>
                    </a:tc>
                    <a:tc>
                      <a:txBody>
                        <a:bodyPr/>
                        <a:lstStyle/>
                        <a:p>
                          <a:endParaRPr lang="en-US"/>
                        </a:p>
                      </a:txBody>
                      <a:tcPr>
                        <a:blipFill>
                          <a:blip r:embed="rId3"/>
                          <a:stretch>
                            <a:fillRect l="-19820" t="-404545" r="-164" b="-203409"/>
                          </a:stretch>
                        </a:blipFill>
                      </a:tcPr>
                    </a:tc>
                    <a:extLst>
                      <a:ext uri="{0D108BD9-81ED-4DB2-BD59-A6C34878D82A}">
                        <a16:rowId xmlns:a16="http://schemas.microsoft.com/office/drawing/2014/main" val="938949808"/>
                      </a:ext>
                    </a:extLst>
                  </a:tr>
                  <a:tr h="536369">
                    <a:tc>
                      <a:txBody>
                        <a:bodyPr/>
                        <a:lstStyle/>
                        <a:p>
                          <a:endParaRPr lang="en-US"/>
                        </a:p>
                      </a:txBody>
                      <a:tcPr>
                        <a:blipFill>
                          <a:blip r:embed="rId3"/>
                          <a:stretch>
                            <a:fillRect l="-521" t="-504545" r="-662500" b="-103409"/>
                          </a:stretch>
                        </a:blipFill>
                      </a:tcPr>
                    </a:tc>
                    <a:tc>
                      <a:txBody>
                        <a:bodyPr/>
                        <a:lstStyle/>
                        <a:p>
                          <a:r>
                            <a:rPr lang="en-US" sz="1600" dirty="0"/>
                            <a:t>:</a:t>
                          </a:r>
                        </a:p>
                      </a:txBody>
                      <a:tcPr>
                        <a:noFill/>
                      </a:tcPr>
                    </a:tc>
                    <a:tc>
                      <a:txBody>
                        <a:bodyPr/>
                        <a:lstStyle/>
                        <a:p>
                          <a:endParaRPr lang="en-US"/>
                        </a:p>
                      </a:txBody>
                      <a:tcPr>
                        <a:blipFill>
                          <a:blip r:embed="rId3"/>
                          <a:stretch>
                            <a:fillRect l="-19820" t="-504545" r="-164" b="-103409"/>
                          </a:stretch>
                        </a:blipFill>
                      </a:tcPr>
                    </a:tc>
                    <a:extLst>
                      <a:ext uri="{0D108BD9-81ED-4DB2-BD59-A6C34878D82A}">
                        <a16:rowId xmlns:a16="http://schemas.microsoft.com/office/drawing/2014/main" val="926870822"/>
                      </a:ext>
                    </a:extLst>
                  </a:tr>
                  <a:tr h="536369">
                    <a:tc>
                      <a:txBody>
                        <a:bodyPr/>
                        <a:lstStyle/>
                        <a:p>
                          <a:endParaRPr lang="en-US"/>
                        </a:p>
                      </a:txBody>
                      <a:tcPr>
                        <a:blipFill>
                          <a:blip r:embed="rId3"/>
                          <a:stretch>
                            <a:fillRect l="-521" t="-604545" r="-662500" b="-3409"/>
                          </a:stretch>
                        </a:blipFill>
                      </a:tcPr>
                    </a:tc>
                    <a:tc>
                      <a:txBody>
                        <a:bodyPr/>
                        <a:lstStyle/>
                        <a:p>
                          <a:r>
                            <a:rPr lang="en-US" sz="1600" dirty="0"/>
                            <a:t>:</a:t>
                          </a:r>
                        </a:p>
                      </a:txBody>
                      <a:tcPr>
                        <a:noFill/>
                      </a:tcPr>
                    </a:tc>
                    <a:tc>
                      <a:txBody>
                        <a:bodyPr/>
                        <a:lstStyle/>
                        <a:p>
                          <a:endParaRPr lang="en-US"/>
                        </a:p>
                      </a:txBody>
                      <a:tcPr>
                        <a:blipFill>
                          <a:blip r:embed="rId3"/>
                          <a:stretch>
                            <a:fillRect l="-19820" t="-604545" r="-164" b="-3409"/>
                          </a:stretch>
                        </a:blipFill>
                      </a:tcPr>
                    </a:tc>
                    <a:extLst>
                      <a:ext uri="{0D108BD9-81ED-4DB2-BD59-A6C34878D82A}">
                        <a16:rowId xmlns:a16="http://schemas.microsoft.com/office/drawing/2014/main" val="3815214825"/>
                      </a:ext>
                    </a:extLst>
                  </a:tr>
                </a:tbl>
              </a:graphicData>
            </a:graphic>
          </p:graphicFrame>
        </mc:Fallback>
      </mc:AlternateContent>
      <p:sp>
        <p:nvSpPr>
          <p:cNvPr id="2" name="コンテンツ プレースホルダー 1">
            <a:extLst>
              <a:ext uri="{FF2B5EF4-FFF2-40B4-BE49-F238E27FC236}">
                <a16:creationId xmlns:a16="http://schemas.microsoft.com/office/drawing/2014/main" id="{E94EB9E8-6C02-081F-6644-4AFD030DC94A}"/>
              </a:ext>
            </a:extLst>
          </p:cNvPr>
          <p:cNvSpPr>
            <a:spLocks noGrp="1"/>
          </p:cNvSpPr>
          <p:nvPr>
            <p:ph sz="quarter" idx="17"/>
          </p:nvPr>
        </p:nvSpPr>
        <p:spPr>
          <a:xfrm>
            <a:off x="213740" y="829951"/>
            <a:ext cx="8767320" cy="387743"/>
          </a:xfrm>
        </p:spPr>
        <p:txBody>
          <a:bodyPr/>
          <a:lstStyle/>
          <a:p>
            <a:r>
              <a:rPr kumimoji="1" lang="en-US" altLang="ja-JP" sz="1800" dirty="0"/>
              <a:t>Net demands of each agent are defined as following equation: </a:t>
            </a:r>
            <a:endParaRPr kumimoji="1" lang="ja-JP" altLang="en-US" sz="1800" dirty="0"/>
          </a:p>
        </p:txBody>
      </p:sp>
    </p:spTree>
    <p:extLst>
      <p:ext uri="{BB962C8B-B14F-4D97-AF65-F5344CB8AC3E}">
        <p14:creationId xmlns:p14="http://schemas.microsoft.com/office/powerpoint/2010/main" val="36324919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7076FFE9-C1BB-DE12-AC60-5CC1B7621355}"/>
              </a:ext>
            </a:extLst>
          </p:cNvPr>
          <p:cNvSpPr>
            <a:spLocks noGrp="1"/>
          </p:cNvSpPr>
          <p:nvPr>
            <p:ph sz="quarter" idx="16"/>
          </p:nvPr>
        </p:nvSpPr>
        <p:spPr/>
        <p:txBody>
          <a:bodyPr/>
          <a:lstStyle/>
          <a:p>
            <a:r>
              <a:rPr lang="en-US" altLang="ja-JP" dirty="0"/>
              <a:t>3.2.2 Design P2P energy trading model</a:t>
            </a:r>
          </a:p>
        </p:txBody>
      </p:sp>
      <mc:AlternateContent xmlns:mc="http://schemas.openxmlformats.org/markup-compatibility/2006" xmlns:a14="http://schemas.microsoft.com/office/drawing/2010/main">
        <mc:Choice Requires="a14">
          <p:sp>
            <p:nvSpPr>
              <p:cNvPr id="5" name="テキスト ボックス 4">
                <a:extLst>
                  <a:ext uri="{FF2B5EF4-FFF2-40B4-BE49-F238E27FC236}">
                    <a16:creationId xmlns:a16="http://schemas.microsoft.com/office/drawing/2014/main" id="{A82EA327-CF61-DB75-F8EC-C9AC0E05851B}"/>
                  </a:ext>
                </a:extLst>
              </p:cNvPr>
              <p:cNvSpPr txBox="1"/>
              <p:nvPr/>
            </p:nvSpPr>
            <p:spPr>
              <a:xfrm>
                <a:off x="2084120" y="1017794"/>
                <a:ext cx="5737760" cy="45429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eqArr>
                        <m:eqArrPr>
                          <m:ctrlPr>
                            <a:rPr lang="en-US" i="1" smtClean="0">
                              <a:latin typeface="Cambria Math" panose="02040503050406030204" pitchFamily="18" charset="0"/>
                            </a:rPr>
                          </m:ctrlPr>
                        </m:eqArrPr>
                        <m:e>
                          <m:sSubSup>
                            <m:sSubSupPr>
                              <m:ctrlPr>
                                <a:rPr lang="en-US" i="1">
                                  <a:latin typeface="Cambria Math" panose="02040503050406030204" pitchFamily="18" charset="0"/>
                                </a:rPr>
                              </m:ctrlPr>
                            </m:sSubSupPr>
                            <m:e>
                              <m:r>
                                <a:rPr lang="en-US" i="1">
                                  <a:latin typeface="Cambria Math" panose="02040503050406030204" pitchFamily="18" charset="0"/>
                                </a:rPr>
                                <m:t>𝜆</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𝑛</m:t>
                              </m:r>
                            </m:sub>
                            <m:sup>
                              <m:r>
                                <a:rPr lang="en-US" i="1">
                                  <a:latin typeface="Cambria Math" panose="02040503050406030204" pitchFamily="18" charset="0"/>
                                </a:rPr>
                                <m:t>𝑏𝑖𝑑</m:t>
                              </m:r>
                              <m:r>
                                <a:rPr lang="en-US" i="1">
                                  <a:latin typeface="Cambria Math" panose="02040503050406030204" pitchFamily="18" charset="0"/>
                                </a:rPr>
                                <m:t>,</m:t>
                              </m:r>
                              <m:r>
                                <a:rPr lang="en-US" i="1">
                                  <a:latin typeface="Cambria Math" panose="02040503050406030204" pitchFamily="18" charset="0"/>
                                </a:rPr>
                                <m:t>𝑖𝑛𝑒𝑙𝑎𝑠</m:t>
                              </m:r>
                              <m:r>
                                <a:rPr lang="en-US" i="1">
                                  <a:latin typeface="Cambria Math" panose="02040503050406030204" pitchFamily="18" charset="0"/>
                                </a:rPr>
                                <m:t>,</m:t>
                              </m:r>
                              <m:r>
                                <a:rPr lang="en-US" i="1">
                                  <a:latin typeface="Cambria Math" panose="02040503050406030204" pitchFamily="18" charset="0"/>
                                </a:rPr>
                                <m:t>𝑏𝑢𝑦</m:t>
                              </m:r>
                            </m:sup>
                          </m:sSubSup>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𝜆</m:t>
                              </m:r>
                            </m:e>
                            <m:sup>
                              <m:r>
                                <a:rPr lang="en-US" i="1">
                                  <a:latin typeface="Cambria Math" panose="02040503050406030204" pitchFamily="18" charset="0"/>
                                </a:rPr>
                                <m:t>𝑢𝑏</m:t>
                              </m:r>
                            </m:sup>
                          </m:sSup>
                          <m:r>
                            <a:rPr lang="ja-JP" altLang="en-US" i="1">
                              <a:latin typeface="Cambria Math" panose="02040503050406030204" pitchFamily="18" charset="0"/>
                            </a:rPr>
                            <m:t>　</m:t>
                          </m:r>
                          <m:r>
                            <a:rPr lang="en-US" i="1">
                              <a:latin typeface="Cambria Math" panose="02040503050406030204" pitchFamily="18" charset="0"/>
                            </a:rPr>
                            <m:t>(</m:t>
                          </m:r>
                          <m:r>
                            <a:rPr lang="en-US" b="0" i="1" smtClean="0">
                              <a:latin typeface="Cambria Math" panose="02040503050406030204" pitchFamily="18" charset="0"/>
                            </a:rPr>
                            <m:t>2</m:t>
                          </m:r>
                          <m:r>
                            <a:rPr lang="en-US" i="1">
                              <a:latin typeface="Cambria Math" panose="02040503050406030204" pitchFamily="18" charset="0"/>
                            </a:rPr>
                            <m:t>)</m:t>
                          </m:r>
                        </m:e>
                      </m:eqArr>
                    </m:oMath>
                  </m:oMathPara>
                </a14:m>
                <a:endParaRPr lang="en-US" dirty="0"/>
              </a:p>
            </p:txBody>
          </p:sp>
        </mc:Choice>
        <mc:Fallback xmlns="">
          <p:sp>
            <p:nvSpPr>
              <p:cNvPr id="5" name="テキスト ボックス 4">
                <a:extLst>
                  <a:ext uri="{FF2B5EF4-FFF2-40B4-BE49-F238E27FC236}">
                    <a16:creationId xmlns:a16="http://schemas.microsoft.com/office/drawing/2014/main" id="{A82EA327-CF61-DB75-F8EC-C9AC0E05851B}"/>
                  </a:ext>
                </a:extLst>
              </p:cNvPr>
              <p:cNvSpPr txBox="1">
                <a:spLocks noRot="1" noChangeAspect="1" noMove="1" noResize="1" noEditPoints="1" noAdjustHandles="1" noChangeArrowheads="1" noChangeShapeType="1" noTextEdit="1"/>
              </p:cNvSpPr>
              <p:nvPr/>
            </p:nvSpPr>
            <p:spPr>
              <a:xfrm>
                <a:off x="2084120" y="1017794"/>
                <a:ext cx="5737760" cy="454292"/>
              </a:xfrm>
              <a:prstGeom prst="rect">
                <a:avLst/>
              </a:prstGeom>
              <a:blipFill>
                <a:blip r:embed="rId2"/>
                <a:stretch>
                  <a:fillRect b="-54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9" name="表 8">
                <a:extLst>
                  <a:ext uri="{FF2B5EF4-FFF2-40B4-BE49-F238E27FC236}">
                    <a16:creationId xmlns:a16="http://schemas.microsoft.com/office/drawing/2014/main" id="{937BC028-F450-8528-8CA7-31ECA94F58DC}"/>
                  </a:ext>
                </a:extLst>
              </p:cNvPr>
              <p:cNvGraphicFramePr>
                <a:graphicFrameLocks noGrp="1"/>
              </p:cNvGraphicFramePr>
              <p:nvPr>
                <p:extLst>
                  <p:ext uri="{D42A27DB-BD31-4B8C-83A1-F6EECF244321}">
                    <p14:modId xmlns:p14="http://schemas.microsoft.com/office/powerpoint/2010/main" val="2741847371"/>
                  </p:ext>
                </p:extLst>
              </p:nvPr>
            </p:nvGraphicFramePr>
            <p:xfrm>
              <a:off x="1662545" y="1717963"/>
              <a:ext cx="8158346" cy="1072738"/>
            </p:xfrm>
            <a:graphic>
              <a:graphicData uri="http://schemas.openxmlformats.org/drawingml/2006/table">
                <a:tbl>
                  <a:tblPr bandRow="1">
                    <a:tableStyleId>{5C22544A-7EE6-4342-B048-85BDC9FD1C3A}</a:tableStyleId>
                  </a:tblPr>
                  <a:tblGrid>
                    <a:gridCol w="1240510">
                      <a:extLst>
                        <a:ext uri="{9D8B030D-6E8A-4147-A177-3AD203B41FA5}">
                          <a16:colId xmlns:a16="http://schemas.microsoft.com/office/drawing/2014/main" val="2815638221"/>
                        </a:ext>
                      </a:extLst>
                    </a:gridCol>
                    <a:gridCol w="208280">
                      <a:extLst>
                        <a:ext uri="{9D8B030D-6E8A-4147-A177-3AD203B41FA5}">
                          <a16:colId xmlns:a16="http://schemas.microsoft.com/office/drawing/2014/main" val="3280904105"/>
                        </a:ext>
                      </a:extLst>
                    </a:gridCol>
                    <a:gridCol w="6709556">
                      <a:extLst>
                        <a:ext uri="{9D8B030D-6E8A-4147-A177-3AD203B41FA5}">
                          <a16:colId xmlns:a16="http://schemas.microsoft.com/office/drawing/2014/main" val="2064586492"/>
                        </a:ext>
                      </a:extLst>
                    </a:gridCol>
                  </a:tblGrid>
                  <a:tr h="536369">
                    <a:tc>
                      <a:txBody>
                        <a:bodyPr/>
                        <a:lstStyle/>
                        <a:p>
                          <a:pPr/>
                          <a14:m>
                            <m:oMathPara xmlns:m="http://schemas.openxmlformats.org/officeDocument/2006/math">
                              <m:oMathParaPr>
                                <m:jc m:val="left"/>
                              </m:oMathParaPr>
                              <m:oMath xmlns:m="http://schemas.openxmlformats.org/officeDocument/2006/math">
                                <m:sSubSup>
                                  <m:sSubSupPr>
                                    <m:ctrlPr>
                                      <a:rPr lang="en-US" sz="1600" i="1" smtClean="0">
                                        <a:latin typeface="Cambria Math" panose="02040503050406030204" pitchFamily="18" charset="0"/>
                                      </a:rPr>
                                    </m:ctrlPr>
                                  </m:sSubSupPr>
                                  <m:e>
                                    <m:r>
                                      <a:rPr lang="en-US" sz="1600" i="1">
                                        <a:latin typeface="Cambria Math" panose="02040503050406030204" pitchFamily="18" charset="0"/>
                                      </a:rPr>
                                      <m:t>𝜆</m:t>
                                    </m:r>
                                  </m:e>
                                  <m:sub>
                                    <m:r>
                                      <a:rPr lang="en-US" sz="1600" i="1">
                                        <a:latin typeface="Cambria Math" panose="02040503050406030204" pitchFamily="18" charset="0"/>
                                      </a:rPr>
                                      <m:t>𝑡</m:t>
                                    </m:r>
                                    <m:r>
                                      <a:rPr lang="en-US" sz="1600" i="1">
                                        <a:latin typeface="Cambria Math" panose="02040503050406030204" pitchFamily="18" charset="0"/>
                                      </a:rPr>
                                      <m:t>,</m:t>
                                    </m:r>
                                    <m:r>
                                      <a:rPr lang="en-US" sz="1600" i="1">
                                        <a:latin typeface="Cambria Math" panose="02040503050406030204" pitchFamily="18" charset="0"/>
                                      </a:rPr>
                                      <m:t>𝑛</m:t>
                                    </m:r>
                                  </m:sub>
                                  <m:sup>
                                    <m:r>
                                      <a:rPr lang="en-US" sz="1600" i="1">
                                        <a:latin typeface="Cambria Math" panose="02040503050406030204" pitchFamily="18" charset="0"/>
                                      </a:rPr>
                                      <m:t>𝑏𝑖𝑑</m:t>
                                    </m:r>
                                    <m:r>
                                      <a:rPr lang="en-US" sz="1600" i="1">
                                        <a:latin typeface="Cambria Math" panose="02040503050406030204" pitchFamily="18" charset="0"/>
                                      </a:rPr>
                                      <m:t>,</m:t>
                                    </m:r>
                                    <m:r>
                                      <a:rPr lang="en-US" sz="1600" i="1">
                                        <a:latin typeface="Cambria Math" panose="02040503050406030204" pitchFamily="18" charset="0"/>
                                      </a:rPr>
                                      <m:t>𝑖𝑛𝑒𝑙𝑎𝑠</m:t>
                                    </m:r>
                                    <m:r>
                                      <a:rPr lang="en-US" sz="1600" i="1">
                                        <a:latin typeface="Cambria Math" panose="02040503050406030204" pitchFamily="18" charset="0"/>
                                      </a:rPr>
                                      <m:t>,</m:t>
                                    </m:r>
                                    <m:r>
                                      <a:rPr lang="en-US" sz="1600" i="1">
                                        <a:latin typeface="Cambria Math" panose="02040503050406030204" pitchFamily="18" charset="0"/>
                                      </a:rPr>
                                      <m:t>𝑏𝑢𝑦</m:t>
                                    </m:r>
                                  </m:sup>
                                </m:sSubSup>
                              </m:oMath>
                            </m:oMathPara>
                          </a14:m>
                          <a:endParaRPr lang="en-US" sz="1600" dirty="0"/>
                        </a:p>
                      </a:txBody>
                      <a:tcPr>
                        <a:noFill/>
                      </a:tcPr>
                    </a:tc>
                    <a:tc>
                      <a:txBody>
                        <a:bodyPr/>
                        <a:lstStyle/>
                        <a:p>
                          <a:r>
                            <a:rPr lang="en-US" sz="1600" dirty="0"/>
                            <a:t>:</a:t>
                          </a:r>
                        </a:p>
                      </a:txBody>
                      <a:tcPr>
                        <a:no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600" dirty="0"/>
                            <a:t>Bid price for inelastic consumption at timeslot </a:t>
                          </a:r>
                          <a14:m>
                            <m:oMath xmlns:m="http://schemas.openxmlformats.org/officeDocument/2006/math">
                              <m:r>
                                <a:rPr lang="en-US" altLang="ja-JP" sz="1600" b="0" i="1" smtClean="0">
                                  <a:latin typeface="Cambria Math" panose="02040503050406030204" pitchFamily="18" charset="0"/>
                                </a:rPr>
                                <m:t>𝑡</m:t>
                              </m:r>
                            </m:oMath>
                          </a14:m>
                          <a:r>
                            <a:rPr lang="en-US" altLang="ja-JP" sz="1600" dirty="0"/>
                            <a:t> of</a:t>
                          </a:r>
                          <a:r>
                            <a:rPr lang="en-US" altLang="ja-JP" sz="1600" baseline="0" dirty="0"/>
                            <a:t> agent </a:t>
                          </a:r>
                          <a14:m>
                            <m:oMath xmlns:m="http://schemas.openxmlformats.org/officeDocument/2006/math">
                              <m:r>
                                <a:rPr lang="en-US" altLang="ja-JP" sz="1600" b="0" i="1" smtClean="0">
                                  <a:latin typeface="Cambria Math" panose="02040503050406030204" pitchFamily="18" charset="0"/>
                                </a:rPr>
                                <m:t>𝑛</m:t>
                              </m:r>
                            </m:oMath>
                          </a14:m>
                          <a:endParaRPr lang="en-US" sz="1600" dirty="0"/>
                        </a:p>
                      </a:txBody>
                      <a:tcPr>
                        <a:noFill/>
                      </a:tcPr>
                    </a:tc>
                    <a:extLst>
                      <a:ext uri="{0D108BD9-81ED-4DB2-BD59-A6C34878D82A}">
                        <a16:rowId xmlns:a16="http://schemas.microsoft.com/office/drawing/2014/main" val="1172270262"/>
                      </a:ext>
                    </a:extLst>
                  </a:tr>
                  <a:tr h="536369">
                    <a:tc>
                      <a:txBody>
                        <a:bodyPr/>
                        <a:lstStyle/>
                        <a:p>
                          <a:pPr/>
                          <a14:m>
                            <m:oMathPara xmlns:m="http://schemas.openxmlformats.org/officeDocument/2006/math">
                              <m:oMathParaPr>
                                <m:jc m:val="left"/>
                              </m:oMathParaPr>
                              <m:oMath xmlns:m="http://schemas.openxmlformats.org/officeDocument/2006/math">
                                <m:sSup>
                                  <m:sSupPr>
                                    <m:ctrlPr>
                                      <a:rPr lang="en-US" sz="1600" i="1" smtClean="0">
                                        <a:latin typeface="Cambria Math" panose="02040503050406030204" pitchFamily="18" charset="0"/>
                                      </a:rPr>
                                    </m:ctrlPr>
                                  </m:sSupPr>
                                  <m:e>
                                    <m:r>
                                      <a:rPr lang="en-US" sz="1600" i="1">
                                        <a:latin typeface="Cambria Math" panose="02040503050406030204" pitchFamily="18" charset="0"/>
                                      </a:rPr>
                                      <m:t>𝜆</m:t>
                                    </m:r>
                                  </m:e>
                                  <m:sup>
                                    <m:r>
                                      <a:rPr lang="en-US" sz="1600" i="1">
                                        <a:latin typeface="Cambria Math" panose="02040503050406030204" pitchFamily="18" charset="0"/>
                                      </a:rPr>
                                      <m:t>𝑢𝑏</m:t>
                                    </m:r>
                                  </m:sup>
                                </m:sSup>
                              </m:oMath>
                            </m:oMathPara>
                          </a14:m>
                          <a:endParaRPr lang="en-US" sz="1600" dirty="0"/>
                        </a:p>
                      </a:txBody>
                      <a:tcPr>
                        <a:noFill/>
                      </a:tcPr>
                    </a:tc>
                    <a:tc>
                      <a:txBody>
                        <a:bodyPr/>
                        <a:lstStyle/>
                        <a:p>
                          <a:r>
                            <a:rPr lang="en-US" sz="1600" dirty="0"/>
                            <a:t>:</a:t>
                          </a:r>
                        </a:p>
                      </a:txBody>
                      <a:tcPr>
                        <a:noFill/>
                      </a:tcPr>
                    </a:tc>
                    <a:tc>
                      <a:txBody>
                        <a:bodyPr/>
                        <a:lstStyle/>
                        <a:p>
                          <a:r>
                            <a:rPr lang="en-US" altLang="ja-JP" sz="1600" dirty="0"/>
                            <a:t>Upper bound of bid price</a:t>
                          </a:r>
                          <a:endParaRPr lang="en-US" sz="1600" dirty="0"/>
                        </a:p>
                      </a:txBody>
                      <a:tcPr>
                        <a:noFill/>
                      </a:tcPr>
                    </a:tc>
                    <a:extLst>
                      <a:ext uri="{0D108BD9-81ED-4DB2-BD59-A6C34878D82A}">
                        <a16:rowId xmlns:a16="http://schemas.microsoft.com/office/drawing/2014/main" val="4272089726"/>
                      </a:ext>
                    </a:extLst>
                  </a:tr>
                </a:tbl>
              </a:graphicData>
            </a:graphic>
          </p:graphicFrame>
        </mc:Choice>
        <mc:Fallback xmlns="">
          <p:graphicFrame>
            <p:nvGraphicFramePr>
              <p:cNvPr id="9" name="表 8">
                <a:extLst>
                  <a:ext uri="{FF2B5EF4-FFF2-40B4-BE49-F238E27FC236}">
                    <a16:creationId xmlns:a16="http://schemas.microsoft.com/office/drawing/2014/main" id="{937BC028-F450-8528-8CA7-31ECA94F58DC}"/>
                  </a:ext>
                </a:extLst>
              </p:cNvPr>
              <p:cNvGraphicFramePr>
                <a:graphicFrameLocks noGrp="1"/>
              </p:cNvGraphicFramePr>
              <p:nvPr>
                <p:extLst>
                  <p:ext uri="{D42A27DB-BD31-4B8C-83A1-F6EECF244321}">
                    <p14:modId xmlns:p14="http://schemas.microsoft.com/office/powerpoint/2010/main" val="2741847371"/>
                  </p:ext>
                </p:extLst>
              </p:nvPr>
            </p:nvGraphicFramePr>
            <p:xfrm>
              <a:off x="1662545" y="1717963"/>
              <a:ext cx="8158346" cy="1072738"/>
            </p:xfrm>
            <a:graphic>
              <a:graphicData uri="http://schemas.openxmlformats.org/drawingml/2006/table">
                <a:tbl>
                  <a:tblPr bandRow="1">
                    <a:tableStyleId>{5C22544A-7EE6-4342-B048-85BDC9FD1C3A}</a:tableStyleId>
                  </a:tblPr>
                  <a:tblGrid>
                    <a:gridCol w="1240510">
                      <a:extLst>
                        <a:ext uri="{9D8B030D-6E8A-4147-A177-3AD203B41FA5}">
                          <a16:colId xmlns:a16="http://schemas.microsoft.com/office/drawing/2014/main" val="2815638221"/>
                        </a:ext>
                      </a:extLst>
                    </a:gridCol>
                    <a:gridCol w="208280">
                      <a:extLst>
                        <a:ext uri="{9D8B030D-6E8A-4147-A177-3AD203B41FA5}">
                          <a16:colId xmlns:a16="http://schemas.microsoft.com/office/drawing/2014/main" val="3280904105"/>
                        </a:ext>
                      </a:extLst>
                    </a:gridCol>
                    <a:gridCol w="6709556">
                      <a:extLst>
                        <a:ext uri="{9D8B030D-6E8A-4147-A177-3AD203B41FA5}">
                          <a16:colId xmlns:a16="http://schemas.microsoft.com/office/drawing/2014/main" val="2064586492"/>
                        </a:ext>
                      </a:extLst>
                    </a:gridCol>
                  </a:tblGrid>
                  <a:tr h="536369">
                    <a:tc>
                      <a:txBody>
                        <a:bodyPr/>
                        <a:lstStyle/>
                        <a:p>
                          <a:endParaRPr lang="en-US"/>
                        </a:p>
                      </a:txBody>
                      <a:tcPr>
                        <a:blipFill>
                          <a:blip r:embed="rId3"/>
                          <a:stretch>
                            <a:fillRect l="-490" t="-3371" r="-557843" b="-101124"/>
                          </a:stretch>
                        </a:blipFill>
                      </a:tcPr>
                    </a:tc>
                    <a:tc>
                      <a:txBody>
                        <a:bodyPr/>
                        <a:lstStyle/>
                        <a:p>
                          <a:r>
                            <a:rPr lang="en-US" sz="1600" dirty="0"/>
                            <a:t>:</a:t>
                          </a:r>
                        </a:p>
                      </a:txBody>
                      <a:tcPr>
                        <a:noFill/>
                      </a:tcPr>
                    </a:tc>
                    <a:tc>
                      <a:txBody>
                        <a:bodyPr/>
                        <a:lstStyle/>
                        <a:p>
                          <a:endParaRPr lang="en-US"/>
                        </a:p>
                      </a:txBody>
                      <a:tcPr>
                        <a:blipFill>
                          <a:blip r:embed="rId3"/>
                          <a:stretch>
                            <a:fillRect l="-21688" t="-3371" r="-181" b="-101124"/>
                          </a:stretch>
                        </a:blipFill>
                      </a:tcPr>
                    </a:tc>
                    <a:extLst>
                      <a:ext uri="{0D108BD9-81ED-4DB2-BD59-A6C34878D82A}">
                        <a16:rowId xmlns:a16="http://schemas.microsoft.com/office/drawing/2014/main" val="1172270262"/>
                      </a:ext>
                    </a:extLst>
                  </a:tr>
                  <a:tr h="536369">
                    <a:tc>
                      <a:txBody>
                        <a:bodyPr/>
                        <a:lstStyle/>
                        <a:p>
                          <a:endParaRPr lang="en-US"/>
                        </a:p>
                      </a:txBody>
                      <a:tcPr>
                        <a:blipFill>
                          <a:blip r:embed="rId3"/>
                          <a:stretch>
                            <a:fillRect l="-490" t="-104545" r="-557843" b="-2273"/>
                          </a:stretch>
                        </a:blipFill>
                      </a:tcPr>
                    </a:tc>
                    <a:tc>
                      <a:txBody>
                        <a:bodyPr/>
                        <a:lstStyle/>
                        <a:p>
                          <a:r>
                            <a:rPr lang="en-US" sz="1600" dirty="0"/>
                            <a:t>:</a:t>
                          </a:r>
                        </a:p>
                      </a:txBody>
                      <a:tcPr>
                        <a:noFill/>
                      </a:tcPr>
                    </a:tc>
                    <a:tc>
                      <a:txBody>
                        <a:bodyPr/>
                        <a:lstStyle/>
                        <a:p>
                          <a:r>
                            <a:rPr lang="en-US" altLang="ja-JP" sz="1600" dirty="0"/>
                            <a:t>Upper bound of bid price</a:t>
                          </a:r>
                          <a:endParaRPr lang="en-US" sz="1600" dirty="0"/>
                        </a:p>
                      </a:txBody>
                      <a:tcPr>
                        <a:noFill/>
                      </a:tcPr>
                    </a:tc>
                    <a:extLst>
                      <a:ext uri="{0D108BD9-81ED-4DB2-BD59-A6C34878D82A}">
                        <a16:rowId xmlns:a16="http://schemas.microsoft.com/office/drawing/2014/main" val="4272089726"/>
                      </a:ext>
                    </a:extLst>
                  </a:tr>
                </a:tbl>
              </a:graphicData>
            </a:graphic>
          </p:graphicFrame>
        </mc:Fallback>
      </mc:AlternateContent>
      <p:cxnSp>
        <p:nvCxnSpPr>
          <p:cNvPr id="2" name="直線コネクタ 1">
            <a:extLst>
              <a:ext uri="{FF2B5EF4-FFF2-40B4-BE49-F238E27FC236}">
                <a16:creationId xmlns:a16="http://schemas.microsoft.com/office/drawing/2014/main" id="{9479673B-951B-8AF6-8FD3-56846133DDD9}"/>
              </a:ext>
            </a:extLst>
          </p:cNvPr>
          <p:cNvCxnSpPr>
            <a:cxnSpLocks/>
          </p:cNvCxnSpPr>
          <p:nvPr/>
        </p:nvCxnSpPr>
        <p:spPr>
          <a:xfrm>
            <a:off x="-3962" y="2834247"/>
            <a:ext cx="9906000" cy="0"/>
          </a:xfrm>
          <a:prstGeom prst="line">
            <a:avLst/>
          </a:prstGeom>
          <a:ln w="19050">
            <a:solidFill>
              <a:schemeClr val="tx1">
                <a:lumMod val="60000"/>
                <a:lumOff val="40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テキスト ボックス 7">
                <a:extLst>
                  <a:ext uri="{FF2B5EF4-FFF2-40B4-BE49-F238E27FC236}">
                    <a16:creationId xmlns:a16="http://schemas.microsoft.com/office/drawing/2014/main" id="{DAD92C61-9010-E253-D11F-48373E087BB8}"/>
                  </a:ext>
                </a:extLst>
              </p:cNvPr>
              <p:cNvSpPr txBox="1"/>
              <p:nvPr/>
            </p:nvSpPr>
            <p:spPr>
              <a:xfrm>
                <a:off x="2302797" y="3164171"/>
                <a:ext cx="4960620" cy="104669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altLang="ja-JP" i="1" smtClean="0">
                              <a:solidFill>
                                <a:schemeClr val="tx1"/>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ctrlPr>
                        </m:sSubSupPr>
                        <m:e>
                          <m:r>
                            <a:rPr lang="en-US" altLang="ja-JP" sz="1800" i="1">
                              <a:solidFill>
                                <a:schemeClr val="tx1"/>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𝐸</m:t>
                          </m:r>
                        </m:e>
                        <m:sub>
                          <m:r>
                            <a:rPr lang="en-US" altLang="ja-JP" sz="1800" b="0" i="1" smtClean="0">
                              <a:solidFill>
                                <a:schemeClr val="tx1"/>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𝑡</m:t>
                          </m:r>
                          <m:r>
                            <a:rPr lang="en-US" altLang="ja-JP" sz="1800" i="1">
                              <a:solidFill>
                                <a:schemeClr val="tx1"/>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m:t>
                          </m:r>
                          <m:r>
                            <a:rPr lang="en-US" altLang="ja-JP" sz="1800" i="1">
                              <a:solidFill>
                                <a:schemeClr val="tx1"/>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𝑛</m:t>
                          </m:r>
                        </m:sub>
                        <m:sup>
                          <m:r>
                            <a:rPr lang="en-US" altLang="ja-JP" sz="1800" i="1">
                              <a:solidFill>
                                <a:schemeClr val="tx1"/>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𝑒𝑙𝑎𝑠</m:t>
                          </m:r>
                        </m:sup>
                      </m:sSubSup>
                    </m:oMath>
                  </m:oMathPara>
                </a14:m>
                <a:endParaRPr lang="en-US" altLang="ja-JP" sz="1800" i="1" dirty="0">
                  <a:solidFill>
                    <a:schemeClr val="tx1"/>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endParaRPr>
              </a:p>
              <a:p>
                <a:endParaRPr lang="en-US" altLang="ja-JP" sz="1800" i="1" dirty="0">
                  <a:solidFill>
                    <a:schemeClr val="tx1"/>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endParaRPr>
              </a:p>
              <a:p>
                <a:pPr/>
                <a14:m>
                  <m:oMathPara xmlns:m="http://schemas.openxmlformats.org/officeDocument/2006/math">
                    <m:oMathParaPr>
                      <m:jc m:val="centerGroup"/>
                    </m:oMathParaPr>
                    <m:oMath xmlns:m="http://schemas.openxmlformats.org/officeDocument/2006/math">
                      <m:sSubSup>
                        <m:sSubSupPr>
                          <m:ctrlPr>
                            <a:rPr lang="en-US" altLang="ja-JP" i="1">
                              <a:solidFill>
                                <a:srgbClr val="836967"/>
                              </a:solidFill>
                              <a:highlight>
                                <a:srgbClr val="FFFFFF"/>
                              </a:highlight>
                              <a:latin typeface="Cambria Math" panose="02040503050406030204" pitchFamily="18" charset="0"/>
                            </a:rPr>
                          </m:ctrlPr>
                        </m:sSubSupPr>
                        <m:e>
                          <m:r>
                            <a:rPr lang="en-US" altLang="ja-JP" i="1">
                              <a:highlight>
                                <a:srgbClr val="FFFFFF"/>
                              </a:highlight>
                              <a:latin typeface="Cambria Math" panose="02040503050406030204" pitchFamily="18" charset="0"/>
                            </a:rPr>
                            <m:t>𝜆</m:t>
                          </m:r>
                        </m:e>
                        <m:sub>
                          <m:r>
                            <a:rPr lang="en-US" altLang="ja-JP" i="1">
                              <a:highlight>
                                <a:srgbClr val="FFFFFF"/>
                              </a:highlight>
                              <a:latin typeface="Cambria Math" panose="02040503050406030204" pitchFamily="18" charset="0"/>
                            </a:rPr>
                            <m:t>𝑡</m:t>
                          </m:r>
                          <m:r>
                            <a:rPr lang="en-US" altLang="ja-JP">
                              <a:highlight>
                                <a:srgbClr val="FFFFFF"/>
                              </a:highlight>
                              <a:latin typeface="Cambria Math" panose="02040503050406030204" pitchFamily="18" charset="0"/>
                            </a:rPr>
                            <m:t>,</m:t>
                          </m:r>
                          <m:r>
                            <a:rPr lang="en-US" altLang="ja-JP" i="1">
                              <a:highlight>
                                <a:srgbClr val="FFFFFF"/>
                              </a:highlight>
                              <a:latin typeface="Cambria Math" panose="02040503050406030204" pitchFamily="18" charset="0"/>
                            </a:rPr>
                            <m:t>𝑛</m:t>
                          </m:r>
                        </m:sub>
                        <m:sup>
                          <m:r>
                            <a:rPr lang="en-US" altLang="ja-JP" i="1">
                              <a:highlight>
                                <a:srgbClr val="FFFFFF"/>
                              </a:highlight>
                              <a:latin typeface="Cambria Math" panose="02040503050406030204" pitchFamily="18" charset="0"/>
                            </a:rPr>
                            <m:t>𝑏𝑖𝑑</m:t>
                          </m:r>
                          <m:r>
                            <a:rPr lang="en-US" altLang="ja-JP">
                              <a:highlight>
                                <a:srgbClr val="FFFFFF"/>
                              </a:highlight>
                              <a:latin typeface="Cambria Math" panose="02040503050406030204" pitchFamily="18" charset="0"/>
                            </a:rPr>
                            <m:t>,</m:t>
                          </m:r>
                          <m:r>
                            <m:rPr>
                              <m:sty m:val="p"/>
                            </m:rPr>
                            <a:rPr lang="en-US" altLang="ja-JP">
                              <a:highlight>
                                <a:srgbClr val="FFFFFF"/>
                              </a:highlight>
                              <a:latin typeface="Cambria Math" panose="02040503050406030204" pitchFamily="18" charset="0"/>
                            </a:rPr>
                            <m:t>elas</m:t>
                          </m:r>
                          <m:r>
                            <a:rPr lang="en-US" altLang="ja-JP" i="1">
                              <a:highlight>
                                <a:srgbClr val="FFFFFF"/>
                              </a:highlight>
                              <a:latin typeface="Cambria Math" panose="02040503050406030204" pitchFamily="18" charset="0"/>
                            </a:rPr>
                            <m:t>, </m:t>
                          </m:r>
                          <m:r>
                            <a:rPr lang="en-US" altLang="ja-JP" i="1">
                              <a:highlight>
                                <a:srgbClr val="FFFFFF"/>
                              </a:highlight>
                              <a:latin typeface="Cambria Math" panose="02040503050406030204" pitchFamily="18" charset="0"/>
                            </a:rPr>
                            <m:t>𝑏𝑢𝑦</m:t>
                          </m:r>
                        </m:sup>
                      </m:sSubSup>
                    </m:oMath>
                  </m:oMathPara>
                </a14:m>
                <a:endParaRPr lang="ja-JP" altLang="en-US" dirty="0"/>
              </a:p>
            </p:txBody>
          </p:sp>
        </mc:Choice>
        <mc:Fallback xmlns="">
          <p:sp>
            <p:nvSpPr>
              <p:cNvPr id="8" name="テキスト ボックス 7">
                <a:extLst>
                  <a:ext uri="{FF2B5EF4-FFF2-40B4-BE49-F238E27FC236}">
                    <a16:creationId xmlns:a16="http://schemas.microsoft.com/office/drawing/2014/main" id="{DAD92C61-9010-E253-D11F-48373E087BB8}"/>
                  </a:ext>
                </a:extLst>
              </p:cNvPr>
              <p:cNvSpPr txBox="1">
                <a:spLocks noRot="1" noChangeAspect="1" noMove="1" noResize="1" noEditPoints="1" noAdjustHandles="1" noChangeArrowheads="1" noChangeShapeType="1" noTextEdit="1"/>
              </p:cNvSpPr>
              <p:nvPr/>
            </p:nvSpPr>
            <p:spPr>
              <a:xfrm>
                <a:off x="2302797" y="3164171"/>
                <a:ext cx="4960620" cy="1046697"/>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0" name="表 9">
                <a:extLst>
                  <a:ext uri="{FF2B5EF4-FFF2-40B4-BE49-F238E27FC236}">
                    <a16:creationId xmlns:a16="http://schemas.microsoft.com/office/drawing/2014/main" id="{37A1F529-EBA1-AD29-71A9-80D6D6F22325}"/>
                  </a:ext>
                </a:extLst>
              </p:cNvPr>
              <p:cNvGraphicFramePr>
                <a:graphicFrameLocks noGrp="1"/>
              </p:cNvGraphicFramePr>
              <p:nvPr>
                <p:extLst>
                  <p:ext uri="{D42A27DB-BD31-4B8C-83A1-F6EECF244321}">
                    <p14:modId xmlns:p14="http://schemas.microsoft.com/office/powerpoint/2010/main" val="462328632"/>
                  </p:ext>
                </p:extLst>
              </p:nvPr>
            </p:nvGraphicFramePr>
            <p:xfrm>
              <a:off x="1662545" y="4695008"/>
              <a:ext cx="8158346" cy="1072738"/>
            </p:xfrm>
            <a:graphic>
              <a:graphicData uri="http://schemas.openxmlformats.org/drawingml/2006/table">
                <a:tbl>
                  <a:tblPr bandRow="1">
                    <a:tableStyleId>{5C22544A-7EE6-4342-B048-85BDC9FD1C3A}</a:tableStyleId>
                  </a:tblPr>
                  <a:tblGrid>
                    <a:gridCol w="1240510">
                      <a:extLst>
                        <a:ext uri="{9D8B030D-6E8A-4147-A177-3AD203B41FA5}">
                          <a16:colId xmlns:a16="http://schemas.microsoft.com/office/drawing/2014/main" val="2815638221"/>
                        </a:ext>
                      </a:extLst>
                    </a:gridCol>
                    <a:gridCol w="208280">
                      <a:extLst>
                        <a:ext uri="{9D8B030D-6E8A-4147-A177-3AD203B41FA5}">
                          <a16:colId xmlns:a16="http://schemas.microsoft.com/office/drawing/2014/main" val="3280904105"/>
                        </a:ext>
                      </a:extLst>
                    </a:gridCol>
                    <a:gridCol w="6709556">
                      <a:extLst>
                        <a:ext uri="{9D8B030D-6E8A-4147-A177-3AD203B41FA5}">
                          <a16:colId xmlns:a16="http://schemas.microsoft.com/office/drawing/2014/main" val="2064586492"/>
                        </a:ext>
                      </a:extLst>
                    </a:gridCol>
                  </a:tblGrid>
                  <a:tr h="536369">
                    <a:tc>
                      <a:txBody>
                        <a:bodyPr/>
                        <a:lstStyle/>
                        <a:p>
                          <a:pPr/>
                          <a14:m>
                            <m:oMathPara xmlns:m="http://schemas.openxmlformats.org/officeDocument/2006/math">
                              <m:oMathParaPr>
                                <m:jc m:val="left"/>
                              </m:oMathParaPr>
                              <m:oMath xmlns:m="http://schemas.openxmlformats.org/officeDocument/2006/math">
                                <m:sSubSup>
                                  <m:sSubSupPr>
                                    <m:ctrlPr>
                                      <a:rPr lang="en-US" altLang="ja-JP" sz="1600" i="1" smtClean="0">
                                        <a:solidFill>
                                          <a:schemeClr val="tx1"/>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ctrlPr>
                                  </m:sSubSupPr>
                                  <m:e>
                                    <m:r>
                                      <a:rPr lang="en-US" altLang="ja-JP" sz="1600" i="1">
                                        <a:solidFill>
                                          <a:schemeClr val="tx1"/>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𝐸</m:t>
                                    </m:r>
                                  </m:e>
                                  <m:sub>
                                    <m:r>
                                      <a:rPr lang="en-US" altLang="ja-JP" sz="1600" b="0" i="1" smtClean="0">
                                        <a:solidFill>
                                          <a:schemeClr val="tx1"/>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𝑡</m:t>
                                    </m:r>
                                    <m:r>
                                      <a:rPr lang="en-US" altLang="ja-JP" sz="1600" i="1">
                                        <a:solidFill>
                                          <a:schemeClr val="tx1"/>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m:t>
                                    </m:r>
                                    <m:r>
                                      <a:rPr lang="en-US" altLang="ja-JP" sz="1600" i="1">
                                        <a:solidFill>
                                          <a:schemeClr val="tx1"/>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𝑛</m:t>
                                    </m:r>
                                  </m:sub>
                                  <m:sup>
                                    <m:r>
                                      <a:rPr lang="en-US" altLang="ja-JP" sz="1600" i="1">
                                        <a:solidFill>
                                          <a:schemeClr val="tx1"/>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𝑒𝑙𝑎𝑠</m:t>
                                    </m:r>
                                  </m:sup>
                                </m:sSubSup>
                              </m:oMath>
                            </m:oMathPara>
                          </a14:m>
                          <a:endParaRPr lang="en-US" sz="1600" dirty="0"/>
                        </a:p>
                      </a:txBody>
                      <a:tcPr>
                        <a:noFill/>
                      </a:tcPr>
                    </a:tc>
                    <a:tc>
                      <a:txBody>
                        <a:bodyPr/>
                        <a:lstStyle/>
                        <a:p>
                          <a:r>
                            <a:rPr lang="en-US" sz="1600" dirty="0"/>
                            <a:t>:</a:t>
                          </a:r>
                        </a:p>
                      </a:txBody>
                      <a:tcPr>
                        <a:no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600" dirty="0"/>
                            <a:t>Desired elastic consumption amount at timeslot </a:t>
                          </a:r>
                          <a14:m>
                            <m:oMath xmlns:m="http://schemas.openxmlformats.org/officeDocument/2006/math">
                              <m:r>
                                <a:rPr lang="en-US" altLang="ja-JP" sz="1600" b="0" i="1" smtClean="0">
                                  <a:latin typeface="Cambria Math" panose="02040503050406030204" pitchFamily="18" charset="0"/>
                                </a:rPr>
                                <m:t>𝑡</m:t>
                              </m:r>
                            </m:oMath>
                          </a14:m>
                          <a:r>
                            <a:rPr lang="en-US" altLang="ja-JP" sz="1600" dirty="0"/>
                            <a:t> of</a:t>
                          </a:r>
                          <a:r>
                            <a:rPr lang="en-US" altLang="ja-JP" sz="1600" baseline="0" dirty="0"/>
                            <a:t> agent </a:t>
                          </a:r>
                          <a14:m>
                            <m:oMath xmlns:m="http://schemas.openxmlformats.org/officeDocument/2006/math">
                              <m:r>
                                <a:rPr lang="en-US" altLang="ja-JP" sz="1600" b="0" i="1" smtClean="0">
                                  <a:latin typeface="Cambria Math" panose="02040503050406030204" pitchFamily="18" charset="0"/>
                                </a:rPr>
                                <m:t>𝑛</m:t>
                              </m:r>
                            </m:oMath>
                          </a14:m>
                          <a:endParaRPr lang="en-US" sz="1600" dirty="0"/>
                        </a:p>
                      </a:txBody>
                      <a:tcPr>
                        <a:noFill/>
                      </a:tcPr>
                    </a:tc>
                    <a:extLst>
                      <a:ext uri="{0D108BD9-81ED-4DB2-BD59-A6C34878D82A}">
                        <a16:rowId xmlns:a16="http://schemas.microsoft.com/office/drawing/2014/main" val="1172270262"/>
                      </a:ext>
                    </a:extLst>
                  </a:tr>
                  <a:tr h="536369">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sSubSup>
                                  <m:sSubSupPr>
                                    <m:ctrlPr>
                                      <a:rPr lang="en-US" altLang="ja-JP" sz="1600" i="1" smtClean="0">
                                        <a:solidFill>
                                          <a:srgbClr val="836967"/>
                                        </a:solidFill>
                                        <a:highlight>
                                          <a:srgbClr val="FFFFFF"/>
                                        </a:highlight>
                                        <a:latin typeface="Cambria Math" panose="02040503050406030204" pitchFamily="18" charset="0"/>
                                      </a:rPr>
                                    </m:ctrlPr>
                                  </m:sSubSupPr>
                                  <m:e>
                                    <m:r>
                                      <a:rPr lang="en-US" altLang="ja-JP" sz="1600" i="1">
                                        <a:highlight>
                                          <a:srgbClr val="FFFFFF"/>
                                        </a:highlight>
                                        <a:latin typeface="Cambria Math" panose="02040503050406030204" pitchFamily="18" charset="0"/>
                                      </a:rPr>
                                      <m:t>𝜆</m:t>
                                    </m:r>
                                  </m:e>
                                  <m:sub>
                                    <m:r>
                                      <a:rPr lang="en-US" altLang="ja-JP" sz="1600" i="1">
                                        <a:highlight>
                                          <a:srgbClr val="FFFFFF"/>
                                        </a:highlight>
                                        <a:latin typeface="Cambria Math" panose="02040503050406030204" pitchFamily="18" charset="0"/>
                                      </a:rPr>
                                      <m:t>𝑡</m:t>
                                    </m:r>
                                    <m:r>
                                      <a:rPr lang="en-US" altLang="ja-JP" sz="1600">
                                        <a:highlight>
                                          <a:srgbClr val="FFFFFF"/>
                                        </a:highlight>
                                        <a:latin typeface="Cambria Math" panose="02040503050406030204" pitchFamily="18" charset="0"/>
                                      </a:rPr>
                                      <m:t>,</m:t>
                                    </m:r>
                                    <m:r>
                                      <a:rPr lang="en-US" altLang="ja-JP" sz="1600" i="1">
                                        <a:highlight>
                                          <a:srgbClr val="FFFFFF"/>
                                        </a:highlight>
                                        <a:latin typeface="Cambria Math" panose="02040503050406030204" pitchFamily="18" charset="0"/>
                                      </a:rPr>
                                      <m:t>𝑛</m:t>
                                    </m:r>
                                  </m:sub>
                                  <m:sup>
                                    <m:r>
                                      <a:rPr lang="en-US" altLang="ja-JP" sz="1600" i="1">
                                        <a:highlight>
                                          <a:srgbClr val="FFFFFF"/>
                                        </a:highlight>
                                        <a:latin typeface="Cambria Math" panose="02040503050406030204" pitchFamily="18" charset="0"/>
                                      </a:rPr>
                                      <m:t>𝑏𝑖𝑑</m:t>
                                    </m:r>
                                    <m:r>
                                      <a:rPr lang="en-US" altLang="ja-JP" sz="1600">
                                        <a:highlight>
                                          <a:srgbClr val="FFFFFF"/>
                                        </a:highlight>
                                        <a:latin typeface="Cambria Math" panose="02040503050406030204" pitchFamily="18" charset="0"/>
                                      </a:rPr>
                                      <m:t>,</m:t>
                                    </m:r>
                                    <m:r>
                                      <m:rPr>
                                        <m:sty m:val="p"/>
                                      </m:rPr>
                                      <a:rPr lang="en-US" altLang="ja-JP" sz="1600">
                                        <a:highlight>
                                          <a:srgbClr val="FFFFFF"/>
                                        </a:highlight>
                                        <a:latin typeface="Cambria Math" panose="02040503050406030204" pitchFamily="18" charset="0"/>
                                      </a:rPr>
                                      <m:t>elas</m:t>
                                    </m:r>
                                    <m:r>
                                      <a:rPr lang="en-US" altLang="ja-JP" sz="1600" i="1">
                                        <a:highlight>
                                          <a:srgbClr val="FFFFFF"/>
                                        </a:highlight>
                                        <a:latin typeface="Cambria Math" panose="02040503050406030204" pitchFamily="18" charset="0"/>
                                      </a:rPr>
                                      <m:t>, </m:t>
                                    </m:r>
                                    <m:r>
                                      <a:rPr lang="en-US" altLang="ja-JP" sz="1600" i="1">
                                        <a:highlight>
                                          <a:srgbClr val="FFFFFF"/>
                                        </a:highlight>
                                        <a:latin typeface="Cambria Math" panose="02040503050406030204" pitchFamily="18" charset="0"/>
                                      </a:rPr>
                                      <m:t>𝑏𝑢𝑦</m:t>
                                    </m:r>
                                  </m:sup>
                                </m:sSubSup>
                              </m:oMath>
                            </m:oMathPara>
                          </a14:m>
                          <a:endParaRPr lang="en-US" sz="1600" dirty="0"/>
                        </a:p>
                      </a:txBody>
                      <a:tcPr>
                        <a:noFill/>
                      </a:tcPr>
                    </a:tc>
                    <a:tc>
                      <a:txBody>
                        <a:bodyPr/>
                        <a:lstStyle/>
                        <a:p>
                          <a:r>
                            <a:rPr lang="en-US" sz="1600" dirty="0"/>
                            <a:t>:</a:t>
                          </a:r>
                        </a:p>
                      </a:txBody>
                      <a:tcPr>
                        <a:no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600" dirty="0"/>
                            <a:t>Bid price for elastic consumption at timeslot </a:t>
                          </a:r>
                          <a14:m>
                            <m:oMath xmlns:m="http://schemas.openxmlformats.org/officeDocument/2006/math">
                              <m:r>
                                <a:rPr lang="en-US" altLang="ja-JP" sz="1600" b="0" i="1" smtClean="0">
                                  <a:latin typeface="Cambria Math" panose="02040503050406030204" pitchFamily="18" charset="0"/>
                                </a:rPr>
                                <m:t>𝑡</m:t>
                              </m:r>
                            </m:oMath>
                          </a14:m>
                          <a:r>
                            <a:rPr lang="en-US" altLang="ja-JP" sz="1600" dirty="0"/>
                            <a:t> of</a:t>
                          </a:r>
                          <a:r>
                            <a:rPr lang="en-US" altLang="ja-JP" sz="1600" baseline="0" dirty="0"/>
                            <a:t> agent </a:t>
                          </a:r>
                          <a14:m>
                            <m:oMath xmlns:m="http://schemas.openxmlformats.org/officeDocument/2006/math">
                              <m:r>
                                <a:rPr lang="en-US" altLang="ja-JP" sz="1600" b="0" i="1" smtClean="0">
                                  <a:latin typeface="Cambria Math" panose="02040503050406030204" pitchFamily="18" charset="0"/>
                                </a:rPr>
                                <m:t>𝑛</m:t>
                              </m:r>
                            </m:oMath>
                          </a14:m>
                          <a:endParaRPr lang="en-US" sz="1600" dirty="0"/>
                        </a:p>
                      </a:txBody>
                      <a:tcPr>
                        <a:noFill/>
                      </a:tcPr>
                    </a:tc>
                    <a:extLst>
                      <a:ext uri="{0D108BD9-81ED-4DB2-BD59-A6C34878D82A}">
                        <a16:rowId xmlns:a16="http://schemas.microsoft.com/office/drawing/2014/main" val="3366865991"/>
                      </a:ext>
                    </a:extLst>
                  </a:tr>
                </a:tbl>
              </a:graphicData>
            </a:graphic>
          </p:graphicFrame>
        </mc:Choice>
        <mc:Fallback xmlns="">
          <p:graphicFrame>
            <p:nvGraphicFramePr>
              <p:cNvPr id="10" name="表 9">
                <a:extLst>
                  <a:ext uri="{FF2B5EF4-FFF2-40B4-BE49-F238E27FC236}">
                    <a16:creationId xmlns:a16="http://schemas.microsoft.com/office/drawing/2014/main" id="{37A1F529-EBA1-AD29-71A9-80D6D6F22325}"/>
                  </a:ext>
                </a:extLst>
              </p:cNvPr>
              <p:cNvGraphicFramePr>
                <a:graphicFrameLocks noGrp="1"/>
              </p:cNvGraphicFramePr>
              <p:nvPr>
                <p:extLst>
                  <p:ext uri="{D42A27DB-BD31-4B8C-83A1-F6EECF244321}">
                    <p14:modId xmlns:p14="http://schemas.microsoft.com/office/powerpoint/2010/main" val="462328632"/>
                  </p:ext>
                </p:extLst>
              </p:nvPr>
            </p:nvGraphicFramePr>
            <p:xfrm>
              <a:off x="1662545" y="4695008"/>
              <a:ext cx="8158346" cy="1072738"/>
            </p:xfrm>
            <a:graphic>
              <a:graphicData uri="http://schemas.openxmlformats.org/drawingml/2006/table">
                <a:tbl>
                  <a:tblPr bandRow="1">
                    <a:tableStyleId>{5C22544A-7EE6-4342-B048-85BDC9FD1C3A}</a:tableStyleId>
                  </a:tblPr>
                  <a:tblGrid>
                    <a:gridCol w="1240510">
                      <a:extLst>
                        <a:ext uri="{9D8B030D-6E8A-4147-A177-3AD203B41FA5}">
                          <a16:colId xmlns:a16="http://schemas.microsoft.com/office/drawing/2014/main" val="2815638221"/>
                        </a:ext>
                      </a:extLst>
                    </a:gridCol>
                    <a:gridCol w="208280">
                      <a:extLst>
                        <a:ext uri="{9D8B030D-6E8A-4147-A177-3AD203B41FA5}">
                          <a16:colId xmlns:a16="http://schemas.microsoft.com/office/drawing/2014/main" val="3280904105"/>
                        </a:ext>
                      </a:extLst>
                    </a:gridCol>
                    <a:gridCol w="6709556">
                      <a:extLst>
                        <a:ext uri="{9D8B030D-6E8A-4147-A177-3AD203B41FA5}">
                          <a16:colId xmlns:a16="http://schemas.microsoft.com/office/drawing/2014/main" val="2064586492"/>
                        </a:ext>
                      </a:extLst>
                    </a:gridCol>
                  </a:tblGrid>
                  <a:tr h="536369">
                    <a:tc>
                      <a:txBody>
                        <a:bodyPr/>
                        <a:lstStyle/>
                        <a:p>
                          <a:endParaRPr lang="en-US"/>
                        </a:p>
                      </a:txBody>
                      <a:tcPr>
                        <a:blipFill>
                          <a:blip r:embed="rId5"/>
                          <a:stretch>
                            <a:fillRect l="-490" t="-4494" r="-557843" b="-101124"/>
                          </a:stretch>
                        </a:blipFill>
                      </a:tcPr>
                    </a:tc>
                    <a:tc>
                      <a:txBody>
                        <a:bodyPr/>
                        <a:lstStyle/>
                        <a:p>
                          <a:r>
                            <a:rPr lang="en-US" sz="1600" dirty="0"/>
                            <a:t>:</a:t>
                          </a:r>
                        </a:p>
                      </a:txBody>
                      <a:tcPr>
                        <a:noFill/>
                      </a:tcPr>
                    </a:tc>
                    <a:tc>
                      <a:txBody>
                        <a:bodyPr/>
                        <a:lstStyle/>
                        <a:p>
                          <a:endParaRPr lang="en-US"/>
                        </a:p>
                      </a:txBody>
                      <a:tcPr>
                        <a:blipFill>
                          <a:blip r:embed="rId5"/>
                          <a:stretch>
                            <a:fillRect l="-21688" t="-4494" r="-181" b="-101124"/>
                          </a:stretch>
                        </a:blipFill>
                      </a:tcPr>
                    </a:tc>
                    <a:extLst>
                      <a:ext uri="{0D108BD9-81ED-4DB2-BD59-A6C34878D82A}">
                        <a16:rowId xmlns:a16="http://schemas.microsoft.com/office/drawing/2014/main" val="1172270262"/>
                      </a:ext>
                    </a:extLst>
                  </a:tr>
                  <a:tr h="536369">
                    <a:tc>
                      <a:txBody>
                        <a:bodyPr/>
                        <a:lstStyle/>
                        <a:p>
                          <a:endParaRPr lang="en-US"/>
                        </a:p>
                      </a:txBody>
                      <a:tcPr>
                        <a:blipFill>
                          <a:blip r:embed="rId5"/>
                          <a:stretch>
                            <a:fillRect l="-490" t="-105682" r="-557843" b="-2273"/>
                          </a:stretch>
                        </a:blipFill>
                      </a:tcPr>
                    </a:tc>
                    <a:tc>
                      <a:txBody>
                        <a:bodyPr/>
                        <a:lstStyle/>
                        <a:p>
                          <a:r>
                            <a:rPr lang="en-US" sz="1600" dirty="0"/>
                            <a:t>:</a:t>
                          </a:r>
                        </a:p>
                      </a:txBody>
                      <a:tcPr>
                        <a:noFill/>
                      </a:tcPr>
                    </a:tc>
                    <a:tc>
                      <a:txBody>
                        <a:bodyPr/>
                        <a:lstStyle/>
                        <a:p>
                          <a:endParaRPr lang="en-US"/>
                        </a:p>
                      </a:txBody>
                      <a:tcPr>
                        <a:blipFill>
                          <a:blip r:embed="rId5"/>
                          <a:stretch>
                            <a:fillRect l="-21688" t="-105682" r="-181" b="-2273"/>
                          </a:stretch>
                        </a:blipFill>
                      </a:tcPr>
                    </a:tc>
                    <a:extLst>
                      <a:ext uri="{0D108BD9-81ED-4DB2-BD59-A6C34878D82A}">
                        <a16:rowId xmlns:a16="http://schemas.microsoft.com/office/drawing/2014/main" val="3366865991"/>
                      </a:ext>
                    </a:extLst>
                  </a:tr>
                </a:tbl>
              </a:graphicData>
            </a:graphic>
          </p:graphicFrame>
        </mc:Fallback>
      </mc:AlternateContent>
      <p:sp>
        <p:nvSpPr>
          <p:cNvPr id="4" name="正方形/長方形 3">
            <a:extLst>
              <a:ext uri="{FF2B5EF4-FFF2-40B4-BE49-F238E27FC236}">
                <a16:creationId xmlns:a16="http://schemas.microsoft.com/office/drawing/2014/main" id="{29D6F9EB-C3D3-6BA0-C227-3F208CB926BE}"/>
              </a:ext>
            </a:extLst>
          </p:cNvPr>
          <p:cNvSpPr/>
          <p:nvPr/>
        </p:nvSpPr>
        <p:spPr>
          <a:xfrm>
            <a:off x="4085111" y="3740728"/>
            <a:ext cx="1377537" cy="514598"/>
          </a:xfrm>
          <a:prstGeom prst="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テキスト ボックス 5">
            <a:extLst>
              <a:ext uri="{FF2B5EF4-FFF2-40B4-BE49-F238E27FC236}">
                <a16:creationId xmlns:a16="http://schemas.microsoft.com/office/drawing/2014/main" id="{DC74A48B-2610-FDD9-937F-41628DF825A7}"/>
              </a:ext>
            </a:extLst>
          </p:cNvPr>
          <p:cNvSpPr txBox="1"/>
          <p:nvPr/>
        </p:nvSpPr>
        <p:spPr>
          <a:xfrm>
            <a:off x="5522025" y="3923145"/>
            <a:ext cx="2619628" cy="369332"/>
          </a:xfrm>
          <a:prstGeom prst="rect">
            <a:avLst/>
          </a:prstGeom>
          <a:noFill/>
        </p:spPr>
        <p:txBody>
          <a:bodyPr wrap="none" rtlCol="0">
            <a:spAutoFit/>
          </a:bodyPr>
          <a:lstStyle/>
          <a:p>
            <a:r>
              <a:rPr lang="en-US" dirty="0">
                <a:solidFill>
                  <a:schemeClr val="accent1"/>
                </a:solidFill>
              </a:rPr>
              <a:t>One of the targets of RL</a:t>
            </a:r>
          </a:p>
        </p:txBody>
      </p:sp>
    </p:spTree>
    <p:extLst>
      <p:ext uri="{BB962C8B-B14F-4D97-AF65-F5344CB8AC3E}">
        <p14:creationId xmlns:p14="http://schemas.microsoft.com/office/powerpoint/2010/main" val="414806922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7076FFE9-C1BB-DE12-AC60-5CC1B7621355}"/>
              </a:ext>
            </a:extLst>
          </p:cNvPr>
          <p:cNvSpPr>
            <a:spLocks noGrp="1"/>
          </p:cNvSpPr>
          <p:nvPr>
            <p:ph sz="quarter" idx="16"/>
          </p:nvPr>
        </p:nvSpPr>
        <p:spPr/>
        <p:txBody>
          <a:bodyPr/>
          <a:lstStyle/>
          <a:p>
            <a:r>
              <a:rPr lang="en-US" altLang="ja-JP" dirty="0"/>
              <a:t>3.2.2 Design P2P energy trading model</a:t>
            </a:r>
          </a:p>
        </p:txBody>
      </p:sp>
      <mc:AlternateContent xmlns:mc="http://schemas.openxmlformats.org/markup-compatibility/2006" xmlns:a14="http://schemas.microsoft.com/office/drawing/2010/main">
        <mc:Choice Requires="a14">
          <p:sp>
            <p:nvSpPr>
              <p:cNvPr id="5" name="テキスト ボックス 4">
                <a:extLst>
                  <a:ext uri="{FF2B5EF4-FFF2-40B4-BE49-F238E27FC236}">
                    <a16:creationId xmlns:a16="http://schemas.microsoft.com/office/drawing/2014/main" id="{A82EA327-CF61-DB75-F8EC-C9AC0E05851B}"/>
                  </a:ext>
                </a:extLst>
              </p:cNvPr>
              <p:cNvSpPr txBox="1"/>
              <p:nvPr/>
            </p:nvSpPr>
            <p:spPr>
              <a:xfrm>
                <a:off x="2080158" y="1291282"/>
                <a:ext cx="5737760" cy="87049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i="1" smtClean="0">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ctrlPr>
                        </m:sSubSupPr>
                        <m:e>
                          <m:r>
                            <a:rPr lang="en-US" sz="1800" i="1">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𝑒</m:t>
                          </m:r>
                        </m:e>
                        <m:sub>
                          <m:r>
                            <a:rPr lang="en-US" sz="1800" i="1">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𝑡</m:t>
                          </m:r>
                          <m:r>
                            <a:rPr lang="en-US" sz="1800" i="1">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m:t>
                          </m:r>
                          <m:r>
                            <a:rPr lang="en-US" sz="1800" i="1">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𝑛</m:t>
                          </m:r>
                        </m:sub>
                        <m:sup>
                          <m:r>
                            <a:rPr lang="en-US" sz="1800" i="1">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𝑠h𝑖𝑓𝑡</m:t>
                          </m:r>
                        </m:sup>
                      </m:sSubSup>
                      <m:r>
                        <a:rPr lang="en-US" sz="1800" i="1">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m:t>
                      </m:r>
                      <m:nary>
                        <m:naryPr>
                          <m:chr m:val="∑"/>
                          <m:limLoc m:val="undOvr"/>
                          <m:ctrlPr>
                            <a:rPr lang="en-US" i="1">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ctrlPr>
                        </m:naryPr>
                        <m:sub>
                          <m:r>
                            <a:rPr lang="en-US" sz="1800" i="1">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𝑘</m:t>
                          </m:r>
                          <m:r>
                            <a:rPr lang="en-US" sz="1800" i="1">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=1</m:t>
                          </m:r>
                        </m:sub>
                        <m:sup>
                          <m:r>
                            <a:rPr lang="en-US" sz="1800" i="1">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𝑡</m:t>
                          </m:r>
                          <m:r>
                            <a:rPr lang="en-US" sz="1800" i="1">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−1</m:t>
                          </m:r>
                        </m:sup>
                        <m:e>
                          <m:sSubSup>
                            <m:sSubSupPr>
                              <m:ctrlPr>
                                <a:rPr lang="en-US" i="1">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ctrlPr>
                            </m:sSubSupPr>
                            <m:e>
                              <m:r>
                                <a:rPr lang="en-US" sz="1800" i="1">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m:t>
                              </m:r>
                              <m:r>
                                <a:rPr lang="en-US" sz="1800" i="1">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𝐸</m:t>
                              </m:r>
                            </m:e>
                            <m:sub>
                              <m:r>
                                <a:rPr lang="en-US" sz="1800" i="1">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𝑘</m:t>
                              </m:r>
                              <m:r>
                                <a:rPr lang="en-US" sz="1800" i="1">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m:t>
                              </m:r>
                              <m:r>
                                <a:rPr lang="en-US" sz="1800" i="1">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𝑛</m:t>
                              </m:r>
                            </m:sub>
                            <m:sup>
                              <m:r>
                                <a:rPr lang="en-US" sz="1800" i="1">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𝑒𝑙𝑎𝑠</m:t>
                              </m:r>
                            </m:sup>
                          </m:sSubSup>
                          <m:r>
                            <a:rPr lang="en-US" sz="1800" i="1">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m:t>
                          </m:r>
                          <m:sSubSup>
                            <m:sSubSupPr>
                              <m:ctrlPr>
                                <a:rPr lang="en-US" i="1">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ctrlPr>
                            </m:sSubSupPr>
                            <m:e>
                              <m:r>
                                <a:rPr lang="en-US" sz="1800" i="1">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𝑒</m:t>
                              </m:r>
                            </m:e>
                            <m:sub>
                              <m:r>
                                <a:rPr lang="en-US" sz="1800" i="1">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𝑘</m:t>
                              </m:r>
                              <m:r>
                                <a:rPr lang="en-US" sz="1800" i="1">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m:t>
                              </m:r>
                              <m:r>
                                <a:rPr lang="en-US" sz="1800" i="1">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𝑛</m:t>
                              </m:r>
                            </m:sub>
                            <m:sup>
                              <m:r>
                                <a:rPr lang="en-US" sz="1800" i="1">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𝑒𝑙𝑎𝑠</m:t>
                              </m:r>
                            </m:sup>
                          </m:sSubSup>
                          <m:r>
                            <a:rPr lang="en-US" sz="1800" i="1">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m:t>
                          </m:r>
                          <m:r>
                            <a:rPr lang="ja-JP" altLang="en-US" i="1">
                              <a:solidFill>
                                <a:srgbClr val="000000"/>
                              </a:solidFill>
                              <a:highlight>
                                <a:srgbClr val="FFFFFF"/>
                              </a:highlight>
                              <a:latin typeface="Cambria Math" panose="02040503050406030204" pitchFamily="18" charset="0"/>
                              <a:ea typeface="Yu Mincho" panose="02020400000000000000" pitchFamily="18" charset="-128"/>
                              <a:cs typeface="Segoe UI" panose="020B0502040204020203" pitchFamily="34" charset="0"/>
                            </a:rPr>
                            <m:t>　</m:t>
                          </m:r>
                          <m:r>
                            <a:rPr lang="en-US" altLang="ja-JP" b="0" i="1" smtClean="0">
                              <a:solidFill>
                                <a:srgbClr val="000000"/>
                              </a:solidFill>
                              <a:highlight>
                                <a:srgbClr val="FFFFFF"/>
                              </a:highlight>
                              <a:latin typeface="Cambria Math" panose="02040503050406030204" pitchFamily="18" charset="0"/>
                              <a:ea typeface="Yu Mincho" panose="02020400000000000000" pitchFamily="18" charset="-128"/>
                              <a:cs typeface="Segoe UI" panose="020B0502040204020203" pitchFamily="34" charset="0"/>
                            </a:rPr>
                            <m:t>(3)</m:t>
                          </m:r>
                        </m:e>
                      </m:nary>
                    </m:oMath>
                  </m:oMathPara>
                </a14:m>
                <a:endParaRPr lang="en-US" dirty="0"/>
              </a:p>
            </p:txBody>
          </p:sp>
        </mc:Choice>
        <mc:Fallback xmlns="">
          <p:sp>
            <p:nvSpPr>
              <p:cNvPr id="5" name="テキスト ボックス 4">
                <a:extLst>
                  <a:ext uri="{FF2B5EF4-FFF2-40B4-BE49-F238E27FC236}">
                    <a16:creationId xmlns:a16="http://schemas.microsoft.com/office/drawing/2014/main" id="{A82EA327-CF61-DB75-F8EC-C9AC0E05851B}"/>
                  </a:ext>
                </a:extLst>
              </p:cNvPr>
              <p:cNvSpPr txBox="1">
                <a:spLocks noRot="1" noChangeAspect="1" noMove="1" noResize="1" noEditPoints="1" noAdjustHandles="1" noChangeArrowheads="1" noChangeShapeType="1" noTextEdit="1"/>
              </p:cNvSpPr>
              <p:nvPr/>
            </p:nvSpPr>
            <p:spPr>
              <a:xfrm>
                <a:off x="2080158" y="1291282"/>
                <a:ext cx="5737760" cy="870495"/>
              </a:xfrm>
              <a:prstGeom prst="rect">
                <a:avLst/>
              </a:prstGeom>
              <a:blipFill>
                <a:blip r:embed="rId2"/>
                <a:stretch>
                  <a:fillRect/>
                </a:stretch>
              </a:blipFill>
            </p:spPr>
            <p:txBody>
              <a:bodyPr/>
              <a:lstStyle/>
              <a:p>
                <a:r>
                  <a:rPr lang="ja-JP" altLang="en-US">
                    <a:noFill/>
                  </a:rPr>
                  <a:t> </a:t>
                </a:r>
              </a:p>
            </p:txBody>
          </p:sp>
        </mc:Fallback>
      </mc:AlternateContent>
      <p:cxnSp>
        <p:nvCxnSpPr>
          <p:cNvPr id="7" name="直線コネクタ 6">
            <a:extLst>
              <a:ext uri="{FF2B5EF4-FFF2-40B4-BE49-F238E27FC236}">
                <a16:creationId xmlns:a16="http://schemas.microsoft.com/office/drawing/2014/main" id="{35EB88C8-696C-A35B-98F6-59814771E625}"/>
              </a:ext>
            </a:extLst>
          </p:cNvPr>
          <p:cNvCxnSpPr>
            <a:cxnSpLocks/>
          </p:cNvCxnSpPr>
          <p:nvPr/>
        </p:nvCxnSpPr>
        <p:spPr>
          <a:xfrm>
            <a:off x="-3962" y="2834247"/>
            <a:ext cx="9906000" cy="0"/>
          </a:xfrm>
          <a:prstGeom prst="line">
            <a:avLst/>
          </a:prstGeom>
          <a:ln w="19050">
            <a:solidFill>
              <a:schemeClr val="tx1">
                <a:lumMod val="60000"/>
                <a:lumOff val="40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graphicFrame>
            <p:nvGraphicFramePr>
              <p:cNvPr id="12" name="表 11">
                <a:extLst>
                  <a:ext uri="{FF2B5EF4-FFF2-40B4-BE49-F238E27FC236}">
                    <a16:creationId xmlns:a16="http://schemas.microsoft.com/office/drawing/2014/main" id="{002925E7-5DEF-7A82-7992-54221DD9EF4B}"/>
                  </a:ext>
                </a:extLst>
              </p:cNvPr>
              <p:cNvGraphicFramePr>
                <a:graphicFrameLocks noGrp="1"/>
              </p:cNvGraphicFramePr>
              <p:nvPr>
                <p:extLst>
                  <p:ext uri="{D42A27DB-BD31-4B8C-83A1-F6EECF244321}">
                    <p14:modId xmlns:p14="http://schemas.microsoft.com/office/powerpoint/2010/main" val="230053516"/>
                  </p:ext>
                </p:extLst>
              </p:nvPr>
            </p:nvGraphicFramePr>
            <p:xfrm>
              <a:off x="1615044" y="4170902"/>
              <a:ext cx="8142511" cy="1072738"/>
            </p:xfrm>
            <a:graphic>
              <a:graphicData uri="http://schemas.openxmlformats.org/drawingml/2006/table">
                <a:tbl>
                  <a:tblPr bandRow="1">
                    <a:tableStyleId>{5C22544A-7EE6-4342-B048-85BDC9FD1C3A}</a:tableStyleId>
                  </a:tblPr>
                  <a:tblGrid>
                    <a:gridCol w="1159822">
                      <a:extLst>
                        <a:ext uri="{9D8B030D-6E8A-4147-A177-3AD203B41FA5}">
                          <a16:colId xmlns:a16="http://schemas.microsoft.com/office/drawing/2014/main" val="2815638221"/>
                        </a:ext>
                      </a:extLst>
                    </a:gridCol>
                    <a:gridCol w="273133">
                      <a:extLst>
                        <a:ext uri="{9D8B030D-6E8A-4147-A177-3AD203B41FA5}">
                          <a16:colId xmlns:a16="http://schemas.microsoft.com/office/drawing/2014/main" val="3280904105"/>
                        </a:ext>
                      </a:extLst>
                    </a:gridCol>
                    <a:gridCol w="6709556">
                      <a:extLst>
                        <a:ext uri="{9D8B030D-6E8A-4147-A177-3AD203B41FA5}">
                          <a16:colId xmlns:a16="http://schemas.microsoft.com/office/drawing/2014/main" val="2064586492"/>
                        </a:ext>
                      </a:extLst>
                    </a:gridCol>
                  </a:tblGrid>
                  <a:tr h="536369">
                    <a:tc>
                      <a:txBody>
                        <a:bodyPr/>
                        <a:lstStyle/>
                        <a:p>
                          <a:pPr/>
                          <a14:m>
                            <m:oMathPara xmlns:m="http://schemas.openxmlformats.org/officeDocument/2006/math">
                              <m:oMathParaPr>
                                <m:jc m:val="left"/>
                              </m:oMathParaPr>
                              <m:oMath xmlns:m="http://schemas.openxmlformats.org/officeDocument/2006/math">
                                <m:sSubSup>
                                  <m:sSubSupPr>
                                    <m:ctrlPr>
                                      <a:rPr lang="en-US" sz="1600" i="1" smtClean="0">
                                        <a:solidFill>
                                          <a:srgbClr val="836967"/>
                                        </a:solidFill>
                                        <a:latin typeface="Cambria Math" panose="02040503050406030204" pitchFamily="18" charset="0"/>
                                      </a:rPr>
                                    </m:ctrlPr>
                                  </m:sSubSupPr>
                                  <m:e>
                                    <m:r>
                                      <a:rPr lang="en-US" sz="1600" i="1">
                                        <a:latin typeface="Cambria Math" panose="02040503050406030204" pitchFamily="18" charset="0"/>
                                      </a:rPr>
                                      <m:t>𝜆</m:t>
                                    </m:r>
                                  </m:e>
                                  <m:sub>
                                    <m:r>
                                      <a:rPr lang="en-US" sz="1600" i="1">
                                        <a:latin typeface="Cambria Math" panose="02040503050406030204" pitchFamily="18" charset="0"/>
                                      </a:rPr>
                                      <m:t>𝑡</m:t>
                                    </m:r>
                                    <m:r>
                                      <a:rPr lang="en-US" sz="1600" i="0">
                                        <a:latin typeface="Cambria Math" panose="02040503050406030204" pitchFamily="18" charset="0"/>
                                      </a:rPr>
                                      <m:t>,</m:t>
                                    </m:r>
                                    <m:r>
                                      <a:rPr lang="en-US" sz="1600" i="1">
                                        <a:latin typeface="Cambria Math" panose="02040503050406030204" pitchFamily="18" charset="0"/>
                                      </a:rPr>
                                      <m:t>𝑘</m:t>
                                    </m:r>
                                    <m:r>
                                      <a:rPr lang="en-US" sz="1600" i="0">
                                        <a:latin typeface="Cambria Math" panose="02040503050406030204" pitchFamily="18" charset="0"/>
                                      </a:rPr>
                                      <m:t>,</m:t>
                                    </m:r>
                                    <m:r>
                                      <a:rPr lang="en-US" sz="1600" i="1">
                                        <a:latin typeface="Cambria Math" panose="02040503050406030204" pitchFamily="18" charset="0"/>
                                      </a:rPr>
                                      <m:t>𝑛</m:t>
                                    </m:r>
                                  </m:sub>
                                  <m:sup>
                                    <m:r>
                                      <a:rPr lang="en-US" sz="1600" i="1">
                                        <a:latin typeface="Cambria Math" panose="02040503050406030204" pitchFamily="18" charset="0"/>
                                      </a:rPr>
                                      <m:t>𝑏𝑖𝑑</m:t>
                                    </m:r>
                                    <m:r>
                                      <a:rPr lang="en-US" sz="1600" i="0">
                                        <a:latin typeface="Cambria Math" panose="02040503050406030204" pitchFamily="18" charset="0"/>
                                      </a:rPr>
                                      <m:t>,</m:t>
                                    </m:r>
                                    <m:r>
                                      <a:rPr lang="en-US" sz="1600" i="1">
                                        <a:latin typeface="Cambria Math" panose="02040503050406030204" pitchFamily="18" charset="0"/>
                                      </a:rPr>
                                      <m:t>𝑠h𝑖𝑓𝑡</m:t>
                                    </m:r>
                                    <m:r>
                                      <a:rPr lang="en-US" sz="1600" i="0">
                                        <a:latin typeface="Cambria Math" panose="02040503050406030204" pitchFamily="18" charset="0"/>
                                      </a:rPr>
                                      <m:t>,</m:t>
                                    </m:r>
                                    <m:r>
                                      <a:rPr lang="en-US" sz="1600" i="1">
                                        <a:latin typeface="Cambria Math" panose="02040503050406030204" pitchFamily="18" charset="0"/>
                                      </a:rPr>
                                      <m:t>𝑏𝑢𝑦</m:t>
                                    </m:r>
                                  </m:sup>
                                </m:sSubSup>
                              </m:oMath>
                            </m:oMathPara>
                          </a14:m>
                          <a:endParaRPr lang="en-US" sz="1600" dirty="0"/>
                        </a:p>
                      </a:txBody>
                      <a:tcPr>
                        <a:no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600" dirty="0"/>
                            <a:t>:</a:t>
                          </a:r>
                        </a:p>
                      </a:txBody>
                      <a:tcPr>
                        <a:no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altLang="ja-JP" sz="1600" dirty="0"/>
                            <a:t>Bid price at timeslot </a:t>
                          </a:r>
                          <a14:m>
                            <m:oMath xmlns:m="http://schemas.openxmlformats.org/officeDocument/2006/math">
                              <m:r>
                                <a:rPr lang="en-US" altLang="ja-JP" sz="1600" b="0" i="1" smtClean="0">
                                  <a:latin typeface="Cambria Math" panose="02040503050406030204" pitchFamily="18" charset="0"/>
                                </a:rPr>
                                <m:t>𝑡</m:t>
                              </m:r>
                            </m:oMath>
                          </a14:m>
                          <a:r>
                            <a:rPr lang="en-US" altLang="ja-JP" sz="1600" dirty="0"/>
                            <a:t> for shifted demand from timeslot </a:t>
                          </a:r>
                          <a14:m>
                            <m:oMath xmlns:m="http://schemas.openxmlformats.org/officeDocument/2006/math">
                              <m:r>
                                <a:rPr lang="en-US" altLang="ja-JP" sz="1600" b="0" i="1" smtClean="0">
                                  <a:latin typeface="Cambria Math" panose="02040503050406030204" pitchFamily="18" charset="0"/>
                                </a:rPr>
                                <m:t>𝑘</m:t>
                              </m:r>
                            </m:oMath>
                          </a14:m>
                          <a:r>
                            <a:rPr lang="en-US" sz="1600" dirty="0"/>
                            <a:t> of</a:t>
                          </a:r>
                          <a:r>
                            <a:rPr lang="en-US" sz="1600" baseline="0" dirty="0"/>
                            <a:t> agent </a:t>
                          </a:r>
                          <a14:m>
                            <m:oMath xmlns:m="http://schemas.openxmlformats.org/officeDocument/2006/math">
                              <m:r>
                                <a:rPr lang="en-US" altLang="ja-JP" sz="1600" b="0" i="1" smtClean="0">
                                  <a:latin typeface="Cambria Math" panose="02040503050406030204" pitchFamily="18" charset="0"/>
                                </a:rPr>
                                <m:t>𝑛</m:t>
                              </m:r>
                            </m:oMath>
                          </a14:m>
                          <a:endParaRPr lang="en-US" sz="1600" dirty="0"/>
                        </a:p>
                      </a:txBody>
                      <a:tcPr>
                        <a:noFill/>
                      </a:tcPr>
                    </a:tc>
                    <a:extLst>
                      <a:ext uri="{0D108BD9-81ED-4DB2-BD59-A6C34878D82A}">
                        <a16:rowId xmlns:a16="http://schemas.microsoft.com/office/drawing/2014/main" val="2567745939"/>
                      </a:ext>
                    </a:extLst>
                  </a:tr>
                  <a:tr h="536369">
                    <a:tc>
                      <a:txBody>
                        <a:bodyPr/>
                        <a:lstStyle/>
                        <a:p>
                          <a:pPr/>
                          <a14:m>
                            <m:oMathPara xmlns:m="http://schemas.openxmlformats.org/officeDocument/2006/math">
                              <m:oMathParaPr>
                                <m:jc m:val="left"/>
                              </m:oMathParaPr>
                              <m:oMath xmlns:m="http://schemas.openxmlformats.org/officeDocument/2006/math">
                                <m:sSub>
                                  <m:sSubPr>
                                    <m:ctrlPr>
                                      <a:rPr lang="en-US" sz="1600" i="1" smtClean="0">
                                        <a:solidFill>
                                          <a:srgbClr val="836967"/>
                                        </a:solidFill>
                                        <a:latin typeface="Cambria Math" panose="02040503050406030204" pitchFamily="18" charset="0"/>
                                      </a:rPr>
                                    </m:ctrlPr>
                                  </m:sSubPr>
                                  <m:e>
                                    <m:r>
                                      <a:rPr lang="en-US" sz="1600" i="1">
                                        <a:latin typeface="Cambria Math" panose="02040503050406030204" pitchFamily="18" charset="0"/>
                                      </a:rPr>
                                      <m:t>𝑆</m:t>
                                    </m:r>
                                  </m:e>
                                  <m:sub>
                                    <m:r>
                                      <a:rPr lang="en-US" sz="1600" i="1">
                                        <a:latin typeface="Cambria Math" panose="02040503050406030204" pitchFamily="18" charset="0"/>
                                      </a:rPr>
                                      <m:t>𝑛</m:t>
                                    </m:r>
                                  </m:sub>
                                </m:sSub>
                              </m:oMath>
                            </m:oMathPara>
                          </a14:m>
                          <a:endParaRPr lang="en-US" sz="1600" dirty="0"/>
                        </a:p>
                      </a:txBody>
                      <a:tcPr>
                        <a:noFill/>
                      </a:tcPr>
                    </a:tc>
                    <a:tc>
                      <a:txBody>
                        <a:bodyPr/>
                        <a:lstStyle/>
                        <a:p>
                          <a:r>
                            <a:rPr lang="en-US" sz="1600" dirty="0"/>
                            <a:t>:</a:t>
                          </a:r>
                        </a:p>
                      </a:txBody>
                      <a:tcPr>
                        <a:noFill/>
                      </a:tcPr>
                    </a:tc>
                    <a:tc>
                      <a:txBody>
                        <a:bodyPr/>
                        <a:lstStyle/>
                        <a:p>
                          <a:r>
                            <a:rPr lang="en-US" altLang="ja-JP" sz="1600" dirty="0"/>
                            <a:t>DR shift limit of agent </a:t>
                          </a:r>
                          <a14:m>
                            <m:oMath xmlns:m="http://schemas.openxmlformats.org/officeDocument/2006/math">
                              <m:r>
                                <a:rPr lang="en-US" altLang="ja-JP" sz="1600" b="0" i="1" smtClean="0">
                                  <a:latin typeface="Cambria Math" panose="02040503050406030204" pitchFamily="18" charset="0"/>
                                </a:rPr>
                                <m:t>𝑛</m:t>
                              </m:r>
                            </m:oMath>
                          </a14:m>
                          <a:endParaRPr lang="en-US" sz="1600" dirty="0"/>
                        </a:p>
                      </a:txBody>
                      <a:tcPr>
                        <a:noFill/>
                      </a:tcPr>
                    </a:tc>
                    <a:extLst>
                      <a:ext uri="{0D108BD9-81ED-4DB2-BD59-A6C34878D82A}">
                        <a16:rowId xmlns:a16="http://schemas.microsoft.com/office/drawing/2014/main" val="1172270262"/>
                      </a:ext>
                    </a:extLst>
                  </a:tr>
                </a:tbl>
              </a:graphicData>
            </a:graphic>
          </p:graphicFrame>
        </mc:Choice>
        <mc:Fallback xmlns="">
          <p:graphicFrame>
            <p:nvGraphicFramePr>
              <p:cNvPr id="12" name="表 11">
                <a:extLst>
                  <a:ext uri="{FF2B5EF4-FFF2-40B4-BE49-F238E27FC236}">
                    <a16:creationId xmlns:a16="http://schemas.microsoft.com/office/drawing/2014/main" id="{002925E7-5DEF-7A82-7992-54221DD9EF4B}"/>
                  </a:ext>
                </a:extLst>
              </p:cNvPr>
              <p:cNvGraphicFramePr>
                <a:graphicFrameLocks noGrp="1"/>
              </p:cNvGraphicFramePr>
              <p:nvPr>
                <p:extLst>
                  <p:ext uri="{D42A27DB-BD31-4B8C-83A1-F6EECF244321}">
                    <p14:modId xmlns:p14="http://schemas.microsoft.com/office/powerpoint/2010/main" val="230053516"/>
                  </p:ext>
                </p:extLst>
              </p:nvPr>
            </p:nvGraphicFramePr>
            <p:xfrm>
              <a:off x="1615044" y="4170902"/>
              <a:ext cx="8142511" cy="1072738"/>
            </p:xfrm>
            <a:graphic>
              <a:graphicData uri="http://schemas.openxmlformats.org/drawingml/2006/table">
                <a:tbl>
                  <a:tblPr bandRow="1">
                    <a:tableStyleId>{5C22544A-7EE6-4342-B048-85BDC9FD1C3A}</a:tableStyleId>
                  </a:tblPr>
                  <a:tblGrid>
                    <a:gridCol w="1159822">
                      <a:extLst>
                        <a:ext uri="{9D8B030D-6E8A-4147-A177-3AD203B41FA5}">
                          <a16:colId xmlns:a16="http://schemas.microsoft.com/office/drawing/2014/main" val="2815638221"/>
                        </a:ext>
                      </a:extLst>
                    </a:gridCol>
                    <a:gridCol w="273133">
                      <a:extLst>
                        <a:ext uri="{9D8B030D-6E8A-4147-A177-3AD203B41FA5}">
                          <a16:colId xmlns:a16="http://schemas.microsoft.com/office/drawing/2014/main" val="3280904105"/>
                        </a:ext>
                      </a:extLst>
                    </a:gridCol>
                    <a:gridCol w="6709556">
                      <a:extLst>
                        <a:ext uri="{9D8B030D-6E8A-4147-A177-3AD203B41FA5}">
                          <a16:colId xmlns:a16="http://schemas.microsoft.com/office/drawing/2014/main" val="2064586492"/>
                        </a:ext>
                      </a:extLst>
                    </a:gridCol>
                  </a:tblGrid>
                  <a:tr h="536369">
                    <a:tc>
                      <a:txBody>
                        <a:bodyPr/>
                        <a:lstStyle/>
                        <a:p>
                          <a:endParaRPr lang="en-US"/>
                        </a:p>
                      </a:txBody>
                      <a:tcPr>
                        <a:blipFill>
                          <a:blip r:embed="rId3"/>
                          <a:stretch>
                            <a:fillRect l="-526" t="-4494" r="-604737" b="-101124"/>
                          </a:stretch>
                        </a:blip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600" dirty="0"/>
                            <a:t>:</a:t>
                          </a:r>
                        </a:p>
                      </a:txBody>
                      <a:tcPr>
                        <a:noFill/>
                      </a:tcPr>
                    </a:tc>
                    <a:tc>
                      <a:txBody>
                        <a:bodyPr/>
                        <a:lstStyle/>
                        <a:p>
                          <a:endParaRPr lang="en-US"/>
                        </a:p>
                      </a:txBody>
                      <a:tcPr>
                        <a:blipFill>
                          <a:blip r:embed="rId3"/>
                          <a:stretch>
                            <a:fillRect l="-21416" t="-4494" r="-181" b="-101124"/>
                          </a:stretch>
                        </a:blipFill>
                      </a:tcPr>
                    </a:tc>
                    <a:extLst>
                      <a:ext uri="{0D108BD9-81ED-4DB2-BD59-A6C34878D82A}">
                        <a16:rowId xmlns:a16="http://schemas.microsoft.com/office/drawing/2014/main" val="2567745939"/>
                      </a:ext>
                    </a:extLst>
                  </a:tr>
                  <a:tr h="536369">
                    <a:tc>
                      <a:txBody>
                        <a:bodyPr/>
                        <a:lstStyle/>
                        <a:p>
                          <a:endParaRPr lang="en-US"/>
                        </a:p>
                      </a:txBody>
                      <a:tcPr>
                        <a:blipFill>
                          <a:blip r:embed="rId3"/>
                          <a:stretch>
                            <a:fillRect l="-526" t="-105682" r="-604737" b="-2273"/>
                          </a:stretch>
                        </a:blipFill>
                      </a:tcPr>
                    </a:tc>
                    <a:tc>
                      <a:txBody>
                        <a:bodyPr/>
                        <a:lstStyle/>
                        <a:p>
                          <a:r>
                            <a:rPr lang="en-US" sz="1600" dirty="0"/>
                            <a:t>:</a:t>
                          </a:r>
                        </a:p>
                      </a:txBody>
                      <a:tcPr>
                        <a:noFill/>
                      </a:tcPr>
                    </a:tc>
                    <a:tc>
                      <a:txBody>
                        <a:bodyPr/>
                        <a:lstStyle/>
                        <a:p>
                          <a:endParaRPr lang="en-US"/>
                        </a:p>
                      </a:txBody>
                      <a:tcPr>
                        <a:blipFill>
                          <a:blip r:embed="rId3"/>
                          <a:stretch>
                            <a:fillRect l="-21416" t="-105682" r="-181" b="-2273"/>
                          </a:stretch>
                        </a:blipFill>
                      </a:tcPr>
                    </a:tc>
                    <a:extLst>
                      <a:ext uri="{0D108BD9-81ED-4DB2-BD59-A6C34878D82A}">
                        <a16:rowId xmlns:a16="http://schemas.microsoft.com/office/drawing/2014/main" val="1172270262"/>
                      </a:ext>
                    </a:extLst>
                  </a:tr>
                </a:tbl>
              </a:graphicData>
            </a:graphic>
          </p:graphicFrame>
        </mc:Fallback>
      </mc:AlternateContent>
      <mc:AlternateContent xmlns:mc="http://schemas.openxmlformats.org/markup-compatibility/2006" xmlns:a14="http://schemas.microsoft.com/office/drawing/2010/main">
        <mc:Choice Requires="a14">
          <p:sp>
            <p:nvSpPr>
              <p:cNvPr id="4" name="テキスト ボックス 3">
                <a:extLst>
                  <a:ext uri="{FF2B5EF4-FFF2-40B4-BE49-F238E27FC236}">
                    <a16:creationId xmlns:a16="http://schemas.microsoft.com/office/drawing/2014/main" id="{CF39BD62-73B0-31C2-4922-472C658AFA5A}"/>
                  </a:ext>
                </a:extLst>
              </p:cNvPr>
              <p:cNvSpPr txBox="1"/>
              <p:nvPr/>
            </p:nvSpPr>
            <p:spPr>
              <a:xfrm>
                <a:off x="2080158" y="3005475"/>
                <a:ext cx="4960620" cy="86042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eqArr>
                        <m:eqArrPr>
                          <m:ctrlPr>
                            <a:rPr lang="ja-JP" altLang="en-US" i="1" smtClean="0">
                              <a:solidFill>
                                <a:srgbClr val="836967"/>
                              </a:solidFill>
                              <a:latin typeface="Cambria Math" panose="02040503050406030204" pitchFamily="18" charset="0"/>
                            </a:rPr>
                          </m:ctrlPr>
                        </m:eqArrPr>
                        <m:e>
                          <m:r>
                            <a:rPr lang="ja-JP" altLang="en-US">
                              <a:latin typeface="Cambria Math" panose="02040503050406030204" pitchFamily="18" charset="0"/>
                            </a:rPr>
                            <m:t>&amp;</m:t>
                          </m:r>
                          <m:sSubSup>
                            <m:sSubSupPr>
                              <m:ctrlPr>
                                <a:rPr lang="ja-JP" altLang="en-US" i="1">
                                  <a:solidFill>
                                    <a:srgbClr val="836967"/>
                                  </a:solidFill>
                                  <a:latin typeface="Cambria Math" panose="02040503050406030204" pitchFamily="18" charset="0"/>
                                </a:rPr>
                              </m:ctrlPr>
                            </m:sSubSupPr>
                            <m:e>
                              <m:r>
                                <a:rPr lang="ja-JP" altLang="en-US" i="1">
                                  <a:latin typeface="Cambria Math" panose="02040503050406030204" pitchFamily="18" charset="0"/>
                                </a:rPr>
                                <m:t>𝜆</m:t>
                              </m:r>
                            </m:e>
                            <m:sub>
                              <m:r>
                                <a:rPr lang="ja-JP" altLang="en-US" i="1">
                                  <a:latin typeface="Cambria Math" panose="02040503050406030204" pitchFamily="18" charset="0"/>
                                </a:rPr>
                                <m:t>𝑡</m:t>
                              </m:r>
                              <m:r>
                                <a:rPr lang="ja-JP" altLang="en-US" i="0">
                                  <a:latin typeface="Cambria Math" panose="02040503050406030204" pitchFamily="18" charset="0"/>
                                </a:rPr>
                                <m:t>,</m:t>
                              </m:r>
                              <m:r>
                                <a:rPr lang="ja-JP" altLang="en-US" i="1">
                                  <a:latin typeface="Cambria Math" panose="02040503050406030204" pitchFamily="18" charset="0"/>
                                </a:rPr>
                                <m:t>𝑘</m:t>
                              </m:r>
                              <m:r>
                                <a:rPr lang="ja-JP" altLang="en-US" i="0">
                                  <a:latin typeface="Cambria Math" panose="02040503050406030204" pitchFamily="18" charset="0"/>
                                </a:rPr>
                                <m:t>,</m:t>
                              </m:r>
                              <m:r>
                                <a:rPr lang="ja-JP" altLang="en-US" i="1">
                                  <a:latin typeface="Cambria Math" panose="02040503050406030204" pitchFamily="18" charset="0"/>
                                </a:rPr>
                                <m:t>𝑛</m:t>
                              </m:r>
                            </m:sub>
                            <m:sup>
                              <m:r>
                                <a:rPr lang="ja-JP" altLang="en-US" i="1">
                                  <a:latin typeface="Cambria Math" panose="02040503050406030204" pitchFamily="18" charset="0"/>
                                </a:rPr>
                                <m:t>𝑏𝑖𝑑</m:t>
                              </m:r>
                              <m:r>
                                <a:rPr lang="ja-JP" altLang="en-US" i="0">
                                  <a:latin typeface="Cambria Math" panose="02040503050406030204" pitchFamily="18" charset="0"/>
                                </a:rPr>
                                <m:t>,</m:t>
                              </m:r>
                              <m:r>
                                <a:rPr lang="ja-JP" altLang="en-US" i="1">
                                  <a:latin typeface="Cambria Math" panose="02040503050406030204" pitchFamily="18" charset="0"/>
                                </a:rPr>
                                <m:t>𝑠h𝑖𝑓𝑡</m:t>
                              </m:r>
                              <m:r>
                                <a:rPr lang="ja-JP" altLang="en-US" i="0">
                                  <a:latin typeface="Cambria Math" panose="02040503050406030204" pitchFamily="18" charset="0"/>
                                </a:rPr>
                                <m:t>,</m:t>
                              </m:r>
                              <m:r>
                                <a:rPr lang="ja-JP" altLang="en-US" i="1">
                                  <a:latin typeface="Cambria Math" panose="02040503050406030204" pitchFamily="18" charset="0"/>
                                </a:rPr>
                                <m:t>𝑏𝑢𝑦</m:t>
                              </m:r>
                            </m:sup>
                          </m:sSubSup>
                          <m:r>
                            <a:rPr lang="ja-JP" altLang="en-US" i="0">
                              <a:latin typeface="Cambria Math" panose="02040503050406030204" pitchFamily="18" charset="0"/>
                            </a:rPr>
                            <m:t>=</m:t>
                          </m:r>
                          <m:sSubSup>
                            <m:sSubSupPr>
                              <m:ctrlPr>
                                <a:rPr lang="en-US" altLang="ja-JP" i="1">
                                  <a:solidFill>
                                    <a:srgbClr val="836967"/>
                                  </a:solidFill>
                                  <a:highlight>
                                    <a:srgbClr val="FFFFFF"/>
                                  </a:highlight>
                                  <a:latin typeface="Cambria Math" panose="02040503050406030204" pitchFamily="18" charset="0"/>
                                </a:rPr>
                              </m:ctrlPr>
                            </m:sSubSupPr>
                            <m:e>
                              <m:r>
                                <a:rPr lang="en-US" altLang="ja-JP" i="1">
                                  <a:highlight>
                                    <a:srgbClr val="FFFFFF"/>
                                  </a:highlight>
                                  <a:latin typeface="Cambria Math" panose="02040503050406030204" pitchFamily="18" charset="0"/>
                                </a:rPr>
                                <m:t>𝜆</m:t>
                              </m:r>
                            </m:e>
                            <m:sub>
                              <m:r>
                                <a:rPr lang="en-US" altLang="ja-JP" i="1">
                                  <a:highlight>
                                    <a:srgbClr val="FFFFFF"/>
                                  </a:highlight>
                                  <a:latin typeface="Cambria Math" panose="02040503050406030204" pitchFamily="18" charset="0"/>
                                </a:rPr>
                                <m:t>𝑡</m:t>
                              </m:r>
                              <m:r>
                                <a:rPr lang="en-US" altLang="ja-JP">
                                  <a:highlight>
                                    <a:srgbClr val="FFFFFF"/>
                                  </a:highlight>
                                  <a:latin typeface="Cambria Math" panose="02040503050406030204" pitchFamily="18" charset="0"/>
                                </a:rPr>
                                <m:t>,</m:t>
                              </m:r>
                              <m:r>
                                <a:rPr lang="en-US" altLang="ja-JP" i="1">
                                  <a:highlight>
                                    <a:srgbClr val="FFFFFF"/>
                                  </a:highlight>
                                  <a:latin typeface="Cambria Math" panose="02040503050406030204" pitchFamily="18" charset="0"/>
                                </a:rPr>
                                <m:t>𝑛</m:t>
                              </m:r>
                            </m:sub>
                            <m:sup>
                              <m:r>
                                <a:rPr lang="en-US" altLang="ja-JP" i="1">
                                  <a:highlight>
                                    <a:srgbClr val="FFFFFF"/>
                                  </a:highlight>
                                  <a:latin typeface="Cambria Math" panose="02040503050406030204" pitchFamily="18" charset="0"/>
                                </a:rPr>
                                <m:t>𝑏𝑖𝑑</m:t>
                              </m:r>
                              <m:r>
                                <a:rPr lang="en-US" altLang="ja-JP">
                                  <a:highlight>
                                    <a:srgbClr val="FFFFFF"/>
                                  </a:highlight>
                                  <a:latin typeface="Cambria Math" panose="02040503050406030204" pitchFamily="18" charset="0"/>
                                </a:rPr>
                                <m:t>,</m:t>
                              </m:r>
                              <m:r>
                                <m:rPr>
                                  <m:sty m:val="p"/>
                                </m:rPr>
                                <a:rPr lang="en-US" altLang="ja-JP">
                                  <a:highlight>
                                    <a:srgbClr val="FFFFFF"/>
                                  </a:highlight>
                                  <a:latin typeface="Cambria Math" panose="02040503050406030204" pitchFamily="18" charset="0"/>
                                </a:rPr>
                                <m:t>elas</m:t>
                              </m:r>
                              <m:r>
                                <a:rPr lang="en-US" altLang="ja-JP" i="1">
                                  <a:highlight>
                                    <a:srgbClr val="FFFFFF"/>
                                  </a:highlight>
                                  <a:latin typeface="Cambria Math" panose="02040503050406030204" pitchFamily="18" charset="0"/>
                                </a:rPr>
                                <m:t>, </m:t>
                              </m:r>
                              <m:r>
                                <a:rPr lang="en-US" altLang="ja-JP" i="1">
                                  <a:highlight>
                                    <a:srgbClr val="FFFFFF"/>
                                  </a:highlight>
                                  <a:latin typeface="Cambria Math" panose="02040503050406030204" pitchFamily="18" charset="0"/>
                                </a:rPr>
                                <m:t>𝑏𝑢𝑦</m:t>
                              </m:r>
                            </m:sup>
                          </m:sSubSup>
                          <m:r>
                            <a:rPr lang="ja-JP" altLang="en-US" i="0">
                              <a:latin typeface="Cambria Math" panose="02040503050406030204" pitchFamily="18" charset="0"/>
                            </a:rPr>
                            <m:t>,#</m:t>
                          </m:r>
                        </m:e>
                        <m:e>
                          <m:r>
                            <a:rPr lang="ja-JP" altLang="en-US" i="0">
                              <a:latin typeface="Cambria Math" panose="02040503050406030204" pitchFamily="18" charset="0"/>
                            </a:rPr>
                            <m:t>&amp;</m:t>
                          </m:r>
                          <m:sSup>
                            <m:sSupPr>
                              <m:ctrlPr>
                                <a:rPr lang="ja-JP" altLang="en-US" i="1">
                                  <a:solidFill>
                                    <a:srgbClr val="836967"/>
                                  </a:solidFill>
                                  <a:latin typeface="Cambria Math" panose="02040503050406030204" pitchFamily="18" charset="0"/>
                                </a:rPr>
                              </m:ctrlPr>
                            </m:sSupPr>
                            <m:e>
                              <m:sSubSup>
                                <m:sSubSupPr>
                                  <m:ctrlPr>
                                    <a:rPr lang="ja-JP" altLang="en-US" i="1">
                                      <a:solidFill>
                                        <a:srgbClr val="836967"/>
                                      </a:solidFill>
                                      <a:latin typeface="Cambria Math" panose="02040503050406030204" pitchFamily="18" charset="0"/>
                                    </a:rPr>
                                  </m:ctrlPr>
                                </m:sSubSupPr>
                                <m:e>
                                  <m:r>
                                    <a:rPr lang="ja-JP" altLang="en-US" i="1">
                                      <a:latin typeface="Cambria Math" panose="02040503050406030204" pitchFamily="18" charset="0"/>
                                    </a:rPr>
                                    <m:t>𝜆</m:t>
                                  </m:r>
                                </m:e>
                                <m:sub>
                                  <m:r>
                                    <a:rPr lang="ja-JP" altLang="en-US" i="1">
                                      <a:latin typeface="Cambria Math" panose="02040503050406030204" pitchFamily="18" charset="0"/>
                                    </a:rPr>
                                    <m:t>𝑡</m:t>
                                  </m:r>
                                  <m:r>
                                    <a:rPr lang="ja-JP" altLang="en-US">
                                      <a:latin typeface="Cambria Math" panose="02040503050406030204" pitchFamily="18" charset="0"/>
                                    </a:rPr>
                                    <m:t>,</m:t>
                                  </m:r>
                                  <m:r>
                                    <a:rPr lang="ja-JP" altLang="en-US" i="1">
                                      <a:latin typeface="Cambria Math" panose="02040503050406030204" pitchFamily="18" charset="0"/>
                                    </a:rPr>
                                    <m:t>𝑘</m:t>
                                  </m:r>
                                  <m:r>
                                    <a:rPr lang="ja-JP" altLang="en-US">
                                      <a:latin typeface="Cambria Math" panose="02040503050406030204" pitchFamily="18" charset="0"/>
                                    </a:rPr>
                                    <m:t>,</m:t>
                                  </m:r>
                                  <m:r>
                                    <a:rPr lang="ja-JP" altLang="en-US" i="1">
                                      <a:latin typeface="Cambria Math" panose="02040503050406030204" pitchFamily="18" charset="0"/>
                                    </a:rPr>
                                    <m:t>𝑛</m:t>
                                  </m:r>
                                </m:sub>
                                <m:sup>
                                  <m:r>
                                    <a:rPr lang="ja-JP" altLang="en-US" i="1">
                                      <a:latin typeface="Cambria Math" panose="02040503050406030204" pitchFamily="18" charset="0"/>
                                    </a:rPr>
                                    <m:t>𝑏𝑖𝑑</m:t>
                                  </m:r>
                                  <m:r>
                                    <a:rPr lang="ja-JP" altLang="en-US">
                                      <a:latin typeface="Cambria Math" panose="02040503050406030204" pitchFamily="18" charset="0"/>
                                    </a:rPr>
                                    <m:t>,</m:t>
                                  </m:r>
                                  <m:r>
                                    <a:rPr lang="ja-JP" altLang="en-US" i="1">
                                      <a:latin typeface="Cambria Math" panose="02040503050406030204" pitchFamily="18" charset="0"/>
                                    </a:rPr>
                                    <m:t>𝑠h𝑖𝑓𝑡</m:t>
                                  </m:r>
                                  <m:r>
                                    <a:rPr lang="ja-JP" altLang="en-US">
                                      <a:latin typeface="Cambria Math" panose="02040503050406030204" pitchFamily="18" charset="0"/>
                                    </a:rPr>
                                    <m:t>,</m:t>
                                  </m:r>
                                  <m:r>
                                    <a:rPr lang="ja-JP" altLang="en-US" i="1">
                                      <a:latin typeface="Cambria Math" panose="02040503050406030204" pitchFamily="18" charset="0"/>
                                    </a:rPr>
                                    <m:t>𝑏𝑢𝑦</m:t>
                                  </m:r>
                                </m:sup>
                              </m:sSubSup>
                              <m:r>
                                <a:rPr lang="en-US" altLang="ja-JP" b="0" i="1" smtClean="0">
                                  <a:latin typeface="Cambria Math" panose="02040503050406030204" pitchFamily="18" charset="0"/>
                                </a:rPr>
                                <m:t>=</m:t>
                              </m:r>
                              <m:r>
                                <a:rPr lang="ja-JP" altLang="en-US" i="1">
                                  <a:latin typeface="Cambria Math" panose="02040503050406030204" pitchFamily="18" charset="0"/>
                                </a:rPr>
                                <m:t>𝜆</m:t>
                              </m:r>
                            </m:e>
                            <m:sup>
                              <m:r>
                                <a:rPr lang="ja-JP" altLang="en-US" i="1">
                                  <a:latin typeface="Cambria Math" panose="02040503050406030204" pitchFamily="18" charset="0"/>
                                </a:rPr>
                                <m:t>𝑢𝑏</m:t>
                              </m:r>
                            </m:sup>
                          </m:sSup>
                          <m:r>
                            <a:rPr lang="ja-JP" altLang="en-US" i="0">
                              <a:latin typeface="Cambria Math" panose="02040503050406030204" pitchFamily="18" charset="0"/>
                            </a:rPr>
                            <m:t>, </m:t>
                          </m:r>
                          <m:r>
                            <a:rPr lang="en-US" altLang="ja-JP" b="0" i="0" smtClean="0">
                              <a:latin typeface="Cambria Math" panose="02040503050406030204" pitchFamily="18" charset="0"/>
                            </a:rPr>
                            <m:t> </m:t>
                          </m:r>
                          <m:r>
                            <a:rPr lang="ja-JP" altLang="en-US" i="1">
                              <a:latin typeface="Cambria Math" panose="02040503050406030204" pitchFamily="18" charset="0"/>
                            </a:rPr>
                            <m:t>𝑖𝑓</m:t>
                          </m:r>
                          <m:r>
                            <a:rPr lang="ja-JP" altLang="en-US" i="0">
                              <a:latin typeface="Cambria Math" panose="02040503050406030204" pitchFamily="18" charset="0"/>
                            </a:rPr>
                            <m:t> </m:t>
                          </m:r>
                          <m:d>
                            <m:dPr>
                              <m:ctrlPr>
                                <a:rPr lang="ja-JP" altLang="en-US" i="1">
                                  <a:solidFill>
                                    <a:srgbClr val="836967"/>
                                  </a:solidFill>
                                  <a:latin typeface="Cambria Math" panose="02040503050406030204" pitchFamily="18" charset="0"/>
                                </a:rPr>
                              </m:ctrlPr>
                            </m:dPr>
                            <m:e>
                              <m:r>
                                <a:rPr lang="ja-JP" altLang="en-US" i="1">
                                  <a:latin typeface="Cambria Math" panose="02040503050406030204" pitchFamily="18" charset="0"/>
                                </a:rPr>
                                <m:t>𝑡</m:t>
                              </m:r>
                              <m:r>
                                <a:rPr lang="ja-JP" altLang="en-US" i="0">
                                  <a:latin typeface="Cambria Math" panose="02040503050406030204" pitchFamily="18" charset="0"/>
                                </a:rPr>
                                <m:t>−</m:t>
                              </m:r>
                              <m:r>
                                <a:rPr lang="ja-JP" altLang="en-US" i="1">
                                  <a:latin typeface="Cambria Math" panose="02040503050406030204" pitchFamily="18" charset="0"/>
                                </a:rPr>
                                <m:t>𝑘</m:t>
                              </m:r>
                            </m:e>
                          </m:d>
                          <m:r>
                            <a:rPr lang="ja-JP" altLang="en-US" i="0">
                              <a:latin typeface="Cambria Math" panose="02040503050406030204" pitchFamily="18" charset="0"/>
                            </a:rPr>
                            <m:t>=</m:t>
                          </m:r>
                          <m:sSub>
                            <m:sSubPr>
                              <m:ctrlPr>
                                <a:rPr lang="ja-JP" altLang="en-US" i="1">
                                  <a:solidFill>
                                    <a:srgbClr val="836967"/>
                                  </a:solidFill>
                                  <a:latin typeface="Cambria Math" panose="02040503050406030204" pitchFamily="18" charset="0"/>
                                </a:rPr>
                              </m:ctrlPr>
                            </m:sSubPr>
                            <m:e>
                              <m:r>
                                <a:rPr lang="ja-JP" altLang="en-US" i="1">
                                  <a:latin typeface="Cambria Math" panose="02040503050406030204" pitchFamily="18" charset="0"/>
                                </a:rPr>
                                <m:t>𝑆</m:t>
                              </m:r>
                            </m:e>
                            <m:sub>
                              <m:r>
                                <a:rPr lang="ja-JP" altLang="en-US" i="1">
                                  <a:latin typeface="Cambria Math" panose="02040503050406030204" pitchFamily="18" charset="0"/>
                                </a:rPr>
                                <m:t>𝑛</m:t>
                              </m:r>
                              <m:r>
                                <a:rPr lang="ja-JP" altLang="en-US" i="0">
                                  <a:latin typeface="Cambria Math" panose="02040503050406030204" pitchFamily="18" charset="0"/>
                                </a:rPr>
                                <m:t> </m:t>
                              </m:r>
                            </m:sub>
                          </m:sSub>
                          <m:r>
                            <a:rPr lang="ja-JP" altLang="en-US" i="0">
                              <a:latin typeface="Cambria Math" panose="02040503050406030204" pitchFamily="18" charset="0"/>
                            </a:rPr>
                            <m:t>#</m:t>
                          </m:r>
                          <m:d>
                            <m:dPr>
                              <m:ctrlPr>
                                <a:rPr lang="ja-JP" altLang="en-US" i="1">
                                  <a:latin typeface="Cambria Math" panose="02040503050406030204" pitchFamily="18" charset="0"/>
                                </a:rPr>
                              </m:ctrlPr>
                            </m:dPr>
                            <m:e>
                              <m:r>
                                <a:rPr lang="en-US" altLang="ja-JP" b="0" i="0" smtClean="0">
                                  <a:latin typeface="Cambria Math" panose="02040503050406030204" pitchFamily="18" charset="0"/>
                                </a:rPr>
                                <m:t>4</m:t>
                              </m:r>
                            </m:e>
                          </m:d>
                        </m:e>
                      </m:eqArr>
                    </m:oMath>
                  </m:oMathPara>
                </a14:m>
                <a:endParaRPr lang="ja-JP" altLang="en-US" dirty="0"/>
              </a:p>
            </p:txBody>
          </p:sp>
        </mc:Choice>
        <mc:Fallback xmlns="">
          <p:sp>
            <p:nvSpPr>
              <p:cNvPr id="4" name="テキスト ボックス 3">
                <a:extLst>
                  <a:ext uri="{FF2B5EF4-FFF2-40B4-BE49-F238E27FC236}">
                    <a16:creationId xmlns:a16="http://schemas.microsoft.com/office/drawing/2014/main" id="{CF39BD62-73B0-31C2-4922-472C658AFA5A}"/>
                  </a:ext>
                </a:extLst>
              </p:cNvPr>
              <p:cNvSpPr txBox="1">
                <a:spLocks noRot="1" noChangeAspect="1" noMove="1" noResize="1" noEditPoints="1" noAdjustHandles="1" noChangeArrowheads="1" noChangeShapeType="1" noTextEdit="1"/>
              </p:cNvSpPr>
              <p:nvPr/>
            </p:nvSpPr>
            <p:spPr>
              <a:xfrm>
                <a:off x="2080158" y="3005475"/>
                <a:ext cx="4960620" cy="860428"/>
              </a:xfrm>
              <a:prstGeom prst="rect">
                <a:avLst/>
              </a:prstGeom>
              <a:blipFill>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8428997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7076FFE9-C1BB-DE12-AC60-5CC1B7621355}"/>
              </a:ext>
            </a:extLst>
          </p:cNvPr>
          <p:cNvSpPr>
            <a:spLocks noGrp="1"/>
          </p:cNvSpPr>
          <p:nvPr>
            <p:ph sz="quarter" idx="16"/>
          </p:nvPr>
        </p:nvSpPr>
        <p:spPr/>
        <p:txBody>
          <a:bodyPr/>
          <a:lstStyle/>
          <a:p>
            <a:r>
              <a:rPr lang="en-US" altLang="ja-JP" dirty="0"/>
              <a:t>3.2.2 Design P2P energy trading model</a:t>
            </a:r>
          </a:p>
        </p:txBody>
      </p:sp>
      <mc:AlternateContent xmlns:mc="http://schemas.openxmlformats.org/markup-compatibility/2006" xmlns:a14="http://schemas.microsoft.com/office/drawing/2010/main">
        <mc:Choice Requires="a14">
          <p:sp>
            <p:nvSpPr>
              <p:cNvPr id="4" name="テキスト ボックス 3">
                <a:extLst>
                  <a:ext uri="{FF2B5EF4-FFF2-40B4-BE49-F238E27FC236}">
                    <a16:creationId xmlns:a16="http://schemas.microsoft.com/office/drawing/2014/main" id="{CAFBCB42-7BCB-59DF-B515-57C59F7B8E6E}"/>
                  </a:ext>
                </a:extLst>
              </p:cNvPr>
              <p:cNvSpPr txBox="1"/>
              <p:nvPr/>
            </p:nvSpPr>
            <p:spPr>
              <a:xfrm>
                <a:off x="1615535" y="812171"/>
                <a:ext cx="6724901" cy="151233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i="1" smtClean="0">
                              <a:solidFill>
                                <a:srgbClr val="836967"/>
                              </a:solidFill>
                              <a:latin typeface="Cambria Math" panose="02040503050406030204" pitchFamily="18" charset="0"/>
                            </a:rPr>
                          </m:ctrlPr>
                        </m:sSubSupPr>
                        <m:e>
                          <m:r>
                            <a:rPr lang="en-US" i="1">
                              <a:latin typeface="Cambria Math" panose="02040503050406030204" pitchFamily="18" charset="0"/>
                            </a:rPr>
                            <m:t>𝑆𝑂𝐶</m:t>
                          </m:r>
                        </m:e>
                        <m:sub>
                          <m:r>
                            <a:rPr lang="en-US" i="1">
                              <a:latin typeface="Cambria Math" panose="02040503050406030204" pitchFamily="18" charset="0"/>
                            </a:rPr>
                            <m:t>𝑡</m:t>
                          </m:r>
                          <m:r>
                            <a:rPr lang="en-US" i="0">
                              <a:latin typeface="Cambria Math" panose="02040503050406030204" pitchFamily="18" charset="0"/>
                            </a:rPr>
                            <m:t>+1,</m:t>
                          </m:r>
                          <m:r>
                            <a:rPr lang="en-US" i="1">
                              <a:latin typeface="Cambria Math" panose="02040503050406030204" pitchFamily="18" charset="0"/>
                            </a:rPr>
                            <m:t>𝑛</m:t>
                          </m:r>
                        </m:sub>
                        <m:sup>
                          <m:r>
                            <a:rPr lang="en-US" i="1">
                              <a:latin typeface="Cambria Math" panose="02040503050406030204" pitchFamily="18" charset="0"/>
                            </a:rPr>
                            <m:t>𝑏𝑎𝑡</m:t>
                          </m:r>
                        </m:sup>
                      </m:sSubSup>
                      <m:r>
                        <a:rPr lang="en-US" i="0">
                          <a:latin typeface="Cambria Math" panose="02040503050406030204" pitchFamily="18" charset="0"/>
                        </a:rPr>
                        <m:t>=</m:t>
                      </m:r>
                      <m:d>
                        <m:dPr>
                          <m:begChr m:val="{"/>
                          <m:endChr m:val=""/>
                          <m:ctrlPr>
                            <a:rPr lang="en-US" i="1">
                              <a:solidFill>
                                <a:srgbClr val="836967"/>
                              </a:solidFill>
                              <a:latin typeface="Cambria Math" panose="02040503050406030204" pitchFamily="18" charset="0"/>
                            </a:rPr>
                          </m:ctrlPr>
                        </m:dPr>
                        <m:e>
                          <m:eqArr>
                            <m:eqArrPr>
                              <m:ctrlPr>
                                <a:rPr lang="en-US" i="1">
                                  <a:solidFill>
                                    <a:srgbClr val="836967"/>
                                  </a:solidFill>
                                  <a:latin typeface="Cambria Math" panose="02040503050406030204" pitchFamily="18" charset="0"/>
                                </a:rPr>
                              </m:ctrlPr>
                            </m:eqArrPr>
                            <m:e>
                              <m:r>
                                <a:rPr lang="en-US" i="0">
                                  <a:latin typeface="Cambria Math" panose="02040503050406030204" pitchFamily="18" charset="0"/>
                                </a:rPr>
                                <m:t>&amp;</m:t>
                              </m:r>
                              <m:eqArr>
                                <m:eqArrPr>
                                  <m:ctrlPr>
                                    <a:rPr lang="en-US" i="1">
                                      <a:solidFill>
                                        <a:srgbClr val="836967"/>
                                      </a:solidFill>
                                      <a:latin typeface="Cambria Math" panose="02040503050406030204" pitchFamily="18" charset="0"/>
                                    </a:rPr>
                                  </m:ctrlPr>
                                </m:eqArrPr>
                                <m:e>
                                  <m:r>
                                    <a:rPr lang="en-US" i="0">
                                      <a:latin typeface="Cambria Math" panose="02040503050406030204" pitchFamily="18" charset="0"/>
                                    </a:rPr>
                                    <m:t>&amp;</m:t>
                                  </m:r>
                                  <m:sSubSup>
                                    <m:sSubSupPr>
                                      <m:ctrlPr>
                                        <a:rPr lang="en-US" i="1">
                                          <a:solidFill>
                                            <a:srgbClr val="836967"/>
                                          </a:solidFill>
                                          <a:latin typeface="Cambria Math" panose="02040503050406030204" pitchFamily="18" charset="0"/>
                                        </a:rPr>
                                      </m:ctrlPr>
                                    </m:sSubSupPr>
                                    <m:e>
                                      <m:r>
                                        <a:rPr lang="en-US" i="1">
                                          <a:latin typeface="Cambria Math" panose="02040503050406030204" pitchFamily="18" charset="0"/>
                                        </a:rPr>
                                        <m:t>𝑆𝑂𝐶</m:t>
                                      </m:r>
                                    </m:e>
                                    <m:sub>
                                      <m:r>
                                        <a:rPr lang="en-US" i="1">
                                          <a:latin typeface="Cambria Math" panose="02040503050406030204" pitchFamily="18" charset="0"/>
                                        </a:rPr>
                                        <m:t>𝑡</m:t>
                                      </m:r>
                                      <m:r>
                                        <a:rPr lang="en-US" i="0">
                                          <a:latin typeface="Cambria Math" panose="02040503050406030204" pitchFamily="18" charset="0"/>
                                        </a:rPr>
                                        <m:t>,</m:t>
                                      </m:r>
                                      <m:r>
                                        <a:rPr lang="en-US" i="1">
                                          <a:latin typeface="Cambria Math" panose="02040503050406030204" pitchFamily="18" charset="0"/>
                                        </a:rPr>
                                        <m:t>𝑛</m:t>
                                      </m:r>
                                    </m:sub>
                                    <m:sup>
                                      <m:r>
                                        <a:rPr lang="en-US" i="1">
                                          <a:latin typeface="Cambria Math" panose="02040503050406030204" pitchFamily="18" charset="0"/>
                                        </a:rPr>
                                        <m:t>𝑏𝑎𝑡</m:t>
                                      </m:r>
                                    </m:sup>
                                  </m:sSubSup>
                                  <m:r>
                                    <a:rPr lang="en-US" i="0">
                                      <a:latin typeface="Cambria Math" panose="02040503050406030204" pitchFamily="18" charset="0"/>
                                    </a:rPr>
                                    <m:t>+</m:t>
                                  </m:r>
                                  <m:f>
                                    <m:fPr>
                                      <m:ctrlPr>
                                        <a:rPr lang="en-US" i="1">
                                          <a:solidFill>
                                            <a:srgbClr val="836967"/>
                                          </a:solidFill>
                                          <a:latin typeface="Cambria Math" panose="02040503050406030204" pitchFamily="18" charset="0"/>
                                        </a:rPr>
                                      </m:ctrlPr>
                                    </m:fPr>
                                    <m:num>
                                      <m:sSubSup>
                                        <m:sSubSupPr>
                                          <m:ctrlPr>
                                            <a:rPr lang="en-US" i="1">
                                              <a:solidFill>
                                                <a:srgbClr val="836967"/>
                                              </a:solidFill>
                                              <a:latin typeface="Cambria Math" panose="02040503050406030204" pitchFamily="18" charset="0"/>
                                            </a:rPr>
                                          </m:ctrlPr>
                                        </m:sSubSupPr>
                                        <m:e>
                                          <m:r>
                                            <a:rPr lang="en-US" i="1">
                                              <a:latin typeface="Cambria Math" panose="02040503050406030204" pitchFamily="18" charset="0"/>
                                            </a:rPr>
                                            <m:t>𝜂</m:t>
                                          </m:r>
                                        </m:e>
                                        <m:sub>
                                          <m:r>
                                            <a:rPr lang="en-US" i="1">
                                              <a:latin typeface="Cambria Math" panose="02040503050406030204" pitchFamily="18" charset="0"/>
                                            </a:rPr>
                                            <m:t>𝑐h</m:t>
                                          </m:r>
                                          <m:r>
                                            <a:rPr lang="en-US" i="0">
                                              <a:latin typeface="Cambria Math" panose="02040503050406030204" pitchFamily="18" charset="0"/>
                                            </a:rPr>
                                            <m:t>,</m:t>
                                          </m:r>
                                          <m:r>
                                            <a:rPr lang="en-US" i="1">
                                              <a:latin typeface="Cambria Math" panose="02040503050406030204" pitchFamily="18" charset="0"/>
                                            </a:rPr>
                                            <m:t>𝑛</m:t>
                                          </m:r>
                                        </m:sub>
                                        <m:sup>
                                          <m:r>
                                            <a:rPr lang="en-US" i="1">
                                              <a:latin typeface="Cambria Math" panose="02040503050406030204" pitchFamily="18" charset="0"/>
                                            </a:rPr>
                                            <m:t>𝑏𝑎𝑡</m:t>
                                          </m:r>
                                        </m:sup>
                                      </m:sSubSup>
                                      <m:r>
                                        <a:rPr lang="en-US" i="0">
                                          <a:latin typeface="Cambria Math" panose="02040503050406030204" pitchFamily="18" charset="0"/>
                                        </a:rPr>
                                        <m:t>･</m:t>
                                      </m:r>
                                      <m:sSubSup>
                                        <m:sSubSupPr>
                                          <m:ctrlPr>
                                            <a:rPr lang="en-US" i="1">
                                              <a:solidFill>
                                                <a:srgbClr val="836967"/>
                                              </a:solidFill>
                                              <a:latin typeface="Cambria Math" panose="02040503050406030204" pitchFamily="18" charset="0"/>
                                            </a:rPr>
                                          </m:ctrlPr>
                                        </m:sSubSupPr>
                                        <m:e>
                                          <m:r>
                                            <a:rPr lang="en-US" i="1">
                                              <a:latin typeface="Cambria Math" panose="02040503050406030204" pitchFamily="18" charset="0"/>
                                            </a:rPr>
                                            <m:t>𝑒</m:t>
                                          </m:r>
                                        </m:e>
                                        <m:sub>
                                          <m:r>
                                            <a:rPr lang="en-US" i="1">
                                              <a:latin typeface="Cambria Math" panose="02040503050406030204" pitchFamily="18" charset="0"/>
                                            </a:rPr>
                                            <m:t>𝑡</m:t>
                                          </m:r>
                                          <m:r>
                                            <a:rPr lang="en-US" i="0">
                                              <a:latin typeface="Cambria Math" panose="02040503050406030204" pitchFamily="18" charset="0"/>
                                            </a:rPr>
                                            <m:t>,</m:t>
                                          </m:r>
                                          <m:r>
                                            <a:rPr lang="en-US" i="1">
                                              <a:latin typeface="Cambria Math" panose="02040503050406030204" pitchFamily="18" charset="0"/>
                                            </a:rPr>
                                            <m:t>𝑛</m:t>
                                          </m:r>
                                        </m:sub>
                                        <m:sup>
                                          <m:r>
                                            <a:rPr lang="en-US" i="1">
                                              <a:latin typeface="Cambria Math" panose="02040503050406030204" pitchFamily="18" charset="0"/>
                                            </a:rPr>
                                            <m:t>𝑏𝑎𝑡</m:t>
                                          </m:r>
                                        </m:sup>
                                      </m:sSubSup>
                                    </m:num>
                                    <m:den>
                                      <m:sSubSup>
                                        <m:sSubSupPr>
                                          <m:ctrlPr>
                                            <a:rPr lang="en-US" i="1">
                                              <a:solidFill>
                                                <a:srgbClr val="836967"/>
                                              </a:solidFill>
                                              <a:latin typeface="Cambria Math" panose="02040503050406030204" pitchFamily="18" charset="0"/>
                                            </a:rPr>
                                          </m:ctrlPr>
                                        </m:sSubSupPr>
                                        <m:e>
                                          <m:r>
                                            <a:rPr lang="en-US" i="1">
                                              <a:latin typeface="Cambria Math" panose="02040503050406030204" pitchFamily="18" charset="0"/>
                                            </a:rPr>
                                            <m:t>𝐶</m:t>
                                          </m:r>
                                        </m:e>
                                        <m:sub>
                                          <m:r>
                                            <a:rPr lang="en-US" i="1">
                                              <a:latin typeface="Cambria Math" panose="02040503050406030204" pitchFamily="18" charset="0"/>
                                            </a:rPr>
                                            <m:t>𝑛</m:t>
                                          </m:r>
                                        </m:sub>
                                        <m:sup>
                                          <m:r>
                                            <a:rPr lang="en-US" i="1">
                                              <a:latin typeface="Cambria Math" panose="02040503050406030204" pitchFamily="18" charset="0"/>
                                            </a:rPr>
                                            <m:t>𝑏𝑎𝑡</m:t>
                                          </m:r>
                                        </m:sup>
                                      </m:sSubSup>
                                    </m:den>
                                  </m:f>
                                  <m:r>
                                    <a:rPr lang="en-US" i="0">
                                      <a:latin typeface="Cambria Math" panose="02040503050406030204" pitchFamily="18" charset="0"/>
                                    </a:rPr>
                                    <m:t>,  </m:t>
                                  </m:r>
                                  <m:r>
                                    <a:rPr lang="en-US" i="1">
                                      <a:latin typeface="Cambria Math" panose="02040503050406030204" pitchFamily="18" charset="0"/>
                                    </a:rPr>
                                    <m:t>𝑖𝑓</m:t>
                                  </m:r>
                                  <m:r>
                                    <a:rPr lang="en-US" i="0">
                                      <a:latin typeface="Cambria Math" panose="02040503050406030204" pitchFamily="18" charset="0"/>
                                    </a:rPr>
                                    <m:t> </m:t>
                                  </m:r>
                                  <m:sSubSup>
                                    <m:sSubSupPr>
                                      <m:ctrlPr>
                                        <a:rPr lang="en-US" i="1">
                                          <a:solidFill>
                                            <a:srgbClr val="836967"/>
                                          </a:solidFill>
                                          <a:latin typeface="Cambria Math" panose="02040503050406030204" pitchFamily="18" charset="0"/>
                                        </a:rPr>
                                      </m:ctrlPr>
                                    </m:sSubSupPr>
                                    <m:e>
                                      <m:r>
                                        <a:rPr lang="en-US" i="1">
                                          <a:latin typeface="Cambria Math" panose="02040503050406030204" pitchFamily="18" charset="0"/>
                                        </a:rPr>
                                        <m:t>𝑒</m:t>
                                      </m:r>
                                    </m:e>
                                    <m:sub>
                                      <m:r>
                                        <a:rPr lang="en-US" i="1">
                                          <a:latin typeface="Cambria Math" panose="02040503050406030204" pitchFamily="18" charset="0"/>
                                        </a:rPr>
                                        <m:t>𝑡</m:t>
                                      </m:r>
                                      <m:r>
                                        <a:rPr lang="en-US" i="0">
                                          <a:latin typeface="Cambria Math" panose="02040503050406030204" pitchFamily="18" charset="0"/>
                                        </a:rPr>
                                        <m:t>,</m:t>
                                      </m:r>
                                      <m:r>
                                        <a:rPr lang="en-US" i="1">
                                          <a:latin typeface="Cambria Math" panose="02040503050406030204" pitchFamily="18" charset="0"/>
                                        </a:rPr>
                                        <m:t>𝑛</m:t>
                                      </m:r>
                                    </m:sub>
                                    <m:sup>
                                      <m:r>
                                        <a:rPr lang="en-US" i="1">
                                          <a:latin typeface="Cambria Math" panose="02040503050406030204" pitchFamily="18" charset="0"/>
                                        </a:rPr>
                                        <m:t>𝑏𝑎𝑡</m:t>
                                      </m:r>
                                    </m:sup>
                                  </m:sSubSup>
                                  <m:r>
                                    <a:rPr lang="en-US" i="0">
                                      <a:latin typeface="Cambria Math" panose="02040503050406030204" pitchFamily="18" charset="0"/>
                                    </a:rPr>
                                    <m:t>≥0</m:t>
                                  </m:r>
                                </m:e>
                                <m:e>
                                  <m:r>
                                    <a:rPr lang="en-US" i="0">
                                      <a:latin typeface="Cambria Math" panose="02040503050406030204" pitchFamily="18" charset="0"/>
                                    </a:rPr>
                                    <m:t>&amp;</m:t>
                                  </m:r>
                                  <m:sSubSup>
                                    <m:sSubSupPr>
                                      <m:ctrlPr>
                                        <a:rPr lang="en-US" i="1">
                                          <a:solidFill>
                                            <a:srgbClr val="836967"/>
                                          </a:solidFill>
                                          <a:latin typeface="Cambria Math" panose="02040503050406030204" pitchFamily="18" charset="0"/>
                                        </a:rPr>
                                      </m:ctrlPr>
                                    </m:sSubSupPr>
                                    <m:e>
                                      <m:r>
                                        <a:rPr lang="en-US" i="1">
                                          <a:latin typeface="Cambria Math" panose="02040503050406030204" pitchFamily="18" charset="0"/>
                                        </a:rPr>
                                        <m:t>𝑆𝑂𝐶</m:t>
                                      </m:r>
                                    </m:e>
                                    <m:sub>
                                      <m:r>
                                        <a:rPr lang="en-US" i="1">
                                          <a:latin typeface="Cambria Math" panose="02040503050406030204" pitchFamily="18" charset="0"/>
                                        </a:rPr>
                                        <m:t>𝑡</m:t>
                                      </m:r>
                                      <m:r>
                                        <a:rPr lang="en-US" i="0">
                                          <a:latin typeface="Cambria Math" panose="02040503050406030204" pitchFamily="18" charset="0"/>
                                        </a:rPr>
                                        <m:t>,</m:t>
                                      </m:r>
                                      <m:r>
                                        <a:rPr lang="en-US" i="1">
                                          <a:latin typeface="Cambria Math" panose="02040503050406030204" pitchFamily="18" charset="0"/>
                                        </a:rPr>
                                        <m:t>𝑛</m:t>
                                      </m:r>
                                    </m:sub>
                                    <m:sup>
                                      <m:r>
                                        <a:rPr lang="en-US" i="1">
                                          <a:latin typeface="Cambria Math" panose="02040503050406030204" pitchFamily="18" charset="0"/>
                                        </a:rPr>
                                        <m:t>𝑏𝑎𝑡</m:t>
                                      </m:r>
                                    </m:sup>
                                  </m:sSubSup>
                                  <m:r>
                                    <a:rPr lang="en-US" i="0">
                                      <a:latin typeface="Cambria Math" panose="02040503050406030204" pitchFamily="18" charset="0"/>
                                    </a:rPr>
                                    <m:t>+</m:t>
                                  </m:r>
                                  <m:f>
                                    <m:fPr>
                                      <m:ctrlPr>
                                        <a:rPr lang="en-US" i="1">
                                          <a:solidFill>
                                            <a:srgbClr val="836967"/>
                                          </a:solidFill>
                                          <a:latin typeface="Cambria Math" panose="02040503050406030204" pitchFamily="18" charset="0"/>
                                        </a:rPr>
                                      </m:ctrlPr>
                                    </m:fPr>
                                    <m:num>
                                      <m:sSubSup>
                                        <m:sSubSupPr>
                                          <m:ctrlPr>
                                            <a:rPr lang="en-US" i="1">
                                              <a:solidFill>
                                                <a:srgbClr val="836967"/>
                                              </a:solidFill>
                                              <a:latin typeface="Cambria Math" panose="02040503050406030204" pitchFamily="18" charset="0"/>
                                            </a:rPr>
                                          </m:ctrlPr>
                                        </m:sSubSupPr>
                                        <m:e>
                                          <m:r>
                                            <a:rPr lang="en-US" i="1">
                                              <a:latin typeface="Cambria Math" panose="02040503050406030204" pitchFamily="18" charset="0"/>
                                            </a:rPr>
                                            <m:t>𝑒</m:t>
                                          </m:r>
                                        </m:e>
                                        <m:sub>
                                          <m:r>
                                            <a:rPr lang="en-US" i="1">
                                              <a:latin typeface="Cambria Math" panose="02040503050406030204" pitchFamily="18" charset="0"/>
                                            </a:rPr>
                                            <m:t>𝑡</m:t>
                                          </m:r>
                                          <m:r>
                                            <a:rPr lang="en-US" i="0">
                                              <a:latin typeface="Cambria Math" panose="02040503050406030204" pitchFamily="18" charset="0"/>
                                            </a:rPr>
                                            <m:t>,</m:t>
                                          </m:r>
                                          <m:r>
                                            <a:rPr lang="en-US" i="1">
                                              <a:latin typeface="Cambria Math" panose="02040503050406030204" pitchFamily="18" charset="0"/>
                                            </a:rPr>
                                            <m:t>𝑛</m:t>
                                          </m:r>
                                        </m:sub>
                                        <m:sup>
                                          <m:r>
                                            <a:rPr lang="en-US" i="1">
                                              <a:latin typeface="Cambria Math" panose="02040503050406030204" pitchFamily="18" charset="0"/>
                                            </a:rPr>
                                            <m:t>𝑏𝑎𝑡</m:t>
                                          </m:r>
                                        </m:sup>
                                      </m:sSubSup>
                                    </m:num>
                                    <m:den>
                                      <m:sSubSup>
                                        <m:sSubSupPr>
                                          <m:ctrlPr>
                                            <a:rPr lang="en-US" i="1">
                                              <a:solidFill>
                                                <a:srgbClr val="836967"/>
                                              </a:solidFill>
                                              <a:latin typeface="Cambria Math" panose="02040503050406030204" pitchFamily="18" charset="0"/>
                                            </a:rPr>
                                          </m:ctrlPr>
                                        </m:sSubSupPr>
                                        <m:e>
                                          <m:sSubSup>
                                            <m:sSubSupPr>
                                              <m:ctrlPr>
                                                <a:rPr lang="en-US" i="1">
                                                  <a:solidFill>
                                                    <a:srgbClr val="836967"/>
                                                  </a:solidFill>
                                                  <a:latin typeface="Cambria Math" panose="02040503050406030204" pitchFamily="18" charset="0"/>
                                                </a:rPr>
                                              </m:ctrlPr>
                                            </m:sSubSupPr>
                                            <m:e>
                                              <m:r>
                                                <a:rPr lang="en-US" i="1">
                                                  <a:latin typeface="Cambria Math" panose="02040503050406030204" pitchFamily="18" charset="0"/>
                                                </a:rPr>
                                                <m:t>𝜂</m:t>
                                              </m:r>
                                            </m:e>
                                            <m:sub>
                                              <m:r>
                                                <a:rPr lang="en-US" i="1">
                                                  <a:latin typeface="Cambria Math" panose="02040503050406030204" pitchFamily="18" charset="0"/>
                                                </a:rPr>
                                                <m:t>𝑑𝑖𝑠𝑐h</m:t>
                                              </m:r>
                                              <m:r>
                                                <a:rPr lang="en-US" i="0">
                                                  <a:latin typeface="Cambria Math" panose="02040503050406030204" pitchFamily="18" charset="0"/>
                                                </a:rPr>
                                                <m:t>,</m:t>
                                              </m:r>
                                              <m:r>
                                                <a:rPr lang="en-US" i="1">
                                                  <a:latin typeface="Cambria Math" panose="02040503050406030204" pitchFamily="18" charset="0"/>
                                                </a:rPr>
                                                <m:t>𝑛</m:t>
                                              </m:r>
                                            </m:sub>
                                            <m:sup>
                                              <m:r>
                                                <a:rPr lang="en-US" i="1">
                                                  <a:latin typeface="Cambria Math" panose="02040503050406030204" pitchFamily="18" charset="0"/>
                                                </a:rPr>
                                                <m:t>𝑏𝑎𝑡</m:t>
                                              </m:r>
                                            </m:sup>
                                          </m:sSubSup>
                                          <m:r>
                                            <a:rPr lang="en-US" i="0">
                                              <a:latin typeface="Cambria Math" panose="02040503050406030204" pitchFamily="18" charset="0"/>
                                            </a:rPr>
                                            <m:t>･</m:t>
                                          </m:r>
                                          <m:r>
                                            <a:rPr lang="en-US" i="1">
                                              <a:latin typeface="Cambria Math" panose="02040503050406030204" pitchFamily="18" charset="0"/>
                                            </a:rPr>
                                            <m:t>𝐶</m:t>
                                          </m:r>
                                        </m:e>
                                        <m:sub>
                                          <m:r>
                                            <a:rPr lang="en-US" i="1">
                                              <a:latin typeface="Cambria Math" panose="02040503050406030204" pitchFamily="18" charset="0"/>
                                            </a:rPr>
                                            <m:t>𝑛</m:t>
                                          </m:r>
                                        </m:sub>
                                        <m:sup>
                                          <m:r>
                                            <a:rPr lang="en-US" i="1">
                                              <a:latin typeface="Cambria Math" panose="02040503050406030204" pitchFamily="18" charset="0"/>
                                            </a:rPr>
                                            <m:t>𝑏𝑎𝑡</m:t>
                                          </m:r>
                                        </m:sup>
                                      </m:sSubSup>
                                    </m:den>
                                  </m:f>
                                  <m:r>
                                    <a:rPr lang="en-US" i="0">
                                      <a:latin typeface="Cambria Math" panose="02040503050406030204" pitchFamily="18" charset="0"/>
                                    </a:rPr>
                                    <m:t>,  </m:t>
                                  </m:r>
                                  <m:r>
                                    <a:rPr lang="en-US" i="1">
                                      <a:latin typeface="Cambria Math" panose="02040503050406030204" pitchFamily="18" charset="0"/>
                                    </a:rPr>
                                    <m:t>𝑜𝑡h𝑒𝑟𝑒𝑖𝑠𝑒</m:t>
                                  </m:r>
                                </m:e>
                              </m:eqArr>
                              <m:r>
                                <a:rPr lang="en-US" i="0">
                                  <a:latin typeface="Cambria Math" panose="02040503050406030204" pitchFamily="18" charset="0"/>
                                </a:rPr>
                                <m:t>#</m:t>
                              </m:r>
                              <m:d>
                                <m:dPr>
                                  <m:ctrlPr>
                                    <a:rPr lang="en-US" i="1">
                                      <a:latin typeface="Cambria Math" panose="02040503050406030204" pitchFamily="18" charset="0"/>
                                    </a:rPr>
                                  </m:ctrlPr>
                                </m:dPr>
                                <m:e>
                                  <m:r>
                                    <a:rPr lang="en-US" b="0" i="0" smtClean="0">
                                      <a:latin typeface="Cambria Math" panose="02040503050406030204" pitchFamily="18" charset="0"/>
                                    </a:rPr>
                                    <m:t>5</m:t>
                                  </m:r>
                                </m:e>
                              </m:d>
                            </m:e>
                          </m:eqArr>
                        </m:e>
                      </m:d>
                    </m:oMath>
                  </m:oMathPara>
                </a14:m>
                <a:endParaRPr lang="en-US" dirty="0"/>
              </a:p>
            </p:txBody>
          </p:sp>
        </mc:Choice>
        <mc:Fallback xmlns="">
          <p:sp>
            <p:nvSpPr>
              <p:cNvPr id="4" name="テキスト ボックス 3">
                <a:extLst>
                  <a:ext uri="{FF2B5EF4-FFF2-40B4-BE49-F238E27FC236}">
                    <a16:creationId xmlns:a16="http://schemas.microsoft.com/office/drawing/2014/main" id="{CAFBCB42-7BCB-59DF-B515-57C59F7B8E6E}"/>
                  </a:ext>
                </a:extLst>
              </p:cNvPr>
              <p:cNvSpPr txBox="1">
                <a:spLocks noRot="1" noChangeAspect="1" noMove="1" noResize="1" noEditPoints="1" noAdjustHandles="1" noChangeArrowheads="1" noChangeShapeType="1" noTextEdit="1"/>
              </p:cNvSpPr>
              <p:nvPr/>
            </p:nvSpPr>
            <p:spPr>
              <a:xfrm>
                <a:off x="1615535" y="812171"/>
                <a:ext cx="6724901" cy="1512337"/>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8" name="表 7">
                <a:extLst>
                  <a:ext uri="{FF2B5EF4-FFF2-40B4-BE49-F238E27FC236}">
                    <a16:creationId xmlns:a16="http://schemas.microsoft.com/office/drawing/2014/main" id="{D017494D-82DD-78E0-B5AC-3B80E120A436}"/>
                  </a:ext>
                </a:extLst>
              </p:cNvPr>
              <p:cNvGraphicFramePr>
                <a:graphicFrameLocks noGrp="1"/>
              </p:cNvGraphicFramePr>
              <p:nvPr>
                <p:extLst>
                  <p:ext uri="{D42A27DB-BD31-4B8C-83A1-F6EECF244321}">
                    <p14:modId xmlns:p14="http://schemas.microsoft.com/office/powerpoint/2010/main" val="4217962228"/>
                  </p:ext>
                </p:extLst>
              </p:nvPr>
            </p:nvGraphicFramePr>
            <p:xfrm>
              <a:off x="1615535" y="2386251"/>
              <a:ext cx="8142511" cy="2681845"/>
            </p:xfrm>
            <a:graphic>
              <a:graphicData uri="http://schemas.openxmlformats.org/drawingml/2006/table">
                <a:tbl>
                  <a:tblPr bandRow="1">
                    <a:tableStyleId>{5C22544A-7EE6-4342-B048-85BDC9FD1C3A}</a:tableStyleId>
                  </a:tblPr>
                  <a:tblGrid>
                    <a:gridCol w="1159822">
                      <a:extLst>
                        <a:ext uri="{9D8B030D-6E8A-4147-A177-3AD203B41FA5}">
                          <a16:colId xmlns:a16="http://schemas.microsoft.com/office/drawing/2014/main" val="2815638221"/>
                        </a:ext>
                      </a:extLst>
                    </a:gridCol>
                    <a:gridCol w="273133">
                      <a:extLst>
                        <a:ext uri="{9D8B030D-6E8A-4147-A177-3AD203B41FA5}">
                          <a16:colId xmlns:a16="http://schemas.microsoft.com/office/drawing/2014/main" val="3280904105"/>
                        </a:ext>
                      </a:extLst>
                    </a:gridCol>
                    <a:gridCol w="6709556">
                      <a:extLst>
                        <a:ext uri="{9D8B030D-6E8A-4147-A177-3AD203B41FA5}">
                          <a16:colId xmlns:a16="http://schemas.microsoft.com/office/drawing/2014/main" val="2064586492"/>
                        </a:ext>
                      </a:extLst>
                    </a:gridCol>
                  </a:tblGrid>
                  <a:tr h="536369">
                    <a:tc>
                      <a:txBody>
                        <a:bodyPr/>
                        <a:lstStyle/>
                        <a:p>
                          <a:pPr/>
                          <a14:m>
                            <m:oMathPara xmlns:m="http://schemas.openxmlformats.org/officeDocument/2006/math">
                              <m:oMathParaPr>
                                <m:jc m:val="left"/>
                              </m:oMathParaPr>
                              <m:oMath xmlns:m="http://schemas.openxmlformats.org/officeDocument/2006/math">
                                <m:sSubSup>
                                  <m:sSubSupPr>
                                    <m:ctrlPr>
                                      <a:rPr lang="en-US" sz="1350" i="1" kern="1200" smtClean="0">
                                        <a:solidFill>
                                          <a:schemeClr val="dk1"/>
                                        </a:solidFill>
                                        <a:effectLst/>
                                        <a:latin typeface="Cambria Math" panose="02040503050406030204" pitchFamily="18" charset="0"/>
                                        <a:ea typeface="+mn-ea"/>
                                        <a:cs typeface="+mn-cs"/>
                                      </a:rPr>
                                    </m:ctrlPr>
                                  </m:sSubSupPr>
                                  <m:e>
                                    <m:r>
                                      <a:rPr lang="en-US" sz="1350" i="1" kern="1200">
                                        <a:solidFill>
                                          <a:schemeClr val="dk1"/>
                                        </a:solidFill>
                                        <a:effectLst/>
                                        <a:latin typeface="Cambria Math" panose="02040503050406030204" pitchFamily="18" charset="0"/>
                                        <a:ea typeface="+mn-ea"/>
                                        <a:cs typeface="+mn-cs"/>
                                      </a:rPr>
                                      <m:t>𝑆𝑂𝐶</m:t>
                                    </m:r>
                                  </m:e>
                                  <m:sub>
                                    <m:r>
                                      <a:rPr lang="en-US" sz="1350" i="1" kern="1200">
                                        <a:solidFill>
                                          <a:schemeClr val="dk1"/>
                                        </a:solidFill>
                                        <a:effectLst/>
                                        <a:latin typeface="Cambria Math" panose="02040503050406030204" pitchFamily="18" charset="0"/>
                                        <a:ea typeface="+mn-ea"/>
                                        <a:cs typeface="+mn-cs"/>
                                      </a:rPr>
                                      <m:t>𝑡</m:t>
                                    </m:r>
                                    <m:r>
                                      <a:rPr lang="en-US" sz="1350" i="1" kern="1200">
                                        <a:solidFill>
                                          <a:schemeClr val="dk1"/>
                                        </a:solidFill>
                                        <a:effectLst/>
                                        <a:latin typeface="Cambria Math" panose="02040503050406030204" pitchFamily="18" charset="0"/>
                                        <a:ea typeface="+mn-ea"/>
                                        <a:cs typeface="+mn-cs"/>
                                      </a:rPr>
                                      <m:t>,</m:t>
                                    </m:r>
                                    <m:r>
                                      <a:rPr lang="en-US" sz="1350" i="1" kern="1200">
                                        <a:solidFill>
                                          <a:schemeClr val="dk1"/>
                                        </a:solidFill>
                                        <a:effectLst/>
                                        <a:latin typeface="Cambria Math" panose="02040503050406030204" pitchFamily="18" charset="0"/>
                                        <a:ea typeface="+mn-ea"/>
                                        <a:cs typeface="+mn-cs"/>
                                      </a:rPr>
                                      <m:t>𝑛</m:t>
                                    </m:r>
                                  </m:sub>
                                  <m:sup>
                                    <m:r>
                                      <a:rPr lang="en-US" sz="1350" i="1" kern="1200">
                                        <a:solidFill>
                                          <a:schemeClr val="dk1"/>
                                        </a:solidFill>
                                        <a:effectLst/>
                                        <a:latin typeface="Cambria Math" panose="02040503050406030204" pitchFamily="18" charset="0"/>
                                        <a:ea typeface="+mn-ea"/>
                                        <a:cs typeface="+mn-cs"/>
                                      </a:rPr>
                                      <m:t>𝑏𝑎𝑡</m:t>
                                    </m:r>
                                  </m:sup>
                                </m:sSubSup>
                              </m:oMath>
                            </m:oMathPara>
                          </a14:m>
                          <a:endParaRPr lang="en-US" sz="1600" dirty="0"/>
                        </a:p>
                      </a:txBody>
                      <a:tcPr>
                        <a:no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600" dirty="0"/>
                            <a:t>:</a:t>
                          </a:r>
                        </a:p>
                      </a:txBody>
                      <a:tcPr>
                        <a:noFill/>
                      </a:tcPr>
                    </a:tc>
                    <a:tc>
                      <a:txBody>
                        <a:bodyPr/>
                        <a:lstStyle/>
                        <a:p>
                          <a:r>
                            <a:rPr lang="en-US" altLang="ja-JP" sz="1600" dirty="0"/>
                            <a:t>State of charge of battery[-] </a:t>
                          </a:r>
                          <a:r>
                            <a:rPr lang="en-US" sz="1600" dirty="0"/>
                            <a:t>at timeslot </a:t>
                          </a:r>
                          <a14:m>
                            <m:oMath xmlns:m="http://schemas.openxmlformats.org/officeDocument/2006/math">
                              <m:r>
                                <a:rPr lang="en-US" altLang="ja-JP" sz="1600" b="0" i="1" smtClean="0">
                                  <a:latin typeface="Cambria Math" panose="02040503050406030204" pitchFamily="18" charset="0"/>
                                </a:rPr>
                                <m:t>𝑡</m:t>
                              </m:r>
                            </m:oMath>
                          </a14:m>
                          <a:r>
                            <a:rPr lang="en-US" altLang="ja-JP" sz="1600" dirty="0"/>
                            <a:t> of</a:t>
                          </a:r>
                          <a:r>
                            <a:rPr lang="en-US" altLang="ja-JP" sz="1600" baseline="0" dirty="0"/>
                            <a:t> agent </a:t>
                          </a:r>
                          <a14:m>
                            <m:oMath xmlns:m="http://schemas.openxmlformats.org/officeDocument/2006/math">
                              <m:r>
                                <a:rPr lang="en-US" altLang="ja-JP" sz="1600" b="0" i="1" smtClean="0">
                                  <a:latin typeface="Cambria Math" panose="02040503050406030204" pitchFamily="18" charset="0"/>
                                </a:rPr>
                                <m:t>𝑛</m:t>
                              </m:r>
                            </m:oMath>
                          </a14:m>
                          <a:endParaRPr lang="en-US" sz="1600" dirty="0"/>
                        </a:p>
                      </a:txBody>
                      <a:tcPr>
                        <a:noFill/>
                      </a:tcPr>
                    </a:tc>
                    <a:extLst>
                      <a:ext uri="{0D108BD9-81ED-4DB2-BD59-A6C34878D82A}">
                        <a16:rowId xmlns:a16="http://schemas.microsoft.com/office/drawing/2014/main" val="2567745939"/>
                      </a:ext>
                    </a:extLst>
                  </a:tr>
                  <a:tr h="536369">
                    <a:tc>
                      <a:txBody>
                        <a:bodyPr/>
                        <a:lstStyle/>
                        <a:p>
                          <a:pPr/>
                          <a14:m>
                            <m:oMathPara xmlns:m="http://schemas.openxmlformats.org/officeDocument/2006/math">
                              <m:oMathParaPr>
                                <m:jc m:val="left"/>
                              </m:oMathParaPr>
                              <m:oMath xmlns:m="http://schemas.openxmlformats.org/officeDocument/2006/math">
                                <m:sSubSup>
                                  <m:sSubSupPr>
                                    <m:ctrlPr>
                                      <a:rPr lang="en-US" sz="1600" i="1" smtClean="0">
                                        <a:solidFill>
                                          <a:srgbClr val="836967"/>
                                        </a:solidFill>
                                        <a:latin typeface="Cambria Math" panose="02040503050406030204" pitchFamily="18" charset="0"/>
                                      </a:rPr>
                                    </m:ctrlPr>
                                  </m:sSubSupPr>
                                  <m:e>
                                    <m:r>
                                      <a:rPr lang="en-US" sz="1600" i="1">
                                        <a:latin typeface="Cambria Math" panose="02040503050406030204" pitchFamily="18" charset="0"/>
                                      </a:rPr>
                                      <m:t>𝜂</m:t>
                                    </m:r>
                                  </m:e>
                                  <m:sub>
                                    <m:r>
                                      <a:rPr lang="en-US" sz="1600" i="1">
                                        <a:latin typeface="Cambria Math" panose="02040503050406030204" pitchFamily="18" charset="0"/>
                                      </a:rPr>
                                      <m:t>𝑐h</m:t>
                                    </m:r>
                                    <m:r>
                                      <a:rPr lang="en-US" sz="1600" i="0">
                                        <a:latin typeface="Cambria Math" panose="02040503050406030204" pitchFamily="18" charset="0"/>
                                      </a:rPr>
                                      <m:t>,</m:t>
                                    </m:r>
                                    <m:r>
                                      <a:rPr lang="en-US" sz="1600" i="1">
                                        <a:latin typeface="Cambria Math" panose="02040503050406030204" pitchFamily="18" charset="0"/>
                                      </a:rPr>
                                      <m:t>𝑛</m:t>
                                    </m:r>
                                  </m:sub>
                                  <m:sup>
                                    <m:r>
                                      <a:rPr lang="en-US" sz="1600" i="1">
                                        <a:latin typeface="Cambria Math" panose="02040503050406030204" pitchFamily="18" charset="0"/>
                                      </a:rPr>
                                      <m:t>𝑏𝑎𝑡</m:t>
                                    </m:r>
                                  </m:sup>
                                </m:sSubSup>
                              </m:oMath>
                            </m:oMathPara>
                          </a14:m>
                          <a:endParaRPr lang="en-US" sz="1600" dirty="0"/>
                        </a:p>
                      </a:txBody>
                      <a:tcPr>
                        <a:noFill/>
                      </a:tcPr>
                    </a:tc>
                    <a:tc>
                      <a:txBody>
                        <a:bodyPr/>
                        <a:lstStyle/>
                        <a:p>
                          <a:r>
                            <a:rPr lang="en-US" sz="1600" dirty="0"/>
                            <a:t>:</a:t>
                          </a:r>
                        </a:p>
                      </a:txBody>
                      <a:tcPr>
                        <a:noFill/>
                      </a:tcPr>
                    </a:tc>
                    <a:tc>
                      <a:txBody>
                        <a:bodyPr/>
                        <a:lstStyle/>
                        <a:p>
                          <a:r>
                            <a:rPr lang="en-US" sz="1600" dirty="0"/>
                            <a:t>Charging efficiency </a:t>
                          </a:r>
                          <a:r>
                            <a:rPr lang="en-US" altLang="ja-JP" sz="1600" dirty="0"/>
                            <a:t>of battery of agent </a:t>
                          </a:r>
                          <a14:m>
                            <m:oMath xmlns:m="http://schemas.openxmlformats.org/officeDocument/2006/math">
                              <m:r>
                                <a:rPr lang="en-US" altLang="ja-JP" sz="1600" b="0" i="1" smtClean="0">
                                  <a:latin typeface="Cambria Math" panose="02040503050406030204" pitchFamily="18" charset="0"/>
                                </a:rPr>
                                <m:t>𝑛</m:t>
                              </m:r>
                            </m:oMath>
                          </a14:m>
                          <a:endParaRPr lang="en-US" sz="1600" dirty="0"/>
                        </a:p>
                      </a:txBody>
                      <a:tcPr>
                        <a:noFill/>
                      </a:tcPr>
                    </a:tc>
                    <a:extLst>
                      <a:ext uri="{0D108BD9-81ED-4DB2-BD59-A6C34878D82A}">
                        <a16:rowId xmlns:a16="http://schemas.microsoft.com/office/drawing/2014/main" val="1172270262"/>
                      </a:ext>
                    </a:extLst>
                  </a:tr>
                  <a:tr h="536369">
                    <a:tc>
                      <a:txBody>
                        <a:bodyPr/>
                        <a:lstStyle/>
                        <a:p>
                          <a:pPr/>
                          <a14:m>
                            <m:oMathPara xmlns:m="http://schemas.openxmlformats.org/officeDocument/2006/math">
                              <m:oMathParaPr>
                                <m:jc m:val="left"/>
                              </m:oMathParaPr>
                              <m:oMath xmlns:m="http://schemas.openxmlformats.org/officeDocument/2006/math">
                                <m:sSubSup>
                                  <m:sSubSupPr>
                                    <m:ctrlPr>
                                      <a:rPr lang="en-US" sz="1600" i="1" smtClean="0">
                                        <a:solidFill>
                                          <a:srgbClr val="836967"/>
                                        </a:solidFill>
                                        <a:latin typeface="Cambria Math" panose="02040503050406030204" pitchFamily="18" charset="0"/>
                                      </a:rPr>
                                    </m:ctrlPr>
                                  </m:sSubSupPr>
                                  <m:e>
                                    <m:r>
                                      <a:rPr lang="en-US" sz="1600" i="1">
                                        <a:latin typeface="Cambria Math" panose="02040503050406030204" pitchFamily="18" charset="0"/>
                                      </a:rPr>
                                      <m:t>𝜂</m:t>
                                    </m:r>
                                  </m:e>
                                  <m:sub>
                                    <m:r>
                                      <a:rPr lang="en-US" sz="1600" i="1">
                                        <a:latin typeface="Cambria Math" panose="02040503050406030204" pitchFamily="18" charset="0"/>
                                      </a:rPr>
                                      <m:t>𝑑𝑖𝑠𝑐h</m:t>
                                    </m:r>
                                    <m:r>
                                      <a:rPr lang="en-US" sz="1600" i="0">
                                        <a:latin typeface="Cambria Math" panose="02040503050406030204" pitchFamily="18" charset="0"/>
                                      </a:rPr>
                                      <m:t>,</m:t>
                                    </m:r>
                                    <m:r>
                                      <a:rPr lang="en-US" sz="1600" i="1">
                                        <a:latin typeface="Cambria Math" panose="02040503050406030204" pitchFamily="18" charset="0"/>
                                      </a:rPr>
                                      <m:t>𝑛</m:t>
                                    </m:r>
                                  </m:sub>
                                  <m:sup>
                                    <m:r>
                                      <a:rPr lang="en-US" sz="1600" i="1">
                                        <a:latin typeface="Cambria Math" panose="02040503050406030204" pitchFamily="18" charset="0"/>
                                      </a:rPr>
                                      <m:t>𝑏𝑎𝑡</m:t>
                                    </m:r>
                                  </m:sup>
                                </m:sSubSup>
                              </m:oMath>
                            </m:oMathPara>
                          </a14:m>
                          <a:endParaRPr lang="en-US" sz="1600" dirty="0"/>
                        </a:p>
                      </a:txBody>
                      <a:tcPr>
                        <a:noFill/>
                      </a:tcPr>
                    </a:tc>
                    <a:tc>
                      <a:txBody>
                        <a:bodyPr/>
                        <a:lstStyle/>
                        <a:p>
                          <a:r>
                            <a:rPr lang="en-US" sz="1600" dirty="0"/>
                            <a:t>:</a:t>
                          </a:r>
                        </a:p>
                      </a:txBody>
                      <a:tcPr>
                        <a:noFill/>
                      </a:tcPr>
                    </a:tc>
                    <a:tc>
                      <a:txBody>
                        <a:bodyPr/>
                        <a:lstStyle/>
                        <a:p>
                          <a:r>
                            <a:rPr lang="en-US" sz="1600" dirty="0"/>
                            <a:t>Discharging efficiency </a:t>
                          </a:r>
                          <a:r>
                            <a:rPr lang="en-US" altLang="ja-JP" sz="1600" dirty="0"/>
                            <a:t>of battery of agent </a:t>
                          </a:r>
                          <a14:m>
                            <m:oMath xmlns:m="http://schemas.openxmlformats.org/officeDocument/2006/math">
                              <m:r>
                                <a:rPr lang="en-US" altLang="ja-JP" sz="1600" b="0" i="1" smtClean="0">
                                  <a:latin typeface="Cambria Math" panose="02040503050406030204" pitchFamily="18" charset="0"/>
                                </a:rPr>
                                <m:t>𝑛</m:t>
                              </m:r>
                            </m:oMath>
                          </a14:m>
                          <a:endParaRPr lang="en-US" sz="1600" dirty="0"/>
                        </a:p>
                      </a:txBody>
                      <a:tcPr>
                        <a:noFill/>
                      </a:tcPr>
                    </a:tc>
                    <a:extLst>
                      <a:ext uri="{0D108BD9-81ED-4DB2-BD59-A6C34878D82A}">
                        <a16:rowId xmlns:a16="http://schemas.microsoft.com/office/drawing/2014/main" val="4272089726"/>
                      </a:ext>
                    </a:extLst>
                  </a:tr>
                  <a:tr h="536369">
                    <a:tc>
                      <a:txBody>
                        <a:bodyPr/>
                        <a:lstStyle/>
                        <a:p>
                          <a:pPr/>
                          <a14:m>
                            <m:oMathPara xmlns:m="http://schemas.openxmlformats.org/officeDocument/2006/math">
                              <m:oMathParaPr>
                                <m:jc m:val="left"/>
                              </m:oMathParaPr>
                              <m:oMath xmlns:m="http://schemas.openxmlformats.org/officeDocument/2006/math">
                                <m:sSubSup>
                                  <m:sSubSupPr>
                                    <m:ctrlPr>
                                      <a:rPr lang="en-US" sz="1600" i="1" smtClean="0">
                                        <a:solidFill>
                                          <a:srgbClr val="836967"/>
                                        </a:solidFill>
                                        <a:latin typeface="Cambria Math" panose="02040503050406030204" pitchFamily="18" charset="0"/>
                                      </a:rPr>
                                    </m:ctrlPr>
                                  </m:sSubSupPr>
                                  <m:e>
                                    <m:r>
                                      <a:rPr lang="en-US" sz="1600" i="1">
                                        <a:latin typeface="Cambria Math" panose="02040503050406030204" pitchFamily="18" charset="0"/>
                                      </a:rPr>
                                      <m:t>𝐶</m:t>
                                    </m:r>
                                  </m:e>
                                  <m:sub>
                                    <m:r>
                                      <a:rPr lang="en-US" sz="1600" i="1">
                                        <a:latin typeface="Cambria Math" panose="02040503050406030204" pitchFamily="18" charset="0"/>
                                      </a:rPr>
                                      <m:t>𝑛</m:t>
                                    </m:r>
                                  </m:sub>
                                  <m:sup>
                                    <m:r>
                                      <a:rPr lang="en-US" sz="1600" i="1">
                                        <a:latin typeface="Cambria Math" panose="02040503050406030204" pitchFamily="18" charset="0"/>
                                      </a:rPr>
                                      <m:t>𝑏𝑎𝑡</m:t>
                                    </m:r>
                                  </m:sup>
                                </m:sSubSup>
                              </m:oMath>
                            </m:oMathPara>
                          </a14:m>
                          <a:endParaRPr lang="en-US" sz="1600" dirty="0"/>
                        </a:p>
                      </a:txBody>
                      <a:tcPr>
                        <a:noFill/>
                      </a:tcPr>
                    </a:tc>
                    <a:tc>
                      <a:txBody>
                        <a:bodyPr/>
                        <a:lstStyle/>
                        <a:p>
                          <a:r>
                            <a:rPr lang="en-US" sz="1600" dirty="0"/>
                            <a:t>:</a:t>
                          </a:r>
                        </a:p>
                      </a:txBody>
                      <a:tcPr>
                        <a:noFill/>
                      </a:tcPr>
                    </a:tc>
                    <a:tc>
                      <a:txBody>
                        <a:bodyPr/>
                        <a:lstStyle/>
                        <a:p>
                          <a:r>
                            <a:rPr lang="en-US" sz="1600" dirty="0"/>
                            <a:t>Battery</a:t>
                          </a:r>
                          <a:r>
                            <a:rPr lang="ja-JP" altLang="en-US" sz="1600" dirty="0"/>
                            <a:t> </a:t>
                          </a:r>
                          <a:r>
                            <a:rPr lang="en-US" altLang="ja-JP" sz="1600" dirty="0"/>
                            <a:t>capacity of battery of agent </a:t>
                          </a:r>
                          <a14:m>
                            <m:oMath xmlns:m="http://schemas.openxmlformats.org/officeDocument/2006/math">
                              <m:r>
                                <a:rPr lang="en-US" altLang="ja-JP" sz="1600" b="0" i="1" smtClean="0">
                                  <a:latin typeface="Cambria Math" panose="02040503050406030204" pitchFamily="18" charset="0"/>
                                </a:rPr>
                                <m:t>𝑛</m:t>
                              </m:r>
                            </m:oMath>
                          </a14:m>
                          <a:endParaRPr lang="en-US" sz="1600" dirty="0"/>
                        </a:p>
                      </a:txBody>
                      <a:tcPr>
                        <a:noFill/>
                      </a:tcPr>
                    </a:tc>
                    <a:extLst>
                      <a:ext uri="{0D108BD9-81ED-4DB2-BD59-A6C34878D82A}">
                        <a16:rowId xmlns:a16="http://schemas.microsoft.com/office/drawing/2014/main" val="199082574"/>
                      </a:ext>
                    </a:extLst>
                  </a:tr>
                  <a:tr h="536369">
                    <a:tc>
                      <a:txBody>
                        <a:bodyPr/>
                        <a:lstStyle/>
                        <a:p>
                          <a:endParaRPr lang="en-US" sz="1600" dirty="0"/>
                        </a:p>
                      </a:txBody>
                      <a:tcPr>
                        <a:noFill/>
                      </a:tcPr>
                    </a:tc>
                    <a:tc>
                      <a:txBody>
                        <a:bodyPr/>
                        <a:lstStyle/>
                        <a:p>
                          <a:endParaRPr lang="en-US" sz="1600" dirty="0"/>
                        </a:p>
                      </a:txBody>
                      <a:tcPr>
                        <a:noFill/>
                      </a:tcPr>
                    </a:tc>
                    <a:tc>
                      <a:txBody>
                        <a:bodyPr/>
                        <a:lstStyle/>
                        <a:p>
                          <a:endParaRPr lang="en-US" sz="1600" dirty="0"/>
                        </a:p>
                      </a:txBody>
                      <a:tcPr>
                        <a:noFill/>
                      </a:tcPr>
                    </a:tc>
                    <a:extLst>
                      <a:ext uri="{0D108BD9-81ED-4DB2-BD59-A6C34878D82A}">
                        <a16:rowId xmlns:a16="http://schemas.microsoft.com/office/drawing/2014/main" val="938949808"/>
                      </a:ext>
                    </a:extLst>
                  </a:tr>
                </a:tbl>
              </a:graphicData>
            </a:graphic>
          </p:graphicFrame>
        </mc:Choice>
        <mc:Fallback xmlns="">
          <p:graphicFrame>
            <p:nvGraphicFramePr>
              <p:cNvPr id="8" name="表 7">
                <a:extLst>
                  <a:ext uri="{FF2B5EF4-FFF2-40B4-BE49-F238E27FC236}">
                    <a16:creationId xmlns:a16="http://schemas.microsoft.com/office/drawing/2014/main" id="{D017494D-82DD-78E0-B5AC-3B80E120A436}"/>
                  </a:ext>
                </a:extLst>
              </p:cNvPr>
              <p:cNvGraphicFramePr>
                <a:graphicFrameLocks noGrp="1"/>
              </p:cNvGraphicFramePr>
              <p:nvPr>
                <p:extLst>
                  <p:ext uri="{D42A27DB-BD31-4B8C-83A1-F6EECF244321}">
                    <p14:modId xmlns:p14="http://schemas.microsoft.com/office/powerpoint/2010/main" val="4217962228"/>
                  </p:ext>
                </p:extLst>
              </p:nvPr>
            </p:nvGraphicFramePr>
            <p:xfrm>
              <a:off x="1615535" y="2386251"/>
              <a:ext cx="8142511" cy="2681845"/>
            </p:xfrm>
            <a:graphic>
              <a:graphicData uri="http://schemas.openxmlformats.org/drawingml/2006/table">
                <a:tbl>
                  <a:tblPr bandRow="1">
                    <a:tableStyleId>{5C22544A-7EE6-4342-B048-85BDC9FD1C3A}</a:tableStyleId>
                  </a:tblPr>
                  <a:tblGrid>
                    <a:gridCol w="1159822">
                      <a:extLst>
                        <a:ext uri="{9D8B030D-6E8A-4147-A177-3AD203B41FA5}">
                          <a16:colId xmlns:a16="http://schemas.microsoft.com/office/drawing/2014/main" val="2815638221"/>
                        </a:ext>
                      </a:extLst>
                    </a:gridCol>
                    <a:gridCol w="273133">
                      <a:extLst>
                        <a:ext uri="{9D8B030D-6E8A-4147-A177-3AD203B41FA5}">
                          <a16:colId xmlns:a16="http://schemas.microsoft.com/office/drawing/2014/main" val="3280904105"/>
                        </a:ext>
                      </a:extLst>
                    </a:gridCol>
                    <a:gridCol w="6709556">
                      <a:extLst>
                        <a:ext uri="{9D8B030D-6E8A-4147-A177-3AD203B41FA5}">
                          <a16:colId xmlns:a16="http://schemas.microsoft.com/office/drawing/2014/main" val="2064586492"/>
                        </a:ext>
                      </a:extLst>
                    </a:gridCol>
                  </a:tblGrid>
                  <a:tr h="536369">
                    <a:tc>
                      <a:txBody>
                        <a:bodyPr/>
                        <a:lstStyle/>
                        <a:p>
                          <a:endParaRPr lang="en-US"/>
                        </a:p>
                      </a:txBody>
                      <a:tcPr>
                        <a:blipFill>
                          <a:blip r:embed="rId3"/>
                          <a:stretch>
                            <a:fillRect l="-1053" t="-4545" r="-604211" b="-403409"/>
                          </a:stretch>
                        </a:blip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600" dirty="0"/>
                            <a:t>:</a:t>
                          </a:r>
                        </a:p>
                      </a:txBody>
                      <a:tcPr>
                        <a:noFill/>
                      </a:tcPr>
                    </a:tc>
                    <a:tc>
                      <a:txBody>
                        <a:bodyPr/>
                        <a:lstStyle/>
                        <a:p>
                          <a:endParaRPr lang="en-US"/>
                        </a:p>
                      </a:txBody>
                      <a:tcPr>
                        <a:blipFill>
                          <a:blip r:embed="rId3"/>
                          <a:stretch>
                            <a:fillRect l="-21526" t="-4545" r="-182" b="-403409"/>
                          </a:stretch>
                        </a:blipFill>
                      </a:tcPr>
                    </a:tc>
                    <a:extLst>
                      <a:ext uri="{0D108BD9-81ED-4DB2-BD59-A6C34878D82A}">
                        <a16:rowId xmlns:a16="http://schemas.microsoft.com/office/drawing/2014/main" val="2567745939"/>
                      </a:ext>
                    </a:extLst>
                  </a:tr>
                  <a:tr h="536369">
                    <a:tc>
                      <a:txBody>
                        <a:bodyPr/>
                        <a:lstStyle/>
                        <a:p>
                          <a:endParaRPr lang="en-US"/>
                        </a:p>
                      </a:txBody>
                      <a:tcPr>
                        <a:blipFill>
                          <a:blip r:embed="rId3"/>
                          <a:stretch>
                            <a:fillRect l="-1053" t="-104545" r="-604211" b="-303409"/>
                          </a:stretch>
                        </a:blipFill>
                      </a:tcPr>
                    </a:tc>
                    <a:tc>
                      <a:txBody>
                        <a:bodyPr/>
                        <a:lstStyle/>
                        <a:p>
                          <a:r>
                            <a:rPr lang="en-US" sz="1600" dirty="0"/>
                            <a:t>:</a:t>
                          </a:r>
                        </a:p>
                      </a:txBody>
                      <a:tcPr>
                        <a:noFill/>
                      </a:tcPr>
                    </a:tc>
                    <a:tc>
                      <a:txBody>
                        <a:bodyPr/>
                        <a:lstStyle/>
                        <a:p>
                          <a:endParaRPr lang="en-US"/>
                        </a:p>
                      </a:txBody>
                      <a:tcPr>
                        <a:blipFill>
                          <a:blip r:embed="rId3"/>
                          <a:stretch>
                            <a:fillRect l="-21526" t="-104545" r="-182" b="-303409"/>
                          </a:stretch>
                        </a:blipFill>
                      </a:tcPr>
                    </a:tc>
                    <a:extLst>
                      <a:ext uri="{0D108BD9-81ED-4DB2-BD59-A6C34878D82A}">
                        <a16:rowId xmlns:a16="http://schemas.microsoft.com/office/drawing/2014/main" val="1172270262"/>
                      </a:ext>
                    </a:extLst>
                  </a:tr>
                  <a:tr h="536369">
                    <a:tc>
                      <a:txBody>
                        <a:bodyPr/>
                        <a:lstStyle/>
                        <a:p>
                          <a:endParaRPr lang="en-US"/>
                        </a:p>
                      </a:txBody>
                      <a:tcPr>
                        <a:blipFill>
                          <a:blip r:embed="rId3"/>
                          <a:stretch>
                            <a:fillRect l="-1053" t="-202247" r="-604211" b="-200000"/>
                          </a:stretch>
                        </a:blipFill>
                      </a:tcPr>
                    </a:tc>
                    <a:tc>
                      <a:txBody>
                        <a:bodyPr/>
                        <a:lstStyle/>
                        <a:p>
                          <a:r>
                            <a:rPr lang="en-US" sz="1600" dirty="0"/>
                            <a:t>:</a:t>
                          </a:r>
                        </a:p>
                      </a:txBody>
                      <a:tcPr>
                        <a:noFill/>
                      </a:tcPr>
                    </a:tc>
                    <a:tc>
                      <a:txBody>
                        <a:bodyPr/>
                        <a:lstStyle/>
                        <a:p>
                          <a:endParaRPr lang="en-US"/>
                        </a:p>
                      </a:txBody>
                      <a:tcPr>
                        <a:blipFill>
                          <a:blip r:embed="rId3"/>
                          <a:stretch>
                            <a:fillRect l="-21526" t="-202247" r="-182" b="-200000"/>
                          </a:stretch>
                        </a:blipFill>
                      </a:tcPr>
                    </a:tc>
                    <a:extLst>
                      <a:ext uri="{0D108BD9-81ED-4DB2-BD59-A6C34878D82A}">
                        <a16:rowId xmlns:a16="http://schemas.microsoft.com/office/drawing/2014/main" val="4272089726"/>
                      </a:ext>
                    </a:extLst>
                  </a:tr>
                  <a:tr h="536369">
                    <a:tc>
                      <a:txBody>
                        <a:bodyPr/>
                        <a:lstStyle/>
                        <a:p>
                          <a:endParaRPr lang="en-US"/>
                        </a:p>
                      </a:txBody>
                      <a:tcPr>
                        <a:blipFill>
                          <a:blip r:embed="rId3"/>
                          <a:stretch>
                            <a:fillRect l="-1053" t="-305682" r="-604211" b="-102273"/>
                          </a:stretch>
                        </a:blipFill>
                      </a:tcPr>
                    </a:tc>
                    <a:tc>
                      <a:txBody>
                        <a:bodyPr/>
                        <a:lstStyle/>
                        <a:p>
                          <a:r>
                            <a:rPr lang="en-US" sz="1600" dirty="0"/>
                            <a:t>:</a:t>
                          </a:r>
                        </a:p>
                      </a:txBody>
                      <a:tcPr>
                        <a:noFill/>
                      </a:tcPr>
                    </a:tc>
                    <a:tc>
                      <a:txBody>
                        <a:bodyPr/>
                        <a:lstStyle/>
                        <a:p>
                          <a:endParaRPr lang="en-US"/>
                        </a:p>
                      </a:txBody>
                      <a:tcPr>
                        <a:blipFill>
                          <a:blip r:embed="rId3"/>
                          <a:stretch>
                            <a:fillRect l="-21526" t="-305682" r="-182" b="-102273"/>
                          </a:stretch>
                        </a:blipFill>
                      </a:tcPr>
                    </a:tc>
                    <a:extLst>
                      <a:ext uri="{0D108BD9-81ED-4DB2-BD59-A6C34878D82A}">
                        <a16:rowId xmlns:a16="http://schemas.microsoft.com/office/drawing/2014/main" val="199082574"/>
                      </a:ext>
                    </a:extLst>
                  </a:tr>
                  <a:tr h="536369">
                    <a:tc>
                      <a:txBody>
                        <a:bodyPr/>
                        <a:lstStyle/>
                        <a:p>
                          <a:endParaRPr lang="en-US" sz="1600" dirty="0"/>
                        </a:p>
                      </a:txBody>
                      <a:tcPr>
                        <a:noFill/>
                      </a:tcPr>
                    </a:tc>
                    <a:tc>
                      <a:txBody>
                        <a:bodyPr/>
                        <a:lstStyle/>
                        <a:p>
                          <a:endParaRPr lang="en-US" sz="1600" dirty="0"/>
                        </a:p>
                      </a:txBody>
                      <a:tcPr>
                        <a:noFill/>
                      </a:tcPr>
                    </a:tc>
                    <a:tc>
                      <a:txBody>
                        <a:bodyPr/>
                        <a:lstStyle/>
                        <a:p>
                          <a:endParaRPr lang="en-US" sz="1600" dirty="0"/>
                        </a:p>
                      </a:txBody>
                      <a:tcPr>
                        <a:noFill/>
                      </a:tcPr>
                    </a:tc>
                    <a:extLst>
                      <a:ext uri="{0D108BD9-81ED-4DB2-BD59-A6C34878D82A}">
                        <a16:rowId xmlns:a16="http://schemas.microsoft.com/office/drawing/2014/main" val="938949808"/>
                      </a:ext>
                    </a:extLst>
                  </a:tr>
                </a:tbl>
              </a:graphicData>
            </a:graphic>
          </p:graphicFrame>
        </mc:Fallback>
      </mc:AlternateContent>
      <p:cxnSp>
        <p:nvCxnSpPr>
          <p:cNvPr id="2" name="直線コネクタ 1">
            <a:extLst>
              <a:ext uri="{FF2B5EF4-FFF2-40B4-BE49-F238E27FC236}">
                <a16:creationId xmlns:a16="http://schemas.microsoft.com/office/drawing/2014/main" id="{14F38F78-737A-3CC2-5D7C-D1E3512FC4C3}"/>
              </a:ext>
            </a:extLst>
          </p:cNvPr>
          <p:cNvCxnSpPr>
            <a:cxnSpLocks/>
          </p:cNvCxnSpPr>
          <p:nvPr/>
        </p:nvCxnSpPr>
        <p:spPr>
          <a:xfrm>
            <a:off x="0" y="4512634"/>
            <a:ext cx="9906000" cy="0"/>
          </a:xfrm>
          <a:prstGeom prst="line">
            <a:avLst/>
          </a:prstGeom>
          <a:ln w="19050">
            <a:solidFill>
              <a:schemeClr val="tx1">
                <a:lumMod val="60000"/>
                <a:lumOff val="40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 name="テキスト ボックス 4">
                <a:extLst>
                  <a:ext uri="{FF2B5EF4-FFF2-40B4-BE49-F238E27FC236}">
                    <a16:creationId xmlns:a16="http://schemas.microsoft.com/office/drawing/2014/main" id="{360032FE-6F4E-9D30-7C3E-51659568528D}"/>
                  </a:ext>
                </a:extLst>
              </p:cNvPr>
              <p:cNvSpPr txBox="1"/>
              <p:nvPr/>
            </p:nvSpPr>
            <p:spPr>
              <a:xfrm>
                <a:off x="3945040" y="4644131"/>
                <a:ext cx="1570591" cy="45294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i="1" smtClean="0">
                              <a:solidFill>
                                <a:srgbClr val="836967"/>
                              </a:solidFill>
                              <a:latin typeface="Cambria Math" panose="02040503050406030204" pitchFamily="18" charset="0"/>
                            </a:rPr>
                          </m:ctrlPr>
                        </m:sSubSupPr>
                        <m:e>
                          <m:r>
                            <a:rPr lang="en-US" i="1">
                              <a:latin typeface="Cambria Math" panose="02040503050406030204" pitchFamily="18" charset="0"/>
                            </a:rPr>
                            <m:t>𝜆</m:t>
                          </m:r>
                        </m:e>
                        <m:sub>
                          <m:r>
                            <a:rPr lang="en-US" i="1">
                              <a:latin typeface="Cambria Math" panose="02040503050406030204" pitchFamily="18" charset="0"/>
                            </a:rPr>
                            <m:t>𝑡</m:t>
                          </m:r>
                          <m:r>
                            <a:rPr lang="en-US" i="0">
                              <a:latin typeface="Cambria Math" panose="02040503050406030204" pitchFamily="18" charset="0"/>
                            </a:rPr>
                            <m:t>,</m:t>
                          </m:r>
                          <m:r>
                            <a:rPr lang="en-US" i="1">
                              <a:latin typeface="Cambria Math" panose="02040503050406030204" pitchFamily="18" charset="0"/>
                            </a:rPr>
                            <m:t>𝑛</m:t>
                          </m:r>
                        </m:sub>
                        <m:sup>
                          <m:r>
                            <a:rPr lang="en-US" i="1">
                              <a:latin typeface="Cambria Math" panose="02040503050406030204" pitchFamily="18" charset="0"/>
                            </a:rPr>
                            <m:t>𝑏𝑖𝑑</m:t>
                          </m:r>
                          <m:r>
                            <a:rPr lang="en-US" i="0">
                              <a:latin typeface="Cambria Math" panose="02040503050406030204" pitchFamily="18" charset="0"/>
                            </a:rPr>
                            <m:t>,</m:t>
                          </m:r>
                          <m:r>
                            <m:rPr>
                              <m:sty m:val="p"/>
                            </m:rPr>
                            <a:rPr lang="en-US" b="0" i="0" smtClean="0">
                              <a:latin typeface="Cambria Math" panose="02040503050406030204" pitchFamily="18" charset="0"/>
                            </a:rPr>
                            <m:t>bat</m:t>
                          </m:r>
                          <m:r>
                            <a:rPr lang="en-US" i="0">
                              <a:latin typeface="Cambria Math" panose="02040503050406030204" pitchFamily="18" charset="0"/>
                            </a:rPr>
                            <m:t>,</m:t>
                          </m:r>
                          <m:r>
                            <a:rPr lang="en-US" b="0" i="1" smtClean="0">
                              <a:latin typeface="Cambria Math" panose="02040503050406030204" pitchFamily="18" charset="0"/>
                            </a:rPr>
                            <m:t>𝑏𝑢𝑦</m:t>
                          </m:r>
                        </m:sup>
                      </m:sSubSup>
                    </m:oMath>
                  </m:oMathPara>
                </a14:m>
                <a:endParaRPr lang="en-US" dirty="0"/>
              </a:p>
            </p:txBody>
          </p:sp>
        </mc:Choice>
        <mc:Fallback xmlns="">
          <p:sp>
            <p:nvSpPr>
              <p:cNvPr id="5" name="テキスト ボックス 4">
                <a:extLst>
                  <a:ext uri="{FF2B5EF4-FFF2-40B4-BE49-F238E27FC236}">
                    <a16:creationId xmlns:a16="http://schemas.microsoft.com/office/drawing/2014/main" id="{360032FE-6F4E-9D30-7C3E-51659568528D}"/>
                  </a:ext>
                </a:extLst>
              </p:cNvPr>
              <p:cNvSpPr txBox="1">
                <a:spLocks noRot="1" noChangeAspect="1" noMove="1" noResize="1" noEditPoints="1" noAdjustHandles="1" noChangeArrowheads="1" noChangeShapeType="1" noTextEdit="1"/>
              </p:cNvSpPr>
              <p:nvPr/>
            </p:nvSpPr>
            <p:spPr>
              <a:xfrm>
                <a:off x="3945040" y="4644131"/>
                <a:ext cx="1570591" cy="452945"/>
              </a:xfrm>
              <a:prstGeom prst="rect">
                <a:avLst/>
              </a:prstGeom>
              <a:blipFill>
                <a:blip r:embed="rId4"/>
                <a:stretch>
                  <a:fillRect/>
                </a:stretch>
              </a:blipFill>
            </p:spPr>
            <p:txBody>
              <a:bodyPr/>
              <a:lstStyle/>
              <a:p>
                <a:r>
                  <a:rPr lang="en-US">
                    <a:noFill/>
                  </a:rPr>
                  <a:t> </a:t>
                </a:r>
              </a:p>
            </p:txBody>
          </p:sp>
        </mc:Fallback>
      </mc:AlternateContent>
      <p:sp>
        <p:nvSpPr>
          <p:cNvPr id="6" name="正方形/長方形 5">
            <a:extLst>
              <a:ext uri="{FF2B5EF4-FFF2-40B4-BE49-F238E27FC236}">
                <a16:creationId xmlns:a16="http://schemas.microsoft.com/office/drawing/2014/main" id="{0838FDF1-3D9E-7DAD-4A9B-661699892349}"/>
              </a:ext>
            </a:extLst>
          </p:cNvPr>
          <p:cNvSpPr/>
          <p:nvPr/>
        </p:nvSpPr>
        <p:spPr>
          <a:xfrm>
            <a:off x="4041568" y="4632849"/>
            <a:ext cx="1377537" cy="514598"/>
          </a:xfrm>
          <a:prstGeom prst="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テキスト ボックス 6">
            <a:extLst>
              <a:ext uri="{FF2B5EF4-FFF2-40B4-BE49-F238E27FC236}">
                <a16:creationId xmlns:a16="http://schemas.microsoft.com/office/drawing/2014/main" id="{A5782961-55FA-CBD0-310F-A5D6EA4FB182}"/>
              </a:ext>
            </a:extLst>
          </p:cNvPr>
          <p:cNvSpPr txBox="1"/>
          <p:nvPr/>
        </p:nvSpPr>
        <p:spPr>
          <a:xfrm>
            <a:off x="5478482" y="4815266"/>
            <a:ext cx="2619628" cy="369332"/>
          </a:xfrm>
          <a:prstGeom prst="rect">
            <a:avLst/>
          </a:prstGeom>
          <a:noFill/>
        </p:spPr>
        <p:txBody>
          <a:bodyPr wrap="none" rtlCol="0">
            <a:spAutoFit/>
          </a:bodyPr>
          <a:lstStyle/>
          <a:p>
            <a:r>
              <a:rPr lang="en-US" dirty="0">
                <a:solidFill>
                  <a:schemeClr val="accent1"/>
                </a:solidFill>
              </a:rPr>
              <a:t>One of the targets of RL</a:t>
            </a:r>
          </a:p>
        </p:txBody>
      </p:sp>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EF1AE4EC-2C99-46B6-FF1B-504DBE126DDD}"/>
                  </a:ext>
                </a:extLst>
              </p:cNvPr>
              <p:cNvSpPr txBox="1"/>
              <p:nvPr/>
            </p:nvSpPr>
            <p:spPr>
              <a:xfrm>
                <a:off x="3937883" y="5399707"/>
                <a:ext cx="1570591" cy="45294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i="1" smtClean="0">
                              <a:solidFill>
                                <a:srgbClr val="836967"/>
                              </a:solidFill>
                              <a:latin typeface="Cambria Math" panose="02040503050406030204" pitchFamily="18" charset="0"/>
                            </a:rPr>
                          </m:ctrlPr>
                        </m:sSubSupPr>
                        <m:e>
                          <m:r>
                            <a:rPr lang="en-US" i="1">
                              <a:latin typeface="Cambria Math" panose="02040503050406030204" pitchFamily="18" charset="0"/>
                            </a:rPr>
                            <m:t>𝜆</m:t>
                          </m:r>
                        </m:e>
                        <m:sub>
                          <m:r>
                            <a:rPr lang="en-US" i="1">
                              <a:latin typeface="Cambria Math" panose="02040503050406030204" pitchFamily="18" charset="0"/>
                            </a:rPr>
                            <m:t>𝑡</m:t>
                          </m:r>
                          <m:r>
                            <a:rPr lang="en-US" i="0">
                              <a:latin typeface="Cambria Math" panose="02040503050406030204" pitchFamily="18" charset="0"/>
                            </a:rPr>
                            <m:t>,</m:t>
                          </m:r>
                          <m:r>
                            <a:rPr lang="en-US" i="1">
                              <a:latin typeface="Cambria Math" panose="02040503050406030204" pitchFamily="18" charset="0"/>
                            </a:rPr>
                            <m:t>𝑛</m:t>
                          </m:r>
                        </m:sub>
                        <m:sup>
                          <m:r>
                            <a:rPr lang="en-US" i="1">
                              <a:latin typeface="Cambria Math" panose="02040503050406030204" pitchFamily="18" charset="0"/>
                            </a:rPr>
                            <m:t>𝑏𝑖𝑑</m:t>
                          </m:r>
                          <m:r>
                            <a:rPr lang="en-US" i="0">
                              <a:latin typeface="Cambria Math" panose="02040503050406030204" pitchFamily="18" charset="0"/>
                            </a:rPr>
                            <m:t>,</m:t>
                          </m:r>
                          <m:r>
                            <m:rPr>
                              <m:sty m:val="p"/>
                            </m:rPr>
                            <a:rPr lang="en-US" b="0" i="0" smtClean="0">
                              <a:latin typeface="Cambria Math" panose="02040503050406030204" pitchFamily="18" charset="0"/>
                            </a:rPr>
                            <m:t>bat</m:t>
                          </m:r>
                          <m:r>
                            <a:rPr lang="en-US" i="0">
                              <a:latin typeface="Cambria Math" panose="02040503050406030204" pitchFamily="18" charset="0"/>
                            </a:rPr>
                            <m:t>,</m:t>
                          </m:r>
                          <m:r>
                            <a:rPr lang="en-US" b="0" i="1" smtClean="0">
                              <a:latin typeface="Cambria Math" panose="02040503050406030204" pitchFamily="18" charset="0"/>
                            </a:rPr>
                            <m:t>𝑠𝑒𝑙𝑙</m:t>
                          </m:r>
                        </m:sup>
                      </m:sSubSup>
                    </m:oMath>
                  </m:oMathPara>
                </a14:m>
                <a:endParaRPr lang="en-US" dirty="0"/>
              </a:p>
            </p:txBody>
          </p:sp>
        </mc:Choice>
        <mc:Fallback xmlns="">
          <p:sp>
            <p:nvSpPr>
              <p:cNvPr id="9" name="テキスト ボックス 8">
                <a:extLst>
                  <a:ext uri="{FF2B5EF4-FFF2-40B4-BE49-F238E27FC236}">
                    <a16:creationId xmlns:a16="http://schemas.microsoft.com/office/drawing/2014/main" id="{EF1AE4EC-2C99-46B6-FF1B-504DBE126DDD}"/>
                  </a:ext>
                </a:extLst>
              </p:cNvPr>
              <p:cNvSpPr txBox="1">
                <a:spLocks noRot="1" noChangeAspect="1" noMove="1" noResize="1" noEditPoints="1" noAdjustHandles="1" noChangeArrowheads="1" noChangeShapeType="1" noTextEdit="1"/>
              </p:cNvSpPr>
              <p:nvPr/>
            </p:nvSpPr>
            <p:spPr>
              <a:xfrm>
                <a:off x="3937883" y="5399707"/>
                <a:ext cx="1570591" cy="452945"/>
              </a:xfrm>
              <a:prstGeom prst="rect">
                <a:avLst/>
              </a:prstGeom>
              <a:blipFill>
                <a:blip r:embed="rId5"/>
                <a:stretch>
                  <a:fillRect/>
                </a:stretch>
              </a:blipFill>
            </p:spPr>
            <p:txBody>
              <a:bodyPr/>
              <a:lstStyle/>
              <a:p>
                <a:r>
                  <a:rPr lang="en-US">
                    <a:noFill/>
                  </a:rPr>
                  <a:t> </a:t>
                </a:r>
              </a:p>
            </p:txBody>
          </p:sp>
        </mc:Fallback>
      </mc:AlternateContent>
      <p:sp>
        <p:nvSpPr>
          <p:cNvPr id="10" name="正方形/長方形 9">
            <a:extLst>
              <a:ext uri="{FF2B5EF4-FFF2-40B4-BE49-F238E27FC236}">
                <a16:creationId xmlns:a16="http://schemas.microsoft.com/office/drawing/2014/main" id="{E220638E-A3D7-7D05-B592-9115350A0012}"/>
              </a:ext>
            </a:extLst>
          </p:cNvPr>
          <p:cNvSpPr/>
          <p:nvPr/>
        </p:nvSpPr>
        <p:spPr>
          <a:xfrm>
            <a:off x="4041568" y="5399707"/>
            <a:ext cx="1377537" cy="514598"/>
          </a:xfrm>
          <a:prstGeom prst="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テキスト ボックス 11">
            <a:extLst>
              <a:ext uri="{FF2B5EF4-FFF2-40B4-BE49-F238E27FC236}">
                <a16:creationId xmlns:a16="http://schemas.microsoft.com/office/drawing/2014/main" id="{14E75F8D-16CE-6DB5-EFE6-7A5B6F1B3523}"/>
              </a:ext>
            </a:extLst>
          </p:cNvPr>
          <p:cNvSpPr txBox="1"/>
          <p:nvPr/>
        </p:nvSpPr>
        <p:spPr>
          <a:xfrm>
            <a:off x="5478482" y="5582124"/>
            <a:ext cx="2619628" cy="369332"/>
          </a:xfrm>
          <a:prstGeom prst="rect">
            <a:avLst/>
          </a:prstGeom>
          <a:noFill/>
        </p:spPr>
        <p:txBody>
          <a:bodyPr wrap="none" rtlCol="0">
            <a:spAutoFit/>
          </a:bodyPr>
          <a:lstStyle/>
          <a:p>
            <a:r>
              <a:rPr lang="en-US" dirty="0">
                <a:solidFill>
                  <a:schemeClr val="accent1"/>
                </a:solidFill>
              </a:rPr>
              <a:t>One of the targets of RL</a:t>
            </a:r>
          </a:p>
        </p:txBody>
      </p:sp>
    </p:spTree>
    <p:extLst>
      <p:ext uri="{BB962C8B-B14F-4D97-AF65-F5344CB8AC3E}">
        <p14:creationId xmlns:p14="http://schemas.microsoft.com/office/powerpoint/2010/main" val="344053980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7076FFE9-C1BB-DE12-AC60-5CC1B7621355}"/>
              </a:ext>
            </a:extLst>
          </p:cNvPr>
          <p:cNvSpPr>
            <a:spLocks noGrp="1"/>
          </p:cNvSpPr>
          <p:nvPr>
            <p:ph sz="quarter" idx="16"/>
          </p:nvPr>
        </p:nvSpPr>
        <p:spPr/>
        <p:txBody>
          <a:bodyPr/>
          <a:lstStyle/>
          <a:p>
            <a:r>
              <a:rPr lang="en-US" altLang="ja-JP" dirty="0"/>
              <a:t>3.2.2 Design P2P energy trading model</a:t>
            </a:r>
          </a:p>
        </p:txBody>
      </p:sp>
      <mc:AlternateContent xmlns:mc="http://schemas.openxmlformats.org/markup-compatibility/2006" xmlns:a14="http://schemas.microsoft.com/office/drawing/2010/main">
        <mc:Choice Requires="a14">
          <p:sp>
            <p:nvSpPr>
              <p:cNvPr id="7" name="テキスト ボックス 6">
                <a:extLst>
                  <a:ext uri="{FF2B5EF4-FFF2-40B4-BE49-F238E27FC236}">
                    <a16:creationId xmlns:a16="http://schemas.microsoft.com/office/drawing/2014/main" id="{B3FA184D-5F83-C863-E339-EBAE82F35617}"/>
                  </a:ext>
                </a:extLst>
              </p:cNvPr>
              <p:cNvSpPr txBox="1"/>
              <p:nvPr/>
            </p:nvSpPr>
            <p:spPr>
              <a:xfrm>
                <a:off x="752228" y="835180"/>
                <a:ext cx="8599713" cy="154228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i="1" smtClean="0">
                              <a:solidFill>
                                <a:srgbClr val="836967"/>
                              </a:solidFill>
                              <a:latin typeface="Cambria Math" panose="02040503050406030204" pitchFamily="18" charset="0"/>
                            </a:rPr>
                          </m:ctrlPr>
                        </m:sSubSupPr>
                        <m:e>
                          <m:r>
                            <a:rPr lang="en-US" i="1">
                              <a:latin typeface="Cambria Math" panose="02040503050406030204" pitchFamily="18" charset="0"/>
                            </a:rPr>
                            <m:t>𝑆𝑂</m:t>
                          </m:r>
                          <m:r>
                            <a:rPr lang="en-US" b="0" i="1" smtClean="0">
                              <a:latin typeface="Cambria Math" panose="02040503050406030204" pitchFamily="18" charset="0"/>
                            </a:rPr>
                            <m:t>𝐶</m:t>
                          </m:r>
                        </m:e>
                        <m:sub>
                          <m:r>
                            <a:rPr lang="en-US" i="1">
                              <a:latin typeface="Cambria Math" panose="02040503050406030204" pitchFamily="18" charset="0"/>
                            </a:rPr>
                            <m:t>𝑡</m:t>
                          </m:r>
                          <m:r>
                            <a:rPr lang="en-US">
                              <a:latin typeface="Cambria Math" panose="02040503050406030204" pitchFamily="18" charset="0"/>
                            </a:rPr>
                            <m:t>+1,</m:t>
                          </m:r>
                          <m:r>
                            <a:rPr lang="en-US" i="1">
                              <a:latin typeface="Cambria Math" panose="02040503050406030204" pitchFamily="18" charset="0"/>
                            </a:rPr>
                            <m:t>𝑛</m:t>
                          </m:r>
                        </m:sub>
                        <m:sup>
                          <m:r>
                            <a:rPr lang="en-US" i="1">
                              <a:latin typeface="Cambria Math" panose="02040503050406030204" pitchFamily="18" charset="0"/>
                            </a:rPr>
                            <m:t>𝐸𝑉</m:t>
                          </m:r>
                        </m:sup>
                      </m:sSubSup>
                      <m:r>
                        <a:rPr lang="en-US" i="0">
                          <a:latin typeface="Cambria Math" panose="02040503050406030204" pitchFamily="18" charset="0"/>
                        </a:rPr>
                        <m:t>=</m:t>
                      </m:r>
                      <m:d>
                        <m:dPr>
                          <m:begChr m:val="{"/>
                          <m:endChr m:val=""/>
                          <m:ctrlPr>
                            <a:rPr lang="en-US" i="1">
                              <a:solidFill>
                                <a:srgbClr val="836967"/>
                              </a:solidFill>
                              <a:latin typeface="Cambria Math" panose="02040503050406030204" pitchFamily="18" charset="0"/>
                            </a:rPr>
                          </m:ctrlPr>
                        </m:dPr>
                        <m:e>
                          <m:eqArr>
                            <m:eqArrPr>
                              <m:ctrlPr>
                                <a:rPr lang="en-US" i="1">
                                  <a:solidFill>
                                    <a:srgbClr val="836967"/>
                                  </a:solidFill>
                                  <a:latin typeface="Cambria Math" panose="02040503050406030204" pitchFamily="18" charset="0"/>
                                </a:rPr>
                              </m:ctrlPr>
                            </m:eqArrPr>
                            <m:e>
                              <m:r>
                                <a:rPr lang="en-US" i="0">
                                  <a:latin typeface="Cambria Math" panose="02040503050406030204" pitchFamily="18" charset="0"/>
                                </a:rPr>
                                <m:t>&amp;</m:t>
                              </m:r>
                              <m:eqArr>
                                <m:eqArrPr>
                                  <m:ctrlPr>
                                    <a:rPr lang="en-US" i="1">
                                      <a:solidFill>
                                        <a:srgbClr val="836967"/>
                                      </a:solidFill>
                                      <a:latin typeface="Cambria Math" panose="02040503050406030204" pitchFamily="18" charset="0"/>
                                    </a:rPr>
                                  </m:ctrlPr>
                                </m:eqArrPr>
                                <m:e>
                                  <m:r>
                                    <a:rPr lang="en-US" i="0">
                                      <a:latin typeface="Cambria Math" panose="02040503050406030204" pitchFamily="18" charset="0"/>
                                    </a:rPr>
                                    <m:t>&amp;</m:t>
                                  </m:r>
                                  <m:sSubSup>
                                    <m:sSubSupPr>
                                      <m:ctrlPr>
                                        <a:rPr lang="en-US" i="1">
                                          <a:solidFill>
                                            <a:srgbClr val="836967"/>
                                          </a:solidFill>
                                          <a:latin typeface="Cambria Math" panose="02040503050406030204" pitchFamily="18" charset="0"/>
                                        </a:rPr>
                                      </m:ctrlPr>
                                    </m:sSubSupPr>
                                    <m:e>
                                      <m:r>
                                        <a:rPr lang="en-US" i="1">
                                          <a:latin typeface="Cambria Math" panose="02040503050406030204" pitchFamily="18" charset="0"/>
                                        </a:rPr>
                                        <m:t>𝑆𝑂𝐶</m:t>
                                      </m:r>
                                    </m:e>
                                    <m:sub>
                                      <m:r>
                                        <a:rPr lang="en-US" i="1">
                                          <a:latin typeface="Cambria Math" panose="02040503050406030204" pitchFamily="18" charset="0"/>
                                        </a:rPr>
                                        <m:t>𝑡</m:t>
                                      </m:r>
                                      <m:r>
                                        <a:rPr lang="en-US" i="0">
                                          <a:latin typeface="Cambria Math" panose="02040503050406030204" pitchFamily="18" charset="0"/>
                                        </a:rPr>
                                        <m:t>,</m:t>
                                      </m:r>
                                      <m:r>
                                        <a:rPr lang="en-US" i="1">
                                          <a:latin typeface="Cambria Math" panose="02040503050406030204" pitchFamily="18" charset="0"/>
                                        </a:rPr>
                                        <m:t>𝑛</m:t>
                                      </m:r>
                                    </m:sub>
                                    <m:sup>
                                      <m:r>
                                        <a:rPr lang="en-US" i="1">
                                          <a:latin typeface="Cambria Math" panose="02040503050406030204" pitchFamily="18" charset="0"/>
                                        </a:rPr>
                                        <m:t>𝐸𝑉</m:t>
                                      </m:r>
                                    </m:sup>
                                  </m:sSubSup>
                                  <m:r>
                                    <a:rPr lang="en-US" i="0">
                                      <a:latin typeface="Cambria Math" panose="02040503050406030204" pitchFamily="18" charset="0"/>
                                    </a:rPr>
                                    <m:t>+</m:t>
                                  </m:r>
                                  <m:sSub>
                                    <m:sSubPr>
                                      <m:ctrlPr>
                                        <a:rPr lang="en-US" i="1">
                                          <a:solidFill>
                                            <a:srgbClr val="836967"/>
                                          </a:solidFill>
                                          <a:latin typeface="Cambria Math" panose="02040503050406030204" pitchFamily="18" charset="0"/>
                                        </a:rPr>
                                      </m:ctrlPr>
                                    </m:sSubPr>
                                    <m:e>
                                      <m:r>
                                        <a:rPr lang="en-US" i="1">
                                          <a:latin typeface="Cambria Math" panose="02040503050406030204" pitchFamily="18" charset="0"/>
                                        </a:rPr>
                                        <m:t>𝑢</m:t>
                                      </m:r>
                                    </m:e>
                                    <m:sub>
                                      <m:r>
                                        <a:rPr lang="en-US" i="1">
                                          <a:latin typeface="Cambria Math" panose="02040503050406030204" pitchFamily="18" charset="0"/>
                                        </a:rPr>
                                        <m:t>𝑡</m:t>
                                      </m:r>
                                      <m:r>
                                        <a:rPr lang="en-US" b="0" i="1" smtClean="0">
                                          <a:latin typeface="Cambria Math" panose="02040503050406030204" pitchFamily="18" charset="0"/>
                                        </a:rPr>
                                        <m:t>,</m:t>
                                      </m:r>
                                      <m:r>
                                        <a:rPr lang="en-US" b="0" i="1" smtClean="0">
                                          <a:latin typeface="Cambria Math" panose="02040503050406030204" pitchFamily="18" charset="0"/>
                                        </a:rPr>
                                        <m:t>𝑛</m:t>
                                      </m:r>
                                    </m:sub>
                                  </m:sSub>
                                  <m:r>
                                    <a:rPr lang="en-US" i="0">
                                      <a:latin typeface="Cambria Math" panose="02040503050406030204" pitchFamily="18" charset="0"/>
                                    </a:rPr>
                                    <m:t>･</m:t>
                                  </m:r>
                                  <m:f>
                                    <m:fPr>
                                      <m:ctrlPr>
                                        <a:rPr lang="en-US" i="1">
                                          <a:solidFill>
                                            <a:srgbClr val="836967"/>
                                          </a:solidFill>
                                          <a:latin typeface="Cambria Math" panose="02040503050406030204" pitchFamily="18" charset="0"/>
                                        </a:rPr>
                                      </m:ctrlPr>
                                    </m:fPr>
                                    <m:num>
                                      <m:sSubSup>
                                        <m:sSubSupPr>
                                          <m:ctrlPr>
                                            <a:rPr lang="en-US" i="1">
                                              <a:solidFill>
                                                <a:srgbClr val="836967"/>
                                              </a:solidFill>
                                              <a:latin typeface="Cambria Math" panose="02040503050406030204" pitchFamily="18" charset="0"/>
                                            </a:rPr>
                                          </m:ctrlPr>
                                        </m:sSubSupPr>
                                        <m:e>
                                          <m:r>
                                            <a:rPr lang="en-US" i="1">
                                              <a:latin typeface="Cambria Math" panose="02040503050406030204" pitchFamily="18" charset="0"/>
                                            </a:rPr>
                                            <m:t>𝜂</m:t>
                                          </m:r>
                                        </m:e>
                                        <m:sub>
                                          <m:r>
                                            <a:rPr lang="en-US" i="1">
                                              <a:latin typeface="Cambria Math" panose="02040503050406030204" pitchFamily="18" charset="0"/>
                                            </a:rPr>
                                            <m:t>𝑐h</m:t>
                                          </m:r>
                                          <m:r>
                                            <a:rPr lang="en-US" i="0">
                                              <a:latin typeface="Cambria Math" panose="02040503050406030204" pitchFamily="18" charset="0"/>
                                            </a:rPr>
                                            <m:t>,</m:t>
                                          </m:r>
                                          <m:r>
                                            <a:rPr lang="en-US" i="1">
                                              <a:latin typeface="Cambria Math" panose="02040503050406030204" pitchFamily="18" charset="0"/>
                                            </a:rPr>
                                            <m:t>𝑛</m:t>
                                          </m:r>
                                        </m:sub>
                                        <m:sup>
                                          <m:r>
                                            <a:rPr lang="en-US" i="1">
                                              <a:latin typeface="Cambria Math" panose="02040503050406030204" pitchFamily="18" charset="0"/>
                                            </a:rPr>
                                            <m:t>𝐸𝑉</m:t>
                                          </m:r>
                                        </m:sup>
                                      </m:sSubSup>
                                      <m:r>
                                        <a:rPr lang="en-US" i="0">
                                          <a:latin typeface="Cambria Math" panose="02040503050406030204" pitchFamily="18" charset="0"/>
                                        </a:rPr>
                                        <m:t>･</m:t>
                                      </m:r>
                                      <m:sSubSup>
                                        <m:sSubSupPr>
                                          <m:ctrlPr>
                                            <a:rPr lang="en-US" i="1">
                                              <a:solidFill>
                                                <a:srgbClr val="836967"/>
                                              </a:solidFill>
                                              <a:latin typeface="Cambria Math" panose="02040503050406030204" pitchFamily="18" charset="0"/>
                                            </a:rPr>
                                          </m:ctrlPr>
                                        </m:sSubSupPr>
                                        <m:e>
                                          <m:r>
                                            <a:rPr lang="en-US" i="1">
                                              <a:latin typeface="Cambria Math" panose="02040503050406030204" pitchFamily="18" charset="0"/>
                                            </a:rPr>
                                            <m:t>𝑒</m:t>
                                          </m:r>
                                        </m:e>
                                        <m:sub>
                                          <m:r>
                                            <a:rPr lang="en-US" i="1">
                                              <a:latin typeface="Cambria Math" panose="02040503050406030204" pitchFamily="18" charset="0"/>
                                            </a:rPr>
                                            <m:t>𝑡</m:t>
                                          </m:r>
                                          <m:r>
                                            <a:rPr lang="en-US" i="0">
                                              <a:latin typeface="Cambria Math" panose="02040503050406030204" pitchFamily="18" charset="0"/>
                                            </a:rPr>
                                            <m:t>,</m:t>
                                          </m:r>
                                          <m:r>
                                            <a:rPr lang="en-US" i="1">
                                              <a:latin typeface="Cambria Math" panose="02040503050406030204" pitchFamily="18" charset="0"/>
                                            </a:rPr>
                                            <m:t>𝑛</m:t>
                                          </m:r>
                                        </m:sub>
                                        <m:sup>
                                          <m:r>
                                            <a:rPr lang="en-US" i="1">
                                              <a:latin typeface="Cambria Math" panose="02040503050406030204" pitchFamily="18" charset="0"/>
                                            </a:rPr>
                                            <m:t>𝐸𝑉</m:t>
                                          </m:r>
                                        </m:sup>
                                      </m:sSubSup>
                                    </m:num>
                                    <m:den>
                                      <m:sSubSup>
                                        <m:sSubSupPr>
                                          <m:ctrlPr>
                                            <a:rPr lang="en-US" i="1">
                                              <a:solidFill>
                                                <a:srgbClr val="836967"/>
                                              </a:solidFill>
                                              <a:latin typeface="Cambria Math" panose="02040503050406030204" pitchFamily="18" charset="0"/>
                                            </a:rPr>
                                          </m:ctrlPr>
                                        </m:sSubSupPr>
                                        <m:e>
                                          <m:r>
                                            <a:rPr lang="en-US" i="1">
                                              <a:latin typeface="Cambria Math" panose="02040503050406030204" pitchFamily="18" charset="0"/>
                                            </a:rPr>
                                            <m:t>𝐶</m:t>
                                          </m:r>
                                        </m:e>
                                        <m:sub>
                                          <m:r>
                                            <a:rPr lang="en-US" i="1">
                                              <a:latin typeface="Cambria Math" panose="02040503050406030204" pitchFamily="18" charset="0"/>
                                            </a:rPr>
                                            <m:t>𝑛</m:t>
                                          </m:r>
                                        </m:sub>
                                        <m:sup>
                                          <m:r>
                                            <a:rPr lang="en-US" i="1">
                                              <a:latin typeface="Cambria Math" panose="02040503050406030204" pitchFamily="18" charset="0"/>
                                            </a:rPr>
                                            <m:t>𝐸𝑉</m:t>
                                          </m:r>
                                        </m:sup>
                                      </m:sSubSup>
                                    </m:den>
                                  </m:f>
                                  <m:r>
                                    <a:rPr lang="en-US" i="0">
                                      <a:latin typeface="Cambria Math" panose="02040503050406030204" pitchFamily="18" charset="0"/>
                                    </a:rPr>
                                    <m:t>−</m:t>
                                  </m:r>
                                  <m:d>
                                    <m:dPr>
                                      <m:ctrlPr>
                                        <a:rPr lang="en-US" i="1">
                                          <a:latin typeface="Cambria Math" panose="02040503050406030204" pitchFamily="18" charset="0"/>
                                        </a:rPr>
                                      </m:ctrlPr>
                                    </m:dPr>
                                    <m:e>
                                      <m:r>
                                        <a:rPr lang="en-US" i="0">
                                          <a:latin typeface="Cambria Math" panose="02040503050406030204" pitchFamily="18" charset="0"/>
                                        </a:rPr>
                                        <m:t>1−</m:t>
                                      </m:r>
                                      <m:sSub>
                                        <m:sSubPr>
                                          <m:ctrlPr>
                                            <a:rPr lang="en-US" i="1">
                                              <a:solidFill>
                                                <a:srgbClr val="836967"/>
                                              </a:solidFill>
                                              <a:latin typeface="Cambria Math" panose="02040503050406030204" pitchFamily="18" charset="0"/>
                                            </a:rPr>
                                          </m:ctrlPr>
                                        </m:sSubPr>
                                        <m:e>
                                          <m:r>
                                            <a:rPr lang="en-US" i="1">
                                              <a:latin typeface="Cambria Math" panose="02040503050406030204" pitchFamily="18" charset="0"/>
                                            </a:rPr>
                                            <m:t>𝑢</m:t>
                                          </m:r>
                                        </m:e>
                                        <m:sub>
                                          <m:r>
                                            <a:rPr lang="en-US" i="1">
                                              <a:latin typeface="Cambria Math" panose="02040503050406030204" pitchFamily="18" charset="0"/>
                                            </a:rPr>
                                            <m:t>𝑡</m:t>
                                          </m:r>
                                          <m:r>
                                            <a:rPr lang="en-US" b="0" i="1" smtClean="0">
                                              <a:latin typeface="Cambria Math" panose="02040503050406030204" pitchFamily="18" charset="0"/>
                                            </a:rPr>
                                            <m:t>,</m:t>
                                          </m:r>
                                          <m:r>
                                            <a:rPr lang="en-US" b="0" i="1" smtClean="0">
                                              <a:latin typeface="Cambria Math" panose="02040503050406030204" pitchFamily="18" charset="0"/>
                                            </a:rPr>
                                            <m:t>𝑛</m:t>
                                          </m:r>
                                        </m:sub>
                                      </m:sSub>
                                    </m:e>
                                  </m:d>
                                  <m:r>
                                    <a:rPr lang="en-US" i="0">
                                      <a:latin typeface="Cambria Math" panose="02040503050406030204" pitchFamily="18" charset="0"/>
                                    </a:rPr>
                                    <m:t>･</m:t>
                                  </m:r>
                                  <m:f>
                                    <m:fPr>
                                      <m:ctrlPr>
                                        <a:rPr lang="en-US" i="1">
                                          <a:solidFill>
                                            <a:srgbClr val="836967"/>
                                          </a:solidFill>
                                          <a:latin typeface="Cambria Math" panose="02040503050406030204" pitchFamily="18" charset="0"/>
                                        </a:rPr>
                                      </m:ctrlPr>
                                    </m:fPr>
                                    <m:num>
                                      <m:sSubSup>
                                        <m:sSubSupPr>
                                          <m:ctrlPr>
                                            <a:rPr lang="en-US" i="1">
                                              <a:solidFill>
                                                <a:srgbClr val="836967"/>
                                              </a:solidFill>
                                              <a:latin typeface="Cambria Math" panose="02040503050406030204" pitchFamily="18" charset="0"/>
                                            </a:rPr>
                                          </m:ctrlPr>
                                        </m:sSubSupPr>
                                        <m:e>
                                          <m:r>
                                            <a:rPr lang="en-US" i="1">
                                              <a:latin typeface="Cambria Math" panose="02040503050406030204" pitchFamily="18" charset="0"/>
                                            </a:rPr>
                                            <m:t>𝑒</m:t>
                                          </m:r>
                                        </m:e>
                                        <m:sub>
                                          <m:r>
                                            <a:rPr lang="en-US" i="1">
                                              <a:latin typeface="Cambria Math" panose="02040503050406030204" pitchFamily="18" charset="0"/>
                                            </a:rPr>
                                            <m:t>𝑡</m:t>
                                          </m:r>
                                          <m:r>
                                            <a:rPr lang="en-US" i="0">
                                              <a:latin typeface="Cambria Math" panose="02040503050406030204" pitchFamily="18" charset="0"/>
                                            </a:rPr>
                                            <m:t>,</m:t>
                                          </m:r>
                                          <m:r>
                                            <a:rPr lang="en-US" i="1">
                                              <a:latin typeface="Cambria Math" panose="02040503050406030204" pitchFamily="18" charset="0"/>
                                            </a:rPr>
                                            <m:t>𝑛</m:t>
                                          </m:r>
                                        </m:sub>
                                        <m:sup>
                                          <m:r>
                                            <a:rPr lang="en-US" i="1">
                                              <a:latin typeface="Cambria Math" panose="02040503050406030204" pitchFamily="18" charset="0"/>
                                            </a:rPr>
                                            <m:t>𝐸𝑉</m:t>
                                          </m:r>
                                          <m:r>
                                            <a:rPr lang="en-US" i="0">
                                              <a:latin typeface="Cambria Math" panose="02040503050406030204" pitchFamily="18" charset="0"/>
                                            </a:rPr>
                                            <m:t>,</m:t>
                                          </m:r>
                                          <m:r>
                                            <a:rPr lang="en-US" i="1">
                                              <a:latin typeface="Cambria Math" panose="02040503050406030204" pitchFamily="18" charset="0"/>
                                            </a:rPr>
                                            <m:t>𝑢𝑠𝑒</m:t>
                                          </m:r>
                                        </m:sup>
                                      </m:sSubSup>
                                    </m:num>
                                    <m:den>
                                      <m:sSubSup>
                                        <m:sSubSupPr>
                                          <m:ctrlPr>
                                            <a:rPr lang="en-US" i="1">
                                              <a:solidFill>
                                                <a:srgbClr val="836967"/>
                                              </a:solidFill>
                                              <a:latin typeface="Cambria Math" panose="02040503050406030204" pitchFamily="18" charset="0"/>
                                            </a:rPr>
                                          </m:ctrlPr>
                                        </m:sSubSupPr>
                                        <m:e>
                                          <m:r>
                                            <a:rPr lang="en-US" i="1">
                                              <a:latin typeface="Cambria Math" panose="02040503050406030204" pitchFamily="18" charset="0"/>
                                            </a:rPr>
                                            <m:t>𝐶</m:t>
                                          </m:r>
                                        </m:e>
                                        <m:sub>
                                          <m:r>
                                            <a:rPr lang="en-US" i="1">
                                              <a:latin typeface="Cambria Math" panose="02040503050406030204" pitchFamily="18" charset="0"/>
                                            </a:rPr>
                                            <m:t>𝑛</m:t>
                                          </m:r>
                                        </m:sub>
                                        <m:sup>
                                          <m:r>
                                            <a:rPr lang="en-US" b="0" i="1" smtClean="0">
                                              <a:latin typeface="Cambria Math" panose="02040503050406030204" pitchFamily="18" charset="0"/>
                                            </a:rPr>
                                            <m:t>𝐸𝑉</m:t>
                                          </m:r>
                                        </m:sup>
                                      </m:sSubSup>
                                    </m:den>
                                  </m:f>
                                  <m:r>
                                    <a:rPr lang="en-US" i="0">
                                      <a:latin typeface="Cambria Math" panose="02040503050406030204" pitchFamily="18" charset="0"/>
                                    </a:rPr>
                                    <m:t>,  </m:t>
                                  </m:r>
                                  <m:r>
                                    <a:rPr lang="en-US" i="1">
                                      <a:latin typeface="Cambria Math" panose="02040503050406030204" pitchFamily="18" charset="0"/>
                                    </a:rPr>
                                    <m:t>𝑖𝑓</m:t>
                                  </m:r>
                                  <m:r>
                                    <a:rPr lang="en-US" i="0">
                                      <a:latin typeface="Cambria Math" panose="02040503050406030204" pitchFamily="18" charset="0"/>
                                    </a:rPr>
                                    <m:t> </m:t>
                                  </m:r>
                                  <m:sSubSup>
                                    <m:sSubSupPr>
                                      <m:ctrlPr>
                                        <a:rPr lang="en-US" i="1">
                                          <a:solidFill>
                                            <a:srgbClr val="836967"/>
                                          </a:solidFill>
                                          <a:latin typeface="Cambria Math" panose="02040503050406030204" pitchFamily="18" charset="0"/>
                                        </a:rPr>
                                      </m:ctrlPr>
                                    </m:sSubSupPr>
                                    <m:e>
                                      <m:r>
                                        <a:rPr lang="en-US" i="1">
                                          <a:latin typeface="Cambria Math" panose="02040503050406030204" pitchFamily="18" charset="0"/>
                                        </a:rPr>
                                        <m:t>𝑒</m:t>
                                      </m:r>
                                    </m:e>
                                    <m:sub>
                                      <m:r>
                                        <a:rPr lang="en-US" i="1">
                                          <a:latin typeface="Cambria Math" panose="02040503050406030204" pitchFamily="18" charset="0"/>
                                        </a:rPr>
                                        <m:t>𝑡</m:t>
                                      </m:r>
                                      <m:r>
                                        <a:rPr lang="en-US" i="0">
                                          <a:latin typeface="Cambria Math" panose="02040503050406030204" pitchFamily="18" charset="0"/>
                                        </a:rPr>
                                        <m:t>,</m:t>
                                      </m:r>
                                      <m:r>
                                        <a:rPr lang="en-US" i="1">
                                          <a:latin typeface="Cambria Math" panose="02040503050406030204" pitchFamily="18" charset="0"/>
                                        </a:rPr>
                                        <m:t>𝑛</m:t>
                                      </m:r>
                                    </m:sub>
                                    <m:sup>
                                      <m:r>
                                        <a:rPr lang="en-US" b="0" i="1" smtClean="0">
                                          <a:latin typeface="Cambria Math" panose="02040503050406030204" pitchFamily="18" charset="0"/>
                                        </a:rPr>
                                        <m:t>𝐸𝑉</m:t>
                                      </m:r>
                                    </m:sup>
                                  </m:sSubSup>
                                  <m:r>
                                    <a:rPr lang="en-US" i="0">
                                      <a:latin typeface="Cambria Math" panose="02040503050406030204" pitchFamily="18" charset="0"/>
                                    </a:rPr>
                                    <m:t>≥0</m:t>
                                  </m:r>
                                </m:e>
                                <m:e>
                                  <m:r>
                                    <a:rPr lang="en-US" i="0">
                                      <a:latin typeface="Cambria Math" panose="02040503050406030204" pitchFamily="18" charset="0"/>
                                    </a:rPr>
                                    <m:t>&amp;</m:t>
                                  </m:r>
                                  <m:sSubSup>
                                    <m:sSubSupPr>
                                      <m:ctrlPr>
                                        <a:rPr lang="en-US" i="1">
                                          <a:solidFill>
                                            <a:srgbClr val="836967"/>
                                          </a:solidFill>
                                          <a:latin typeface="Cambria Math" panose="02040503050406030204" pitchFamily="18" charset="0"/>
                                        </a:rPr>
                                      </m:ctrlPr>
                                    </m:sSubSupPr>
                                    <m:e>
                                      <m:r>
                                        <a:rPr lang="en-US" i="1">
                                          <a:latin typeface="Cambria Math" panose="02040503050406030204" pitchFamily="18" charset="0"/>
                                        </a:rPr>
                                        <m:t>𝑆𝑂𝐶</m:t>
                                      </m:r>
                                    </m:e>
                                    <m:sub>
                                      <m:r>
                                        <a:rPr lang="en-US" i="1">
                                          <a:latin typeface="Cambria Math" panose="02040503050406030204" pitchFamily="18" charset="0"/>
                                        </a:rPr>
                                        <m:t>𝑡</m:t>
                                      </m:r>
                                      <m:r>
                                        <a:rPr lang="en-US" i="0">
                                          <a:latin typeface="Cambria Math" panose="02040503050406030204" pitchFamily="18" charset="0"/>
                                        </a:rPr>
                                        <m:t>,</m:t>
                                      </m:r>
                                      <m:r>
                                        <a:rPr lang="en-US" i="1">
                                          <a:latin typeface="Cambria Math" panose="02040503050406030204" pitchFamily="18" charset="0"/>
                                        </a:rPr>
                                        <m:t>𝑛</m:t>
                                      </m:r>
                                    </m:sub>
                                    <m:sup>
                                      <m:r>
                                        <a:rPr lang="en-US" i="1">
                                          <a:latin typeface="Cambria Math" panose="02040503050406030204" pitchFamily="18" charset="0"/>
                                        </a:rPr>
                                        <m:t>𝐸𝑉</m:t>
                                      </m:r>
                                    </m:sup>
                                  </m:sSubSup>
                                  <m:r>
                                    <a:rPr lang="en-US" i="0">
                                      <a:latin typeface="Cambria Math" panose="02040503050406030204" pitchFamily="18" charset="0"/>
                                    </a:rPr>
                                    <m:t>+</m:t>
                                  </m:r>
                                  <m:sSub>
                                    <m:sSubPr>
                                      <m:ctrlPr>
                                        <a:rPr lang="en-US" i="1">
                                          <a:solidFill>
                                            <a:srgbClr val="836967"/>
                                          </a:solidFill>
                                          <a:latin typeface="Cambria Math" panose="02040503050406030204" pitchFamily="18" charset="0"/>
                                        </a:rPr>
                                      </m:ctrlPr>
                                    </m:sSubPr>
                                    <m:e>
                                      <m:r>
                                        <a:rPr lang="en-US" i="1">
                                          <a:latin typeface="Cambria Math" panose="02040503050406030204" pitchFamily="18" charset="0"/>
                                        </a:rPr>
                                        <m:t>𝑢</m:t>
                                      </m:r>
                                    </m:e>
                                    <m:sub>
                                      <m:r>
                                        <a:rPr lang="en-US" i="1">
                                          <a:latin typeface="Cambria Math" panose="02040503050406030204" pitchFamily="18" charset="0"/>
                                        </a:rPr>
                                        <m:t>𝑡</m:t>
                                      </m:r>
                                      <m:r>
                                        <a:rPr lang="en-US" b="0" i="1" smtClean="0">
                                          <a:latin typeface="Cambria Math" panose="02040503050406030204" pitchFamily="18" charset="0"/>
                                        </a:rPr>
                                        <m:t>,</m:t>
                                      </m:r>
                                      <m:r>
                                        <a:rPr lang="en-US" b="0" i="1" smtClean="0">
                                          <a:latin typeface="Cambria Math" panose="02040503050406030204" pitchFamily="18" charset="0"/>
                                        </a:rPr>
                                        <m:t>𝑛</m:t>
                                      </m:r>
                                    </m:sub>
                                  </m:sSub>
                                  <m:r>
                                    <a:rPr lang="en-US" i="0">
                                      <a:latin typeface="Cambria Math" panose="02040503050406030204" pitchFamily="18" charset="0"/>
                                    </a:rPr>
                                    <m:t>･</m:t>
                                  </m:r>
                                  <m:f>
                                    <m:fPr>
                                      <m:ctrlPr>
                                        <a:rPr lang="en-US" i="1">
                                          <a:solidFill>
                                            <a:srgbClr val="836967"/>
                                          </a:solidFill>
                                          <a:latin typeface="Cambria Math" panose="02040503050406030204" pitchFamily="18" charset="0"/>
                                        </a:rPr>
                                      </m:ctrlPr>
                                    </m:fPr>
                                    <m:num>
                                      <m:sSubSup>
                                        <m:sSubSupPr>
                                          <m:ctrlPr>
                                            <a:rPr lang="en-US" i="1">
                                              <a:solidFill>
                                                <a:srgbClr val="836967"/>
                                              </a:solidFill>
                                              <a:latin typeface="Cambria Math" panose="02040503050406030204" pitchFamily="18" charset="0"/>
                                            </a:rPr>
                                          </m:ctrlPr>
                                        </m:sSubSupPr>
                                        <m:e>
                                          <m:r>
                                            <a:rPr lang="en-US" i="1">
                                              <a:latin typeface="Cambria Math" panose="02040503050406030204" pitchFamily="18" charset="0"/>
                                            </a:rPr>
                                            <m:t>𝑒</m:t>
                                          </m:r>
                                        </m:e>
                                        <m:sub>
                                          <m:r>
                                            <a:rPr lang="en-US" i="1">
                                              <a:latin typeface="Cambria Math" panose="02040503050406030204" pitchFamily="18" charset="0"/>
                                            </a:rPr>
                                            <m:t>𝑡</m:t>
                                          </m:r>
                                          <m:r>
                                            <a:rPr lang="en-US" i="0">
                                              <a:latin typeface="Cambria Math" panose="02040503050406030204" pitchFamily="18" charset="0"/>
                                            </a:rPr>
                                            <m:t>,</m:t>
                                          </m:r>
                                          <m:r>
                                            <a:rPr lang="en-US" i="1">
                                              <a:latin typeface="Cambria Math" panose="02040503050406030204" pitchFamily="18" charset="0"/>
                                            </a:rPr>
                                            <m:t>𝑛</m:t>
                                          </m:r>
                                        </m:sub>
                                        <m:sup>
                                          <m:r>
                                            <a:rPr lang="en-US" i="1">
                                              <a:latin typeface="Cambria Math" panose="02040503050406030204" pitchFamily="18" charset="0"/>
                                            </a:rPr>
                                            <m:t>𝐸𝑉</m:t>
                                          </m:r>
                                        </m:sup>
                                      </m:sSubSup>
                                    </m:num>
                                    <m:den>
                                      <m:sSubSup>
                                        <m:sSubSupPr>
                                          <m:ctrlPr>
                                            <a:rPr lang="en-US" i="1">
                                              <a:solidFill>
                                                <a:srgbClr val="836967"/>
                                              </a:solidFill>
                                              <a:latin typeface="Cambria Math" panose="02040503050406030204" pitchFamily="18" charset="0"/>
                                            </a:rPr>
                                          </m:ctrlPr>
                                        </m:sSubSupPr>
                                        <m:e>
                                          <m:sSubSup>
                                            <m:sSubSupPr>
                                              <m:ctrlPr>
                                                <a:rPr lang="en-US" i="1">
                                                  <a:solidFill>
                                                    <a:srgbClr val="836967"/>
                                                  </a:solidFill>
                                                  <a:latin typeface="Cambria Math" panose="02040503050406030204" pitchFamily="18" charset="0"/>
                                                </a:rPr>
                                              </m:ctrlPr>
                                            </m:sSubSupPr>
                                            <m:e>
                                              <m:r>
                                                <a:rPr lang="en-US" i="1">
                                                  <a:latin typeface="Cambria Math" panose="02040503050406030204" pitchFamily="18" charset="0"/>
                                                </a:rPr>
                                                <m:t>𝜂</m:t>
                                              </m:r>
                                            </m:e>
                                            <m:sub>
                                              <m:r>
                                                <a:rPr lang="en-US" i="1">
                                                  <a:latin typeface="Cambria Math" panose="02040503050406030204" pitchFamily="18" charset="0"/>
                                                </a:rPr>
                                                <m:t>𝑑𝑖𝑠𝑐h</m:t>
                                              </m:r>
                                              <m:r>
                                                <a:rPr lang="en-US" i="0">
                                                  <a:latin typeface="Cambria Math" panose="02040503050406030204" pitchFamily="18" charset="0"/>
                                                </a:rPr>
                                                <m:t>,</m:t>
                                              </m:r>
                                              <m:r>
                                                <a:rPr lang="en-US" i="1">
                                                  <a:latin typeface="Cambria Math" panose="02040503050406030204" pitchFamily="18" charset="0"/>
                                                </a:rPr>
                                                <m:t>𝑛</m:t>
                                              </m:r>
                                            </m:sub>
                                            <m:sup>
                                              <m:r>
                                                <a:rPr lang="en-US" i="1">
                                                  <a:latin typeface="Cambria Math" panose="02040503050406030204" pitchFamily="18" charset="0"/>
                                                </a:rPr>
                                                <m:t>𝐸𝑉</m:t>
                                              </m:r>
                                            </m:sup>
                                          </m:sSubSup>
                                          <m:r>
                                            <a:rPr lang="en-US" i="0">
                                              <a:latin typeface="Cambria Math" panose="02040503050406030204" pitchFamily="18" charset="0"/>
                                            </a:rPr>
                                            <m:t>･</m:t>
                                          </m:r>
                                          <m:r>
                                            <a:rPr lang="en-US" i="1">
                                              <a:latin typeface="Cambria Math" panose="02040503050406030204" pitchFamily="18" charset="0"/>
                                            </a:rPr>
                                            <m:t>𝐶</m:t>
                                          </m:r>
                                        </m:e>
                                        <m:sub>
                                          <m:r>
                                            <a:rPr lang="en-US" i="1">
                                              <a:latin typeface="Cambria Math" panose="02040503050406030204" pitchFamily="18" charset="0"/>
                                            </a:rPr>
                                            <m:t>𝑛</m:t>
                                          </m:r>
                                        </m:sub>
                                        <m:sup>
                                          <m:r>
                                            <a:rPr lang="en-US" i="1">
                                              <a:latin typeface="Cambria Math" panose="02040503050406030204" pitchFamily="18" charset="0"/>
                                            </a:rPr>
                                            <m:t>𝐸𝑉</m:t>
                                          </m:r>
                                        </m:sup>
                                      </m:sSubSup>
                                    </m:den>
                                  </m:f>
                                  <m:r>
                                    <a:rPr lang="en-US" i="0">
                                      <a:latin typeface="Cambria Math" panose="02040503050406030204" pitchFamily="18" charset="0"/>
                                    </a:rPr>
                                    <m:t>−</m:t>
                                  </m:r>
                                  <m:d>
                                    <m:dPr>
                                      <m:ctrlPr>
                                        <a:rPr lang="en-US" i="1">
                                          <a:latin typeface="Cambria Math" panose="02040503050406030204" pitchFamily="18" charset="0"/>
                                        </a:rPr>
                                      </m:ctrlPr>
                                    </m:dPr>
                                    <m:e>
                                      <m:r>
                                        <a:rPr lang="en-US" i="0">
                                          <a:latin typeface="Cambria Math" panose="02040503050406030204" pitchFamily="18" charset="0"/>
                                        </a:rPr>
                                        <m:t>1−</m:t>
                                      </m:r>
                                      <m:sSub>
                                        <m:sSubPr>
                                          <m:ctrlPr>
                                            <a:rPr lang="en-US" i="1">
                                              <a:solidFill>
                                                <a:srgbClr val="836967"/>
                                              </a:solidFill>
                                              <a:latin typeface="Cambria Math" panose="02040503050406030204" pitchFamily="18" charset="0"/>
                                            </a:rPr>
                                          </m:ctrlPr>
                                        </m:sSubPr>
                                        <m:e>
                                          <m:r>
                                            <a:rPr lang="en-US" i="1">
                                              <a:latin typeface="Cambria Math" panose="02040503050406030204" pitchFamily="18" charset="0"/>
                                            </a:rPr>
                                            <m:t>𝑢</m:t>
                                          </m:r>
                                        </m:e>
                                        <m:sub>
                                          <m:r>
                                            <a:rPr lang="en-US" i="1">
                                              <a:latin typeface="Cambria Math" panose="02040503050406030204" pitchFamily="18" charset="0"/>
                                            </a:rPr>
                                            <m:t>𝑡</m:t>
                                          </m:r>
                                          <m:r>
                                            <a:rPr lang="en-US" b="0" i="1" smtClean="0">
                                              <a:latin typeface="Cambria Math" panose="02040503050406030204" pitchFamily="18" charset="0"/>
                                            </a:rPr>
                                            <m:t>,</m:t>
                                          </m:r>
                                          <m:r>
                                            <a:rPr lang="en-US" b="0" i="1" smtClean="0">
                                              <a:latin typeface="Cambria Math" panose="02040503050406030204" pitchFamily="18" charset="0"/>
                                            </a:rPr>
                                            <m:t>𝑛</m:t>
                                          </m:r>
                                        </m:sub>
                                      </m:sSub>
                                    </m:e>
                                  </m:d>
                                  <m:r>
                                    <a:rPr lang="en-US" i="0">
                                      <a:latin typeface="Cambria Math" panose="02040503050406030204" pitchFamily="18" charset="0"/>
                                    </a:rPr>
                                    <m:t>･</m:t>
                                  </m:r>
                                  <m:f>
                                    <m:fPr>
                                      <m:ctrlPr>
                                        <a:rPr lang="en-US" i="1">
                                          <a:solidFill>
                                            <a:srgbClr val="836967"/>
                                          </a:solidFill>
                                          <a:latin typeface="Cambria Math" panose="02040503050406030204" pitchFamily="18" charset="0"/>
                                        </a:rPr>
                                      </m:ctrlPr>
                                    </m:fPr>
                                    <m:num>
                                      <m:sSubSup>
                                        <m:sSubSupPr>
                                          <m:ctrlPr>
                                            <a:rPr lang="en-US" i="1">
                                              <a:solidFill>
                                                <a:srgbClr val="836967"/>
                                              </a:solidFill>
                                              <a:latin typeface="Cambria Math" panose="02040503050406030204" pitchFamily="18" charset="0"/>
                                            </a:rPr>
                                          </m:ctrlPr>
                                        </m:sSubSupPr>
                                        <m:e>
                                          <m:r>
                                            <a:rPr lang="en-US" i="1">
                                              <a:latin typeface="Cambria Math" panose="02040503050406030204" pitchFamily="18" charset="0"/>
                                            </a:rPr>
                                            <m:t>𝑒</m:t>
                                          </m:r>
                                        </m:e>
                                        <m:sub>
                                          <m:r>
                                            <a:rPr lang="en-US" i="1">
                                              <a:latin typeface="Cambria Math" panose="02040503050406030204" pitchFamily="18" charset="0"/>
                                            </a:rPr>
                                            <m:t>𝑡</m:t>
                                          </m:r>
                                          <m:r>
                                            <a:rPr lang="en-US" i="0">
                                              <a:latin typeface="Cambria Math" panose="02040503050406030204" pitchFamily="18" charset="0"/>
                                            </a:rPr>
                                            <m:t>,</m:t>
                                          </m:r>
                                          <m:r>
                                            <a:rPr lang="en-US" i="1">
                                              <a:latin typeface="Cambria Math" panose="02040503050406030204" pitchFamily="18" charset="0"/>
                                            </a:rPr>
                                            <m:t>𝑛</m:t>
                                          </m:r>
                                        </m:sub>
                                        <m:sup>
                                          <m:r>
                                            <a:rPr lang="en-US" i="1">
                                              <a:latin typeface="Cambria Math" panose="02040503050406030204" pitchFamily="18" charset="0"/>
                                            </a:rPr>
                                            <m:t>𝐸𝑉</m:t>
                                          </m:r>
                                          <m:r>
                                            <a:rPr lang="en-US" i="0">
                                              <a:latin typeface="Cambria Math" panose="02040503050406030204" pitchFamily="18" charset="0"/>
                                            </a:rPr>
                                            <m:t>,</m:t>
                                          </m:r>
                                          <m:r>
                                            <a:rPr lang="en-US" i="1">
                                              <a:latin typeface="Cambria Math" panose="02040503050406030204" pitchFamily="18" charset="0"/>
                                            </a:rPr>
                                            <m:t>𝑢𝑠𝑒</m:t>
                                          </m:r>
                                        </m:sup>
                                      </m:sSubSup>
                                    </m:num>
                                    <m:den>
                                      <m:sSubSup>
                                        <m:sSubSupPr>
                                          <m:ctrlPr>
                                            <a:rPr lang="en-US" i="1">
                                              <a:solidFill>
                                                <a:srgbClr val="836967"/>
                                              </a:solidFill>
                                              <a:latin typeface="Cambria Math" panose="02040503050406030204" pitchFamily="18" charset="0"/>
                                            </a:rPr>
                                          </m:ctrlPr>
                                        </m:sSubSupPr>
                                        <m:e>
                                          <m:r>
                                            <a:rPr lang="en-US" i="1">
                                              <a:latin typeface="Cambria Math" panose="02040503050406030204" pitchFamily="18" charset="0"/>
                                            </a:rPr>
                                            <m:t>𝐶</m:t>
                                          </m:r>
                                        </m:e>
                                        <m:sub>
                                          <m:r>
                                            <a:rPr lang="en-US" i="1">
                                              <a:latin typeface="Cambria Math" panose="02040503050406030204" pitchFamily="18" charset="0"/>
                                            </a:rPr>
                                            <m:t>𝑛</m:t>
                                          </m:r>
                                        </m:sub>
                                        <m:sup>
                                          <m:r>
                                            <a:rPr lang="en-US" b="0" i="1" smtClean="0">
                                              <a:latin typeface="Cambria Math" panose="02040503050406030204" pitchFamily="18" charset="0"/>
                                            </a:rPr>
                                            <m:t>𝐸𝑉</m:t>
                                          </m:r>
                                        </m:sup>
                                      </m:sSubSup>
                                    </m:den>
                                  </m:f>
                                  <m:r>
                                    <a:rPr lang="en-US" i="0">
                                      <a:latin typeface="Cambria Math" panose="02040503050406030204" pitchFamily="18" charset="0"/>
                                    </a:rPr>
                                    <m:t>,  </m:t>
                                  </m:r>
                                  <m:r>
                                    <a:rPr lang="en-US" i="1">
                                      <a:latin typeface="Cambria Math" panose="02040503050406030204" pitchFamily="18" charset="0"/>
                                    </a:rPr>
                                    <m:t>𝑜𝑡h𝑒𝑟𝑒𝑖𝑠𝑒</m:t>
                                  </m:r>
                                </m:e>
                              </m:eqArr>
                              <m:r>
                                <a:rPr lang="en-US" i="0">
                                  <a:latin typeface="Cambria Math" panose="02040503050406030204" pitchFamily="18" charset="0"/>
                                </a:rPr>
                                <m:t>#</m:t>
                              </m:r>
                              <m:d>
                                <m:dPr>
                                  <m:ctrlPr>
                                    <a:rPr lang="en-US" i="1">
                                      <a:latin typeface="Cambria Math" panose="02040503050406030204" pitchFamily="18" charset="0"/>
                                    </a:rPr>
                                  </m:ctrlPr>
                                </m:dPr>
                                <m:e>
                                  <m:r>
                                    <a:rPr lang="en-US" b="0" i="1" smtClean="0">
                                      <a:latin typeface="Cambria Math" panose="02040503050406030204" pitchFamily="18" charset="0"/>
                                    </a:rPr>
                                    <m:t>6</m:t>
                                  </m:r>
                                </m:e>
                              </m:d>
                            </m:e>
                          </m:eqArr>
                        </m:e>
                      </m:d>
                    </m:oMath>
                  </m:oMathPara>
                </a14:m>
                <a:endParaRPr lang="en-US" dirty="0"/>
              </a:p>
            </p:txBody>
          </p:sp>
        </mc:Choice>
        <mc:Fallback xmlns="">
          <p:sp>
            <p:nvSpPr>
              <p:cNvPr id="7" name="テキスト ボックス 6">
                <a:extLst>
                  <a:ext uri="{FF2B5EF4-FFF2-40B4-BE49-F238E27FC236}">
                    <a16:creationId xmlns:a16="http://schemas.microsoft.com/office/drawing/2014/main" id="{B3FA184D-5F83-C863-E339-EBAE82F35617}"/>
                  </a:ext>
                </a:extLst>
              </p:cNvPr>
              <p:cNvSpPr txBox="1">
                <a:spLocks noRot="1" noChangeAspect="1" noMove="1" noResize="1" noEditPoints="1" noAdjustHandles="1" noChangeArrowheads="1" noChangeShapeType="1" noTextEdit="1"/>
              </p:cNvSpPr>
              <p:nvPr/>
            </p:nvSpPr>
            <p:spPr>
              <a:xfrm>
                <a:off x="752228" y="835180"/>
                <a:ext cx="8599713" cy="154228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9" name="表 8">
                <a:extLst>
                  <a:ext uri="{FF2B5EF4-FFF2-40B4-BE49-F238E27FC236}">
                    <a16:creationId xmlns:a16="http://schemas.microsoft.com/office/drawing/2014/main" id="{70C1DE68-E0B9-BB7F-C236-532F5FEB21B6}"/>
                  </a:ext>
                </a:extLst>
              </p:cNvPr>
              <p:cNvGraphicFramePr>
                <a:graphicFrameLocks noGrp="1"/>
              </p:cNvGraphicFramePr>
              <p:nvPr>
                <p:extLst>
                  <p:ext uri="{D42A27DB-BD31-4B8C-83A1-F6EECF244321}">
                    <p14:modId xmlns:p14="http://schemas.microsoft.com/office/powerpoint/2010/main" val="4033480385"/>
                  </p:ext>
                </p:extLst>
              </p:nvPr>
            </p:nvGraphicFramePr>
            <p:xfrm>
              <a:off x="301332" y="2399626"/>
              <a:ext cx="9428517" cy="3218214"/>
            </p:xfrm>
            <a:graphic>
              <a:graphicData uri="http://schemas.openxmlformats.org/drawingml/2006/table">
                <a:tbl>
                  <a:tblPr bandRow="1">
                    <a:tableStyleId>{5C22544A-7EE6-4342-B048-85BDC9FD1C3A}</a:tableStyleId>
                  </a:tblPr>
                  <a:tblGrid>
                    <a:gridCol w="1343001">
                      <a:extLst>
                        <a:ext uri="{9D8B030D-6E8A-4147-A177-3AD203B41FA5}">
                          <a16:colId xmlns:a16="http://schemas.microsoft.com/office/drawing/2014/main" val="2815638221"/>
                        </a:ext>
                      </a:extLst>
                    </a:gridCol>
                    <a:gridCol w="316271">
                      <a:extLst>
                        <a:ext uri="{9D8B030D-6E8A-4147-A177-3AD203B41FA5}">
                          <a16:colId xmlns:a16="http://schemas.microsoft.com/office/drawing/2014/main" val="3280904105"/>
                        </a:ext>
                      </a:extLst>
                    </a:gridCol>
                    <a:gridCol w="7769245">
                      <a:extLst>
                        <a:ext uri="{9D8B030D-6E8A-4147-A177-3AD203B41FA5}">
                          <a16:colId xmlns:a16="http://schemas.microsoft.com/office/drawing/2014/main" val="2064586492"/>
                        </a:ext>
                      </a:extLst>
                    </a:gridCol>
                  </a:tblGrid>
                  <a:tr h="536369">
                    <a:tc>
                      <a:txBody>
                        <a:bodyPr/>
                        <a:lstStyle/>
                        <a:p>
                          <a:pPr/>
                          <a14:m>
                            <m:oMathPara xmlns:m="http://schemas.openxmlformats.org/officeDocument/2006/math">
                              <m:oMathParaPr>
                                <m:jc m:val="left"/>
                              </m:oMathParaPr>
                              <m:oMath xmlns:m="http://schemas.openxmlformats.org/officeDocument/2006/math">
                                <m:sSub>
                                  <m:sSubPr>
                                    <m:ctrlPr>
                                      <a:rPr lang="en-US" sz="1600" i="1" smtClean="0">
                                        <a:solidFill>
                                          <a:srgbClr val="836967"/>
                                        </a:solidFill>
                                        <a:latin typeface="Cambria Math" panose="02040503050406030204" pitchFamily="18" charset="0"/>
                                      </a:rPr>
                                    </m:ctrlPr>
                                  </m:sSubPr>
                                  <m:e>
                                    <m:r>
                                      <a:rPr lang="en-US" sz="1600" i="1">
                                        <a:latin typeface="Cambria Math" panose="02040503050406030204" pitchFamily="18" charset="0"/>
                                      </a:rPr>
                                      <m:t>𝑢</m:t>
                                    </m:r>
                                  </m:e>
                                  <m:sub>
                                    <m:r>
                                      <a:rPr lang="en-US" sz="1600" i="1">
                                        <a:latin typeface="Cambria Math" panose="02040503050406030204" pitchFamily="18" charset="0"/>
                                      </a:rPr>
                                      <m:t>𝑡</m:t>
                                    </m:r>
                                    <m:r>
                                      <a:rPr lang="en-US" sz="1600" i="0">
                                        <a:latin typeface="Cambria Math" panose="02040503050406030204" pitchFamily="18" charset="0"/>
                                      </a:rPr>
                                      <m:t>,</m:t>
                                    </m:r>
                                    <m:r>
                                      <a:rPr lang="en-US" sz="1600" i="1">
                                        <a:latin typeface="Cambria Math" panose="02040503050406030204" pitchFamily="18" charset="0"/>
                                      </a:rPr>
                                      <m:t>𝑛</m:t>
                                    </m:r>
                                  </m:sub>
                                </m:sSub>
                              </m:oMath>
                            </m:oMathPara>
                          </a14:m>
                          <a:endParaRPr lang="en-US" sz="1600" dirty="0"/>
                        </a:p>
                      </a:txBody>
                      <a:tcPr>
                        <a:no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600" dirty="0"/>
                            <a:t>:</a:t>
                          </a:r>
                        </a:p>
                      </a:txBody>
                      <a:tcPr>
                        <a:noFill/>
                      </a:tcPr>
                    </a:tc>
                    <a:tc>
                      <a:txBody>
                        <a:bodyPr/>
                        <a:lstStyle/>
                        <a:p>
                          <a:r>
                            <a:rPr lang="en-US" altLang="ja-JP" sz="1600" dirty="0"/>
                            <a:t>Binary decision variable whether EV is connected to the grid </a:t>
                          </a:r>
                          <a:r>
                            <a:rPr lang="en-US" sz="1600" dirty="0"/>
                            <a:t>at timeslot </a:t>
                          </a:r>
                          <a14:m>
                            <m:oMath xmlns:m="http://schemas.openxmlformats.org/officeDocument/2006/math">
                              <m:r>
                                <a:rPr lang="en-US" altLang="ja-JP" sz="1600" b="0" i="1" smtClean="0">
                                  <a:latin typeface="Cambria Math" panose="02040503050406030204" pitchFamily="18" charset="0"/>
                                </a:rPr>
                                <m:t>𝑡</m:t>
                              </m:r>
                            </m:oMath>
                          </a14:m>
                          <a:r>
                            <a:rPr lang="en-US" altLang="ja-JP" sz="1600" dirty="0"/>
                            <a:t> of</a:t>
                          </a:r>
                          <a:r>
                            <a:rPr lang="en-US" altLang="ja-JP" sz="1600" baseline="0" dirty="0"/>
                            <a:t> agent </a:t>
                          </a:r>
                          <a14:m>
                            <m:oMath xmlns:m="http://schemas.openxmlformats.org/officeDocument/2006/math">
                              <m:r>
                                <a:rPr lang="en-US" altLang="ja-JP" sz="1600" b="0" i="1" smtClean="0">
                                  <a:latin typeface="Cambria Math" panose="02040503050406030204" pitchFamily="18" charset="0"/>
                                </a:rPr>
                                <m:t>𝑛</m:t>
                              </m:r>
                            </m:oMath>
                          </a14:m>
                          <a:endParaRPr lang="en-US" sz="1600" dirty="0"/>
                        </a:p>
                      </a:txBody>
                      <a:tcPr>
                        <a:noFill/>
                      </a:tcPr>
                    </a:tc>
                    <a:extLst>
                      <a:ext uri="{0D108BD9-81ED-4DB2-BD59-A6C34878D82A}">
                        <a16:rowId xmlns:a16="http://schemas.microsoft.com/office/drawing/2014/main" val="585328255"/>
                      </a:ext>
                    </a:extLst>
                  </a:tr>
                  <a:tr h="536369">
                    <a:tc>
                      <a:txBody>
                        <a:bodyPr/>
                        <a:lstStyle/>
                        <a:p>
                          <a:pPr/>
                          <a14:m>
                            <m:oMathPara xmlns:m="http://schemas.openxmlformats.org/officeDocument/2006/math">
                              <m:oMathParaPr>
                                <m:jc m:val="left"/>
                              </m:oMathParaPr>
                              <m:oMath xmlns:m="http://schemas.openxmlformats.org/officeDocument/2006/math">
                                <m:sSubSup>
                                  <m:sSubSupPr>
                                    <m:ctrlPr>
                                      <a:rPr lang="en-US" sz="1350" i="1" kern="1200" smtClean="0">
                                        <a:solidFill>
                                          <a:schemeClr val="dk1"/>
                                        </a:solidFill>
                                        <a:effectLst/>
                                        <a:latin typeface="Cambria Math" panose="02040503050406030204" pitchFamily="18" charset="0"/>
                                        <a:ea typeface="+mn-ea"/>
                                        <a:cs typeface="+mn-cs"/>
                                      </a:rPr>
                                    </m:ctrlPr>
                                  </m:sSubSupPr>
                                  <m:e>
                                    <m:r>
                                      <a:rPr lang="en-US" sz="1350" i="1" kern="1200">
                                        <a:solidFill>
                                          <a:schemeClr val="dk1"/>
                                        </a:solidFill>
                                        <a:effectLst/>
                                        <a:latin typeface="Cambria Math" panose="02040503050406030204" pitchFamily="18" charset="0"/>
                                        <a:ea typeface="+mn-ea"/>
                                        <a:cs typeface="+mn-cs"/>
                                      </a:rPr>
                                      <m:t>𝑆𝑂𝐶</m:t>
                                    </m:r>
                                  </m:e>
                                  <m:sub>
                                    <m:r>
                                      <a:rPr lang="en-US" sz="1350" i="1" kern="1200">
                                        <a:solidFill>
                                          <a:schemeClr val="dk1"/>
                                        </a:solidFill>
                                        <a:effectLst/>
                                        <a:latin typeface="Cambria Math" panose="02040503050406030204" pitchFamily="18" charset="0"/>
                                        <a:ea typeface="+mn-ea"/>
                                        <a:cs typeface="+mn-cs"/>
                                      </a:rPr>
                                      <m:t>𝑡</m:t>
                                    </m:r>
                                    <m:r>
                                      <a:rPr lang="en-US" sz="1350" i="1" kern="1200">
                                        <a:solidFill>
                                          <a:schemeClr val="dk1"/>
                                        </a:solidFill>
                                        <a:effectLst/>
                                        <a:latin typeface="Cambria Math" panose="02040503050406030204" pitchFamily="18" charset="0"/>
                                        <a:ea typeface="+mn-ea"/>
                                        <a:cs typeface="+mn-cs"/>
                                      </a:rPr>
                                      <m:t>,</m:t>
                                    </m:r>
                                    <m:r>
                                      <a:rPr lang="en-US" sz="1350" i="1" kern="1200">
                                        <a:solidFill>
                                          <a:schemeClr val="dk1"/>
                                        </a:solidFill>
                                        <a:effectLst/>
                                        <a:latin typeface="Cambria Math" panose="02040503050406030204" pitchFamily="18" charset="0"/>
                                        <a:ea typeface="+mn-ea"/>
                                        <a:cs typeface="+mn-cs"/>
                                      </a:rPr>
                                      <m:t>𝑛</m:t>
                                    </m:r>
                                  </m:sub>
                                  <m:sup>
                                    <m:r>
                                      <a:rPr lang="en-US" sz="1350" b="0" i="1" kern="1200" smtClean="0">
                                        <a:solidFill>
                                          <a:schemeClr val="dk1"/>
                                        </a:solidFill>
                                        <a:effectLst/>
                                        <a:latin typeface="Cambria Math" panose="02040503050406030204" pitchFamily="18" charset="0"/>
                                        <a:ea typeface="+mn-ea"/>
                                        <a:cs typeface="+mn-cs"/>
                                      </a:rPr>
                                      <m:t>𝐸𝑉</m:t>
                                    </m:r>
                                  </m:sup>
                                </m:sSubSup>
                              </m:oMath>
                            </m:oMathPara>
                          </a14:m>
                          <a:endParaRPr lang="en-US" sz="1600" dirty="0"/>
                        </a:p>
                      </a:txBody>
                      <a:tcPr>
                        <a:no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600" dirty="0"/>
                            <a:t>:</a:t>
                          </a:r>
                        </a:p>
                      </a:txBody>
                      <a:tcPr>
                        <a:noFill/>
                      </a:tcPr>
                    </a:tc>
                    <a:tc>
                      <a:txBody>
                        <a:bodyPr/>
                        <a:lstStyle/>
                        <a:p>
                          <a:r>
                            <a:rPr lang="en-US" altLang="ja-JP" sz="1600" dirty="0"/>
                            <a:t>State</a:t>
                          </a:r>
                          <a:r>
                            <a:rPr lang="ja-JP" altLang="en-US" sz="1600" dirty="0"/>
                            <a:t> </a:t>
                          </a:r>
                          <a:r>
                            <a:rPr lang="en-US" altLang="ja-JP" sz="1600" dirty="0"/>
                            <a:t>of</a:t>
                          </a:r>
                          <a:r>
                            <a:rPr lang="ja-JP" altLang="en-US" sz="1600" dirty="0"/>
                            <a:t> </a:t>
                          </a:r>
                          <a:r>
                            <a:rPr lang="en-US" altLang="ja-JP" sz="1600" dirty="0"/>
                            <a:t>charge</a:t>
                          </a:r>
                          <a:r>
                            <a:rPr lang="ja-JP" altLang="en-US" sz="1600" dirty="0"/>
                            <a:t> </a:t>
                          </a:r>
                          <a:r>
                            <a:rPr lang="en-US" altLang="ja-JP" sz="1600" dirty="0"/>
                            <a:t>of</a:t>
                          </a:r>
                          <a:r>
                            <a:rPr lang="ja-JP" altLang="en-US" sz="1600" dirty="0"/>
                            <a:t> </a:t>
                          </a:r>
                          <a:r>
                            <a:rPr lang="en-US" altLang="ja-JP" sz="1600" dirty="0"/>
                            <a:t>EV[-] </a:t>
                          </a:r>
                          <a:r>
                            <a:rPr lang="en-US" sz="1600" dirty="0"/>
                            <a:t>at timeslot </a:t>
                          </a:r>
                          <a14:m>
                            <m:oMath xmlns:m="http://schemas.openxmlformats.org/officeDocument/2006/math">
                              <m:r>
                                <a:rPr lang="en-US" altLang="ja-JP" sz="1600" b="0" i="1" smtClean="0">
                                  <a:latin typeface="Cambria Math" panose="02040503050406030204" pitchFamily="18" charset="0"/>
                                </a:rPr>
                                <m:t>𝑡</m:t>
                              </m:r>
                            </m:oMath>
                          </a14:m>
                          <a:r>
                            <a:rPr lang="en-US" altLang="ja-JP" sz="1600" dirty="0"/>
                            <a:t> of</a:t>
                          </a:r>
                          <a:r>
                            <a:rPr lang="en-US" altLang="ja-JP" sz="1600" baseline="0" dirty="0"/>
                            <a:t> agent </a:t>
                          </a:r>
                          <a14:m>
                            <m:oMath xmlns:m="http://schemas.openxmlformats.org/officeDocument/2006/math">
                              <m:r>
                                <a:rPr lang="en-US" altLang="ja-JP" sz="1600" b="0" i="1" smtClean="0">
                                  <a:latin typeface="Cambria Math" panose="02040503050406030204" pitchFamily="18" charset="0"/>
                                </a:rPr>
                                <m:t>𝑛</m:t>
                              </m:r>
                            </m:oMath>
                          </a14:m>
                          <a:endParaRPr lang="en-US" sz="1600" dirty="0"/>
                        </a:p>
                      </a:txBody>
                      <a:tcPr>
                        <a:noFill/>
                      </a:tcPr>
                    </a:tc>
                    <a:extLst>
                      <a:ext uri="{0D108BD9-81ED-4DB2-BD59-A6C34878D82A}">
                        <a16:rowId xmlns:a16="http://schemas.microsoft.com/office/drawing/2014/main" val="2567745939"/>
                      </a:ext>
                    </a:extLst>
                  </a:tr>
                  <a:tr h="536369">
                    <a:tc>
                      <a:txBody>
                        <a:bodyPr/>
                        <a:lstStyle/>
                        <a:p>
                          <a:pPr/>
                          <a14:m>
                            <m:oMathPara xmlns:m="http://schemas.openxmlformats.org/officeDocument/2006/math">
                              <m:oMathParaPr>
                                <m:jc m:val="left"/>
                              </m:oMathParaPr>
                              <m:oMath xmlns:m="http://schemas.openxmlformats.org/officeDocument/2006/math">
                                <m:sSubSup>
                                  <m:sSubSupPr>
                                    <m:ctrlPr>
                                      <a:rPr lang="en-US" sz="1600" i="1" smtClean="0">
                                        <a:solidFill>
                                          <a:srgbClr val="836967"/>
                                        </a:solidFill>
                                        <a:latin typeface="Cambria Math" panose="02040503050406030204" pitchFamily="18" charset="0"/>
                                      </a:rPr>
                                    </m:ctrlPr>
                                  </m:sSubSupPr>
                                  <m:e>
                                    <m:r>
                                      <a:rPr lang="en-US" sz="1600" i="1">
                                        <a:latin typeface="Cambria Math" panose="02040503050406030204" pitchFamily="18" charset="0"/>
                                      </a:rPr>
                                      <m:t>𝜂</m:t>
                                    </m:r>
                                  </m:e>
                                  <m:sub>
                                    <m:r>
                                      <a:rPr lang="en-US" sz="1600" i="1">
                                        <a:latin typeface="Cambria Math" panose="02040503050406030204" pitchFamily="18" charset="0"/>
                                      </a:rPr>
                                      <m:t>𝑐h</m:t>
                                    </m:r>
                                    <m:r>
                                      <a:rPr lang="en-US" sz="1600" i="0">
                                        <a:latin typeface="Cambria Math" panose="02040503050406030204" pitchFamily="18" charset="0"/>
                                      </a:rPr>
                                      <m:t>,</m:t>
                                    </m:r>
                                    <m:r>
                                      <a:rPr lang="en-US" sz="1600" i="1">
                                        <a:latin typeface="Cambria Math" panose="02040503050406030204" pitchFamily="18" charset="0"/>
                                      </a:rPr>
                                      <m:t>𝑛</m:t>
                                    </m:r>
                                  </m:sub>
                                  <m:sup>
                                    <m:r>
                                      <a:rPr lang="en-US" sz="1600" b="0" i="1" smtClean="0">
                                        <a:latin typeface="Cambria Math" panose="02040503050406030204" pitchFamily="18" charset="0"/>
                                      </a:rPr>
                                      <m:t>𝐸𝑉</m:t>
                                    </m:r>
                                  </m:sup>
                                </m:sSubSup>
                              </m:oMath>
                            </m:oMathPara>
                          </a14:m>
                          <a:endParaRPr lang="en-US" sz="1600" dirty="0"/>
                        </a:p>
                      </a:txBody>
                      <a:tcPr>
                        <a:noFill/>
                      </a:tcPr>
                    </a:tc>
                    <a:tc>
                      <a:txBody>
                        <a:bodyPr/>
                        <a:lstStyle/>
                        <a:p>
                          <a:r>
                            <a:rPr lang="en-US" sz="1600" dirty="0"/>
                            <a:t>:</a:t>
                          </a:r>
                        </a:p>
                      </a:txBody>
                      <a:tcPr>
                        <a:noFill/>
                      </a:tcPr>
                    </a:tc>
                    <a:tc>
                      <a:txBody>
                        <a:bodyPr/>
                        <a:lstStyle/>
                        <a:p>
                          <a:r>
                            <a:rPr lang="en-US" sz="1600" dirty="0"/>
                            <a:t>Charging efficiency </a:t>
                          </a:r>
                          <a:r>
                            <a:rPr lang="en-US" altLang="ja-JP" sz="1600" dirty="0"/>
                            <a:t>of EV of</a:t>
                          </a:r>
                          <a:r>
                            <a:rPr lang="en-US" altLang="ja-JP" sz="1600" baseline="0" dirty="0"/>
                            <a:t> agent </a:t>
                          </a:r>
                          <a14:m>
                            <m:oMath xmlns:m="http://schemas.openxmlformats.org/officeDocument/2006/math">
                              <m:r>
                                <a:rPr lang="en-US" altLang="ja-JP" sz="1600" b="0" i="1" smtClean="0">
                                  <a:latin typeface="Cambria Math" panose="02040503050406030204" pitchFamily="18" charset="0"/>
                                </a:rPr>
                                <m:t>𝑛</m:t>
                              </m:r>
                            </m:oMath>
                          </a14:m>
                          <a:endParaRPr lang="en-US" sz="1600" dirty="0"/>
                        </a:p>
                      </a:txBody>
                      <a:tcPr>
                        <a:noFill/>
                      </a:tcPr>
                    </a:tc>
                    <a:extLst>
                      <a:ext uri="{0D108BD9-81ED-4DB2-BD59-A6C34878D82A}">
                        <a16:rowId xmlns:a16="http://schemas.microsoft.com/office/drawing/2014/main" val="1172270262"/>
                      </a:ext>
                    </a:extLst>
                  </a:tr>
                  <a:tr h="536369">
                    <a:tc>
                      <a:txBody>
                        <a:bodyPr/>
                        <a:lstStyle/>
                        <a:p>
                          <a:pPr/>
                          <a14:m>
                            <m:oMathPara xmlns:m="http://schemas.openxmlformats.org/officeDocument/2006/math">
                              <m:oMathParaPr>
                                <m:jc m:val="left"/>
                              </m:oMathParaPr>
                              <m:oMath xmlns:m="http://schemas.openxmlformats.org/officeDocument/2006/math">
                                <m:sSubSup>
                                  <m:sSubSupPr>
                                    <m:ctrlPr>
                                      <a:rPr lang="en-US" sz="1600" i="1" smtClean="0">
                                        <a:solidFill>
                                          <a:srgbClr val="836967"/>
                                        </a:solidFill>
                                        <a:latin typeface="Cambria Math" panose="02040503050406030204" pitchFamily="18" charset="0"/>
                                      </a:rPr>
                                    </m:ctrlPr>
                                  </m:sSubSupPr>
                                  <m:e>
                                    <m:r>
                                      <a:rPr lang="en-US" sz="1600" i="1">
                                        <a:latin typeface="Cambria Math" panose="02040503050406030204" pitchFamily="18" charset="0"/>
                                      </a:rPr>
                                      <m:t>𝜂</m:t>
                                    </m:r>
                                  </m:e>
                                  <m:sub>
                                    <m:r>
                                      <a:rPr lang="en-US" sz="1600" i="1">
                                        <a:latin typeface="Cambria Math" panose="02040503050406030204" pitchFamily="18" charset="0"/>
                                      </a:rPr>
                                      <m:t>𝑑𝑖𝑠𝑐h</m:t>
                                    </m:r>
                                    <m:r>
                                      <a:rPr lang="en-US" sz="1600" i="0">
                                        <a:latin typeface="Cambria Math" panose="02040503050406030204" pitchFamily="18" charset="0"/>
                                      </a:rPr>
                                      <m:t>,</m:t>
                                    </m:r>
                                    <m:r>
                                      <a:rPr lang="en-US" sz="1600" i="1">
                                        <a:latin typeface="Cambria Math" panose="02040503050406030204" pitchFamily="18" charset="0"/>
                                      </a:rPr>
                                      <m:t>𝑛</m:t>
                                    </m:r>
                                  </m:sub>
                                  <m:sup>
                                    <m:r>
                                      <a:rPr lang="en-US" sz="1600" b="0" i="1" smtClean="0">
                                        <a:latin typeface="Cambria Math" panose="02040503050406030204" pitchFamily="18" charset="0"/>
                                      </a:rPr>
                                      <m:t>𝐸𝑉</m:t>
                                    </m:r>
                                  </m:sup>
                                </m:sSubSup>
                              </m:oMath>
                            </m:oMathPara>
                          </a14:m>
                          <a:endParaRPr lang="en-US" sz="1600" dirty="0"/>
                        </a:p>
                      </a:txBody>
                      <a:tcPr>
                        <a:noFill/>
                      </a:tcPr>
                    </a:tc>
                    <a:tc>
                      <a:txBody>
                        <a:bodyPr/>
                        <a:lstStyle/>
                        <a:p>
                          <a:r>
                            <a:rPr lang="en-US" sz="1600" dirty="0"/>
                            <a:t>:</a:t>
                          </a:r>
                        </a:p>
                      </a:txBody>
                      <a:tcPr>
                        <a:noFill/>
                      </a:tcPr>
                    </a:tc>
                    <a:tc>
                      <a:txBody>
                        <a:bodyPr/>
                        <a:lstStyle/>
                        <a:p>
                          <a:r>
                            <a:rPr lang="en-US" sz="1600" dirty="0"/>
                            <a:t>Discharging efficiency </a:t>
                          </a:r>
                          <a:r>
                            <a:rPr lang="en-US" altLang="ja-JP" sz="1600" dirty="0"/>
                            <a:t>of EV of</a:t>
                          </a:r>
                          <a:r>
                            <a:rPr lang="en-US" altLang="ja-JP" sz="1600" baseline="0" dirty="0"/>
                            <a:t> agent </a:t>
                          </a:r>
                          <a14:m>
                            <m:oMath xmlns:m="http://schemas.openxmlformats.org/officeDocument/2006/math">
                              <m:r>
                                <a:rPr lang="en-US" altLang="ja-JP" sz="1600" b="0" i="1" smtClean="0">
                                  <a:latin typeface="Cambria Math" panose="02040503050406030204" pitchFamily="18" charset="0"/>
                                </a:rPr>
                                <m:t>𝑛</m:t>
                              </m:r>
                            </m:oMath>
                          </a14:m>
                          <a:endParaRPr lang="en-US" sz="1600" dirty="0"/>
                        </a:p>
                      </a:txBody>
                      <a:tcPr>
                        <a:noFill/>
                      </a:tcPr>
                    </a:tc>
                    <a:extLst>
                      <a:ext uri="{0D108BD9-81ED-4DB2-BD59-A6C34878D82A}">
                        <a16:rowId xmlns:a16="http://schemas.microsoft.com/office/drawing/2014/main" val="4272089726"/>
                      </a:ext>
                    </a:extLst>
                  </a:tr>
                  <a:tr h="536369">
                    <a:tc>
                      <a:txBody>
                        <a:bodyPr/>
                        <a:lstStyle/>
                        <a:p>
                          <a:pPr/>
                          <a14:m>
                            <m:oMathPara xmlns:m="http://schemas.openxmlformats.org/officeDocument/2006/math">
                              <m:oMathParaPr>
                                <m:jc m:val="left"/>
                              </m:oMathParaPr>
                              <m:oMath xmlns:m="http://schemas.openxmlformats.org/officeDocument/2006/math">
                                <m:sSubSup>
                                  <m:sSubSupPr>
                                    <m:ctrlPr>
                                      <a:rPr lang="en-US" sz="1600" i="1" smtClean="0">
                                        <a:solidFill>
                                          <a:srgbClr val="836967"/>
                                        </a:solidFill>
                                        <a:latin typeface="Cambria Math" panose="02040503050406030204" pitchFamily="18" charset="0"/>
                                      </a:rPr>
                                    </m:ctrlPr>
                                  </m:sSubSupPr>
                                  <m:e>
                                    <m:r>
                                      <a:rPr lang="en-US" sz="1600" i="1">
                                        <a:latin typeface="Cambria Math" panose="02040503050406030204" pitchFamily="18" charset="0"/>
                                      </a:rPr>
                                      <m:t>𝑒</m:t>
                                    </m:r>
                                  </m:e>
                                  <m:sub>
                                    <m:r>
                                      <a:rPr lang="en-US" sz="1600" i="1">
                                        <a:latin typeface="Cambria Math" panose="02040503050406030204" pitchFamily="18" charset="0"/>
                                      </a:rPr>
                                      <m:t>𝑡</m:t>
                                    </m:r>
                                    <m:r>
                                      <a:rPr lang="en-US" sz="1600" i="0">
                                        <a:latin typeface="Cambria Math" panose="02040503050406030204" pitchFamily="18" charset="0"/>
                                      </a:rPr>
                                      <m:t>,</m:t>
                                    </m:r>
                                    <m:r>
                                      <a:rPr lang="en-US" sz="1600" i="1">
                                        <a:latin typeface="Cambria Math" panose="02040503050406030204" pitchFamily="18" charset="0"/>
                                      </a:rPr>
                                      <m:t>𝑛</m:t>
                                    </m:r>
                                  </m:sub>
                                  <m:sup>
                                    <m:r>
                                      <a:rPr lang="en-US" sz="1600" i="1">
                                        <a:latin typeface="Cambria Math" panose="02040503050406030204" pitchFamily="18" charset="0"/>
                                      </a:rPr>
                                      <m:t>𝐸𝑉</m:t>
                                    </m:r>
                                    <m:r>
                                      <a:rPr lang="en-US" sz="1600" i="0">
                                        <a:latin typeface="Cambria Math" panose="02040503050406030204" pitchFamily="18" charset="0"/>
                                      </a:rPr>
                                      <m:t>,</m:t>
                                    </m:r>
                                    <m:r>
                                      <a:rPr lang="en-US" sz="1600" i="1">
                                        <a:latin typeface="Cambria Math" panose="02040503050406030204" pitchFamily="18" charset="0"/>
                                      </a:rPr>
                                      <m:t>𝑢𝑠𝑒</m:t>
                                    </m:r>
                                  </m:sup>
                                </m:sSubSup>
                              </m:oMath>
                            </m:oMathPara>
                          </a14:m>
                          <a:endParaRPr lang="en-US" sz="1600" dirty="0"/>
                        </a:p>
                      </a:txBody>
                      <a:tcPr>
                        <a:noFill/>
                      </a:tcPr>
                    </a:tc>
                    <a:tc>
                      <a:txBody>
                        <a:bodyPr/>
                        <a:lstStyle/>
                        <a:p>
                          <a:r>
                            <a:rPr lang="en-US" sz="1600" dirty="0"/>
                            <a:t>:</a:t>
                          </a:r>
                        </a:p>
                      </a:txBody>
                      <a:tcPr>
                        <a:noFill/>
                      </a:tcPr>
                    </a:tc>
                    <a:tc>
                      <a:txBody>
                        <a:bodyPr/>
                        <a:lstStyle/>
                        <a:p>
                          <a:r>
                            <a:rPr lang="en-US" sz="1600" dirty="0"/>
                            <a:t>Consumption of EV battery for mobility at timeslot </a:t>
                          </a:r>
                          <a14:m>
                            <m:oMath xmlns:m="http://schemas.openxmlformats.org/officeDocument/2006/math">
                              <m:r>
                                <a:rPr lang="en-US" altLang="ja-JP" sz="1600" b="0" i="1" smtClean="0">
                                  <a:latin typeface="Cambria Math" panose="02040503050406030204" pitchFamily="18" charset="0"/>
                                </a:rPr>
                                <m:t>𝑡</m:t>
                              </m:r>
                            </m:oMath>
                          </a14:m>
                          <a:r>
                            <a:rPr lang="en-US" altLang="ja-JP" sz="1600" dirty="0"/>
                            <a:t> of</a:t>
                          </a:r>
                          <a:r>
                            <a:rPr lang="en-US" altLang="ja-JP" sz="1600" baseline="0" dirty="0"/>
                            <a:t> agent </a:t>
                          </a:r>
                          <a14:m>
                            <m:oMath xmlns:m="http://schemas.openxmlformats.org/officeDocument/2006/math">
                              <m:r>
                                <a:rPr lang="en-US" altLang="ja-JP" sz="1600" b="0" i="1" smtClean="0">
                                  <a:latin typeface="Cambria Math" panose="02040503050406030204" pitchFamily="18" charset="0"/>
                                </a:rPr>
                                <m:t>𝑛</m:t>
                              </m:r>
                            </m:oMath>
                          </a14:m>
                          <a:endParaRPr lang="en-US" sz="1600" dirty="0"/>
                        </a:p>
                      </a:txBody>
                      <a:tcPr>
                        <a:noFill/>
                      </a:tcPr>
                    </a:tc>
                    <a:extLst>
                      <a:ext uri="{0D108BD9-81ED-4DB2-BD59-A6C34878D82A}">
                        <a16:rowId xmlns:a16="http://schemas.microsoft.com/office/drawing/2014/main" val="199082574"/>
                      </a:ext>
                    </a:extLst>
                  </a:tr>
                  <a:tr h="536369">
                    <a:tc>
                      <a:txBody>
                        <a:bodyPr/>
                        <a:lstStyle/>
                        <a:p>
                          <a:pPr/>
                          <a14:m>
                            <m:oMathPara xmlns:m="http://schemas.openxmlformats.org/officeDocument/2006/math">
                              <m:oMathParaPr>
                                <m:jc m:val="left"/>
                              </m:oMathParaPr>
                              <m:oMath xmlns:m="http://schemas.openxmlformats.org/officeDocument/2006/math">
                                <m:sSubSup>
                                  <m:sSubSupPr>
                                    <m:ctrlPr>
                                      <a:rPr lang="en-US" sz="1600" i="1" smtClean="0">
                                        <a:solidFill>
                                          <a:srgbClr val="836967"/>
                                        </a:solidFill>
                                        <a:latin typeface="Cambria Math" panose="02040503050406030204" pitchFamily="18" charset="0"/>
                                      </a:rPr>
                                    </m:ctrlPr>
                                  </m:sSubSupPr>
                                  <m:e>
                                    <m:r>
                                      <a:rPr lang="en-US" sz="1600" i="1">
                                        <a:latin typeface="Cambria Math" panose="02040503050406030204" pitchFamily="18" charset="0"/>
                                      </a:rPr>
                                      <m:t>𝐶</m:t>
                                    </m:r>
                                  </m:e>
                                  <m:sub>
                                    <m:r>
                                      <a:rPr lang="en-US" sz="1600" i="1">
                                        <a:latin typeface="Cambria Math" panose="02040503050406030204" pitchFamily="18" charset="0"/>
                                      </a:rPr>
                                      <m:t>𝑛</m:t>
                                    </m:r>
                                  </m:sub>
                                  <m:sup>
                                    <m:r>
                                      <a:rPr lang="en-US" sz="1600" i="1">
                                        <a:latin typeface="Cambria Math" panose="02040503050406030204" pitchFamily="18" charset="0"/>
                                      </a:rPr>
                                      <m:t>𝑏𝑎𝑡</m:t>
                                    </m:r>
                                  </m:sup>
                                </m:sSubSup>
                              </m:oMath>
                            </m:oMathPara>
                          </a14:m>
                          <a:endParaRPr lang="en-US" sz="1600" dirty="0"/>
                        </a:p>
                      </a:txBody>
                      <a:tcPr>
                        <a:noFill/>
                      </a:tcPr>
                    </a:tc>
                    <a:tc>
                      <a:txBody>
                        <a:bodyPr/>
                        <a:lstStyle/>
                        <a:p>
                          <a:r>
                            <a:rPr lang="en-US" sz="1600" dirty="0"/>
                            <a:t>:</a:t>
                          </a:r>
                        </a:p>
                      </a:txBody>
                      <a:tcPr>
                        <a:noFill/>
                      </a:tcPr>
                    </a:tc>
                    <a:tc>
                      <a:txBody>
                        <a:bodyPr/>
                        <a:lstStyle/>
                        <a:p>
                          <a:r>
                            <a:rPr lang="en-US" sz="1600" dirty="0"/>
                            <a:t>EV battery</a:t>
                          </a:r>
                          <a:r>
                            <a:rPr lang="ja-JP" altLang="en-US" sz="1600" dirty="0"/>
                            <a:t> </a:t>
                          </a:r>
                          <a:r>
                            <a:rPr lang="en-US" altLang="ja-JP" sz="1600" dirty="0"/>
                            <a:t>capacity</a:t>
                          </a:r>
                          <a:r>
                            <a:rPr lang="en-US" altLang="ja-JP" sz="1600" baseline="0" dirty="0"/>
                            <a:t> </a:t>
                          </a:r>
                          <a:r>
                            <a:rPr lang="en-US" altLang="ja-JP" sz="1600" dirty="0"/>
                            <a:t>of agent </a:t>
                          </a:r>
                          <a14:m>
                            <m:oMath xmlns:m="http://schemas.openxmlformats.org/officeDocument/2006/math">
                              <m:r>
                                <a:rPr lang="en-US" altLang="ja-JP" sz="1600" b="0" i="1" smtClean="0">
                                  <a:latin typeface="Cambria Math" panose="02040503050406030204" pitchFamily="18" charset="0"/>
                                </a:rPr>
                                <m:t>𝑛</m:t>
                              </m:r>
                            </m:oMath>
                          </a14:m>
                          <a:endParaRPr lang="en-US" sz="1600" dirty="0"/>
                        </a:p>
                      </a:txBody>
                      <a:tcPr>
                        <a:noFill/>
                      </a:tcPr>
                    </a:tc>
                    <a:extLst>
                      <a:ext uri="{0D108BD9-81ED-4DB2-BD59-A6C34878D82A}">
                        <a16:rowId xmlns:a16="http://schemas.microsoft.com/office/drawing/2014/main" val="938949808"/>
                      </a:ext>
                    </a:extLst>
                  </a:tr>
                </a:tbl>
              </a:graphicData>
            </a:graphic>
          </p:graphicFrame>
        </mc:Choice>
        <mc:Fallback xmlns="">
          <p:graphicFrame>
            <p:nvGraphicFramePr>
              <p:cNvPr id="9" name="表 8">
                <a:extLst>
                  <a:ext uri="{FF2B5EF4-FFF2-40B4-BE49-F238E27FC236}">
                    <a16:creationId xmlns:a16="http://schemas.microsoft.com/office/drawing/2014/main" id="{70C1DE68-E0B9-BB7F-C236-532F5FEB21B6}"/>
                  </a:ext>
                </a:extLst>
              </p:cNvPr>
              <p:cNvGraphicFramePr>
                <a:graphicFrameLocks noGrp="1"/>
              </p:cNvGraphicFramePr>
              <p:nvPr>
                <p:extLst>
                  <p:ext uri="{D42A27DB-BD31-4B8C-83A1-F6EECF244321}">
                    <p14:modId xmlns:p14="http://schemas.microsoft.com/office/powerpoint/2010/main" val="4033480385"/>
                  </p:ext>
                </p:extLst>
              </p:nvPr>
            </p:nvGraphicFramePr>
            <p:xfrm>
              <a:off x="301332" y="2399626"/>
              <a:ext cx="9428517" cy="3218214"/>
            </p:xfrm>
            <a:graphic>
              <a:graphicData uri="http://schemas.openxmlformats.org/drawingml/2006/table">
                <a:tbl>
                  <a:tblPr bandRow="1">
                    <a:tableStyleId>{5C22544A-7EE6-4342-B048-85BDC9FD1C3A}</a:tableStyleId>
                  </a:tblPr>
                  <a:tblGrid>
                    <a:gridCol w="1343001">
                      <a:extLst>
                        <a:ext uri="{9D8B030D-6E8A-4147-A177-3AD203B41FA5}">
                          <a16:colId xmlns:a16="http://schemas.microsoft.com/office/drawing/2014/main" val="2815638221"/>
                        </a:ext>
                      </a:extLst>
                    </a:gridCol>
                    <a:gridCol w="316271">
                      <a:extLst>
                        <a:ext uri="{9D8B030D-6E8A-4147-A177-3AD203B41FA5}">
                          <a16:colId xmlns:a16="http://schemas.microsoft.com/office/drawing/2014/main" val="3280904105"/>
                        </a:ext>
                      </a:extLst>
                    </a:gridCol>
                    <a:gridCol w="7769245">
                      <a:extLst>
                        <a:ext uri="{9D8B030D-6E8A-4147-A177-3AD203B41FA5}">
                          <a16:colId xmlns:a16="http://schemas.microsoft.com/office/drawing/2014/main" val="2064586492"/>
                        </a:ext>
                      </a:extLst>
                    </a:gridCol>
                  </a:tblGrid>
                  <a:tr h="536369">
                    <a:tc>
                      <a:txBody>
                        <a:bodyPr/>
                        <a:lstStyle/>
                        <a:p>
                          <a:endParaRPr lang="en-US"/>
                        </a:p>
                      </a:txBody>
                      <a:tcPr>
                        <a:blipFill>
                          <a:blip r:embed="rId3"/>
                          <a:stretch>
                            <a:fillRect l="-455" t="-3409" r="-604545" b="-503409"/>
                          </a:stretch>
                        </a:blip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600" dirty="0"/>
                            <a:t>:</a:t>
                          </a:r>
                        </a:p>
                      </a:txBody>
                      <a:tcPr>
                        <a:noFill/>
                      </a:tcPr>
                    </a:tc>
                    <a:tc>
                      <a:txBody>
                        <a:bodyPr/>
                        <a:lstStyle/>
                        <a:p>
                          <a:endParaRPr lang="en-US"/>
                        </a:p>
                      </a:txBody>
                      <a:tcPr>
                        <a:blipFill>
                          <a:blip r:embed="rId3"/>
                          <a:stretch>
                            <a:fillRect l="-21395" t="-3409" r="-157" b="-503409"/>
                          </a:stretch>
                        </a:blipFill>
                      </a:tcPr>
                    </a:tc>
                    <a:extLst>
                      <a:ext uri="{0D108BD9-81ED-4DB2-BD59-A6C34878D82A}">
                        <a16:rowId xmlns:a16="http://schemas.microsoft.com/office/drawing/2014/main" val="585328255"/>
                      </a:ext>
                    </a:extLst>
                  </a:tr>
                  <a:tr h="536369">
                    <a:tc>
                      <a:txBody>
                        <a:bodyPr/>
                        <a:lstStyle/>
                        <a:p>
                          <a:endParaRPr lang="en-US"/>
                        </a:p>
                      </a:txBody>
                      <a:tcPr>
                        <a:blipFill>
                          <a:blip r:embed="rId3"/>
                          <a:stretch>
                            <a:fillRect l="-455" t="-103409" r="-604545" b="-403409"/>
                          </a:stretch>
                        </a:blip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600" dirty="0"/>
                            <a:t>:</a:t>
                          </a:r>
                        </a:p>
                      </a:txBody>
                      <a:tcPr>
                        <a:noFill/>
                      </a:tcPr>
                    </a:tc>
                    <a:tc>
                      <a:txBody>
                        <a:bodyPr/>
                        <a:lstStyle/>
                        <a:p>
                          <a:endParaRPr lang="en-US"/>
                        </a:p>
                      </a:txBody>
                      <a:tcPr>
                        <a:blipFill>
                          <a:blip r:embed="rId3"/>
                          <a:stretch>
                            <a:fillRect l="-21395" t="-103409" r="-157" b="-403409"/>
                          </a:stretch>
                        </a:blipFill>
                      </a:tcPr>
                    </a:tc>
                    <a:extLst>
                      <a:ext uri="{0D108BD9-81ED-4DB2-BD59-A6C34878D82A}">
                        <a16:rowId xmlns:a16="http://schemas.microsoft.com/office/drawing/2014/main" val="2567745939"/>
                      </a:ext>
                    </a:extLst>
                  </a:tr>
                  <a:tr h="536369">
                    <a:tc>
                      <a:txBody>
                        <a:bodyPr/>
                        <a:lstStyle/>
                        <a:p>
                          <a:endParaRPr lang="en-US"/>
                        </a:p>
                      </a:txBody>
                      <a:tcPr>
                        <a:blipFill>
                          <a:blip r:embed="rId3"/>
                          <a:stretch>
                            <a:fillRect l="-455" t="-201124" r="-604545" b="-298876"/>
                          </a:stretch>
                        </a:blipFill>
                      </a:tcPr>
                    </a:tc>
                    <a:tc>
                      <a:txBody>
                        <a:bodyPr/>
                        <a:lstStyle/>
                        <a:p>
                          <a:r>
                            <a:rPr lang="en-US" sz="1600" dirty="0"/>
                            <a:t>:</a:t>
                          </a:r>
                        </a:p>
                      </a:txBody>
                      <a:tcPr>
                        <a:noFill/>
                      </a:tcPr>
                    </a:tc>
                    <a:tc>
                      <a:txBody>
                        <a:bodyPr/>
                        <a:lstStyle/>
                        <a:p>
                          <a:endParaRPr lang="en-US"/>
                        </a:p>
                      </a:txBody>
                      <a:tcPr>
                        <a:blipFill>
                          <a:blip r:embed="rId3"/>
                          <a:stretch>
                            <a:fillRect l="-21395" t="-201124" r="-157" b="-298876"/>
                          </a:stretch>
                        </a:blipFill>
                      </a:tcPr>
                    </a:tc>
                    <a:extLst>
                      <a:ext uri="{0D108BD9-81ED-4DB2-BD59-A6C34878D82A}">
                        <a16:rowId xmlns:a16="http://schemas.microsoft.com/office/drawing/2014/main" val="1172270262"/>
                      </a:ext>
                    </a:extLst>
                  </a:tr>
                  <a:tr h="536369">
                    <a:tc>
                      <a:txBody>
                        <a:bodyPr/>
                        <a:lstStyle/>
                        <a:p>
                          <a:endParaRPr lang="en-US"/>
                        </a:p>
                      </a:txBody>
                      <a:tcPr>
                        <a:blipFill>
                          <a:blip r:embed="rId3"/>
                          <a:stretch>
                            <a:fillRect l="-455" t="-304545" r="-604545" b="-202273"/>
                          </a:stretch>
                        </a:blipFill>
                      </a:tcPr>
                    </a:tc>
                    <a:tc>
                      <a:txBody>
                        <a:bodyPr/>
                        <a:lstStyle/>
                        <a:p>
                          <a:r>
                            <a:rPr lang="en-US" sz="1600" dirty="0"/>
                            <a:t>:</a:t>
                          </a:r>
                        </a:p>
                      </a:txBody>
                      <a:tcPr>
                        <a:noFill/>
                      </a:tcPr>
                    </a:tc>
                    <a:tc>
                      <a:txBody>
                        <a:bodyPr/>
                        <a:lstStyle/>
                        <a:p>
                          <a:endParaRPr lang="en-US"/>
                        </a:p>
                      </a:txBody>
                      <a:tcPr>
                        <a:blipFill>
                          <a:blip r:embed="rId3"/>
                          <a:stretch>
                            <a:fillRect l="-21395" t="-304545" r="-157" b="-202273"/>
                          </a:stretch>
                        </a:blipFill>
                      </a:tcPr>
                    </a:tc>
                    <a:extLst>
                      <a:ext uri="{0D108BD9-81ED-4DB2-BD59-A6C34878D82A}">
                        <a16:rowId xmlns:a16="http://schemas.microsoft.com/office/drawing/2014/main" val="4272089726"/>
                      </a:ext>
                    </a:extLst>
                  </a:tr>
                  <a:tr h="536369">
                    <a:tc>
                      <a:txBody>
                        <a:bodyPr/>
                        <a:lstStyle/>
                        <a:p>
                          <a:endParaRPr lang="en-US"/>
                        </a:p>
                      </a:txBody>
                      <a:tcPr>
                        <a:blipFill>
                          <a:blip r:embed="rId3"/>
                          <a:stretch>
                            <a:fillRect l="-455" t="-404545" r="-604545" b="-102273"/>
                          </a:stretch>
                        </a:blipFill>
                      </a:tcPr>
                    </a:tc>
                    <a:tc>
                      <a:txBody>
                        <a:bodyPr/>
                        <a:lstStyle/>
                        <a:p>
                          <a:r>
                            <a:rPr lang="en-US" sz="1600" dirty="0"/>
                            <a:t>:</a:t>
                          </a:r>
                        </a:p>
                      </a:txBody>
                      <a:tcPr>
                        <a:noFill/>
                      </a:tcPr>
                    </a:tc>
                    <a:tc>
                      <a:txBody>
                        <a:bodyPr/>
                        <a:lstStyle/>
                        <a:p>
                          <a:endParaRPr lang="en-US"/>
                        </a:p>
                      </a:txBody>
                      <a:tcPr>
                        <a:blipFill>
                          <a:blip r:embed="rId3"/>
                          <a:stretch>
                            <a:fillRect l="-21395" t="-404545" r="-157" b="-102273"/>
                          </a:stretch>
                        </a:blipFill>
                      </a:tcPr>
                    </a:tc>
                    <a:extLst>
                      <a:ext uri="{0D108BD9-81ED-4DB2-BD59-A6C34878D82A}">
                        <a16:rowId xmlns:a16="http://schemas.microsoft.com/office/drawing/2014/main" val="199082574"/>
                      </a:ext>
                    </a:extLst>
                  </a:tr>
                  <a:tr h="536369">
                    <a:tc>
                      <a:txBody>
                        <a:bodyPr/>
                        <a:lstStyle/>
                        <a:p>
                          <a:endParaRPr lang="en-US"/>
                        </a:p>
                      </a:txBody>
                      <a:tcPr>
                        <a:blipFill>
                          <a:blip r:embed="rId3"/>
                          <a:stretch>
                            <a:fillRect l="-455" t="-504545" r="-604545" b="-2273"/>
                          </a:stretch>
                        </a:blipFill>
                      </a:tcPr>
                    </a:tc>
                    <a:tc>
                      <a:txBody>
                        <a:bodyPr/>
                        <a:lstStyle/>
                        <a:p>
                          <a:r>
                            <a:rPr lang="en-US" sz="1600" dirty="0"/>
                            <a:t>:</a:t>
                          </a:r>
                        </a:p>
                      </a:txBody>
                      <a:tcPr>
                        <a:noFill/>
                      </a:tcPr>
                    </a:tc>
                    <a:tc>
                      <a:txBody>
                        <a:bodyPr/>
                        <a:lstStyle/>
                        <a:p>
                          <a:endParaRPr lang="en-US"/>
                        </a:p>
                      </a:txBody>
                      <a:tcPr>
                        <a:blipFill>
                          <a:blip r:embed="rId3"/>
                          <a:stretch>
                            <a:fillRect l="-21395" t="-504545" r="-157" b="-2273"/>
                          </a:stretch>
                        </a:blipFill>
                      </a:tcPr>
                    </a:tc>
                    <a:extLst>
                      <a:ext uri="{0D108BD9-81ED-4DB2-BD59-A6C34878D82A}">
                        <a16:rowId xmlns:a16="http://schemas.microsoft.com/office/drawing/2014/main" val="938949808"/>
                      </a:ext>
                    </a:extLst>
                  </a:tr>
                </a:tbl>
              </a:graphicData>
            </a:graphic>
          </p:graphicFrame>
        </mc:Fallback>
      </mc:AlternateContent>
      <p:cxnSp>
        <p:nvCxnSpPr>
          <p:cNvPr id="10" name="直線コネクタ 9">
            <a:extLst>
              <a:ext uri="{FF2B5EF4-FFF2-40B4-BE49-F238E27FC236}">
                <a16:creationId xmlns:a16="http://schemas.microsoft.com/office/drawing/2014/main" id="{8176E379-61EB-0FB3-9BC7-98280C228F6F}"/>
              </a:ext>
            </a:extLst>
          </p:cNvPr>
          <p:cNvCxnSpPr>
            <a:cxnSpLocks/>
          </p:cNvCxnSpPr>
          <p:nvPr/>
        </p:nvCxnSpPr>
        <p:spPr>
          <a:xfrm>
            <a:off x="0" y="5533902"/>
            <a:ext cx="9906000" cy="0"/>
          </a:xfrm>
          <a:prstGeom prst="line">
            <a:avLst/>
          </a:prstGeom>
          <a:ln w="19050">
            <a:solidFill>
              <a:schemeClr val="tx1">
                <a:lumMod val="60000"/>
                <a:lumOff val="40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 name="テキスト ボックス 1">
                <a:extLst>
                  <a:ext uri="{FF2B5EF4-FFF2-40B4-BE49-F238E27FC236}">
                    <a16:creationId xmlns:a16="http://schemas.microsoft.com/office/drawing/2014/main" id="{ADD4DAB5-27C6-6412-DC9D-40A9AA1C0F03}"/>
                  </a:ext>
                </a:extLst>
              </p:cNvPr>
              <p:cNvSpPr txBox="1"/>
              <p:nvPr/>
            </p:nvSpPr>
            <p:spPr>
              <a:xfrm>
                <a:off x="3232521" y="5645609"/>
                <a:ext cx="1570591" cy="45294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i="1" smtClean="0">
                              <a:solidFill>
                                <a:srgbClr val="836967"/>
                              </a:solidFill>
                              <a:latin typeface="Cambria Math" panose="02040503050406030204" pitchFamily="18" charset="0"/>
                            </a:rPr>
                          </m:ctrlPr>
                        </m:sSubSupPr>
                        <m:e>
                          <m:r>
                            <a:rPr lang="en-US" i="1">
                              <a:latin typeface="Cambria Math" panose="02040503050406030204" pitchFamily="18" charset="0"/>
                            </a:rPr>
                            <m:t>𝜆</m:t>
                          </m:r>
                        </m:e>
                        <m:sub>
                          <m:r>
                            <a:rPr lang="en-US" i="1">
                              <a:latin typeface="Cambria Math" panose="02040503050406030204" pitchFamily="18" charset="0"/>
                            </a:rPr>
                            <m:t>𝑡</m:t>
                          </m:r>
                          <m:r>
                            <a:rPr lang="en-US" i="0">
                              <a:latin typeface="Cambria Math" panose="02040503050406030204" pitchFamily="18" charset="0"/>
                            </a:rPr>
                            <m:t>,</m:t>
                          </m:r>
                          <m:r>
                            <a:rPr lang="en-US" i="1">
                              <a:latin typeface="Cambria Math" panose="02040503050406030204" pitchFamily="18" charset="0"/>
                            </a:rPr>
                            <m:t>𝑛</m:t>
                          </m:r>
                        </m:sub>
                        <m:sup>
                          <m:r>
                            <a:rPr lang="en-US" i="1">
                              <a:latin typeface="Cambria Math" panose="02040503050406030204" pitchFamily="18" charset="0"/>
                            </a:rPr>
                            <m:t>𝑏𝑖𝑑</m:t>
                          </m:r>
                          <m:r>
                            <a:rPr lang="en-US" i="0">
                              <a:latin typeface="Cambria Math" panose="02040503050406030204" pitchFamily="18" charset="0"/>
                            </a:rPr>
                            <m:t>,</m:t>
                          </m:r>
                          <m:r>
                            <m:rPr>
                              <m:sty m:val="p"/>
                            </m:rPr>
                            <a:rPr lang="en-US" b="0" i="0" smtClean="0">
                              <a:latin typeface="Cambria Math" panose="02040503050406030204" pitchFamily="18" charset="0"/>
                            </a:rPr>
                            <m:t>EV</m:t>
                          </m:r>
                          <m:r>
                            <a:rPr lang="en-US" i="0">
                              <a:latin typeface="Cambria Math" panose="02040503050406030204" pitchFamily="18" charset="0"/>
                            </a:rPr>
                            <m:t>,</m:t>
                          </m:r>
                          <m:r>
                            <a:rPr lang="en-US" b="0" i="1" smtClean="0">
                              <a:latin typeface="Cambria Math" panose="02040503050406030204" pitchFamily="18" charset="0"/>
                            </a:rPr>
                            <m:t>𝑏𝑢𝑦</m:t>
                          </m:r>
                        </m:sup>
                      </m:sSubSup>
                    </m:oMath>
                  </m:oMathPara>
                </a14:m>
                <a:endParaRPr lang="en-US" dirty="0"/>
              </a:p>
            </p:txBody>
          </p:sp>
        </mc:Choice>
        <mc:Fallback xmlns="">
          <p:sp>
            <p:nvSpPr>
              <p:cNvPr id="2" name="テキスト ボックス 1">
                <a:extLst>
                  <a:ext uri="{FF2B5EF4-FFF2-40B4-BE49-F238E27FC236}">
                    <a16:creationId xmlns:a16="http://schemas.microsoft.com/office/drawing/2014/main" id="{ADD4DAB5-27C6-6412-DC9D-40A9AA1C0F03}"/>
                  </a:ext>
                </a:extLst>
              </p:cNvPr>
              <p:cNvSpPr txBox="1">
                <a:spLocks noRot="1" noChangeAspect="1" noMove="1" noResize="1" noEditPoints="1" noAdjustHandles="1" noChangeArrowheads="1" noChangeShapeType="1" noTextEdit="1"/>
              </p:cNvSpPr>
              <p:nvPr/>
            </p:nvSpPr>
            <p:spPr>
              <a:xfrm>
                <a:off x="3232521" y="5645609"/>
                <a:ext cx="1570591" cy="452945"/>
              </a:xfrm>
              <a:prstGeom prst="rect">
                <a:avLst/>
              </a:prstGeom>
              <a:blipFill>
                <a:blip r:embed="rId4"/>
                <a:stretch>
                  <a:fillRect/>
                </a:stretch>
              </a:blipFill>
            </p:spPr>
            <p:txBody>
              <a:bodyPr/>
              <a:lstStyle/>
              <a:p>
                <a:r>
                  <a:rPr lang="en-US">
                    <a:noFill/>
                  </a:rPr>
                  <a:t> </a:t>
                </a:r>
              </a:p>
            </p:txBody>
          </p:sp>
        </mc:Fallback>
      </mc:AlternateContent>
      <p:sp>
        <p:nvSpPr>
          <p:cNvPr id="4" name="正方形/長方形 3">
            <a:extLst>
              <a:ext uri="{FF2B5EF4-FFF2-40B4-BE49-F238E27FC236}">
                <a16:creationId xmlns:a16="http://schemas.microsoft.com/office/drawing/2014/main" id="{975871B7-69EA-2C85-D989-B3A4DBB3E989}"/>
              </a:ext>
            </a:extLst>
          </p:cNvPr>
          <p:cNvSpPr/>
          <p:nvPr/>
        </p:nvSpPr>
        <p:spPr>
          <a:xfrm>
            <a:off x="3329049" y="5634327"/>
            <a:ext cx="1377537" cy="514598"/>
          </a:xfrm>
          <a:prstGeom prst="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テキスト ボックス 5">
            <a:extLst>
              <a:ext uri="{FF2B5EF4-FFF2-40B4-BE49-F238E27FC236}">
                <a16:creationId xmlns:a16="http://schemas.microsoft.com/office/drawing/2014/main" id="{C29C43AD-A273-F0A5-183E-F74DD10298ED}"/>
              </a:ext>
            </a:extLst>
          </p:cNvPr>
          <p:cNvSpPr txBox="1"/>
          <p:nvPr/>
        </p:nvSpPr>
        <p:spPr>
          <a:xfrm>
            <a:off x="4765963" y="5816744"/>
            <a:ext cx="2619628" cy="369332"/>
          </a:xfrm>
          <a:prstGeom prst="rect">
            <a:avLst/>
          </a:prstGeom>
          <a:noFill/>
        </p:spPr>
        <p:txBody>
          <a:bodyPr wrap="none" rtlCol="0">
            <a:spAutoFit/>
          </a:bodyPr>
          <a:lstStyle/>
          <a:p>
            <a:r>
              <a:rPr lang="en-US" dirty="0">
                <a:solidFill>
                  <a:schemeClr val="accent1"/>
                </a:solidFill>
              </a:rPr>
              <a:t>One of the targets of RL</a:t>
            </a:r>
          </a:p>
        </p:txBody>
      </p:sp>
      <mc:AlternateContent xmlns:mc="http://schemas.openxmlformats.org/markup-compatibility/2006" xmlns:a14="http://schemas.microsoft.com/office/drawing/2010/main">
        <mc:Choice Requires="a14">
          <p:sp>
            <p:nvSpPr>
              <p:cNvPr id="8" name="テキスト ボックス 7">
                <a:extLst>
                  <a:ext uri="{FF2B5EF4-FFF2-40B4-BE49-F238E27FC236}">
                    <a16:creationId xmlns:a16="http://schemas.microsoft.com/office/drawing/2014/main" id="{D9903928-3DB6-EF44-CA9D-77BB6081DE7E}"/>
                  </a:ext>
                </a:extLst>
              </p:cNvPr>
              <p:cNvSpPr txBox="1"/>
              <p:nvPr/>
            </p:nvSpPr>
            <p:spPr>
              <a:xfrm>
                <a:off x="3225364" y="6246813"/>
                <a:ext cx="1570591" cy="43524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i="1" smtClean="0">
                              <a:solidFill>
                                <a:srgbClr val="836967"/>
                              </a:solidFill>
                              <a:latin typeface="Cambria Math" panose="02040503050406030204" pitchFamily="18" charset="0"/>
                            </a:rPr>
                          </m:ctrlPr>
                        </m:sSubSupPr>
                        <m:e>
                          <m:r>
                            <a:rPr lang="en-US" i="1">
                              <a:latin typeface="Cambria Math" panose="02040503050406030204" pitchFamily="18" charset="0"/>
                            </a:rPr>
                            <m:t>𝜆</m:t>
                          </m:r>
                        </m:e>
                        <m:sub>
                          <m:r>
                            <a:rPr lang="en-US" i="1">
                              <a:latin typeface="Cambria Math" panose="02040503050406030204" pitchFamily="18" charset="0"/>
                            </a:rPr>
                            <m:t>𝑡</m:t>
                          </m:r>
                          <m:r>
                            <a:rPr lang="en-US" i="0">
                              <a:latin typeface="Cambria Math" panose="02040503050406030204" pitchFamily="18" charset="0"/>
                            </a:rPr>
                            <m:t>,</m:t>
                          </m:r>
                          <m:r>
                            <a:rPr lang="en-US" i="1">
                              <a:latin typeface="Cambria Math" panose="02040503050406030204" pitchFamily="18" charset="0"/>
                            </a:rPr>
                            <m:t>𝑛</m:t>
                          </m:r>
                        </m:sub>
                        <m:sup>
                          <m:r>
                            <a:rPr lang="en-US" i="1">
                              <a:latin typeface="Cambria Math" panose="02040503050406030204" pitchFamily="18" charset="0"/>
                            </a:rPr>
                            <m:t>𝑏𝑖𝑑</m:t>
                          </m:r>
                          <m:r>
                            <a:rPr lang="en-US" i="0">
                              <a:latin typeface="Cambria Math" panose="02040503050406030204" pitchFamily="18" charset="0"/>
                            </a:rPr>
                            <m:t>,</m:t>
                          </m:r>
                          <m:r>
                            <m:rPr>
                              <m:sty m:val="p"/>
                            </m:rPr>
                            <a:rPr lang="en-US" b="0" i="0" smtClean="0">
                              <a:latin typeface="Cambria Math" panose="02040503050406030204" pitchFamily="18" charset="0"/>
                            </a:rPr>
                            <m:t>EV</m:t>
                          </m:r>
                          <m:r>
                            <a:rPr lang="en-US" i="0">
                              <a:latin typeface="Cambria Math" panose="02040503050406030204" pitchFamily="18" charset="0"/>
                            </a:rPr>
                            <m:t>,</m:t>
                          </m:r>
                          <m:r>
                            <a:rPr lang="en-US" b="0" i="1" smtClean="0">
                              <a:latin typeface="Cambria Math" panose="02040503050406030204" pitchFamily="18" charset="0"/>
                            </a:rPr>
                            <m:t>𝑠𝑒𝑙𝑙</m:t>
                          </m:r>
                        </m:sup>
                      </m:sSubSup>
                    </m:oMath>
                  </m:oMathPara>
                </a14:m>
                <a:endParaRPr lang="en-US" dirty="0"/>
              </a:p>
            </p:txBody>
          </p:sp>
        </mc:Choice>
        <mc:Fallback xmlns="">
          <p:sp>
            <p:nvSpPr>
              <p:cNvPr id="8" name="テキスト ボックス 7">
                <a:extLst>
                  <a:ext uri="{FF2B5EF4-FFF2-40B4-BE49-F238E27FC236}">
                    <a16:creationId xmlns:a16="http://schemas.microsoft.com/office/drawing/2014/main" id="{D9903928-3DB6-EF44-CA9D-77BB6081DE7E}"/>
                  </a:ext>
                </a:extLst>
              </p:cNvPr>
              <p:cNvSpPr txBox="1">
                <a:spLocks noRot="1" noChangeAspect="1" noMove="1" noResize="1" noEditPoints="1" noAdjustHandles="1" noChangeArrowheads="1" noChangeShapeType="1" noTextEdit="1"/>
              </p:cNvSpPr>
              <p:nvPr/>
            </p:nvSpPr>
            <p:spPr>
              <a:xfrm>
                <a:off x="3225364" y="6246813"/>
                <a:ext cx="1570591" cy="435247"/>
              </a:xfrm>
              <a:prstGeom prst="rect">
                <a:avLst/>
              </a:prstGeom>
              <a:blipFill>
                <a:blip r:embed="rId5"/>
                <a:stretch>
                  <a:fillRect/>
                </a:stretch>
              </a:blipFill>
            </p:spPr>
            <p:txBody>
              <a:bodyPr/>
              <a:lstStyle/>
              <a:p>
                <a:r>
                  <a:rPr lang="en-US">
                    <a:noFill/>
                  </a:rPr>
                  <a:t> </a:t>
                </a:r>
              </a:p>
            </p:txBody>
          </p:sp>
        </mc:Fallback>
      </mc:AlternateContent>
      <p:sp>
        <p:nvSpPr>
          <p:cNvPr id="11" name="正方形/長方形 10">
            <a:extLst>
              <a:ext uri="{FF2B5EF4-FFF2-40B4-BE49-F238E27FC236}">
                <a16:creationId xmlns:a16="http://schemas.microsoft.com/office/drawing/2014/main" id="{0965BD0E-F6BE-E59B-4915-CFE9424AC48B}"/>
              </a:ext>
            </a:extLst>
          </p:cNvPr>
          <p:cNvSpPr/>
          <p:nvPr/>
        </p:nvSpPr>
        <p:spPr>
          <a:xfrm>
            <a:off x="3329049" y="6246813"/>
            <a:ext cx="1377537" cy="514598"/>
          </a:xfrm>
          <a:prstGeom prst="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テキスト ボックス 12">
            <a:extLst>
              <a:ext uri="{FF2B5EF4-FFF2-40B4-BE49-F238E27FC236}">
                <a16:creationId xmlns:a16="http://schemas.microsoft.com/office/drawing/2014/main" id="{B9857E25-E7F3-DE28-18F0-DF10957F7107}"/>
              </a:ext>
            </a:extLst>
          </p:cNvPr>
          <p:cNvSpPr txBox="1"/>
          <p:nvPr/>
        </p:nvSpPr>
        <p:spPr>
          <a:xfrm>
            <a:off x="4765963" y="6429230"/>
            <a:ext cx="2619628" cy="369332"/>
          </a:xfrm>
          <a:prstGeom prst="rect">
            <a:avLst/>
          </a:prstGeom>
          <a:noFill/>
        </p:spPr>
        <p:txBody>
          <a:bodyPr wrap="none" rtlCol="0">
            <a:spAutoFit/>
          </a:bodyPr>
          <a:lstStyle/>
          <a:p>
            <a:r>
              <a:rPr lang="en-US" dirty="0">
                <a:solidFill>
                  <a:schemeClr val="accent1"/>
                </a:solidFill>
              </a:rPr>
              <a:t>One of the targets of RL</a:t>
            </a:r>
          </a:p>
        </p:txBody>
      </p:sp>
    </p:spTree>
    <p:extLst>
      <p:ext uri="{BB962C8B-B14F-4D97-AF65-F5344CB8AC3E}">
        <p14:creationId xmlns:p14="http://schemas.microsoft.com/office/powerpoint/2010/main" val="327156195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81407B-E9FF-0A77-9EC6-BEE9B9813026}"/>
            </a:ext>
          </a:extLst>
        </p:cNvPr>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20B20C52-64E5-6CB2-1617-A5184060168E}"/>
              </a:ext>
            </a:extLst>
          </p:cNvPr>
          <p:cNvSpPr>
            <a:spLocks noGrp="1"/>
          </p:cNvSpPr>
          <p:nvPr>
            <p:ph sz="quarter" idx="16"/>
          </p:nvPr>
        </p:nvSpPr>
        <p:spPr/>
        <p:txBody>
          <a:bodyPr/>
          <a:lstStyle/>
          <a:p>
            <a:r>
              <a:rPr lang="en-US" altLang="ja-JP" dirty="0"/>
              <a:t>3.2.2 Design P2P energy trading model</a:t>
            </a:r>
          </a:p>
        </p:txBody>
      </p:sp>
      <mc:AlternateContent xmlns:mc="http://schemas.openxmlformats.org/markup-compatibility/2006" xmlns:a14="http://schemas.microsoft.com/office/drawing/2010/main">
        <mc:Choice Requires="a14">
          <p:sp>
            <p:nvSpPr>
              <p:cNvPr id="12" name="テキスト ボックス 11">
                <a:extLst>
                  <a:ext uri="{FF2B5EF4-FFF2-40B4-BE49-F238E27FC236}">
                    <a16:creationId xmlns:a16="http://schemas.microsoft.com/office/drawing/2014/main" id="{4A1D82CE-F754-8099-DF9B-B21143EB0C94}"/>
                  </a:ext>
                </a:extLst>
              </p:cNvPr>
              <p:cNvSpPr txBox="1"/>
              <p:nvPr/>
            </p:nvSpPr>
            <p:spPr>
              <a:xfrm>
                <a:off x="2235591" y="1536157"/>
                <a:ext cx="4959926" cy="43524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i="1" smtClean="0">
                              <a:solidFill>
                                <a:srgbClr val="836967"/>
                              </a:solidFill>
                              <a:latin typeface="Cambria Math" panose="02040503050406030204" pitchFamily="18" charset="0"/>
                            </a:rPr>
                          </m:ctrlPr>
                        </m:sSubSupPr>
                        <m:e>
                          <m:r>
                            <a:rPr lang="en-US" i="1">
                              <a:latin typeface="Cambria Math" panose="02040503050406030204" pitchFamily="18" charset="0"/>
                            </a:rPr>
                            <m:t>𝜆</m:t>
                          </m:r>
                        </m:e>
                        <m:sub>
                          <m:r>
                            <a:rPr lang="en-US" i="1">
                              <a:latin typeface="Cambria Math" panose="02040503050406030204" pitchFamily="18" charset="0"/>
                            </a:rPr>
                            <m:t>𝑡</m:t>
                          </m:r>
                          <m:r>
                            <a:rPr lang="en-US" i="0">
                              <a:latin typeface="Cambria Math" panose="02040503050406030204" pitchFamily="18" charset="0"/>
                            </a:rPr>
                            <m:t>,</m:t>
                          </m:r>
                          <m:r>
                            <a:rPr lang="en-US" i="1">
                              <a:latin typeface="Cambria Math" panose="02040503050406030204" pitchFamily="18" charset="0"/>
                            </a:rPr>
                            <m:t>𝑛</m:t>
                          </m:r>
                        </m:sub>
                        <m:sup>
                          <m:r>
                            <a:rPr lang="en-US" i="1">
                              <a:latin typeface="Cambria Math" panose="02040503050406030204" pitchFamily="18" charset="0"/>
                            </a:rPr>
                            <m:t>𝑏𝑖𝑑</m:t>
                          </m:r>
                          <m:r>
                            <a:rPr lang="en-US" i="0">
                              <a:latin typeface="Cambria Math" panose="02040503050406030204" pitchFamily="18" charset="0"/>
                            </a:rPr>
                            <m:t>,</m:t>
                          </m:r>
                          <m:r>
                            <a:rPr lang="en-US" i="1">
                              <a:latin typeface="Cambria Math" panose="02040503050406030204" pitchFamily="18" charset="0"/>
                            </a:rPr>
                            <m:t>𝑃𝑉</m:t>
                          </m:r>
                          <m:r>
                            <a:rPr lang="en-US" i="0">
                              <a:latin typeface="Cambria Math" panose="02040503050406030204" pitchFamily="18" charset="0"/>
                            </a:rPr>
                            <m:t>,</m:t>
                          </m:r>
                          <m:r>
                            <a:rPr lang="en-US" i="1">
                              <a:latin typeface="Cambria Math" panose="02040503050406030204" pitchFamily="18" charset="0"/>
                            </a:rPr>
                            <m:t>𝑠𝑒𝑙𝑙</m:t>
                          </m:r>
                        </m:sup>
                      </m:sSubSup>
                      <m:r>
                        <a:rPr lang="en-US" i="0">
                          <a:latin typeface="Cambria Math" panose="02040503050406030204" pitchFamily="18" charset="0"/>
                        </a:rPr>
                        <m:t>=</m:t>
                      </m:r>
                      <m:sSup>
                        <m:sSupPr>
                          <m:ctrlPr>
                            <a:rPr lang="en-US" i="1">
                              <a:solidFill>
                                <a:srgbClr val="836967"/>
                              </a:solidFill>
                              <a:latin typeface="Cambria Math" panose="02040503050406030204" pitchFamily="18" charset="0"/>
                            </a:rPr>
                          </m:ctrlPr>
                        </m:sSupPr>
                        <m:e>
                          <m:r>
                            <a:rPr lang="en-US" i="1">
                              <a:latin typeface="Cambria Math" panose="02040503050406030204" pitchFamily="18" charset="0"/>
                            </a:rPr>
                            <m:t>𝜆</m:t>
                          </m:r>
                        </m:e>
                        <m:sup>
                          <m:r>
                            <a:rPr lang="en-US" i="1">
                              <a:latin typeface="Cambria Math" panose="02040503050406030204" pitchFamily="18" charset="0"/>
                            </a:rPr>
                            <m:t>𝑙𝑏</m:t>
                          </m:r>
                        </m:sup>
                      </m:sSup>
                      <m:r>
                        <a:rPr lang="ja-JP" altLang="en-US" i="1">
                          <a:latin typeface="Cambria Math" panose="02040503050406030204" pitchFamily="18" charset="0"/>
                        </a:rPr>
                        <m:t>　</m:t>
                      </m:r>
                      <m:r>
                        <a:rPr lang="en-US" altLang="ja-JP" b="0" i="1" smtClean="0">
                          <a:latin typeface="Cambria Math" panose="02040503050406030204" pitchFamily="18" charset="0"/>
                        </a:rPr>
                        <m:t>(7)</m:t>
                      </m:r>
                    </m:oMath>
                  </m:oMathPara>
                </a14:m>
                <a:endParaRPr lang="en-US" dirty="0"/>
              </a:p>
            </p:txBody>
          </p:sp>
        </mc:Choice>
        <mc:Fallback xmlns="">
          <p:sp>
            <p:nvSpPr>
              <p:cNvPr id="12" name="テキスト ボックス 11">
                <a:extLst>
                  <a:ext uri="{FF2B5EF4-FFF2-40B4-BE49-F238E27FC236}">
                    <a16:creationId xmlns:a16="http://schemas.microsoft.com/office/drawing/2014/main" id="{4A1D82CE-F754-8099-DF9B-B21143EB0C94}"/>
                  </a:ext>
                </a:extLst>
              </p:cNvPr>
              <p:cNvSpPr txBox="1">
                <a:spLocks noRot="1" noChangeAspect="1" noMove="1" noResize="1" noEditPoints="1" noAdjustHandles="1" noChangeArrowheads="1" noChangeShapeType="1" noTextEdit="1"/>
              </p:cNvSpPr>
              <p:nvPr/>
            </p:nvSpPr>
            <p:spPr>
              <a:xfrm>
                <a:off x="2235591" y="1536157"/>
                <a:ext cx="4959926" cy="435247"/>
              </a:xfrm>
              <a:prstGeom prst="rect">
                <a:avLst/>
              </a:prstGeom>
              <a:blipFill>
                <a:blip r:embed="rId2"/>
                <a:stretch>
                  <a:fillRect b="-563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テキスト ボックス 1">
                <a:extLst>
                  <a:ext uri="{FF2B5EF4-FFF2-40B4-BE49-F238E27FC236}">
                    <a16:creationId xmlns:a16="http://schemas.microsoft.com/office/drawing/2014/main" id="{A658ED19-AEA9-5CCE-55E4-07409E45684A}"/>
                  </a:ext>
                </a:extLst>
              </p:cNvPr>
              <p:cNvSpPr txBox="1"/>
              <p:nvPr/>
            </p:nvSpPr>
            <p:spPr>
              <a:xfrm>
                <a:off x="443345" y="3206337"/>
                <a:ext cx="9593780" cy="994183"/>
              </a:xfrm>
              <a:prstGeom prst="rect">
                <a:avLst/>
              </a:prstGeom>
              <a:noFill/>
            </p:spPr>
            <p:txBody>
              <a:bodyPr wrap="none" rtlCol="0">
                <a:spAutoFit/>
              </a:bodyPr>
              <a:lstStyle/>
              <a:p>
                <a:r>
                  <a:rPr lang="en-US" dirty="0"/>
                  <a:t>The program is ready to set </a:t>
                </a:r>
                <a14:m>
                  <m:oMath xmlns:m="http://schemas.openxmlformats.org/officeDocument/2006/math">
                    <m:sSubSup>
                      <m:sSubSupPr>
                        <m:ctrlPr>
                          <a:rPr lang="en-US" i="1" smtClean="0">
                            <a:solidFill>
                              <a:srgbClr val="836967"/>
                            </a:solidFill>
                            <a:latin typeface="Cambria Math" panose="02040503050406030204" pitchFamily="18" charset="0"/>
                          </a:rPr>
                        </m:ctrlPr>
                      </m:sSubSupPr>
                      <m:e>
                        <m:r>
                          <a:rPr lang="en-US" i="1">
                            <a:latin typeface="Cambria Math" panose="02040503050406030204" pitchFamily="18" charset="0"/>
                          </a:rPr>
                          <m:t>𝜆</m:t>
                        </m:r>
                      </m:e>
                      <m:sub>
                        <m:r>
                          <a:rPr lang="en-US" i="1">
                            <a:latin typeface="Cambria Math" panose="02040503050406030204" pitchFamily="18" charset="0"/>
                          </a:rPr>
                          <m:t>𝑡</m:t>
                        </m:r>
                        <m:r>
                          <a:rPr lang="en-US" i="0">
                            <a:latin typeface="Cambria Math" panose="02040503050406030204" pitchFamily="18" charset="0"/>
                          </a:rPr>
                          <m:t>,</m:t>
                        </m:r>
                        <m:r>
                          <a:rPr lang="en-US" i="1">
                            <a:latin typeface="Cambria Math" panose="02040503050406030204" pitchFamily="18" charset="0"/>
                          </a:rPr>
                          <m:t>𝑛</m:t>
                        </m:r>
                      </m:sub>
                      <m:sup>
                        <m:r>
                          <a:rPr lang="en-US" i="1">
                            <a:latin typeface="Cambria Math" panose="02040503050406030204" pitchFamily="18" charset="0"/>
                          </a:rPr>
                          <m:t>𝑏𝑖𝑑</m:t>
                        </m:r>
                        <m:r>
                          <a:rPr lang="en-US" i="0">
                            <a:latin typeface="Cambria Math" panose="02040503050406030204" pitchFamily="18" charset="0"/>
                          </a:rPr>
                          <m:t>,</m:t>
                        </m:r>
                        <m:r>
                          <a:rPr lang="en-US" i="1">
                            <a:latin typeface="Cambria Math" panose="02040503050406030204" pitchFamily="18" charset="0"/>
                          </a:rPr>
                          <m:t>𝑃𝑉</m:t>
                        </m:r>
                        <m:r>
                          <a:rPr lang="en-US" i="0">
                            <a:latin typeface="Cambria Math" panose="02040503050406030204" pitchFamily="18" charset="0"/>
                          </a:rPr>
                          <m:t>,</m:t>
                        </m:r>
                        <m:r>
                          <a:rPr lang="en-US" i="1">
                            <a:latin typeface="Cambria Math" panose="02040503050406030204" pitchFamily="18" charset="0"/>
                          </a:rPr>
                          <m:t>𝑠𝑒𝑙𝑙</m:t>
                        </m:r>
                      </m:sup>
                    </m:sSubSup>
                  </m:oMath>
                </a14:m>
                <a:r>
                  <a:rPr lang="en-US" dirty="0"/>
                  <a:t> to be a </a:t>
                </a:r>
                <a:r>
                  <a:rPr lang="en-US" dirty="0">
                    <a:solidFill>
                      <a:schemeClr val="accent1"/>
                    </a:solidFill>
                  </a:rPr>
                  <a:t>target of RL</a:t>
                </a:r>
                <a:r>
                  <a:rPr lang="en-US" dirty="0"/>
                  <a:t>.</a:t>
                </a:r>
              </a:p>
              <a:p>
                <a:r>
                  <a:rPr lang="en-US" dirty="0"/>
                  <a:t>However, </a:t>
                </a:r>
                <a14:m>
                  <m:oMath xmlns:m="http://schemas.openxmlformats.org/officeDocument/2006/math">
                    <m:sSup>
                      <m:sSupPr>
                        <m:ctrlPr>
                          <a:rPr lang="en-US" sz="1800" i="1" smtClean="0">
                            <a:latin typeface="Cambria Math" panose="02040503050406030204" pitchFamily="18" charset="0"/>
                          </a:rPr>
                        </m:ctrlPr>
                      </m:sSupPr>
                      <m:e>
                        <m:r>
                          <a:rPr lang="en-US" sz="1800" i="1">
                            <a:latin typeface="Cambria Math" panose="02040503050406030204" pitchFamily="18" charset="0"/>
                          </a:rPr>
                          <m:t>𝜆</m:t>
                        </m:r>
                      </m:e>
                      <m:sup>
                        <m:r>
                          <a:rPr lang="en-US" sz="1800" b="0" i="1" smtClean="0">
                            <a:latin typeface="Cambria Math" panose="02040503050406030204" pitchFamily="18" charset="0"/>
                          </a:rPr>
                          <m:t>𝑙𝑏</m:t>
                        </m:r>
                      </m:sup>
                    </m:sSup>
                  </m:oMath>
                </a14:m>
                <a:r>
                  <a:rPr lang="en-US" dirty="0"/>
                  <a:t> is used in the following results, because energy from PV must be consumed on </a:t>
                </a:r>
                <a:br>
                  <a:rPr lang="en-US" dirty="0"/>
                </a:br>
                <a:r>
                  <a:rPr lang="en-US" dirty="0"/>
                  <a:t>each timeslot. On that point, energy from PV must be used first. </a:t>
                </a:r>
              </a:p>
            </p:txBody>
          </p:sp>
        </mc:Choice>
        <mc:Fallback xmlns="">
          <p:sp>
            <p:nvSpPr>
              <p:cNvPr id="2" name="テキスト ボックス 1">
                <a:extLst>
                  <a:ext uri="{FF2B5EF4-FFF2-40B4-BE49-F238E27FC236}">
                    <a16:creationId xmlns:a16="http://schemas.microsoft.com/office/drawing/2014/main" id="{A658ED19-AEA9-5CCE-55E4-07409E45684A}"/>
                  </a:ext>
                </a:extLst>
              </p:cNvPr>
              <p:cNvSpPr txBox="1">
                <a:spLocks noRot="1" noChangeAspect="1" noMove="1" noResize="1" noEditPoints="1" noAdjustHandles="1" noChangeArrowheads="1" noChangeShapeType="1" noTextEdit="1"/>
              </p:cNvSpPr>
              <p:nvPr/>
            </p:nvSpPr>
            <p:spPr>
              <a:xfrm>
                <a:off x="443345" y="3206337"/>
                <a:ext cx="9593780" cy="994183"/>
              </a:xfrm>
              <a:prstGeom prst="rect">
                <a:avLst/>
              </a:prstGeom>
              <a:blipFill>
                <a:blip r:embed="rId3"/>
                <a:stretch>
                  <a:fillRect l="-572" b="-920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4" name="表 3">
                <a:extLst>
                  <a:ext uri="{FF2B5EF4-FFF2-40B4-BE49-F238E27FC236}">
                    <a16:creationId xmlns:a16="http://schemas.microsoft.com/office/drawing/2014/main" id="{00CF6C16-B76E-4AA1-BF36-801BA88BDDEB}"/>
                  </a:ext>
                </a:extLst>
              </p:cNvPr>
              <p:cNvGraphicFramePr>
                <a:graphicFrameLocks noGrp="1"/>
              </p:cNvGraphicFramePr>
              <p:nvPr>
                <p:extLst>
                  <p:ext uri="{D42A27DB-BD31-4B8C-83A1-F6EECF244321}">
                    <p14:modId xmlns:p14="http://schemas.microsoft.com/office/powerpoint/2010/main" val="1917561918"/>
                  </p:ext>
                </p:extLst>
              </p:nvPr>
            </p:nvGraphicFramePr>
            <p:xfrm>
              <a:off x="3194649" y="2166054"/>
              <a:ext cx="3182399" cy="536369"/>
            </p:xfrm>
            <a:graphic>
              <a:graphicData uri="http://schemas.openxmlformats.org/drawingml/2006/table">
                <a:tbl>
                  <a:tblPr bandRow="1">
                    <a:tableStyleId>{5C22544A-7EE6-4342-B048-85BDC9FD1C3A}</a:tableStyleId>
                  </a:tblPr>
                  <a:tblGrid>
                    <a:gridCol w="436128">
                      <a:extLst>
                        <a:ext uri="{9D8B030D-6E8A-4147-A177-3AD203B41FA5}">
                          <a16:colId xmlns:a16="http://schemas.microsoft.com/office/drawing/2014/main" val="2861884647"/>
                        </a:ext>
                      </a:extLst>
                    </a:gridCol>
                    <a:gridCol w="223280">
                      <a:extLst>
                        <a:ext uri="{9D8B030D-6E8A-4147-A177-3AD203B41FA5}">
                          <a16:colId xmlns:a16="http://schemas.microsoft.com/office/drawing/2014/main" val="1888250241"/>
                        </a:ext>
                      </a:extLst>
                    </a:gridCol>
                    <a:gridCol w="2522991">
                      <a:extLst>
                        <a:ext uri="{9D8B030D-6E8A-4147-A177-3AD203B41FA5}">
                          <a16:colId xmlns:a16="http://schemas.microsoft.com/office/drawing/2014/main" val="2349743300"/>
                        </a:ext>
                      </a:extLst>
                    </a:gridCol>
                  </a:tblGrid>
                  <a:tr h="536369">
                    <a:tc>
                      <a:txBody>
                        <a:bodyPr/>
                        <a:lstStyle/>
                        <a:p>
                          <a:pPr/>
                          <a14:m>
                            <m:oMathPara xmlns:m="http://schemas.openxmlformats.org/officeDocument/2006/math">
                              <m:oMathParaPr>
                                <m:jc m:val="left"/>
                              </m:oMathParaPr>
                              <m:oMath xmlns:m="http://schemas.openxmlformats.org/officeDocument/2006/math">
                                <m:sSup>
                                  <m:sSupPr>
                                    <m:ctrlPr>
                                      <a:rPr lang="en-US" sz="1600" i="1" smtClean="0">
                                        <a:latin typeface="Cambria Math" panose="02040503050406030204" pitchFamily="18" charset="0"/>
                                      </a:rPr>
                                    </m:ctrlPr>
                                  </m:sSupPr>
                                  <m:e>
                                    <m:r>
                                      <a:rPr lang="en-US" sz="1600" i="1">
                                        <a:latin typeface="Cambria Math" panose="02040503050406030204" pitchFamily="18" charset="0"/>
                                      </a:rPr>
                                      <m:t>𝜆</m:t>
                                    </m:r>
                                  </m:e>
                                  <m:sup>
                                    <m:r>
                                      <a:rPr lang="en-US" sz="1600" b="0" i="1" smtClean="0">
                                        <a:latin typeface="Cambria Math" panose="02040503050406030204" pitchFamily="18" charset="0"/>
                                      </a:rPr>
                                      <m:t>𝑙𝑏</m:t>
                                    </m:r>
                                  </m:sup>
                                </m:sSup>
                              </m:oMath>
                            </m:oMathPara>
                          </a14:m>
                          <a:endParaRPr lang="en-US" sz="1600" dirty="0"/>
                        </a:p>
                      </a:txBody>
                      <a:tcPr>
                        <a:noFill/>
                      </a:tcPr>
                    </a:tc>
                    <a:tc>
                      <a:txBody>
                        <a:bodyPr/>
                        <a:lstStyle/>
                        <a:p>
                          <a:r>
                            <a:rPr lang="en-US" sz="1600" dirty="0"/>
                            <a:t>:</a:t>
                          </a:r>
                        </a:p>
                      </a:txBody>
                      <a:tcPr>
                        <a:noFill/>
                      </a:tcPr>
                    </a:tc>
                    <a:tc>
                      <a:txBody>
                        <a:bodyPr/>
                        <a:lstStyle/>
                        <a:p>
                          <a:r>
                            <a:rPr lang="en-US" altLang="ja-JP" sz="1600" dirty="0"/>
                            <a:t>Lower bound of bid price</a:t>
                          </a:r>
                          <a:endParaRPr lang="en-US" sz="1600" dirty="0"/>
                        </a:p>
                      </a:txBody>
                      <a:tcPr>
                        <a:noFill/>
                      </a:tcPr>
                    </a:tc>
                    <a:extLst>
                      <a:ext uri="{0D108BD9-81ED-4DB2-BD59-A6C34878D82A}">
                        <a16:rowId xmlns:a16="http://schemas.microsoft.com/office/drawing/2014/main" val="450899770"/>
                      </a:ext>
                    </a:extLst>
                  </a:tr>
                </a:tbl>
              </a:graphicData>
            </a:graphic>
          </p:graphicFrame>
        </mc:Choice>
        <mc:Fallback xmlns="">
          <p:graphicFrame>
            <p:nvGraphicFramePr>
              <p:cNvPr id="4" name="表 3">
                <a:extLst>
                  <a:ext uri="{FF2B5EF4-FFF2-40B4-BE49-F238E27FC236}">
                    <a16:creationId xmlns:a16="http://schemas.microsoft.com/office/drawing/2014/main" id="{00CF6C16-B76E-4AA1-BF36-801BA88BDDEB}"/>
                  </a:ext>
                </a:extLst>
              </p:cNvPr>
              <p:cNvGraphicFramePr>
                <a:graphicFrameLocks noGrp="1"/>
              </p:cNvGraphicFramePr>
              <p:nvPr>
                <p:extLst>
                  <p:ext uri="{D42A27DB-BD31-4B8C-83A1-F6EECF244321}">
                    <p14:modId xmlns:p14="http://schemas.microsoft.com/office/powerpoint/2010/main" val="1917561918"/>
                  </p:ext>
                </p:extLst>
              </p:nvPr>
            </p:nvGraphicFramePr>
            <p:xfrm>
              <a:off x="3194649" y="2166054"/>
              <a:ext cx="3182399" cy="536369"/>
            </p:xfrm>
            <a:graphic>
              <a:graphicData uri="http://schemas.openxmlformats.org/drawingml/2006/table">
                <a:tbl>
                  <a:tblPr bandRow="1">
                    <a:tableStyleId>{5C22544A-7EE6-4342-B048-85BDC9FD1C3A}</a:tableStyleId>
                  </a:tblPr>
                  <a:tblGrid>
                    <a:gridCol w="436128">
                      <a:extLst>
                        <a:ext uri="{9D8B030D-6E8A-4147-A177-3AD203B41FA5}">
                          <a16:colId xmlns:a16="http://schemas.microsoft.com/office/drawing/2014/main" val="2861884647"/>
                        </a:ext>
                      </a:extLst>
                    </a:gridCol>
                    <a:gridCol w="223280">
                      <a:extLst>
                        <a:ext uri="{9D8B030D-6E8A-4147-A177-3AD203B41FA5}">
                          <a16:colId xmlns:a16="http://schemas.microsoft.com/office/drawing/2014/main" val="1888250241"/>
                        </a:ext>
                      </a:extLst>
                    </a:gridCol>
                    <a:gridCol w="2522991">
                      <a:extLst>
                        <a:ext uri="{9D8B030D-6E8A-4147-A177-3AD203B41FA5}">
                          <a16:colId xmlns:a16="http://schemas.microsoft.com/office/drawing/2014/main" val="2349743300"/>
                        </a:ext>
                      </a:extLst>
                    </a:gridCol>
                  </a:tblGrid>
                  <a:tr h="536369">
                    <a:tc>
                      <a:txBody>
                        <a:bodyPr/>
                        <a:lstStyle/>
                        <a:p>
                          <a:endParaRPr lang="en-US"/>
                        </a:p>
                      </a:txBody>
                      <a:tcPr>
                        <a:blipFill>
                          <a:blip r:embed="rId4"/>
                          <a:stretch>
                            <a:fillRect l="-1389" t="-4494" r="-629167" b="-2247"/>
                          </a:stretch>
                        </a:blipFill>
                      </a:tcPr>
                    </a:tc>
                    <a:tc>
                      <a:txBody>
                        <a:bodyPr/>
                        <a:lstStyle/>
                        <a:p>
                          <a:r>
                            <a:rPr lang="en-US" sz="1600" dirty="0"/>
                            <a:t>:</a:t>
                          </a:r>
                        </a:p>
                      </a:txBody>
                      <a:tcPr>
                        <a:noFill/>
                      </a:tcPr>
                    </a:tc>
                    <a:tc>
                      <a:txBody>
                        <a:bodyPr/>
                        <a:lstStyle/>
                        <a:p>
                          <a:r>
                            <a:rPr lang="en-US" altLang="ja-JP" sz="1600" dirty="0"/>
                            <a:t>Lower bound of bid price</a:t>
                          </a:r>
                          <a:endParaRPr lang="en-US" sz="1600" dirty="0"/>
                        </a:p>
                      </a:txBody>
                      <a:tcPr>
                        <a:noFill/>
                      </a:tcPr>
                    </a:tc>
                    <a:extLst>
                      <a:ext uri="{0D108BD9-81ED-4DB2-BD59-A6C34878D82A}">
                        <a16:rowId xmlns:a16="http://schemas.microsoft.com/office/drawing/2014/main" val="450899770"/>
                      </a:ext>
                    </a:extLst>
                  </a:tr>
                </a:tbl>
              </a:graphicData>
            </a:graphic>
          </p:graphicFrame>
        </mc:Fallback>
      </mc:AlternateContent>
    </p:spTree>
    <p:extLst>
      <p:ext uri="{BB962C8B-B14F-4D97-AF65-F5344CB8AC3E}">
        <p14:creationId xmlns:p14="http://schemas.microsoft.com/office/powerpoint/2010/main" val="56176260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B5872B-7E8D-7E5A-8873-E58F9C4138AD}"/>
            </a:ext>
          </a:extLst>
        </p:cNvPr>
        <p:cNvGrpSpPr/>
        <p:nvPr/>
      </p:nvGrpSpPr>
      <p:grpSpPr>
        <a:xfrm>
          <a:off x="0" y="0"/>
          <a:ext cx="0" cy="0"/>
          <a:chOff x="0" y="0"/>
          <a:chExt cx="0" cy="0"/>
        </a:xfrm>
      </p:grpSpPr>
      <p:cxnSp>
        <p:nvCxnSpPr>
          <p:cNvPr id="149" name="直線矢印コネクタ 148">
            <a:extLst>
              <a:ext uri="{FF2B5EF4-FFF2-40B4-BE49-F238E27FC236}">
                <a16:creationId xmlns:a16="http://schemas.microsoft.com/office/drawing/2014/main" id="{B9785B40-FF49-61C6-A1BE-F4827AFDB3F4}"/>
              </a:ext>
            </a:extLst>
          </p:cNvPr>
          <p:cNvCxnSpPr>
            <a:cxnSpLocks/>
            <a:stCxn id="61" idx="2"/>
            <a:endCxn id="49" idx="0"/>
          </p:cNvCxnSpPr>
          <p:nvPr/>
        </p:nvCxnSpPr>
        <p:spPr>
          <a:xfrm flipH="1">
            <a:off x="1713697" y="1454370"/>
            <a:ext cx="407241" cy="9375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 name="コンテンツ プレースホルダー 2">
            <a:extLst>
              <a:ext uri="{FF2B5EF4-FFF2-40B4-BE49-F238E27FC236}">
                <a16:creationId xmlns:a16="http://schemas.microsoft.com/office/drawing/2014/main" id="{F2910F42-7935-3254-CDEE-E564F55BEC00}"/>
              </a:ext>
            </a:extLst>
          </p:cNvPr>
          <p:cNvSpPr>
            <a:spLocks noGrp="1"/>
          </p:cNvSpPr>
          <p:nvPr>
            <p:ph sz="quarter" idx="16"/>
          </p:nvPr>
        </p:nvSpPr>
        <p:spPr/>
        <p:txBody>
          <a:bodyPr/>
          <a:lstStyle/>
          <a:p>
            <a:r>
              <a:rPr lang="en-US" dirty="0"/>
              <a:t>3.2.3 Design non-P2P energy model</a:t>
            </a:r>
          </a:p>
        </p:txBody>
      </p:sp>
      <p:sp>
        <p:nvSpPr>
          <p:cNvPr id="81" name="四角形: 角を丸くする 80">
            <a:extLst>
              <a:ext uri="{FF2B5EF4-FFF2-40B4-BE49-F238E27FC236}">
                <a16:creationId xmlns:a16="http://schemas.microsoft.com/office/drawing/2014/main" id="{C561BAD0-C29E-1661-DF05-E7705AB34287}"/>
              </a:ext>
            </a:extLst>
          </p:cNvPr>
          <p:cNvSpPr/>
          <p:nvPr/>
        </p:nvSpPr>
        <p:spPr>
          <a:xfrm>
            <a:off x="61452" y="4456595"/>
            <a:ext cx="2881494" cy="2333044"/>
          </a:xfrm>
          <a:prstGeom prst="roundRect">
            <a:avLst/>
          </a:prstGeom>
          <a:solidFill>
            <a:schemeClr val="bg1"/>
          </a:solid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3" name="グラフィックス 72" descr="ホーム 枠線">
            <a:extLst>
              <a:ext uri="{FF2B5EF4-FFF2-40B4-BE49-F238E27FC236}">
                <a16:creationId xmlns:a16="http://schemas.microsoft.com/office/drawing/2014/main" id="{303C155B-C977-EE60-950E-B7AFE3CF59C5}"/>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585957" y="5324744"/>
            <a:ext cx="871002" cy="688865"/>
          </a:xfrm>
          <a:prstGeom prst="rect">
            <a:avLst/>
          </a:prstGeom>
        </p:spPr>
      </p:pic>
      <p:pic>
        <p:nvPicPr>
          <p:cNvPr id="74" name="グラフィックス 73" descr="電池を充電中 単色塗りつぶし">
            <a:extLst>
              <a:ext uri="{FF2B5EF4-FFF2-40B4-BE49-F238E27FC236}">
                <a16:creationId xmlns:a16="http://schemas.microsoft.com/office/drawing/2014/main" id="{BAA38104-B9BD-2C9C-4EA9-6CD201A2D9A8}"/>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396549" y="6038724"/>
            <a:ext cx="481831" cy="381074"/>
          </a:xfrm>
          <a:prstGeom prst="rect">
            <a:avLst/>
          </a:prstGeom>
        </p:spPr>
      </p:pic>
      <p:pic>
        <p:nvPicPr>
          <p:cNvPr id="75" name="グラフィックス 74" descr="ランプ 単色塗りつぶし">
            <a:extLst>
              <a:ext uri="{FF2B5EF4-FFF2-40B4-BE49-F238E27FC236}">
                <a16:creationId xmlns:a16="http://schemas.microsoft.com/office/drawing/2014/main" id="{2D43EBA6-925D-CC7E-8C73-24106628F9C0}"/>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853895" y="5164134"/>
            <a:ext cx="481831" cy="381074"/>
          </a:xfrm>
          <a:prstGeom prst="rect">
            <a:avLst/>
          </a:prstGeom>
        </p:spPr>
      </p:pic>
      <p:grpSp>
        <p:nvGrpSpPr>
          <p:cNvPr id="76" name="グループ化 75">
            <a:extLst>
              <a:ext uri="{FF2B5EF4-FFF2-40B4-BE49-F238E27FC236}">
                <a16:creationId xmlns:a16="http://schemas.microsoft.com/office/drawing/2014/main" id="{2825DFFB-115D-DF9F-427B-2A9DB24B1736}"/>
              </a:ext>
            </a:extLst>
          </p:cNvPr>
          <p:cNvGrpSpPr/>
          <p:nvPr/>
        </p:nvGrpSpPr>
        <p:grpSpPr>
          <a:xfrm>
            <a:off x="1767314" y="4636442"/>
            <a:ext cx="777080" cy="573614"/>
            <a:chOff x="1652432" y="4184015"/>
            <a:chExt cx="914400" cy="914400"/>
          </a:xfrm>
        </p:grpSpPr>
        <p:pic>
          <p:nvPicPr>
            <p:cNvPr id="82" name="グラフィックス 81" descr="ソーラー パネル 単色塗りつぶし">
              <a:extLst>
                <a:ext uri="{FF2B5EF4-FFF2-40B4-BE49-F238E27FC236}">
                  <a16:creationId xmlns:a16="http://schemas.microsoft.com/office/drawing/2014/main" id="{C983E25F-F309-4FEC-59A8-8B63EE15C4BE}"/>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1652432" y="4184015"/>
              <a:ext cx="914400" cy="914400"/>
            </a:xfrm>
            <a:prstGeom prst="rect">
              <a:avLst/>
            </a:prstGeom>
          </p:spPr>
        </p:pic>
        <p:pic>
          <p:nvPicPr>
            <p:cNvPr id="83" name="Picture 4" descr="真っ白な壁紙イラストのフリー素材｜イラストイメージ">
              <a:extLst>
                <a:ext uri="{FF2B5EF4-FFF2-40B4-BE49-F238E27FC236}">
                  <a16:creationId xmlns:a16="http://schemas.microsoft.com/office/drawing/2014/main" id="{18AC3276-4D6F-9251-C2D3-43F99D9804E4}"/>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660127" y="4216729"/>
              <a:ext cx="281052" cy="268188"/>
            </a:xfrm>
            <a:prstGeom prst="rect">
              <a:avLst/>
            </a:prstGeom>
            <a:noFill/>
            <a:ln>
              <a:noFill/>
            </a:ln>
            <a:extLst>
              <a:ext uri="{909E8E84-426E-40DD-AFC4-6F175D3DCCD1}">
                <a14:hiddenFill xmlns:a14="http://schemas.microsoft.com/office/drawing/2010/main">
                  <a:solidFill>
                    <a:srgbClr val="FFFFFF"/>
                  </a:solidFill>
                </a14:hiddenFill>
              </a:ext>
            </a:extLst>
          </p:spPr>
        </p:pic>
      </p:grpSp>
      <p:sp>
        <p:nvSpPr>
          <p:cNvPr id="77" name="テキスト ボックス 76">
            <a:extLst>
              <a:ext uri="{FF2B5EF4-FFF2-40B4-BE49-F238E27FC236}">
                <a16:creationId xmlns:a16="http://schemas.microsoft.com/office/drawing/2014/main" id="{6C743BB6-6E4E-9AC4-AA71-96534FC78FAD}"/>
              </a:ext>
            </a:extLst>
          </p:cNvPr>
          <p:cNvSpPr txBox="1"/>
          <p:nvPr/>
        </p:nvSpPr>
        <p:spPr>
          <a:xfrm>
            <a:off x="123733" y="5269201"/>
            <a:ext cx="817600" cy="170938"/>
          </a:xfrm>
          <a:prstGeom prst="rect">
            <a:avLst/>
          </a:prstGeom>
          <a:noFill/>
        </p:spPr>
        <p:txBody>
          <a:bodyPr wrap="none" rtlCol="0">
            <a:spAutoFit/>
          </a:bodyPr>
          <a:lstStyle/>
          <a:p>
            <a:r>
              <a:rPr lang="en-US" sz="1050" dirty="0"/>
              <a:t>Inelastic load</a:t>
            </a:r>
          </a:p>
        </p:txBody>
      </p:sp>
      <p:sp>
        <p:nvSpPr>
          <p:cNvPr id="78" name="テキスト ボックス 77">
            <a:extLst>
              <a:ext uri="{FF2B5EF4-FFF2-40B4-BE49-F238E27FC236}">
                <a16:creationId xmlns:a16="http://schemas.microsoft.com/office/drawing/2014/main" id="{E6EA1CE8-237F-F24A-DD73-6E5075F0AC23}"/>
              </a:ext>
            </a:extLst>
          </p:cNvPr>
          <p:cNvSpPr txBox="1"/>
          <p:nvPr/>
        </p:nvSpPr>
        <p:spPr>
          <a:xfrm>
            <a:off x="1365060" y="6333665"/>
            <a:ext cx="513320" cy="170938"/>
          </a:xfrm>
          <a:prstGeom prst="rect">
            <a:avLst/>
          </a:prstGeom>
          <a:noFill/>
        </p:spPr>
        <p:txBody>
          <a:bodyPr wrap="none" rtlCol="0">
            <a:spAutoFit/>
          </a:bodyPr>
          <a:lstStyle/>
          <a:p>
            <a:r>
              <a:rPr lang="en-US" sz="1050" dirty="0"/>
              <a:t>Battery</a:t>
            </a:r>
          </a:p>
        </p:txBody>
      </p:sp>
      <p:sp>
        <p:nvSpPr>
          <p:cNvPr id="79" name="テキスト ボックス 78">
            <a:extLst>
              <a:ext uri="{FF2B5EF4-FFF2-40B4-BE49-F238E27FC236}">
                <a16:creationId xmlns:a16="http://schemas.microsoft.com/office/drawing/2014/main" id="{E43958B2-5E9D-A87B-C3EF-55DB914C5D04}"/>
              </a:ext>
            </a:extLst>
          </p:cNvPr>
          <p:cNvSpPr txBox="1"/>
          <p:nvPr/>
        </p:nvSpPr>
        <p:spPr>
          <a:xfrm>
            <a:off x="1720622" y="4726619"/>
            <a:ext cx="292273" cy="170939"/>
          </a:xfrm>
          <a:prstGeom prst="rect">
            <a:avLst/>
          </a:prstGeom>
          <a:noFill/>
        </p:spPr>
        <p:txBody>
          <a:bodyPr wrap="none" rtlCol="0">
            <a:spAutoFit/>
          </a:bodyPr>
          <a:lstStyle/>
          <a:p>
            <a:r>
              <a:rPr lang="en-US" sz="1050" dirty="0"/>
              <a:t>PV</a:t>
            </a:r>
          </a:p>
        </p:txBody>
      </p:sp>
      <p:sp>
        <p:nvSpPr>
          <p:cNvPr id="80" name="テキスト ボックス 79">
            <a:extLst>
              <a:ext uri="{FF2B5EF4-FFF2-40B4-BE49-F238E27FC236}">
                <a16:creationId xmlns:a16="http://schemas.microsoft.com/office/drawing/2014/main" id="{23AABF48-AE41-9D5F-EC25-B0233F26A304}"/>
              </a:ext>
            </a:extLst>
          </p:cNvPr>
          <p:cNvSpPr txBox="1"/>
          <p:nvPr/>
        </p:nvSpPr>
        <p:spPr>
          <a:xfrm>
            <a:off x="169251" y="4525493"/>
            <a:ext cx="1106012" cy="255564"/>
          </a:xfrm>
          <a:prstGeom prst="rect">
            <a:avLst/>
          </a:prstGeom>
          <a:noFill/>
        </p:spPr>
        <p:txBody>
          <a:bodyPr wrap="none" rtlCol="0">
            <a:spAutoFit/>
          </a:bodyPr>
          <a:lstStyle/>
          <a:p>
            <a:r>
              <a:rPr lang="en-US" sz="1400" dirty="0"/>
              <a:t>Prosumer #3</a:t>
            </a:r>
          </a:p>
        </p:txBody>
      </p:sp>
      <p:sp>
        <p:nvSpPr>
          <p:cNvPr id="72" name="四角形: 角を丸くする 71">
            <a:extLst>
              <a:ext uri="{FF2B5EF4-FFF2-40B4-BE49-F238E27FC236}">
                <a16:creationId xmlns:a16="http://schemas.microsoft.com/office/drawing/2014/main" id="{07E9A1F0-A179-BAC0-51C7-9CF613068FD9}"/>
              </a:ext>
            </a:extLst>
          </p:cNvPr>
          <p:cNvSpPr/>
          <p:nvPr/>
        </p:nvSpPr>
        <p:spPr>
          <a:xfrm>
            <a:off x="3046964" y="4465601"/>
            <a:ext cx="2881494" cy="2326253"/>
          </a:xfrm>
          <a:prstGeom prst="roundRect">
            <a:avLst/>
          </a:prstGeom>
          <a:solidFill>
            <a:schemeClr val="bg1"/>
          </a:solid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3" name="グラフィックス 62" descr="ホーム 枠線">
            <a:extLst>
              <a:ext uri="{FF2B5EF4-FFF2-40B4-BE49-F238E27FC236}">
                <a16:creationId xmlns:a16="http://schemas.microsoft.com/office/drawing/2014/main" id="{0FCA4A14-CB92-F023-486F-6FCC3F150D1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571473" y="5306917"/>
            <a:ext cx="871003" cy="688865"/>
          </a:xfrm>
          <a:prstGeom prst="rect">
            <a:avLst/>
          </a:prstGeom>
        </p:spPr>
      </p:pic>
      <p:pic>
        <p:nvPicPr>
          <p:cNvPr id="64" name="グラフィックス 63" descr="電気自動車 単色塗りつぶし">
            <a:extLst>
              <a:ext uri="{FF2B5EF4-FFF2-40B4-BE49-F238E27FC236}">
                <a16:creationId xmlns:a16="http://schemas.microsoft.com/office/drawing/2014/main" id="{E7A87879-B614-108A-787A-939C7832E6FE}"/>
              </a:ext>
            </a:extLst>
          </p:cNvPr>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5158777" y="6028912"/>
            <a:ext cx="481831" cy="381074"/>
          </a:xfrm>
          <a:prstGeom prst="rect">
            <a:avLst/>
          </a:prstGeom>
        </p:spPr>
      </p:pic>
      <p:pic>
        <p:nvPicPr>
          <p:cNvPr id="65" name="グラフィックス 64" descr="洗濯機 単色塗りつぶし">
            <a:extLst>
              <a:ext uri="{FF2B5EF4-FFF2-40B4-BE49-F238E27FC236}">
                <a16:creationId xmlns:a16="http://schemas.microsoft.com/office/drawing/2014/main" id="{36C4C7F1-031C-37A4-4A4E-9CA5B0CA60C6}"/>
              </a:ext>
            </a:extLst>
          </p:cNvPr>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3790648" y="6004393"/>
            <a:ext cx="481831" cy="381074"/>
          </a:xfrm>
          <a:prstGeom prst="rect">
            <a:avLst/>
          </a:prstGeom>
        </p:spPr>
      </p:pic>
      <p:pic>
        <p:nvPicPr>
          <p:cNvPr id="66" name="グラフィックス 65" descr="ランプ 単色塗りつぶし">
            <a:extLst>
              <a:ext uri="{FF2B5EF4-FFF2-40B4-BE49-F238E27FC236}">
                <a16:creationId xmlns:a16="http://schemas.microsoft.com/office/drawing/2014/main" id="{7B71F806-C738-F400-4BF1-F26258CC44D2}"/>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790648" y="5126017"/>
            <a:ext cx="481831" cy="381074"/>
          </a:xfrm>
          <a:prstGeom prst="rect">
            <a:avLst/>
          </a:prstGeom>
        </p:spPr>
      </p:pic>
      <p:pic>
        <p:nvPicPr>
          <p:cNvPr id="67" name="Picture 4" descr="真っ白な壁紙イラストのフリー素材｜イラストイメージ">
            <a:extLst>
              <a:ext uri="{FF2B5EF4-FFF2-40B4-BE49-F238E27FC236}">
                <a16:creationId xmlns:a16="http://schemas.microsoft.com/office/drawing/2014/main" id="{B67CC804-B0A0-DB41-039B-89B388A43AEC}"/>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4575087" y="5267555"/>
            <a:ext cx="238845" cy="168237"/>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68" name="テキスト ボックス 67">
            <a:extLst>
              <a:ext uri="{FF2B5EF4-FFF2-40B4-BE49-F238E27FC236}">
                <a16:creationId xmlns:a16="http://schemas.microsoft.com/office/drawing/2014/main" id="{7E0A47A8-DEB0-D776-D205-247B8B46EC5A}"/>
              </a:ext>
            </a:extLst>
          </p:cNvPr>
          <p:cNvSpPr txBox="1"/>
          <p:nvPr/>
        </p:nvSpPr>
        <p:spPr>
          <a:xfrm>
            <a:off x="3060485" y="5231085"/>
            <a:ext cx="817601" cy="170938"/>
          </a:xfrm>
          <a:prstGeom prst="rect">
            <a:avLst/>
          </a:prstGeom>
          <a:noFill/>
        </p:spPr>
        <p:txBody>
          <a:bodyPr wrap="none" rtlCol="0">
            <a:spAutoFit/>
          </a:bodyPr>
          <a:lstStyle/>
          <a:p>
            <a:r>
              <a:rPr lang="en-US" sz="1050" dirty="0"/>
              <a:t>Inelastic load</a:t>
            </a:r>
          </a:p>
        </p:txBody>
      </p:sp>
      <p:sp>
        <p:nvSpPr>
          <p:cNvPr id="69" name="テキスト ボックス 68">
            <a:extLst>
              <a:ext uri="{FF2B5EF4-FFF2-40B4-BE49-F238E27FC236}">
                <a16:creationId xmlns:a16="http://schemas.microsoft.com/office/drawing/2014/main" id="{4D0A007A-6A6B-BA82-01F3-3F5E43D09EDD}"/>
              </a:ext>
            </a:extLst>
          </p:cNvPr>
          <p:cNvSpPr txBox="1"/>
          <p:nvPr/>
        </p:nvSpPr>
        <p:spPr>
          <a:xfrm>
            <a:off x="3046964" y="6149336"/>
            <a:ext cx="719358" cy="170938"/>
          </a:xfrm>
          <a:prstGeom prst="rect">
            <a:avLst/>
          </a:prstGeom>
          <a:noFill/>
        </p:spPr>
        <p:txBody>
          <a:bodyPr wrap="none" rtlCol="0">
            <a:spAutoFit/>
          </a:bodyPr>
          <a:lstStyle/>
          <a:p>
            <a:r>
              <a:rPr lang="en-US" sz="1050" dirty="0"/>
              <a:t>Elastic load</a:t>
            </a:r>
          </a:p>
        </p:txBody>
      </p:sp>
      <p:sp>
        <p:nvSpPr>
          <p:cNvPr id="70" name="テキスト ボックス 69">
            <a:extLst>
              <a:ext uri="{FF2B5EF4-FFF2-40B4-BE49-F238E27FC236}">
                <a16:creationId xmlns:a16="http://schemas.microsoft.com/office/drawing/2014/main" id="{A51C17F5-1D21-2C02-5542-8564D29DBE00}"/>
              </a:ext>
            </a:extLst>
          </p:cNvPr>
          <p:cNvSpPr txBox="1"/>
          <p:nvPr/>
        </p:nvSpPr>
        <p:spPr>
          <a:xfrm>
            <a:off x="5254494" y="6323853"/>
            <a:ext cx="285451" cy="170938"/>
          </a:xfrm>
          <a:prstGeom prst="rect">
            <a:avLst/>
          </a:prstGeom>
          <a:noFill/>
        </p:spPr>
        <p:txBody>
          <a:bodyPr wrap="none" rtlCol="0">
            <a:spAutoFit/>
          </a:bodyPr>
          <a:lstStyle/>
          <a:p>
            <a:r>
              <a:rPr lang="en-US" sz="1050" dirty="0"/>
              <a:t>EV</a:t>
            </a:r>
          </a:p>
        </p:txBody>
      </p:sp>
      <p:sp>
        <p:nvSpPr>
          <p:cNvPr id="71" name="テキスト ボックス 70">
            <a:extLst>
              <a:ext uri="{FF2B5EF4-FFF2-40B4-BE49-F238E27FC236}">
                <a16:creationId xmlns:a16="http://schemas.microsoft.com/office/drawing/2014/main" id="{C9FF7598-2504-8278-2E96-D9CC86F8F0C5}"/>
              </a:ext>
            </a:extLst>
          </p:cNvPr>
          <p:cNvSpPr txBox="1"/>
          <p:nvPr/>
        </p:nvSpPr>
        <p:spPr>
          <a:xfrm>
            <a:off x="3195912" y="4525493"/>
            <a:ext cx="1106011" cy="255564"/>
          </a:xfrm>
          <a:prstGeom prst="rect">
            <a:avLst/>
          </a:prstGeom>
          <a:noFill/>
        </p:spPr>
        <p:txBody>
          <a:bodyPr wrap="none" rtlCol="0">
            <a:spAutoFit/>
          </a:bodyPr>
          <a:lstStyle/>
          <a:p>
            <a:r>
              <a:rPr lang="en-US" sz="1400" dirty="0"/>
              <a:t>Prosumer #4</a:t>
            </a:r>
          </a:p>
        </p:txBody>
      </p:sp>
      <p:sp>
        <p:nvSpPr>
          <p:cNvPr id="60" name="四角形: 角を丸くする 59">
            <a:extLst>
              <a:ext uri="{FF2B5EF4-FFF2-40B4-BE49-F238E27FC236}">
                <a16:creationId xmlns:a16="http://schemas.microsoft.com/office/drawing/2014/main" id="{1E0FD604-9DC3-CDF8-A178-65F090163B9E}"/>
              </a:ext>
            </a:extLst>
          </p:cNvPr>
          <p:cNvSpPr/>
          <p:nvPr/>
        </p:nvSpPr>
        <p:spPr>
          <a:xfrm>
            <a:off x="61452" y="799490"/>
            <a:ext cx="2883551" cy="2333044"/>
          </a:xfrm>
          <a:prstGeom prst="round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9" name="グラフィックス 48" descr="電池を充電中 単色塗りつぶし">
            <a:extLst>
              <a:ext uri="{FF2B5EF4-FFF2-40B4-BE49-F238E27FC236}">
                <a16:creationId xmlns:a16="http://schemas.microsoft.com/office/drawing/2014/main" id="{D63EE134-B56B-6778-B088-905683A9D88E}"/>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472781" y="2391884"/>
            <a:ext cx="481831" cy="381074"/>
          </a:xfrm>
          <a:prstGeom prst="rect">
            <a:avLst/>
          </a:prstGeom>
        </p:spPr>
      </p:pic>
      <p:pic>
        <p:nvPicPr>
          <p:cNvPr id="50" name="グラフィックス 49" descr="電気自動車 単色塗りつぶし">
            <a:extLst>
              <a:ext uri="{FF2B5EF4-FFF2-40B4-BE49-F238E27FC236}">
                <a16:creationId xmlns:a16="http://schemas.microsoft.com/office/drawing/2014/main" id="{319E59DD-12F7-6F47-38DB-918D8DFA9650}"/>
              </a:ext>
            </a:extLst>
          </p:cNvPr>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2165265" y="2391884"/>
            <a:ext cx="481831" cy="381074"/>
          </a:xfrm>
          <a:prstGeom prst="rect">
            <a:avLst/>
          </a:prstGeom>
        </p:spPr>
      </p:pic>
      <p:pic>
        <p:nvPicPr>
          <p:cNvPr id="51" name="グラフィックス 50" descr="洗濯機 単色塗りつぶし">
            <a:extLst>
              <a:ext uri="{FF2B5EF4-FFF2-40B4-BE49-F238E27FC236}">
                <a16:creationId xmlns:a16="http://schemas.microsoft.com/office/drawing/2014/main" id="{06297BAE-305D-AF22-9903-E53050636DC8}"/>
              </a:ext>
            </a:extLst>
          </p:cNvPr>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805153" y="2303187"/>
            <a:ext cx="481831" cy="381074"/>
          </a:xfrm>
          <a:prstGeom prst="rect">
            <a:avLst/>
          </a:prstGeom>
        </p:spPr>
      </p:pic>
      <p:pic>
        <p:nvPicPr>
          <p:cNvPr id="52" name="グラフィックス 51" descr="ランプ 単色塗りつぶし">
            <a:extLst>
              <a:ext uri="{FF2B5EF4-FFF2-40B4-BE49-F238E27FC236}">
                <a16:creationId xmlns:a16="http://schemas.microsoft.com/office/drawing/2014/main" id="{7FA5ECD6-2926-E114-5DBF-171AFC51BC1B}"/>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805153" y="1316522"/>
            <a:ext cx="481831" cy="381074"/>
          </a:xfrm>
          <a:prstGeom prst="rect">
            <a:avLst/>
          </a:prstGeom>
        </p:spPr>
      </p:pic>
      <p:grpSp>
        <p:nvGrpSpPr>
          <p:cNvPr id="53" name="グループ化 52">
            <a:extLst>
              <a:ext uri="{FF2B5EF4-FFF2-40B4-BE49-F238E27FC236}">
                <a16:creationId xmlns:a16="http://schemas.microsoft.com/office/drawing/2014/main" id="{E366CD13-A7CF-244A-BBBB-E1AF979D92FD}"/>
              </a:ext>
            </a:extLst>
          </p:cNvPr>
          <p:cNvGrpSpPr/>
          <p:nvPr/>
        </p:nvGrpSpPr>
        <p:grpSpPr>
          <a:xfrm>
            <a:off x="1732398" y="880756"/>
            <a:ext cx="777080" cy="573614"/>
            <a:chOff x="1628938" y="4173191"/>
            <a:chExt cx="914400" cy="914400"/>
          </a:xfrm>
        </p:grpSpPr>
        <p:pic>
          <p:nvPicPr>
            <p:cNvPr id="61" name="グラフィックス 60" descr="ソーラー パネル 単色塗りつぶし">
              <a:extLst>
                <a:ext uri="{FF2B5EF4-FFF2-40B4-BE49-F238E27FC236}">
                  <a16:creationId xmlns:a16="http://schemas.microsoft.com/office/drawing/2014/main" id="{3BD21654-62EA-E5E0-9AAA-4832245D7450}"/>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1628938" y="4173191"/>
              <a:ext cx="914400" cy="914400"/>
            </a:xfrm>
            <a:prstGeom prst="rect">
              <a:avLst/>
            </a:prstGeom>
          </p:spPr>
        </p:pic>
        <p:pic>
          <p:nvPicPr>
            <p:cNvPr id="62" name="Picture 4" descr="真っ白な壁紙イラストのフリー素材｜イラストイメージ">
              <a:extLst>
                <a:ext uri="{FF2B5EF4-FFF2-40B4-BE49-F238E27FC236}">
                  <a16:creationId xmlns:a16="http://schemas.microsoft.com/office/drawing/2014/main" id="{D0C41923-19C0-A674-51C8-4954B944D252}"/>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636842" y="4216729"/>
              <a:ext cx="281052" cy="268188"/>
            </a:xfrm>
            <a:prstGeom prst="rect">
              <a:avLst/>
            </a:prstGeom>
            <a:noFill/>
            <a:ln>
              <a:noFill/>
            </a:ln>
            <a:extLst>
              <a:ext uri="{909E8E84-426E-40DD-AFC4-6F175D3DCCD1}">
                <a14:hiddenFill xmlns:a14="http://schemas.microsoft.com/office/drawing/2010/main">
                  <a:solidFill>
                    <a:srgbClr val="FFFFFF"/>
                  </a:solidFill>
                </a14:hiddenFill>
              </a:ext>
            </a:extLst>
          </p:spPr>
        </p:pic>
      </p:grpSp>
      <p:sp>
        <p:nvSpPr>
          <p:cNvPr id="54" name="テキスト ボックス 53">
            <a:extLst>
              <a:ext uri="{FF2B5EF4-FFF2-40B4-BE49-F238E27FC236}">
                <a16:creationId xmlns:a16="http://schemas.microsoft.com/office/drawing/2014/main" id="{6869B6BA-A256-C6CA-B608-F23C7C5BBFB4}"/>
              </a:ext>
            </a:extLst>
          </p:cNvPr>
          <p:cNvSpPr txBox="1"/>
          <p:nvPr/>
        </p:nvSpPr>
        <p:spPr>
          <a:xfrm>
            <a:off x="74991" y="1421590"/>
            <a:ext cx="817602" cy="170938"/>
          </a:xfrm>
          <a:prstGeom prst="rect">
            <a:avLst/>
          </a:prstGeom>
          <a:noFill/>
        </p:spPr>
        <p:txBody>
          <a:bodyPr wrap="none" rtlCol="0">
            <a:spAutoFit/>
          </a:bodyPr>
          <a:lstStyle/>
          <a:p>
            <a:r>
              <a:rPr lang="en-US" sz="1050" dirty="0"/>
              <a:t>Inelastic load</a:t>
            </a:r>
          </a:p>
        </p:txBody>
      </p:sp>
      <p:sp>
        <p:nvSpPr>
          <p:cNvPr id="55" name="テキスト ボックス 54">
            <a:extLst>
              <a:ext uri="{FF2B5EF4-FFF2-40B4-BE49-F238E27FC236}">
                <a16:creationId xmlns:a16="http://schemas.microsoft.com/office/drawing/2014/main" id="{584BE50A-000E-09B9-5ECF-235C63417873}"/>
              </a:ext>
            </a:extLst>
          </p:cNvPr>
          <p:cNvSpPr txBox="1"/>
          <p:nvPr/>
        </p:nvSpPr>
        <p:spPr>
          <a:xfrm>
            <a:off x="61473" y="2448130"/>
            <a:ext cx="719358" cy="170938"/>
          </a:xfrm>
          <a:prstGeom prst="rect">
            <a:avLst/>
          </a:prstGeom>
          <a:noFill/>
        </p:spPr>
        <p:txBody>
          <a:bodyPr wrap="none" rtlCol="0">
            <a:spAutoFit/>
          </a:bodyPr>
          <a:lstStyle/>
          <a:p>
            <a:r>
              <a:rPr lang="en-US" sz="1050" dirty="0"/>
              <a:t>Elastic load</a:t>
            </a:r>
          </a:p>
        </p:txBody>
      </p:sp>
      <p:sp>
        <p:nvSpPr>
          <p:cNvPr id="56" name="テキスト ボックス 55">
            <a:extLst>
              <a:ext uri="{FF2B5EF4-FFF2-40B4-BE49-F238E27FC236}">
                <a16:creationId xmlns:a16="http://schemas.microsoft.com/office/drawing/2014/main" id="{B3FD9F5A-AE9E-9104-30DA-1B8637885EFA}"/>
              </a:ext>
            </a:extLst>
          </p:cNvPr>
          <p:cNvSpPr txBox="1"/>
          <p:nvPr/>
        </p:nvSpPr>
        <p:spPr>
          <a:xfrm>
            <a:off x="1441289" y="2686826"/>
            <a:ext cx="513320" cy="170938"/>
          </a:xfrm>
          <a:prstGeom prst="rect">
            <a:avLst/>
          </a:prstGeom>
          <a:noFill/>
        </p:spPr>
        <p:txBody>
          <a:bodyPr wrap="none" rtlCol="0">
            <a:spAutoFit/>
          </a:bodyPr>
          <a:lstStyle/>
          <a:p>
            <a:r>
              <a:rPr lang="en-US" sz="1050" dirty="0"/>
              <a:t>Battery</a:t>
            </a:r>
          </a:p>
        </p:txBody>
      </p:sp>
      <p:sp>
        <p:nvSpPr>
          <p:cNvPr id="57" name="テキスト ボックス 56">
            <a:extLst>
              <a:ext uri="{FF2B5EF4-FFF2-40B4-BE49-F238E27FC236}">
                <a16:creationId xmlns:a16="http://schemas.microsoft.com/office/drawing/2014/main" id="{CBFA949A-8D24-BEBF-4D6D-46D11558F85D}"/>
              </a:ext>
            </a:extLst>
          </p:cNvPr>
          <p:cNvSpPr txBox="1"/>
          <p:nvPr/>
        </p:nvSpPr>
        <p:spPr>
          <a:xfrm>
            <a:off x="2260981" y="2686826"/>
            <a:ext cx="285450" cy="170938"/>
          </a:xfrm>
          <a:prstGeom prst="rect">
            <a:avLst/>
          </a:prstGeom>
          <a:noFill/>
        </p:spPr>
        <p:txBody>
          <a:bodyPr wrap="none" rtlCol="0">
            <a:spAutoFit/>
          </a:bodyPr>
          <a:lstStyle/>
          <a:p>
            <a:r>
              <a:rPr lang="en-US" sz="1050" dirty="0"/>
              <a:t>EV</a:t>
            </a:r>
          </a:p>
        </p:txBody>
      </p:sp>
      <p:sp>
        <p:nvSpPr>
          <p:cNvPr id="58" name="テキスト ボックス 57">
            <a:extLst>
              <a:ext uri="{FF2B5EF4-FFF2-40B4-BE49-F238E27FC236}">
                <a16:creationId xmlns:a16="http://schemas.microsoft.com/office/drawing/2014/main" id="{690C0778-A4E6-EEAC-4BB8-D68D47F49212}"/>
              </a:ext>
            </a:extLst>
          </p:cNvPr>
          <p:cNvSpPr txBox="1"/>
          <p:nvPr/>
        </p:nvSpPr>
        <p:spPr>
          <a:xfrm>
            <a:off x="1653898" y="1026156"/>
            <a:ext cx="292275" cy="170939"/>
          </a:xfrm>
          <a:prstGeom prst="rect">
            <a:avLst/>
          </a:prstGeom>
          <a:noFill/>
        </p:spPr>
        <p:txBody>
          <a:bodyPr wrap="none" rtlCol="0">
            <a:spAutoFit/>
          </a:bodyPr>
          <a:lstStyle/>
          <a:p>
            <a:r>
              <a:rPr lang="en-US" sz="1050" dirty="0"/>
              <a:t>PV</a:t>
            </a:r>
          </a:p>
        </p:txBody>
      </p:sp>
      <p:sp>
        <p:nvSpPr>
          <p:cNvPr id="59" name="テキスト ボックス 58">
            <a:extLst>
              <a:ext uri="{FF2B5EF4-FFF2-40B4-BE49-F238E27FC236}">
                <a16:creationId xmlns:a16="http://schemas.microsoft.com/office/drawing/2014/main" id="{67C09BC2-435B-FCCB-12B8-1D78F9B859B5}"/>
              </a:ext>
            </a:extLst>
          </p:cNvPr>
          <p:cNvSpPr txBox="1"/>
          <p:nvPr/>
        </p:nvSpPr>
        <p:spPr>
          <a:xfrm>
            <a:off x="172209" y="844165"/>
            <a:ext cx="1016816" cy="207198"/>
          </a:xfrm>
          <a:prstGeom prst="rect">
            <a:avLst/>
          </a:prstGeom>
          <a:noFill/>
        </p:spPr>
        <p:txBody>
          <a:bodyPr wrap="none" rtlCol="0">
            <a:spAutoFit/>
          </a:bodyPr>
          <a:lstStyle/>
          <a:p>
            <a:r>
              <a:rPr lang="en-US" sz="1400" dirty="0"/>
              <a:t>Prosumer #1</a:t>
            </a:r>
          </a:p>
        </p:txBody>
      </p:sp>
      <p:sp>
        <p:nvSpPr>
          <p:cNvPr id="45" name="四角形: 角を丸くする 44">
            <a:extLst>
              <a:ext uri="{FF2B5EF4-FFF2-40B4-BE49-F238E27FC236}">
                <a16:creationId xmlns:a16="http://schemas.microsoft.com/office/drawing/2014/main" id="{394046A4-5490-6D76-56FD-2EF3A9AAA3B7}"/>
              </a:ext>
            </a:extLst>
          </p:cNvPr>
          <p:cNvSpPr/>
          <p:nvPr/>
        </p:nvSpPr>
        <p:spPr>
          <a:xfrm>
            <a:off x="3062812" y="808496"/>
            <a:ext cx="2883551" cy="2326253"/>
          </a:xfrm>
          <a:prstGeom prst="roundRect">
            <a:avLst/>
          </a:prstGeom>
          <a:solidFill>
            <a:schemeClr val="bg1"/>
          </a:solid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5" name="グラフィックス 34" descr="ホーム 枠線">
            <a:extLst>
              <a:ext uri="{FF2B5EF4-FFF2-40B4-BE49-F238E27FC236}">
                <a16:creationId xmlns:a16="http://schemas.microsoft.com/office/drawing/2014/main" id="{64C66A5D-267D-24CA-0B7A-2AECF6E478E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531177" y="1550550"/>
            <a:ext cx="871003" cy="688865"/>
          </a:xfrm>
          <a:prstGeom prst="rect">
            <a:avLst/>
          </a:prstGeom>
        </p:spPr>
      </p:pic>
      <p:pic>
        <p:nvPicPr>
          <p:cNvPr id="36" name="グラフィックス 35" descr="電気自動車 単色塗りつぶし">
            <a:extLst>
              <a:ext uri="{FF2B5EF4-FFF2-40B4-BE49-F238E27FC236}">
                <a16:creationId xmlns:a16="http://schemas.microsoft.com/office/drawing/2014/main" id="{63110212-864A-8947-124A-BDC1A18DAFDF}"/>
              </a:ext>
            </a:extLst>
          </p:cNvPr>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5130511" y="2396886"/>
            <a:ext cx="481831" cy="381074"/>
          </a:xfrm>
          <a:prstGeom prst="rect">
            <a:avLst/>
          </a:prstGeom>
        </p:spPr>
      </p:pic>
      <p:pic>
        <p:nvPicPr>
          <p:cNvPr id="37" name="グラフィックス 36" descr="洗濯機 単色塗りつぶし">
            <a:extLst>
              <a:ext uri="{FF2B5EF4-FFF2-40B4-BE49-F238E27FC236}">
                <a16:creationId xmlns:a16="http://schemas.microsoft.com/office/drawing/2014/main" id="{B57AF616-1CC8-AD74-878C-577F9C996502}"/>
              </a:ext>
            </a:extLst>
          </p:cNvPr>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3835940" y="2308615"/>
            <a:ext cx="481831" cy="381074"/>
          </a:xfrm>
          <a:prstGeom prst="rect">
            <a:avLst/>
          </a:prstGeom>
        </p:spPr>
      </p:pic>
      <p:pic>
        <p:nvPicPr>
          <p:cNvPr id="38" name="グラフィックス 37" descr="ランプ 単色塗りつぶし">
            <a:extLst>
              <a:ext uri="{FF2B5EF4-FFF2-40B4-BE49-F238E27FC236}">
                <a16:creationId xmlns:a16="http://schemas.microsoft.com/office/drawing/2014/main" id="{1856A68E-324E-1AEA-A3FD-A69F0FF9DEC3}"/>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816456" y="1342934"/>
            <a:ext cx="481831" cy="381074"/>
          </a:xfrm>
          <a:prstGeom prst="rect">
            <a:avLst/>
          </a:prstGeom>
        </p:spPr>
      </p:pic>
      <p:grpSp>
        <p:nvGrpSpPr>
          <p:cNvPr id="39" name="グループ化 38">
            <a:extLst>
              <a:ext uri="{FF2B5EF4-FFF2-40B4-BE49-F238E27FC236}">
                <a16:creationId xmlns:a16="http://schemas.microsoft.com/office/drawing/2014/main" id="{258FDF75-CCF2-6AF2-4C05-40C0B862D884}"/>
              </a:ext>
            </a:extLst>
          </p:cNvPr>
          <p:cNvGrpSpPr/>
          <p:nvPr/>
        </p:nvGrpSpPr>
        <p:grpSpPr>
          <a:xfrm>
            <a:off x="4700515" y="934430"/>
            <a:ext cx="777080" cy="573613"/>
            <a:chOff x="1819894" y="4173191"/>
            <a:chExt cx="914400" cy="914400"/>
          </a:xfrm>
        </p:grpSpPr>
        <p:pic>
          <p:nvPicPr>
            <p:cNvPr id="46" name="グラフィックス 45" descr="ソーラー パネル 単色塗りつぶし">
              <a:extLst>
                <a:ext uri="{FF2B5EF4-FFF2-40B4-BE49-F238E27FC236}">
                  <a16:creationId xmlns:a16="http://schemas.microsoft.com/office/drawing/2014/main" id="{2AE7D7FF-A014-96D7-A5EF-53BBBDB6362C}"/>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1819894" y="4173191"/>
              <a:ext cx="914400" cy="914400"/>
            </a:xfrm>
            <a:prstGeom prst="rect">
              <a:avLst/>
            </a:prstGeom>
          </p:spPr>
        </p:pic>
        <p:pic>
          <p:nvPicPr>
            <p:cNvPr id="47" name="Picture 4" descr="真っ白な壁紙イラストのフリー素材｜イラストイメージ">
              <a:extLst>
                <a:ext uri="{FF2B5EF4-FFF2-40B4-BE49-F238E27FC236}">
                  <a16:creationId xmlns:a16="http://schemas.microsoft.com/office/drawing/2014/main" id="{40DCEF95-A32A-082D-6377-2B55D3C4C317}"/>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827810" y="4216730"/>
              <a:ext cx="281052" cy="268187"/>
            </a:xfrm>
            <a:prstGeom prst="rect">
              <a:avLst/>
            </a:prstGeom>
            <a:noFill/>
            <a:ln>
              <a:noFill/>
            </a:ln>
            <a:extLst>
              <a:ext uri="{909E8E84-426E-40DD-AFC4-6F175D3DCCD1}">
                <a14:hiddenFill xmlns:a14="http://schemas.microsoft.com/office/drawing/2010/main">
                  <a:solidFill>
                    <a:srgbClr val="FFFFFF"/>
                  </a:solidFill>
                </a14:hiddenFill>
              </a:ext>
            </a:extLst>
          </p:spPr>
        </p:pic>
      </p:grpSp>
      <p:sp>
        <p:nvSpPr>
          <p:cNvPr id="40" name="テキスト ボックス 39">
            <a:extLst>
              <a:ext uri="{FF2B5EF4-FFF2-40B4-BE49-F238E27FC236}">
                <a16:creationId xmlns:a16="http://schemas.microsoft.com/office/drawing/2014/main" id="{D06B5C4B-C589-3C8C-9E0B-4FC2174CD23B}"/>
              </a:ext>
            </a:extLst>
          </p:cNvPr>
          <p:cNvSpPr txBox="1"/>
          <p:nvPr/>
        </p:nvSpPr>
        <p:spPr>
          <a:xfrm>
            <a:off x="3086293" y="1448002"/>
            <a:ext cx="817600" cy="170938"/>
          </a:xfrm>
          <a:prstGeom prst="rect">
            <a:avLst/>
          </a:prstGeom>
          <a:noFill/>
        </p:spPr>
        <p:txBody>
          <a:bodyPr wrap="none" rtlCol="0">
            <a:spAutoFit/>
          </a:bodyPr>
          <a:lstStyle/>
          <a:p>
            <a:r>
              <a:rPr lang="en-US" sz="1050" dirty="0"/>
              <a:t>Inelastic load</a:t>
            </a:r>
          </a:p>
        </p:txBody>
      </p:sp>
      <p:sp>
        <p:nvSpPr>
          <p:cNvPr id="41" name="テキスト ボックス 40">
            <a:extLst>
              <a:ext uri="{FF2B5EF4-FFF2-40B4-BE49-F238E27FC236}">
                <a16:creationId xmlns:a16="http://schemas.microsoft.com/office/drawing/2014/main" id="{00558EC6-4C03-74F6-ABF5-83EBF54E2DB8}"/>
              </a:ext>
            </a:extLst>
          </p:cNvPr>
          <p:cNvSpPr txBox="1"/>
          <p:nvPr/>
        </p:nvSpPr>
        <p:spPr>
          <a:xfrm>
            <a:off x="3092256" y="2453558"/>
            <a:ext cx="719358" cy="170938"/>
          </a:xfrm>
          <a:prstGeom prst="rect">
            <a:avLst/>
          </a:prstGeom>
          <a:noFill/>
        </p:spPr>
        <p:txBody>
          <a:bodyPr wrap="none" rtlCol="0">
            <a:spAutoFit/>
          </a:bodyPr>
          <a:lstStyle/>
          <a:p>
            <a:r>
              <a:rPr lang="en-US" sz="1050" dirty="0"/>
              <a:t>Elastic load</a:t>
            </a:r>
          </a:p>
        </p:txBody>
      </p:sp>
      <p:sp>
        <p:nvSpPr>
          <p:cNvPr id="42" name="テキスト ボックス 41">
            <a:extLst>
              <a:ext uri="{FF2B5EF4-FFF2-40B4-BE49-F238E27FC236}">
                <a16:creationId xmlns:a16="http://schemas.microsoft.com/office/drawing/2014/main" id="{94D16869-2F3B-EF94-8ED9-EE2C84A32411}"/>
              </a:ext>
            </a:extLst>
          </p:cNvPr>
          <p:cNvSpPr txBox="1"/>
          <p:nvPr/>
        </p:nvSpPr>
        <p:spPr>
          <a:xfrm>
            <a:off x="5226229" y="2687816"/>
            <a:ext cx="285451" cy="170938"/>
          </a:xfrm>
          <a:prstGeom prst="rect">
            <a:avLst/>
          </a:prstGeom>
          <a:noFill/>
        </p:spPr>
        <p:txBody>
          <a:bodyPr wrap="none" rtlCol="0">
            <a:spAutoFit/>
          </a:bodyPr>
          <a:lstStyle/>
          <a:p>
            <a:r>
              <a:rPr lang="en-US" sz="1050" dirty="0"/>
              <a:t>EV</a:t>
            </a:r>
          </a:p>
        </p:txBody>
      </p:sp>
      <p:sp>
        <p:nvSpPr>
          <p:cNvPr id="43" name="テキスト ボックス 42">
            <a:extLst>
              <a:ext uri="{FF2B5EF4-FFF2-40B4-BE49-F238E27FC236}">
                <a16:creationId xmlns:a16="http://schemas.microsoft.com/office/drawing/2014/main" id="{1E7C572D-2C2E-3AF9-FD7F-0F11576DC711}"/>
              </a:ext>
            </a:extLst>
          </p:cNvPr>
          <p:cNvSpPr txBox="1"/>
          <p:nvPr/>
        </p:nvSpPr>
        <p:spPr>
          <a:xfrm>
            <a:off x="4668567" y="1037677"/>
            <a:ext cx="292274" cy="170939"/>
          </a:xfrm>
          <a:prstGeom prst="rect">
            <a:avLst/>
          </a:prstGeom>
          <a:noFill/>
        </p:spPr>
        <p:txBody>
          <a:bodyPr wrap="none" rtlCol="0">
            <a:spAutoFit/>
          </a:bodyPr>
          <a:lstStyle/>
          <a:p>
            <a:r>
              <a:rPr lang="en-US" sz="1050" dirty="0"/>
              <a:t>PV</a:t>
            </a:r>
          </a:p>
        </p:txBody>
      </p:sp>
      <p:sp>
        <p:nvSpPr>
          <p:cNvPr id="44" name="テキスト ボックス 43">
            <a:extLst>
              <a:ext uri="{FF2B5EF4-FFF2-40B4-BE49-F238E27FC236}">
                <a16:creationId xmlns:a16="http://schemas.microsoft.com/office/drawing/2014/main" id="{69BBAD4E-6BBD-4670-F13D-82A75A04EF54}"/>
              </a:ext>
            </a:extLst>
          </p:cNvPr>
          <p:cNvSpPr txBox="1"/>
          <p:nvPr/>
        </p:nvSpPr>
        <p:spPr>
          <a:xfrm>
            <a:off x="3173551" y="853171"/>
            <a:ext cx="1106011" cy="255564"/>
          </a:xfrm>
          <a:prstGeom prst="rect">
            <a:avLst/>
          </a:prstGeom>
          <a:noFill/>
        </p:spPr>
        <p:txBody>
          <a:bodyPr wrap="none" rtlCol="0">
            <a:spAutoFit/>
          </a:bodyPr>
          <a:lstStyle/>
          <a:p>
            <a:r>
              <a:rPr lang="en-US" sz="1400" dirty="0"/>
              <a:t>Prosumer #2</a:t>
            </a:r>
          </a:p>
        </p:txBody>
      </p:sp>
      <p:sp>
        <p:nvSpPr>
          <p:cNvPr id="6" name="正方形/長方形 5">
            <a:extLst>
              <a:ext uri="{FF2B5EF4-FFF2-40B4-BE49-F238E27FC236}">
                <a16:creationId xmlns:a16="http://schemas.microsoft.com/office/drawing/2014/main" id="{29DE9D02-6F26-F10B-C901-3E1F1A5F6EDE}"/>
              </a:ext>
            </a:extLst>
          </p:cNvPr>
          <p:cNvSpPr/>
          <p:nvPr/>
        </p:nvSpPr>
        <p:spPr>
          <a:xfrm>
            <a:off x="1889735" y="3482880"/>
            <a:ext cx="2267623" cy="646331"/>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テキスト ボックス 6">
            <a:extLst>
              <a:ext uri="{FF2B5EF4-FFF2-40B4-BE49-F238E27FC236}">
                <a16:creationId xmlns:a16="http://schemas.microsoft.com/office/drawing/2014/main" id="{0CC80B6B-05E4-AB94-F63E-9075D1DE580B}"/>
              </a:ext>
            </a:extLst>
          </p:cNvPr>
          <p:cNvSpPr txBox="1"/>
          <p:nvPr/>
        </p:nvSpPr>
        <p:spPr>
          <a:xfrm>
            <a:off x="1934145" y="3482880"/>
            <a:ext cx="2188420" cy="646331"/>
          </a:xfrm>
          <a:prstGeom prst="rect">
            <a:avLst/>
          </a:prstGeom>
          <a:noFill/>
        </p:spPr>
        <p:txBody>
          <a:bodyPr wrap="none" rtlCol="0">
            <a:spAutoFit/>
          </a:bodyPr>
          <a:lstStyle/>
          <a:p>
            <a:r>
              <a:rPr lang="en-US" sz="1200" dirty="0"/>
              <a:t>Wholesale electricity market </a:t>
            </a:r>
          </a:p>
          <a:p>
            <a:pPr algn="ctr"/>
            <a:r>
              <a:rPr lang="en-US" sz="1200" dirty="0"/>
              <a:t>&amp; </a:t>
            </a:r>
          </a:p>
          <a:p>
            <a:r>
              <a:rPr lang="en-US" sz="1200" dirty="0"/>
              <a:t>independent system operator</a:t>
            </a:r>
          </a:p>
        </p:txBody>
      </p:sp>
      <p:sp>
        <p:nvSpPr>
          <p:cNvPr id="9" name="テキスト ボックス 8">
            <a:extLst>
              <a:ext uri="{FF2B5EF4-FFF2-40B4-BE49-F238E27FC236}">
                <a16:creationId xmlns:a16="http://schemas.microsoft.com/office/drawing/2014/main" id="{59922221-80DE-5F27-5FA9-191C72B337ED}"/>
              </a:ext>
            </a:extLst>
          </p:cNvPr>
          <p:cNvSpPr txBox="1"/>
          <p:nvPr/>
        </p:nvSpPr>
        <p:spPr>
          <a:xfrm rot="1748475">
            <a:off x="1153646" y="3255109"/>
            <a:ext cx="769763" cy="369332"/>
          </a:xfrm>
          <a:prstGeom prst="rect">
            <a:avLst/>
          </a:prstGeom>
          <a:noFill/>
        </p:spPr>
        <p:txBody>
          <a:bodyPr wrap="none" rtlCol="0">
            <a:spAutoFit/>
          </a:bodyPr>
          <a:lstStyle/>
          <a:p>
            <a:r>
              <a:rPr lang="en-US" sz="900" dirty="0"/>
              <a:t>Grid import</a:t>
            </a:r>
            <a:br>
              <a:rPr lang="en-US" sz="900" dirty="0"/>
            </a:br>
            <a:r>
              <a:rPr lang="en-US" sz="900" dirty="0"/>
              <a:t>Grid price</a:t>
            </a:r>
          </a:p>
        </p:txBody>
      </p:sp>
      <p:cxnSp>
        <p:nvCxnSpPr>
          <p:cNvPr id="11" name="直線矢印コネクタ 10">
            <a:extLst>
              <a:ext uri="{FF2B5EF4-FFF2-40B4-BE49-F238E27FC236}">
                <a16:creationId xmlns:a16="http://schemas.microsoft.com/office/drawing/2014/main" id="{ADB34036-9D2F-767F-74F7-D86C71F6E3FA}"/>
              </a:ext>
            </a:extLst>
          </p:cNvPr>
          <p:cNvCxnSpPr>
            <a:cxnSpLocks/>
          </p:cNvCxnSpPr>
          <p:nvPr/>
        </p:nvCxnSpPr>
        <p:spPr>
          <a:xfrm flipH="1" flipV="1">
            <a:off x="1286958" y="3131326"/>
            <a:ext cx="602777" cy="347269"/>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線矢印コネクタ 11">
            <a:extLst>
              <a:ext uri="{FF2B5EF4-FFF2-40B4-BE49-F238E27FC236}">
                <a16:creationId xmlns:a16="http://schemas.microsoft.com/office/drawing/2014/main" id="{F4D08912-FE61-4C83-5B32-DE4C6B824D6E}"/>
              </a:ext>
            </a:extLst>
          </p:cNvPr>
          <p:cNvCxnSpPr>
            <a:cxnSpLocks/>
          </p:cNvCxnSpPr>
          <p:nvPr/>
        </p:nvCxnSpPr>
        <p:spPr>
          <a:xfrm flipH="1">
            <a:off x="1328987" y="4129211"/>
            <a:ext cx="560748" cy="32186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2" name="直線矢印コネクタ 101">
            <a:extLst>
              <a:ext uri="{FF2B5EF4-FFF2-40B4-BE49-F238E27FC236}">
                <a16:creationId xmlns:a16="http://schemas.microsoft.com/office/drawing/2014/main" id="{8D877277-20FE-04AA-38B0-A9B6FED76388}"/>
              </a:ext>
            </a:extLst>
          </p:cNvPr>
          <p:cNvCxnSpPr>
            <a:cxnSpLocks/>
          </p:cNvCxnSpPr>
          <p:nvPr/>
        </p:nvCxnSpPr>
        <p:spPr>
          <a:xfrm>
            <a:off x="1580454" y="3132534"/>
            <a:ext cx="631934" cy="353883"/>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5" name="テキスト ボックス 104">
            <a:extLst>
              <a:ext uri="{FF2B5EF4-FFF2-40B4-BE49-F238E27FC236}">
                <a16:creationId xmlns:a16="http://schemas.microsoft.com/office/drawing/2014/main" id="{8407DACC-DD99-FF5A-3CE0-1EBF3B99CBB3}"/>
              </a:ext>
            </a:extLst>
          </p:cNvPr>
          <p:cNvSpPr txBox="1"/>
          <p:nvPr/>
        </p:nvSpPr>
        <p:spPr>
          <a:xfrm rot="1748475">
            <a:off x="1722779" y="3184825"/>
            <a:ext cx="756938" cy="230832"/>
          </a:xfrm>
          <a:prstGeom prst="rect">
            <a:avLst/>
          </a:prstGeom>
          <a:noFill/>
        </p:spPr>
        <p:txBody>
          <a:bodyPr wrap="none" rtlCol="0">
            <a:spAutoFit/>
          </a:bodyPr>
          <a:lstStyle/>
          <a:p>
            <a:r>
              <a:rPr lang="en-US" sz="900" dirty="0"/>
              <a:t>Grid export</a:t>
            </a:r>
          </a:p>
        </p:txBody>
      </p:sp>
      <p:cxnSp>
        <p:nvCxnSpPr>
          <p:cNvPr id="106" name="直線矢印コネクタ 105">
            <a:extLst>
              <a:ext uri="{FF2B5EF4-FFF2-40B4-BE49-F238E27FC236}">
                <a16:creationId xmlns:a16="http://schemas.microsoft.com/office/drawing/2014/main" id="{381859A2-0B67-174F-CD6A-E191763AF132}"/>
              </a:ext>
            </a:extLst>
          </p:cNvPr>
          <p:cNvCxnSpPr>
            <a:cxnSpLocks/>
          </p:cNvCxnSpPr>
          <p:nvPr/>
        </p:nvCxnSpPr>
        <p:spPr>
          <a:xfrm flipV="1">
            <a:off x="1601216" y="4125839"/>
            <a:ext cx="580251" cy="33075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9" name="テキスト ボックス 108">
            <a:extLst>
              <a:ext uri="{FF2B5EF4-FFF2-40B4-BE49-F238E27FC236}">
                <a16:creationId xmlns:a16="http://schemas.microsoft.com/office/drawing/2014/main" id="{1DB755A6-F17A-0DB4-DB53-8AE120212D92}"/>
              </a:ext>
            </a:extLst>
          </p:cNvPr>
          <p:cNvSpPr txBox="1"/>
          <p:nvPr/>
        </p:nvSpPr>
        <p:spPr>
          <a:xfrm rot="19961322">
            <a:off x="1167662" y="3949292"/>
            <a:ext cx="769763" cy="369332"/>
          </a:xfrm>
          <a:prstGeom prst="rect">
            <a:avLst/>
          </a:prstGeom>
          <a:noFill/>
        </p:spPr>
        <p:txBody>
          <a:bodyPr wrap="none" rtlCol="0">
            <a:spAutoFit/>
          </a:bodyPr>
          <a:lstStyle/>
          <a:p>
            <a:r>
              <a:rPr lang="en-US" sz="900" dirty="0"/>
              <a:t>Grid import</a:t>
            </a:r>
            <a:br>
              <a:rPr lang="en-US" sz="900" dirty="0"/>
            </a:br>
            <a:r>
              <a:rPr lang="en-US" sz="900" dirty="0"/>
              <a:t>Grid price</a:t>
            </a:r>
          </a:p>
        </p:txBody>
      </p:sp>
      <p:sp>
        <p:nvSpPr>
          <p:cNvPr id="110" name="テキスト ボックス 109">
            <a:extLst>
              <a:ext uri="{FF2B5EF4-FFF2-40B4-BE49-F238E27FC236}">
                <a16:creationId xmlns:a16="http://schemas.microsoft.com/office/drawing/2014/main" id="{FABD0476-94CC-E734-9AFC-AB4821F2583A}"/>
              </a:ext>
            </a:extLst>
          </p:cNvPr>
          <p:cNvSpPr txBox="1"/>
          <p:nvPr/>
        </p:nvSpPr>
        <p:spPr>
          <a:xfrm rot="19837683">
            <a:off x="1685503" y="4173723"/>
            <a:ext cx="756938" cy="230832"/>
          </a:xfrm>
          <a:prstGeom prst="rect">
            <a:avLst/>
          </a:prstGeom>
          <a:noFill/>
        </p:spPr>
        <p:txBody>
          <a:bodyPr wrap="none" rtlCol="0">
            <a:spAutoFit/>
          </a:bodyPr>
          <a:lstStyle/>
          <a:p>
            <a:r>
              <a:rPr lang="en-US" sz="900" dirty="0"/>
              <a:t>Grid export</a:t>
            </a:r>
          </a:p>
        </p:txBody>
      </p:sp>
      <p:cxnSp>
        <p:nvCxnSpPr>
          <p:cNvPr id="111" name="直線矢印コネクタ 110">
            <a:extLst>
              <a:ext uri="{FF2B5EF4-FFF2-40B4-BE49-F238E27FC236}">
                <a16:creationId xmlns:a16="http://schemas.microsoft.com/office/drawing/2014/main" id="{FDE8A8AB-2DCD-3A48-BF98-7AB271F0CA98}"/>
              </a:ext>
            </a:extLst>
          </p:cNvPr>
          <p:cNvCxnSpPr>
            <a:cxnSpLocks/>
          </p:cNvCxnSpPr>
          <p:nvPr/>
        </p:nvCxnSpPr>
        <p:spPr>
          <a:xfrm flipV="1">
            <a:off x="4152142" y="3135697"/>
            <a:ext cx="551521" cy="33824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4" name="直線矢印コネクタ 113">
            <a:extLst>
              <a:ext uri="{FF2B5EF4-FFF2-40B4-BE49-F238E27FC236}">
                <a16:creationId xmlns:a16="http://schemas.microsoft.com/office/drawing/2014/main" id="{80D696C7-CAED-0752-72A7-1A9C1F92F094}"/>
              </a:ext>
            </a:extLst>
          </p:cNvPr>
          <p:cNvCxnSpPr>
            <a:cxnSpLocks/>
          </p:cNvCxnSpPr>
          <p:nvPr/>
        </p:nvCxnSpPr>
        <p:spPr>
          <a:xfrm>
            <a:off x="4138825" y="4135593"/>
            <a:ext cx="597043" cy="34641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線矢印コネクタ 118">
            <a:extLst>
              <a:ext uri="{FF2B5EF4-FFF2-40B4-BE49-F238E27FC236}">
                <a16:creationId xmlns:a16="http://schemas.microsoft.com/office/drawing/2014/main" id="{9F3E78D2-D2BC-E8DE-4D18-23639E62D438}"/>
              </a:ext>
            </a:extLst>
          </p:cNvPr>
          <p:cNvCxnSpPr>
            <a:cxnSpLocks/>
          </p:cNvCxnSpPr>
          <p:nvPr/>
        </p:nvCxnSpPr>
        <p:spPr>
          <a:xfrm flipH="1">
            <a:off x="3897599" y="3147462"/>
            <a:ext cx="539748" cy="33824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3" name="テキスト ボックス 122">
            <a:extLst>
              <a:ext uri="{FF2B5EF4-FFF2-40B4-BE49-F238E27FC236}">
                <a16:creationId xmlns:a16="http://schemas.microsoft.com/office/drawing/2014/main" id="{7947AA97-A44C-A911-EF3C-194B8AFBE6DB}"/>
              </a:ext>
            </a:extLst>
          </p:cNvPr>
          <p:cNvSpPr txBox="1"/>
          <p:nvPr/>
        </p:nvSpPr>
        <p:spPr>
          <a:xfrm rot="19655782">
            <a:off x="4167540" y="3222795"/>
            <a:ext cx="769763" cy="369332"/>
          </a:xfrm>
          <a:prstGeom prst="rect">
            <a:avLst/>
          </a:prstGeom>
          <a:noFill/>
        </p:spPr>
        <p:txBody>
          <a:bodyPr wrap="none" rtlCol="0">
            <a:spAutoFit/>
          </a:bodyPr>
          <a:lstStyle/>
          <a:p>
            <a:r>
              <a:rPr lang="en-US" sz="900" dirty="0"/>
              <a:t>Grid import</a:t>
            </a:r>
            <a:br>
              <a:rPr lang="en-US" sz="900" dirty="0"/>
            </a:br>
            <a:r>
              <a:rPr lang="en-US" sz="900" dirty="0"/>
              <a:t>Grid price</a:t>
            </a:r>
          </a:p>
        </p:txBody>
      </p:sp>
      <p:sp>
        <p:nvSpPr>
          <p:cNvPr id="124" name="テキスト ボックス 123">
            <a:extLst>
              <a:ext uri="{FF2B5EF4-FFF2-40B4-BE49-F238E27FC236}">
                <a16:creationId xmlns:a16="http://schemas.microsoft.com/office/drawing/2014/main" id="{17F212B0-D2B1-8C71-3BBB-0A4C10B2EBF0}"/>
              </a:ext>
            </a:extLst>
          </p:cNvPr>
          <p:cNvSpPr txBox="1"/>
          <p:nvPr/>
        </p:nvSpPr>
        <p:spPr>
          <a:xfrm rot="19580977">
            <a:off x="3564527" y="3199186"/>
            <a:ext cx="756938" cy="230832"/>
          </a:xfrm>
          <a:prstGeom prst="rect">
            <a:avLst/>
          </a:prstGeom>
          <a:noFill/>
        </p:spPr>
        <p:txBody>
          <a:bodyPr wrap="none" rtlCol="0">
            <a:spAutoFit/>
          </a:bodyPr>
          <a:lstStyle/>
          <a:p>
            <a:r>
              <a:rPr lang="en-US" sz="900" dirty="0"/>
              <a:t>Grid export</a:t>
            </a:r>
          </a:p>
        </p:txBody>
      </p:sp>
      <p:cxnSp>
        <p:nvCxnSpPr>
          <p:cNvPr id="125" name="直線矢印コネクタ 124">
            <a:extLst>
              <a:ext uri="{FF2B5EF4-FFF2-40B4-BE49-F238E27FC236}">
                <a16:creationId xmlns:a16="http://schemas.microsoft.com/office/drawing/2014/main" id="{15C3623F-CC9A-AE6F-E2DC-B1FA89C06B3A}"/>
              </a:ext>
            </a:extLst>
          </p:cNvPr>
          <p:cNvCxnSpPr>
            <a:cxnSpLocks/>
          </p:cNvCxnSpPr>
          <p:nvPr/>
        </p:nvCxnSpPr>
        <p:spPr>
          <a:xfrm flipH="1" flipV="1">
            <a:off x="3892840" y="4140241"/>
            <a:ext cx="510584" cy="31757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1" name="テキスト ボックス 130">
            <a:extLst>
              <a:ext uri="{FF2B5EF4-FFF2-40B4-BE49-F238E27FC236}">
                <a16:creationId xmlns:a16="http://schemas.microsoft.com/office/drawing/2014/main" id="{E74486E7-1BE7-0153-FD81-D578E35F440D}"/>
              </a:ext>
            </a:extLst>
          </p:cNvPr>
          <p:cNvSpPr txBox="1"/>
          <p:nvPr/>
        </p:nvSpPr>
        <p:spPr>
          <a:xfrm rot="1801014">
            <a:off x="4138857" y="4004921"/>
            <a:ext cx="769763" cy="369332"/>
          </a:xfrm>
          <a:prstGeom prst="rect">
            <a:avLst/>
          </a:prstGeom>
          <a:noFill/>
        </p:spPr>
        <p:txBody>
          <a:bodyPr wrap="none" rtlCol="0">
            <a:spAutoFit/>
          </a:bodyPr>
          <a:lstStyle/>
          <a:p>
            <a:r>
              <a:rPr lang="en-US" sz="900" dirty="0"/>
              <a:t>Grid import</a:t>
            </a:r>
            <a:br>
              <a:rPr lang="en-US" sz="900" dirty="0"/>
            </a:br>
            <a:r>
              <a:rPr lang="en-US" sz="900" dirty="0"/>
              <a:t>Grid price</a:t>
            </a:r>
          </a:p>
        </p:txBody>
      </p:sp>
      <p:sp>
        <p:nvSpPr>
          <p:cNvPr id="132" name="テキスト ボックス 131">
            <a:extLst>
              <a:ext uri="{FF2B5EF4-FFF2-40B4-BE49-F238E27FC236}">
                <a16:creationId xmlns:a16="http://schemas.microsoft.com/office/drawing/2014/main" id="{EDDB0A77-BEEB-F99B-A534-49974DECD299}"/>
              </a:ext>
            </a:extLst>
          </p:cNvPr>
          <p:cNvSpPr txBox="1"/>
          <p:nvPr/>
        </p:nvSpPr>
        <p:spPr>
          <a:xfrm rot="1978201">
            <a:off x="3605180" y="4191343"/>
            <a:ext cx="756938" cy="230832"/>
          </a:xfrm>
          <a:prstGeom prst="rect">
            <a:avLst/>
          </a:prstGeom>
          <a:noFill/>
        </p:spPr>
        <p:txBody>
          <a:bodyPr wrap="none" rtlCol="0">
            <a:spAutoFit/>
          </a:bodyPr>
          <a:lstStyle/>
          <a:p>
            <a:r>
              <a:rPr lang="en-US" sz="900" dirty="0"/>
              <a:t>Grid export</a:t>
            </a:r>
          </a:p>
        </p:txBody>
      </p:sp>
      <p:cxnSp>
        <p:nvCxnSpPr>
          <p:cNvPr id="144" name="直線矢印コネクタ 143">
            <a:extLst>
              <a:ext uri="{FF2B5EF4-FFF2-40B4-BE49-F238E27FC236}">
                <a16:creationId xmlns:a16="http://schemas.microsoft.com/office/drawing/2014/main" id="{92ECBC7C-A850-96A8-BA85-67F4AE537068}"/>
              </a:ext>
            </a:extLst>
          </p:cNvPr>
          <p:cNvCxnSpPr>
            <a:cxnSpLocks/>
            <a:stCxn id="61" idx="2"/>
          </p:cNvCxnSpPr>
          <p:nvPr/>
        </p:nvCxnSpPr>
        <p:spPr>
          <a:xfrm flipH="1">
            <a:off x="1259571" y="1454370"/>
            <a:ext cx="861367" cy="799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5" name="直線矢印コネクタ 144">
            <a:extLst>
              <a:ext uri="{FF2B5EF4-FFF2-40B4-BE49-F238E27FC236}">
                <a16:creationId xmlns:a16="http://schemas.microsoft.com/office/drawing/2014/main" id="{7570BF37-46FC-34E7-71F7-ECBADF7E9DC9}"/>
              </a:ext>
            </a:extLst>
          </p:cNvPr>
          <p:cNvCxnSpPr>
            <a:cxnSpLocks/>
            <a:stCxn id="61" idx="2"/>
            <a:endCxn id="51" idx="0"/>
          </p:cNvCxnSpPr>
          <p:nvPr/>
        </p:nvCxnSpPr>
        <p:spPr>
          <a:xfrm flipH="1">
            <a:off x="1046069" y="1454370"/>
            <a:ext cx="1074869" cy="84881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48" name="グラフィックス 47" descr="ホーム 枠線">
            <a:extLst>
              <a:ext uri="{FF2B5EF4-FFF2-40B4-BE49-F238E27FC236}">
                <a16:creationId xmlns:a16="http://schemas.microsoft.com/office/drawing/2014/main" id="{1E9A9F0F-A289-588B-01B7-3B6A0BDD2E29}"/>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553035" y="1530105"/>
            <a:ext cx="871002" cy="688865"/>
          </a:xfrm>
          <a:prstGeom prst="rect">
            <a:avLst/>
          </a:prstGeom>
        </p:spPr>
      </p:pic>
      <p:cxnSp>
        <p:nvCxnSpPr>
          <p:cNvPr id="152" name="直線矢印コネクタ 151">
            <a:extLst>
              <a:ext uri="{FF2B5EF4-FFF2-40B4-BE49-F238E27FC236}">
                <a16:creationId xmlns:a16="http://schemas.microsoft.com/office/drawing/2014/main" id="{1F11D27F-8277-67F3-846E-A168D1C94E55}"/>
              </a:ext>
            </a:extLst>
          </p:cNvPr>
          <p:cNvCxnSpPr>
            <a:cxnSpLocks/>
            <a:stCxn id="61" idx="2"/>
          </p:cNvCxnSpPr>
          <p:nvPr/>
        </p:nvCxnSpPr>
        <p:spPr>
          <a:xfrm>
            <a:off x="2120938" y="1454370"/>
            <a:ext cx="291978" cy="97439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5" name="直線矢印コネクタ 154">
            <a:extLst>
              <a:ext uri="{FF2B5EF4-FFF2-40B4-BE49-F238E27FC236}">
                <a16:creationId xmlns:a16="http://schemas.microsoft.com/office/drawing/2014/main" id="{B28209C2-4D58-6C57-6A9A-41CE26713764}"/>
              </a:ext>
            </a:extLst>
          </p:cNvPr>
          <p:cNvCxnSpPr>
            <a:cxnSpLocks/>
            <a:stCxn id="49" idx="0"/>
            <a:endCxn id="52" idx="2"/>
          </p:cNvCxnSpPr>
          <p:nvPr/>
        </p:nvCxnSpPr>
        <p:spPr>
          <a:xfrm flipH="1" flipV="1">
            <a:off x="1046069" y="1697596"/>
            <a:ext cx="667628" cy="69428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4" name="直線矢印コネクタ 163">
            <a:extLst>
              <a:ext uri="{FF2B5EF4-FFF2-40B4-BE49-F238E27FC236}">
                <a16:creationId xmlns:a16="http://schemas.microsoft.com/office/drawing/2014/main" id="{BB387646-7368-6D92-8AD7-CA5693FFC62F}"/>
              </a:ext>
            </a:extLst>
          </p:cNvPr>
          <p:cNvCxnSpPr>
            <a:cxnSpLocks/>
            <a:stCxn id="50" idx="0"/>
            <a:endCxn id="52" idx="2"/>
          </p:cNvCxnSpPr>
          <p:nvPr/>
        </p:nvCxnSpPr>
        <p:spPr>
          <a:xfrm flipH="1" flipV="1">
            <a:off x="1046069" y="1697596"/>
            <a:ext cx="1360112" cy="69428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8" name="直線矢印コネクタ 167">
            <a:extLst>
              <a:ext uri="{FF2B5EF4-FFF2-40B4-BE49-F238E27FC236}">
                <a16:creationId xmlns:a16="http://schemas.microsoft.com/office/drawing/2014/main" id="{630C7CE5-A7D8-D47D-86DF-4EDADACB554E}"/>
              </a:ext>
            </a:extLst>
          </p:cNvPr>
          <p:cNvCxnSpPr>
            <a:cxnSpLocks/>
            <a:stCxn id="46" idx="2"/>
          </p:cNvCxnSpPr>
          <p:nvPr/>
        </p:nvCxnSpPr>
        <p:spPr>
          <a:xfrm flipH="1">
            <a:off x="4231747" y="1508043"/>
            <a:ext cx="857308" cy="1206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1" name="直線矢印コネクタ 180">
            <a:extLst>
              <a:ext uri="{FF2B5EF4-FFF2-40B4-BE49-F238E27FC236}">
                <a16:creationId xmlns:a16="http://schemas.microsoft.com/office/drawing/2014/main" id="{601F7EE9-889A-EEE1-4B0A-AE41E496DAF9}"/>
              </a:ext>
            </a:extLst>
          </p:cNvPr>
          <p:cNvCxnSpPr>
            <a:cxnSpLocks/>
            <a:stCxn id="46" idx="2"/>
            <a:endCxn id="37" idx="0"/>
          </p:cNvCxnSpPr>
          <p:nvPr/>
        </p:nvCxnSpPr>
        <p:spPr>
          <a:xfrm flipH="1">
            <a:off x="4076856" y="1508043"/>
            <a:ext cx="1012199" cy="80057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6" name="直線矢印コネクタ 185">
            <a:extLst>
              <a:ext uri="{FF2B5EF4-FFF2-40B4-BE49-F238E27FC236}">
                <a16:creationId xmlns:a16="http://schemas.microsoft.com/office/drawing/2014/main" id="{E29A0501-BBF5-C90F-6B7A-D0AACC5F350C}"/>
              </a:ext>
            </a:extLst>
          </p:cNvPr>
          <p:cNvCxnSpPr>
            <a:cxnSpLocks/>
            <a:stCxn id="46" idx="2"/>
          </p:cNvCxnSpPr>
          <p:nvPr/>
        </p:nvCxnSpPr>
        <p:spPr>
          <a:xfrm>
            <a:off x="5089055" y="1508043"/>
            <a:ext cx="279899" cy="97006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0" name="直線矢印コネクタ 189">
            <a:extLst>
              <a:ext uri="{FF2B5EF4-FFF2-40B4-BE49-F238E27FC236}">
                <a16:creationId xmlns:a16="http://schemas.microsoft.com/office/drawing/2014/main" id="{E7F3FC89-FA6B-D8F4-0AAF-61AB6951CF82}"/>
              </a:ext>
            </a:extLst>
          </p:cNvPr>
          <p:cNvCxnSpPr>
            <a:cxnSpLocks/>
            <a:endCxn id="38" idx="2"/>
          </p:cNvCxnSpPr>
          <p:nvPr/>
        </p:nvCxnSpPr>
        <p:spPr>
          <a:xfrm flipH="1" flipV="1">
            <a:off x="4057372" y="1724008"/>
            <a:ext cx="1311582" cy="75410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3" name="直線矢印コネクタ 192">
            <a:extLst>
              <a:ext uri="{FF2B5EF4-FFF2-40B4-BE49-F238E27FC236}">
                <a16:creationId xmlns:a16="http://schemas.microsoft.com/office/drawing/2014/main" id="{5A2A3983-411C-752E-DE0C-FCBEE9865090}"/>
              </a:ext>
            </a:extLst>
          </p:cNvPr>
          <p:cNvCxnSpPr>
            <a:cxnSpLocks/>
            <a:stCxn id="82" idx="2"/>
          </p:cNvCxnSpPr>
          <p:nvPr/>
        </p:nvCxnSpPr>
        <p:spPr>
          <a:xfrm flipH="1">
            <a:off x="1283349" y="5210056"/>
            <a:ext cx="872505" cy="14252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6" name="直線矢印コネクタ 195">
            <a:extLst>
              <a:ext uri="{FF2B5EF4-FFF2-40B4-BE49-F238E27FC236}">
                <a16:creationId xmlns:a16="http://schemas.microsoft.com/office/drawing/2014/main" id="{41B615AB-5D90-35FB-B246-2B7933F59AB3}"/>
              </a:ext>
            </a:extLst>
          </p:cNvPr>
          <p:cNvCxnSpPr>
            <a:cxnSpLocks/>
            <a:endCxn id="74" idx="0"/>
          </p:cNvCxnSpPr>
          <p:nvPr/>
        </p:nvCxnSpPr>
        <p:spPr>
          <a:xfrm flipH="1">
            <a:off x="1637465" y="5209195"/>
            <a:ext cx="515184" cy="8295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1" name="直線矢印コネクタ 200">
            <a:extLst>
              <a:ext uri="{FF2B5EF4-FFF2-40B4-BE49-F238E27FC236}">
                <a16:creationId xmlns:a16="http://schemas.microsoft.com/office/drawing/2014/main" id="{8D0FC1ED-7F1B-AE63-277C-A36A4A491B09}"/>
              </a:ext>
            </a:extLst>
          </p:cNvPr>
          <p:cNvCxnSpPr>
            <a:cxnSpLocks/>
            <a:endCxn id="75" idx="2"/>
          </p:cNvCxnSpPr>
          <p:nvPr/>
        </p:nvCxnSpPr>
        <p:spPr>
          <a:xfrm flipH="1" flipV="1">
            <a:off x="1094811" y="5545208"/>
            <a:ext cx="559087" cy="49351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4" name="直線矢印コネクタ 203">
            <a:extLst>
              <a:ext uri="{FF2B5EF4-FFF2-40B4-BE49-F238E27FC236}">
                <a16:creationId xmlns:a16="http://schemas.microsoft.com/office/drawing/2014/main" id="{6DD74B47-2606-C68B-AB16-4B70E04CD9D6}"/>
              </a:ext>
            </a:extLst>
          </p:cNvPr>
          <p:cNvCxnSpPr>
            <a:cxnSpLocks/>
            <a:endCxn id="66" idx="2"/>
          </p:cNvCxnSpPr>
          <p:nvPr/>
        </p:nvCxnSpPr>
        <p:spPr>
          <a:xfrm flipH="1" flipV="1">
            <a:off x="4031564" y="5507091"/>
            <a:ext cx="1363435" cy="57685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0" name="テキスト ボックス 209">
            <a:extLst>
              <a:ext uri="{FF2B5EF4-FFF2-40B4-BE49-F238E27FC236}">
                <a16:creationId xmlns:a16="http://schemas.microsoft.com/office/drawing/2014/main" id="{29BD0787-0FAB-A78D-8EC1-A7EDED26CAA6}"/>
              </a:ext>
            </a:extLst>
          </p:cNvPr>
          <p:cNvSpPr txBox="1"/>
          <p:nvPr/>
        </p:nvSpPr>
        <p:spPr>
          <a:xfrm>
            <a:off x="5917316" y="2493724"/>
            <a:ext cx="522900" cy="646331"/>
          </a:xfrm>
          <a:prstGeom prst="rect">
            <a:avLst/>
          </a:prstGeom>
          <a:noFill/>
        </p:spPr>
        <p:txBody>
          <a:bodyPr wrap="none" rtlCol="0">
            <a:spAutoFit/>
          </a:bodyPr>
          <a:lstStyle/>
          <a:p>
            <a:r>
              <a:rPr lang="en-US" sz="3600" dirty="0"/>
              <a:t>…</a:t>
            </a:r>
            <a:endParaRPr lang="en-US" sz="1050" dirty="0"/>
          </a:p>
        </p:txBody>
      </p:sp>
      <p:pic>
        <p:nvPicPr>
          <p:cNvPr id="215" name="グラフィックス 214">
            <a:extLst>
              <a:ext uri="{FF2B5EF4-FFF2-40B4-BE49-F238E27FC236}">
                <a16:creationId xmlns:a16="http://schemas.microsoft.com/office/drawing/2014/main" id="{7FC28894-CC79-EFE8-2FC8-9C38826D4AE4}"/>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6666118" y="799490"/>
            <a:ext cx="3211055" cy="6040180"/>
          </a:xfrm>
          <a:prstGeom prst="rect">
            <a:avLst/>
          </a:prstGeom>
        </p:spPr>
      </p:pic>
      <p:sp>
        <p:nvSpPr>
          <p:cNvPr id="216" name="テキスト ボックス 215">
            <a:extLst>
              <a:ext uri="{FF2B5EF4-FFF2-40B4-BE49-F238E27FC236}">
                <a16:creationId xmlns:a16="http://schemas.microsoft.com/office/drawing/2014/main" id="{2A2A4632-5232-E0C1-A909-F6D58FA24B33}"/>
              </a:ext>
            </a:extLst>
          </p:cNvPr>
          <p:cNvSpPr txBox="1"/>
          <p:nvPr/>
        </p:nvSpPr>
        <p:spPr>
          <a:xfrm>
            <a:off x="5902795" y="6139548"/>
            <a:ext cx="522900" cy="646331"/>
          </a:xfrm>
          <a:prstGeom prst="rect">
            <a:avLst/>
          </a:prstGeom>
          <a:noFill/>
        </p:spPr>
        <p:txBody>
          <a:bodyPr wrap="none" rtlCol="0">
            <a:spAutoFit/>
          </a:bodyPr>
          <a:lstStyle/>
          <a:p>
            <a:r>
              <a:rPr lang="en-US" sz="3600" dirty="0"/>
              <a:t>…</a:t>
            </a:r>
            <a:endParaRPr lang="en-US" sz="1050" dirty="0"/>
          </a:p>
        </p:txBody>
      </p:sp>
    </p:spTree>
    <p:extLst>
      <p:ext uri="{BB962C8B-B14F-4D97-AF65-F5344CB8AC3E}">
        <p14:creationId xmlns:p14="http://schemas.microsoft.com/office/powerpoint/2010/main" val="36534489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8912DF-2451-A8DE-802F-0D6970B60AA0}"/>
            </a:ext>
          </a:extLst>
        </p:cNvPr>
        <p:cNvGrpSpPr/>
        <p:nvPr/>
      </p:nvGrpSpPr>
      <p:grpSpPr>
        <a:xfrm>
          <a:off x="0" y="0"/>
          <a:ext cx="0" cy="0"/>
          <a:chOff x="0" y="0"/>
          <a:chExt cx="0" cy="0"/>
        </a:xfrm>
      </p:grpSpPr>
      <p:sp>
        <p:nvSpPr>
          <p:cNvPr id="2" name="コンテンツ プレースホルダー 1">
            <a:extLst>
              <a:ext uri="{FF2B5EF4-FFF2-40B4-BE49-F238E27FC236}">
                <a16:creationId xmlns:a16="http://schemas.microsoft.com/office/drawing/2014/main" id="{3977582D-42B0-6295-EE6E-D1FB7789B21E}"/>
              </a:ext>
            </a:extLst>
          </p:cNvPr>
          <p:cNvSpPr>
            <a:spLocks noGrp="1"/>
          </p:cNvSpPr>
          <p:nvPr>
            <p:ph sz="quarter" idx="17"/>
          </p:nvPr>
        </p:nvSpPr>
        <p:spPr>
          <a:xfrm>
            <a:off x="569340" y="904862"/>
            <a:ext cx="8767320" cy="5686438"/>
          </a:xfrm>
        </p:spPr>
        <p:txBody>
          <a:bodyPr/>
          <a:lstStyle/>
          <a:p>
            <a:r>
              <a:rPr kumimoji="1" lang="en-US" altLang="ja-JP" dirty="0">
                <a:solidFill>
                  <a:schemeClr val="tx1">
                    <a:lumMod val="20000"/>
                    <a:lumOff val="80000"/>
                  </a:schemeClr>
                </a:solidFill>
              </a:rPr>
              <a:t>1. Introduction and background</a:t>
            </a:r>
          </a:p>
          <a:p>
            <a:pPr marL="342900" indent="-342900">
              <a:buAutoNum type="arabicPeriod"/>
            </a:pPr>
            <a:endParaRPr kumimoji="1" lang="en-US" altLang="ja-JP" dirty="0">
              <a:solidFill>
                <a:schemeClr val="tx1">
                  <a:lumMod val="20000"/>
                  <a:lumOff val="80000"/>
                </a:schemeClr>
              </a:solidFill>
            </a:endParaRPr>
          </a:p>
          <a:p>
            <a:r>
              <a:rPr kumimoji="1" lang="en-US" altLang="ja-JP" dirty="0">
                <a:solidFill>
                  <a:schemeClr val="tx1">
                    <a:lumMod val="20000"/>
                    <a:lumOff val="80000"/>
                  </a:schemeClr>
                </a:solidFill>
              </a:rPr>
              <a:t>2. Objective</a:t>
            </a:r>
          </a:p>
          <a:p>
            <a:endParaRPr kumimoji="1" lang="en-US" altLang="ja-JP" dirty="0">
              <a:solidFill>
                <a:schemeClr val="tx1">
                  <a:lumMod val="20000"/>
                  <a:lumOff val="80000"/>
                </a:schemeClr>
              </a:solidFill>
            </a:endParaRPr>
          </a:p>
          <a:p>
            <a:r>
              <a:rPr kumimoji="1" lang="en-US" altLang="ja-JP" dirty="0">
                <a:solidFill>
                  <a:schemeClr val="tx1">
                    <a:lumMod val="20000"/>
                    <a:lumOff val="80000"/>
                  </a:schemeClr>
                </a:solidFill>
              </a:rPr>
              <a:t>3. Methodology</a:t>
            </a:r>
          </a:p>
          <a:p>
            <a:r>
              <a:rPr kumimoji="1" lang="en-US" altLang="ja-JP" sz="1200" dirty="0">
                <a:solidFill>
                  <a:schemeClr val="tx1">
                    <a:lumMod val="20000"/>
                    <a:lumOff val="80000"/>
                  </a:schemeClr>
                </a:solidFill>
              </a:rPr>
              <a:t>3.1 Step 1: </a:t>
            </a:r>
            <a:r>
              <a:rPr lang="en-US" altLang="ja-JP" sz="1200" dirty="0">
                <a:solidFill>
                  <a:schemeClr val="tx1">
                    <a:lumMod val="20000"/>
                    <a:lumOff val="80000"/>
                  </a:schemeClr>
                </a:solidFill>
              </a:rPr>
              <a:t>Data collection</a:t>
            </a:r>
          </a:p>
          <a:p>
            <a:r>
              <a:rPr kumimoji="1" lang="en-US" altLang="ja-JP" sz="1200" dirty="0">
                <a:solidFill>
                  <a:schemeClr val="tx1">
                    <a:lumMod val="20000"/>
                    <a:lumOff val="80000"/>
                  </a:schemeClr>
                </a:solidFill>
              </a:rPr>
              <a:t>       3.1.1 Data (demand, PV supply, wholesale price)</a:t>
            </a:r>
            <a:endParaRPr kumimoji="1" lang="ja-JP" altLang="en-US" sz="1200" dirty="0">
              <a:solidFill>
                <a:schemeClr val="tx1">
                  <a:lumMod val="20000"/>
                  <a:lumOff val="80000"/>
                </a:schemeClr>
              </a:solidFill>
            </a:endParaRPr>
          </a:p>
          <a:p>
            <a:r>
              <a:rPr kumimoji="1" lang="en-US" altLang="ja-JP" sz="1200" dirty="0">
                <a:solidFill>
                  <a:schemeClr val="tx1">
                    <a:lumMod val="20000"/>
                    <a:lumOff val="80000"/>
                  </a:schemeClr>
                </a:solidFill>
              </a:rPr>
              <a:t>       3.1.2 Car usage survey </a:t>
            </a:r>
            <a:r>
              <a:rPr kumimoji="1" lang="ja-JP" altLang="en-US" sz="1200" dirty="0">
                <a:solidFill>
                  <a:schemeClr val="tx1">
                    <a:lumMod val="20000"/>
                    <a:lumOff val="80000"/>
                  </a:schemeClr>
                </a:solidFill>
              </a:rPr>
              <a:t>→ </a:t>
            </a:r>
            <a:r>
              <a:rPr kumimoji="1" lang="en-US" altLang="ja-JP" sz="1200" dirty="0">
                <a:solidFill>
                  <a:schemeClr val="tx1">
                    <a:lumMod val="20000"/>
                    <a:lumOff val="80000"/>
                  </a:schemeClr>
                </a:solidFill>
              </a:rPr>
              <a:t>Car usage data</a:t>
            </a:r>
          </a:p>
          <a:p>
            <a:r>
              <a:rPr kumimoji="1" lang="en-US" altLang="ja-JP" sz="1200" dirty="0">
                <a:solidFill>
                  <a:schemeClr val="tx1">
                    <a:lumMod val="20000"/>
                    <a:lumOff val="80000"/>
                  </a:schemeClr>
                </a:solidFill>
              </a:rPr>
              <a:t>       3.1.3 Technology parameter (battery charge/discharge speed limit, efficiency)</a:t>
            </a:r>
          </a:p>
          <a:p>
            <a:r>
              <a:rPr kumimoji="1" lang="en-US" altLang="ja-JP" sz="1200" dirty="0">
                <a:solidFill>
                  <a:schemeClr val="tx1">
                    <a:lumMod val="20000"/>
                    <a:lumOff val="80000"/>
                  </a:schemeClr>
                </a:solidFill>
              </a:rPr>
              <a:t>3.2 Step 2: </a:t>
            </a:r>
            <a:r>
              <a:rPr lang="en-US" altLang="ja-JP" sz="1200" dirty="0">
                <a:solidFill>
                  <a:schemeClr val="tx1">
                    <a:lumMod val="20000"/>
                    <a:lumOff val="80000"/>
                  </a:schemeClr>
                </a:solidFill>
              </a:rPr>
              <a:t>Model construction </a:t>
            </a:r>
            <a:r>
              <a:rPr kumimoji="1" lang="en-US" altLang="ja-JP" sz="1200" dirty="0">
                <a:solidFill>
                  <a:schemeClr val="tx1">
                    <a:lumMod val="20000"/>
                    <a:lumOff val="80000"/>
                  </a:schemeClr>
                </a:solidFill>
              </a:rPr>
              <a:t>	</a:t>
            </a:r>
          </a:p>
          <a:p>
            <a:r>
              <a:rPr kumimoji="1" lang="en-US" altLang="ja-JP" sz="1200" dirty="0">
                <a:solidFill>
                  <a:schemeClr val="tx1">
                    <a:lumMod val="20000"/>
                    <a:lumOff val="80000"/>
                  </a:schemeClr>
                </a:solidFill>
              </a:rPr>
              <a:t>       3.2.1 Generate agent</a:t>
            </a:r>
          </a:p>
          <a:p>
            <a:r>
              <a:rPr kumimoji="1" lang="en-US" altLang="ja-JP" sz="1200" dirty="0">
                <a:solidFill>
                  <a:schemeClr val="tx1">
                    <a:lumMod val="20000"/>
                    <a:lumOff val="80000"/>
                  </a:schemeClr>
                </a:solidFill>
              </a:rPr>
              <a:t>       3.2.2 Design P2P energy trading model</a:t>
            </a:r>
          </a:p>
          <a:p>
            <a:r>
              <a:rPr kumimoji="1" lang="en-US" altLang="ja-JP" sz="1200" dirty="0">
                <a:solidFill>
                  <a:schemeClr val="tx1">
                    <a:lumMod val="20000"/>
                    <a:lumOff val="80000"/>
                  </a:schemeClr>
                </a:solidFill>
              </a:rPr>
              <a:t>       3.2.3 Design non-P2P energy model</a:t>
            </a:r>
          </a:p>
          <a:p>
            <a:r>
              <a:rPr kumimoji="1" lang="en-US" altLang="ja-JP" sz="1200" dirty="0"/>
              <a:t>3.3 Step 3: Train agents</a:t>
            </a:r>
          </a:p>
          <a:p>
            <a:r>
              <a:rPr kumimoji="1" lang="en-US" altLang="ja-JP" sz="1200" dirty="0"/>
              <a:t>       3.3.1 Q table</a:t>
            </a:r>
          </a:p>
          <a:p>
            <a:r>
              <a:rPr kumimoji="1" lang="en-US" altLang="ja-JP" sz="1200" dirty="0"/>
              <a:t>       3.3.2 Reward</a:t>
            </a:r>
          </a:p>
          <a:p>
            <a:endParaRPr kumimoji="1" lang="en-US" altLang="ja-JP" sz="1200" dirty="0"/>
          </a:p>
          <a:p>
            <a:r>
              <a:rPr kumimoji="1" lang="en-US" altLang="ja-JP" dirty="0">
                <a:solidFill>
                  <a:schemeClr val="tx1">
                    <a:lumMod val="20000"/>
                    <a:lumOff val="80000"/>
                  </a:schemeClr>
                </a:solidFill>
              </a:rPr>
              <a:t>4. Results and analysis</a:t>
            </a:r>
          </a:p>
          <a:p>
            <a:endParaRPr kumimoji="1" lang="en-US" altLang="ja-JP" dirty="0">
              <a:solidFill>
                <a:schemeClr val="tx1">
                  <a:lumMod val="20000"/>
                  <a:lumOff val="80000"/>
                </a:schemeClr>
              </a:solidFill>
            </a:endParaRPr>
          </a:p>
          <a:p>
            <a:r>
              <a:rPr kumimoji="1" lang="en-US" altLang="ja-JP" dirty="0">
                <a:solidFill>
                  <a:schemeClr val="tx1">
                    <a:lumMod val="20000"/>
                    <a:lumOff val="80000"/>
                  </a:schemeClr>
                </a:solidFill>
              </a:rPr>
              <a:t>5. Summary and future work</a:t>
            </a:r>
          </a:p>
          <a:p>
            <a:endParaRPr kumimoji="1" lang="ja-JP" altLang="en-US" dirty="0"/>
          </a:p>
        </p:txBody>
      </p:sp>
      <p:sp>
        <p:nvSpPr>
          <p:cNvPr id="3" name="コンテンツ プレースホルダー 2">
            <a:extLst>
              <a:ext uri="{FF2B5EF4-FFF2-40B4-BE49-F238E27FC236}">
                <a16:creationId xmlns:a16="http://schemas.microsoft.com/office/drawing/2014/main" id="{9C4E156C-6887-FC45-08F1-8302CB81401F}"/>
              </a:ext>
            </a:extLst>
          </p:cNvPr>
          <p:cNvSpPr>
            <a:spLocks noGrp="1"/>
          </p:cNvSpPr>
          <p:nvPr>
            <p:ph sz="quarter" idx="16"/>
          </p:nvPr>
        </p:nvSpPr>
        <p:spPr/>
        <p:txBody>
          <a:bodyPr/>
          <a:lstStyle/>
          <a:p>
            <a:r>
              <a:rPr kumimoji="1" lang="en-US" altLang="ja-JP" dirty="0"/>
              <a:t>CONTENT</a:t>
            </a:r>
            <a:endParaRPr kumimoji="1" lang="ja-JP" altLang="en-US" dirty="0"/>
          </a:p>
        </p:txBody>
      </p:sp>
    </p:spTree>
    <p:extLst>
      <p:ext uri="{BB962C8B-B14F-4D97-AF65-F5344CB8AC3E}">
        <p14:creationId xmlns:p14="http://schemas.microsoft.com/office/powerpoint/2010/main" val="114196006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コンテンツ プレースホルダー 1">
                <a:extLst>
                  <a:ext uri="{FF2B5EF4-FFF2-40B4-BE49-F238E27FC236}">
                    <a16:creationId xmlns:a16="http://schemas.microsoft.com/office/drawing/2014/main" id="{4D51444D-7E4C-D818-3F0A-A2A19FB17305}"/>
                  </a:ext>
                </a:extLst>
              </p:cNvPr>
              <p:cNvSpPr>
                <a:spLocks noGrp="1"/>
              </p:cNvSpPr>
              <p:nvPr>
                <p:ph sz="quarter" idx="17"/>
              </p:nvPr>
            </p:nvSpPr>
            <p:spPr>
              <a:xfrm>
                <a:off x="302312" y="848455"/>
                <a:ext cx="9285210" cy="5309975"/>
              </a:xfrm>
            </p:spPr>
            <p:txBody>
              <a:bodyPr/>
              <a:lstStyle/>
              <a:p>
                <a:r>
                  <a:rPr lang="en-US" altLang="ja-JP" dirty="0"/>
                  <a:t>target</a:t>
                </a:r>
                <a:r>
                  <a:rPr lang="ja-JP" altLang="en-US" dirty="0"/>
                  <a:t>：</a:t>
                </a:r>
                <a:r>
                  <a:rPr lang="en-US" altLang="ja-JP" dirty="0"/>
                  <a:t>bid price for DR bid price		           </a:t>
                </a:r>
                <a14:m>
                  <m:oMath xmlns:m="http://schemas.openxmlformats.org/officeDocument/2006/math">
                    <m:sSubSup>
                      <m:sSubSupPr>
                        <m:ctrlPr>
                          <a:rPr lang="en-US" i="1">
                            <a:solidFill>
                              <a:srgbClr val="836967"/>
                            </a:solidFill>
                            <a:latin typeface="Cambria Math" panose="02040503050406030204" pitchFamily="18" charset="0"/>
                          </a:rPr>
                        </m:ctrlPr>
                      </m:sSubSupPr>
                      <m:e>
                        <m:r>
                          <a:rPr lang="en-US" i="1">
                            <a:latin typeface="Cambria Math" panose="02040503050406030204" pitchFamily="18" charset="0"/>
                          </a:rPr>
                          <m:t>𝜆</m:t>
                        </m:r>
                      </m:e>
                      <m:sub>
                        <m:r>
                          <a:rPr lang="en-US" i="1">
                            <a:latin typeface="Cambria Math" panose="02040503050406030204" pitchFamily="18" charset="0"/>
                          </a:rPr>
                          <m:t>𝑡</m:t>
                        </m:r>
                        <m:r>
                          <a:rPr lang="en-US">
                            <a:latin typeface="Cambria Math" panose="02040503050406030204" pitchFamily="18" charset="0"/>
                          </a:rPr>
                          <m:t>,</m:t>
                        </m:r>
                        <m:r>
                          <a:rPr lang="en-US" i="1">
                            <a:latin typeface="Cambria Math" panose="02040503050406030204" pitchFamily="18" charset="0"/>
                          </a:rPr>
                          <m:t>𝑛</m:t>
                        </m:r>
                      </m:sub>
                      <m:sup>
                        <m:r>
                          <a:rPr lang="en-US" i="1">
                            <a:latin typeface="Cambria Math" panose="02040503050406030204" pitchFamily="18" charset="0"/>
                          </a:rPr>
                          <m:t>𝑏𝑖𝑑</m:t>
                        </m:r>
                        <m:r>
                          <a:rPr lang="en-US">
                            <a:latin typeface="Cambria Math" panose="02040503050406030204" pitchFamily="18" charset="0"/>
                          </a:rPr>
                          <m:t>,</m:t>
                        </m:r>
                        <m:r>
                          <m:rPr>
                            <m:sty m:val="p"/>
                          </m:rPr>
                          <a:rPr lang="en-US" b="0" i="0" smtClean="0">
                            <a:latin typeface="Cambria Math" panose="02040503050406030204" pitchFamily="18" charset="0"/>
                          </a:rPr>
                          <m:t>elas</m:t>
                        </m:r>
                        <m:r>
                          <a:rPr lang="en-US" b="0" i="1" smtClean="0">
                            <a:latin typeface="Cambria Math" panose="02040503050406030204" pitchFamily="18" charset="0"/>
                          </a:rPr>
                          <m:t>, </m:t>
                        </m:r>
                        <m:r>
                          <a:rPr lang="en-US" b="0" i="1" smtClean="0">
                            <a:latin typeface="Cambria Math" panose="02040503050406030204" pitchFamily="18" charset="0"/>
                          </a:rPr>
                          <m:t>𝑏𝑢𝑦</m:t>
                        </m:r>
                      </m:sup>
                    </m:sSubSup>
                  </m:oMath>
                </a14:m>
                <a:br>
                  <a:rPr lang="en-US" altLang="ja-JP" dirty="0"/>
                </a:br>
                <a:r>
                  <a:rPr lang="en-US" altLang="ja-JP" dirty="0"/>
                  <a:t>		</a:t>
                </a:r>
                <a:r>
                  <a:rPr lang="ja-JP" altLang="en-US" dirty="0"/>
                  <a:t>　　  </a:t>
                </a:r>
                <a:r>
                  <a:rPr lang="en-US" altLang="ja-JP" dirty="0"/>
                  <a:t>buy/sell of battery/EV battery</a:t>
                </a:r>
                <a14:m>
                  <m:oMath xmlns:m="http://schemas.openxmlformats.org/officeDocument/2006/math">
                    <m:r>
                      <a:rPr lang="ja-JP" altLang="en-US" i="1" dirty="0">
                        <a:solidFill>
                          <a:srgbClr val="836967"/>
                        </a:solidFill>
                        <a:latin typeface="Cambria Math" panose="02040503050406030204" pitchFamily="18" charset="0"/>
                      </a:rPr>
                      <m:t>　</m:t>
                    </m:r>
                    <m:sSubSup>
                      <m:sSubSupPr>
                        <m:ctrlPr>
                          <a:rPr lang="en-US" i="1" smtClean="0">
                            <a:solidFill>
                              <a:srgbClr val="836967"/>
                            </a:solidFill>
                            <a:latin typeface="Cambria Math" panose="02040503050406030204" pitchFamily="18" charset="0"/>
                          </a:rPr>
                        </m:ctrlPr>
                      </m:sSubSupPr>
                      <m:e>
                        <m:r>
                          <a:rPr lang="en-US" i="1">
                            <a:latin typeface="Cambria Math" panose="02040503050406030204" pitchFamily="18" charset="0"/>
                          </a:rPr>
                          <m:t>𝜆</m:t>
                        </m:r>
                      </m:e>
                      <m:sub>
                        <m:r>
                          <a:rPr lang="en-US" i="1">
                            <a:latin typeface="Cambria Math" panose="02040503050406030204" pitchFamily="18" charset="0"/>
                          </a:rPr>
                          <m:t>𝑡</m:t>
                        </m:r>
                        <m:r>
                          <a:rPr lang="en-US" i="0">
                            <a:latin typeface="Cambria Math" panose="02040503050406030204" pitchFamily="18" charset="0"/>
                          </a:rPr>
                          <m:t>,</m:t>
                        </m:r>
                        <m:r>
                          <a:rPr lang="en-US" i="1">
                            <a:latin typeface="Cambria Math" panose="02040503050406030204" pitchFamily="18" charset="0"/>
                          </a:rPr>
                          <m:t>𝑛</m:t>
                        </m:r>
                      </m:sub>
                      <m:sup>
                        <m:r>
                          <a:rPr lang="en-US" i="1">
                            <a:latin typeface="Cambria Math" panose="02040503050406030204" pitchFamily="18" charset="0"/>
                          </a:rPr>
                          <m:t>𝑏𝑖𝑑</m:t>
                        </m:r>
                        <m:r>
                          <a:rPr lang="en-US" i="0">
                            <a:latin typeface="Cambria Math" panose="02040503050406030204" pitchFamily="18" charset="0"/>
                          </a:rPr>
                          <m:t>,</m:t>
                        </m:r>
                        <m:r>
                          <m:rPr>
                            <m:sty m:val="p"/>
                          </m:rPr>
                          <a:rPr lang="en-US" b="0" i="0" smtClean="0">
                            <a:latin typeface="Cambria Math" panose="02040503050406030204" pitchFamily="18" charset="0"/>
                          </a:rPr>
                          <m:t>bat</m:t>
                        </m:r>
                        <m:r>
                          <a:rPr lang="en-US" i="0">
                            <a:latin typeface="Cambria Math" panose="02040503050406030204" pitchFamily="18" charset="0"/>
                          </a:rPr>
                          <m:t>,</m:t>
                        </m:r>
                        <m:r>
                          <a:rPr lang="en-US" i="1">
                            <a:latin typeface="Cambria Math" panose="02040503050406030204" pitchFamily="18" charset="0"/>
                          </a:rPr>
                          <m:t>𝑏𝑢𝑦</m:t>
                        </m:r>
                      </m:sup>
                    </m:sSubSup>
                    <m:r>
                      <a:rPr lang="en-US" b="0" i="1" smtClean="0">
                        <a:latin typeface="Cambria Math" panose="02040503050406030204" pitchFamily="18" charset="0"/>
                      </a:rPr>
                      <m:t>, </m:t>
                    </m:r>
                    <m:sSubSup>
                      <m:sSubSupPr>
                        <m:ctrlPr>
                          <a:rPr lang="en-US" i="1">
                            <a:solidFill>
                              <a:srgbClr val="836967"/>
                            </a:solidFill>
                            <a:latin typeface="Cambria Math" panose="02040503050406030204" pitchFamily="18" charset="0"/>
                          </a:rPr>
                        </m:ctrlPr>
                      </m:sSubSupPr>
                      <m:e>
                        <m:r>
                          <a:rPr lang="en-US" i="1">
                            <a:latin typeface="Cambria Math" panose="02040503050406030204" pitchFamily="18" charset="0"/>
                          </a:rPr>
                          <m:t>𝜆</m:t>
                        </m:r>
                      </m:e>
                      <m:sub>
                        <m:r>
                          <a:rPr lang="en-US" i="1">
                            <a:latin typeface="Cambria Math" panose="02040503050406030204" pitchFamily="18" charset="0"/>
                          </a:rPr>
                          <m:t>𝑡</m:t>
                        </m:r>
                        <m:r>
                          <a:rPr lang="en-US">
                            <a:latin typeface="Cambria Math" panose="02040503050406030204" pitchFamily="18" charset="0"/>
                          </a:rPr>
                          <m:t>,</m:t>
                        </m:r>
                        <m:r>
                          <a:rPr lang="en-US" i="1">
                            <a:latin typeface="Cambria Math" panose="02040503050406030204" pitchFamily="18" charset="0"/>
                          </a:rPr>
                          <m:t>𝑛</m:t>
                        </m:r>
                      </m:sub>
                      <m:sup>
                        <m:r>
                          <a:rPr lang="en-US" i="1">
                            <a:latin typeface="Cambria Math" panose="02040503050406030204" pitchFamily="18" charset="0"/>
                          </a:rPr>
                          <m:t>𝑏𝑖𝑑</m:t>
                        </m:r>
                        <m:r>
                          <a:rPr lang="en-US">
                            <a:latin typeface="Cambria Math" panose="02040503050406030204" pitchFamily="18" charset="0"/>
                          </a:rPr>
                          <m:t>,</m:t>
                        </m:r>
                        <m:r>
                          <m:rPr>
                            <m:sty m:val="p"/>
                          </m:rPr>
                          <a:rPr lang="en-US" b="0" i="0" smtClean="0">
                            <a:latin typeface="Cambria Math" panose="02040503050406030204" pitchFamily="18" charset="0"/>
                          </a:rPr>
                          <m:t>bat</m:t>
                        </m:r>
                        <m:r>
                          <a:rPr lang="en-US">
                            <a:latin typeface="Cambria Math" panose="02040503050406030204" pitchFamily="18" charset="0"/>
                          </a:rPr>
                          <m:t>,</m:t>
                        </m:r>
                        <m:r>
                          <a:rPr lang="en-US" b="0" i="1" smtClean="0">
                            <a:latin typeface="Cambria Math" panose="02040503050406030204" pitchFamily="18" charset="0"/>
                          </a:rPr>
                          <m:t>𝑠𝑒𝑙𝑙</m:t>
                        </m:r>
                      </m:sup>
                    </m:sSubSup>
                    <m:r>
                      <a:rPr lang="en-US" b="0" i="1" smtClean="0">
                        <a:latin typeface="Cambria Math" panose="02040503050406030204" pitchFamily="18" charset="0"/>
                      </a:rPr>
                      <m:t>,</m:t>
                    </m:r>
                    <m:sSubSup>
                      <m:sSubSupPr>
                        <m:ctrlPr>
                          <a:rPr lang="en-US" i="1">
                            <a:solidFill>
                              <a:srgbClr val="836967"/>
                            </a:solidFill>
                            <a:latin typeface="Cambria Math" panose="02040503050406030204" pitchFamily="18" charset="0"/>
                          </a:rPr>
                        </m:ctrlPr>
                      </m:sSubSupPr>
                      <m:e>
                        <m:r>
                          <a:rPr lang="en-US" i="1">
                            <a:latin typeface="Cambria Math" panose="02040503050406030204" pitchFamily="18" charset="0"/>
                          </a:rPr>
                          <m:t>𝜆</m:t>
                        </m:r>
                      </m:e>
                      <m:sub>
                        <m:r>
                          <a:rPr lang="en-US" i="1">
                            <a:latin typeface="Cambria Math" panose="02040503050406030204" pitchFamily="18" charset="0"/>
                          </a:rPr>
                          <m:t>𝑡</m:t>
                        </m:r>
                        <m:r>
                          <a:rPr lang="en-US">
                            <a:latin typeface="Cambria Math" panose="02040503050406030204" pitchFamily="18" charset="0"/>
                          </a:rPr>
                          <m:t>,</m:t>
                        </m:r>
                        <m:r>
                          <a:rPr lang="en-US" i="1">
                            <a:latin typeface="Cambria Math" panose="02040503050406030204" pitchFamily="18" charset="0"/>
                          </a:rPr>
                          <m:t>𝑛</m:t>
                        </m:r>
                      </m:sub>
                      <m:sup>
                        <m:r>
                          <a:rPr lang="en-US" i="1">
                            <a:latin typeface="Cambria Math" panose="02040503050406030204" pitchFamily="18" charset="0"/>
                          </a:rPr>
                          <m:t>𝑏𝑖𝑑</m:t>
                        </m:r>
                        <m:r>
                          <a:rPr lang="en-US">
                            <a:latin typeface="Cambria Math" panose="02040503050406030204" pitchFamily="18" charset="0"/>
                          </a:rPr>
                          <m:t>,</m:t>
                        </m:r>
                        <m:r>
                          <m:rPr>
                            <m:sty m:val="p"/>
                          </m:rPr>
                          <a:rPr lang="en-US" b="0" i="0" smtClean="0">
                            <a:latin typeface="Cambria Math" panose="02040503050406030204" pitchFamily="18" charset="0"/>
                          </a:rPr>
                          <m:t>EV</m:t>
                        </m:r>
                        <m:r>
                          <a:rPr lang="en-US">
                            <a:latin typeface="Cambria Math" panose="02040503050406030204" pitchFamily="18" charset="0"/>
                          </a:rPr>
                          <m:t>,</m:t>
                        </m:r>
                        <m:r>
                          <a:rPr lang="en-US" i="1">
                            <a:latin typeface="Cambria Math" panose="02040503050406030204" pitchFamily="18" charset="0"/>
                          </a:rPr>
                          <m:t>𝑏𝑢𝑦</m:t>
                        </m:r>
                      </m:sup>
                    </m:sSubSup>
                  </m:oMath>
                </a14:m>
                <a:r>
                  <a:rPr lang="en-US" dirty="0"/>
                  <a:t>, </a:t>
                </a:r>
                <a14:m>
                  <m:oMath xmlns:m="http://schemas.openxmlformats.org/officeDocument/2006/math">
                    <m:sSubSup>
                      <m:sSubSupPr>
                        <m:ctrlPr>
                          <a:rPr lang="en-US" i="1">
                            <a:solidFill>
                              <a:srgbClr val="836967"/>
                            </a:solidFill>
                            <a:latin typeface="Cambria Math" panose="02040503050406030204" pitchFamily="18" charset="0"/>
                          </a:rPr>
                        </m:ctrlPr>
                      </m:sSubSupPr>
                      <m:e>
                        <m:r>
                          <a:rPr lang="en-US" i="1">
                            <a:latin typeface="Cambria Math" panose="02040503050406030204" pitchFamily="18" charset="0"/>
                          </a:rPr>
                          <m:t>𝜆</m:t>
                        </m:r>
                      </m:e>
                      <m:sub>
                        <m:r>
                          <a:rPr lang="en-US" i="1">
                            <a:latin typeface="Cambria Math" panose="02040503050406030204" pitchFamily="18" charset="0"/>
                          </a:rPr>
                          <m:t>𝑡</m:t>
                        </m:r>
                        <m:r>
                          <a:rPr lang="en-US">
                            <a:latin typeface="Cambria Math" panose="02040503050406030204" pitchFamily="18" charset="0"/>
                          </a:rPr>
                          <m:t>,</m:t>
                        </m:r>
                        <m:r>
                          <a:rPr lang="en-US" i="1">
                            <a:latin typeface="Cambria Math" panose="02040503050406030204" pitchFamily="18" charset="0"/>
                          </a:rPr>
                          <m:t>𝑛</m:t>
                        </m:r>
                      </m:sub>
                      <m:sup>
                        <m:r>
                          <a:rPr lang="en-US" i="1">
                            <a:latin typeface="Cambria Math" panose="02040503050406030204" pitchFamily="18" charset="0"/>
                          </a:rPr>
                          <m:t>𝑏𝑖𝑑</m:t>
                        </m:r>
                        <m:r>
                          <a:rPr lang="en-US">
                            <a:latin typeface="Cambria Math" panose="02040503050406030204" pitchFamily="18" charset="0"/>
                          </a:rPr>
                          <m:t>,</m:t>
                        </m:r>
                        <m:r>
                          <m:rPr>
                            <m:sty m:val="p"/>
                          </m:rPr>
                          <a:rPr lang="en-US" b="0" i="0" smtClean="0">
                            <a:latin typeface="Cambria Math" panose="02040503050406030204" pitchFamily="18" charset="0"/>
                          </a:rPr>
                          <m:t>EV</m:t>
                        </m:r>
                        <m:r>
                          <a:rPr lang="en-US">
                            <a:latin typeface="Cambria Math" panose="02040503050406030204" pitchFamily="18" charset="0"/>
                          </a:rPr>
                          <m:t>,</m:t>
                        </m:r>
                        <m:r>
                          <a:rPr lang="en-US" i="1">
                            <a:latin typeface="Cambria Math" panose="02040503050406030204" pitchFamily="18" charset="0"/>
                          </a:rPr>
                          <m:t>𝑠𝑒𝑙𝑙</m:t>
                        </m:r>
                      </m:sup>
                    </m:sSubSup>
                  </m:oMath>
                </a14:m>
                <a:endParaRPr lang="en-US" dirty="0"/>
              </a:p>
              <a:p>
                <a:endParaRPr lang="en-US" dirty="0"/>
              </a:p>
              <a:p>
                <a:pPr/>
                <a14:m>
                  <m:oMathPara xmlns:m="http://schemas.openxmlformats.org/officeDocument/2006/math">
                    <m:oMathParaPr>
                      <m:jc m:val="centerGroup"/>
                    </m:oMathParaPr>
                    <m:oMath xmlns:m="http://schemas.openxmlformats.org/officeDocument/2006/math">
                      <m:sSup>
                        <m:sSupPr>
                          <m:ctrlPr>
                            <a:rPr lang="en-US" sz="1400" b="0" i="1" smtClean="0">
                              <a:latin typeface="Cambria Math" panose="02040503050406030204" pitchFamily="18" charset="0"/>
                            </a:rPr>
                          </m:ctrlPr>
                        </m:sSupPr>
                        <m:e>
                          <m:acc>
                            <m:accPr>
                              <m:chr m:val="̂"/>
                              <m:ctrlPr>
                                <a:rPr lang="en-US" sz="1400" b="0" i="1" smtClean="0">
                                  <a:latin typeface="Cambria Math" panose="02040503050406030204" pitchFamily="18" charset="0"/>
                                </a:rPr>
                              </m:ctrlPr>
                            </m:accPr>
                            <m:e>
                              <m:r>
                                <a:rPr lang="en-US" sz="1400" b="0" i="1" smtClean="0">
                                  <a:latin typeface="Cambria Math" panose="02040503050406030204" pitchFamily="18" charset="0"/>
                                </a:rPr>
                                <m:t>𝑄</m:t>
                              </m:r>
                            </m:e>
                          </m:acc>
                        </m:e>
                        <m:sup>
                          <m:r>
                            <a:rPr lang="en-US" sz="1400" b="0" i="1" smtClean="0">
                              <a:latin typeface="Cambria Math" panose="02040503050406030204" pitchFamily="18" charset="0"/>
                            </a:rPr>
                            <m:t>∗, </m:t>
                          </m:r>
                          <m:r>
                            <a:rPr lang="en-US" sz="1400" b="0" i="1" smtClean="0">
                              <a:latin typeface="Cambria Math" panose="02040503050406030204" pitchFamily="18" charset="0"/>
                            </a:rPr>
                            <m:t>𝑛𝑒𝑤</m:t>
                          </m:r>
                        </m:sup>
                      </m:sSup>
                      <m:d>
                        <m:dPr>
                          <m:ctrlPr>
                            <a:rPr lang="en-US" sz="1400" b="0" i="1" smtClean="0">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𝑡</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𝑡</m:t>
                              </m:r>
                            </m:sub>
                          </m:sSub>
                        </m:e>
                      </m:d>
                      <m:r>
                        <a:rPr lang="en-US" sz="1400" b="0" i="1" smtClean="0">
                          <a:latin typeface="Cambria Math" panose="02040503050406030204" pitchFamily="18" charset="0"/>
                        </a:rPr>
                        <m:t>=</m:t>
                      </m:r>
                      <m:sSup>
                        <m:sSupPr>
                          <m:ctrlPr>
                            <a:rPr lang="en-US" i="1">
                              <a:latin typeface="Cambria Math" panose="02040503050406030204" pitchFamily="18" charset="0"/>
                            </a:rPr>
                          </m:ctrlPr>
                        </m:sSupPr>
                        <m:e>
                          <m:acc>
                            <m:accPr>
                              <m:chr m:val="̂"/>
                              <m:ctrlPr>
                                <a:rPr lang="en-US" i="1">
                                  <a:latin typeface="Cambria Math" panose="02040503050406030204" pitchFamily="18" charset="0"/>
                                </a:rPr>
                              </m:ctrlPr>
                            </m:accPr>
                            <m:e>
                              <m:r>
                                <a:rPr lang="en-US" i="1">
                                  <a:latin typeface="Cambria Math" panose="02040503050406030204" pitchFamily="18" charset="0"/>
                                </a:rPr>
                                <m:t>𝑄</m:t>
                              </m:r>
                            </m:e>
                          </m:acc>
                        </m:e>
                        <m:sup>
                          <m:r>
                            <a:rPr lang="en-US" i="1">
                              <a:latin typeface="Cambria Math" panose="02040503050406030204" pitchFamily="18" charset="0"/>
                            </a:rPr>
                            <m:t>∗</m:t>
                          </m:r>
                        </m:sup>
                      </m:sSup>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𝑡</m:t>
                              </m:r>
                            </m:sub>
                          </m:sSub>
                        </m:e>
                      </m:d>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𝛼</m:t>
                      </m:r>
                      <m:r>
                        <a:rPr lang="en-US">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ea typeface="Cambria Math" panose="02040503050406030204" pitchFamily="18" charset="0"/>
                            </a:rPr>
                            <m:t>𝛿</m:t>
                          </m:r>
                        </m:e>
                        <m:sub>
                          <m:r>
                            <a:rPr lang="en-US" i="1">
                              <a:latin typeface="Cambria Math" panose="02040503050406030204" pitchFamily="18" charset="0"/>
                            </a:rPr>
                            <m:t>𝑡</m:t>
                          </m:r>
                        </m:sub>
                        <m:sup>
                          <m:r>
                            <a:rPr lang="en-US" i="1">
                              <a:latin typeface="Cambria Math" panose="02040503050406030204" pitchFamily="18" charset="0"/>
                            </a:rPr>
                            <m:t>𝑄</m:t>
                          </m:r>
                        </m:sup>
                      </m:sSubSup>
                      <m:r>
                        <a:rPr lang="ja-JP" altLang="en-US" i="1">
                          <a:latin typeface="Cambria Math" panose="02040503050406030204" pitchFamily="18" charset="0"/>
                        </a:rPr>
                        <m:t>　</m:t>
                      </m:r>
                      <m:d>
                        <m:dPr>
                          <m:ctrlPr>
                            <a:rPr lang="en-US" altLang="ja-JP" b="0" i="1" smtClean="0">
                              <a:latin typeface="Cambria Math" panose="02040503050406030204" pitchFamily="18" charset="0"/>
                            </a:rPr>
                          </m:ctrlPr>
                        </m:dPr>
                        <m:e>
                          <m:r>
                            <a:rPr lang="en-US" altLang="ja-JP" b="0" i="1" smtClean="0">
                              <a:latin typeface="Cambria Math" panose="02040503050406030204" pitchFamily="18" charset="0"/>
                            </a:rPr>
                            <m:t>16</m:t>
                          </m:r>
                        </m:e>
                      </m:d>
                    </m:oMath>
                  </m:oMathPara>
                </a14:m>
                <a:endParaRPr lang="en-US" altLang="ja-JP" b="0" dirty="0"/>
              </a:p>
              <a:p>
                <a:endParaRPr lang="en-US" dirty="0"/>
              </a:p>
              <a:p>
                <a:pPr/>
                <a14:m>
                  <m:oMathPara xmlns:m="http://schemas.openxmlformats.org/officeDocument/2006/math">
                    <m:oMathParaPr>
                      <m:jc m:val="centerGroup"/>
                    </m:oMathParaPr>
                    <m:oMath xmlns:m="http://schemas.openxmlformats.org/officeDocument/2006/math">
                      <m:sSubSup>
                        <m:sSubSupPr>
                          <m:ctrlPr>
                            <a:rPr lang="en-US" i="1" smtClean="0">
                              <a:latin typeface="Cambria Math" panose="02040503050406030204" pitchFamily="18" charset="0"/>
                            </a:rPr>
                          </m:ctrlPr>
                        </m:sSubSupPr>
                        <m:e>
                          <m:r>
                            <a:rPr lang="en-US" i="1" smtClean="0">
                              <a:latin typeface="Cambria Math" panose="02040503050406030204" pitchFamily="18" charset="0"/>
                              <a:ea typeface="Cambria Math" panose="02040503050406030204" pitchFamily="18" charset="0"/>
                            </a:rPr>
                            <m:t>𝛿</m:t>
                          </m:r>
                        </m:e>
                        <m:sub>
                          <m:r>
                            <a:rPr lang="en-US" b="0" i="1" smtClean="0">
                              <a:latin typeface="Cambria Math" panose="02040503050406030204" pitchFamily="18" charset="0"/>
                            </a:rPr>
                            <m:t>𝑡</m:t>
                          </m:r>
                        </m:sub>
                        <m:sup>
                          <m:r>
                            <a:rPr lang="en-US" b="0" i="1" smtClean="0">
                              <a:latin typeface="Cambria Math" panose="02040503050406030204" pitchFamily="18" charset="0"/>
                            </a:rPr>
                            <m:t>𝑄</m:t>
                          </m:r>
                        </m:sup>
                      </m:sSub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r>
                        <a:rPr lang="en-US">
                          <a:latin typeface="Cambria Math" panose="02040503050406030204" pitchFamily="18" charset="0"/>
                        </a:rPr>
                        <m:t>･</m:t>
                      </m:r>
                      <m:func>
                        <m:funcPr>
                          <m:ctrlPr>
                            <a:rPr lang="en-US" i="1" smtClean="0">
                              <a:latin typeface="Cambria Math" panose="02040503050406030204" pitchFamily="18" charset="0"/>
                            </a:rPr>
                          </m:ctrlPr>
                        </m:funcPr>
                        <m:fName>
                          <m:limLow>
                            <m:limLowPr>
                              <m:ctrlPr>
                                <a:rPr lang="en-US" i="1" smtClean="0">
                                  <a:latin typeface="Cambria Math" panose="02040503050406030204" pitchFamily="18" charset="0"/>
                                </a:rPr>
                              </m:ctrlPr>
                            </m:limLowPr>
                            <m:e>
                              <m:r>
                                <m:rPr>
                                  <m:sty m:val="p"/>
                                </m:rPr>
                                <a:rPr lang="en-US" i="0" smtClean="0">
                                  <a:latin typeface="Cambria Math" panose="02040503050406030204" pitchFamily="18" charset="0"/>
                                </a:rPr>
                                <m:t>max</m:t>
                              </m:r>
                            </m:e>
                            <m:lim>
                              <m:sSup>
                                <m:sSupPr>
                                  <m:ctrlPr>
                                    <a:rPr lang="en-US" i="1" smtClean="0">
                                      <a:latin typeface="Cambria Math" panose="02040503050406030204" pitchFamily="18" charset="0"/>
                                    </a:rPr>
                                  </m:ctrlPr>
                                </m:sSupPr>
                                <m:e>
                                  <m:r>
                                    <a:rPr lang="en-US" b="0" i="1" smtClean="0">
                                      <a:latin typeface="Cambria Math" panose="02040503050406030204" pitchFamily="18" charset="0"/>
                                    </a:rPr>
                                    <m:t>𝑎</m:t>
                                  </m:r>
                                </m:e>
                                <m:sup>
                                  <m:r>
                                    <a:rPr lang="en-US" b="0" i="1" smtClean="0">
                                      <a:latin typeface="Cambria Math" panose="02040503050406030204" pitchFamily="18" charset="0"/>
                                    </a:rPr>
                                    <m:t>′</m:t>
                                  </m:r>
                                </m:sup>
                              </m:sSup>
                              <m:r>
                                <a:rPr lang="en-US" i="1" smtClean="0">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𝒜</m:t>
                              </m:r>
                            </m:lim>
                          </m:limLow>
                        </m:fName>
                        <m:e>
                          <m:sSup>
                            <m:sSupPr>
                              <m:ctrlPr>
                                <a:rPr lang="en-US" i="1" smtClean="0">
                                  <a:latin typeface="Cambria Math" panose="02040503050406030204" pitchFamily="18" charset="0"/>
                                </a:rPr>
                              </m:ctrlPr>
                            </m:sSupPr>
                            <m:e>
                              <m:acc>
                                <m:accPr>
                                  <m:chr m:val="̂"/>
                                  <m:ctrlPr>
                                    <a:rPr lang="en-US" i="1">
                                      <a:latin typeface="Cambria Math" panose="02040503050406030204" pitchFamily="18" charset="0"/>
                                    </a:rPr>
                                  </m:ctrlPr>
                                </m:accPr>
                                <m:e>
                                  <m:r>
                                    <a:rPr lang="en-US" i="1">
                                      <a:latin typeface="Cambria Math" panose="02040503050406030204" pitchFamily="18" charset="0"/>
                                    </a:rPr>
                                    <m:t>𝑄</m:t>
                                  </m:r>
                                </m:e>
                              </m:acc>
                            </m:e>
                            <m:sup>
                              <m:r>
                                <a:rPr lang="en-US" i="1">
                                  <a:latin typeface="Cambria Math" panose="02040503050406030204" pitchFamily="18" charset="0"/>
                                </a:rPr>
                                <m:t>∗</m:t>
                              </m:r>
                            </m:sup>
                          </m:sSup>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𝑎</m:t>
                                  </m:r>
                                </m:e>
                                <m:sup>
                                  <m:r>
                                    <a:rPr lang="en-US" b="0" i="1" smtClean="0">
                                      <a:latin typeface="Cambria Math" panose="02040503050406030204" pitchFamily="18" charset="0"/>
                                    </a:rPr>
                                    <m:t>′</m:t>
                                  </m:r>
                                </m:sup>
                              </m:sSup>
                            </m:e>
                          </m:d>
                          <m:r>
                            <a:rPr lang="en-US" b="0" i="1" smtClean="0">
                              <a:latin typeface="Cambria Math" panose="02040503050406030204" pitchFamily="18" charset="0"/>
                            </a:rPr>
                            <m:t>−</m:t>
                          </m:r>
                        </m:e>
                      </m:func>
                      <m:sSup>
                        <m:sSupPr>
                          <m:ctrlPr>
                            <a:rPr lang="en-US" i="1">
                              <a:latin typeface="Cambria Math" panose="02040503050406030204" pitchFamily="18" charset="0"/>
                            </a:rPr>
                          </m:ctrlPr>
                        </m:sSupPr>
                        <m:e>
                          <m:acc>
                            <m:accPr>
                              <m:chr m:val="̂"/>
                              <m:ctrlPr>
                                <a:rPr lang="en-US" i="1">
                                  <a:latin typeface="Cambria Math" panose="02040503050406030204" pitchFamily="18" charset="0"/>
                                </a:rPr>
                              </m:ctrlPr>
                            </m:accPr>
                            <m:e>
                              <m:r>
                                <a:rPr lang="en-US" i="1">
                                  <a:latin typeface="Cambria Math" panose="02040503050406030204" pitchFamily="18" charset="0"/>
                                </a:rPr>
                                <m:t>𝑄</m:t>
                              </m:r>
                            </m:e>
                          </m:acc>
                        </m:e>
                        <m:sup>
                          <m:r>
                            <a:rPr lang="en-US" i="1">
                              <a:latin typeface="Cambria Math" panose="02040503050406030204" pitchFamily="18" charset="0"/>
                            </a:rPr>
                            <m:t>∗</m:t>
                          </m:r>
                        </m:sup>
                      </m:sSup>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i="1">
                                  <a:latin typeface="Cambria Math" panose="02040503050406030204" pitchFamily="18" charset="0"/>
                                </a:rPr>
                                <m:t>𝑡</m:t>
                              </m:r>
                            </m:sub>
                          </m:sSub>
                        </m:e>
                      </m:d>
                      <m:r>
                        <a:rPr lang="ja-JP" altLang="en-US" i="1" smtClean="0">
                          <a:latin typeface="Cambria Math" panose="02040503050406030204" pitchFamily="18" charset="0"/>
                        </a:rPr>
                        <m:t>　</m:t>
                      </m:r>
                      <m:d>
                        <m:dPr>
                          <m:ctrlPr>
                            <a:rPr lang="en-US" altLang="ja-JP" b="0" i="1" smtClean="0">
                              <a:latin typeface="Cambria Math" panose="02040503050406030204" pitchFamily="18" charset="0"/>
                            </a:rPr>
                          </m:ctrlPr>
                        </m:dPr>
                        <m:e>
                          <m:r>
                            <a:rPr lang="en-US" altLang="ja-JP" b="0" i="1" smtClean="0">
                              <a:latin typeface="Cambria Math" panose="02040503050406030204" pitchFamily="18" charset="0"/>
                            </a:rPr>
                            <m:t>17</m:t>
                          </m:r>
                        </m:e>
                      </m:d>
                    </m:oMath>
                  </m:oMathPara>
                </a14:m>
                <a:endParaRPr lang="en-US" altLang="ja-JP" b="0" dirty="0"/>
              </a:p>
              <a:p>
                <a:endParaRPr lang="en-US" b="1" dirty="0"/>
              </a:p>
              <a:p>
                <a:pP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𝜋</m:t>
                          </m:r>
                        </m:e>
                        <m:sup>
                          <m:r>
                            <a:rPr lang="en-US" b="0" i="1" smtClean="0">
                              <a:latin typeface="Cambria Math" panose="02040503050406030204" pitchFamily="18" charset="0"/>
                            </a:rPr>
                            <m:t>𝑛𝑒𝑤</m:t>
                          </m:r>
                        </m:sup>
                      </m:sSup>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𝜀</m:t>
                      </m:r>
                      <m:r>
                        <a:rPr lang="en-US" altLang="ja-JP" i="1">
                          <a:latin typeface="Cambria Math" panose="02040503050406030204" pitchFamily="18" charset="0"/>
                          <a:ea typeface="Cambria Math" panose="02040503050406030204" pitchFamily="18" charset="0"/>
                        </a:rPr>
                        <m:t>‐</m:t>
                      </m:r>
                      <m:r>
                        <m:rPr>
                          <m:sty m:val="p"/>
                        </m:rPr>
                        <a:rPr lang="en-US" altLang="ja-JP" b="0" i="0" smtClean="0">
                          <a:latin typeface="Cambria Math" panose="02040503050406030204" pitchFamily="18" charset="0"/>
                          <a:ea typeface="Cambria Math" panose="02040503050406030204" pitchFamily="18" charset="0"/>
                        </a:rPr>
                        <m:t>greedy</m:t>
                      </m:r>
                      <m:sSup>
                        <m:sSupPr>
                          <m:ctrlPr>
                            <a:rPr lang="en-US" i="1">
                              <a:latin typeface="Cambria Math" panose="02040503050406030204" pitchFamily="18" charset="0"/>
                            </a:rPr>
                          </m:ctrlPr>
                        </m:sSupPr>
                        <m:e>
                          <m:acc>
                            <m:accPr>
                              <m:chr m:val="̂"/>
                              <m:ctrlPr>
                                <a:rPr lang="en-US" i="1">
                                  <a:latin typeface="Cambria Math" panose="02040503050406030204" pitchFamily="18" charset="0"/>
                                </a:rPr>
                              </m:ctrlPr>
                            </m:accPr>
                            <m:e>
                              <m:r>
                                <a:rPr lang="en-US" i="1">
                                  <a:latin typeface="Cambria Math" panose="02040503050406030204" pitchFamily="18" charset="0"/>
                                </a:rPr>
                                <m:t>𝑄</m:t>
                              </m:r>
                            </m:e>
                          </m:acc>
                        </m:e>
                        <m:sup>
                          <m:r>
                            <a:rPr lang="en-US" i="1">
                              <a:latin typeface="Cambria Math" panose="02040503050406030204" pitchFamily="18" charset="0"/>
                            </a:rPr>
                            <m:t>∗</m:t>
                          </m:r>
                        </m:sup>
                      </m:sSup>
                    </m:oMath>
                  </m:oMathPara>
                </a14:m>
                <a:endParaRPr lang="en-US" dirty="0"/>
              </a:p>
            </p:txBody>
          </p:sp>
        </mc:Choice>
        <mc:Fallback xmlns="">
          <p:sp>
            <p:nvSpPr>
              <p:cNvPr id="2" name="コンテンツ プレースホルダー 1">
                <a:extLst>
                  <a:ext uri="{FF2B5EF4-FFF2-40B4-BE49-F238E27FC236}">
                    <a16:creationId xmlns:a16="http://schemas.microsoft.com/office/drawing/2014/main" id="{4D51444D-7E4C-D818-3F0A-A2A19FB17305}"/>
                  </a:ext>
                </a:extLst>
              </p:cNvPr>
              <p:cNvSpPr>
                <a:spLocks noGrp="1" noRot="1" noChangeAspect="1" noMove="1" noResize="1" noEditPoints="1" noAdjustHandles="1" noChangeArrowheads="1" noChangeShapeType="1" noTextEdit="1"/>
              </p:cNvSpPr>
              <p:nvPr>
                <p:ph sz="quarter" idx="17"/>
              </p:nvPr>
            </p:nvSpPr>
            <p:spPr>
              <a:xfrm>
                <a:off x="302312" y="848455"/>
                <a:ext cx="9285210" cy="5309975"/>
              </a:xfrm>
              <a:blipFill>
                <a:blip r:embed="rId2"/>
                <a:stretch>
                  <a:fillRect l="-394" t="-115"/>
                </a:stretch>
              </a:blipFill>
            </p:spPr>
            <p:txBody>
              <a:bodyPr/>
              <a:lstStyle/>
              <a:p>
                <a:r>
                  <a:rPr lang="en-US">
                    <a:noFill/>
                  </a:rPr>
                  <a:t> </a:t>
                </a:r>
              </a:p>
            </p:txBody>
          </p:sp>
        </mc:Fallback>
      </mc:AlternateContent>
      <p:sp>
        <p:nvSpPr>
          <p:cNvPr id="3" name="コンテンツ プレースホルダー 2">
            <a:extLst>
              <a:ext uri="{FF2B5EF4-FFF2-40B4-BE49-F238E27FC236}">
                <a16:creationId xmlns:a16="http://schemas.microsoft.com/office/drawing/2014/main" id="{3119B244-8380-EB91-35E2-72AEB36DAC67}"/>
              </a:ext>
            </a:extLst>
          </p:cNvPr>
          <p:cNvSpPr>
            <a:spLocks noGrp="1"/>
          </p:cNvSpPr>
          <p:nvPr>
            <p:ph sz="quarter" idx="16"/>
          </p:nvPr>
        </p:nvSpPr>
        <p:spPr>
          <a:xfrm>
            <a:off x="123824" y="93599"/>
            <a:ext cx="9096375" cy="525214"/>
          </a:xfrm>
        </p:spPr>
        <p:txBody>
          <a:bodyPr/>
          <a:lstStyle/>
          <a:p>
            <a:r>
              <a:rPr lang="en-US" dirty="0"/>
              <a:t>3.3 Train agents </a:t>
            </a:r>
            <a:br>
              <a:rPr lang="en-US" dirty="0"/>
            </a:br>
            <a:r>
              <a:rPr lang="en-US" dirty="0"/>
              <a:t>	Learning</a:t>
            </a:r>
            <a:r>
              <a:rPr lang="ja-JP" altLang="en-US" dirty="0"/>
              <a:t> </a:t>
            </a:r>
            <a:r>
              <a:rPr lang="en-US" altLang="ja-JP" dirty="0"/>
              <a:t>method: Multi Agent Q Reinforcement Learning (Q-MARL)</a:t>
            </a:r>
            <a:endParaRPr lang="en-US" dirty="0"/>
          </a:p>
        </p:txBody>
      </p:sp>
      <mc:AlternateContent xmlns:mc="http://schemas.openxmlformats.org/markup-compatibility/2006" xmlns:a14="http://schemas.microsoft.com/office/drawing/2010/main">
        <mc:Choice Requires="a14">
          <p:graphicFrame>
            <p:nvGraphicFramePr>
              <p:cNvPr id="4" name="表 3">
                <a:extLst>
                  <a:ext uri="{FF2B5EF4-FFF2-40B4-BE49-F238E27FC236}">
                    <a16:creationId xmlns:a16="http://schemas.microsoft.com/office/drawing/2014/main" id="{C931A9E8-BC4D-C2D3-FDC4-EE4BF56B880B}"/>
                  </a:ext>
                </a:extLst>
              </p:cNvPr>
              <p:cNvGraphicFramePr>
                <a:graphicFrameLocks noGrp="1"/>
              </p:cNvGraphicFramePr>
              <p:nvPr>
                <p:extLst>
                  <p:ext uri="{D42A27DB-BD31-4B8C-83A1-F6EECF244321}">
                    <p14:modId xmlns:p14="http://schemas.microsoft.com/office/powerpoint/2010/main" val="715651402"/>
                  </p:ext>
                </p:extLst>
              </p:nvPr>
            </p:nvGraphicFramePr>
            <p:xfrm>
              <a:off x="561660" y="3253499"/>
              <a:ext cx="8142511" cy="3754583"/>
            </p:xfrm>
            <a:graphic>
              <a:graphicData uri="http://schemas.openxmlformats.org/drawingml/2006/table">
                <a:tbl>
                  <a:tblPr bandRow="1">
                    <a:tableStyleId>{5C22544A-7EE6-4342-B048-85BDC9FD1C3A}</a:tableStyleId>
                  </a:tblPr>
                  <a:tblGrid>
                    <a:gridCol w="1159822">
                      <a:extLst>
                        <a:ext uri="{9D8B030D-6E8A-4147-A177-3AD203B41FA5}">
                          <a16:colId xmlns:a16="http://schemas.microsoft.com/office/drawing/2014/main" val="2815638221"/>
                        </a:ext>
                      </a:extLst>
                    </a:gridCol>
                    <a:gridCol w="273133">
                      <a:extLst>
                        <a:ext uri="{9D8B030D-6E8A-4147-A177-3AD203B41FA5}">
                          <a16:colId xmlns:a16="http://schemas.microsoft.com/office/drawing/2014/main" val="3280904105"/>
                        </a:ext>
                      </a:extLst>
                    </a:gridCol>
                    <a:gridCol w="6709556">
                      <a:extLst>
                        <a:ext uri="{9D8B030D-6E8A-4147-A177-3AD203B41FA5}">
                          <a16:colId xmlns:a16="http://schemas.microsoft.com/office/drawing/2014/main" val="2064586492"/>
                        </a:ext>
                      </a:extLst>
                    </a:gridCol>
                  </a:tblGrid>
                  <a:tr h="536369">
                    <a:tc>
                      <a:txBody>
                        <a:bodyPr/>
                        <a:lstStyle/>
                        <a:p>
                          <a:pPr/>
                          <a14:m>
                            <m:oMathPara xmlns:m="http://schemas.openxmlformats.org/officeDocument/2006/math">
                              <m:oMathParaPr>
                                <m:jc m:val="left"/>
                              </m:oMathParaPr>
                              <m:oMath xmlns:m="http://schemas.openxmlformats.org/officeDocument/2006/math">
                                <m:sSub>
                                  <m:sSubPr>
                                    <m:ctrlPr>
                                      <a:rPr lang="en-US" sz="1600" b="0" i="1" smtClean="0">
                                        <a:latin typeface="Cambria Math" panose="02040503050406030204" pitchFamily="18" charset="0"/>
                                        <a:ea typeface="Cambria Math" panose="02040503050406030204" pitchFamily="18" charset="0"/>
                                      </a:rPr>
                                    </m:ctrlPr>
                                  </m:sSubPr>
                                  <m:e>
                                    <m:r>
                                      <a:rPr lang="en-US" sz="1600" b="0" i="1" smtClean="0">
                                        <a:latin typeface="Cambria Math" panose="02040503050406030204" pitchFamily="18" charset="0"/>
                                        <a:ea typeface="Cambria Math" panose="02040503050406030204" pitchFamily="18" charset="0"/>
                                      </a:rPr>
                                      <m:t>𝑠</m:t>
                                    </m:r>
                                  </m:e>
                                  <m:sub>
                                    <m:r>
                                      <a:rPr lang="en-US" sz="1600" b="0" i="1" smtClean="0">
                                        <a:latin typeface="Cambria Math" panose="02040503050406030204" pitchFamily="18" charset="0"/>
                                        <a:ea typeface="Cambria Math" panose="02040503050406030204" pitchFamily="18" charset="0"/>
                                      </a:rPr>
                                      <m:t>𝑡</m:t>
                                    </m:r>
                                  </m:sub>
                                </m:sSub>
                                <m:r>
                                  <a:rPr lang="en-US" sz="1600" b="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𝒮</m:t>
                                </m:r>
                              </m:oMath>
                            </m:oMathPara>
                          </a14:m>
                          <a:endParaRPr lang="en-US" sz="1600" dirty="0"/>
                        </a:p>
                      </a:txBody>
                      <a:tcPr>
                        <a:no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600" dirty="0"/>
                            <a:t>:</a:t>
                          </a:r>
                        </a:p>
                      </a:txBody>
                      <a:tcPr>
                        <a:noFill/>
                      </a:tcPr>
                    </a:tc>
                    <a:tc>
                      <a:txBody>
                        <a:bodyPr/>
                        <a:lstStyle/>
                        <a:p>
                          <a:r>
                            <a:rPr lang="en-US" altLang="ja-JP" sz="1600" dirty="0"/>
                            <a:t>The</a:t>
                          </a:r>
                          <a:r>
                            <a:rPr lang="en-US" altLang="ja-JP" sz="1600" baseline="0" dirty="0"/>
                            <a:t> s</a:t>
                          </a:r>
                          <a:r>
                            <a:rPr lang="en-US" altLang="ja-JP" sz="1600" dirty="0"/>
                            <a:t>tate at time </a:t>
                          </a:r>
                          <a14:m>
                            <m:oMath xmlns:m="http://schemas.openxmlformats.org/officeDocument/2006/math">
                              <m:r>
                                <a:rPr lang="en-US" altLang="ja-JP" sz="1600" b="0" i="1" smtClean="0">
                                  <a:latin typeface="Cambria Math" panose="02040503050406030204" pitchFamily="18" charset="0"/>
                                </a:rPr>
                                <m:t>𝑡</m:t>
                              </m:r>
                            </m:oMath>
                          </a14:m>
                          <a:r>
                            <a:rPr lang="en-US" sz="1600" dirty="0"/>
                            <a:t> and the set of all possible states</a:t>
                          </a:r>
                        </a:p>
                      </a:txBody>
                      <a:tcPr>
                        <a:noFill/>
                      </a:tcPr>
                    </a:tc>
                    <a:extLst>
                      <a:ext uri="{0D108BD9-81ED-4DB2-BD59-A6C34878D82A}">
                        <a16:rowId xmlns:a16="http://schemas.microsoft.com/office/drawing/2014/main" val="585328255"/>
                      </a:ext>
                    </a:extLst>
                  </a:tr>
                  <a:tr h="536369">
                    <a:tc>
                      <a:txBody>
                        <a:bodyPr/>
                        <a:lstStyle/>
                        <a:p>
                          <a:pPr/>
                          <a14:m>
                            <m:oMathPara xmlns:m="http://schemas.openxmlformats.org/officeDocument/2006/math">
                              <m:oMathParaPr>
                                <m:jc m:val="left"/>
                              </m:oMathParaPr>
                              <m:oMath xmlns:m="http://schemas.openxmlformats.org/officeDocument/2006/math">
                                <m:sSub>
                                  <m:sSubPr>
                                    <m:ctrlPr>
                                      <a:rPr lang="en-US" sz="1600" i="1" smtClean="0">
                                        <a:latin typeface="Cambria Math" panose="02040503050406030204" pitchFamily="18" charset="0"/>
                                        <a:ea typeface="Cambria Math" panose="02040503050406030204" pitchFamily="18" charset="0"/>
                                      </a:rPr>
                                    </m:ctrlPr>
                                  </m:sSubPr>
                                  <m:e>
                                    <m:r>
                                      <a:rPr lang="en-US" sz="1600" b="0" i="1" smtClean="0">
                                        <a:latin typeface="Cambria Math" panose="02040503050406030204" pitchFamily="18" charset="0"/>
                                        <a:ea typeface="Cambria Math" panose="02040503050406030204" pitchFamily="18" charset="0"/>
                                      </a:rPr>
                                      <m:t>𝑎</m:t>
                                    </m:r>
                                  </m:e>
                                  <m:sub>
                                    <m:r>
                                      <a:rPr lang="en-US" sz="1600" b="0" i="1" smtClean="0">
                                        <a:latin typeface="Cambria Math" panose="02040503050406030204" pitchFamily="18" charset="0"/>
                                        <a:ea typeface="Cambria Math" panose="02040503050406030204" pitchFamily="18" charset="0"/>
                                      </a:rPr>
                                      <m:t>𝑡</m:t>
                                    </m:r>
                                  </m:sub>
                                </m:sSub>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𝒜</m:t>
                                </m:r>
                              </m:oMath>
                            </m:oMathPara>
                          </a14:m>
                          <a:endParaRPr lang="en-US" sz="1600" dirty="0"/>
                        </a:p>
                      </a:txBody>
                      <a:tcPr>
                        <a:no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600" dirty="0"/>
                            <a:t>:</a:t>
                          </a:r>
                        </a:p>
                      </a:txBody>
                      <a:tcPr>
                        <a:no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altLang="ja-JP" sz="1600" dirty="0"/>
                            <a:t>The action at time </a:t>
                          </a:r>
                          <a14:m>
                            <m:oMath xmlns:m="http://schemas.openxmlformats.org/officeDocument/2006/math">
                              <m:r>
                                <a:rPr lang="en-US" altLang="ja-JP" sz="1600" b="0" i="1" smtClean="0">
                                  <a:latin typeface="Cambria Math" panose="02040503050406030204" pitchFamily="18" charset="0"/>
                                </a:rPr>
                                <m:t>𝑡</m:t>
                              </m:r>
                            </m:oMath>
                          </a14:m>
                          <a:r>
                            <a:rPr lang="en-US" sz="1600" dirty="0"/>
                            <a:t> and the set of all possible actions</a:t>
                          </a:r>
                        </a:p>
                      </a:txBody>
                      <a:tcPr>
                        <a:noFill/>
                      </a:tcPr>
                    </a:tc>
                    <a:extLst>
                      <a:ext uri="{0D108BD9-81ED-4DB2-BD59-A6C34878D82A}">
                        <a16:rowId xmlns:a16="http://schemas.microsoft.com/office/drawing/2014/main" val="2567745939"/>
                      </a:ext>
                    </a:extLst>
                  </a:tr>
                  <a:tr h="536369">
                    <a:tc>
                      <a:txBody>
                        <a:bodyPr/>
                        <a:lstStyle/>
                        <a:p>
                          <a:pPr/>
                          <a14:m>
                            <m:oMathPara xmlns:m="http://schemas.openxmlformats.org/officeDocument/2006/math">
                              <m:oMathParaPr>
                                <m:jc m:val="left"/>
                              </m:oMathParaPr>
                              <m:oMath xmlns:m="http://schemas.openxmlformats.org/officeDocument/2006/math">
                                <m:sSup>
                                  <m:sSupPr>
                                    <m:ctrlPr>
                                      <a:rPr lang="en-US" sz="1600" b="0" i="1" smtClean="0">
                                        <a:latin typeface="Cambria Math" panose="02040503050406030204" pitchFamily="18" charset="0"/>
                                      </a:rPr>
                                    </m:ctrlPr>
                                  </m:sSupPr>
                                  <m:e>
                                    <m:acc>
                                      <m:accPr>
                                        <m:chr m:val="̂"/>
                                        <m:ctrlPr>
                                          <a:rPr lang="en-US" sz="1600" b="0" i="1" smtClean="0">
                                            <a:latin typeface="Cambria Math" panose="02040503050406030204" pitchFamily="18" charset="0"/>
                                          </a:rPr>
                                        </m:ctrlPr>
                                      </m:accPr>
                                      <m:e>
                                        <m:r>
                                          <a:rPr lang="en-US" sz="1600" b="0" i="1" smtClean="0">
                                            <a:latin typeface="Cambria Math" panose="02040503050406030204" pitchFamily="18" charset="0"/>
                                          </a:rPr>
                                          <m:t>𝑄</m:t>
                                        </m:r>
                                      </m:e>
                                    </m:acc>
                                  </m:e>
                                  <m:sup>
                                    <m:r>
                                      <a:rPr lang="en-US" sz="1600" b="0" i="1" smtClean="0">
                                        <a:latin typeface="Cambria Math" panose="02040503050406030204" pitchFamily="18" charset="0"/>
                                      </a:rPr>
                                      <m:t>∗</m:t>
                                    </m:r>
                                  </m:sup>
                                </m:sSup>
                              </m:oMath>
                            </m:oMathPara>
                          </a14:m>
                          <a:endParaRPr lang="en-US" sz="1600" dirty="0"/>
                        </a:p>
                      </a:txBody>
                      <a:tcPr>
                        <a:noFill/>
                      </a:tcPr>
                    </a:tc>
                    <a:tc>
                      <a:txBody>
                        <a:bodyPr/>
                        <a:lstStyle/>
                        <a:p>
                          <a:r>
                            <a:rPr lang="en-US" sz="1600" dirty="0"/>
                            <a:t>:</a:t>
                          </a:r>
                        </a:p>
                      </a:txBody>
                      <a:tcPr>
                        <a:noFill/>
                      </a:tcPr>
                    </a:tc>
                    <a:tc>
                      <a:txBody>
                        <a:bodyPr/>
                        <a:lstStyle/>
                        <a:p>
                          <a:r>
                            <a:rPr lang="en-US" sz="1600" dirty="0"/>
                            <a:t>Estimated optimal action-value function</a:t>
                          </a:r>
                        </a:p>
                      </a:txBody>
                      <a:tcPr>
                        <a:noFill/>
                      </a:tcPr>
                    </a:tc>
                    <a:extLst>
                      <a:ext uri="{0D108BD9-81ED-4DB2-BD59-A6C34878D82A}">
                        <a16:rowId xmlns:a16="http://schemas.microsoft.com/office/drawing/2014/main" val="1172270262"/>
                      </a:ext>
                    </a:extLst>
                  </a:tr>
                  <a:tr h="536369">
                    <a:tc>
                      <a:txBody>
                        <a:bodyPr/>
                        <a:lstStyle/>
                        <a:p>
                          <a:pPr/>
                          <a14:m>
                            <m:oMathPara xmlns:m="http://schemas.openxmlformats.org/officeDocument/2006/math">
                              <m:oMathParaPr>
                                <m:jc m:val="left"/>
                              </m:oMathParaPr>
                              <m:oMath xmlns:m="http://schemas.openxmlformats.org/officeDocument/2006/math">
                                <m:sSubSup>
                                  <m:sSubSupPr>
                                    <m:ctrlPr>
                                      <a:rPr lang="en-US" sz="1600" i="1" smtClean="0">
                                        <a:latin typeface="Cambria Math" panose="02040503050406030204" pitchFamily="18" charset="0"/>
                                      </a:rPr>
                                    </m:ctrlPr>
                                  </m:sSubSupPr>
                                  <m:e>
                                    <m:r>
                                      <a:rPr lang="en-US" sz="1600" i="1">
                                        <a:latin typeface="Cambria Math" panose="02040503050406030204" pitchFamily="18" charset="0"/>
                                        <a:ea typeface="Cambria Math" panose="02040503050406030204" pitchFamily="18" charset="0"/>
                                      </a:rPr>
                                      <m:t>𝛿</m:t>
                                    </m:r>
                                  </m:e>
                                  <m:sub>
                                    <m:r>
                                      <a:rPr lang="en-US" sz="1600" i="1">
                                        <a:latin typeface="Cambria Math" panose="02040503050406030204" pitchFamily="18" charset="0"/>
                                      </a:rPr>
                                      <m:t>𝑡</m:t>
                                    </m:r>
                                  </m:sub>
                                  <m:sup>
                                    <m:r>
                                      <a:rPr lang="en-US" sz="1600" i="1">
                                        <a:latin typeface="Cambria Math" panose="02040503050406030204" pitchFamily="18" charset="0"/>
                                      </a:rPr>
                                      <m:t>𝑄</m:t>
                                    </m:r>
                                  </m:sup>
                                </m:sSubSup>
                              </m:oMath>
                            </m:oMathPara>
                          </a14:m>
                          <a:endParaRPr lang="en-US" sz="1600" dirty="0"/>
                        </a:p>
                      </a:txBody>
                      <a:tcPr>
                        <a:noFill/>
                      </a:tcPr>
                    </a:tc>
                    <a:tc>
                      <a:txBody>
                        <a:bodyPr/>
                        <a:lstStyle/>
                        <a:p>
                          <a:r>
                            <a:rPr lang="en-US" sz="1600" dirty="0"/>
                            <a:t>:</a:t>
                          </a:r>
                        </a:p>
                      </a:txBody>
                      <a:tcPr>
                        <a:noFill/>
                      </a:tcPr>
                    </a:tc>
                    <a:tc>
                      <a:txBody>
                        <a:bodyPr/>
                        <a:lstStyle/>
                        <a:p>
                          <a:r>
                            <a:rPr lang="en-US" altLang="ja-JP" sz="1600" dirty="0"/>
                            <a:t>TD</a:t>
                          </a:r>
                          <a:r>
                            <a:rPr lang="ja-JP" altLang="en-US" sz="1600" dirty="0"/>
                            <a:t> </a:t>
                          </a:r>
                          <a:r>
                            <a:rPr lang="en-US" altLang="ja-JP" sz="1600" dirty="0"/>
                            <a:t>error</a:t>
                          </a:r>
                          <a:endParaRPr lang="en-US" sz="1600" dirty="0"/>
                        </a:p>
                      </a:txBody>
                      <a:tcPr>
                        <a:noFill/>
                      </a:tcPr>
                    </a:tc>
                    <a:extLst>
                      <a:ext uri="{0D108BD9-81ED-4DB2-BD59-A6C34878D82A}">
                        <a16:rowId xmlns:a16="http://schemas.microsoft.com/office/drawing/2014/main" val="4272089726"/>
                      </a:ext>
                    </a:extLst>
                  </a:tr>
                  <a:tr h="536369">
                    <a:tc>
                      <a:txBody>
                        <a:bodyPr/>
                        <a:lstStyle/>
                        <a:p>
                          <a:pPr/>
                          <a14:m>
                            <m:oMathPara xmlns:m="http://schemas.openxmlformats.org/officeDocument/2006/math">
                              <m:oMathParaPr>
                                <m:jc m:val="left"/>
                              </m:oMathParaPr>
                              <m:oMath xmlns:m="http://schemas.openxmlformats.org/officeDocument/2006/math">
                                <m:r>
                                  <a:rPr lang="en-US" sz="1600" i="1" smtClean="0">
                                    <a:latin typeface="Cambria Math" panose="02040503050406030204" pitchFamily="18" charset="0"/>
                                    <a:ea typeface="Cambria Math" panose="02040503050406030204" pitchFamily="18" charset="0"/>
                                  </a:rPr>
                                  <m:t>𝜋</m:t>
                                </m:r>
                              </m:oMath>
                            </m:oMathPara>
                          </a14:m>
                          <a:endParaRPr lang="en-US" sz="1600" dirty="0"/>
                        </a:p>
                      </a:txBody>
                      <a:tcPr>
                        <a:noFill/>
                      </a:tcPr>
                    </a:tc>
                    <a:tc>
                      <a:txBody>
                        <a:bodyPr/>
                        <a:lstStyle/>
                        <a:p>
                          <a:r>
                            <a:rPr lang="en-US" sz="1600" dirty="0"/>
                            <a:t>:</a:t>
                          </a:r>
                        </a:p>
                      </a:txBody>
                      <a:tcPr>
                        <a:noFill/>
                      </a:tcPr>
                    </a:tc>
                    <a:tc>
                      <a:txBody>
                        <a:bodyPr/>
                        <a:lstStyle/>
                        <a:p>
                          <a:r>
                            <a:rPr lang="en-US" sz="1600" dirty="0"/>
                            <a:t>Policy</a:t>
                          </a:r>
                        </a:p>
                      </a:txBody>
                      <a:tcPr>
                        <a:noFill/>
                      </a:tcPr>
                    </a:tc>
                    <a:extLst>
                      <a:ext uri="{0D108BD9-81ED-4DB2-BD59-A6C34878D82A}">
                        <a16:rowId xmlns:a16="http://schemas.microsoft.com/office/drawing/2014/main" val="199082574"/>
                      </a:ext>
                    </a:extLst>
                  </a:tr>
                  <a:tr h="536369">
                    <a:tc>
                      <a:txBody>
                        <a:bodyPr/>
                        <a:lstStyle/>
                        <a:p>
                          <a:pPr/>
                          <a14:m>
                            <m:oMathPara xmlns:m="http://schemas.openxmlformats.org/officeDocument/2006/math">
                              <m:oMathParaPr>
                                <m:jc m:val="left"/>
                              </m:oMathParaPr>
                              <m:oMath xmlns:m="http://schemas.openxmlformats.org/officeDocument/2006/math">
                                <m:r>
                                  <a:rPr lang="en-US" sz="1600" b="0" i="1" smtClean="0">
                                    <a:latin typeface="Cambria Math" panose="02040503050406030204" pitchFamily="18" charset="0"/>
                                  </a:rPr>
                                  <m:t>𝑎</m:t>
                                </m:r>
                              </m:oMath>
                            </m:oMathPara>
                          </a14:m>
                          <a:endParaRPr lang="en-US" sz="1600" dirty="0"/>
                        </a:p>
                      </a:txBody>
                      <a:tcPr>
                        <a:noFill/>
                      </a:tcPr>
                    </a:tc>
                    <a:tc>
                      <a:txBody>
                        <a:bodyPr/>
                        <a:lstStyle/>
                        <a:p>
                          <a:r>
                            <a:rPr lang="en-US" sz="1600" dirty="0"/>
                            <a:t>:</a:t>
                          </a:r>
                        </a:p>
                      </a:txBody>
                      <a:tcPr>
                        <a:noFill/>
                      </a:tcPr>
                    </a:tc>
                    <a:tc>
                      <a:txBody>
                        <a:bodyPr/>
                        <a:lstStyle/>
                        <a:p>
                          <a:r>
                            <a:rPr lang="en-US" sz="1600" dirty="0"/>
                            <a:t>Learning</a:t>
                          </a:r>
                          <a:r>
                            <a:rPr lang="ja-JP" altLang="en-US" sz="1600" dirty="0"/>
                            <a:t> </a:t>
                          </a:r>
                          <a:r>
                            <a:rPr lang="en-US" altLang="ja-JP" sz="1600" dirty="0"/>
                            <a:t>rate</a:t>
                          </a:r>
                          <a:endParaRPr lang="en-US" sz="1600" dirty="0"/>
                        </a:p>
                      </a:txBody>
                      <a:tcPr>
                        <a:noFill/>
                      </a:tcPr>
                    </a:tc>
                    <a:extLst>
                      <a:ext uri="{0D108BD9-81ED-4DB2-BD59-A6C34878D82A}">
                        <a16:rowId xmlns:a16="http://schemas.microsoft.com/office/drawing/2014/main" val="938949808"/>
                      </a:ext>
                    </a:extLst>
                  </a:tr>
                  <a:tr h="536369">
                    <a:tc>
                      <a:txBody>
                        <a:bodyPr/>
                        <a:lstStyle/>
                        <a:p>
                          <a:pPr/>
                          <a14:m>
                            <m:oMathPara xmlns:m="http://schemas.openxmlformats.org/officeDocument/2006/math">
                              <m:oMathParaPr>
                                <m:jc m:val="left"/>
                              </m:oMathParaPr>
                              <m:oMath xmlns:m="http://schemas.openxmlformats.org/officeDocument/2006/math">
                                <m:r>
                                  <a:rPr lang="en-US" sz="1600" i="1" smtClean="0">
                                    <a:latin typeface="Cambria Math" panose="02040503050406030204" pitchFamily="18" charset="0"/>
                                    <a:ea typeface="Cambria Math" panose="02040503050406030204" pitchFamily="18" charset="0"/>
                                  </a:rPr>
                                  <m:t>𝛾</m:t>
                                </m:r>
                              </m:oMath>
                            </m:oMathPara>
                          </a14:m>
                          <a:endParaRPr lang="en-US" sz="1600" dirty="0"/>
                        </a:p>
                      </a:txBody>
                      <a:tcPr>
                        <a:noFill/>
                      </a:tcPr>
                    </a:tc>
                    <a:tc>
                      <a:txBody>
                        <a:bodyPr/>
                        <a:lstStyle/>
                        <a:p>
                          <a:r>
                            <a:rPr lang="en-US" sz="1600" dirty="0"/>
                            <a:t>:</a:t>
                          </a:r>
                        </a:p>
                      </a:txBody>
                      <a:tcPr>
                        <a:noFill/>
                      </a:tcPr>
                    </a:tc>
                    <a:tc>
                      <a:txBody>
                        <a:bodyPr/>
                        <a:lstStyle/>
                        <a:p>
                          <a:r>
                            <a:rPr lang="en-US" sz="1600" dirty="0"/>
                            <a:t>Discount</a:t>
                          </a:r>
                          <a:r>
                            <a:rPr lang="ja-JP" altLang="en-US" sz="1600" dirty="0"/>
                            <a:t> </a:t>
                          </a:r>
                          <a:r>
                            <a:rPr lang="en-US" altLang="ja-JP" sz="1600" dirty="0"/>
                            <a:t>rate</a:t>
                          </a:r>
                          <a:endParaRPr lang="en-US" sz="1600" dirty="0"/>
                        </a:p>
                      </a:txBody>
                      <a:tcPr>
                        <a:noFill/>
                      </a:tcPr>
                    </a:tc>
                    <a:extLst>
                      <a:ext uri="{0D108BD9-81ED-4DB2-BD59-A6C34878D82A}">
                        <a16:rowId xmlns:a16="http://schemas.microsoft.com/office/drawing/2014/main" val="1744219217"/>
                      </a:ext>
                    </a:extLst>
                  </a:tr>
                </a:tbl>
              </a:graphicData>
            </a:graphic>
          </p:graphicFrame>
        </mc:Choice>
        <mc:Fallback xmlns="">
          <p:graphicFrame>
            <p:nvGraphicFramePr>
              <p:cNvPr id="4" name="表 3">
                <a:extLst>
                  <a:ext uri="{FF2B5EF4-FFF2-40B4-BE49-F238E27FC236}">
                    <a16:creationId xmlns:a16="http://schemas.microsoft.com/office/drawing/2014/main" id="{C931A9E8-BC4D-C2D3-FDC4-EE4BF56B880B}"/>
                  </a:ext>
                </a:extLst>
              </p:cNvPr>
              <p:cNvGraphicFramePr>
                <a:graphicFrameLocks noGrp="1"/>
              </p:cNvGraphicFramePr>
              <p:nvPr>
                <p:extLst>
                  <p:ext uri="{D42A27DB-BD31-4B8C-83A1-F6EECF244321}">
                    <p14:modId xmlns:p14="http://schemas.microsoft.com/office/powerpoint/2010/main" val="715651402"/>
                  </p:ext>
                </p:extLst>
              </p:nvPr>
            </p:nvGraphicFramePr>
            <p:xfrm>
              <a:off x="561660" y="3253499"/>
              <a:ext cx="8142511" cy="3754583"/>
            </p:xfrm>
            <a:graphic>
              <a:graphicData uri="http://schemas.openxmlformats.org/drawingml/2006/table">
                <a:tbl>
                  <a:tblPr bandRow="1">
                    <a:tableStyleId>{5C22544A-7EE6-4342-B048-85BDC9FD1C3A}</a:tableStyleId>
                  </a:tblPr>
                  <a:tblGrid>
                    <a:gridCol w="1159822">
                      <a:extLst>
                        <a:ext uri="{9D8B030D-6E8A-4147-A177-3AD203B41FA5}">
                          <a16:colId xmlns:a16="http://schemas.microsoft.com/office/drawing/2014/main" val="2815638221"/>
                        </a:ext>
                      </a:extLst>
                    </a:gridCol>
                    <a:gridCol w="273133">
                      <a:extLst>
                        <a:ext uri="{9D8B030D-6E8A-4147-A177-3AD203B41FA5}">
                          <a16:colId xmlns:a16="http://schemas.microsoft.com/office/drawing/2014/main" val="3280904105"/>
                        </a:ext>
                      </a:extLst>
                    </a:gridCol>
                    <a:gridCol w="6709556">
                      <a:extLst>
                        <a:ext uri="{9D8B030D-6E8A-4147-A177-3AD203B41FA5}">
                          <a16:colId xmlns:a16="http://schemas.microsoft.com/office/drawing/2014/main" val="2064586492"/>
                        </a:ext>
                      </a:extLst>
                    </a:gridCol>
                  </a:tblGrid>
                  <a:tr h="536369">
                    <a:tc>
                      <a:txBody>
                        <a:bodyPr/>
                        <a:lstStyle/>
                        <a:p>
                          <a:endParaRPr lang="en-US"/>
                        </a:p>
                      </a:txBody>
                      <a:tcPr>
                        <a:blipFill>
                          <a:blip r:embed="rId3"/>
                          <a:stretch>
                            <a:fillRect l="-526" t="-3409" r="-604211" b="-603409"/>
                          </a:stretch>
                        </a:blip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600" dirty="0"/>
                            <a:t>:</a:t>
                          </a:r>
                        </a:p>
                      </a:txBody>
                      <a:tcPr>
                        <a:noFill/>
                      </a:tcPr>
                    </a:tc>
                    <a:tc>
                      <a:txBody>
                        <a:bodyPr/>
                        <a:lstStyle/>
                        <a:p>
                          <a:endParaRPr lang="en-US"/>
                        </a:p>
                      </a:txBody>
                      <a:tcPr>
                        <a:blipFill>
                          <a:blip r:embed="rId3"/>
                          <a:stretch>
                            <a:fillRect l="-21435" t="-3409" r="-182" b="-603409"/>
                          </a:stretch>
                        </a:blipFill>
                      </a:tcPr>
                    </a:tc>
                    <a:extLst>
                      <a:ext uri="{0D108BD9-81ED-4DB2-BD59-A6C34878D82A}">
                        <a16:rowId xmlns:a16="http://schemas.microsoft.com/office/drawing/2014/main" val="585328255"/>
                      </a:ext>
                    </a:extLst>
                  </a:tr>
                  <a:tr h="536369">
                    <a:tc>
                      <a:txBody>
                        <a:bodyPr/>
                        <a:lstStyle/>
                        <a:p>
                          <a:endParaRPr lang="en-US"/>
                        </a:p>
                      </a:txBody>
                      <a:tcPr>
                        <a:blipFill>
                          <a:blip r:embed="rId3"/>
                          <a:stretch>
                            <a:fillRect l="-526" t="-103409" r="-604211" b="-503409"/>
                          </a:stretch>
                        </a:blip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600" dirty="0"/>
                            <a:t>:</a:t>
                          </a:r>
                        </a:p>
                      </a:txBody>
                      <a:tcPr>
                        <a:noFill/>
                      </a:tcPr>
                    </a:tc>
                    <a:tc>
                      <a:txBody>
                        <a:bodyPr/>
                        <a:lstStyle/>
                        <a:p>
                          <a:endParaRPr lang="en-US"/>
                        </a:p>
                      </a:txBody>
                      <a:tcPr>
                        <a:blipFill>
                          <a:blip r:embed="rId3"/>
                          <a:stretch>
                            <a:fillRect l="-21435" t="-103409" r="-182" b="-503409"/>
                          </a:stretch>
                        </a:blipFill>
                      </a:tcPr>
                    </a:tc>
                    <a:extLst>
                      <a:ext uri="{0D108BD9-81ED-4DB2-BD59-A6C34878D82A}">
                        <a16:rowId xmlns:a16="http://schemas.microsoft.com/office/drawing/2014/main" val="2567745939"/>
                      </a:ext>
                    </a:extLst>
                  </a:tr>
                  <a:tr h="536369">
                    <a:tc>
                      <a:txBody>
                        <a:bodyPr/>
                        <a:lstStyle/>
                        <a:p>
                          <a:endParaRPr lang="en-US"/>
                        </a:p>
                      </a:txBody>
                      <a:tcPr>
                        <a:blipFill>
                          <a:blip r:embed="rId3"/>
                          <a:stretch>
                            <a:fillRect l="-526" t="-203409" r="-604211" b="-403409"/>
                          </a:stretch>
                        </a:blipFill>
                      </a:tcPr>
                    </a:tc>
                    <a:tc>
                      <a:txBody>
                        <a:bodyPr/>
                        <a:lstStyle/>
                        <a:p>
                          <a:r>
                            <a:rPr lang="en-US" sz="1600" dirty="0"/>
                            <a:t>:</a:t>
                          </a:r>
                        </a:p>
                      </a:txBody>
                      <a:tcPr>
                        <a:noFill/>
                      </a:tcPr>
                    </a:tc>
                    <a:tc>
                      <a:txBody>
                        <a:bodyPr/>
                        <a:lstStyle/>
                        <a:p>
                          <a:r>
                            <a:rPr lang="en-US" sz="1600" dirty="0"/>
                            <a:t>Estimated optimal action-value function</a:t>
                          </a:r>
                        </a:p>
                      </a:txBody>
                      <a:tcPr>
                        <a:noFill/>
                      </a:tcPr>
                    </a:tc>
                    <a:extLst>
                      <a:ext uri="{0D108BD9-81ED-4DB2-BD59-A6C34878D82A}">
                        <a16:rowId xmlns:a16="http://schemas.microsoft.com/office/drawing/2014/main" val="1172270262"/>
                      </a:ext>
                    </a:extLst>
                  </a:tr>
                  <a:tr h="536369">
                    <a:tc>
                      <a:txBody>
                        <a:bodyPr/>
                        <a:lstStyle/>
                        <a:p>
                          <a:endParaRPr lang="en-US"/>
                        </a:p>
                      </a:txBody>
                      <a:tcPr>
                        <a:blipFill>
                          <a:blip r:embed="rId3"/>
                          <a:stretch>
                            <a:fillRect l="-526" t="-300000" r="-604211" b="-298876"/>
                          </a:stretch>
                        </a:blipFill>
                      </a:tcPr>
                    </a:tc>
                    <a:tc>
                      <a:txBody>
                        <a:bodyPr/>
                        <a:lstStyle/>
                        <a:p>
                          <a:r>
                            <a:rPr lang="en-US" sz="1600" dirty="0"/>
                            <a:t>:</a:t>
                          </a:r>
                        </a:p>
                      </a:txBody>
                      <a:tcPr>
                        <a:noFill/>
                      </a:tcPr>
                    </a:tc>
                    <a:tc>
                      <a:txBody>
                        <a:bodyPr/>
                        <a:lstStyle/>
                        <a:p>
                          <a:r>
                            <a:rPr lang="en-US" altLang="ja-JP" sz="1600" dirty="0"/>
                            <a:t>TD</a:t>
                          </a:r>
                          <a:r>
                            <a:rPr lang="ja-JP" altLang="en-US" sz="1600" dirty="0"/>
                            <a:t> </a:t>
                          </a:r>
                          <a:r>
                            <a:rPr lang="en-US" altLang="ja-JP" sz="1600" dirty="0"/>
                            <a:t>error</a:t>
                          </a:r>
                          <a:endParaRPr lang="en-US" sz="1600" dirty="0"/>
                        </a:p>
                      </a:txBody>
                      <a:tcPr>
                        <a:noFill/>
                      </a:tcPr>
                    </a:tc>
                    <a:extLst>
                      <a:ext uri="{0D108BD9-81ED-4DB2-BD59-A6C34878D82A}">
                        <a16:rowId xmlns:a16="http://schemas.microsoft.com/office/drawing/2014/main" val="4272089726"/>
                      </a:ext>
                    </a:extLst>
                  </a:tr>
                  <a:tr h="536369">
                    <a:tc>
                      <a:txBody>
                        <a:bodyPr/>
                        <a:lstStyle/>
                        <a:p>
                          <a:endParaRPr lang="en-US"/>
                        </a:p>
                      </a:txBody>
                      <a:tcPr>
                        <a:blipFill>
                          <a:blip r:embed="rId3"/>
                          <a:stretch>
                            <a:fillRect l="-526" t="-404545" r="-604211" b="-202273"/>
                          </a:stretch>
                        </a:blipFill>
                      </a:tcPr>
                    </a:tc>
                    <a:tc>
                      <a:txBody>
                        <a:bodyPr/>
                        <a:lstStyle/>
                        <a:p>
                          <a:r>
                            <a:rPr lang="en-US" sz="1600" dirty="0"/>
                            <a:t>:</a:t>
                          </a:r>
                        </a:p>
                      </a:txBody>
                      <a:tcPr>
                        <a:noFill/>
                      </a:tcPr>
                    </a:tc>
                    <a:tc>
                      <a:txBody>
                        <a:bodyPr/>
                        <a:lstStyle/>
                        <a:p>
                          <a:r>
                            <a:rPr lang="en-US" sz="1600" dirty="0"/>
                            <a:t>Policy</a:t>
                          </a:r>
                        </a:p>
                      </a:txBody>
                      <a:tcPr>
                        <a:noFill/>
                      </a:tcPr>
                    </a:tc>
                    <a:extLst>
                      <a:ext uri="{0D108BD9-81ED-4DB2-BD59-A6C34878D82A}">
                        <a16:rowId xmlns:a16="http://schemas.microsoft.com/office/drawing/2014/main" val="199082574"/>
                      </a:ext>
                    </a:extLst>
                  </a:tr>
                  <a:tr h="536369">
                    <a:tc>
                      <a:txBody>
                        <a:bodyPr/>
                        <a:lstStyle/>
                        <a:p>
                          <a:endParaRPr lang="en-US"/>
                        </a:p>
                      </a:txBody>
                      <a:tcPr>
                        <a:blipFill>
                          <a:blip r:embed="rId3"/>
                          <a:stretch>
                            <a:fillRect l="-526" t="-504545" r="-604211" b="-102273"/>
                          </a:stretch>
                        </a:blipFill>
                      </a:tcPr>
                    </a:tc>
                    <a:tc>
                      <a:txBody>
                        <a:bodyPr/>
                        <a:lstStyle/>
                        <a:p>
                          <a:r>
                            <a:rPr lang="en-US" sz="1600" dirty="0"/>
                            <a:t>:</a:t>
                          </a:r>
                        </a:p>
                      </a:txBody>
                      <a:tcPr>
                        <a:noFill/>
                      </a:tcPr>
                    </a:tc>
                    <a:tc>
                      <a:txBody>
                        <a:bodyPr/>
                        <a:lstStyle/>
                        <a:p>
                          <a:r>
                            <a:rPr lang="en-US" sz="1600" dirty="0"/>
                            <a:t>Learning</a:t>
                          </a:r>
                          <a:r>
                            <a:rPr lang="ja-JP" altLang="en-US" sz="1600" dirty="0"/>
                            <a:t> </a:t>
                          </a:r>
                          <a:r>
                            <a:rPr lang="en-US" altLang="ja-JP" sz="1600" dirty="0"/>
                            <a:t>rate</a:t>
                          </a:r>
                          <a:endParaRPr lang="en-US" sz="1600" dirty="0"/>
                        </a:p>
                      </a:txBody>
                      <a:tcPr>
                        <a:noFill/>
                      </a:tcPr>
                    </a:tc>
                    <a:extLst>
                      <a:ext uri="{0D108BD9-81ED-4DB2-BD59-A6C34878D82A}">
                        <a16:rowId xmlns:a16="http://schemas.microsoft.com/office/drawing/2014/main" val="938949808"/>
                      </a:ext>
                    </a:extLst>
                  </a:tr>
                  <a:tr h="536369">
                    <a:tc>
                      <a:txBody>
                        <a:bodyPr/>
                        <a:lstStyle/>
                        <a:p>
                          <a:endParaRPr lang="en-US"/>
                        </a:p>
                      </a:txBody>
                      <a:tcPr>
                        <a:blipFill>
                          <a:blip r:embed="rId3"/>
                          <a:stretch>
                            <a:fillRect l="-526" t="-604545" r="-604211" b="-2273"/>
                          </a:stretch>
                        </a:blipFill>
                      </a:tcPr>
                    </a:tc>
                    <a:tc>
                      <a:txBody>
                        <a:bodyPr/>
                        <a:lstStyle/>
                        <a:p>
                          <a:r>
                            <a:rPr lang="en-US" sz="1600" dirty="0"/>
                            <a:t>:</a:t>
                          </a:r>
                        </a:p>
                      </a:txBody>
                      <a:tcPr>
                        <a:noFill/>
                      </a:tcPr>
                    </a:tc>
                    <a:tc>
                      <a:txBody>
                        <a:bodyPr/>
                        <a:lstStyle/>
                        <a:p>
                          <a:r>
                            <a:rPr lang="en-US" sz="1600" dirty="0"/>
                            <a:t>Discount</a:t>
                          </a:r>
                          <a:r>
                            <a:rPr lang="ja-JP" altLang="en-US" sz="1600" dirty="0"/>
                            <a:t> </a:t>
                          </a:r>
                          <a:r>
                            <a:rPr lang="en-US" altLang="ja-JP" sz="1600" dirty="0"/>
                            <a:t>rate</a:t>
                          </a:r>
                          <a:endParaRPr lang="en-US" sz="1600" dirty="0"/>
                        </a:p>
                      </a:txBody>
                      <a:tcPr>
                        <a:noFill/>
                      </a:tcPr>
                    </a:tc>
                    <a:extLst>
                      <a:ext uri="{0D108BD9-81ED-4DB2-BD59-A6C34878D82A}">
                        <a16:rowId xmlns:a16="http://schemas.microsoft.com/office/drawing/2014/main" val="1744219217"/>
                      </a:ext>
                    </a:extLst>
                  </a:tr>
                </a:tbl>
              </a:graphicData>
            </a:graphic>
          </p:graphicFrame>
        </mc:Fallback>
      </mc:AlternateContent>
      <p:graphicFrame>
        <p:nvGraphicFramePr>
          <p:cNvPr id="6" name="表 5">
            <a:extLst>
              <a:ext uri="{FF2B5EF4-FFF2-40B4-BE49-F238E27FC236}">
                <a16:creationId xmlns:a16="http://schemas.microsoft.com/office/drawing/2014/main" id="{16A0DEBA-F22F-8F9C-DBDC-6E6E88EF385E}"/>
              </a:ext>
            </a:extLst>
          </p:cNvPr>
          <p:cNvGraphicFramePr>
            <a:graphicFrameLocks noGrp="1"/>
          </p:cNvGraphicFramePr>
          <p:nvPr>
            <p:extLst>
              <p:ext uri="{D42A27DB-BD31-4B8C-83A1-F6EECF244321}">
                <p14:modId xmlns:p14="http://schemas.microsoft.com/office/powerpoint/2010/main" val="261421314"/>
              </p:ext>
            </p:extLst>
          </p:nvPr>
        </p:nvGraphicFramePr>
        <p:xfrm>
          <a:off x="7255329" y="4369740"/>
          <a:ext cx="2459224" cy="2018332"/>
        </p:xfrm>
        <a:graphic>
          <a:graphicData uri="http://schemas.openxmlformats.org/drawingml/2006/table">
            <a:tbl>
              <a:tblPr firstRow="1" bandRow="1">
                <a:tableStyleId>{073A0DAA-6AF3-43AB-8588-CEC1D06C72B9}</a:tableStyleId>
              </a:tblPr>
              <a:tblGrid>
                <a:gridCol w="1758043">
                  <a:extLst>
                    <a:ext uri="{9D8B030D-6E8A-4147-A177-3AD203B41FA5}">
                      <a16:colId xmlns:a16="http://schemas.microsoft.com/office/drawing/2014/main" val="2081844268"/>
                    </a:ext>
                  </a:extLst>
                </a:gridCol>
                <a:gridCol w="701181">
                  <a:extLst>
                    <a:ext uri="{9D8B030D-6E8A-4147-A177-3AD203B41FA5}">
                      <a16:colId xmlns:a16="http://schemas.microsoft.com/office/drawing/2014/main" val="2099169623"/>
                    </a:ext>
                  </a:extLst>
                </a:gridCol>
              </a:tblGrid>
              <a:tr h="378853">
                <a:tc>
                  <a:txBody>
                    <a:bodyPr/>
                    <a:lstStyle/>
                    <a:p>
                      <a:r>
                        <a:rPr lang="en-US" dirty="0"/>
                        <a:t>Learning parameter</a:t>
                      </a:r>
                    </a:p>
                  </a:txBody>
                  <a:tcPr/>
                </a:tc>
                <a:tc>
                  <a:txBody>
                    <a:bodyPr/>
                    <a:lstStyle/>
                    <a:p>
                      <a:r>
                        <a:rPr lang="en-US" dirty="0"/>
                        <a:t>Value</a:t>
                      </a:r>
                    </a:p>
                  </a:txBody>
                  <a:tcPr/>
                </a:tc>
                <a:extLst>
                  <a:ext uri="{0D108BD9-81ED-4DB2-BD59-A6C34878D82A}">
                    <a16:rowId xmlns:a16="http://schemas.microsoft.com/office/drawing/2014/main" val="1061694334"/>
                  </a:ext>
                </a:extLst>
              </a:tr>
              <a:tr h="378853">
                <a:tc>
                  <a:txBody>
                    <a:bodyPr/>
                    <a:lstStyle/>
                    <a:p>
                      <a:r>
                        <a:rPr lang="en-US" dirty="0"/>
                        <a:t>Discount rate</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350" b="0" kern="1200" dirty="0">
                          <a:solidFill>
                            <a:schemeClr val="dk1"/>
                          </a:solidFill>
                          <a:effectLst/>
                          <a:latin typeface="+mn-lt"/>
                          <a:ea typeface="+mn-ea"/>
                          <a:cs typeface="+mn-cs"/>
                        </a:rPr>
                        <a:t>0.99</a:t>
                      </a:r>
                    </a:p>
                  </a:txBody>
                  <a:tcPr/>
                </a:tc>
                <a:extLst>
                  <a:ext uri="{0D108BD9-81ED-4DB2-BD59-A6C34878D82A}">
                    <a16:rowId xmlns:a16="http://schemas.microsoft.com/office/drawing/2014/main" val="484519250"/>
                  </a:ext>
                </a:extLst>
              </a:tr>
              <a:tr h="378853">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dirty="0"/>
                        <a:t>Learning rate</a:t>
                      </a:r>
                    </a:p>
                  </a:txBody>
                  <a:tcPr/>
                </a:tc>
                <a:tc>
                  <a:txBody>
                    <a:bodyPr/>
                    <a:lstStyle/>
                    <a:p>
                      <a:r>
                        <a:rPr lang="en-US" dirty="0"/>
                        <a:t>0.1</a:t>
                      </a:r>
                    </a:p>
                  </a:txBody>
                  <a:tcPr/>
                </a:tc>
                <a:extLst>
                  <a:ext uri="{0D108BD9-81ED-4DB2-BD59-A6C34878D82A}">
                    <a16:rowId xmlns:a16="http://schemas.microsoft.com/office/drawing/2014/main" val="2329611386"/>
                  </a:ext>
                </a:extLst>
              </a:tr>
              <a:tr h="378853">
                <a:tc>
                  <a:txBody>
                    <a:bodyPr/>
                    <a:lstStyle/>
                    <a:p>
                      <a:r>
                        <a:rPr lang="en-US" dirty="0"/>
                        <a:t>Episode</a:t>
                      </a:r>
                    </a:p>
                  </a:txBody>
                  <a:tcPr/>
                </a:tc>
                <a:tc>
                  <a:txBody>
                    <a:bodyPr/>
                    <a:lstStyle/>
                    <a:p>
                      <a:r>
                        <a:rPr lang="en-US" dirty="0"/>
                        <a:t>100</a:t>
                      </a:r>
                    </a:p>
                  </a:txBody>
                  <a:tcPr/>
                </a:tc>
                <a:extLst>
                  <a:ext uri="{0D108BD9-81ED-4DB2-BD59-A6C34878D82A}">
                    <a16:rowId xmlns:a16="http://schemas.microsoft.com/office/drawing/2014/main" val="2435684139"/>
                  </a:ext>
                </a:extLst>
              </a:tr>
              <a:tr h="378853">
                <a:tc>
                  <a:txBody>
                    <a:bodyPr/>
                    <a:lstStyle/>
                    <a:p>
                      <a:r>
                        <a:rPr lang="en-US" dirty="0"/>
                        <a:t>Number of environment</a:t>
                      </a:r>
                    </a:p>
                  </a:txBody>
                  <a:tcPr/>
                </a:tc>
                <a:tc>
                  <a:txBody>
                    <a:bodyPr/>
                    <a:lstStyle/>
                    <a:p>
                      <a:r>
                        <a:rPr lang="en-US" dirty="0"/>
                        <a:t>16</a:t>
                      </a:r>
                    </a:p>
                  </a:txBody>
                  <a:tcPr/>
                </a:tc>
                <a:extLst>
                  <a:ext uri="{0D108BD9-81ED-4DB2-BD59-A6C34878D82A}">
                    <a16:rowId xmlns:a16="http://schemas.microsoft.com/office/drawing/2014/main" val="1607011185"/>
                  </a:ext>
                </a:extLst>
              </a:tr>
            </a:tbl>
          </a:graphicData>
        </a:graphic>
      </p:graphicFrame>
    </p:spTree>
    <p:extLst>
      <p:ext uri="{BB962C8B-B14F-4D97-AF65-F5344CB8AC3E}">
        <p14:creationId xmlns:p14="http://schemas.microsoft.com/office/powerpoint/2010/main" val="40425368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正方形/長方形 19">
            <a:extLst>
              <a:ext uri="{FF2B5EF4-FFF2-40B4-BE49-F238E27FC236}">
                <a16:creationId xmlns:a16="http://schemas.microsoft.com/office/drawing/2014/main" id="{C4BF00C5-E315-9504-FB1D-20D762FE4020}"/>
              </a:ext>
            </a:extLst>
          </p:cNvPr>
          <p:cNvSpPr/>
          <p:nvPr/>
        </p:nvSpPr>
        <p:spPr>
          <a:xfrm>
            <a:off x="5413954" y="1557076"/>
            <a:ext cx="4353116" cy="4603569"/>
          </a:xfrm>
          <a:prstGeom prst="rect">
            <a:avLst/>
          </a:prstGeom>
          <a:solidFill>
            <a:schemeClr val="bg1"/>
          </a:solidFill>
          <a:ln>
            <a:solidFill>
              <a:schemeClr val="tx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4791B8E5-498B-86E9-467C-A039CE32E076}"/>
              </a:ext>
            </a:extLst>
          </p:cNvPr>
          <p:cNvSpPr/>
          <p:nvPr/>
        </p:nvSpPr>
        <p:spPr>
          <a:xfrm>
            <a:off x="5191491" y="1333326"/>
            <a:ext cx="4353116" cy="4603569"/>
          </a:xfrm>
          <a:prstGeom prst="rect">
            <a:avLst/>
          </a:prstGeom>
          <a:solidFill>
            <a:schemeClr val="bg1"/>
          </a:solidFill>
          <a:ln>
            <a:solidFill>
              <a:schemeClr val="tx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正方形/長方形 17">
            <a:extLst>
              <a:ext uri="{FF2B5EF4-FFF2-40B4-BE49-F238E27FC236}">
                <a16:creationId xmlns:a16="http://schemas.microsoft.com/office/drawing/2014/main" id="{F56FEA46-8596-8B1C-1E23-E6284ECDB136}"/>
              </a:ext>
            </a:extLst>
          </p:cNvPr>
          <p:cNvSpPr/>
          <p:nvPr/>
        </p:nvSpPr>
        <p:spPr>
          <a:xfrm>
            <a:off x="4962678" y="1105064"/>
            <a:ext cx="4353116" cy="4603569"/>
          </a:xfrm>
          <a:prstGeom prst="rect">
            <a:avLst/>
          </a:prstGeom>
          <a:solidFill>
            <a:schemeClr val="bg1"/>
          </a:solidFill>
          <a:ln>
            <a:solidFill>
              <a:schemeClr val="tx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A011F3EE-894B-B858-8838-872B7A4332CD}"/>
              </a:ext>
            </a:extLst>
          </p:cNvPr>
          <p:cNvSpPr/>
          <p:nvPr/>
        </p:nvSpPr>
        <p:spPr>
          <a:xfrm>
            <a:off x="4746634" y="847075"/>
            <a:ext cx="4353116" cy="4603569"/>
          </a:xfrm>
          <a:prstGeom prst="rect">
            <a:avLst/>
          </a:prstGeom>
          <a:solidFill>
            <a:schemeClr val="bg1"/>
          </a:solidFill>
          <a:ln>
            <a:solidFill>
              <a:schemeClr val="tx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graphicFrame>
            <p:nvGraphicFramePr>
              <p:cNvPr id="8" name="表 7">
                <a:extLst>
                  <a:ext uri="{FF2B5EF4-FFF2-40B4-BE49-F238E27FC236}">
                    <a16:creationId xmlns:a16="http://schemas.microsoft.com/office/drawing/2014/main" id="{CF09B399-26A1-0A35-146B-A04928C2FF33}"/>
                  </a:ext>
                </a:extLst>
              </p:cNvPr>
              <p:cNvGraphicFramePr>
                <a:graphicFrameLocks noGrp="1"/>
              </p:cNvGraphicFramePr>
              <p:nvPr>
                <p:extLst>
                  <p:ext uri="{D42A27DB-BD31-4B8C-83A1-F6EECF244321}">
                    <p14:modId xmlns:p14="http://schemas.microsoft.com/office/powerpoint/2010/main" val="3306499454"/>
                  </p:ext>
                </p:extLst>
              </p:nvPr>
            </p:nvGraphicFramePr>
            <p:xfrm>
              <a:off x="4859246" y="1200195"/>
              <a:ext cx="4084996" cy="1112520"/>
            </p:xfrm>
            <a:graphic>
              <a:graphicData uri="http://schemas.openxmlformats.org/drawingml/2006/table">
                <a:tbl>
                  <a:tblPr firstRow="1" bandRow="1">
                    <a:tableStyleId>{073A0DAA-6AF3-43AB-8588-CEC1D06C72B9}</a:tableStyleId>
                  </a:tblPr>
                  <a:tblGrid>
                    <a:gridCol w="1662212">
                      <a:extLst>
                        <a:ext uri="{9D8B030D-6E8A-4147-A177-3AD203B41FA5}">
                          <a16:colId xmlns:a16="http://schemas.microsoft.com/office/drawing/2014/main" val="1174311812"/>
                        </a:ext>
                      </a:extLst>
                    </a:gridCol>
                    <a:gridCol w="2422784">
                      <a:extLst>
                        <a:ext uri="{9D8B030D-6E8A-4147-A177-3AD203B41FA5}">
                          <a16:colId xmlns:a16="http://schemas.microsoft.com/office/drawing/2014/main" val="2891888585"/>
                        </a:ext>
                      </a:extLst>
                    </a:gridCol>
                  </a:tblGrid>
                  <a:tr h="370840">
                    <a:tc>
                      <a:txBody>
                        <a:bodyPr/>
                        <a:lstStyle/>
                        <a:p>
                          <a:r>
                            <a:rPr lang="en-US" dirty="0"/>
                            <a:t>Parameter</a:t>
                          </a:r>
                        </a:p>
                      </a:txBody>
                      <a:tcPr/>
                    </a:tc>
                    <a:tc>
                      <a:txBody>
                        <a:bodyPr/>
                        <a:lstStyle/>
                        <a:p>
                          <a:pPr/>
                          <a14:m>
                            <m:oMathPara xmlns:m="http://schemas.openxmlformats.org/officeDocument/2006/math">
                              <m:oMathParaPr>
                                <m:jc m:val="centerGroup"/>
                              </m:oMathParaPr>
                              <m:oMath xmlns:m="http://schemas.openxmlformats.org/officeDocument/2006/math">
                                <m:r>
                                  <a:rPr lang="en-US" sz="1400" smtClean="0">
                                    <a:latin typeface="Cambria Math" panose="02040503050406030204" pitchFamily="18" charset="0"/>
                                  </a:rPr>
                                  <m:t>𝒮</m:t>
                                </m:r>
                              </m:oMath>
                            </m:oMathPara>
                          </a14:m>
                          <a:endParaRPr lang="en-US" dirty="0"/>
                        </a:p>
                      </a:txBody>
                      <a:tcPr/>
                    </a:tc>
                    <a:extLst>
                      <a:ext uri="{0D108BD9-81ED-4DB2-BD59-A6C34878D82A}">
                        <a16:rowId xmlns:a16="http://schemas.microsoft.com/office/drawing/2014/main" val="2524292117"/>
                      </a:ext>
                    </a:extLst>
                  </a:tr>
                  <a:tr h="370840">
                    <a:tc>
                      <a:txBody>
                        <a:bodyPr/>
                        <a:lstStyle/>
                        <a:p>
                          <a:r>
                            <a:rPr lang="en-US" dirty="0"/>
                            <a:t>PV ratio [kW/kWh]</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350" b="0" kern="1200" dirty="0">
                              <a:solidFill>
                                <a:schemeClr val="dk1"/>
                              </a:solidFill>
                              <a:effectLst/>
                            </a:rPr>
                            <a:t>Digitized into 20 steps</a:t>
                          </a:r>
                          <a:endParaRPr lang="en-US" sz="1350" b="0" kern="1200" dirty="0">
                            <a:solidFill>
                              <a:schemeClr val="dk1"/>
                            </a:solidFill>
                            <a:effectLst/>
                            <a:latin typeface="+mn-lt"/>
                            <a:ea typeface="+mn-ea"/>
                            <a:cs typeface="+mn-cs"/>
                          </a:endParaRPr>
                        </a:p>
                      </a:txBody>
                      <a:tcPr/>
                    </a:tc>
                    <a:extLst>
                      <a:ext uri="{0D108BD9-81ED-4DB2-BD59-A6C34878D82A}">
                        <a16:rowId xmlns:a16="http://schemas.microsoft.com/office/drawing/2014/main" val="4073534977"/>
                      </a:ext>
                    </a:extLst>
                  </a:tr>
                  <a:tr h="370840">
                    <a:tc>
                      <a:txBody>
                        <a:bodyPr/>
                        <a:lstStyle/>
                        <a:p>
                          <a:r>
                            <a:rPr lang="en-US" dirty="0"/>
                            <a:t>Battery SOC [-]</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350" b="0" kern="1200" dirty="0">
                              <a:solidFill>
                                <a:schemeClr val="dk1"/>
                              </a:solidFill>
                              <a:effectLst/>
                            </a:rPr>
                            <a:t>Digitized into 20 steps</a:t>
                          </a:r>
                          <a:endParaRPr lang="en-US" sz="1350" b="0" kern="1200" dirty="0">
                            <a:solidFill>
                              <a:schemeClr val="dk1"/>
                            </a:solidFill>
                            <a:effectLst/>
                            <a:latin typeface="+mn-lt"/>
                            <a:ea typeface="+mn-ea"/>
                            <a:cs typeface="+mn-cs"/>
                          </a:endParaRPr>
                        </a:p>
                      </a:txBody>
                      <a:tcPr/>
                    </a:tc>
                    <a:extLst>
                      <a:ext uri="{0D108BD9-81ED-4DB2-BD59-A6C34878D82A}">
                        <a16:rowId xmlns:a16="http://schemas.microsoft.com/office/drawing/2014/main" val="2177098339"/>
                      </a:ext>
                    </a:extLst>
                  </a:tr>
                </a:tbl>
              </a:graphicData>
            </a:graphic>
          </p:graphicFrame>
        </mc:Choice>
        <mc:Fallback xmlns="">
          <p:graphicFrame>
            <p:nvGraphicFramePr>
              <p:cNvPr id="8" name="表 7">
                <a:extLst>
                  <a:ext uri="{FF2B5EF4-FFF2-40B4-BE49-F238E27FC236}">
                    <a16:creationId xmlns:a16="http://schemas.microsoft.com/office/drawing/2014/main" id="{CF09B399-26A1-0A35-146B-A04928C2FF33}"/>
                  </a:ext>
                </a:extLst>
              </p:cNvPr>
              <p:cNvGraphicFramePr>
                <a:graphicFrameLocks noGrp="1"/>
              </p:cNvGraphicFramePr>
              <p:nvPr>
                <p:extLst>
                  <p:ext uri="{D42A27DB-BD31-4B8C-83A1-F6EECF244321}">
                    <p14:modId xmlns:p14="http://schemas.microsoft.com/office/powerpoint/2010/main" val="3306499454"/>
                  </p:ext>
                </p:extLst>
              </p:nvPr>
            </p:nvGraphicFramePr>
            <p:xfrm>
              <a:off x="4859246" y="1200195"/>
              <a:ext cx="4084996" cy="1112520"/>
            </p:xfrm>
            <a:graphic>
              <a:graphicData uri="http://schemas.openxmlformats.org/drawingml/2006/table">
                <a:tbl>
                  <a:tblPr firstRow="1" bandRow="1">
                    <a:tableStyleId>{073A0DAA-6AF3-43AB-8588-CEC1D06C72B9}</a:tableStyleId>
                  </a:tblPr>
                  <a:tblGrid>
                    <a:gridCol w="1662212">
                      <a:extLst>
                        <a:ext uri="{9D8B030D-6E8A-4147-A177-3AD203B41FA5}">
                          <a16:colId xmlns:a16="http://schemas.microsoft.com/office/drawing/2014/main" val="1174311812"/>
                        </a:ext>
                      </a:extLst>
                    </a:gridCol>
                    <a:gridCol w="2422784">
                      <a:extLst>
                        <a:ext uri="{9D8B030D-6E8A-4147-A177-3AD203B41FA5}">
                          <a16:colId xmlns:a16="http://schemas.microsoft.com/office/drawing/2014/main" val="2891888585"/>
                        </a:ext>
                      </a:extLst>
                    </a:gridCol>
                  </a:tblGrid>
                  <a:tr h="370840">
                    <a:tc>
                      <a:txBody>
                        <a:bodyPr/>
                        <a:lstStyle/>
                        <a:p>
                          <a:r>
                            <a:rPr lang="en-US" dirty="0"/>
                            <a:t>Parameter</a:t>
                          </a:r>
                        </a:p>
                      </a:txBody>
                      <a:tcPr/>
                    </a:tc>
                    <a:tc>
                      <a:txBody>
                        <a:bodyPr/>
                        <a:lstStyle/>
                        <a:p>
                          <a:endParaRPr lang="ja-JP"/>
                        </a:p>
                      </a:txBody>
                      <a:tcPr>
                        <a:blipFill>
                          <a:blip r:embed="rId2"/>
                          <a:stretch>
                            <a:fillRect l="-68844" t="-3279" r="-1005" b="-204918"/>
                          </a:stretch>
                        </a:blipFill>
                      </a:tcPr>
                    </a:tc>
                    <a:extLst>
                      <a:ext uri="{0D108BD9-81ED-4DB2-BD59-A6C34878D82A}">
                        <a16:rowId xmlns:a16="http://schemas.microsoft.com/office/drawing/2014/main" val="2524292117"/>
                      </a:ext>
                    </a:extLst>
                  </a:tr>
                  <a:tr h="370840">
                    <a:tc>
                      <a:txBody>
                        <a:bodyPr/>
                        <a:lstStyle/>
                        <a:p>
                          <a:r>
                            <a:rPr lang="en-US" dirty="0"/>
                            <a:t>PV ratio [kW/kWh]</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350" b="0" kern="1200" dirty="0">
                              <a:solidFill>
                                <a:schemeClr val="dk1"/>
                              </a:solidFill>
                              <a:effectLst/>
                            </a:rPr>
                            <a:t>Digitized into 20 steps</a:t>
                          </a:r>
                          <a:endParaRPr lang="en-US" sz="1350" b="0" kern="1200" dirty="0">
                            <a:solidFill>
                              <a:schemeClr val="dk1"/>
                            </a:solidFill>
                            <a:effectLst/>
                            <a:latin typeface="+mn-lt"/>
                            <a:ea typeface="+mn-ea"/>
                            <a:cs typeface="+mn-cs"/>
                          </a:endParaRPr>
                        </a:p>
                      </a:txBody>
                      <a:tcPr/>
                    </a:tc>
                    <a:extLst>
                      <a:ext uri="{0D108BD9-81ED-4DB2-BD59-A6C34878D82A}">
                        <a16:rowId xmlns:a16="http://schemas.microsoft.com/office/drawing/2014/main" val="4073534977"/>
                      </a:ext>
                    </a:extLst>
                  </a:tr>
                  <a:tr h="370840">
                    <a:tc>
                      <a:txBody>
                        <a:bodyPr/>
                        <a:lstStyle/>
                        <a:p>
                          <a:r>
                            <a:rPr lang="en-US" dirty="0"/>
                            <a:t>Battery SOC [-]</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350" b="0" kern="1200" dirty="0">
                              <a:solidFill>
                                <a:schemeClr val="dk1"/>
                              </a:solidFill>
                              <a:effectLst/>
                            </a:rPr>
                            <a:t>Digitized into 20 steps</a:t>
                          </a:r>
                          <a:endParaRPr lang="en-US" sz="1350" b="0" kern="1200" dirty="0">
                            <a:solidFill>
                              <a:schemeClr val="dk1"/>
                            </a:solidFill>
                            <a:effectLst/>
                            <a:latin typeface="+mn-lt"/>
                            <a:ea typeface="+mn-ea"/>
                            <a:cs typeface="+mn-cs"/>
                          </a:endParaRPr>
                        </a:p>
                      </a:txBody>
                      <a:tcPr/>
                    </a:tc>
                    <a:extLst>
                      <a:ext uri="{0D108BD9-81ED-4DB2-BD59-A6C34878D82A}">
                        <a16:rowId xmlns:a16="http://schemas.microsoft.com/office/drawing/2014/main" val="217709833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7" name="表 6">
                <a:extLst>
                  <a:ext uri="{FF2B5EF4-FFF2-40B4-BE49-F238E27FC236}">
                    <a16:creationId xmlns:a16="http://schemas.microsoft.com/office/drawing/2014/main" id="{6074D29D-B6F2-49C3-A557-F7E69CC03E96}"/>
                  </a:ext>
                </a:extLst>
              </p:cNvPr>
              <p:cNvGraphicFramePr>
                <a:graphicFrameLocks noGrp="1"/>
              </p:cNvGraphicFramePr>
              <p:nvPr>
                <p:extLst>
                  <p:ext uri="{D42A27DB-BD31-4B8C-83A1-F6EECF244321}">
                    <p14:modId xmlns:p14="http://schemas.microsoft.com/office/powerpoint/2010/main" val="3773386372"/>
                  </p:ext>
                </p:extLst>
              </p:nvPr>
            </p:nvGraphicFramePr>
            <p:xfrm>
              <a:off x="306289" y="1203956"/>
              <a:ext cx="4084997" cy="1112520"/>
            </p:xfrm>
            <a:graphic>
              <a:graphicData uri="http://schemas.openxmlformats.org/drawingml/2006/table">
                <a:tbl>
                  <a:tblPr firstRow="1" bandRow="1">
                    <a:tableStyleId>{073A0DAA-6AF3-43AB-8588-CEC1D06C72B9}</a:tableStyleId>
                  </a:tblPr>
                  <a:tblGrid>
                    <a:gridCol w="1662211">
                      <a:extLst>
                        <a:ext uri="{9D8B030D-6E8A-4147-A177-3AD203B41FA5}">
                          <a16:colId xmlns:a16="http://schemas.microsoft.com/office/drawing/2014/main" val="1174311812"/>
                        </a:ext>
                      </a:extLst>
                    </a:gridCol>
                    <a:gridCol w="2422786">
                      <a:extLst>
                        <a:ext uri="{9D8B030D-6E8A-4147-A177-3AD203B41FA5}">
                          <a16:colId xmlns:a16="http://schemas.microsoft.com/office/drawing/2014/main" val="2891888585"/>
                        </a:ext>
                      </a:extLst>
                    </a:gridCol>
                  </a:tblGrid>
                  <a:tr h="370840">
                    <a:tc>
                      <a:txBody>
                        <a:bodyPr/>
                        <a:lstStyle/>
                        <a:p>
                          <a:r>
                            <a:rPr lang="en-US" dirty="0"/>
                            <a:t>Parameter</a:t>
                          </a:r>
                        </a:p>
                      </a:txBody>
                      <a:tcPr/>
                    </a:tc>
                    <a:tc>
                      <a:txBody>
                        <a:bodyPr/>
                        <a:lstStyle/>
                        <a:p>
                          <a:pPr/>
                          <a14:m>
                            <m:oMathPara xmlns:m="http://schemas.openxmlformats.org/officeDocument/2006/math">
                              <m:oMathParaPr>
                                <m:jc m:val="centerGroup"/>
                              </m:oMathParaPr>
                              <m:oMath xmlns:m="http://schemas.openxmlformats.org/officeDocument/2006/math">
                                <m:r>
                                  <a:rPr lang="en-US" sz="1400" smtClean="0">
                                    <a:latin typeface="Cambria Math" panose="02040503050406030204" pitchFamily="18" charset="0"/>
                                  </a:rPr>
                                  <m:t>𝒮</m:t>
                                </m:r>
                              </m:oMath>
                            </m:oMathPara>
                          </a14:m>
                          <a:endParaRPr lang="en-US" dirty="0"/>
                        </a:p>
                      </a:txBody>
                      <a:tcPr/>
                    </a:tc>
                    <a:extLst>
                      <a:ext uri="{0D108BD9-81ED-4DB2-BD59-A6C34878D82A}">
                        <a16:rowId xmlns:a16="http://schemas.microsoft.com/office/drawing/2014/main" val="2524292117"/>
                      </a:ext>
                    </a:extLst>
                  </a:tr>
                  <a:tr h="370840">
                    <a:tc>
                      <a:txBody>
                        <a:bodyPr/>
                        <a:lstStyle/>
                        <a:p>
                          <a:r>
                            <a:rPr lang="en-US" dirty="0"/>
                            <a:t>PV ratio [kW/kWh]</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350" b="0" kern="1200" dirty="0">
                              <a:solidFill>
                                <a:schemeClr val="dk1"/>
                              </a:solidFill>
                              <a:effectLst/>
                            </a:rPr>
                            <a:t>Digitized into 20 steps</a:t>
                          </a:r>
                          <a:endParaRPr lang="en-US" sz="1350" b="0" kern="1200" dirty="0">
                            <a:solidFill>
                              <a:schemeClr val="dk1"/>
                            </a:solidFill>
                            <a:effectLst/>
                            <a:latin typeface="+mn-lt"/>
                            <a:ea typeface="+mn-ea"/>
                            <a:cs typeface="+mn-cs"/>
                          </a:endParaRPr>
                        </a:p>
                      </a:txBody>
                      <a:tcPr/>
                    </a:tc>
                    <a:extLst>
                      <a:ext uri="{0D108BD9-81ED-4DB2-BD59-A6C34878D82A}">
                        <a16:rowId xmlns:a16="http://schemas.microsoft.com/office/drawing/2014/main" val="4073534977"/>
                      </a:ext>
                    </a:extLst>
                  </a:tr>
                  <a:tr h="370840">
                    <a:tc>
                      <a:txBody>
                        <a:bodyPr/>
                        <a:lstStyle/>
                        <a:p>
                          <a:r>
                            <a:rPr lang="en-US" dirty="0"/>
                            <a:t>Elastic ratio [-]</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350" b="0" kern="1200" dirty="0">
                              <a:solidFill>
                                <a:schemeClr val="dk1"/>
                              </a:solidFill>
                              <a:effectLst/>
                            </a:rPr>
                            <a:t>0.1, 0.3, or 0.5 -&gt; 3 steps</a:t>
                          </a:r>
                          <a:endParaRPr lang="en-US" sz="1350" b="0" kern="1200" dirty="0">
                            <a:solidFill>
                              <a:schemeClr val="dk1"/>
                            </a:solidFill>
                            <a:effectLst/>
                            <a:latin typeface="+mn-lt"/>
                            <a:ea typeface="+mn-ea"/>
                            <a:cs typeface="+mn-cs"/>
                          </a:endParaRPr>
                        </a:p>
                      </a:txBody>
                      <a:tcPr/>
                    </a:tc>
                    <a:extLst>
                      <a:ext uri="{0D108BD9-81ED-4DB2-BD59-A6C34878D82A}">
                        <a16:rowId xmlns:a16="http://schemas.microsoft.com/office/drawing/2014/main" val="2177098339"/>
                      </a:ext>
                    </a:extLst>
                  </a:tr>
                </a:tbl>
              </a:graphicData>
            </a:graphic>
          </p:graphicFrame>
        </mc:Choice>
        <mc:Fallback xmlns="">
          <p:graphicFrame>
            <p:nvGraphicFramePr>
              <p:cNvPr id="7" name="表 6">
                <a:extLst>
                  <a:ext uri="{FF2B5EF4-FFF2-40B4-BE49-F238E27FC236}">
                    <a16:creationId xmlns:a16="http://schemas.microsoft.com/office/drawing/2014/main" id="{6074D29D-B6F2-49C3-A557-F7E69CC03E96}"/>
                  </a:ext>
                </a:extLst>
              </p:cNvPr>
              <p:cNvGraphicFramePr>
                <a:graphicFrameLocks noGrp="1"/>
              </p:cNvGraphicFramePr>
              <p:nvPr>
                <p:extLst>
                  <p:ext uri="{D42A27DB-BD31-4B8C-83A1-F6EECF244321}">
                    <p14:modId xmlns:p14="http://schemas.microsoft.com/office/powerpoint/2010/main" val="3773386372"/>
                  </p:ext>
                </p:extLst>
              </p:nvPr>
            </p:nvGraphicFramePr>
            <p:xfrm>
              <a:off x="306289" y="1203956"/>
              <a:ext cx="4084997" cy="1112520"/>
            </p:xfrm>
            <a:graphic>
              <a:graphicData uri="http://schemas.openxmlformats.org/drawingml/2006/table">
                <a:tbl>
                  <a:tblPr firstRow="1" bandRow="1">
                    <a:tableStyleId>{073A0DAA-6AF3-43AB-8588-CEC1D06C72B9}</a:tableStyleId>
                  </a:tblPr>
                  <a:tblGrid>
                    <a:gridCol w="1662211">
                      <a:extLst>
                        <a:ext uri="{9D8B030D-6E8A-4147-A177-3AD203B41FA5}">
                          <a16:colId xmlns:a16="http://schemas.microsoft.com/office/drawing/2014/main" val="1174311812"/>
                        </a:ext>
                      </a:extLst>
                    </a:gridCol>
                    <a:gridCol w="2422786">
                      <a:extLst>
                        <a:ext uri="{9D8B030D-6E8A-4147-A177-3AD203B41FA5}">
                          <a16:colId xmlns:a16="http://schemas.microsoft.com/office/drawing/2014/main" val="2891888585"/>
                        </a:ext>
                      </a:extLst>
                    </a:gridCol>
                  </a:tblGrid>
                  <a:tr h="370840">
                    <a:tc>
                      <a:txBody>
                        <a:bodyPr/>
                        <a:lstStyle/>
                        <a:p>
                          <a:r>
                            <a:rPr lang="en-US" dirty="0"/>
                            <a:t>Parameter</a:t>
                          </a:r>
                        </a:p>
                      </a:txBody>
                      <a:tcPr/>
                    </a:tc>
                    <a:tc>
                      <a:txBody>
                        <a:bodyPr/>
                        <a:lstStyle/>
                        <a:p>
                          <a:endParaRPr lang="ja-JP"/>
                        </a:p>
                      </a:txBody>
                      <a:tcPr>
                        <a:blipFill>
                          <a:blip r:embed="rId3"/>
                          <a:stretch>
                            <a:fillRect l="-68844" t="-3279" r="-1005" b="-204918"/>
                          </a:stretch>
                        </a:blipFill>
                      </a:tcPr>
                    </a:tc>
                    <a:extLst>
                      <a:ext uri="{0D108BD9-81ED-4DB2-BD59-A6C34878D82A}">
                        <a16:rowId xmlns:a16="http://schemas.microsoft.com/office/drawing/2014/main" val="2524292117"/>
                      </a:ext>
                    </a:extLst>
                  </a:tr>
                  <a:tr h="370840">
                    <a:tc>
                      <a:txBody>
                        <a:bodyPr/>
                        <a:lstStyle/>
                        <a:p>
                          <a:r>
                            <a:rPr lang="en-US" dirty="0"/>
                            <a:t>PV ratio [kW/kWh]</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350" b="0" kern="1200" dirty="0">
                              <a:solidFill>
                                <a:schemeClr val="dk1"/>
                              </a:solidFill>
                              <a:effectLst/>
                            </a:rPr>
                            <a:t>Digitized into 20 steps</a:t>
                          </a:r>
                          <a:endParaRPr lang="en-US" sz="1350" b="0" kern="1200" dirty="0">
                            <a:solidFill>
                              <a:schemeClr val="dk1"/>
                            </a:solidFill>
                            <a:effectLst/>
                            <a:latin typeface="+mn-lt"/>
                            <a:ea typeface="+mn-ea"/>
                            <a:cs typeface="+mn-cs"/>
                          </a:endParaRPr>
                        </a:p>
                      </a:txBody>
                      <a:tcPr/>
                    </a:tc>
                    <a:extLst>
                      <a:ext uri="{0D108BD9-81ED-4DB2-BD59-A6C34878D82A}">
                        <a16:rowId xmlns:a16="http://schemas.microsoft.com/office/drawing/2014/main" val="4073534977"/>
                      </a:ext>
                    </a:extLst>
                  </a:tr>
                  <a:tr h="370840">
                    <a:tc>
                      <a:txBody>
                        <a:bodyPr/>
                        <a:lstStyle/>
                        <a:p>
                          <a:r>
                            <a:rPr lang="en-US" dirty="0"/>
                            <a:t>Elastic ratio [-]</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350" b="0" kern="1200" dirty="0">
                              <a:solidFill>
                                <a:schemeClr val="dk1"/>
                              </a:solidFill>
                              <a:effectLst/>
                            </a:rPr>
                            <a:t>0.1, 0.3, or 0.5 -&gt; 3 steps</a:t>
                          </a:r>
                          <a:endParaRPr lang="en-US" sz="1350" b="0" kern="1200" dirty="0">
                            <a:solidFill>
                              <a:schemeClr val="dk1"/>
                            </a:solidFill>
                            <a:effectLst/>
                            <a:latin typeface="+mn-lt"/>
                            <a:ea typeface="+mn-ea"/>
                            <a:cs typeface="+mn-cs"/>
                          </a:endParaRPr>
                        </a:p>
                      </a:txBody>
                      <a:tcPr/>
                    </a:tc>
                    <a:extLst>
                      <a:ext uri="{0D108BD9-81ED-4DB2-BD59-A6C34878D82A}">
                        <a16:rowId xmlns:a16="http://schemas.microsoft.com/office/drawing/2014/main" val="2177098339"/>
                      </a:ext>
                    </a:extLst>
                  </a:tr>
                </a:tbl>
              </a:graphicData>
            </a:graphic>
          </p:graphicFrame>
        </mc:Fallback>
      </mc:AlternateContent>
      <p:sp>
        <p:nvSpPr>
          <p:cNvPr id="3" name="コンテンツ プレースホルダー 2">
            <a:extLst>
              <a:ext uri="{FF2B5EF4-FFF2-40B4-BE49-F238E27FC236}">
                <a16:creationId xmlns:a16="http://schemas.microsoft.com/office/drawing/2014/main" id="{4ED52CB9-C256-49E8-A1CF-D01BA761D846}"/>
              </a:ext>
            </a:extLst>
          </p:cNvPr>
          <p:cNvSpPr>
            <a:spLocks noGrp="1"/>
          </p:cNvSpPr>
          <p:nvPr>
            <p:ph sz="quarter" idx="16"/>
          </p:nvPr>
        </p:nvSpPr>
        <p:spPr/>
        <p:txBody>
          <a:bodyPr/>
          <a:lstStyle/>
          <a:p>
            <a:r>
              <a:rPr lang="en-US" altLang="ja-JP" dirty="0"/>
              <a:t>3.3.1 </a:t>
            </a:r>
            <a:r>
              <a:rPr lang="en-US" dirty="0"/>
              <a:t>Q table</a:t>
            </a:r>
          </a:p>
        </p:txBody>
      </p:sp>
      <p:sp>
        <p:nvSpPr>
          <p:cNvPr id="5" name="コンテンツ プレースホルダー 1">
            <a:extLst>
              <a:ext uri="{FF2B5EF4-FFF2-40B4-BE49-F238E27FC236}">
                <a16:creationId xmlns:a16="http://schemas.microsoft.com/office/drawing/2014/main" id="{EE82AF60-A327-8741-0484-F0D6D00B7823}"/>
              </a:ext>
            </a:extLst>
          </p:cNvPr>
          <p:cNvSpPr>
            <a:spLocks noGrp="1"/>
          </p:cNvSpPr>
          <p:nvPr>
            <p:ph sz="quarter" idx="17"/>
          </p:nvPr>
        </p:nvSpPr>
        <p:spPr>
          <a:xfrm>
            <a:off x="2082876" y="865334"/>
            <a:ext cx="531003" cy="338622"/>
          </a:xfrm>
        </p:spPr>
        <p:txBody>
          <a:bodyPr/>
          <a:lstStyle/>
          <a:p>
            <a:r>
              <a:rPr lang="en-US" altLang="ja-JP" dirty="0"/>
              <a:t>DR</a:t>
            </a:r>
            <a:r>
              <a:rPr lang="ja-JP" altLang="en-US" dirty="0"/>
              <a:t> </a:t>
            </a:r>
            <a:endParaRPr lang="en-US" dirty="0"/>
          </a:p>
        </p:txBody>
      </p:sp>
      <p:sp>
        <p:nvSpPr>
          <p:cNvPr id="6" name="コンテンツ プレースホルダー 1">
            <a:extLst>
              <a:ext uri="{FF2B5EF4-FFF2-40B4-BE49-F238E27FC236}">
                <a16:creationId xmlns:a16="http://schemas.microsoft.com/office/drawing/2014/main" id="{25AFF237-DC26-F6B8-DF49-74EF3967FE17}"/>
              </a:ext>
            </a:extLst>
          </p:cNvPr>
          <p:cNvSpPr txBox="1">
            <a:spLocks/>
          </p:cNvSpPr>
          <p:nvPr/>
        </p:nvSpPr>
        <p:spPr>
          <a:xfrm>
            <a:off x="6520778" y="865334"/>
            <a:ext cx="1260960" cy="338622"/>
          </a:xfrm>
          <a:prstGeom prst="rect">
            <a:avLst/>
          </a:prstGeom>
        </p:spPr>
        <p:txBody>
          <a:bodyPr/>
          <a:lstStyle>
            <a:lvl1pPr marL="0" indent="0" algn="l" defTabSz="685800" rtl="0" eaLnBrk="1" latinLnBrk="0" hangingPunct="1">
              <a:lnSpc>
                <a:spcPct val="90000"/>
              </a:lnSpc>
              <a:spcBef>
                <a:spcPts val="750"/>
              </a:spcBef>
              <a:buFont typeface="Arial" panose="020B0604020202020204" pitchFamily="34" charset="0"/>
              <a:buNone/>
              <a:defRPr sz="16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altLang="ja-JP" dirty="0"/>
              <a:t>Battery buy</a:t>
            </a:r>
            <a:r>
              <a:rPr lang="ja-JP" altLang="en-US" dirty="0"/>
              <a:t> </a:t>
            </a:r>
            <a:endParaRPr lang="en-US" dirty="0"/>
          </a:p>
        </p:txBody>
      </p:sp>
      <p:sp>
        <p:nvSpPr>
          <p:cNvPr id="10" name="コンテンツ プレースホルダー 1">
            <a:extLst>
              <a:ext uri="{FF2B5EF4-FFF2-40B4-BE49-F238E27FC236}">
                <a16:creationId xmlns:a16="http://schemas.microsoft.com/office/drawing/2014/main" id="{1647F951-017D-1D9A-3F7E-5C8A5F2C7A9E}"/>
              </a:ext>
            </a:extLst>
          </p:cNvPr>
          <p:cNvSpPr txBox="1">
            <a:spLocks/>
          </p:cNvSpPr>
          <p:nvPr/>
        </p:nvSpPr>
        <p:spPr>
          <a:xfrm>
            <a:off x="306290" y="3012598"/>
            <a:ext cx="4084996" cy="940423"/>
          </a:xfrm>
          <a:prstGeom prst="rect">
            <a:avLst/>
          </a:prstGeom>
        </p:spPr>
        <p:txBody>
          <a:bodyPr/>
          <a:lstStyle>
            <a:lvl1pPr marL="0" indent="0" algn="l" defTabSz="685800" rtl="0" eaLnBrk="1" latinLnBrk="0" hangingPunct="1">
              <a:lnSpc>
                <a:spcPct val="90000"/>
              </a:lnSpc>
              <a:spcBef>
                <a:spcPts val="750"/>
              </a:spcBef>
              <a:buFont typeface="Arial" panose="020B0604020202020204" pitchFamily="34" charset="0"/>
              <a:buNone/>
              <a:defRPr sz="16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altLang="ja-JP" dirty="0"/>
              <a:t>Number of column is possible bid prices</a:t>
            </a:r>
            <a:br>
              <a:rPr lang="en-US" altLang="ja-JP" dirty="0"/>
            </a:br>
            <a:r>
              <a:rPr lang="en-US" altLang="ja-JP" dirty="0"/>
              <a:t>(</a:t>
            </a:r>
            <a:r>
              <a:rPr lang="en-US" altLang="ja-JP" dirty="0" err="1"/>
              <a:t>price_max</a:t>
            </a:r>
            <a:r>
              <a:rPr lang="en-US" altLang="ja-JP" dirty="0"/>
              <a:t> – </a:t>
            </a:r>
            <a:r>
              <a:rPr lang="en-US" altLang="ja-JP" dirty="0" err="1"/>
              <a:t>price_min</a:t>
            </a:r>
            <a:r>
              <a:rPr lang="en-US" altLang="ja-JP" dirty="0"/>
              <a:t>) +1</a:t>
            </a:r>
            <a:br>
              <a:rPr lang="en-US" altLang="ja-JP" dirty="0"/>
            </a:br>
            <a:r>
              <a:rPr lang="en-US" altLang="ja-JP" dirty="0"/>
              <a:t>= (120 - 10) +1 </a:t>
            </a:r>
            <a:br>
              <a:rPr lang="en-US" altLang="ja-JP" dirty="0"/>
            </a:br>
            <a:r>
              <a:rPr lang="en-US" altLang="ja-JP" dirty="0"/>
              <a:t>= 111</a:t>
            </a:r>
            <a:endParaRPr lang="en-US" dirty="0"/>
          </a:p>
        </p:txBody>
      </p:sp>
      <p:sp>
        <p:nvSpPr>
          <p:cNvPr id="11" name="コンテンツ プレースホルダー 1">
            <a:extLst>
              <a:ext uri="{FF2B5EF4-FFF2-40B4-BE49-F238E27FC236}">
                <a16:creationId xmlns:a16="http://schemas.microsoft.com/office/drawing/2014/main" id="{4FD5B6A6-6AED-B6CF-7133-1754647229CB}"/>
              </a:ext>
            </a:extLst>
          </p:cNvPr>
          <p:cNvSpPr txBox="1">
            <a:spLocks/>
          </p:cNvSpPr>
          <p:nvPr/>
        </p:nvSpPr>
        <p:spPr>
          <a:xfrm>
            <a:off x="306290" y="4616583"/>
            <a:ext cx="4084996" cy="832802"/>
          </a:xfrm>
          <a:prstGeom prst="rect">
            <a:avLst/>
          </a:prstGeom>
        </p:spPr>
        <p:txBody>
          <a:bodyPr/>
          <a:lstStyle>
            <a:lvl1pPr marL="0" indent="0" algn="l" defTabSz="685800" rtl="0" eaLnBrk="1" latinLnBrk="0" hangingPunct="1">
              <a:lnSpc>
                <a:spcPct val="90000"/>
              </a:lnSpc>
              <a:spcBef>
                <a:spcPts val="750"/>
              </a:spcBef>
              <a:buFont typeface="Arial" panose="020B0604020202020204" pitchFamily="34" charset="0"/>
              <a:buNone/>
              <a:defRPr sz="16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dirty="0"/>
              <a:t>DR q table size  = 20*3 </a:t>
            </a:r>
            <a:r>
              <a:rPr lang="en-US" altLang="ja-JP" dirty="0"/>
              <a:t>× 111</a:t>
            </a:r>
          </a:p>
          <a:p>
            <a:r>
              <a:rPr lang="en-US" dirty="0"/>
              <a:t>	              = 60 </a:t>
            </a:r>
            <a:r>
              <a:rPr lang="en-US" altLang="ja-JP" dirty="0"/>
              <a:t>× 111</a:t>
            </a:r>
            <a:endParaRPr lang="en-US" dirty="0"/>
          </a:p>
        </p:txBody>
      </p:sp>
      <p:sp>
        <p:nvSpPr>
          <p:cNvPr id="12" name="コンテンツ プレースホルダー 1">
            <a:extLst>
              <a:ext uri="{FF2B5EF4-FFF2-40B4-BE49-F238E27FC236}">
                <a16:creationId xmlns:a16="http://schemas.microsoft.com/office/drawing/2014/main" id="{52B303C8-3158-147E-BDC8-BDE68AB56B7F}"/>
              </a:ext>
            </a:extLst>
          </p:cNvPr>
          <p:cNvSpPr txBox="1">
            <a:spLocks/>
          </p:cNvSpPr>
          <p:nvPr/>
        </p:nvSpPr>
        <p:spPr>
          <a:xfrm>
            <a:off x="4785285" y="4616583"/>
            <a:ext cx="4084996" cy="832802"/>
          </a:xfrm>
          <a:prstGeom prst="rect">
            <a:avLst/>
          </a:prstGeom>
        </p:spPr>
        <p:txBody>
          <a:bodyPr/>
          <a:lstStyle>
            <a:lvl1pPr marL="0" indent="0" algn="l" defTabSz="685800" rtl="0" eaLnBrk="1" latinLnBrk="0" hangingPunct="1">
              <a:lnSpc>
                <a:spcPct val="90000"/>
              </a:lnSpc>
              <a:spcBef>
                <a:spcPts val="750"/>
              </a:spcBef>
              <a:buFont typeface="Arial" panose="020B0604020202020204" pitchFamily="34" charset="0"/>
              <a:buNone/>
              <a:defRPr sz="16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dirty="0"/>
              <a:t>Battery buy q table size  = 20*20 </a:t>
            </a:r>
            <a:r>
              <a:rPr lang="en-US" altLang="ja-JP" dirty="0"/>
              <a:t>× 111</a:t>
            </a:r>
          </a:p>
          <a:p>
            <a:r>
              <a:rPr lang="en-US" dirty="0"/>
              <a:t>		               = 400 </a:t>
            </a:r>
            <a:r>
              <a:rPr lang="en-US" altLang="ja-JP" dirty="0"/>
              <a:t>× 11</a:t>
            </a:r>
            <a:endParaRPr lang="en-US" dirty="0"/>
          </a:p>
        </p:txBody>
      </p:sp>
      <p:sp>
        <p:nvSpPr>
          <p:cNvPr id="2" name="コンテンツ プレースホルダー 1">
            <a:extLst>
              <a:ext uri="{FF2B5EF4-FFF2-40B4-BE49-F238E27FC236}">
                <a16:creationId xmlns:a16="http://schemas.microsoft.com/office/drawing/2014/main" id="{91C1B6D3-71B9-E2BB-F97D-482B3E0E9CAA}"/>
              </a:ext>
            </a:extLst>
          </p:cNvPr>
          <p:cNvSpPr txBox="1">
            <a:spLocks/>
          </p:cNvSpPr>
          <p:nvPr/>
        </p:nvSpPr>
        <p:spPr>
          <a:xfrm>
            <a:off x="4859246" y="3015040"/>
            <a:ext cx="4084996" cy="940423"/>
          </a:xfrm>
          <a:prstGeom prst="rect">
            <a:avLst/>
          </a:prstGeom>
        </p:spPr>
        <p:txBody>
          <a:bodyPr/>
          <a:lstStyle>
            <a:lvl1pPr marL="0" indent="0" algn="l" defTabSz="685800" rtl="0" eaLnBrk="1" latinLnBrk="0" hangingPunct="1">
              <a:lnSpc>
                <a:spcPct val="90000"/>
              </a:lnSpc>
              <a:spcBef>
                <a:spcPts val="750"/>
              </a:spcBef>
              <a:buFont typeface="Arial" panose="020B0604020202020204" pitchFamily="34" charset="0"/>
              <a:buNone/>
              <a:defRPr sz="16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altLang="ja-JP" dirty="0"/>
              <a:t>Number of column is possible bid prices</a:t>
            </a:r>
            <a:br>
              <a:rPr lang="en-US" altLang="ja-JP" dirty="0"/>
            </a:br>
            <a:r>
              <a:rPr lang="en-US" altLang="ja-JP" dirty="0"/>
              <a:t>(</a:t>
            </a:r>
            <a:r>
              <a:rPr lang="en-US" altLang="ja-JP" dirty="0" err="1"/>
              <a:t>price_max</a:t>
            </a:r>
            <a:r>
              <a:rPr lang="en-US" altLang="ja-JP" dirty="0"/>
              <a:t> – </a:t>
            </a:r>
            <a:r>
              <a:rPr lang="en-US" altLang="ja-JP" dirty="0" err="1"/>
              <a:t>price_min</a:t>
            </a:r>
            <a:r>
              <a:rPr lang="en-US" altLang="ja-JP" dirty="0"/>
              <a:t>) +1</a:t>
            </a:r>
            <a:br>
              <a:rPr lang="en-US" altLang="ja-JP" dirty="0"/>
            </a:br>
            <a:r>
              <a:rPr lang="en-US" altLang="ja-JP" dirty="0"/>
              <a:t>= (120 - 10) +1 </a:t>
            </a:r>
            <a:br>
              <a:rPr lang="en-US" altLang="ja-JP" dirty="0"/>
            </a:br>
            <a:r>
              <a:rPr lang="en-US" altLang="ja-JP" dirty="0"/>
              <a:t>= 111</a:t>
            </a:r>
            <a:endParaRPr lang="en-US" dirty="0"/>
          </a:p>
        </p:txBody>
      </p:sp>
      <p:sp>
        <p:nvSpPr>
          <p:cNvPr id="15" name="正方形/長方形 14">
            <a:extLst>
              <a:ext uri="{FF2B5EF4-FFF2-40B4-BE49-F238E27FC236}">
                <a16:creationId xmlns:a16="http://schemas.microsoft.com/office/drawing/2014/main" id="{E81860CB-3BBF-45DE-4969-25F00AC21A01}"/>
              </a:ext>
            </a:extLst>
          </p:cNvPr>
          <p:cNvSpPr/>
          <p:nvPr/>
        </p:nvSpPr>
        <p:spPr>
          <a:xfrm>
            <a:off x="195051" y="845815"/>
            <a:ext cx="4353117" cy="4603569"/>
          </a:xfrm>
          <a:prstGeom prst="rect">
            <a:avLst/>
          </a:prstGeom>
          <a:noFill/>
          <a:ln w="12700">
            <a:solidFill>
              <a:schemeClr val="tx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DDBDB10E-7E7B-F6C1-CF72-E101518567FD}"/>
              </a:ext>
            </a:extLst>
          </p:cNvPr>
          <p:cNvSpPr txBox="1"/>
          <p:nvPr/>
        </p:nvSpPr>
        <p:spPr>
          <a:xfrm>
            <a:off x="2249102" y="6321633"/>
            <a:ext cx="4767627" cy="369332"/>
          </a:xfrm>
          <a:prstGeom prst="rect">
            <a:avLst/>
          </a:prstGeom>
          <a:noFill/>
        </p:spPr>
        <p:txBody>
          <a:bodyPr wrap="square" rtlCol="0">
            <a:spAutoFit/>
          </a:bodyPr>
          <a:lstStyle/>
          <a:p>
            <a:r>
              <a:rPr lang="en-US" altLang="ja-JP" dirty="0"/>
              <a:t>Q tables are made for each agent individually.</a:t>
            </a:r>
          </a:p>
        </p:txBody>
      </p:sp>
      <p:sp>
        <p:nvSpPr>
          <p:cNvPr id="21" name="コンテンツ プレースホルダー 1">
            <a:extLst>
              <a:ext uri="{FF2B5EF4-FFF2-40B4-BE49-F238E27FC236}">
                <a16:creationId xmlns:a16="http://schemas.microsoft.com/office/drawing/2014/main" id="{6C9B1BD2-DFA9-A308-3BD5-2E7DD998BFFB}"/>
              </a:ext>
            </a:extLst>
          </p:cNvPr>
          <p:cNvSpPr txBox="1">
            <a:spLocks/>
          </p:cNvSpPr>
          <p:nvPr/>
        </p:nvSpPr>
        <p:spPr>
          <a:xfrm>
            <a:off x="6596978" y="5431194"/>
            <a:ext cx="1260960" cy="338622"/>
          </a:xfrm>
          <a:prstGeom prst="rect">
            <a:avLst/>
          </a:prstGeom>
        </p:spPr>
        <p:txBody>
          <a:bodyPr/>
          <a:lstStyle>
            <a:lvl1pPr marL="0" indent="0" algn="l" defTabSz="685800" rtl="0" eaLnBrk="1" latinLnBrk="0" hangingPunct="1">
              <a:lnSpc>
                <a:spcPct val="90000"/>
              </a:lnSpc>
              <a:spcBef>
                <a:spcPts val="750"/>
              </a:spcBef>
              <a:buFont typeface="Arial" panose="020B0604020202020204" pitchFamily="34" charset="0"/>
              <a:buNone/>
              <a:defRPr sz="16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altLang="ja-JP" dirty="0"/>
              <a:t>Battery sell</a:t>
            </a:r>
            <a:r>
              <a:rPr lang="ja-JP" altLang="en-US" dirty="0"/>
              <a:t> </a:t>
            </a:r>
            <a:endParaRPr lang="en-US" dirty="0"/>
          </a:p>
        </p:txBody>
      </p:sp>
      <p:sp>
        <p:nvSpPr>
          <p:cNvPr id="22" name="コンテンツ プレースホルダー 1">
            <a:extLst>
              <a:ext uri="{FF2B5EF4-FFF2-40B4-BE49-F238E27FC236}">
                <a16:creationId xmlns:a16="http://schemas.microsoft.com/office/drawing/2014/main" id="{9B6BEEB1-1B76-EF83-4506-75B0E40C5CB0}"/>
              </a:ext>
            </a:extLst>
          </p:cNvPr>
          <p:cNvSpPr txBox="1">
            <a:spLocks/>
          </p:cNvSpPr>
          <p:nvPr/>
        </p:nvSpPr>
        <p:spPr>
          <a:xfrm>
            <a:off x="6839792" y="5672303"/>
            <a:ext cx="1586658" cy="338622"/>
          </a:xfrm>
          <a:prstGeom prst="rect">
            <a:avLst/>
          </a:prstGeom>
        </p:spPr>
        <p:txBody>
          <a:bodyPr/>
          <a:lstStyle>
            <a:lvl1pPr marL="0" indent="0" algn="l" defTabSz="685800" rtl="0" eaLnBrk="1" latinLnBrk="0" hangingPunct="1">
              <a:lnSpc>
                <a:spcPct val="90000"/>
              </a:lnSpc>
              <a:spcBef>
                <a:spcPts val="750"/>
              </a:spcBef>
              <a:buFont typeface="Arial" panose="020B0604020202020204" pitchFamily="34" charset="0"/>
              <a:buNone/>
              <a:defRPr sz="16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altLang="ja-JP" dirty="0"/>
              <a:t>EV Battery buy</a:t>
            </a:r>
            <a:r>
              <a:rPr lang="ja-JP" altLang="en-US" dirty="0"/>
              <a:t> </a:t>
            </a:r>
            <a:endParaRPr lang="en-US" dirty="0"/>
          </a:p>
        </p:txBody>
      </p:sp>
      <p:sp>
        <p:nvSpPr>
          <p:cNvPr id="23" name="コンテンツ プレースホルダー 1">
            <a:extLst>
              <a:ext uri="{FF2B5EF4-FFF2-40B4-BE49-F238E27FC236}">
                <a16:creationId xmlns:a16="http://schemas.microsoft.com/office/drawing/2014/main" id="{2492DE0F-BA3C-C6C2-A88A-9EC73677C203}"/>
              </a:ext>
            </a:extLst>
          </p:cNvPr>
          <p:cNvSpPr txBox="1">
            <a:spLocks/>
          </p:cNvSpPr>
          <p:nvPr/>
        </p:nvSpPr>
        <p:spPr>
          <a:xfrm>
            <a:off x="7082606" y="5900512"/>
            <a:ext cx="1586658" cy="338622"/>
          </a:xfrm>
          <a:prstGeom prst="rect">
            <a:avLst/>
          </a:prstGeom>
        </p:spPr>
        <p:txBody>
          <a:bodyPr/>
          <a:lstStyle>
            <a:lvl1pPr marL="0" indent="0" algn="l" defTabSz="685800" rtl="0" eaLnBrk="1" latinLnBrk="0" hangingPunct="1">
              <a:lnSpc>
                <a:spcPct val="90000"/>
              </a:lnSpc>
              <a:spcBef>
                <a:spcPts val="750"/>
              </a:spcBef>
              <a:buFont typeface="Arial" panose="020B0604020202020204" pitchFamily="34" charset="0"/>
              <a:buNone/>
              <a:defRPr sz="16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altLang="ja-JP" dirty="0"/>
              <a:t>EV Battery sell</a:t>
            </a:r>
            <a:endParaRPr lang="en-US" dirty="0"/>
          </a:p>
        </p:txBody>
      </p:sp>
    </p:spTree>
    <p:extLst>
      <p:ext uri="{BB962C8B-B14F-4D97-AF65-F5344CB8AC3E}">
        <p14:creationId xmlns:p14="http://schemas.microsoft.com/office/powerpoint/2010/main" val="65738861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7076FFE9-C1BB-DE12-AC60-5CC1B7621355}"/>
              </a:ext>
            </a:extLst>
          </p:cNvPr>
          <p:cNvSpPr>
            <a:spLocks noGrp="1"/>
          </p:cNvSpPr>
          <p:nvPr>
            <p:ph sz="quarter" idx="16"/>
          </p:nvPr>
        </p:nvSpPr>
        <p:spPr/>
        <p:txBody>
          <a:bodyPr/>
          <a:lstStyle/>
          <a:p>
            <a:r>
              <a:rPr lang="en-US" altLang="ja-JP" dirty="0"/>
              <a:t>3.3.2 Reward</a:t>
            </a:r>
            <a:endParaRPr lang="en-US" dirty="0"/>
          </a:p>
        </p:txBody>
      </p:sp>
      <mc:AlternateContent xmlns:mc="http://schemas.openxmlformats.org/markup-compatibility/2006" xmlns:a14="http://schemas.microsoft.com/office/drawing/2010/main">
        <mc:Choice Requires="a14">
          <p:sp>
            <p:nvSpPr>
              <p:cNvPr id="4" name="テキスト ボックス 3">
                <a:extLst>
                  <a:ext uri="{FF2B5EF4-FFF2-40B4-BE49-F238E27FC236}">
                    <a16:creationId xmlns:a16="http://schemas.microsoft.com/office/drawing/2014/main" id="{EB3AEDCC-12A9-25C8-F33A-83C5A4A93488}"/>
                  </a:ext>
                </a:extLst>
              </p:cNvPr>
              <p:cNvSpPr txBox="1"/>
              <p:nvPr/>
            </p:nvSpPr>
            <p:spPr>
              <a:xfrm>
                <a:off x="1784884" y="846845"/>
                <a:ext cx="6336231" cy="1726948"/>
              </a:xfrm>
              <a:prstGeom prst="rect">
                <a:avLst/>
              </a:prstGeom>
              <a:noFill/>
            </p:spPr>
            <p:txBody>
              <a:bodyPr wrap="square">
                <a:spAutoFit/>
              </a:bodyPr>
              <a:lstStyle/>
              <a:p>
                <a:pPr marL="0" marR="0" algn="l">
                  <a:spcBef>
                    <a:spcPts val="0"/>
                  </a:spcBef>
                  <a:spcAft>
                    <a:spcPts val="0"/>
                  </a:spcAft>
                </a:pPr>
                <a14:m>
                  <m:oMathPara xmlns:m="http://schemas.openxmlformats.org/officeDocument/2006/math">
                    <m:oMathParaPr>
                      <m:jc m:val="left"/>
                    </m:oMathParaPr>
                    <m:oMath xmlns:m="http://schemas.openxmlformats.org/officeDocument/2006/math">
                      <m:eqArr>
                        <m:eqArrPr>
                          <m:ctrlPr>
                            <a:rPr lang="en-US" sz="1800" i="1" kern="100" smtClean="0">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ctrlPr>
                        </m:eqArrPr>
                        <m:e>
                          <m:sSub>
                            <m:sSubPr>
                              <m:ctrlPr>
                                <a:rPr lang="en-US" sz="1800" i="1" kern="100">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ctrlPr>
                            </m:sSubPr>
                            <m:e>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𝑔</m:t>
                              </m:r>
                            </m:e>
                            <m:sub>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𝑛</m:t>
                              </m:r>
                            </m:sub>
                          </m:sSub>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m:t>
                          </m:r>
                          <m:nary>
                            <m:naryPr>
                              <m:chr m:val="∑"/>
                              <m:limLoc m:val="undOvr"/>
                              <m:supHide m:val="on"/>
                              <m:ctrlPr>
                                <a:rPr lang="en-US" sz="1800" i="1" kern="100">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ctrlPr>
                            </m:naryPr>
                            <m:sub>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𝑡</m:t>
                              </m:r>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≥0</m:t>
                              </m:r>
                            </m:sub>
                            <m:sup/>
                            <m:e>
                              <m:sSub>
                                <m:sSubPr>
                                  <m:ctrlPr>
                                    <a:rPr lang="en-US" sz="1800" i="1" kern="100">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ctrlPr>
                                </m:sSubPr>
                                <m:e>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𝑟</m:t>
                                  </m:r>
                                </m:e>
                                <m:sub>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𝑡</m:t>
                                  </m:r>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m:t>
                                  </m:r>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𝑛</m:t>
                                  </m:r>
                                </m:sub>
                              </m:sSub>
                              <m:r>
                                <a:rPr lang="en-US" sz="1800" b="0" i="1" kern="100" smtClean="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                                                                                   </m:t>
                              </m:r>
                            </m:e>
                          </m:nary>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m:t>
                          </m:r>
                          <m:d>
                            <m:dPr>
                              <m:ctrlPr>
                                <a:rPr lang="en-US" sz="1800" i="1" kern="100">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ctrlPr>
                            </m:dPr>
                            <m:e>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1</m:t>
                              </m:r>
                              <m:r>
                                <a:rPr lang="en-US" sz="1800" b="0" i="1" kern="100" smtClean="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0</m:t>
                              </m:r>
                            </m:e>
                          </m:d>
                        </m:e>
                      </m:eqArr>
                    </m:oMath>
                  </m:oMathPara>
                </a14:m>
                <a:endParaRPr lang="en-US" sz="1800" kern="100" dirty="0">
                  <a:effectLst/>
                  <a:latin typeface="Yu Mincho" panose="02020400000000000000" pitchFamily="18" charset="-128"/>
                  <a:ea typeface="Yu Mincho" panose="02020400000000000000" pitchFamily="18" charset="-128"/>
                  <a:cs typeface="Times New Roman" panose="02020603050405020304" pitchFamily="18" charset="0"/>
                </a:endParaRPr>
              </a:p>
              <a:p>
                <a:pPr marL="0" marR="0" algn="l">
                  <a:spcBef>
                    <a:spcPts val="0"/>
                  </a:spcBef>
                  <a:spcAft>
                    <a:spcPts val="0"/>
                  </a:spcAft>
                </a:pPr>
                <a:endParaRPr lang="en-US" sz="1800" kern="100" dirty="0">
                  <a:effectLst/>
                  <a:latin typeface="Yu Mincho" panose="02020400000000000000" pitchFamily="18" charset="-128"/>
                  <a:ea typeface="Yu Mincho" panose="02020400000000000000" pitchFamily="18" charset="-128"/>
                  <a:cs typeface="Times New Roman" panose="02020603050405020304" pitchFamily="18" charset="0"/>
                </a:endParaRPr>
              </a:p>
              <a:p>
                <a:pPr marL="0" marR="0" algn="l">
                  <a:spcBef>
                    <a:spcPts val="0"/>
                  </a:spcBef>
                  <a:spcAft>
                    <a:spcPts val="0"/>
                  </a:spcAft>
                </a:pPr>
                <a14:m>
                  <m:oMathPara xmlns:m="http://schemas.openxmlformats.org/officeDocument/2006/math">
                    <m:oMathParaPr>
                      <m:jc m:val="left"/>
                    </m:oMathParaPr>
                    <m:oMath xmlns:m="http://schemas.openxmlformats.org/officeDocument/2006/math">
                      <m:eqArr>
                        <m:eqArrPr>
                          <m:ctrlPr>
                            <a:rPr lang="en-US" sz="1800" i="1" kern="100">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ctrlPr>
                        </m:eqArrPr>
                        <m:e>
                          <m:sSub>
                            <m:sSubPr>
                              <m:ctrlPr>
                                <a:rPr lang="en-US" sz="1800" i="1" kern="100">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ctrlPr>
                            </m:sSubPr>
                            <m:e>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𝑟</m:t>
                              </m:r>
                            </m:e>
                            <m:sub>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𝑡</m:t>
                              </m:r>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m:t>
                              </m:r>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𝑛</m:t>
                              </m:r>
                            </m:sub>
                          </m:sSub>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m:t>
                          </m:r>
                          <m:sSub>
                            <m:sSubPr>
                              <m:ctrlPr>
                                <a:rPr lang="en-US" sz="1800" i="1" kern="100">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ctrlPr>
                            </m:sSubPr>
                            <m:e>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𝜅</m:t>
                              </m:r>
                            </m:e>
                            <m:sub>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𝑡</m:t>
                              </m:r>
                            </m:sub>
                          </m:sSub>
                          <m:r>
                            <a:rPr lang="ja-JP" sz="1600"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m:t>
                          </m:r>
                          <m:sSubSup>
                            <m:sSubSupPr>
                              <m:ctrlPr>
                                <a:rPr lang="en-US" sz="1800" i="1" kern="100">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ctrlPr>
                            </m:sSubSupPr>
                            <m:e>
                              <m:sSup>
                                <m:sSupPr>
                                  <m:ctrlPr>
                                    <a:rPr lang="en-US" sz="1800" i="1" kern="100">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ctrlPr>
                                </m:sSupPr>
                                <m:e>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𝑒</m:t>
                                  </m:r>
                                </m:e>
                                <m:sup>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m:t>
                                  </m:r>
                                </m:sup>
                              </m:sSup>
                            </m:e>
                            <m:sub>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𝑡</m:t>
                              </m:r>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m:t>
                              </m:r>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𝑛</m:t>
                              </m:r>
                            </m:sub>
                            <m:sup>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𝑛𝑒𝑡</m:t>
                              </m:r>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m:t>
                              </m:r>
                            </m:sup>
                          </m:sSubSup>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m:t>
                          </m:r>
                          <m:sSub>
                            <m:sSubPr>
                              <m:ctrlPr>
                                <a:rPr lang="en-US" sz="1800" i="1" kern="100">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ctrlPr>
                            </m:sSubPr>
                            <m:e>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𝜇</m:t>
                              </m:r>
                            </m:e>
                            <m:sub>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𝑡</m:t>
                              </m:r>
                            </m:sub>
                          </m:sSub>
                          <m:r>
                            <a:rPr lang="ja-JP" sz="1600"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m:t>
                          </m:r>
                          <m:sSubSup>
                            <m:sSubSupPr>
                              <m:ctrlPr>
                                <a:rPr lang="en-US" sz="1800" i="1" kern="100">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ctrlPr>
                            </m:sSubSupPr>
                            <m:e>
                              <m:sSup>
                                <m:sSupPr>
                                  <m:ctrlPr>
                                    <a:rPr lang="en-US" sz="1800" i="1" kern="100">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ctrlPr>
                                </m:sSupPr>
                                <m:e>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𝑒</m:t>
                                  </m:r>
                                </m:e>
                                <m:sup>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m:t>
                                  </m:r>
                                </m:sup>
                              </m:sSup>
                            </m:e>
                            <m:sub>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𝑡</m:t>
                              </m:r>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m:t>
                              </m:r>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𝑛</m:t>
                              </m:r>
                            </m:sub>
                            <m:sup>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𝑛𝑒𝑡</m:t>
                              </m:r>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m:t>
                              </m:r>
                            </m:sup>
                          </m:sSubSup>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m:t>
                          </m:r>
                          <m:sSubSup>
                            <m:sSubSupPr>
                              <m:ctrlPr>
                                <a:rPr lang="en-US" sz="1800" i="1" kern="100">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ctrlPr>
                            </m:sSubSupPr>
                            <m:e>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𝜆</m:t>
                              </m:r>
                            </m:e>
                            <m:sub>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𝑡</m:t>
                              </m:r>
                            </m:sub>
                            <m:sup>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𝑠𝑒𝑙𝑙</m:t>
                              </m:r>
                            </m:sup>
                          </m:sSubSup>
                          <m:r>
                            <a:rPr lang="ja-JP" sz="1600"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m:t>
                          </m:r>
                          <m:sSubSup>
                            <m:sSubSupPr>
                              <m:ctrlPr>
                                <a:rPr lang="en-US" sz="1800" i="1" kern="100">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ctrlPr>
                            </m:sSubSupPr>
                            <m:e>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𝑒</m:t>
                              </m:r>
                            </m:e>
                            <m:sub>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𝑡</m:t>
                              </m:r>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m:t>
                              </m:r>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𝑛</m:t>
                              </m:r>
                            </m:sub>
                            <m:sup>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𝑃</m:t>
                              </m:r>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2</m:t>
                              </m:r>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𝑃</m:t>
                              </m:r>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m:t>
                              </m:r>
                            </m:sup>
                          </m:sSubSup>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m:t>
                          </m:r>
                          <m:sSubSup>
                            <m:sSubSupPr>
                              <m:ctrlPr>
                                <a:rPr lang="en-US" sz="1800" i="1" kern="100">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ctrlPr>
                            </m:sSubSupPr>
                            <m:e>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𝜆</m:t>
                              </m:r>
                            </m:e>
                            <m:sub>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𝑡</m:t>
                              </m:r>
                            </m:sub>
                            <m:sup>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𝑏𝑢𝑦</m:t>
                              </m:r>
                            </m:sup>
                          </m:sSubSup>
                          <m:r>
                            <a:rPr lang="ja-JP" sz="1600"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m:t>
                          </m:r>
                          <m:sSubSup>
                            <m:sSubSupPr>
                              <m:ctrlPr>
                                <a:rPr lang="en-US" sz="1800" i="1" kern="100">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ctrlPr>
                            </m:sSubSupPr>
                            <m:e>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𝑒</m:t>
                              </m:r>
                            </m:e>
                            <m:sub>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𝑡</m:t>
                              </m:r>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m:t>
                              </m:r>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𝑛</m:t>
                              </m:r>
                            </m:sub>
                            <m:sup>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𝑃</m:t>
                              </m:r>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2</m:t>
                              </m:r>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𝑃</m:t>
                              </m:r>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m:t>
                              </m:r>
                            </m:sup>
                          </m:sSubSup>
                        </m:e>
                        <m:e>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m:t>
                          </m:r>
                          <m:sSubSup>
                            <m:sSubSupPr>
                              <m:ctrlPr>
                                <a:rPr lang="en-US" sz="1800" i="1" kern="100">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ctrlPr>
                            </m:sSubSupPr>
                            <m:e>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𝑈</m:t>
                              </m:r>
                            </m:e>
                            <m:sub>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𝑡</m:t>
                              </m:r>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m:t>
                              </m:r>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𝑛</m:t>
                              </m:r>
                            </m:sub>
                            <m:sup>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𝐷𝑅</m:t>
                              </m:r>
                            </m:sup>
                          </m:sSubSup>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m:t>
                          </m:r>
                          <m:sSubSup>
                            <m:sSubSupPr>
                              <m:ctrlPr>
                                <a:rPr lang="en-US" sz="1800" i="1" kern="100">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ctrlPr>
                            </m:sSubSupPr>
                            <m:e>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𝑈</m:t>
                              </m:r>
                            </m:e>
                            <m:sub>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𝑡</m:t>
                              </m:r>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m:t>
                              </m:r>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𝑛</m:t>
                              </m:r>
                            </m:sub>
                            <m:sup>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𝑏𝑎𝑡</m:t>
                              </m:r>
                            </m:sup>
                          </m:sSubSup>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m:t>
                          </m:r>
                          <m:sSubSup>
                            <m:sSubSupPr>
                              <m:ctrlPr>
                                <a:rPr lang="en-US" sz="1800" i="1" kern="100">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ctrlPr>
                            </m:sSubSupPr>
                            <m:e>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𝑈</m:t>
                              </m:r>
                            </m:e>
                            <m:sub>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𝑡</m:t>
                              </m:r>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m:t>
                              </m:r>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𝑛</m:t>
                              </m:r>
                            </m:sub>
                            <m:sup>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𝐸𝑉</m:t>
                              </m:r>
                            </m:sup>
                          </m:sSubSup>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m:t>
                          </m:r>
                          <m:d>
                            <m:dPr>
                              <m:ctrlPr>
                                <a:rPr lang="en-US" sz="1800" i="1" kern="100">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ctrlPr>
                            </m:dPr>
                            <m:e>
                              <m:r>
                                <a:rPr lang="en-US" sz="18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1</m:t>
                              </m:r>
                              <m:r>
                                <a:rPr lang="en-US" sz="1800" b="0" i="1" kern="100" smtClean="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1</m:t>
                              </m:r>
                            </m:e>
                          </m:d>
                        </m:e>
                      </m:eqArr>
                    </m:oMath>
                  </m:oMathPara>
                </a14:m>
                <a:endParaRPr lang="en-US" sz="1800" kern="100" dirty="0">
                  <a:effectLst/>
                  <a:latin typeface="Yu Mincho" panose="02020400000000000000" pitchFamily="18" charset="-128"/>
                  <a:ea typeface="Yu Mincho" panose="02020400000000000000" pitchFamily="18" charset="-128"/>
                  <a:cs typeface="Times New Roman" panose="02020603050405020304" pitchFamily="18" charset="0"/>
                </a:endParaRPr>
              </a:p>
            </p:txBody>
          </p:sp>
        </mc:Choice>
        <mc:Fallback xmlns="">
          <p:sp>
            <p:nvSpPr>
              <p:cNvPr id="4" name="テキスト ボックス 3">
                <a:extLst>
                  <a:ext uri="{FF2B5EF4-FFF2-40B4-BE49-F238E27FC236}">
                    <a16:creationId xmlns:a16="http://schemas.microsoft.com/office/drawing/2014/main" id="{EB3AEDCC-12A9-25C8-F33A-83C5A4A93488}"/>
                  </a:ext>
                </a:extLst>
              </p:cNvPr>
              <p:cNvSpPr txBox="1">
                <a:spLocks noRot="1" noChangeAspect="1" noMove="1" noResize="1" noEditPoints="1" noAdjustHandles="1" noChangeArrowheads="1" noChangeShapeType="1" noTextEdit="1"/>
              </p:cNvSpPr>
              <p:nvPr/>
            </p:nvSpPr>
            <p:spPr>
              <a:xfrm>
                <a:off x="1784884" y="846845"/>
                <a:ext cx="6336231" cy="1726948"/>
              </a:xfrm>
              <a:prstGeom prst="rect">
                <a:avLst/>
              </a:prstGeom>
              <a:blipFill>
                <a:blip r:embed="rId2"/>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graphicFrame>
            <p:nvGraphicFramePr>
              <p:cNvPr id="6" name="表 5">
                <a:extLst>
                  <a:ext uri="{FF2B5EF4-FFF2-40B4-BE49-F238E27FC236}">
                    <a16:creationId xmlns:a16="http://schemas.microsoft.com/office/drawing/2014/main" id="{D71CC7B1-C7FA-B694-1AE3-53829590CE4A}"/>
                  </a:ext>
                </a:extLst>
              </p:cNvPr>
              <p:cNvGraphicFramePr>
                <a:graphicFrameLocks noGrp="1"/>
              </p:cNvGraphicFramePr>
              <p:nvPr>
                <p:extLst>
                  <p:ext uri="{D42A27DB-BD31-4B8C-83A1-F6EECF244321}">
                    <p14:modId xmlns:p14="http://schemas.microsoft.com/office/powerpoint/2010/main" val="3863834703"/>
                  </p:ext>
                </p:extLst>
              </p:nvPr>
            </p:nvGraphicFramePr>
            <p:xfrm>
              <a:off x="1085105" y="2573793"/>
              <a:ext cx="8142511" cy="4290952"/>
            </p:xfrm>
            <a:graphic>
              <a:graphicData uri="http://schemas.openxmlformats.org/drawingml/2006/table">
                <a:tbl>
                  <a:tblPr bandRow="1">
                    <a:tableStyleId>{5C22544A-7EE6-4342-B048-85BDC9FD1C3A}</a:tableStyleId>
                  </a:tblPr>
                  <a:tblGrid>
                    <a:gridCol w="1159822">
                      <a:extLst>
                        <a:ext uri="{9D8B030D-6E8A-4147-A177-3AD203B41FA5}">
                          <a16:colId xmlns:a16="http://schemas.microsoft.com/office/drawing/2014/main" val="2815638221"/>
                        </a:ext>
                      </a:extLst>
                    </a:gridCol>
                    <a:gridCol w="273133">
                      <a:extLst>
                        <a:ext uri="{9D8B030D-6E8A-4147-A177-3AD203B41FA5}">
                          <a16:colId xmlns:a16="http://schemas.microsoft.com/office/drawing/2014/main" val="3280904105"/>
                        </a:ext>
                      </a:extLst>
                    </a:gridCol>
                    <a:gridCol w="6709556">
                      <a:extLst>
                        <a:ext uri="{9D8B030D-6E8A-4147-A177-3AD203B41FA5}">
                          <a16:colId xmlns:a16="http://schemas.microsoft.com/office/drawing/2014/main" val="2064586492"/>
                        </a:ext>
                      </a:extLst>
                    </a:gridCol>
                  </a:tblGrid>
                  <a:tr h="536369">
                    <a:tc>
                      <a:txBody>
                        <a:bodyPr/>
                        <a:lstStyle/>
                        <a:p>
                          <a:pPr/>
                          <a14:m>
                            <m:oMathPara xmlns:m="http://schemas.openxmlformats.org/officeDocument/2006/math">
                              <m:oMathParaPr>
                                <m:jc m:val="left"/>
                              </m:oMathParaPr>
                              <m:oMath xmlns:m="http://schemas.openxmlformats.org/officeDocument/2006/math">
                                <m:sSub>
                                  <m:sSubPr>
                                    <m:ctrlPr>
                                      <a:rPr lang="en-US" sz="1600" i="1" kern="100" smtClean="0">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ctrlPr>
                                  </m:sSubPr>
                                  <m:e>
                                    <m:r>
                                      <a:rPr lang="en-US" sz="16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𝑟</m:t>
                                    </m:r>
                                  </m:e>
                                  <m:sub>
                                    <m:r>
                                      <a:rPr lang="en-US" sz="16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𝑡</m:t>
                                    </m:r>
                                    <m:r>
                                      <a:rPr lang="en-US" sz="16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m:t>
                                    </m:r>
                                    <m:r>
                                      <a:rPr lang="en-US" sz="16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𝑛</m:t>
                                    </m:r>
                                  </m:sub>
                                </m:sSub>
                              </m:oMath>
                            </m:oMathPara>
                          </a14:m>
                          <a:endParaRPr lang="en-US" sz="1600" dirty="0"/>
                        </a:p>
                      </a:txBody>
                      <a:tcPr>
                        <a:no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600" dirty="0"/>
                            <a:t>:</a:t>
                          </a:r>
                        </a:p>
                      </a:txBody>
                      <a:tcPr>
                        <a:noFill/>
                      </a:tcPr>
                    </a:tc>
                    <a:tc>
                      <a:txBody>
                        <a:bodyPr/>
                        <a:lstStyle/>
                        <a:p>
                          <a:r>
                            <a:rPr lang="en-US" altLang="ja-JP" sz="1600" dirty="0"/>
                            <a:t>Reward of agent</a:t>
                          </a:r>
                          <a:r>
                            <a:rPr lang="ja-JP" altLang="en-US" sz="1600" baseline="0" dirty="0"/>
                            <a:t> </a:t>
                          </a:r>
                          <a14:m>
                            <m:oMath xmlns:m="http://schemas.openxmlformats.org/officeDocument/2006/math">
                              <m:r>
                                <a:rPr lang="en-US" altLang="ja-JP" sz="1600" b="0" i="1" smtClean="0">
                                  <a:latin typeface="Cambria Math" panose="02040503050406030204" pitchFamily="18" charset="0"/>
                                </a:rPr>
                                <m:t>𝑛</m:t>
                              </m:r>
                              <m:r>
                                <a:rPr lang="en-US" altLang="ja-JP" sz="1600" b="0" i="0" smtClean="0">
                                  <a:latin typeface="Cambria Math" panose="02040503050406030204" pitchFamily="18" charset="0"/>
                                </a:rPr>
                                <m:t> </m:t>
                              </m:r>
                            </m:oMath>
                          </a14:m>
                          <a:r>
                            <a:rPr lang="en-US" altLang="ja-JP" sz="1600" dirty="0"/>
                            <a:t>at timeslot </a:t>
                          </a:r>
                          <a14:m>
                            <m:oMath xmlns:m="http://schemas.openxmlformats.org/officeDocument/2006/math">
                              <m:r>
                                <a:rPr lang="en-US" altLang="ja-JP" sz="1600" b="0" i="1" smtClean="0">
                                  <a:latin typeface="Cambria Math" panose="02040503050406030204" pitchFamily="18" charset="0"/>
                                </a:rPr>
                                <m:t>𝑡</m:t>
                              </m:r>
                            </m:oMath>
                          </a14:m>
                          <a:endParaRPr lang="en-US" sz="1600" dirty="0"/>
                        </a:p>
                      </a:txBody>
                      <a:tcPr>
                        <a:noFill/>
                      </a:tcPr>
                    </a:tc>
                    <a:extLst>
                      <a:ext uri="{0D108BD9-81ED-4DB2-BD59-A6C34878D82A}">
                        <a16:rowId xmlns:a16="http://schemas.microsoft.com/office/drawing/2014/main" val="1381034736"/>
                      </a:ext>
                    </a:extLst>
                  </a:tr>
                  <a:tr h="536369">
                    <a:tc>
                      <a:txBody>
                        <a:bodyPr/>
                        <a:lstStyle/>
                        <a:p>
                          <a:pPr/>
                          <a14:m>
                            <m:oMathPara xmlns:m="http://schemas.openxmlformats.org/officeDocument/2006/math">
                              <m:oMathParaPr>
                                <m:jc m:val="left"/>
                              </m:oMathParaPr>
                              <m:oMath xmlns:m="http://schemas.openxmlformats.org/officeDocument/2006/math">
                                <m:sSub>
                                  <m:sSubPr>
                                    <m:ctrlPr>
                                      <a:rPr lang="en-US" sz="1600" i="1" kern="100" smtClean="0">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ctrlPr>
                                  </m:sSubPr>
                                  <m:e>
                                    <m:r>
                                      <a:rPr lang="en-US" sz="16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𝜅</m:t>
                                    </m:r>
                                  </m:e>
                                  <m:sub>
                                    <m:r>
                                      <a:rPr lang="en-US" sz="16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𝑡</m:t>
                                    </m:r>
                                  </m:sub>
                                </m:sSub>
                              </m:oMath>
                            </m:oMathPara>
                          </a14:m>
                          <a:endParaRPr lang="en-US" sz="1600" dirty="0"/>
                        </a:p>
                      </a:txBody>
                      <a:tcPr>
                        <a:no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600" dirty="0"/>
                            <a:t>:</a:t>
                          </a:r>
                        </a:p>
                      </a:txBody>
                      <a:tcPr>
                        <a:noFill/>
                      </a:tcPr>
                    </a:tc>
                    <a:tc>
                      <a:txBody>
                        <a:bodyPr/>
                        <a:lstStyle/>
                        <a:p>
                          <a:r>
                            <a:rPr lang="en-US" sz="1600" dirty="0"/>
                            <a:t>Sell</a:t>
                          </a:r>
                          <a:r>
                            <a:rPr lang="ja-JP" altLang="en-US" sz="1600" dirty="0"/>
                            <a:t> </a:t>
                          </a:r>
                          <a:r>
                            <a:rPr lang="en-US" altLang="ja-JP" sz="1600" dirty="0"/>
                            <a:t>price</a:t>
                          </a:r>
                          <a:r>
                            <a:rPr lang="ja-JP" altLang="en-US" sz="1600" dirty="0"/>
                            <a:t> </a:t>
                          </a:r>
                          <a:r>
                            <a:rPr lang="en-US" altLang="ja-JP" sz="1600" dirty="0"/>
                            <a:t>to</a:t>
                          </a:r>
                          <a:r>
                            <a:rPr lang="ja-JP" altLang="en-US" sz="1600" dirty="0"/>
                            <a:t> </a:t>
                          </a:r>
                          <a:r>
                            <a:rPr lang="en-US" altLang="ja-JP" sz="1600" dirty="0"/>
                            <a:t>grid</a:t>
                          </a:r>
                          <a:endParaRPr lang="en-US" sz="1600" dirty="0"/>
                        </a:p>
                      </a:txBody>
                      <a:tcPr>
                        <a:noFill/>
                      </a:tcPr>
                    </a:tc>
                    <a:extLst>
                      <a:ext uri="{0D108BD9-81ED-4DB2-BD59-A6C34878D82A}">
                        <a16:rowId xmlns:a16="http://schemas.microsoft.com/office/drawing/2014/main" val="585328255"/>
                      </a:ext>
                    </a:extLst>
                  </a:tr>
                  <a:tr h="536369">
                    <a:tc>
                      <a:txBody>
                        <a:bodyPr/>
                        <a:lstStyle/>
                        <a:p>
                          <a:pPr/>
                          <a14:m>
                            <m:oMathPara xmlns:m="http://schemas.openxmlformats.org/officeDocument/2006/math">
                              <m:oMathParaPr>
                                <m:jc m:val="left"/>
                              </m:oMathParaPr>
                              <m:oMath xmlns:m="http://schemas.openxmlformats.org/officeDocument/2006/math">
                                <m:sSub>
                                  <m:sSubPr>
                                    <m:ctrlPr>
                                      <a:rPr lang="en-US" sz="1600" i="1" kern="100" smtClean="0">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ctrlPr>
                                  </m:sSubPr>
                                  <m:e>
                                    <m:r>
                                      <a:rPr lang="en-US" sz="16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𝜇</m:t>
                                    </m:r>
                                  </m:e>
                                  <m:sub>
                                    <m:r>
                                      <a:rPr lang="en-US" sz="16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𝑡</m:t>
                                    </m:r>
                                  </m:sub>
                                </m:sSub>
                              </m:oMath>
                            </m:oMathPara>
                          </a14:m>
                          <a:endParaRPr lang="en-US" sz="1600" dirty="0"/>
                        </a:p>
                      </a:txBody>
                      <a:tcPr>
                        <a:no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600" dirty="0"/>
                            <a:t>:</a:t>
                          </a:r>
                        </a:p>
                      </a:txBody>
                      <a:tcPr>
                        <a:noFill/>
                      </a:tcPr>
                    </a:tc>
                    <a:tc>
                      <a:txBody>
                        <a:bodyPr/>
                        <a:lstStyle/>
                        <a:p>
                          <a:r>
                            <a:rPr lang="en-US" sz="1600" dirty="0"/>
                            <a:t>Buy</a:t>
                          </a:r>
                          <a:r>
                            <a:rPr lang="ja-JP" altLang="en-US" sz="1600" dirty="0"/>
                            <a:t> </a:t>
                          </a:r>
                          <a:r>
                            <a:rPr lang="en-US" altLang="ja-JP" sz="1600" dirty="0"/>
                            <a:t>price</a:t>
                          </a:r>
                          <a:r>
                            <a:rPr lang="ja-JP" altLang="en-US" sz="1600" dirty="0"/>
                            <a:t> </a:t>
                          </a:r>
                          <a:r>
                            <a:rPr lang="en-US" altLang="ja-JP" sz="1600" dirty="0"/>
                            <a:t>from</a:t>
                          </a:r>
                          <a:r>
                            <a:rPr lang="ja-JP" altLang="en-US" sz="1600" dirty="0"/>
                            <a:t> </a:t>
                          </a:r>
                          <a:r>
                            <a:rPr lang="en-US" altLang="ja-JP" sz="1600" dirty="0"/>
                            <a:t>grid</a:t>
                          </a:r>
                          <a:endParaRPr lang="en-US" sz="1600" dirty="0"/>
                        </a:p>
                      </a:txBody>
                      <a:tcPr>
                        <a:noFill/>
                      </a:tcPr>
                    </a:tc>
                    <a:extLst>
                      <a:ext uri="{0D108BD9-81ED-4DB2-BD59-A6C34878D82A}">
                        <a16:rowId xmlns:a16="http://schemas.microsoft.com/office/drawing/2014/main" val="2567745939"/>
                      </a:ext>
                    </a:extLst>
                  </a:tr>
                  <a:tr h="536369">
                    <a:tc>
                      <a:txBody>
                        <a:bodyPr/>
                        <a:lstStyle/>
                        <a:p>
                          <a:pPr/>
                          <a14:m>
                            <m:oMathPara xmlns:m="http://schemas.openxmlformats.org/officeDocument/2006/math">
                              <m:oMathParaPr>
                                <m:jc m:val="left"/>
                              </m:oMathParaPr>
                              <m:oMath xmlns:m="http://schemas.openxmlformats.org/officeDocument/2006/math">
                                <m:sSubSup>
                                  <m:sSubSupPr>
                                    <m:ctrlPr>
                                      <a:rPr lang="en-US" sz="1600" i="1" kern="100" smtClean="0">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ctrlPr>
                                  </m:sSubSupPr>
                                  <m:e>
                                    <m:r>
                                      <a:rPr lang="en-US" sz="16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𝜆</m:t>
                                    </m:r>
                                  </m:e>
                                  <m:sub>
                                    <m:r>
                                      <a:rPr lang="en-US" sz="16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𝑡</m:t>
                                    </m:r>
                                  </m:sub>
                                  <m:sup>
                                    <m:r>
                                      <a:rPr lang="en-US" sz="16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𝑠𝑒𝑙𝑙</m:t>
                                    </m:r>
                                  </m:sup>
                                </m:sSubSup>
                              </m:oMath>
                            </m:oMathPara>
                          </a14:m>
                          <a:endParaRPr lang="en-US" sz="1600" dirty="0"/>
                        </a:p>
                      </a:txBody>
                      <a:tcPr>
                        <a:noFill/>
                      </a:tcPr>
                    </a:tc>
                    <a:tc>
                      <a:txBody>
                        <a:bodyPr/>
                        <a:lstStyle/>
                        <a:p>
                          <a:r>
                            <a:rPr lang="en-US" sz="1600" dirty="0"/>
                            <a:t>:</a:t>
                          </a:r>
                        </a:p>
                      </a:txBody>
                      <a:tcPr>
                        <a:noFill/>
                      </a:tcPr>
                    </a:tc>
                    <a:tc>
                      <a:txBody>
                        <a:bodyPr/>
                        <a:lstStyle/>
                        <a:p>
                          <a:r>
                            <a:rPr lang="en-US" sz="1600" dirty="0"/>
                            <a:t>Sell</a:t>
                          </a:r>
                          <a:r>
                            <a:rPr lang="ja-JP" altLang="en-US" sz="1600" dirty="0"/>
                            <a:t> </a:t>
                          </a:r>
                          <a:r>
                            <a:rPr lang="en-US" altLang="ja-JP" sz="1600" dirty="0"/>
                            <a:t>price</a:t>
                          </a:r>
                          <a:r>
                            <a:rPr lang="ja-JP" altLang="en-US" sz="1600" dirty="0"/>
                            <a:t> </a:t>
                          </a:r>
                          <a:r>
                            <a:rPr lang="en-US" altLang="ja-JP" sz="1600" dirty="0"/>
                            <a:t>in</a:t>
                          </a:r>
                          <a:r>
                            <a:rPr lang="ja-JP" altLang="en-US" sz="1600" dirty="0"/>
                            <a:t> </a:t>
                          </a:r>
                          <a:r>
                            <a:rPr lang="en-US" altLang="ja-JP" sz="1600" dirty="0"/>
                            <a:t>microgrid</a:t>
                          </a:r>
                          <a:endParaRPr lang="en-US" sz="1600" dirty="0"/>
                        </a:p>
                      </a:txBody>
                      <a:tcPr>
                        <a:noFill/>
                      </a:tcPr>
                    </a:tc>
                    <a:extLst>
                      <a:ext uri="{0D108BD9-81ED-4DB2-BD59-A6C34878D82A}">
                        <a16:rowId xmlns:a16="http://schemas.microsoft.com/office/drawing/2014/main" val="1172270262"/>
                      </a:ext>
                    </a:extLst>
                  </a:tr>
                  <a:tr h="536369">
                    <a:tc>
                      <a:txBody>
                        <a:bodyPr/>
                        <a:lstStyle/>
                        <a:p>
                          <a:pPr/>
                          <a14:m>
                            <m:oMathPara xmlns:m="http://schemas.openxmlformats.org/officeDocument/2006/math">
                              <m:oMathParaPr>
                                <m:jc m:val="left"/>
                              </m:oMathParaPr>
                              <m:oMath xmlns:m="http://schemas.openxmlformats.org/officeDocument/2006/math">
                                <m:sSubSup>
                                  <m:sSubSupPr>
                                    <m:ctrlPr>
                                      <a:rPr lang="en-US" sz="1600" i="1" kern="100" smtClean="0">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ctrlPr>
                                  </m:sSubSupPr>
                                  <m:e>
                                    <m:r>
                                      <a:rPr lang="en-US" sz="16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𝜆</m:t>
                                    </m:r>
                                  </m:e>
                                  <m:sub>
                                    <m:r>
                                      <a:rPr lang="en-US" sz="16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𝑡</m:t>
                                    </m:r>
                                  </m:sub>
                                  <m:sup>
                                    <m:r>
                                      <a:rPr lang="en-US" sz="16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𝑏𝑢𝑦</m:t>
                                    </m:r>
                                  </m:sup>
                                </m:sSubSup>
                              </m:oMath>
                            </m:oMathPara>
                          </a14:m>
                          <a:endParaRPr lang="en-US" sz="1600" dirty="0"/>
                        </a:p>
                      </a:txBody>
                      <a:tcPr>
                        <a:noFill/>
                      </a:tcPr>
                    </a:tc>
                    <a:tc>
                      <a:txBody>
                        <a:bodyPr/>
                        <a:lstStyle/>
                        <a:p>
                          <a:r>
                            <a:rPr lang="en-US" sz="1600" dirty="0"/>
                            <a:t>:</a:t>
                          </a:r>
                        </a:p>
                      </a:txBody>
                      <a:tcPr>
                        <a:noFill/>
                      </a:tcPr>
                    </a:tc>
                    <a:tc>
                      <a:txBody>
                        <a:bodyPr/>
                        <a:lstStyle/>
                        <a:p>
                          <a:r>
                            <a:rPr lang="en-US" sz="1600" dirty="0"/>
                            <a:t>Buy</a:t>
                          </a:r>
                          <a:r>
                            <a:rPr lang="ja-JP" altLang="en-US" sz="1600" dirty="0"/>
                            <a:t> </a:t>
                          </a:r>
                          <a:r>
                            <a:rPr lang="en-US" altLang="ja-JP" sz="1600" dirty="0"/>
                            <a:t>price</a:t>
                          </a:r>
                          <a:r>
                            <a:rPr lang="ja-JP" altLang="en-US" sz="1600" dirty="0"/>
                            <a:t> </a:t>
                          </a:r>
                          <a:r>
                            <a:rPr lang="en-US" altLang="ja-JP" sz="1600" dirty="0"/>
                            <a:t>in</a:t>
                          </a:r>
                          <a:r>
                            <a:rPr lang="ja-JP" altLang="en-US" sz="1600" dirty="0"/>
                            <a:t> </a:t>
                          </a:r>
                          <a:r>
                            <a:rPr lang="en-US" altLang="ja-JP" sz="1600" dirty="0"/>
                            <a:t>microgrid</a:t>
                          </a:r>
                          <a:endParaRPr lang="en-US" sz="1600" dirty="0"/>
                        </a:p>
                      </a:txBody>
                      <a:tcPr>
                        <a:noFill/>
                      </a:tcPr>
                    </a:tc>
                    <a:extLst>
                      <a:ext uri="{0D108BD9-81ED-4DB2-BD59-A6C34878D82A}">
                        <a16:rowId xmlns:a16="http://schemas.microsoft.com/office/drawing/2014/main" val="4272089726"/>
                      </a:ext>
                    </a:extLst>
                  </a:tr>
                  <a:tr h="536369">
                    <a:tc>
                      <a:txBody>
                        <a:bodyPr/>
                        <a:lstStyle/>
                        <a:p>
                          <a:pPr/>
                          <a14:m>
                            <m:oMathPara xmlns:m="http://schemas.openxmlformats.org/officeDocument/2006/math">
                              <m:oMathParaPr>
                                <m:jc m:val="left"/>
                              </m:oMathParaPr>
                              <m:oMath xmlns:m="http://schemas.openxmlformats.org/officeDocument/2006/math">
                                <m:sSubSup>
                                  <m:sSubSupPr>
                                    <m:ctrlPr>
                                      <a:rPr lang="en-US" sz="1600" i="1" kern="100" smtClean="0">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ctrlPr>
                                  </m:sSubSupPr>
                                  <m:e>
                                    <m:r>
                                      <a:rPr lang="en-US" sz="16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𝑈</m:t>
                                    </m:r>
                                  </m:e>
                                  <m:sub>
                                    <m:r>
                                      <a:rPr lang="en-US" sz="16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𝑡</m:t>
                                    </m:r>
                                    <m:r>
                                      <a:rPr lang="en-US" sz="16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m:t>
                                    </m:r>
                                    <m:r>
                                      <a:rPr lang="en-US" sz="16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𝑛</m:t>
                                    </m:r>
                                  </m:sub>
                                  <m:sup>
                                    <m:r>
                                      <a:rPr lang="en-US" sz="16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𝐷𝑅</m:t>
                                    </m:r>
                                  </m:sup>
                                </m:sSubSup>
                              </m:oMath>
                            </m:oMathPara>
                          </a14:m>
                          <a:endParaRPr lang="en-US" sz="1600" dirty="0"/>
                        </a:p>
                      </a:txBody>
                      <a:tcPr>
                        <a:noFill/>
                      </a:tcPr>
                    </a:tc>
                    <a:tc>
                      <a:txBody>
                        <a:bodyPr/>
                        <a:lstStyle/>
                        <a:p>
                          <a:r>
                            <a:rPr lang="en-US" sz="1600" dirty="0"/>
                            <a:t>:</a:t>
                          </a:r>
                        </a:p>
                      </a:txBody>
                      <a:tcPr>
                        <a:noFill/>
                      </a:tcPr>
                    </a:tc>
                    <a:tc>
                      <a:txBody>
                        <a:bodyPr/>
                        <a:lstStyle/>
                        <a:p>
                          <a:r>
                            <a:rPr lang="en-US" altLang="ja-JP" sz="1600" dirty="0"/>
                            <a:t>Dissatisfaction value by DR</a:t>
                          </a:r>
                          <a:endParaRPr lang="en-US" sz="1600" dirty="0"/>
                        </a:p>
                      </a:txBody>
                      <a:tcPr>
                        <a:noFill/>
                      </a:tcPr>
                    </a:tc>
                    <a:extLst>
                      <a:ext uri="{0D108BD9-81ED-4DB2-BD59-A6C34878D82A}">
                        <a16:rowId xmlns:a16="http://schemas.microsoft.com/office/drawing/2014/main" val="199082574"/>
                      </a:ext>
                    </a:extLst>
                  </a:tr>
                  <a:tr h="536369">
                    <a:tc>
                      <a:txBody>
                        <a:bodyPr/>
                        <a:lstStyle/>
                        <a:p>
                          <a:pPr/>
                          <a14:m>
                            <m:oMathPara xmlns:m="http://schemas.openxmlformats.org/officeDocument/2006/math">
                              <m:oMathParaPr>
                                <m:jc m:val="left"/>
                              </m:oMathParaPr>
                              <m:oMath xmlns:m="http://schemas.openxmlformats.org/officeDocument/2006/math">
                                <m:sSubSup>
                                  <m:sSubSupPr>
                                    <m:ctrlPr>
                                      <a:rPr lang="en-US" sz="1600" i="1" kern="100" smtClean="0">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ctrlPr>
                                  </m:sSubSupPr>
                                  <m:e>
                                    <m:r>
                                      <a:rPr lang="en-US" sz="16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𝑈</m:t>
                                    </m:r>
                                  </m:e>
                                  <m:sub>
                                    <m:r>
                                      <a:rPr lang="en-US" sz="16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𝑡</m:t>
                                    </m:r>
                                    <m:r>
                                      <a:rPr lang="en-US" sz="16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m:t>
                                    </m:r>
                                    <m:r>
                                      <a:rPr lang="en-US" sz="16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𝑛</m:t>
                                    </m:r>
                                  </m:sub>
                                  <m:sup>
                                    <m:r>
                                      <a:rPr lang="en-US" sz="16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𝑏𝑎𝑡</m:t>
                                    </m:r>
                                  </m:sup>
                                </m:sSubSup>
                              </m:oMath>
                            </m:oMathPara>
                          </a14:m>
                          <a:endParaRPr lang="en-US" sz="1600" dirty="0"/>
                        </a:p>
                      </a:txBody>
                      <a:tcPr>
                        <a:noFill/>
                      </a:tcPr>
                    </a:tc>
                    <a:tc>
                      <a:txBody>
                        <a:bodyPr/>
                        <a:lstStyle/>
                        <a:p>
                          <a:r>
                            <a:rPr lang="en-US" sz="1600" dirty="0"/>
                            <a:t>:</a:t>
                          </a:r>
                        </a:p>
                      </a:txBody>
                      <a:tcPr>
                        <a:noFill/>
                      </a:tcPr>
                    </a:tc>
                    <a:tc>
                      <a:txBody>
                        <a:bodyPr/>
                        <a:lstStyle/>
                        <a:p>
                          <a:r>
                            <a:rPr lang="en-US" altLang="ja-JP" sz="1600" dirty="0"/>
                            <a:t>Dissatisfaction value by battery</a:t>
                          </a:r>
                          <a:endParaRPr lang="en-US" sz="1600" dirty="0"/>
                        </a:p>
                      </a:txBody>
                      <a:tcPr>
                        <a:noFill/>
                      </a:tcPr>
                    </a:tc>
                    <a:extLst>
                      <a:ext uri="{0D108BD9-81ED-4DB2-BD59-A6C34878D82A}">
                        <a16:rowId xmlns:a16="http://schemas.microsoft.com/office/drawing/2014/main" val="938949808"/>
                      </a:ext>
                    </a:extLst>
                  </a:tr>
                  <a:tr h="536369">
                    <a:tc>
                      <a:txBody>
                        <a:bodyPr/>
                        <a:lstStyle/>
                        <a:p>
                          <a:pPr/>
                          <a14:m>
                            <m:oMathPara xmlns:m="http://schemas.openxmlformats.org/officeDocument/2006/math">
                              <m:oMathParaPr>
                                <m:jc m:val="left"/>
                              </m:oMathParaPr>
                              <m:oMath xmlns:m="http://schemas.openxmlformats.org/officeDocument/2006/math">
                                <m:sSubSup>
                                  <m:sSubSupPr>
                                    <m:ctrlPr>
                                      <a:rPr lang="en-US" sz="1600" i="1" kern="100" smtClean="0">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ctrlPr>
                                  </m:sSubSupPr>
                                  <m:e>
                                    <m:r>
                                      <a:rPr lang="en-US" sz="16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𝑈</m:t>
                                    </m:r>
                                  </m:e>
                                  <m:sub>
                                    <m:r>
                                      <a:rPr lang="en-US" sz="16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𝑡</m:t>
                                    </m:r>
                                    <m:r>
                                      <a:rPr lang="en-US" sz="16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m:t>
                                    </m:r>
                                    <m:r>
                                      <a:rPr lang="en-US" sz="16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𝑛</m:t>
                                    </m:r>
                                  </m:sub>
                                  <m:sup>
                                    <m:r>
                                      <a:rPr lang="en-US" sz="1600" i="1" kern="100">
                                        <a:solidFill>
                                          <a:srgbClr val="000000"/>
                                        </a:solidFill>
                                        <a:effectLst/>
                                        <a:highlight>
                                          <a:srgbClr val="FFFFFF"/>
                                        </a:highlight>
                                        <a:latin typeface="Cambria Math" panose="02040503050406030204" pitchFamily="18" charset="0"/>
                                        <a:ea typeface="Yu Mincho" panose="02020400000000000000" pitchFamily="18" charset="-128"/>
                                        <a:cs typeface="Segoe UI" panose="020B0502040204020203" pitchFamily="34" charset="0"/>
                                      </a:rPr>
                                      <m:t>𝐸𝑉</m:t>
                                    </m:r>
                                  </m:sup>
                                </m:sSubSup>
                              </m:oMath>
                            </m:oMathPara>
                          </a14:m>
                          <a:endParaRPr lang="en-US" sz="1600" dirty="0"/>
                        </a:p>
                      </a:txBody>
                      <a:tcPr>
                        <a:no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600" dirty="0"/>
                            <a:t>:</a:t>
                          </a:r>
                        </a:p>
                      </a:txBody>
                      <a:tcPr>
                        <a:noFill/>
                      </a:tcPr>
                    </a:tc>
                    <a:tc>
                      <a:txBody>
                        <a:bodyPr/>
                        <a:lstStyle/>
                        <a:p>
                          <a:r>
                            <a:rPr lang="en-US" altLang="ja-JP" sz="1600" dirty="0"/>
                            <a:t>Dissatisfaction value by EV</a:t>
                          </a:r>
                          <a:r>
                            <a:rPr lang="ja-JP" altLang="en-US" sz="1600" dirty="0"/>
                            <a:t> </a:t>
                          </a:r>
                          <a:r>
                            <a:rPr lang="en-US" altLang="ja-JP" sz="1600" dirty="0"/>
                            <a:t>battery</a:t>
                          </a:r>
                          <a:endParaRPr lang="en-US" sz="1600" dirty="0"/>
                        </a:p>
                      </a:txBody>
                      <a:tcPr>
                        <a:noFill/>
                      </a:tcPr>
                    </a:tc>
                    <a:extLst>
                      <a:ext uri="{0D108BD9-81ED-4DB2-BD59-A6C34878D82A}">
                        <a16:rowId xmlns:a16="http://schemas.microsoft.com/office/drawing/2014/main" val="1511097134"/>
                      </a:ext>
                    </a:extLst>
                  </a:tr>
                </a:tbl>
              </a:graphicData>
            </a:graphic>
          </p:graphicFrame>
        </mc:Choice>
        <mc:Fallback xmlns="">
          <p:graphicFrame>
            <p:nvGraphicFramePr>
              <p:cNvPr id="6" name="表 5">
                <a:extLst>
                  <a:ext uri="{FF2B5EF4-FFF2-40B4-BE49-F238E27FC236}">
                    <a16:creationId xmlns:a16="http://schemas.microsoft.com/office/drawing/2014/main" id="{D71CC7B1-C7FA-B694-1AE3-53829590CE4A}"/>
                  </a:ext>
                </a:extLst>
              </p:cNvPr>
              <p:cNvGraphicFramePr>
                <a:graphicFrameLocks noGrp="1"/>
              </p:cNvGraphicFramePr>
              <p:nvPr>
                <p:extLst>
                  <p:ext uri="{D42A27DB-BD31-4B8C-83A1-F6EECF244321}">
                    <p14:modId xmlns:p14="http://schemas.microsoft.com/office/powerpoint/2010/main" val="3863834703"/>
                  </p:ext>
                </p:extLst>
              </p:nvPr>
            </p:nvGraphicFramePr>
            <p:xfrm>
              <a:off x="1085105" y="2573793"/>
              <a:ext cx="8142511" cy="4290952"/>
            </p:xfrm>
            <a:graphic>
              <a:graphicData uri="http://schemas.openxmlformats.org/drawingml/2006/table">
                <a:tbl>
                  <a:tblPr bandRow="1">
                    <a:tableStyleId>{5C22544A-7EE6-4342-B048-85BDC9FD1C3A}</a:tableStyleId>
                  </a:tblPr>
                  <a:tblGrid>
                    <a:gridCol w="1159822">
                      <a:extLst>
                        <a:ext uri="{9D8B030D-6E8A-4147-A177-3AD203B41FA5}">
                          <a16:colId xmlns:a16="http://schemas.microsoft.com/office/drawing/2014/main" val="2815638221"/>
                        </a:ext>
                      </a:extLst>
                    </a:gridCol>
                    <a:gridCol w="273133">
                      <a:extLst>
                        <a:ext uri="{9D8B030D-6E8A-4147-A177-3AD203B41FA5}">
                          <a16:colId xmlns:a16="http://schemas.microsoft.com/office/drawing/2014/main" val="3280904105"/>
                        </a:ext>
                      </a:extLst>
                    </a:gridCol>
                    <a:gridCol w="6709556">
                      <a:extLst>
                        <a:ext uri="{9D8B030D-6E8A-4147-A177-3AD203B41FA5}">
                          <a16:colId xmlns:a16="http://schemas.microsoft.com/office/drawing/2014/main" val="2064586492"/>
                        </a:ext>
                      </a:extLst>
                    </a:gridCol>
                  </a:tblGrid>
                  <a:tr h="536369">
                    <a:tc>
                      <a:txBody>
                        <a:bodyPr/>
                        <a:lstStyle/>
                        <a:p>
                          <a:endParaRPr lang="ja-JP"/>
                        </a:p>
                      </a:txBody>
                      <a:tcPr>
                        <a:blipFill>
                          <a:blip r:embed="rId3"/>
                          <a:stretch>
                            <a:fillRect l="-1053" t="-4545" r="-604211" b="-703409"/>
                          </a:stretch>
                        </a:blip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600" dirty="0"/>
                            <a:t>:</a:t>
                          </a:r>
                        </a:p>
                      </a:txBody>
                      <a:tcPr>
                        <a:noFill/>
                      </a:tcPr>
                    </a:tc>
                    <a:tc>
                      <a:txBody>
                        <a:bodyPr/>
                        <a:lstStyle/>
                        <a:p>
                          <a:endParaRPr lang="ja-JP"/>
                        </a:p>
                      </a:txBody>
                      <a:tcPr>
                        <a:blipFill>
                          <a:blip r:embed="rId3"/>
                          <a:stretch>
                            <a:fillRect l="-21526" t="-4545" r="-182" b="-703409"/>
                          </a:stretch>
                        </a:blipFill>
                      </a:tcPr>
                    </a:tc>
                    <a:extLst>
                      <a:ext uri="{0D108BD9-81ED-4DB2-BD59-A6C34878D82A}">
                        <a16:rowId xmlns:a16="http://schemas.microsoft.com/office/drawing/2014/main" val="1381034736"/>
                      </a:ext>
                    </a:extLst>
                  </a:tr>
                  <a:tr h="536369">
                    <a:tc>
                      <a:txBody>
                        <a:bodyPr/>
                        <a:lstStyle/>
                        <a:p>
                          <a:endParaRPr lang="ja-JP"/>
                        </a:p>
                      </a:txBody>
                      <a:tcPr>
                        <a:blipFill>
                          <a:blip r:embed="rId3"/>
                          <a:stretch>
                            <a:fillRect l="-1053" t="-104545" r="-604211" b="-603409"/>
                          </a:stretch>
                        </a:blip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600" dirty="0"/>
                            <a:t>:</a:t>
                          </a:r>
                        </a:p>
                      </a:txBody>
                      <a:tcPr>
                        <a:noFill/>
                      </a:tcPr>
                    </a:tc>
                    <a:tc>
                      <a:txBody>
                        <a:bodyPr/>
                        <a:lstStyle/>
                        <a:p>
                          <a:r>
                            <a:rPr lang="en-US" sz="1600" dirty="0"/>
                            <a:t>Sell</a:t>
                          </a:r>
                          <a:r>
                            <a:rPr lang="ja-JP" altLang="en-US" sz="1600" dirty="0"/>
                            <a:t> </a:t>
                          </a:r>
                          <a:r>
                            <a:rPr lang="en-US" altLang="ja-JP" sz="1600" dirty="0"/>
                            <a:t>price</a:t>
                          </a:r>
                          <a:r>
                            <a:rPr lang="ja-JP" altLang="en-US" sz="1600" dirty="0"/>
                            <a:t> </a:t>
                          </a:r>
                          <a:r>
                            <a:rPr lang="en-US" altLang="ja-JP" sz="1600" dirty="0"/>
                            <a:t>to</a:t>
                          </a:r>
                          <a:r>
                            <a:rPr lang="ja-JP" altLang="en-US" sz="1600" dirty="0"/>
                            <a:t> </a:t>
                          </a:r>
                          <a:r>
                            <a:rPr lang="en-US" altLang="ja-JP" sz="1600" dirty="0"/>
                            <a:t>grid</a:t>
                          </a:r>
                          <a:endParaRPr lang="en-US" sz="1600" dirty="0"/>
                        </a:p>
                      </a:txBody>
                      <a:tcPr>
                        <a:noFill/>
                      </a:tcPr>
                    </a:tc>
                    <a:extLst>
                      <a:ext uri="{0D108BD9-81ED-4DB2-BD59-A6C34878D82A}">
                        <a16:rowId xmlns:a16="http://schemas.microsoft.com/office/drawing/2014/main" val="585328255"/>
                      </a:ext>
                    </a:extLst>
                  </a:tr>
                  <a:tr h="536369">
                    <a:tc>
                      <a:txBody>
                        <a:bodyPr/>
                        <a:lstStyle/>
                        <a:p>
                          <a:endParaRPr lang="ja-JP"/>
                        </a:p>
                      </a:txBody>
                      <a:tcPr>
                        <a:blipFill>
                          <a:blip r:embed="rId3"/>
                          <a:stretch>
                            <a:fillRect l="-1053" t="-204545" r="-604211" b="-503409"/>
                          </a:stretch>
                        </a:blip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600" dirty="0"/>
                            <a:t>:</a:t>
                          </a:r>
                        </a:p>
                      </a:txBody>
                      <a:tcPr>
                        <a:noFill/>
                      </a:tcPr>
                    </a:tc>
                    <a:tc>
                      <a:txBody>
                        <a:bodyPr/>
                        <a:lstStyle/>
                        <a:p>
                          <a:r>
                            <a:rPr lang="en-US" sz="1600" dirty="0"/>
                            <a:t>Buy</a:t>
                          </a:r>
                          <a:r>
                            <a:rPr lang="ja-JP" altLang="en-US" sz="1600" dirty="0"/>
                            <a:t> </a:t>
                          </a:r>
                          <a:r>
                            <a:rPr lang="en-US" altLang="ja-JP" sz="1600" dirty="0"/>
                            <a:t>price</a:t>
                          </a:r>
                          <a:r>
                            <a:rPr lang="ja-JP" altLang="en-US" sz="1600" dirty="0"/>
                            <a:t> </a:t>
                          </a:r>
                          <a:r>
                            <a:rPr lang="en-US" altLang="ja-JP" sz="1600" dirty="0"/>
                            <a:t>from</a:t>
                          </a:r>
                          <a:r>
                            <a:rPr lang="ja-JP" altLang="en-US" sz="1600" dirty="0"/>
                            <a:t> </a:t>
                          </a:r>
                          <a:r>
                            <a:rPr lang="en-US" altLang="ja-JP" sz="1600" dirty="0"/>
                            <a:t>grid</a:t>
                          </a:r>
                          <a:endParaRPr lang="en-US" sz="1600" dirty="0"/>
                        </a:p>
                      </a:txBody>
                      <a:tcPr>
                        <a:noFill/>
                      </a:tcPr>
                    </a:tc>
                    <a:extLst>
                      <a:ext uri="{0D108BD9-81ED-4DB2-BD59-A6C34878D82A}">
                        <a16:rowId xmlns:a16="http://schemas.microsoft.com/office/drawing/2014/main" val="2567745939"/>
                      </a:ext>
                    </a:extLst>
                  </a:tr>
                  <a:tr h="536369">
                    <a:tc>
                      <a:txBody>
                        <a:bodyPr/>
                        <a:lstStyle/>
                        <a:p>
                          <a:endParaRPr lang="ja-JP"/>
                        </a:p>
                      </a:txBody>
                      <a:tcPr>
                        <a:blipFill>
                          <a:blip r:embed="rId3"/>
                          <a:stretch>
                            <a:fillRect l="-1053" t="-301124" r="-604211" b="-397753"/>
                          </a:stretch>
                        </a:blipFill>
                      </a:tcPr>
                    </a:tc>
                    <a:tc>
                      <a:txBody>
                        <a:bodyPr/>
                        <a:lstStyle/>
                        <a:p>
                          <a:r>
                            <a:rPr lang="en-US" sz="1600" dirty="0"/>
                            <a:t>:</a:t>
                          </a:r>
                        </a:p>
                      </a:txBody>
                      <a:tcPr>
                        <a:noFill/>
                      </a:tcPr>
                    </a:tc>
                    <a:tc>
                      <a:txBody>
                        <a:bodyPr/>
                        <a:lstStyle/>
                        <a:p>
                          <a:r>
                            <a:rPr lang="en-US" sz="1600" dirty="0"/>
                            <a:t>Sell</a:t>
                          </a:r>
                          <a:r>
                            <a:rPr lang="ja-JP" altLang="en-US" sz="1600" dirty="0"/>
                            <a:t> </a:t>
                          </a:r>
                          <a:r>
                            <a:rPr lang="en-US" altLang="ja-JP" sz="1600" dirty="0"/>
                            <a:t>price</a:t>
                          </a:r>
                          <a:r>
                            <a:rPr lang="ja-JP" altLang="en-US" sz="1600" dirty="0"/>
                            <a:t> </a:t>
                          </a:r>
                          <a:r>
                            <a:rPr lang="en-US" altLang="ja-JP" sz="1600" dirty="0"/>
                            <a:t>in</a:t>
                          </a:r>
                          <a:r>
                            <a:rPr lang="ja-JP" altLang="en-US" sz="1600" dirty="0"/>
                            <a:t> </a:t>
                          </a:r>
                          <a:r>
                            <a:rPr lang="en-US" altLang="ja-JP" sz="1600" dirty="0"/>
                            <a:t>microgrid</a:t>
                          </a:r>
                          <a:endParaRPr lang="en-US" sz="1600" dirty="0"/>
                        </a:p>
                      </a:txBody>
                      <a:tcPr>
                        <a:noFill/>
                      </a:tcPr>
                    </a:tc>
                    <a:extLst>
                      <a:ext uri="{0D108BD9-81ED-4DB2-BD59-A6C34878D82A}">
                        <a16:rowId xmlns:a16="http://schemas.microsoft.com/office/drawing/2014/main" val="1172270262"/>
                      </a:ext>
                    </a:extLst>
                  </a:tr>
                  <a:tr h="536369">
                    <a:tc>
                      <a:txBody>
                        <a:bodyPr/>
                        <a:lstStyle/>
                        <a:p>
                          <a:endParaRPr lang="ja-JP"/>
                        </a:p>
                      </a:txBody>
                      <a:tcPr>
                        <a:blipFill>
                          <a:blip r:embed="rId3"/>
                          <a:stretch>
                            <a:fillRect l="-1053" t="-405682" r="-604211" b="-302273"/>
                          </a:stretch>
                        </a:blipFill>
                      </a:tcPr>
                    </a:tc>
                    <a:tc>
                      <a:txBody>
                        <a:bodyPr/>
                        <a:lstStyle/>
                        <a:p>
                          <a:r>
                            <a:rPr lang="en-US" sz="1600" dirty="0"/>
                            <a:t>:</a:t>
                          </a:r>
                        </a:p>
                      </a:txBody>
                      <a:tcPr>
                        <a:noFill/>
                      </a:tcPr>
                    </a:tc>
                    <a:tc>
                      <a:txBody>
                        <a:bodyPr/>
                        <a:lstStyle/>
                        <a:p>
                          <a:r>
                            <a:rPr lang="en-US" sz="1600" dirty="0"/>
                            <a:t>Buy</a:t>
                          </a:r>
                          <a:r>
                            <a:rPr lang="ja-JP" altLang="en-US" sz="1600" dirty="0"/>
                            <a:t> </a:t>
                          </a:r>
                          <a:r>
                            <a:rPr lang="en-US" altLang="ja-JP" sz="1600" dirty="0"/>
                            <a:t>price</a:t>
                          </a:r>
                          <a:r>
                            <a:rPr lang="ja-JP" altLang="en-US" sz="1600" dirty="0"/>
                            <a:t> </a:t>
                          </a:r>
                          <a:r>
                            <a:rPr lang="en-US" altLang="ja-JP" sz="1600" dirty="0"/>
                            <a:t>in</a:t>
                          </a:r>
                          <a:r>
                            <a:rPr lang="ja-JP" altLang="en-US" sz="1600" dirty="0"/>
                            <a:t> </a:t>
                          </a:r>
                          <a:r>
                            <a:rPr lang="en-US" altLang="ja-JP" sz="1600" dirty="0"/>
                            <a:t>microgrid</a:t>
                          </a:r>
                          <a:endParaRPr lang="en-US" sz="1600" dirty="0"/>
                        </a:p>
                      </a:txBody>
                      <a:tcPr>
                        <a:noFill/>
                      </a:tcPr>
                    </a:tc>
                    <a:extLst>
                      <a:ext uri="{0D108BD9-81ED-4DB2-BD59-A6C34878D82A}">
                        <a16:rowId xmlns:a16="http://schemas.microsoft.com/office/drawing/2014/main" val="4272089726"/>
                      </a:ext>
                    </a:extLst>
                  </a:tr>
                  <a:tr h="536369">
                    <a:tc>
                      <a:txBody>
                        <a:bodyPr/>
                        <a:lstStyle/>
                        <a:p>
                          <a:endParaRPr lang="ja-JP"/>
                        </a:p>
                      </a:txBody>
                      <a:tcPr>
                        <a:blipFill>
                          <a:blip r:embed="rId3"/>
                          <a:stretch>
                            <a:fillRect l="-1053" t="-505682" r="-604211" b="-202273"/>
                          </a:stretch>
                        </a:blipFill>
                      </a:tcPr>
                    </a:tc>
                    <a:tc>
                      <a:txBody>
                        <a:bodyPr/>
                        <a:lstStyle/>
                        <a:p>
                          <a:r>
                            <a:rPr lang="en-US" sz="1600" dirty="0"/>
                            <a:t>:</a:t>
                          </a:r>
                        </a:p>
                      </a:txBody>
                      <a:tcPr>
                        <a:noFill/>
                      </a:tcPr>
                    </a:tc>
                    <a:tc>
                      <a:txBody>
                        <a:bodyPr/>
                        <a:lstStyle/>
                        <a:p>
                          <a:r>
                            <a:rPr lang="en-US" altLang="ja-JP" sz="1600" dirty="0"/>
                            <a:t>Dissatisfaction value by DR</a:t>
                          </a:r>
                          <a:endParaRPr lang="en-US" sz="1600" dirty="0"/>
                        </a:p>
                      </a:txBody>
                      <a:tcPr>
                        <a:noFill/>
                      </a:tcPr>
                    </a:tc>
                    <a:extLst>
                      <a:ext uri="{0D108BD9-81ED-4DB2-BD59-A6C34878D82A}">
                        <a16:rowId xmlns:a16="http://schemas.microsoft.com/office/drawing/2014/main" val="199082574"/>
                      </a:ext>
                    </a:extLst>
                  </a:tr>
                  <a:tr h="536369">
                    <a:tc>
                      <a:txBody>
                        <a:bodyPr/>
                        <a:lstStyle/>
                        <a:p>
                          <a:endParaRPr lang="ja-JP"/>
                        </a:p>
                      </a:txBody>
                      <a:tcPr>
                        <a:blipFill>
                          <a:blip r:embed="rId3"/>
                          <a:stretch>
                            <a:fillRect l="-1053" t="-605682" r="-604211" b="-102273"/>
                          </a:stretch>
                        </a:blipFill>
                      </a:tcPr>
                    </a:tc>
                    <a:tc>
                      <a:txBody>
                        <a:bodyPr/>
                        <a:lstStyle/>
                        <a:p>
                          <a:r>
                            <a:rPr lang="en-US" sz="1600" dirty="0"/>
                            <a:t>:</a:t>
                          </a:r>
                        </a:p>
                      </a:txBody>
                      <a:tcPr>
                        <a:noFill/>
                      </a:tcPr>
                    </a:tc>
                    <a:tc>
                      <a:txBody>
                        <a:bodyPr/>
                        <a:lstStyle/>
                        <a:p>
                          <a:r>
                            <a:rPr lang="en-US" altLang="ja-JP" sz="1600" dirty="0"/>
                            <a:t>Dissatisfaction value by battery</a:t>
                          </a:r>
                          <a:endParaRPr lang="en-US" sz="1600" dirty="0"/>
                        </a:p>
                      </a:txBody>
                      <a:tcPr>
                        <a:noFill/>
                      </a:tcPr>
                    </a:tc>
                    <a:extLst>
                      <a:ext uri="{0D108BD9-81ED-4DB2-BD59-A6C34878D82A}">
                        <a16:rowId xmlns:a16="http://schemas.microsoft.com/office/drawing/2014/main" val="938949808"/>
                      </a:ext>
                    </a:extLst>
                  </a:tr>
                  <a:tr h="536369">
                    <a:tc>
                      <a:txBody>
                        <a:bodyPr/>
                        <a:lstStyle/>
                        <a:p>
                          <a:endParaRPr lang="ja-JP"/>
                        </a:p>
                      </a:txBody>
                      <a:tcPr>
                        <a:blipFill>
                          <a:blip r:embed="rId3"/>
                          <a:stretch>
                            <a:fillRect l="-1053" t="-705682" r="-604211" b="-2273"/>
                          </a:stretch>
                        </a:blip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600" dirty="0"/>
                            <a:t>:</a:t>
                          </a:r>
                        </a:p>
                      </a:txBody>
                      <a:tcPr>
                        <a:noFill/>
                      </a:tcPr>
                    </a:tc>
                    <a:tc>
                      <a:txBody>
                        <a:bodyPr/>
                        <a:lstStyle/>
                        <a:p>
                          <a:r>
                            <a:rPr lang="en-US" altLang="ja-JP" sz="1600" dirty="0"/>
                            <a:t>Dissatisfaction value by EV</a:t>
                          </a:r>
                          <a:r>
                            <a:rPr lang="ja-JP" altLang="en-US" sz="1600" dirty="0"/>
                            <a:t> </a:t>
                          </a:r>
                          <a:r>
                            <a:rPr lang="en-US" altLang="ja-JP" sz="1600" dirty="0"/>
                            <a:t>battery</a:t>
                          </a:r>
                          <a:endParaRPr lang="en-US" sz="1600" dirty="0"/>
                        </a:p>
                      </a:txBody>
                      <a:tcPr>
                        <a:noFill/>
                      </a:tcPr>
                    </a:tc>
                    <a:extLst>
                      <a:ext uri="{0D108BD9-81ED-4DB2-BD59-A6C34878D82A}">
                        <a16:rowId xmlns:a16="http://schemas.microsoft.com/office/drawing/2014/main" val="1511097134"/>
                      </a:ext>
                    </a:extLst>
                  </a:tr>
                </a:tbl>
              </a:graphicData>
            </a:graphic>
          </p:graphicFrame>
        </mc:Fallback>
      </mc:AlternateContent>
    </p:spTree>
    <p:extLst>
      <p:ext uri="{BB962C8B-B14F-4D97-AF65-F5344CB8AC3E}">
        <p14:creationId xmlns:p14="http://schemas.microsoft.com/office/powerpoint/2010/main" val="29577329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7076FFE9-C1BB-DE12-AC60-5CC1B7621355}"/>
              </a:ext>
            </a:extLst>
          </p:cNvPr>
          <p:cNvSpPr>
            <a:spLocks noGrp="1"/>
          </p:cNvSpPr>
          <p:nvPr>
            <p:ph sz="quarter" idx="16"/>
          </p:nvPr>
        </p:nvSpPr>
        <p:spPr/>
        <p:txBody>
          <a:bodyPr/>
          <a:lstStyle/>
          <a:p>
            <a:r>
              <a:rPr lang="en-US" altLang="ja-JP" dirty="0"/>
              <a:t>3.3.2 Reward</a:t>
            </a:r>
            <a:endParaRPr lang="en-US" dirty="0"/>
          </a:p>
        </p:txBody>
      </p:sp>
      <mc:AlternateContent xmlns:mc="http://schemas.openxmlformats.org/markup-compatibility/2006" xmlns:a14="http://schemas.microsoft.com/office/drawing/2010/main">
        <mc:Choice Requires="a14">
          <p:sp>
            <p:nvSpPr>
              <p:cNvPr id="5" name="テキスト ボックス 4">
                <a:extLst>
                  <a:ext uri="{FF2B5EF4-FFF2-40B4-BE49-F238E27FC236}">
                    <a16:creationId xmlns:a16="http://schemas.microsoft.com/office/drawing/2014/main" id="{69ABE165-84F1-04E0-ED5C-73BB6D5B6A76}"/>
                  </a:ext>
                </a:extLst>
              </p:cNvPr>
              <p:cNvSpPr txBox="1"/>
              <p:nvPr/>
            </p:nvSpPr>
            <p:spPr>
              <a:xfrm>
                <a:off x="363737" y="976235"/>
                <a:ext cx="6361655" cy="56483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i="1" smtClean="0">
                              <a:solidFill>
                                <a:srgbClr val="836967"/>
                              </a:solidFill>
                              <a:latin typeface="Cambria Math" panose="02040503050406030204" pitchFamily="18" charset="0"/>
                            </a:rPr>
                          </m:ctrlPr>
                        </m:sSubSupPr>
                        <m:e>
                          <m:r>
                            <a:rPr lang="en-US" i="1">
                              <a:latin typeface="Cambria Math" panose="02040503050406030204" pitchFamily="18" charset="0"/>
                            </a:rPr>
                            <m:t>𝑈</m:t>
                          </m:r>
                        </m:e>
                        <m:sub>
                          <m:r>
                            <a:rPr lang="en-US" i="1">
                              <a:latin typeface="Cambria Math" panose="02040503050406030204" pitchFamily="18" charset="0"/>
                            </a:rPr>
                            <m:t>𝑡</m:t>
                          </m:r>
                          <m:r>
                            <a:rPr lang="en-US" i="0">
                              <a:latin typeface="Cambria Math" panose="02040503050406030204" pitchFamily="18" charset="0"/>
                            </a:rPr>
                            <m:t>,</m:t>
                          </m:r>
                          <m:r>
                            <a:rPr lang="en-US" i="1">
                              <a:latin typeface="Cambria Math" panose="02040503050406030204" pitchFamily="18" charset="0"/>
                            </a:rPr>
                            <m:t>𝑛</m:t>
                          </m:r>
                        </m:sub>
                        <m:sup>
                          <m:r>
                            <a:rPr lang="en-US" i="1">
                              <a:latin typeface="Cambria Math" panose="02040503050406030204" pitchFamily="18" charset="0"/>
                            </a:rPr>
                            <m:t>𝐷𝑅</m:t>
                          </m:r>
                        </m:sup>
                      </m:sSubSup>
                      <m:r>
                        <a:rPr lang="en-US" i="0">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𝑛</m:t>
                              </m:r>
                            </m:sub>
                          </m:sSub>
                        </m:num>
                        <m:den>
                          <m:r>
                            <a:rPr lang="en-US" i="1">
                              <a:latin typeface="Cambria Math" panose="02040503050406030204" pitchFamily="18" charset="0"/>
                            </a:rPr>
                            <m:t>2</m:t>
                          </m:r>
                        </m:den>
                      </m:f>
                      <m:r>
                        <a:rPr lang="ja-JP" altLang="en-US">
                          <a:latin typeface="Cambria Math" panose="02040503050406030204" pitchFamily="18" charset="0"/>
                        </a:rPr>
                        <m:t>･</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sSubSup>
                                <m:sSubSupPr>
                                  <m:ctrlPr>
                                    <a:rPr lang="en-US" i="1">
                                      <a:latin typeface="Cambria Math" panose="02040503050406030204" pitchFamily="18" charset="0"/>
                                    </a:rPr>
                                  </m:ctrlPr>
                                </m:sSubSupPr>
                                <m:e>
                                  <m:r>
                                    <a:rPr lang="en-US" i="1">
                                      <a:latin typeface="Cambria Math" panose="02040503050406030204" pitchFamily="18" charset="0"/>
                                    </a:rPr>
                                    <m:t>𝐸</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𝑛</m:t>
                                  </m:r>
                                </m:sub>
                                <m:sup>
                                  <m:r>
                                    <a:rPr lang="en-US" i="1">
                                      <a:latin typeface="Cambria Math" panose="02040503050406030204" pitchFamily="18" charset="0"/>
                                    </a:rPr>
                                    <m:t>𝑒𝑙𝑎𝑠</m:t>
                                  </m:r>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𝑒</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𝑛</m:t>
                                  </m:r>
                                </m:sub>
                                <m:sup>
                                  <m:r>
                                    <a:rPr lang="en-US" i="1">
                                      <a:latin typeface="Cambria Math" panose="02040503050406030204" pitchFamily="18" charset="0"/>
                                    </a:rPr>
                                    <m:t>𝑒𝑙𝑎𝑠</m:t>
                                  </m:r>
                                </m:sup>
                              </m:sSubSup>
                            </m:e>
                          </m:d>
                        </m:e>
                        <m:sup>
                          <m:r>
                            <a:rPr lang="en-US" i="1">
                              <a:latin typeface="Cambria Math" panose="02040503050406030204" pitchFamily="18" charset="0"/>
                            </a:rPr>
                            <m:t>2</m:t>
                          </m:r>
                        </m:sup>
                      </m:sSup>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𝑛</m:t>
                          </m:r>
                        </m:sub>
                      </m:sSub>
                      <m:r>
                        <a:rPr lang="ja-JP" altLang="en-US">
                          <a:latin typeface="Cambria Math" panose="02040503050406030204" pitchFamily="18" charset="0"/>
                        </a:rPr>
                        <m:t>･</m:t>
                      </m:r>
                      <m:d>
                        <m:dPr>
                          <m:ctrlPr>
                            <a:rPr lang="en-US" i="1">
                              <a:latin typeface="Cambria Math" panose="02040503050406030204" pitchFamily="18" charset="0"/>
                            </a:rPr>
                          </m:ctrlPr>
                        </m:dPr>
                        <m:e>
                          <m:sSubSup>
                            <m:sSubSupPr>
                              <m:ctrlPr>
                                <a:rPr lang="en-US" i="1">
                                  <a:latin typeface="Cambria Math" panose="02040503050406030204" pitchFamily="18" charset="0"/>
                                </a:rPr>
                              </m:ctrlPr>
                            </m:sSubSupPr>
                            <m:e>
                              <m:r>
                                <a:rPr lang="en-US" i="1">
                                  <a:latin typeface="Cambria Math" panose="02040503050406030204" pitchFamily="18" charset="0"/>
                                </a:rPr>
                                <m:t>𝐸</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𝑛</m:t>
                              </m:r>
                            </m:sub>
                            <m:sup>
                              <m:r>
                                <a:rPr lang="en-US" i="1">
                                  <a:latin typeface="Cambria Math" panose="02040503050406030204" pitchFamily="18" charset="0"/>
                                </a:rPr>
                                <m:t>𝑒𝑙𝑎𝑠</m:t>
                              </m:r>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𝑒</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𝑛</m:t>
                              </m:r>
                            </m:sub>
                            <m:sup>
                              <m:r>
                                <a:rPr lang="en-US" i="1">
                                  <a:latin typeface="Cambria Math" panose="02040503050406030204" pitchFamily="18" charset="0"/>
                                </a:rPr>
                                <m:t>𝑒𝑙𝑎𝑠</m:t>
                              </m:r>
                            </m:sup>
                          </m:sSubSup>
                        </m:e>
                      </m:d>
                      <m:r>
                        <a:rPr lang="ja-JP" altLang="en-US" i="1">
                          <a:latin typeface="Cambria Math" panose="02040503050406030204" pitchFamily="18" charset="0"/>
                        </a:rPr>
                        <m:t>　</m:t>
                      </m:r>
                      <m:r>
                        <a:rPr lang="en-US" altLang="ja-JP" b="0" i="1" smtClean="0">
                          <a:latin typeface="Cambria Math" panose="02040503050406030204" pitchFamily="18" charset="0"/>
                        </a:rPr>
                        <m:t>(13)</m:t>
                      </m:r>
                    </m:oMath>
                  </m:oMathPara>
                </a14:m>
                <a:endParaRPr lang="en-US" dirty="0"/>
              </a:p>
            </p:txBody>
          </p:sp>
        </mc:Choice>
        <mc:Fallback xmlns="">
          <p:sp>
            <p:nvSpPr>
              <p:cNvPr id="5" name="テキスト ボックス 4">
                <a:extLst>
                  <a:ext uri="{FF2B5EF4-FFF2-40B4-BE49-F238E27FC236}">
                    <a16:creationId xmlns:a16="http://schemas.microsoft.com/office/drawing/2014/main" id="{69ABE165-84F1-04E0-ED5C-73BB6D5B6A76}"/>
                  </a:ext>
                </a:extLst>
              </p:cNvPr>
              <p:cNvSpPr txBox="1">
                <a:spLocks noRot="1" noChangeAspect="1" noMove="1" noResize="1" noEditPoints="1" noAdjustHandles="1" noChangeArrowheads="1" noChangeShapeType="1" noTextEdit="1"/>
              </p:cNvSpPr>
              <p:nvPr/>
            </p:nvSpPr>
            <p:spPr>
              <a:xfrm>
                <a:off x="363737" y="976235"/>
                <a:ext cx="6361655" cy="564835"/>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テキスト ボックス 7">
                <a:extLst>
                  <a:ext uri="{FF2B5EF4-FFF2-40B4-BE49-F238E27FC236}">
                    <a16:creationId xmlns:a16="http://schemas.microsoft.com/office/drawing/2014/main" id="{BCA68F18-070C-67C3-7A34-68C3AC0D0AB3}"/>
                  </a:ext>
                </a:extLst>
              </p:cNvPr>
              <p:cNvSpPr txBox="1"/>
              <p:nvPr/>
            </p:nvSpPr>
            <p:spPr>
              <a:xfrm>
                <a:off x="-257908" y="1886943"/>
                <a:ext cx="8758052" cy="56483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eqArr>
                        <m:eqArrPr>
                          <m:ctrlPr>
                            <a:rPr lang="en-US" i="1" smtClean="0">
                              <a:solidFill>
                                <a:srgbClr val="836967"/>
                              </a:solidFill>
                              <a:latin typeface="Cambria Math" panose="02040503050406030204" pitchFamily="18" charset="0"/>
                            </a:rPr>
                          </m:ctrlPr>
                        </m:eqArrPr>
                        <m:e>
                          <m:r>
                            <a:rPr lang="en-US">
                              <a:latin typeface="Cambria Math" panose="02040503050406030204" pitchFamily="18" charset="0"/>
                            </a:rPr>
                            <m:t>&amp;</m:t>
                          </m:r>
                        </m:e>
                        <m:e>
                          <m:sSubSup>
                            <m:sSubSupPr>
                              <m:ctrlPr>
                                <a:rPr lang="en-US" i="1">
                                  <a:solidFill>
                                    <a:srgbClr val="836967"/>
                                  </a:solidFill>
                                  <a:latin typeface="Cambria Math" panose="02040503050406030204" pitchFamily="18" charset="0"/>
                                </a:rPr>
                              </m:ctrlPr>
                            </m:sSubSupPr>
                            <m:e>
                              <m:r>
                                <a:rPr lang="en-US" i="1">
                                  <a:latin typeface="Cambria Math" panose="02040503050406030204" pitchFamily="18" charset="0"/>
                                </a:rPr>
                                <m:t>𝑈</m:t>
                              </m:r>
                            </m:e>
                            <m:sub>
                              <m:r>
                                <a:rPr lang="en-US" i="1">
                                  <a:latin typeface="Cambria Math" panose="02040503050406030204" pitchFamily="18" charset="0"/>
                                </a:rPr>
                                <m:t>𝑡</m:t>
                              </m:r>
                              <m:r>
                                <a:rPr lang="en-US">
                                  <a:latin typeface="Cambria Math" panose="02040503050406030204" pitchFamily="18" charset="0"/>
                                </a:rPr>
                                <m:t>,</m:t>
                              </m:r>
                              <m:r>
                                <a:rPr lang="en-US" i="1">
                                  <a:latin typeface="Cambria Math" panose="02040503050406030204" pitchFamily="18" charset="0"/>
                                </a:rPr>
                                <m:t>𝑛</m:t>
                              </m:r>
                            </m:sub>
                            <m:sup>
                              <m:r>
                                <a:rPr lang="en-US" i="1">
                                  <a:latin typeface="Cambria Math" panose="02040503050406030204" pitchFamily="18" charset="0"/>
                                </a:rPr>
                                <m:t>𝑏𝑎𝑡</m:t>
                              </m:r>
                            </m:sup>
                          </m:sSubSup>
                          <m:r>
                            <a:rPr lang="en-US">
                              <a:latin typeface="Cambria Math" panose="02040503050406030204" pitchFamily="18" charset="0"/>
                            </a:rPr>
                            <m:t>=</m:t>
                          </m:r>
                        </m:e>
                      </m:eqArr>
                      <m:f>
                        <m:fPr>
                          <m:ctrlPr>
                            <a:rPr lang="en-US" altLang="ja-JP" i="1">
                              <a:solidFill>
                                <a:srgbClr val="836967"/>
                              </a:solidFill>
                              <a:latin typeface="Cambria Math" panose="02040503050406030204" pitchFamily="18" charset="0"/>
                            </a:rPr>
                          </m:ctrlPr>
                        </m:fPr>
                        <m:num>
                          <m:sSub>
                            <m:sSubPr>
                              <m:ctrlPr>
                                <a:rPr lang="en-US" altLang="ja-JP" i="1">
                                  <a:solidFill>
                                    <a:srgbClr val="836967"/>
                                  </a:solidFill>
                                  <a:latin typeface="Cambria Math" panose="02040503050406030204" pitchFamily="18" charset="0"/>
                                </a:rPr>
                              </m:ctrlPr>
                            </m:sSubPr>
                            <m:e>
                              <m:r>
                                <a:rPr lang="en-US" altLang="ja-JP" i="1">
                                  <a:latin typeface="Cambria Math" panose="02040503050406030204" pitchFamily="18" charset="0"/>
                                </a:rPr>
                                <m:t>𝛾</m:t>
                              </m:r>
                            </m:e>
                            <m:sub>
                              <m:r>
                                <a:rPr lang="en-US" altLang="ja-JP" i="1">
                                  <a:latin typeface="Cambria Math" panose="02040503050406030204" pitchFamily="18" charset="0"/>
                                </a:rPr>
                                <m:t>𝑛</m:t>
                              </m:r>
                            </m:sub>
                          </m:sSub>
                        </m:num>
                        <m:den>
                          <m:r>
                            <a:rPr lang="en-US" altLang="ja-JP">
                              <a:latin typeface="Cambria Math" panose="02040503050406030204" pitchFamily="18" charset="0"/>
                            </a:rPr>
                            <m:t>2</m:t>
                          </m:r>
                        </m:den>
                      </m:f>
                      <m:sSup>
                        <m:sSupPr>
                          <m:ctrlPr>
                            <a:rPr lang="en-US" altLang="ja-JP" i="1">
                              <a:solidFill>
                                <a:srgbClr val="836967"/>
                              </a:solidFill>
                              <a:latin typeface="Cambria Math" panose="02040503050406030204" pitchFamily="18" charset="0"/>
                            </a:rPr>
                          </m:ctrlPr>
                        </m:sSupPr>
                        <m:e>
                          <m:d>
                            <m:dPr>
                              <m:ctrlPr>
                                <a:rPr lang="en-US" altLang="ja-JP" i="1">
                                  <a:solidFill>
                                    <a:srgbClr val="836967"/>
                                  </a:solidFill>
                                  <a:latin typeface="Cambria Math" panose="02040503050406030204" pitchFamily="18" charset="0"/>
                                </a:rPr>
                              </m:ctrlPr>
                            </m:dPr>
                            <m:e>
                              <m:sSubSup>
                                <m:sSubSupPr>
                                  <m:ctrlPr>
                                    <a:rPr lang="en-US" altLang="ja-JP" i="1">
                                      <a:solidFill>
                                        <a:srgbClr val="836967"/>
                                      </a:solidFill>
                                      <a:latin typeface="Cambria Math" panose="02040503050406030204" pitchFamily="18" charset="0"/>
                                    </a:rPr>
                                  </m:ctrlPr>
                                </m:sSubSupPr>
                                <m:e>
                                  <m:r>
                                    <a:rPr lang="en-US" altLang="ja-JP" i="1">
                                      <a:latin typeface="Cambria Math" panose="02040503050406030204" pitchFamily="18" charset="0"/>
                                    </a:rPr>
                                    <m:t>𝑆𝑂𝐶</m:t>
                                  </m:r>
                                </m:e>
                                <m:sub>
                                  <m:r>
                                    <a:rPr lang="en-US" altLang="ja-JP" i="1">
                                      <a:latin typeface="Cambria Math" panose="02040503050406030204" pitchFamily="18" charset="0"/>
                                    </a:rPr>
                                    <m:t>𝑛</m:t>
                                  </m:r>
                                </m:sub>
                                <m:sup>
                                  <m:r>
                                    <a:rPr lang="en-US" altLang="ja-JP" i="1">
                                      <a:latin typeface="Cambria Math" panose="02040503050406030204" pitchFamily="18" charset="0"/>
                                    </a:rPr>
                                    <m:t>𝑢𝑏</m:t>
                                  </m:r>
                                  <m:r>
                                    <a:rPr lang="en-US" altLang="ja-JP">
                                      <a:latin typeface="Cambria Math" panose="02040503050406030204" pitchFamily="18" charset="0"/>
                                    </a:rPr>
                                    <m:t>,</m:t>
                                  </m:r>
                                  <m:r>
                                    <a:rPr lang="en-US" altLang="ja-JP" i="1">
                                      <a:latin typeface="Cambria Math" panose="02040503050406030204" pitchFamily="18" charset="0"/>
                                    </a:rPr>
                                    <m:t>𝑏𝑎𝑡</m:t>
                                  </m:r>
                                </m:sup>
                              </m:sSubSup>
                              <m:r>
                                <a:rPr lang="en-US" altLang="ja-JP">
                                  <a:latin typeface="Cambria Math" panose="02040503050406030204" pitchFamily="18" charset="0"/>
                                </a:rPr>
                                <m:t>−</m:t>
                              </m:r>
                              <m:sSubSup>
                                <m:sSubSupPr>
                                  <m:ctrlPr>
                                    <a:rPr lang="en-US" altLang="ja-JP" i="1">
                                      <a:solidFill>
                                        <a:srgbClr val="836967"/>
                                      </a:solidFill>
                                      <a:latin typeface="Cambria Math" panose="02040503050406030204" pitchFamily="18" charset="0"/>
                                    </a:rPr>
                                  </m:ctrlPr>
                                </m:sSubSupPr>
                                <m:e>
                                  <m:r>
                                    <a:rPr lang="en-US" altLang="ja-JP" i="1">
                                      <a:latin typeface="Cambria Math" panose="02040503050406030204" pitchFamily="18" charset="0"/>
                                    </a:rPr>
                                    <m:t>𝑆𝑂𝐶</m:t>
                                  </m:r>
                                </m:e>
                                <m:sub>
                                  <m:r>
                                    <a:rPr lang="en-US" altLang="ja-JP" i="1">
                                      <a:latin typeface="Cambria Math" panose="02040503050406030204" pitchFamily="18" charset="0"/>
                                    </a:rPr>
                                    <m:t>𝑡</m:t>
                                  </m:r>
                                  <m:r>
                                    <a:rPr lang="en-US" altLang="ja-JP" b="0" i="1" smtClean="0">
                                      <a:latin typeface="Cambria Math" panose="02040503050406030204" pitchFamily="18" charset="0"/>
                                    </a:rPr>
                                    <m:t>+1</m:t>
                                  </m:r>
                                  <m:r>
                                    <a:rPr lang="en-US" altLang="ja-JP">
                                      <a:latin typeface="Cambria Math" panose="02040503050406030204" pitchFamily="18" charset="0"/>
                                    </a:rPr>
                                    <m:t>,</m:t>
                                  </m:r>
                                  <m:r>
                                    <a:rPr lang="en-US" altLang="ja-JP" i="1">
                                      <a:latin typeface="Cambria Math" panose="02040503050406030204" pitchFamily="18" charset="0"/>
                                    </a:rPr>
                                    <m:t>𝑛</m:t>
                                  </m:r>
                                </m:sub>
                                <m:sup>
                                  <m:r>
                                    <a:rPr lang="en-US" altLang="ja-JP" i="1">
                                      <a:latin typeface="Cambria Math" panose="02040503050406030204" pitchFamily="18" charset="0"/>
                                    </a:rPr>
                                    <m:t>𝑏𝑎𝑡</m:t>
                                  </m:r>
                                </m:sup>
                              </m:sSubSup>
                            </m:e>
                          </m:d>
                        </m:e>
                        <m:sup>
                          <m:r>
                            <a:rPr lang="en-US" altLang="ja-JP">
                              <a:latin typeface="Cambria Math" panose="02040503050406030204" pitchFamily="18" charset="0"/>
                            </a:rPr>
                            <m:t>2</m:t>
                          </m:r>
                        </m:sup>
                      </m:sSup>
                      <m:r>
                        <a:rPr lang="en-US" altLang="ja-JP">
                          <a:latin typeface="Cambria Math" panose="02040503050406030204" pitchFamily="18" charset="0"/>
                        </a:rPr>
                        <m:t>+</m:t>
                      </m:r>
                      <m:sSub>
                        <m:sSubPr>
                          <m:ctrlPr>
                            <a:rPr lang="en-US" altLang="ja-JP" i="1">
                              <a:solidFill>
                                <a:srgbClr val="836967"/>
                              </a:solidFill>
                              <a:latin typeface="Cambria Math" panose="02040503050406030204" pitchFamily="18" charset="0"/>
                            </a:rPr>
                          </m:ctrlPr>
                        </m:sSubPr>
                        <m:e>
                          <m:r>
                            <a:rPr lang="en-US" altLang="ja-JP" i="1">
                              <a:latin typeface="Cambria Math" panose="02040503050406030204" pitchFamily="18" charset="0"/>
                            </a:rPr>
                            <m:t>𝜀</m:t>
                          </m:r>
                        </m:e>
                        <m:sub>
                          <m:r>
                            <a:rPr lang="en-US" altLang="ja-JP" i="1">
                              <a:latin typeface="Cambria Math" panose="02040503050406030204" pitchFamily="18" charset="0"/>
                            </a:rPr>
                            <m:t>𝑛</m:t>
                          </m:r>
                        </m:sub>
                      </m:sSub>
                      <m:d>
                        <m:dPr>
                          <m:ctrlPr>
                            <a:rPr lang="en-US" altLang="ja-JP" i="1">
                              <a:solidFill>
                                <a:srgbClr val="836967"/>
                              </a:solidFill>
                              <a:latin typeface="Cambria Math" panose="02040503050406030204" pitchFamily="18" charset="0"/>
                            </a:rPr>
                          </m:ctrlPr>
                        </m:dPr>
                        <m:e>
                          <m:sSubSup>
                            <m:sSubSupPr>
                              <m:ctrlPr>
                                <a:rPr lang="en-US" altLang="ja-JP" i="1">
                                  <a:solidFill>
                                    <a:srgbClr val="836967"/>
                                  </a:solidFill>
                                  <a:latin typeface="Cambria Math" panose="02040503050406030204" pitchFamily="18" charset="0"/>
                                </a:rPr>
                              </m:ctrlPr>
                            </m:sSubSupPr>
                            <m:e>
                              <m:r>
                                <a:rPr lang="en-US" altLang="ja-JP" i="1">
                                  <a:latin typeface="Cambria Math" panose="02040503050406030204" pitchFamily="18" charset="0"/>
                                </a:rPr>
                                <m:t>𝑆𝑂𝐶</m:t>
                              </m:r>
                            </m:e>
                            <m:sub>
                              <m:r>
                                <a:rPr lang="en-US" altLang="ja-JP" i="1">
                                  <a:latin typeface="Cambria Math" panose="02040503050406030204" pitchFamily="18" charset="0"/>
                                </a:rPr>
                                <m:t>𝑛</m:t>
                              </m:r>
                            </m:sub>
                            <m:sup>
                              <m:r>
                                <a:rPr lang="en-US" altLang="ja-JP" i="1">
                                  <a:latin typeface="Cambria Math" panose="02040503050406030204" pitchFamily="18" charset="0"/>
                                </a:rPr>
                                <m:t>𝑢𝑏</m:t>
                              </m:r>
                              <m:r>
                                <a:rPr lang="en-US" altLang="ja-JP">
                                  <a:latin typeface="Cambria Math" panose="02040503050406030204" pitchFamily="18" charset="0"/>
                                </a:rPr>
                                <m:t>,</m:t>
                              </m:r>
                              <m:r>
                                <a:rPr lang="en-US" altLang="ja-JP" i="1">
                                  <a:latin typeface="Cambria Math" panose="02040503050406030204" pitchFamily="18" charset="0"/>
                                </a:rPr>
                                <m:t>𝑏𝑎𝑡</m:t>
                              </m:r>
                            </m:sup>
                          </m:sSubSup>
                          <m:r>
                            <a:rPr lang="en-US" altLang="ja-JP">
                              <a:latin typeface="Cambria Math" panose="02040503050406030204" pitchFamily="18" charset="0"/>
                            </a:rPr>
                            <m:t>−</m:t>
                          </m:r>
                          <m:sSubSup>
                            <m:sSubSupPr>
                              <m:ctrlPr>
                                <a:rPr lang="en-US" altLang="ja-JP" i="1">
                                  <a:solidFill>
                                    <a:srgbClr val="836967"/>
                                  </a:solidFill>
                                  <a:latin typeface="Cambria Math" panose="02040503050406030204" pitchFamily="18" charset="0"/>
                                </a:rPr>
                              </m:ctrlPr>
                            </m:sSubSupPr>
                            <m:e>
                              <m:r>
                                <a:rPr lang="en-US" altLang="ja-JP" i="1">
                                  <a:latin typeface="Cambria Math" panose="02040503050406030204" pitchFamily="18" charset="0"/>
                                </a:rPr>
                                <m:t>𝑆𝑂𝐶</m:t>
                              </m:r>
                            </m:e>
                            <m:sub>
                              <m:r>
                                <a:rPr lang="en-US" altLang="ja-JP" i="1">
                                  <a:latin typeface="Cambria Math" panose="02040503050406030204" pitchFamily="18" charset="0"/>
                                </a:rPr>
                                <m:t>𝑡</m:t>
                              </m:r>
                              <m:r>
                                <a:rPr lang="en-US" altLang="ja-JP" b="0" i="1" smtClean="0">
                                  <a:latin typeface="Cambria Math" panose="02040503050406030204" pitchFamily="18" charset="0"/>
                                </a:rPr>
                                <m:t>+1</m:t>
                              </m:r>
                              <m:r>
                                <a:rPr lang="en-US" altLang="ja-JP">
                                  <a:latin typeface="Cambria Math" panose="02040503050406030204" pitchFamily="18" charset="0"/>
                                </a:rPr>
                                <m:t>,</m:t>
                              </m:r>
                              <m:r>
                                <a:rPr lang="en-US" altLang="ja-JP" i="1">
                                  <a:latin typeface="Cambria Math" panose="02040503050406030204" pitchFamily="18" charset="0"/>
                                </a:rPr>
                                <m:t>𝑛</m:t>
                              </m:r>
                            </m:sub>
                            <m:sup>
                              <m:r>
                                <a:rPr lang="en-US" altLang="ja-JP" i="1">
                                  <a:latin typeface="Cambria Math" panose="02040503050406030204" pitchFamily="18" charset="0"/>
                                </a:rPr>
                                <m:t>𝑏𝑎𝑡</m:t>
                              </m:r>
                            </m:sup>
                          </m:sSubSup>
                        </m:e>
                      </m:d>
                      <m:r>
                        <a:rPr lang="ja-JP" altLang="en-US" i="1">
                          <a:latin typeface="Cambria Math" panose="02040503050406030204" pitchFamily="18" charset="0"/>
                        </a:rPr>
                        <m:t>　</m:t>
                      </m:r>
                      <m:r>
                        <a:rPr lang="en-US" altLang="ja-JP" i="1">
                          <a:latin typeface="Cambria Math" panose="02040503050406030204" pitchFamily="18" charset="0"/>
                        </a:rPr>
                        <m:t>(1</m:t>
                      </m:r>
                      <m:r>
                        <a:rPr lang="en-US" altLang="ja-JP" b="0" i="1" smtClean="0">
                          <a:latin typeface="Cambria Math" panose="02040503050406030204" pitchFamily="18" charset="0"/>
                        </a:rPr>
                        <m:t>4</m:t>
                      </m:r>
                      <m:r>
                        <a:rPr lang="en-US" altLang="ja-JP" i="1">
                          <a:latin typeface="Cambria Math" panose="02040503050406030204" pitchFamily="18" charset="0"/>
                        </a:rPr>
                        <m:t>)</m:t>
                      </m:r>
                    </m:oMath>
                  </m:oMathPara>
                </a14:m>
                <a:endParaRPr lang="en-US" dirty="0"/>
              </a:p>
            </p:txBody>
          </p:sp>
        </mc:Choice>
        <mc:Fallback xmlns="">
          <p:sp>
            <p:nvSpPr>
              <p:cNvPr id="8" name="テキスト ボックス 7">
                <a:extLst>
                  <a:ext uri="{FF2B5EF4-FFF2-40B4-BE49-F238E27FC236}">
                    <a16:creationId xmlns:a16="http://schemas.microsoft.com/office/drawing/2014/main" id="{BCA68F18-070C-67C3-7A34-68C3AC0D0AB3}"/>
                  </a:ext>
                </a:extLst>
              </p:cNvPr>
              <p:cNvSpPr txBox="1">
                <a:spLocks noRot="1" noChangeAspect="1" noMove="1" noResize="1" noEditPoints="1" noAdjustHandles="1" noChangeArrowheads="1" noChangeShapeType="1" noTextEdit="1"/>
              </p:cNvSpPr>
              <p:nvPr/>
            </p:nvSpPr>
            <p:spPr>
              <a:xfrm>
                <a:off x="-257908" y="1886943"/>
                <a:ext cx="8758052" cy="56483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テキスト ボックス 9">
                <a:extLst>
                  <a:ext uri="{FF2B5EF4-FFF2-40B4-BE49-F238E27FC236}">
                    <a16:creationId xmlns:a16="http://schemas.microsoft.com/office/drawing/2014/main" id="{B5101D91-069E-3341-7C89-35CAEF0129C9}"/>
                  </a:ext>
                </a:extLst>
              </p:cNvPr>
              <p:cNvSpPr txBox="1"/>
              <p:nvPr/>
            </p:nvSpPr>
            <p:spPr>
              <a:xfrm>
                <a:off x="762000" y="2797652"/>
                <a:ext cx="9039101" cy="729623"/>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eqArr>
                        <m:eqArrPr>
                          <m:ctrlPr>
                            <a:rPr lang="en-US" i="1" smtClean="0">
                              <a:solidFill>
                                <a:srgbClr val="836967"/>
                              </a:solidFill>
                              <a:latin typeface="Cambria Math" panose="02040503050406030204" pitchFamily="18" charset="0"/>
                            </a:rPr>
                          </m:ctrlPr>
                        </m:eqArrPr>
                        <m:e>
                          <m:r>
                            <a:rPr lang="en-US">
                              <a:latin typeface="Cambria Math" panose="02040503050406030204" pitchFamily="18" charset="0"/>
                            </a:rPr>
                            <m:t>&amp;</m:t>
                          </m:r>
                          <m:sSubSup>
                            <m:sSubSupPr>
                              <m:ctrlPr>
                                <a:rPr lang="en-US" i="1">
                                  <a:solidFill>
                                    <a:srgbClr val="836967"/>
                                  </a:solidFill>
                                  <a:latin typeface="Cambria Math" panose="02040503050406030204" pitchFamily="18" charset="0"/>
                                </a:rPr>
                              </m:ctrlPr>
                            </m:sSubSupPr>
                            <m:e>
                              <m:r>
                                <a:rPr lang="en-US" i="1">
                                  <a:latin typeface="Cambria Math" panose="02040503050406030204" pitchFamily="18" charset="0"/>
                                </a:rPr>
                                <m:t>𝑈</m:t>
                              </m:r>
                            </m:e>
                            <m:sub>
                              <m:r>
                                <a:rPr lang="en-US" i="1">
                                  <a:latin typeface="Cambria Math" panose="02040503050406030204" pitchFamily="18" charset="0"/>
                                </a:rPr>
                                <m:t>𝑡</m:t>
                              </m:r>
                              <m:r>
                                <a:rPr lang="en-US" i="0">
                                  <a:latin typeface="Cambria Math" panose="02040503050406030204" pitchFamily="18" charset="0"/>
                                </a:rPr>
                                <m:t>,</m:t>
                              </m:r>
                              <m:r>
                                <a:rPr lang="en-US" i="1">
                                  <a:latin typeface="Cambria Math" panose="02040503050406030204" pitchFamily="18" charset="0"/>
                                </a:rPr>
                                <m:t>𝑛</m:t>
                              </m:r>
                            </m:sub>
                            <m:sup>
                              <m:r>
                                <a:rPr lang="en-US" i="1">
                                  <a:latin typeface="Cambria Math" panose="02040503050406030204" pitchFamily="18" charset="0"/>
                                </a:rPr>
                                <m:t>𝐸𝑉</m:t>
                              </m:r>
                            </m:sup>
                          </m:sSubSup>
                          <m:r>
                            <a:rPr lang="en-US" i="0">
                              <a:latin typeface="Cambria Math" panose="02040503050406030204" pitchFamily="18" charset="0"/>
                            </a:rPr>
                            <m:t>=</m:t>
                          </m:r>
                          <m:f>
                            <m:fPr>
                              <m:ctrlPr>
                                <a:rPr lang="en-US" altLang="ja-JP" i="1">
                                  <a:solidFill>
                                    <a:srgbClr val="836967"/>
                                  </a:solidFill>
                                  <a:latin typeface="Cambria Math" panose="02040503050406030204" pitchFamily="18" charset="0"/>
                                </a:rPr>
                              </m:ctrlPr>
                            </m:fPr>
                            <m:num>
                              <m:sSub>
                                <m:sSubPr>
                                  <m:ctrlPr>
                                    <a:rPr lang="en-US" altLang="ja-JP" i="1">
                                      <a:solidFill>
                                        <a:srgbClr val="836967"/>
                                      </a:solidFill>
                                      <a:latin typeface="Cambria Math" panose="02040503050406030204" pitchFamily="18" charset="0"/>
                                    </a:rPr>
                                  </m:ctrlPr>
                                </m:sSubPr>
                                <m:e>
                                  <m:r>
                                    <a:rPr lang="en-US" altLang="ja-JP" i="1">
                                      <a:latin typeface="Cambria Math" panose="02040503050406030204" pitchFamily="18" charset="0"/>
                                    </a:rPr>
                                    <m:t>𝜓</m:t>
                                  </m:r>
                                </m:e>
                                <m:sub>
                                  <m:r>
                                    <a:rPr lang="en-US" altLang="ja-JP" i="1">
                                      <a:latin typeface="Cambria Math" panose="02040503050406030204" pitchFamily="18" charset="0"/>
                                    </a:rPr>
                                    <m:t>𝑛</m:t>
                                  </m:r>
                                </m:sub>
                              </m:sSub>
                            </m:num>
                            <m:den>
                              <m:r>
                                <a:rPr lang="en-US" altLang="ja-JP">
                                  <a:latin typeface="Cambria Math" panose="02040503050406030204" pitchFamily="18" charset="0"/>
                                </a:rPr>
                                <m:t>2</m:t>
                              </m:r>
                            </m:den>
                          </m:f>
                          <m:sSup>
                            <m:sSupPr>
                              <m:ctrlPr>
                                <a:rPr lang="en-US" altLang="ja-JP" i="1">
                                  <a:solidFill>
                                    <a:srgbClr val="836967"/>
                                  </a:solidFill>
                                  <a:latin typeface="Cambria Math" panose="02040503050406030204" pitchFamily="18" charset="0"/>
                                </a:rPr>
                              </m:ctrlPr>
                            </m:sSupPr>
                            <m:e>
                              <m:d>
                                <m:dPr>
                                  <m:ctrlPr>
                                    <a:rPr lang="en-US" altLang="ja-JP" i="1">
                                      <a:solidFill>
                                        <a:srgbClr val="836967"/>
                                      </a:solidFill>
                                      <a:latin typeface="Cambria Math" panose="02040503050406030204" pitchFamily="18" charset="0"/>
                                    </a:rPr>
                                  </m:ctrlPr>
                                </m:dPr>
                                <m:e>
                                  <m:sSubSup>
                                    <m:sSubSupPr>
                                      <m:ctrlPr>
                                        <a:rPr lang="en-US" altLang="ja-JP" i="1">
                                          <a:solidFill>
                                            <a:srgbClr val="836967"/>
                                          </a:solidFill>
                                          <a:latin typeface="Cambria Math" panose="02040503050406030204" pitchFamily="18" charset="0"/>
                                        </a:rPr>
                                      </m:ctrlPr>
                                    </m:sSubSupPr>
                                    <m:e>
                                      <m:r>
                                        <a:rPr lang="en-US" altLang="ja-JP" i="1">
                                          <a:latin typeface="Cambria Math" panose="02040503050406030204" pitchFamily="18" charset="0"/>
                                        </a:rPr>
                                        <m:t>𝑆𝑂𝐶</m:t>
                                      </m:r>
                                    </m:e>
                                    <m:sub>
                                      <m:r>
                                        <a:rPr lang="en-US" altLang="ja-JP" i="1">
                                          <a:latin typeface="Cambria Math" panose="02040503050406030204" pitchFamily="18" charset="0"/>
                                        </a:rPr>
                                        <m:t>𝑛</m:t>
                                      </m:r>
                                    </m:sub>
                                    <m:sup>
                                      <m:r>
                                        <a:rPr lang="en-US" altLang="ja-JP" i="1">
                                          <a:latin typeface="Cambria Math" panose="02040503050406030204" pitchFamily="18" charset="0"/>
                                        </a:rPr>
                                        <m:t>𝑢𝑏</m:t>
                                      </m:r>
                                      <m:r>
                                        <a:rPr lang="en-US" altLang="ja-JP">
                                          <a:latin typeface="Cambria Math" panose="02040503050406030204" pitchFamily="18" charset="0"/>
                                        </a:rPr>
                                        <m:t>,</m:t>
                                      </m:r>
                                      <m:r>
                                        <a:rPr lang="en-US" altLang="ja-JP" i="1">
                                          <a:latin typeface="Cambria Math" panose="02040503050406030204" pitchFamily="18" charset="0"/>
                                        </a:rPr>
                                        <m:t>𝐸𝑉</m:t>
                                      </m:r>
                                    </m:sup>
                                  </m:sSubSup>
                                  <m:r>
                                    <a:rPr lang="en-US" altLang="ja-JP">
                                      <a:latin typeface="Cambria Math" panose="02040503050406030204" pitchFamily="18" charset="0"/>
                                    </a:rPr>
                                    <m:t>−</m:t>
                                  </m:r>
                                  <m:sSubSup>
                                    <m:sSubSupPr>
                                      <m:ctrlPr>
                                        <a:rPr lang="en-US" altLang="ja-JP" i="1">
                                          <a:solidFill>
                                            <a:srgbClr val="836967"/>
                                          </a:solidFill>
                                          <a:latin typeface="Cambria Math" panose="02040503050406030204" pitchFamily="18" charset="0"/>
                                        </a:rPr>
                                      </m:ctrlPr>
                                    </m:sSubSupPr>
                                    <m:e>
                                      <m:r>
                                        <a:rPr lang="en-US" altLang="ja-JP" i="1">
                                          <a:latin typeface="Cambria Math" panose="02040503050406030204" pitchFamily="18" charset="0"/>
                                        </a:rPr>
                                        <m:t>𝑆𝑂𝐶</m:t>
                                      </m:r>
                                    </m:e>
                                    <m:sub>
                                      <m:r>
                                        <a:rPr lang="en-US" altLang="ja-JP" i="1">
                                          <a:latin typeface="Cambria Math" panose="02040503050406030204" pitchFamily="18" charset="0"/>
                                        </a:rPr>
                                        <m:t>𝑡</m:t>
                                      </m:r>
                                      <m:r>
                                        <a:rPr lang="en-US" altLang="ja-JP" b="0" i="1" smtClean="0">
                                          <a:latin typeface="Cambria Math" panose="02040503050406030204" pitchFamily="18" charset="0"/>
                                        </a:rPr>
                                        <m:t>+1</m:t>
                                      </m:r>
                                      <m:r>
                                        <a:rPr lang="en-US" altLang="ja-JP">
                                          <a:latin typeface="Cambria Math" panose="02040503050406030204" pitchFamily="18" charset="0"/>
                                        </a:rPr>
                                        <m:t>,</m:t>
                                      </m:r>
                                      <m:r>
                                        <a:rPr lang="en-US" altLang="ja-JP" i="1">
                                          <a:latin typeface="Cambria Math" panose="02040503050406030204" pitchFamily="18" charset="0"/>
                                        </a:rPr>
                                        <m:t>𝑛</m:t>
                                      </m:r>
                                    </m:sub>
                                    <m:sup>
                                      <m:r>
                                        <a:rPr lang="en-US" altLang="ja-JP" i="1">
                                          <a:latin typeface="Cambria Math" panose="02040503050406030204" pitchFamily="18" charset="0"/>
                                        </a:rPr>
                                        <m:t>𝐸𝑉</m:t>
                                      </m:r>
                                    </m:sup>
                                  </m:sSubSup>
                                </m:e>
                              </m:d>
                            </m:e>
                            <m:sup>
                              <m:r>
                                <a:rPr lang="en-US" altLang="ja-JP">
                                  <a:latin typeface="Cambria Math" panose="02040503050406030204" pitchFamily="18" charset="0"/>
                                </a:rPr>
                                <m:t>2</m:t>
                              </m:r>
                            </m:sup>
                          </m:sSup>
                          <m:r>
                            <a:rPr lang="en-US" altLang="ja-JP">
                              <a:latin typeface="Cambria Math" panose="02040503050406030204" pitchFamily="18" charset="0"/>
                            </a:rPr>
                            <m:t>+</m:t>
                          </m:r>
                          <m:sSub>
                            <m:sSubPr>
                              <m:ctrlPr>
                                <a:rPr lang="en-US" altLang="ja-JP" i="1">
                                  <a:solidFill>
                                    <a:srgbClr val="836967"/>
                                  </a:solidFill>
                                  <a:latin typeface="Cambria Math" panose="02040503050406030204" pitchFamily="18" charset="0"/>
                                </a:rPr>
                              </m:ctrlPr>
                            </m:sSubPr>
                            <m:e>
                              <m:r>
                                <a:rPr lang="en-US" altLang="ja-JP" i="1">
                                  <a:latin typeface="Cambria Math" panose="02040503050406030204" pitchFamily="18" charset="0"/>
                                </a:rPr>
                                <m:t>𝜔</m:t>
                              </m:r>
                            </m:e>
                            <m:sub>
                              <m:r>
                                <a:rPr lang="en-US" altLang="ja-JP" i="1">
                                  <a:latin typeface="Cambria Math" panose="02040503050406030204" pitchFamily="18" charset="0"/>
                                </a:rPr>
                                <m:t>𝑛</m:t>
                              </m:r>
                            </m:sub>
                          </m:sSub>
                          <m:d>
                            <m:dPr>
                              <m:ctrlPr>
                                <a:rPr lang="en-US" altLang="ja-JP" i="1">
                                  <a:solidFill>
                                    <a:srgbClr val="836967"/>
                                  </a:solidFill>
                                  <a:latin typeface="Cambria Math" panose="02040503050406030204" pitchFamily="18" charset="0"/>
                                </a:rPr>
                              </m:ctrlPr>
                            </m:dPr>
                            <m:e>
                              <m:sSubSup>
                                <m:sSubSupPr>
                                  <m:ctrlPr>
                                    <a:rPr lang="en-US" altLang="ja-JP" i="1">
                                      <a:solidFill>
                                        <a:srgbClr val="836967"/>
                                      </a:solidFill>
                                      <a:latin typeface="Cambria Math" panose="02040503050406030204" pitchFamily="18" charset="0"/>
                                    </a:rPr>
                                  </m:ctrlPr>
                                </m:sSubSupPr>
                                <m:e>
                                  <m:r>
                                    <a:rPr lang="en-US" altLang="ja-JP" i="1">
                                      <a:latin typeface="Cambria Math" panose="02040503050406030204" pitchFamily="18" charset="0"/>
                                    </a:rPr>
                                    <m:t>𝑆𝑂𝐶</m:t>
                                  </m:r>
                                </m:e>
                                <m:sub>
                                  <m:r>
                                    <a:rPr lang="en-US" altLang="ja-JP" i="1">
                                      <a:latin typeface="Cambria Math" panose="02040503050406030204" pitchFamily="18" charset="0"/>
                                    </a:rPr>
                                    <m:t>𝑛</m:t>
                                  </m:r>
                                </m:sub>
                                <m:sup>
                                  <m:r>
                                    <a:rPr lang="en-US" altLang="ja-JP" i="1">
                                      <a:latin typeface="Cambria Math" panose="02040503050406030204" pitchFamily="18" charset="0"/>
                                    </a:rPr>
                                    <m:t>𝑢𝑏</m:t>
                                  </m:r>
                                  <m:r>
                                    <a:rPr lang="en-US" altLang="ja-JP">
                                      <a:latin typeface="Cambria Math" panose="02040503050406030204" pitchFamily="18" charset="0"/>
                                    </a:rPr>
                                    <m:t>,</m:t>
                                  </m:r>
                                  <m:r>
                                    <a:rPr lang="en-US" altLang="ja-JP" i="1">
                                      <a:latin typeface="Cambria Math" panose="02040503050406030204" pitchFamily="18" charset="0"/>
                                    </a:rPr>
                                    <m:t>𝐸𝑉</m:t>
                                  </m:r>
                                </m:sup>
                              </m:sSubSup>
                              <m:r>
                                <a:rPr lang="en-US" altLang="ja-JP">
                                  <a:latin typeface="Cambria Math" panose="02040503050406030204" pitchFamily="18" charset="0"/>
                                </a:rPr>
                                <m:t>−</m:t>
                              </m:r>
                              <m:sSubSup>
                                <m:sSubSupPr>
                                  <m:ctrlPr>
                                    <a:rPr lang="en-US" altLang="ja-JP" i="1">
                                      <a:solidFill>
                                        <a:srgbClr val="836967"/>
                                      </a:solidFill>
                                      <a:latin typeface="Cambria Math" panose="02040503050406030204" pitchFamily="18" charset="0"/>
                                    </a:rPr>
                                  </m:ctrlPr>
                                </m:sSubSupPr>
                                <m:e>
                                  <m:r>
                                    <a:rPr lang="en-US" altLang="ja-JP" i="1">
                                      <a:latin typeface="Cambria Math" panose="02040503050406030204" pitchFamily="18" charset="0"/>
                                    </a:rPr>
                                    <m:t>𝑆𝑂𝐶</m:t>
                                  </m:r>
                                </m:e>
                                <m:sub>
                                  <m:r>
                                    <a:rPr lang="en-US" altLang="ja-JP" i="1">
                                      <a:latin typeface="Cambria Math" panose="02040503050406030204" pitchFamily="18" charset="0"/>
                                    </a:rPr>
                                    <m:t>𝑡</m:t>
                                  </m:r>
                                  <m:r>
                                    <a:rPr lang="en-US" altLang="ja-JP" b="0" i="1" smtClean="0">
                                      <a:latin typeface="Cambria Math" panose="02040503050406030204" pitchFamily="18" charset="0"/>
                                    </a:rPr>
                                    <m:t>+1</m:t>
                                  </m:r>
                                  <m:r>
                                    <a:rPr lang="en-US" altLang="ja-JP">
                                      <a:latin typeface="Cambria Math" panose="02040503050406030204" pitchFamily="18" charset="0"/>
                                    </a:rPr>
                                    <m:t>,</m:t>
                                  </m:r>
                                  <m:r>
                                    <a:rPr lang="en-US" altLang="ja-JP" i="1">
                                      <a:latin typeface="Cambria Math" panose="02040503050406030204" pitchFamily="18" charset="0"/>
                                    </a:rPr>
                                    <m:t>𝑛</m:t>
                                  </m:r>
                                </m:sub>
                                <m:sup>
                                  <m:r>
                                    <a:rPr lang="en-US" altLang="ja-JP" i="1">
                                      <a:latin typeface="Cambria Math" panose="02040503050406030204" pitchFamily="18" charset="0"/>
                                    </a:rPr>
                                    <m:t>𝐸𝑉</m:t>
                                  </m:r>
                                </m:sup>
                              </m:sSubSup>
                            </m:e>
                          </m:d>
                          <m:r>
                            <a:rPr lang="ja-JP" altLang="en-US" i="1">
                              <a:latin typeface="Cambria Math" panose="02040503050406030204" pitchFamily="18" charset="0"/>
                            </a:rPr>
                            <m:t>　</m:t>
                          </m:r>
                          <m:r>
                            <a:rPr lang="en-US" altLang="ja-JP" b="0" i="1" smtClean="0">
                              <a:latin typeface="Cambria Math" panose="02040503050406030204" pitchFamily="18" charset="0"/>
                            </a:rPr>
                            <m:t>(15)</m:t>
                          </m:r>
                        </m:e>
                        <m:e>
                          <m:r>
                            <a:rPr lang="en-US" i="0">
                              <a:latin typeface="Cambria Math" panose="02040503050406030204" pitchFamily="18" charset="0"/>
                            </a:rPr>
                            <m:t>&amp;</m:t>
                          </m:r>
                        </m:e>
                      </m:eqArr>
                    </m:oMath>
                  </m:oMathPara>
                </a14:m>
                <a:endParaRPr lang="en-US" dirty="0"/>
              </a:p>
            </p:txBody>
          </p:sp>
        </mc:Choice>
        <mc:Fallback xmlns="">
          <p:sp>
            <p:nvSpPr>
              <p:cNvPr id="10" name="テキスト ボックス 9">
                <a:extLst>
                  <a:ext uri="{FF2B5EF4-FFF2-40B4-BE49-F238E27FC236}">
                    <a16:creationId xmlns:a16="http://schemas.microsoft.com/office/drawing/2014/main" id="{B5101D91-069E-3341-7C89-35CAEF0129C9}"/>
                  </a:ext>
                </a:extLst>
              </p:cNvPr>
              <p:cNvSpPr txBox="1">
                <a:spLocks noRot="1" noChangeAspect="1" noMove="1" noResize="1" noEditPoints="1" noAdjustHandles="1" noChangeArrowheads="1" noChangeShapeType="1" noTextEdit="1"/>
              </p:cNvSpPr>
              <p:nvPr/>
            </p:nvSpPr>
            <p:spPr>
              <a:xfrm>
                <a:off x="762000" y="2797652"/>
                <a:ext cx="9039101" cy="729623"/>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1" name="表 10">
                <a:extLst>
                  <a:ext uri="{FF2B5EF4-FFF2-40B4-BE49-F238E27FC236}">
                    <a16:creationId xmlns:a16="http://schemas.microsoft.com/office/drawing/2014/main" id="{CBE39B06-F69F-29EC-5F79-EA3B5A9975B9}"/>
                  </a:ext>
                </a:extLst>
              </p:cNvPr>
              <p:cNvGraphicFramePr>
                <a:graphicFrameLocks noGrp="1"/>
              </p:cNvGraphicFramePr>
              <p:nvPr>
                <p:extLst>
                  <p:ext uri="{D42A27DB-BD31-4B8C-83A1-F6EECF244321}">
                    <p14:modId xmlns:p14="http://schemas.microsoft.com/office/powerpoint/2010/main" val="1689000990"/>
                  </p:ext>
                </p:extLst>
              </p:nvPr>
            </p:nvGraphicFramePr>
            <p:xfrm>
              <a:off x="515088" y="3832580"/>
              <a:ext cx="8142511" cy="1609107"/>
            </p:xfrm>
            <a:graphic>
              <a:graphicData uri="http://schemas.openxmlformats.org/drawingml/2006/table">
                <a:tbl>
                  <a:tblPr bandRow="1">
                    <a:tableStyleId>{5C22544A-7EE6-4342-B048-85BDC9FD1C3A}</a:tableStyleId>
                  </a:tblPr>
                  <a:tblGrid>
                    <a:gridCol w="1159822">
                      <a:extLst>
                        <a:ext uri="{9D8B030D-6E8A-4147-A177-3AD203B41FA5}">
                          <a16:colId xmlns:a16="http://schemas.microsoft.com/office/drawing/2014/main" val="2815638221"/>
                        </a:ext>
                      </a:extLst>
                    </a:gridCol>
                    <a:gridCol w="273133">
                      <a:extLst>
                        <a:ext uri="{9D8B030D-6E8A-4147-A177-3AD203B41FA5}">
                          <a16:colId xmlns:a16="http://schemas.microsoft.com/office/drawing/2014/main" val="3280904105"/>
                        </a:ext>
                      </a:extLst>
                    </a:gridCol>
                    <a:gridCol w="6709556">
                      <a:extLst>
                        <a:ext uri="{9D8B030D-6E8A-4147-A177-3AD203B41FA5}">
                          <a16:colId xmlns:a16="http://schemas.microsoft.com/office/drawing/2014/main" val="2064586492"/>
                        </a:ext>
                      </a:extLst>
                    </a:gridCol>
                  </a:tblGrid>
                  <a:tr h="536369">
                    <a:tc>
                      <a:txBody>
                        <a:bodyPr/>
                        <a:lstStyle/>
                        <a:p>
                          <a14:m>
                            <m:oMath xmlns:m="http://schemas.openxmlformats.org/officeDocument/2006/math">
                              <m:sSub>
                                <m:sSubPr>
                                  <m:ctrlPr>
                                    <a:rPr lang="en-US" sz="1600" i="1" smtClean="0">
                                      <a:solidFill>
                                        <a:srgbClr val="836967"/>
                                      </a:solidFill>
                                      <a:latin typeface="Cambria Math" panose="02040503050406030204" pitchFamily="18" charset="0"/>
                                    </a:rPr>
                                  </m:ctrlPr>
                                </m:sSubPr>
                                <m:e>
                                  <m:r>
                                    <a:rPr lang="en-US" sz="1600" i="1">
                                      <a:latin typeface="Cambria Math" panose="02040503050406030204" pitchFamily="18" charset="0"/>
                                    </a:rPr>
                                    <m:t>𝛼</m:t>
                                  </m:r>
                                </m:e>
                                <m:sub>
                                  <m:r>
                                    <a:rPr lang="en-US" sz="1600" i="1">
                                      <a:latin typeface="Cambria Math" panose="02040503050406030204" pitchFamily="18" charset="0"/>
                                    </a:rPr>
                                    <m:t>𝑛</m:t>
                                  </m:r>
                                </m:sub>
                              </m:sSub>
                            </m:oMath>
                          </a14:m>
                          <a:r>
                            <a:rPr lang="en-US" sz="1600" dirty="0"/>
                            <a:t>, </a:t>
                          </a:r>
                          <a14:m>
                            <m:oMath xmlns:m="http://schemas.openxmlformats.org/officeDocument/2006/math">
                              <m:sSub>
                                <m:sSubPr>
                                  <m:ctrlPr>
                                    <a:rPr lang="en-US" sz="1600" i="1" smtClean="0">
                                      <a:solidFill>
                                        <a:srgbClr val="836967"/>
                                      </a:solidFill>
                                      <a:latin typeface="Cambria Math" panose="02040503050406030204" pitchFamily="18" charset="0"/>
                                    </a:rPr>
                                  </m:ctrlPr>
                                </m:sSubPr>
                                <m:e>
                                  <m:r>
                                    <a:rPr lang="en-US" sz="1600" i="1">
                                      <a:latin typeface="Cambria Math" panose="02040503050406030204" pitchFamily="18" charset="0"/>
                                    </a:rPr>
                                    <m:t>𝛽</m:t>
                                  </m:r>
                                </m:e>
                                <m:sub>
                                  <m:r>
                                    <a:rPr lang="en-US" sz="1600" i="1">
                                      <a:latin typeface="Cambria Math" panose="02040503050406030204" pitchFamily="18" charset="0"/>
                                    </a:rPr>
                                    <m:t>𝑛</m:t>
                                  </m:r>
                                </m:sub>
                              </m:sSub>
                            </m:oMath>
                          </a14:m>
                          <a:endParaRPr lang="en-US" sz="1600" dirty="0"/>
                        </a:p>
                      </a:txBody>
                      <a:tcPr>
                        <a:no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600" dirty="0"/>
                            <a:t>:</a:t>
                          </a:r>
                        </a:p>
                      </a:txBody>
                      <a:tcPr>
                        <a:noFill/>
                      </a:tcPr>
                    </a:tc>
                    <a:tc>
                      <a:txBody>
                        <a:bodyPr/>
                        <a:lstStyle/>
                        <a:p>
                          <a:r>
                            <a:rPr lang="en-US" sz="1600" dirty="0"/>
                            <a:t>Coefficients</a:t>
                          </a:r>
                          <a:r>
                            <a:rPr lang="ja-JP" altLang="en-US" sz="1600" dirty="0"/>
                            <a:t> </a:t>
                          </a:r>
                          <a:r>
                            <a:rPr lang="en-US" altLang="ja-JP" sz="1600" dirty="0"/>
                            <a:t>of</a:t>
                          </a:r>
                          <a:r>
                            <a:rPr lang="ja-JP" altLang="en-US" sz="1600" dirty="0"/>
                            <a:t> </a:t>
                          </a:r>
                          <a:r>
                            <a:rPr lang="en-US" altLang="ja-JP" sz="1600" dirty="0"/>
                            <a:t>dissatisfaction</a:t>
                          </a:r>
                          <a:r>
                            <a:rPr lang="ja-JP" altLang="en-US" sz="1600" dirty="0"/>
                            <a:t> </a:t>
                          </a:r>
                          <a:r>
                            <a:rPr lang="en-US" altLang="ja-JP" sz="1600" dirty="0"/>
                            <a:t>value</a:t>
                          </a:r>
                          <a:r>
                            <a:rPr lang="ja-JP" altLang="en-US" sz="1600" dirty="0"/>
                            <a:t> </a:t>
                          </a:r>
                          <a:r>
                            <a:rPr lang="en-US" altLang="ja-JP" sz="1600" dirty="0"/>
                            <a:t>by</a:t>
                          </a:r>
                          <a:r>
                            <a:rPr lang="ja-JP" altLang="en-US" sz="1600" dirty="0"/>
                            <a:t> </a:t>
                          </a:r>
                          <a:r>
                            <a:rPr lang="en-US" altLang="ja-JP" sz="1600" dirty="0"/>
                            <a:t>DR</a:t>
                          </a:r>
                          <a:endParaRPr lang="en-US" sz="1600" dirty="0"/>
                        </a:p>
                      </a:txBody>
                      <a:tcPr>
                        <a:noFill/>
                      </a:tcPr>
                    </a:tc>
                    <a:extLst>
                      <a:ext uri="{0D108BD9-81ED-4DB2-BD59-A6C34878D82A}">
                        <a16:rowId xmlns:a16="http://schemas.microsoft.com/office/drawing/2014/main" val="585328255"/>
                      </a:ext>
                    </a:extLst>
                  </a:tr>
                  <a:tr h="536369">
                    <a:tc>
                      <a:txBody>
                        <a:bodyPr/>
                        <a:lstStyle/>
                        <a:p>
                          <a14:m>
                            <m:oMath xmlns:m="http://schemas.openxmlformats.org/officeDocument/2006/math">
                              <m:sSub>
                                <m:sSubPr>
                                  <m:ctrlPr>
                                    <a:rPr lang="en-US" sz="1600" i="1" smtClean="0">
                                      <a:solidFill>
                                        <a:srgbClr val="836967"/>
                                      </a:solidFill>
                                      <a:latin typeface="Cambria Math" panose="02040503050406030204" pitchFamily="18" charset="0"/>
                                    </a:rPr>
                                  </m:ctrlPr>
                                </m:sSubPr>
                                <m:e>
                                  <m:r>
                                    <a:rPr lang="en-US" sz="1600" i="1">
                                      <a:latin typeface="Cambria Math" panose="02040503050406030204" pitchFamily="18" charset="0"/>
                                    </a:rPr>
                                    <m:t>𝛾</m:t>
                                  </m:r>
                                </m:e>
                                <m:sub>
                                  <m:r>
                                    <a:rPr lang="en-US" sz="1600" i="1">
                                      <a:latin typeface="Cambria Math" panose="02040503050406030204" pitchFamily="18" charset="0"/>
                                    </a:rPr>
                                    <m:t>𝑛</m:t>
                                  </m:r>
                                </m:sub>
                              </m:sSub>
                            </m:oMath>
                          </a14:m>
                          <a:r>
                            <a:rPr lang="en-US" sz="1600" dirty="0"/>
                            <a:t>, </a:t>
                          </a:r>
                          <a14:m>
                            <m:oMath xmlns:m="http://schemas.openxmlformats.org/officeDocument/2006/math">
                              <m:sSub>
                                <m:sSubPr>
                                  <m:ctrlPr>
                                    <a:rPr lang="en-US" sz="1600" i="1" smtClean="0">
                                      <a:solidFill>
                                        <a:srgbClr val="836967"/>
                                      </a:solidFill>
                                      <a:latin typeface="Cambria Math" panose="02040503050406030204" pitchFamily="18" charset="0"/>
                                    </a:rPr>
                                  </m:ctrlPr>
                                </m:sSubPr>
                                <m:e>
                                  <m:r>
                                    <a:rPr lang="en-US" sz="1600" i="1">
                                      <a:latin typeface="Cambria Math" panose="02040503050406030204" pitchFamily="18" charset="0"/>
                                    </a:rPr>
                                    <m:t>𝜀</m:t>
                                  </m:r>
                                </m:e>
                                <m:sub>
                                  <m:r>
                                    <a:rPr lang="en-US" sz="1600" i="1">
                                      <a:latin typeface="Cambria Math" panose="02040503050406030204" pitchFamily="18" charset="0"/>
                                    </a:rPr>
                                    <m:t>𝑛</m:t>
                                  </m:r>
                                </m:sub>
                              </m:sSub>
                            </m:oMath>
                          </a14:m>
                          <a:endParaRPr lang="en-US" sz="1600" dirty="0"/>
                        </a:p>
                      </a:txBody>
                      <a:tcPr>
                        <a:no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600" dirty="0"/>
                            <a:t>:</a:t>
                          </a:r>
                        </a:p>
                      </a:txBody>
                      <a:tcPr>
                        <a:noFill/>
                      </a:tcPr>
                    </a:tc>
                    <a:tc>
                      <a:txBody>
                        <a:bodyPr/>
                        <a:lstStyle/>
                        <a:p>
                          <a:r>
                            <a:rPr lang="en-US" sz="1600" dirty="0"/>
                            <a:t>Coefficients</a:t>
                          </a:r>
                          <a:r>
                            <a:rPr lang="ja-JP" altLang="en-US" sz="1600" dirty="0"/>
                            <a:t> </a:t>
                          </a:r>
                          <a:r>
                            <a:rPr lang="en-US" altLang="ja-JP" sz="1600" dirty="0"/>
                            <a:t>of</a:t>
                          </a:r>
                          <a:r>
                            <a:rPr lang="ja-JP" altLang="en-US" sz="1600" dirty="0"/>
                            <a:t> </a:t>
                          </a:r>
                          <a:r>
                            <a:rPr lang="en-US" altLang="ja-JP" sz="1600" dirty="0"/>
                            <a:t>dissatisfaction</a:t>
                          </a:r>
                          <a:r>
                            <a:rPr lang="ja-JP" altLang="en-US" sz="1600" dirty="0"/>
                            <a:t> </a:t>
                          </a:r>
                          <a:r>
                            <a:rPr lang="en-US" altLang="ja-JP" sz="1600" dirty="0"/>
                            <a:t>value</a:t>
                          </a:r>
                          <a:r>
                            <a:rPr lang="ja-JP" altLang="en-US" sz="1600" dirty="0"/>
                            <a:t> </a:t>
                          </a:r>
                          <a:r>
                            <a:rPr lang="en-US" altLang="ja-JP" sz="1600" dirty="0"/>
                            <a:t>by</a:t>
                          </a:r>
                          <a:r>
                            <a:rPr lang="ja-JP" altLang="en-US" sz="1600" dirty="0"/>
                            <a:t> </a:t>
                          </a:r>
                          <a:r>
                            <a:rPr lang="en-US" altLang="ja-JP" sz="1600" dirty="0"/>
                            <a:t>battery</a:t>
                          </a:r>
                          <a:endParaRPr lang="en-US" sz="1600" dirty="0"/>
                        </a:p>
                      </a:txBody>
                      <a:tcPr>
                        <a:noFill/>
                      </a:tcPr>
                    </a:tc>
                    <a:extLst>
                      <a:ext uri="{0D108BD9-81ED-4DB2-BD59-A6C34878D82A}">
                        <a16:rowId xmlns:a16="http://schemas.microsoft.com/office/drawing/2014/main" val="2567745939"/>
                      </a:ext>
                    </a:extLst>
                  </a:tr>
                  <a:tr h="536369">
                    <a:tc>
                      <a:txBody>
                        <a:bodyPr/>
                        <a:lstStyle/>
                        <a:p>
                          <a14:m>
                            <m:oMath xmlns:m="http://schemas.openxmlformats.org/officeDocument/2006/math">
                              <m:sSub>
                                <m:sSubPr>
                                  <m:ctrlPr>
                                    <a:rPr lang="en-US" sz="1600" i="1" smtClean="0">
                                      <a:solidFill>
                                        <a:srgbClr val="836967"/>
                                      </a:solidFill>
                                      <a:latin typeface="Cambria Math" panose="02040503050406030204" pitchFamily="18" charset="0"/>
                                    </a:rPr>
                                  </m:ctrlPr>
                                </m:sSubPr>
                                <m:e>
                                  <m:r>
                                    <a:rPr lang="en-US" sz="1600" i="1">
                                      <a:latin typeface="Cambria Math" panose="02040503050406030204" pitchFamily="18" charset="0"/>
                                    </a:rPr>
                                    <m:t>𝜓</m:t>
                                  </m:r>
                                </m:e>
                                <m:sub>
                                  <m:r>
                                    <a:rPr lang="en-US" sz="1600" i="1">
                                      <a:latin typeface="Cambria Math" panose="02040503050406030204" pitchFamily="18" charset="0"/>
                                    </a:rPr>
                                    <m:t>𝑛</m:t>
                                  </m:r>
                                </m:sub>
                              </m:sSub>
                            </m:oMath>
                          </a14:m>
                          <a:r>
                            <a:rPr lang="en-US" sz="1600" dirty="0"/>
                            <a:t>, </a:t>
                          </a:r>
                          <a14:m>
                            <m:oMath xmlns:m="http://schemas.openxmlformats.org/officeDocument/2006/math">
                              <m:sSub>
                                <m:sSubPr>
                                  <m:ctrlPr>
                                    <a:rPr lang="en-US" sz="1600" i="1" smtClean="0">
                                      <a:solidFill>
                                        <a:srgbClr val="836967"/>
                                      </a:solidFill>
                                      <a:latin typeface="Cambria Math" panose="02040503050406030204" pitchFamily="18" charset="0"/>
                                    </a:rPr>
                                  </m:ctrlPr>
                                </m:sSubPr>
                                <m:e>
                                  <m:r>
                                    <a:rPr lang="en-US" sz="1600" i="1">
                                      <a:latin typeface="Cambria Math" panose="02040503050406030204" pitchFamily="18" charset="0"/>
                                    </a:rPr>
                                    <m:t>𝜔</m:t>
                                  </m:r>
                                </m:e>
                                <m:sub>
                                  <m:r>
                                    <a:rPr lang="en-US" sz="1600" i="1">
                                      <a:latin typeface="Cambria Math" panose="02040503050406030204" pitchFamily="18" charset="0"/>
                                    </a:rPr>
                                    <m:t>𝑛</m:t>
                                  </m:r>
                                </m:sub>
                              </m:sSub>
                            </m:oMath>
                          </a14:m>
                          <a:endParaRPr lang="en-US" sz="1600" dirty="0"/>
                        </a:p>
                      </a:txBody>
                      <a:tcPr>
                        <a:noFill/>
                      </a:tcPr>
                    </a:tc>
                    <a:tc>
                      <a:txBody>
                        <a:bodyPr/>
                        <a:lstStyle/>
                        <a:p>
                          <a:r>
                            <a:rPr lang="en-US" sz="1600" dirty="0"/>
                            <a:t>:</a:t>
                          </a:r>
                        </a:p>
                      </a:txBody>
                      <a:tcPr>
                        <a:noFill/>
                      </a:tcPr>
                    </a:tc>
                    <a:tc>
                      <a:txBody>
                        <a:bodyPr/>
                        <a:lstStyle/>
                        <a:p>
                          <a:r>
                            <a:rPr lang="en-US" sz="1600" dirty="0"/>
                            <a:t>Coefficients</a:t>
                          </a:r>
                          <a:r>
                            <a:rPr lang="ja-JP" altLang="en-US" sz="1600" dirty="0"/>
                            <a:t> </a:t>
                          </a:r>
                          <a:r>
                            <a:rPr lang="en-US" altLang="ja-JP" sz="1600" dirty="0"/>
                            <a:t>of</a:t>
                          </a:r>
                          <a:r>
                            <a:rPr lang="ja-JP" altLang="en-US" sz="1600" dirty="0"/>
                            <a:t> </a:t>
                          </a:r>
                          <a:r>
                            <a:rPr lang="en-US" altLang="ja-JP" sz="1600" dirty="0"/>
                            <a:t>dissatisfaction</a:t>
                          </a:r>
                          <a:r>
                            <a:rPr lang="ja-JP" altLang="en-US" sz="1600" dirty="0"/>
                            <a:t> </a:t>
                          </a:r>
                          <a:r>
                            <a:rPr lang="en-US" altLang="ja-JP" sz="1600" dirty="0"/>
                            <a:t>value</a:t>
                          </a:r>
                          <a:r>
                            <a:rPr lang="ja-JP" altLang="en-US" sz="1600" dirty="0"/>
                            <a:t> </a:t>
                          </a:r>
                          <a:r>
                            <a:rPr lang="en-US" altLang="ja-JP" sz="1600" dirty="0"/>
                            <a:t>by</a:t>
                          </a:r>
                          <a:r>
                            <a:rPr lang="ja-JP" altLang="en-US" sz="1600" dirty="0"/>
                            <a:t> </a:t>
                          </a:r>
                          <a:r>
                            <a:rPr lang="en-US" altLang="ja-JP" sz="1600" dirty="0"/>
                            <a:t>EV battery</a:t>
                          </a:r>
                          <a:endParaRPr lang="en-US" sz="1600" dirty="0"/>
                        </a:p>
                      </a:txBody>
                      <a:tcPr>
                        <a:noFill/>
                      </a:tcPr>
                    </a:tc>
                    <a:extLst>
                      <a:ext uri="{0D108BD9-81ED-4DB2-BD59-A6C34878D82A}">
                        <a16:rowId xmlns:a16="http://schemas.microsoft.com/office/drawing/2014/main" val="1172270262"/>
                      </a:ext>
                    </a:extLst>
                  </a:tr>
                </a:tbl>
              </a:graphicData>
            </a:graphic>
          </p:graphicFrame>
        </mc:Choice>
        <mc:Fallback xmlns="">
          <p:graphicFrame>
            <p:nvGraphicFramePr>
              <p:cNvPr id="11" name="表 10">
                <a:extLst>
                  <a:ext uri="{FF2B5EF4-FFF2-40B4-BE49-F238E27FC236}">
                    <a16:creationId xmlns:a16="http://schemas.microsoft.com/office/drawing/2014/main" id="{CBE39B06-F69F-29EC-5F79-EA3B5A9975B9}"/>
                  </a:ext>
                </a:extLst>
              </p:cNvPr>
              <p:cNvGraphicFramePr>
                <a:graphicFrameLocks noGrp="1"/>
              </p:cNvGraphicFramePr>
              <p:nvPr>
                <p:extLst>
                  <p:ext uri="{D42A27DB-BD31-4B8C-83A1-F6EECF244321}">
                    <p14:modId xmlns:p14="http://schemas.microsoft.com/office/powerpoint/2010/main" val="1689000990"/>
                  </p:ext>
                </p:extLst>
              </p:nvPr>
            </p:nvGraphicFramePr>
            <p:xfrm>
              <a:off x="515088" y="3832580"/>
              <a:ext cx="8142511" cy="1609107"/>
            </p:xfrm>
            <a:graphic>
              <a:graphicData uri="http://schemas.openxmlformats.org/drawingml/2006/table">
                <a:tbl>
                  <a:tblPr bandRow="1">
                    <a:tableStyleId>{5C22544A-7EE6-4342-B048-85BDC9FD1C3A}</a:tableStyleId>
                  </a:tblPr>
                  <a:tblGrid>
                    <a:gridCol w="1159822">
                      <a:extLst>
                        <a:ext uri="{9D8B030D-6E8A-4147-A177-3AD203B41FA5}">
                          <a16:colId xmlns:a16="http://schemas.microsoft.com/office/drawing/2014/main" val="2815638221"/>
                        </a:ext>
                      </a:extLst>
                    </a:gridCol>
                    <a:gridCol w="273133">
                      <a:extLst>
                        <a:ext uri="{9D8B030D-6E8A-4147-A177-3AD203B41FA5}">
                          <a16:colId xmlns:a16="http://schemas.microsoft.com/office/drawing/2014/main" val="3280904105"/>
                        </a:ext>
                      </a:extLst>
                    </a:gridCol>
                    <a:gridCol w="6709556">
                      <a:extLst>
                        <a:ext uri="{9D8B030D-6E8A-4147-A177-3AD203B41FA5}">
                          <a16:colId xmlns:a16="http://schemas.microsoft.com/office/drawing/2014/main" val="2064586492"/>
                        </a:ext>
                      </a:extLst>
                    </a:gridCol>
                  </a:tblGrid>
                  <a:tr h="536369">
                    <a:tc>
                      <a:txBody>
                        <a:bodyPr/>
                        <a:lstStyle/>
                        <a:p>
                          <a:endParaRPr lang="ja-JP"/>
                        </a:p>
                      </a:txBody>
                      <a:tcPr>
                        <a:blipFill>
                          <a:blip r:embed="rId5"/>
                          <a:stretch>
                            <a:fillRect l="-526" t="-3409" r="-604737" b="-203409"/>
                          </a:stretch>
                        </a:blip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600" dirty="0"/>
                            <a:t>:</a:t>
                          </a:r>
                        </a:p>
                      </a:txBody>
                      <a:tcPr>
                        <a:noFill/>
                      </a:tcPr>
                    </a:tc>
                    <a:tc>
                      <a:txBody>
                        <a:bodyPr/>
                        <a:lstStyle/>
                        <a:p>
                          <a:r>
                            <a:rPr lang="en-US" sz="1600" dirty="0"/>
                            <a:t>Coefficients</a:t>
                          </a:r>
                          <a:r>
                            <a:rPr lang="ja-JP" altLang="en-US" sz="1600" dirty="0"/>
                            <a:t> </a:t>
                          </a:r>
                          <a:r>
                            <a:rPr lang="en-US" altLang="ja-JP" sz="1600" dirty="0"/>
                            <a:t>of</a:t>
                          </a:r>
                          <a:r>
                            <a:rPr lang="ja-JP" altLang="en-US" sz="1600" dirty="0"/>
                            <a:t> </a:t>
                          </a:r>
                          <a:r>
                            <a:rPr lang="en-US" altLang="ja-JP" sz="1600" dirty="0"/>
                            <a:t>dissatisfaction</a:t>
                          </a:r>
                          <a:r>
                            <a:rPr lang="ja-JP" altLang="en-US" sz="1600" dirty="0"/>
                            <a:t> </a:t>
                          </a:r>
                          <a:r>
                            <a:rPr lang="en-US" altLang="ja-JP" sz="1600" dirty="0"/>
                            <a:t>value</a:t>
                          </a:r>
                          <a:r>
                            <a:rPr lang="ja-JP" altLang="en-US" sz="1600" dirty="0"/>
                            <a:t> </a:t>
                          </a:r>
                          <a:r>
                            <a:rPr lang="en-US" altLang="ja-JP" sz="1600" dirty="0"/>
                            <a:t>by</a:t>
                          </a:r>
                          <a:r>
                            <a:rPr lang="ja-JP" altLang="en-US" sz="1600" dirty="0"/>
                            <a:t> </a:t>
                          </a:r>
                          <a:r>
                            <a:rPr lang="en-US" altLang="ja-JP" sz="1600" dirty="0"/>
                            <a:t>DR</a:t>
                          </a:r>
                          <a:endParaRPr lang="en-US" sz="1600" dirty="0"/>
                        </a:p>
                      </a:txBody>
                      <a:tcPr>
                        <a:noFill/>
                      </a:tcPr>
                    </a:tc>
                    <a:extLst>
                      <a:ext uri="{0D108BD9-81ED-4DB2-BD59-A6C34878D82A}">
                        <a16:rowId xmlns:a16="http://schemas.microsoft.com/office/drawing/2014/main" val="585328255"/>
                      </a:ext>
                    </a:extLst>
                  </a:tr>
                  <a:tr h="536369">
                    <a:tc>
                      <a:txBody>
                        <a:bodyPr/>
                        <a:lstStyle/>
                        <a:p>
                          <a:endParaRPr lang="ja-JP"/>
                        </a:p>
                      </a:txBody>
                      <a:tcPr>
                        <a:blipFill>
                          <a:blip r:embed="rId5"/>
                          <a:stretch>
                            <a:fillRect l="-526" t="-102247" r="-604737" b="-101124"/>
                          </a:stretch>
                        </a:blip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600" dirty="0"/>
                            <a:t>:</a:t>
                          </a:r>
                        </a:p>
                      </a:txBody>
                      <a:tcPr>
                        <a:noFill/>
                      </a:tcPr>
                    </a:tc>
                    <a:tc>
                      <a:txBody>
                        <a:bodyPr/>
                        <a:lstStyle/>
                        <a:p>
                          <a:r>
                            <a:rPr lang="en-US" sz="1600" dirty="0"/>
                            <a:t>Coefficients</a:t>
                          </a:r>
                          <a:r>
                            <a:rPr lang="ja-JP" altLang="en-US" sz="1600" dirty="0"/>
                            <a:t> </a:t>
                          </a:r>
                          <a:r>
                            <a:rPr lang="en-US" altLang="ja-JP" sz="1600" dirty="0"/>
                            <a:t>of</a:t>
                          </a:r>
                          <a:r>
                            <a:rPr lang="ja-JP" altLang="en-US" sz="1600" dirty="0"/>
                            <a:t> </a:t>
                          </a:r>
                          <a:r>
                            <a:rPr lang="en-US" altLang="ja-JP" sz="1600" dirty="0"/>
                            <a:t>dissatisfaction</a:t>
                          </a:r>
                          <a:r>
                            <a:rPr lang="ja-JP" altLang="en-US" sz="1600" dirty="0"/>
                            <a:t> </a:t>
                          </a:r>
                          <a:r>
                            <a:rPr lang="en-US" altLang="ja-JP" sz="1600" dirty="0"/>
                            <a:t>value</a:t>
                          </a:r>
                          <a:r>
                            <a:rPr lang="ja-JP" altLang="en-US" sz="1600" dirty="0"/>
                            <a:t> </a:t>
                          </a:r>
                          <a:r>
                            <a:rPr lang="en-US" altLang="ja-JP" sz="1600" dirty="0"/>
                            <a:t>by</a:t>
                          </a:r>
                          <a:r>
                            <a:rPr lang="ja-JP" altLang="en-US" sz="1600" dirty="0"/>
                            <a:t> </a:t>
                          </a:r>
                          <a:r>
                            <a:rPr lang="en-US" altLang="ja-JP" sz="1600" dirty="0"/>
                            <a:t>battery</a:t>
                          </a:r>
                          <a:endParaRPr lang="en-US" sz="1600" dirty="0"/>
                        </a:p>
                      </a:txBody>
                      <a:tcPr>
                        <a:noFill/>
                      </a:tcPr>
                    </a:tc>
                    <a:extLst>
                      <a:ext uri="{0D108BD9-81ED-4DB2-BD59-A6C34878D82A}">
                        <a16:rowId xmlns:a16="http://schemas.microsoft.com/office/drawing/2014/main" val="2567745939"/>
                      </a:ext>
                    </a:extLst>
                  </a:tr>
                  <a:tr h="536369">
                    <a:tc>
                      <a:txBody>
                        <a:bodyPr/>
                        <a:lstStyle/>
                        <a:p>
                          <a:endParaRPr lang="ja-JP"/>
                        </a:p>
                      </a:txBody>
                      <a:tcPr>
                        <a:blipFill>
                          <a:blip r:embed="rId5"/>
                          <a:stretch>
                            <a:fillRect l="-526" t="-204545" r="-604737" b="-2273"/>
                          </a:stretch>
                        </a:blipFill>
                      </a:tcPr>
                    </a:tc>
                    <a:tc>
                      <a:txBody>
                        <a:bodyPr/>
                        <a:lstStyle/>
                        <a:p>
                          <a:r>
                            <a:rPr lang="en-US" sz="1600" dirty="0"/>
                            <a:t>:</a:t>
                          </a:r>
                        </a:p>
                      </a:txBody>
                      <a:tcPr>
                        <a:noFill/>
                      </a:tcPr>
                    </a:tc>
                    <a:tc>
                      <a:txBody>
                        <a:bodyPr/>
                        <a:lstStyle/>
                        <a:p>
                          <a:r>
                            <a:rPr lang="en-US" sz="1600" dirty="0"/>
                            <a:t>Coefficients</a:t>
                          </a:r>
                          <a:r>
                            <a:rPr lang="ja-JP" altLang="en-US" sz="1600" dirty="0"/>
                            <a:t> </a:t>
                          </a:r>
                          <a:r>
                            <a:rPr lang="en-US" altLang="ja-JP" sz="1600" dirty="0"/>
                            <a:t>of</a:t>
                          </a:r>
                          <a:r>
                            <a:rPr lang="ja-JP" altLang="en-US" sz="1600" dirty="0"/>
                            <a:t> </a:t>
                          </a:r>
                          <a:r>
                            <a:rPr lang="en-US" altLang="ja-JP" sz="1600" dirty="0"/>
                            <a:t>dissatisfaction</a:t>
                          </a:r>
                          <a:r>
                            <a:rPr lang="ja-JP" altLang="en-US" sz="1600" dirty="0"/>
                            <a:t> </a:t>
                          </a:r>
                          <a:r>
                            <a:rPr lang="en-US" altLang="ja-JP" sz="1600" dirty="0"/>
                            <a:t>value</a:t>
                          </a:r>
                          <a:r>
                            <a:rPr lang="ja-JP" altLang="en-US" sz="1600" dirty="0"/>
                            <a:t> </a:t>
                          </a:r>
                          <a:r>
                            <a:rPr lang="en-US" altLang="ja-JP" sz="1600" dirty="0"/>
                            <a:t>by</a:t>
                          </a:r>
                          <a:r>
                            <a:rPr lang="ja-JP" altLang="en-US" sz="1600" dirty="0"/>
                            <a:t> </a:t>
                          </a:r>
                          <a:r>
                            <a:rPr lang="en-US" altLang="ja-JP" sz="1600" dirty="0"/>
                            <a:t>EV battery</a:t>
                          </a:r>
                          <a:endParaRPr lang="en-US" sz="1600" dirty="0"/>
                        </a:p>
                      </a:txBody>
                      <a:tcPr>
                        <a:noFill/>
                      </a:tcPr>
                    </a:tc>
                    <a:extLst>
                      <a:ext uri="{0D108BD9-81ED-4DB2-BD59-A6C34878D82A}">
                        <a16:rowId xmlns:a16="http://schemas.microsoft.com/office/drawing/2014/main" val="1172270262"/>
                      </a:ext>
                    </a:extLst>
                  </a:tr>
                </a:tbl>
              </a:graphicData>
            </a:graphic>
          </p:graphicFrame>
        </mc:Fallback>
      </mc:AlternateContent>
      <mc:AlternateContent xmlns:mc="http://schemas.openxmlformats.org/markup-compatibility/2006" xmlns:a14="http://schemas.microsoft.com/office/drawing/2010/main">
        <mc:Choice Requires="a14">
          <p:sp>
            <p:nvSpPr>
              <p:cNvPr id="2" name="テキスト ボックス 1">
                <a:extLst>
                  <a:ext uri="{FF2B5EF4-FFF2-40B4-BE49-F238E27FC236}">
                    <a16:creationId xmlns:a16="http://schemas.microsoft.com/office/drawing/2014/main" id="{484C52BF-A602-7BC8-AA0A-D4A74366C1B1}"/>
                  </a:ext>
                </a:extLst>
              </p:cNvPr>
              <p:cNvSpPr txBox="1"/>
              <p:nvPr/>
            </p:nvSpPr>
            <p:spPr>
              <a:xfrm>
                <a:off x="515088" y="5722608"/>
                <a:ext cx="9004964" cy="707886"/>
              </a:xfrm>
              <a:prstGeom prst="rect">
                <a:avLst/>
              </a:prstGeom>
              <a:noFill/>
            </p:spPr>
            <p:txBody>
              <a:bodyPr wrap="square" rtlCol="0">
                <a:spAutoFit/>
              </a:bodyPr>
              <a:lstStyle/>
              <a:p>
                <a:r>
                  <a:rPr lang="en-US" altLang="ja-JP" sz="2000" dirty="0"/>
                  <a:t>Action to battery at timeslot </a:t>
                </a:r>
                <a14:m>
                  <m:oMath xmlns:m="http://schemas.openxmlformats.org/officeDocument/2006/math">
                    <m:r>
                      <a:rPr lang="en-US" altLang="ja-JP" sz="2000" b="0" i="1" smtClean="0">
                        <a:latin typeface="Cambria Math" panose="02040503050406030204" pitchFamily="18" charset="0"/>
                      </a:rPr>
                      <m:t>𝑡</m:t>
                    </m:r>
                  </m:oMath>
                </a14:m>
                <a:r>
                  <a:rPr lang="en-US" altLang="ja-JP" sz="2000" dirty="0"/>
                  <a:t> affects the SOC at timeslot </a:t>
                </a:r>
                <a14:m>
                  <m:oMath xmlns:m="http://schemas.openxmlformats.org/officeDocument/2006/math">
                    <m:r>
                      <a:rPr lang="en-US" altLang="ja-JP" sz="2000" i="1">
                        <a:latin typeface="Cambria Math" panose="02040503050406030204" pitchFamily="18" charset="0"/>
                      </a:rPr>
                      <m:t>𝑡</m:t>
                    </m:r>
                    <m:r>
                      <a:rPr lang="en-US" altLang="ja-JP" sz="2000" b="0" i="1" smtClean="0">
                        <a:latin typeface="Cambria Math" panose="02040503050406030204" pitchFamily="18" charset="0"/>
                      </a:rPr>
                      <m:t>+1</m:t>
                    </m:r>
                  </m:oMath>
                </a14:m>
                <a:r>
                  <a:rPr lang="en-US" altLang="ja-JP" sz="2000" dirty="0"/>
                  <a:t>. </a:t>
                </a:r>
                <a:br>
                  <a:rPr lang="en-US" altLang="ja-JP" sz="2000" dirty="0"/>
                </a:br>
                <a:r>
                  <a:rPr lang="en-US" altLang="ja-JP" sz="2000" dirty="0"/>
                  <a:t>Hence, SOC at </a:t>
                </a:r>
                <a14:m>
                  <m:oMath xmlns:m="http://schemas.openxmlformats.org/officeDocument/2006/math">
                    <m:r>
                      <a:rPr lang="en-US" altLang="ja-JP" sz="2000" i="1">
                        <a:latin typeface="Cambria Math" panose="02040503050406030204" pitchFamily="18" charset="0"/>
                      </a:rPr>
                      <m:t>𝑡</m:t>
                    </m:r>
                    <m:r>
                      <a:rPr lang="en-US" altLang="ja-JP" sz="2000" i="1">
                        <a:latin typeface="Cambria Math" panose="02040503050406030204" pitchFamily="18" charset="0"/>
                      </a:rPr>
                      <m:t>+1</m:t>
                    </m:r>
                  </m:oMath>
                </a14:m>
                <a:r>
                  <a:rPr lang="en-US" altLang="ja-JP" sz="2000" dirty="0"/>
                  <a:t> is used to calculate reward.</a:t>
                </a:r>
              </a:p>
            </p:txBody>
          </p:sp>
        </mc:Choice>
        <mc:Fallback xmlns="">
          <p:sp>
            <p:nvSpPr>
              <p:cNvPr id="2" name="テキスト ボックス 1">
                <a:extLst>
                  <a:ext uri="{FF2B5EF4-FFF2-40B4-BE49-F238E27FC236}">
                    <a16:creationId xmlns:a16="http://schemas.microsoft.com/office/drawing/2014/main" id="{484C52BF-A602-7BC8-AA0A-D4A74366C1B1}"/>
                  </a:ext>
                </a:extLst>
              </p:cNvPr>
              <p:cNvSpPr txBox="1">
                <a:spLocks noRot="1" noChangeAspect="1" noMove="1" noResize="1" noEditPoints="1" noAdjustHandles="1" noChangeArrowheads="1" noChangeShapeType="1" noTextEdit="1"/>
              </p:cNvSpPr>
              <p:nvPr/>
            </p:nvSpPr>
            <p:spPr>
              <a:xfrm>
                <a:off x="515088" y="5722608"/>
                <a:ext cx="9004964" cy="707886"/>
              </a:xfrm>
              <a:prstGeom prst="rect">
                <a:avLst/>
              </a:prstGeom>
              <a:blipFill>
                <a:blip r:embed="rId6"/>
                <a:stretch>
                  <a:fillRect l="-677" t="-4310" b="-15517"/>
                </a:stretch>
              </a:blipFill>
            </p:spPr>
            <p:txBody>
              <a:bodyPr/>
              <a:lstStyle/>
              <a:p>
                <a:r>
                  <a:rPr lang="en-US">
                    <a:noFill/>
                  </a:rPr>
                  <a:t> </a:t>
                </a:r>
              </a:p>
            </p:txBody>
          </p:sp>
        </mc:Fallback>
      </mc:AlternateContent>
    </p:spTree>
    <p:extLst>
      <p:ext uri="{BB962C8B-B14F-4D97-AF65-F5344CB8AC3E}">
        <p14:creationId xmlns:p14="http://schemas.microsoft.com/office/powerpoint/2010/main" val="317753735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35D6E800-7B14-D675-84EA-5F6C6CA3F62F}"/>
              </a:ext>
            </a:extLst>
          </p:cNvPr>
          <p:cNvSpPr txBox="1"/>
          <p:nvPr/>
        </p:nvSpPr>
        <p:spPr>
          <a:xfrm>
            <a:off x="1580668" y="2423878"/>
            <a:ext cx="6744664" cy="1631216"/>
          </a:xfrm>
          <a:prstGeom prst="rect">
            <a:avLst/>
          </a:prstGeom>
          <a:noFill/>
        </p:spPr>
        <p:txBody>
          <a:bodyPr wrap="square" rtlCol="0">
            <a:spAutoFit/>
          </a:bodyPr>
          <a:lstStyle/>
          <a:p>
            <a:r>
              <a:rPr lang="en-US" altLang="ja-JP" sz="2000" dirty="0"/>
              <a:t>Test simulation (Only exploitation, not update Q)</a:t>
            </a:r>
            <a:br>
              <a:rPr lang="en-US" altLang="ja-JP" sz="2000" dirty="0"/>
            </a:br>
            <a:r>
              <a:rPr lang="en-US" altLang="ja-JP" sz="2000" dirty="0"/>
              <a:t>is conducted every 10 episodes.</a:t>
            </a:r>
          </a:p>
          <a:p>
            <a:endParaRPr lang="en-US" altLang="ja-JP" sz="2000" dirty="0"/>
          </a:p>
          <a:p>
            <a:r>
              <a:rPr lang="en-US" altLang="ja-JP" sz="2000" dirty="0"/>
              <a:t>The same Q tables can be used in non-P2P simulation. They are used as the threshold of behaviors of each agent.</a:t>
            </a:r>
          </a:p>
        </p:txBody>
      </p:sp>
    </p:spTree>
    <p:extLst>
      <p:ext uri="{BB962C8B-B14F-4D97-AF65-F5344CB8AC3E}">
        <p14:creationId xmlns:p14="http://schemas.microsoft.com/office/powerpoint/2010/main" val="427873261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コンテンツ プレースホルダー 1">
            <a:extLst>
              <a:ext uri="{FF2B5EF4-FFF2-40B4-BE49-F238E27FC236}">
                <a16:creationId xmlns:a16="http://schemas.microsoft.com/office/drawing/2014/main" id="{A69F8014-B60B-E06E-B259-E733D46851C0}"/>
              </a:ext>
            </a:extLst>
          </p:cNvPr>
          <p:cNvSpPr>
            <a:spLocks noGrp="1"/>
          </p:cNvSpPr>
          <p:nvPr>
            <p:ph sz="quarter" idx="17"/>
          </p:nvPr>
        </p:nvSpPr>
        <p:spPr>
          <a:xfrm>
            <a:off x="569340" y="904862"/>
            <a:ext cx="8767320" cy="5686438"/>
          </a:xfrm>
        </p:spPr>
        <p:txBody>
          <a:bodyPr/>
          <a:lstStyle/>
          <a:p>
            <a:r>
              <a:rPr kumimoji="1" lang="en-US" altLang="ja-JP" dirty="0">
                <a:solidFill>
                  <a:schemeClr val="tx1">
                    <a:lumMod val="20000"/>
                    <a:lumOff val="80000"/>
                  </a:schemeClr>
                </a:solidFill>
              </a:rPr>
              <a:t>1. Introduction and background</a:t>
            </a:r>
          </a:p>
          <a:p>
            <a:pPr marL="342900" indent="-342900">
              <a:buAutoNum type="arabicPeriod"/>
            </a:pPr>
            <a:endParaRPr kumimoji="1" lang="en-US" altLang="ja-JP" dirty="0">
              <a:solidFill>
                <a:schemeClr val="tx1">
                  <a:lumMod val="20000"/>
                  <a:lumOff val="80000"/>
                </a:schemeClr>
              </a:solidFill>
            </a:endParaRPr>
          </a:p>
          <a:p>
            <a:r>
              <a:rPr kumimoji="1" lang="en-US" altLang="ja-JP" dirty="0">
                <a:solidFill>
                  <a:schemeClr val="tx1">
                    <a:lumMod val="20000"/>
                    <a:lumOff val="80000"/>
                  </a:schemeClr>
                </a:solidFill>
              </a:rPr>
              <a:t>2. Objective</a:t>
            </a:r>
          </a:p>
          <a:p>
            <a:endParaRPr kumimoji="1" lang="en-US" altLang="ja-JP" dirty="0">
              <a:solidFill>
                <a:schemeClr val="tx1">
                  <a:lumMod val="20000"/>
                  <a:lumOff val="80000"/>
                </a:schemeClr>
              </a:solidFill>
            </a:endParaRPr>
          </a:p>
          <a:p>
            <a:r>
              <a:rPr kumimoji="1" lang="en-US" altLang="ja-JP" dirty="0">
                <a:solidFill>
                  <a:schemeClr val="tx1">
                    <a:lumMod val="20000"/>
                    <a:lumOff val="80000"/>
                  </a:schemeClr>
                </a:solidFill>
              </a:rPr>
              <a:t>3. Methodology</a:t>
            </a:r>
          </a:p>
          <a:p>
            <a:r>
              <a:rPr kumimoji="1" lang="en-US" altLang="ja-JP" sz="1200" dirty="0">
                <a:solidFill>
                  <a:schemeClr val="tx1">
                    <a:lumMod val="20000"/>
                    <a:lumOff val="80000"/>
                  </a:schemeClr>
                </a:solidFill>
              </a:rPr>
              <a:t>3.1 Step 1: </a:t>
            </a:r>
            <a:r>
              <a:rPr lang="en-US" altLang="ja-JP" sz="1200" dirty="0">
                <a:solidFill>
                  <a:schemeClr val="tx1">
                    <a:lumMod val="20000"/>
                    <a:lumOff val="80000"/>
                  </a:schemeClr>
                </a:solidFill>
              </a:rPr>
              <a:t>Data collection</a:t>
            </a:r>
          </a:p>
          <a:p>
            <a:r>
              <a:rPr kumimoji="1" lang="en-US" altLang="ja-JP" sz="1200" dirty="0">
                <a:solidFill>
                  <a:schemeClr val="tx1">
                    <a:lumMod val="20000"/>
                    <a:lumOff val="80000"/>
                  </a:schemeClr>
                </a:solidFill>
              </a:rPr>
              <a:t>       3.1.1 Data (demand, PV supply, wholesale price)</a:t>
            </a:r>
            <a:endParaRPr kumimoji="1" lang="ja-JP" altLang="en-US" sz="1200" dirty="0">
              <a:solidFill>
                <a:schemeClr val="tx1">
                  <a:lumMod val="20000"/>
                  <a:lumOff val="80000"/>
                </a:schemeClr>
              </a:solidFill>
            </a:endParaRPr>
          </a:p>
          <a:p>
            <a:r>
              <a:rPr kumimoji="1" lang="en-US" altLang="ja-JP" sz="1200" dirty="0">
                <a:solidFill>
                  <a:schemeClr val="tx1">
                    <a:lumMod val="20000"/>
                    <a:lumOff val="80000"/>
                  </a:schemeClr>
                </a:solidFill>
              </a:rPr>
              <a:t>       3.1.2 Car usage survey </a:t>
            </a:r>
            <a:r>
              <a:rPr kumimoji="1" lang="ja-JP" altLang="en-US" sz="1200" dirty="0">
                <a:solidFill>
                  <a:schemeClr val="tx1">
                    <a:lumMod val="20000"/>
                    <a:lumOff val="80000"/>
                  </a:schemeClr>
                </a:solidFill>
              </a:rPr>
              <a:t>→ </a:t>
            </a:r>
            <a:r>
              <a:rPr kumimoji="1" lang="en-US" altLang="ja-JP" sz="1200" dirty="0">
                <a:solidFill>
                  <a:schemeClr val="tx1">
                    <a:lumMod val="20000"/>
                    <a:lumOff val="80000"/>
                  </a:schemeClr>
                </a:solidFill>
              </a:rPr>
              <a:t>Car usage data</a:t>
            </a:r>
          </a:p>
          <a:p>
            <a:r>
              <a:rPr kumimoji="1" lang="en-US" altLang="ja-JP" sz="1200" dirty="0">
                <a:solidFill>
                  <a:schemeClr val="tx1">
                    <a:lumMod val="20000"/>
                    <a:lumOff val="80000"/>
                  </a:schemeClr>
                </a:solidFill>
              </a:rPr>
              <a:t>       3.1.3 Technology parameter (battery charge/discharge speed limit, efficiency)</a:t>
            </a:r>
          </a:p>
          <a:p>
            <a:r>
              <a:rPr kumimoji="1" lang="en-US" altLang="ja-JP" sz="1200" dirty="0">
                <a:solidFill>
                  <a:schemeClr val="tx1">
                    <a:lumMod val="20000"/>
                    <a:lumOff val="80000"/>
                  </a:schemeClr>
                </a:solidFill>
              </a:rPr>
              <a:t>3.2 Step 2: </a:t>
            </a:r>
            <a:r>
              <a:rPr lang="en-US" altLang="ja-JP" sz="1200" dirty="0">
                <a:solidFill>
                  <a:schemeClr val="tx1">
                    <a:lumMod val="20000"/>
                    <a:lumOff val="80000"/>
                  </a:schemeClr>
                </a:solidFill>
              </a:rPr>
              <a:t>Model construction </a:t>
            </a:r>
            <a:r>
              <a:rPr kumimoji="1" lang="en-US" altLang="ja-JP" sz="1200" dirty="0">
                <a:solidFill>
                  <a:schemeClr val="tx1">
                    <a:lumMod val="20000"/>
                    <a:lumOff val="80000"/>
                  </a:schemeClr>
                </a:solidFill>
              </a:rPr>
              <a:t>	</a:t>
            </a:r>
          </a:p>
          <a:p>
            <a:r>
              <a:rPr kumimoji="1" lang="en-US" altLang="ja-JP" sz="1200" dirty="0">
                <a:solidFill>
                  <a:schemeClr val="tx1">
                    <a:lumMod val="20000"/>
                    <a:lumOff val="80000"/>
                  </a:schemeClr>
                </a:solidFill>
              </a:rPr>
              <a:t>       3.2.1 Generate agent</a:t>
            </a:r>
          </a:p>
          <a:p>
            <a:r>
              <a:rPr kumimoji="1" lang="en-US" altLang="ja-JP" sz="1200" dirty="0">
                <a:solidFill>
                  <a:schemeClr val="tx1">
                    <a:lumMod val="20000"/>
                    <a:lumOff val="80000"/>
                  </a:schemeClr>
                </a:solidFill>
              </a:rPr>
              <a:t>       3.2.2 Design P2P energy trading model</a:t>
            </a:r>
          </a:p>
          <a:p>
            <a:r>
              <a:rPr kumimoji="1" lang="en-US" altLang="ja-JP" sz="1200" dirty="0">
                <a:solidFill>
                  <a:schemeClr val="tx1">
                    <a:lumMod val="20000"/>
                    <a:lumOff val="80000"/>
                  </a:schemeClr>
                </a:solidFill>
              </a:rPr>
              <a:t>3.3 Step 3: Train agents</a:t>
            </a:r>
          </a:p>
          <a:p>
            <a:r>
              <a:rPr kumimoji="1" lang="en-US" altLang="ja-JP" sz="1200" dirty="0">
                <a:solidFill>
                  <a:schemeClr val="tx1">
                    <a:lumMod val="20000"/>
                    <a:lumOff val="80000"/>
                  </a:schemeClr>
                </a:solidFill>
              </a:rPr>
              <a:t>       3.3.1 Q table</a:t>
            </a:r>
          </a:p>
          <a:p>
            <a:r>
              <a:rPr kumimoji="1" lang="en-US" altLang="ja-JP" sz="1200" dirty="0">
                <a:solidFill>
                  <a:schemeClr val="tx1">
                    <a:lumMod val="20000"/>
                    <a:lumOff val="80000"/>
                  </a:schemeClr>
                </a:solidFill>
              </a:rPr>
              <a:t>       3.3.2 Reward</a:t>
            </a:r>
          </a:p>
          <a:p>
            <a:endParaRPr kumimoji="1" lang="en-US" altLang="ja-JP" sz="1200" dirty="0"/>
          </a:p>
          <a:p>
            <a:r>
              <a:rPr kumimoji="1" lang="en-US" altLang="ja-JP" dirty="0"/>
              <a:t>4. Results and analysis</a:t>
            </a:r>
          </a:p>
          <a:p>
            <a:endParaRPr kumimoji="1" lang="en-US" altLang="ja-JP" dirty="0"/>
          </a:p>
          <a:p>
            <a:r>
              <a:rPr kumimoji="1" lang="en-US" altLang="ja-JP" dirty="0">
                <a:solidFill>
                  <a:schemeClr val="tx1">
                    <a:lumMod val="20000"/>
                    <a:lumOff val="80000"/>
                  </a:schemeClr>
                </a:solidFill>
              </a:rPr>
              <a:t>5. Summary and future work</a:t>
            </a:r>
          </a:p>
          <a:p>
            <a:endParaRPr kumimoji="1" lang="ja-JP" altLang="en-US" dirty="0"/>
          </a:p>
        </p:txBody>
      </p:sp>
      <p:sp>
        <p:nvSpPr>
          <p:cNvPr id="3" name="コンテンツ プレースホルダー 2">
            <a:extLst>
              <a:ext uri="{FF2B5EF4-FFF2-40B4-BE49-F238E27FC236}">
                <a16:creationId xmlns:a16="http://schemas.microsoft.com/office/drawing/2014/main" id="{8144E4AA-4DE2-6001-26C0-0276D6F2A954}"/>
              </a:ext>
            </a:extLst>
          </p:cNvPr>
          <p:cNvSpPr>
            <a:spLocks noGrp="1"/>
          </p:cNvSpPr>
          <p:nvPr>
            <p:ph sz="quarter" idx="16"/>
          </p:nvPr>
        </p:nvSpPr>
        <p:spPr/>
        <p:txBody>
          <a:bodyPr/>
          <a:lstStyle/>
          <a:p>
            <a:r>
              <a:rPr kumimoji="1" lang="en-US" altLang="ja-JP" dirty="0"/>
              <a:t>CONTENT</a:t>
            </a:r>
            <a:endParaRPr kumimoji="1" lang="ja-JP" altLang="en-US" dirty="0"/>
          </a:p>
        </p:txBody>
      </p:sp>
    </p:spTree>
    <p:extLst>
      <p:ext uri="{BB962C8B-B14F-4D97-AF65-F5344CB8AC3E}">
        <p14:creationId xmlns:p14="http://schemas.microsoft.com/office/powerpoint/2010/main" val="35863805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8604E9F8-1B66-BFCE-BA12-4C94E4DB1C30}"/>
              </a:ext>
            </a:extLst>
          </p:cNvPr>
          <p:cNvSpPr>
            <a:spLocks noGrp="1"/>
          </p:cNvSpPr>
          <p:nvPr>
            <p:ph sz="quarter" idx="16"/>
          </p:nvPr>
        </p:nvSpPr>
        <p:spPr/>
        <p:txBody>
          <a:bodyPr/>
          <a:lstStyle/>
          <a:p>
            <a:r>
              <a:rPr kumimoji="1" lang="en-US" altLang="ja-JP" dirty="0"/>
              <a:t>4. Result and analysis</a:t>
            </a:r>
            <a:br>
              <a:rPr kumimoji="1" lang="en-US" altLang="ja-JP" dirty="0"/>
            </a:br>
            <a:r>
              <a:rPr kumimoji="1" lang="en-US" altLang="ja-JP" dirty="0"/>
              <a:t>	</a:t>
            </a:r>
            <a:r>
              <a:rPr lang="en-US" dirty="0"/>
              <a:t>Reward history by leaning process</a:t>
            </a:r>
          </a:p>
        </p:txBody>
      </p:sp>
      <p:grpSp>
        <p:nvGrpSpPr>
          <p:cNvPr id="10" name="グループ化 9">
            <a:extLst>
              <a:ext uri="{FF2B5EF4-FFF2-40B4-BE49-F238E27FC236}">
                <a16:creationId xmlns:a16="http://schemas.microsoft.com/office/drawing/2014/main" id="{A452ED66-2FF6-BB3A-A5DC-27CF133C74E7}"/>
              </a:ext>
            </a:extLst>
          </p:cNvPr>
          <p:cNvGrpSpPr/>
          <p:nvPr/>
        </p:nvGrpSpPr>
        <p:grpSpPr>
          <a:xfrm>
            <a:off x="43104" y="878776"/>
            <a:ext cx="4865366" cy="4811487"/>
            <a:chOff x="248941" y="1535875"/>
            <a:chExt cx="4383975" cy="4383975"/>
          </a:xfrm>
        </p:grpSpPr>
        <p:pic>
          <p:nvPicPr>
            <p:cNvPr id="4" name="図 3" descr="ダイアグラム, 概略図&#10;&#10;自動的に生成された説明">
              <a:extLst>
                <a:ext uri="{FF2B5EF4-FFF2-40B4-BE49-F238E27FC236}">
                  <a16:creationId xmlns:a16="http://schemas.microsoft.com/office/drawing/2014/main" id="{534ED0B2-6359-4516-4E9F-93C217D1BBD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8942" y="1535876"/>
              <a:ext cx="4383974" cy="4383974"/>
            </a:xfrm>
            <a:prstGeom prst="rect">
              <a:avLst/>
            </a:prstGeom>
          </p:spPr>
        </p:pic>
        <p:sp>
          <p:nvSpPr>
            <p:cNvPr id="8" name="正方形/長方形 7">
              <a:extLst>
                <a:ext uri="{FF2B5EF4-FFF2-40B4-BE49-F238E27FC236}">
                  <a16:creationId xmlns:a16="http://schemas.microsoft.com/office/drawing/2014/main" id="{4645CC95-9EA9-F24E-D95B-2F4B11F3B179}"/>
                </a:ext>
              </a:extLst>
            </p:cNvPr>
            <p:cNvSpPr/>
            <p:nvPr/>
          </p:nvSpPr>
          <p:spPr>
            <a:xfrm>
              <a:off x="248941" y="1535875"/>
              <a:ext cx="4383973" cy="4383973"/>
            </a:xfrm>
            <a:prstGeom prst="rect">
              <a:avLst/>
            </a:prstGeom>
            <a:noFill/>
            <a:ln w="190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 name="グループ化 10">
            <a:extLst>
              <a:ext uri="{FF2B5EF4-FFF2-40B4-BE49-F238E27FC236}">
                <a16:creationId xmlns:a16="http://schemas.microsoft.com/office/drawing/2014/main" id="{5DB0BB37-8487-887E-6953-7473A4C675C8}"/>
              </a:ext>
            </a:extLst>
          </p:cNvPr>
          <p:cNvGrpSpPr/>
          <p:nvPr/>
        </p:nvGrpSpPr>
        <p:grpSpPr>
          <a:xfrm>
            <a:off x="4953000" y="878776"/>
            <a:ext cx="4909897" cy="4811485"/>
            <a:chOff x="5273084" y="1535875"/>
            <a:chExt cx="4383974" cy="4383975"/>
          </a:xfrm>
        </p:grpSpPr>
        <p:pic>
          <p:nvPicPr>
            <p:cNvPr id="7" name="図 6" descr="ダイアグラム&#10;&#10;自動的に生成された説明">
              <a:extLst>
                <a:ext uri="{FF2B5EF4-FFF2-40B4-BE49-F238E27FC236}">
                  <a16:creationId xmlns:a16="http://schemas.microsoft.com/office/drawing/2014/main" id="{26DFA1C3-9DBC-EBE1-5BDB-4A690C4888E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73084" y="1535876"/>
              <a:ext cx="4383974" cy="4383974"/>
            </a:xfrm>
            <a:prstGeom prst="rect">
              <a:avLst/>
            </a:prstGeom>
          </p:spPr>
        </p:pic>
        <p:sp>
          <p:nvSpPr>
            <p:cNvPr id="9" name="正方形/長方形 8">
              <a:extLst>
                <a:ext uri="{FF2B5EF4-FFF2-40B4-BE49-F238E27FC236}">
                  <a16:creationId xmlns:a16="http://schemas.microsoft.com/office/drawing/2014/main" id="{F5A5D21D-466E-93CA-7DEE-8A58DFFB1E91}"/>
                </a:ext>
              </a:extLst>
            </p:cNvPr>
            <p:cNvSpPr/>
            <p:nvPr/>
          </p:nvSpPr>
          <p:spPr>
            <a:xfrm>
              <a:off x="5273085" y="1535875"/>
              <a:ext cx="4383973" cy="4383973"/>
            </a:xfrm>
            <a:prstGeom prst="rect">
              <a:avLst/>
            </a:pr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2" name="テキスト ボックス 11">
            <a:extLst>
              <a:ext uri="{FF2B5EF4-FFF2-40B4-BE49-F238E27FC236}">
                <a16:creationId xmlns:a16="http://schemas.microsoft.com/office/drawing/2014/main" id="{BA4BEC1D-9407-AB28-4AFF-118493C74A90}"/>
              </a:ext>
            </a:extLst>
          </p:cNvPr>
          <p:cNvSpPr txBox="1"/>
          <p:nvPr/>
        </p:nvSpPr>
        <p:spPr>
          <a:xfrm>
            <a:off x="2191092" y="5690259"/>
            <a:ext cx="569387" cy="369332"/>
          </a:xfrm>
          <a:prstGeom prst="rect">
            <a:avLst/>
          </a:prstGeom>
          <a:noFill/>
        </p:spPr>
        <p:txBody>
          <a:bodyPr wrap="none" rtlCol="0">
            <a:spAutoFit/>
          </a:bodyPr>
          <a:lstStyle/>
          <a:p>
            <a:r>
              <a:rPr lang="en-US" dirty="0"/>
              <a:t>P2P</a:t>
            </a:r>
          </a:p>
        </p:txBody>
      </p:sp>
      <p:sp>
        <p:nvSpPr>
          <p:cNvPr id="13" name="テキスト ボックス 12">
            <a:extLst>
              <a:ext uri="{FF2B5EF4-FFF2-40B4-BE49-F238E27FC236}">
                <a16:creationId xmlns:a16="http://schemas.microsoft.com/office/drawing/2014/main" id="{3900C64F-406D-29EB-CF5F-20DEC465CA7E}"/>
              </a:ext>
            </a:extLst>
          </p:cNvPr>
          <p:cNvSpPr txBox="1"/>
          <p:nvPr/>
        </p:nvSpPr>
        <p:spPr>
          <a:xfrm>
            <a:off x="6988629" y="5690259"/>
            <a:ext cx="1056700" cy="369332"/>
          </a:xfrm>
          <a:prstGeom prst="rect">
            <a:avLst/>
          </a:prstGeom>
          <a:noFill/>
        </p:spPr>
        <p:txBody>
          <a:bodyPr wrap="none" rtlCol="0">
            <a:spAutoFit/>
          </a:bodyPr>
          <a:lstStyle/>
          <a:p>
            <a:r>
              <a:rPr lang="en-US" dirty="0"/>
              <a:t>non-P2P</a:t>
            </a:r>
          </a:p>
        </p:txBody>
      </p:sp>
    </p:spTree>
    <p:extLst>
      <p:ext uri="{BB962C8B-B14F-4D97-AF65-F5344CB8AC3E}">
        <p14:creationId xmlns:p14="http://schemas.microsoft.com/office/powerpoint/2010/main" val="11225355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21949419-9817-AF43-D493-129C8A5102E2}"/>
              </a:ext>
            </a:extLst>
          </p:cNvPr>
          <p:cNvSpPr>
            <a:spLocks noGrp="1"/>
          </p:cNvSpPr>
          <p:nvPr>
            <p:ph sz="quarter" idx="16"/>
          </p:nvPr>
        </p:nvSpPr>
        <p:spPr/>
        <p:txBody>
          <a:bodyPr/>
          <a:lstStyle/>
          <a:p>
            <a:r>
              <a:rPr kumimoji="1" lang="en-US" altLang="ja-JP" dirty="0"/>
              <a:t>4. Result and analysis</a:t>
            </a:r>
            <a:br>
              <a:rPr kumimoji="1" lang="en-US" altLang="ja-JP" dirty="0"/>
            </a:br>
            <a:r>
              <a:rPr kumimoji="1" lang="en-US" altLang="ja-JP" dirty="0"/>
              <a:t>	Energy mix in microgrid P2P</a:t>
            </a:r>
            <a:endParaRPr kumimoji="1" lang="ja-JP" altLang="en-US" dirty="0"/>
          </a:p>
        </p:txBody>
      </p:sp>
      <p:pic>
        <p:nvPicPr>
          <p:cNvPr id="4" name="図 3">
            <a:extLst>
              <a:ext uri="{FF2B5EF4-FFF2-40B4-BE49-F238E27FC236}">
                <a16:creationId xmlns:a16="http://schemas.microsoft.com/office/drawing/2014/main" id="{541997FD-915B-296C-DEBB-37D4526718A4}"/>
              </a:ext>
            </a:extLst>
          </p:cNvPr>
          <p:cNvPicPr>
            <a:picLocks noChangeAspect="1"/>
          </p:cNvPicPr>
          <p:nvPr/>
        </p:nvPicPr>
        <p:blipFill>
          <a:blip r:embed="rId2"/>
          <a:srcRect t="1548" b="78942"/>
          <a:stretch/>
        </p:blipFill>
        <p:spPr>
          <a:xfrm>
            <a:off x="0" y="1207325"/>
            <a:ext cx="8919029" cy="2657652"/>
          </a:xfrm>
          <a:prstGeom prst="rect">
            <a:avLst/>
          </a:prstGeom>
        </p:spPr>
      </p:pic>
      <p:sp>
        <p:nvSpPr>
          <p:cNvPr id="6" name="コンテンツ プレースホルダー 1">
            <a:extLst>
              <a:ext uri="{FF2B5EF4-FFF2-40B4-BE49-F238E27FC236}">
                <a16:creationId xmlns:a16="http://schemas.microsoft.com/office/drawing/2014/main" id="{AEB9E5A8-3AFA-97B4-1147-34FA301F2DB3}"/>
              </a:ext>
            </a:extLst>
          </p:cNvPr>
          <p:cNvSpPr txBox="1">
            <a:spLocks/>
          </p:cNvSpPr>
          <p:nvPr/>
        </p:nvSpPr>
        <p:spPr>
          <a:xfrm>
            <a:off x="2465612" y="795330"/>
            <a:ext cx="5700653" cy="326894"/>
          </a:xfrm>
          <a:prstGeom prst="rect">
            <a:avLst/>
          </a:prstGeom>
        </p:spPr>
        <p:txBody>
          <a:bodyPr/>
          <a:lstStyle>
            <a:lvl1pPr marL="0" indent="0" algn="l" defTabSz="685800" rtl="0" eaLnBrk="1" latinLnBrk="0" hangingPunct="1">
              <a:lnSpc>
                <a:spcPct val="90000"/>
              </a:lnSpc>
              <a:spcBef>
                <a:spcPts val="750"/>
              </a:spcBef>
              <a:buFont typeface="Arial" panose="020B0604020202020204" pitchFamily="34" charset="0"/>
              <a:buNone/>
              <a:defRPr sz="16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altLang="ja-JP" sz="1400" dirty="0"/>
              <a:t>Energy</a:t>
            </a:r>
            <a:r>
              <a:rPr lang="ja-JP" altLang="en-US" sz="1400" dirty="0"/>
              <a:t> </a:t>
            </a:r>
            <a:r>
              <a:rPr lang="en-US" altLang="ja-JP" sz="1400" dirty="0"/>
              <a:t>mix</a:t>
            </a:r>
            <a:r>
              <a:rPr lang="ja-JP" altLang="en-US" sz="1400" dirty="0"/>
              <a:t> </a:t>
            </a:r>
            <a:r>
              <a:rPr lang="en-US" altLang="ja-JP" sz="1400" dirty="0"/>
              <a:t>in</a:t>
            </a:r>
            <a:r>
              <a:rPr lang="ja-JP" altLang="en-US" sz="1400" dirty="0"/>
              <a:t> </a:t>
            </a:r>
            <a:r>
              <a:rPr lang="en-US" altLang="ja-JP" sz="1400" dirty="0"/>
              <a:t>microgrid</a:t>
            </a:r>
            <a:r>
              <a:rPr lang="ja-JP" altLang="en-US" sz="1400" dirty="0"/>
              <a:t> </a:t>
            </a:r>
            <a:r>
              <a:rPr lang="en-US" altLang="ja-JP" sz="1400" dirty="0"/>
              <a:t>(sum) @thread 0 @episode 100 (test) w/ P2P</a:t>
            </a:r>
          </a:p>
        </p:txBody>
      </p:sp>
      <p:pic>
        <p:nvPicPr>
          <p:cNvPr id="7" name="図 6">
            <a:extLst>
              <a:ext uri="{FF2B5EF4-FFF2-40B4-BE49-F238E27FC236}">
                <a16:creationId xmlns:a16="http://schemas.microsoft.com/office/drawing/2014/main" id="{2207C518-9E62-A936-A916-055CC39656C8}"/>
              </a:ext>
            </a:extLst>
          </p:cNvPr>
          <p:cNvPicPr>
            <a:picLocks noChangeAspect="1"/>
          </p:cNvPicPr>
          <p:nvPr/>
        </p:nvPicPr>
        <p:blipFill>
          <a:blip r:embed="rId2"/>
          <a:srcRect l="2437" t="74840"/>
          <a:stretch/>
        </p:blipFill>
        <p:spPr>
          <a:xfrm>
            <a:off x="195502" y="4952617"/>
            <a:ext cx="8722531" cy="1153648"/>
          </a:xfrm>
          <a:prstGeom prst="rect">
            <a:avLst/>
          </a:prstGeom>
        </p:spPr>
      </p:pic>
      <p:sp>
        <p:nvSpPr>
          <p:cNvPr id="8" name="コンテンツ プレースホルダー 1">
            <a:extLst>
              <a:ext uri="{FF2B5EF4-FFF2-40B4-BE49-F238E27FC236}">
                <a16:creationId xmlns:a16="http://schemas.microsoft.com/office/drawing/2014/main" id="{D6B37555-8EC4-CE3F-8159-4781EDAAFE41}"/>
              </a:ext>
            </a:extLst>
          </p:cNvPr>
          <p:cNvSpPr txBox="1">
            <a:spLocks/>
          </p:cNvSpPr>
          <p:nvPr/>
        </p:nvSpPr>
        <p:spPr>
          <a:xfrm rot="16200000">
            <a:off x="-115381" y="2418506"/>
            <a:ext cx="478411" cy="235291"/>
          </a:xfrm>
          <a:prstGeom prst="rect">
            <a:avLst/>
          </a:prstGeom>
          <a:solidFill>
            <a:schemeClr val="bg1"/>
          </a:solidFill>
        </p:spPr>
        <p:txBody>
          <a:bodyPr/>
          <a:lstStyle>
            <a:lvl1pPr marL="0" indent="0" algn="l" defTabSz="685800" rtl="0" eaLnBrk="1" latinLnBrk="0" hangingPunct="1">
              <a:lnSpc>
                <a:spcPct val="90000"/>
              </a:lnSpc>
              <a:spcBef>
                <a:spcPts val="750"/>
              </a:spcBef>
              <a:buFont typeface="Arial" panose="020B0604020202020204" pitchFamily="34" charset="0"/>
              <a:buNone/>
              <a:defRPr sz="16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sz="1050" dirty="0"/>
              <a:t>kWh</a:t>
            </a:r>
          </a:p>
        </p:txBody>
      </p:sp>
      <p:pic>
        <p:nvPicPr>
          <p:cNvPr id="9" name="図 8">
            <a:extLst>
              <a:ext uri="{FF2B5EF4-FFF2-40B4-BE49-F238E27FC236}">
                <a16:creationId xmlns:a16="http://schemas.microsoft.com/office/drawing/2014/main" id="{CB1B3644-4352-C3AA-180E-FB90F2CB6964}"/>
              </a:ext>
            </a:extLst>
          </p:cNvPr>
          <p:cNvPicPr>
            <a:picLocks noChangeAspect="1"/>
          </p:cNvPicPr>
          <p:nvPr/>
        </p:nvPicPr>
        <p:blipFill rotWithShape="1">
          <a:blip r:embed="rId3"/>
          <a:srcRect l="93978" t="20059" r="686" b="61242"/>
          <a:stretch/>
        </p:blipFill>
        <p:spPr>
          <a:xfrm>
            <a:off x="8919029" y="1269872"/>
            <a:ext cx="989712" cy="1231014"/>
          </a:xfrm>
          <a:prstGeom prst="rect">
            <a:avLst/>
          </a:prstGeom>
        </p:spPr>
      </p:pic>
      <p:pic>
        <p:nvPicPr>
          <p:cNvPr id="10" name="図 9">
            <a:extLst>
              <a:ext uri="{FF2B5EF4-FFF2-40B4-BE49-F238E27FC236}">
                <a16:creationId xmlns:a16="http://schemas.microsoft.com/office/drawing/2014/main" id="{F2C70B29-58C4-956E-1B56-A245D90FC9E9}"/>
              </a:ext>
            </a:extLst>
          </p:cNvPr>
          <p:cNvPicPr>
            <a:picLocks noChangeAspect="1"/>
          </p:cNvPicPr>
          <p:nvPr/>
        </p:nvPicPr>
        <p:blipFill>
          <a:blip r:embed="rId2"/>
          <a:srcRect l="2459" t="38483" b="42007"/>
          <a:stretch/>
        </p:blipFill>
        <p:spPr>
          <a:xfrm>
            <a:off x="195503" y="3950078"/>
            <a:ext cx="8722530" cy="894608"/>
          </a:xfrm>
          <a:prstGeom prst="rect">
            <a:avLst/>
          </a:prstGeom>
        </p:spPr>
      </p:pic>
      <p:pic>
        <p:nvPicPr>
          <p:cNvPr id="11" name="図 10">
            <a:extLst>
              <a:ext uri="{FF2B5EF4-FFF2-40B4-BE49-F238E27FC236}">
                <a16:creationId xmlns:a16="http://schemas.microsoft.com/office/drawing/2014/main" id="{F0A7D99F-20F1-C0A5-0AC8-6690F99B2A2D}"/>
              </a:ext>
            </a:extLst>
          </p:cNvPr>
          <p:cNvPicPr>
            <a:picLocks noChangeAspect="1"/>
          </p:cNvPicPr>
          <p:nvPr/>
        </p:nvPicPr>
        <p:blipFill rotWithShape="1">
          <a:blip r:embed="rId3"/>
          <a:srcRect l="93358" t="16517" b="79784"/>
          <a:stretch/>
        </p:blipFill>
        <p:spPr>
          <a:xfrm>
            <a:off x="8875158" y="5006219"/>
            <a:ext cx="1030842" cy="203729"/>
          </a:xfrm>
          <a:prstGeom prst="rect">
            <a:avLst/>
          </a:prstGeom>
        </p:spPr>
      </p:pic>
      <p:pic>
        <p:nvPicPr>
          <p:cNvPr id="12" name="図 11">
            <a:extLst>
              <a:ext uri="{FF2B5EF4-FFF2-40B4-BE49-F238E27FC236}">
                <a16:creationId xmlns:a16="http://schemas.microsoft.com/office/drawing/2014/main" id="{A49A941F-404D-871E-0104-282702596BDE}"/>
              </a:ext>
            </a:extLst>
          </p:cNvPr>
          <p:cNvPicPr>
            <a:picLocks noChangeAspect="1"/>
          </p:cNvPicPr>
          <p:nvPr/>
        </p:nvPicPr>
        <p:blipFill rotWithShape="1">
          <a:blip r:embed="rId3"/>
          <a:srcRect l="93358" t="12048" r="1677" b="83204"/>
          <a:stretch/>
        </p:blipFill>
        <p:spPr>
          <a:xfrm>
            <a:off x="8875158" y="3926392"/>
            <a:ext cx="947653" cy="321603"/>
          </a:xfrm>
          <a:prstGeom prst="rect">
            <a:avLst/>
          </a:prstGeom>
        </p:spPr>
      </p:pic>
      <p:sp>
        <p:nvSpPr>
          <p:cNvPr id="13" name="コンテンツ プレースホルダー 1">
            <a:extLst>
              <a:ext uri="{FF2B5EF4-FFF2-40B4-BE49-F238E27FC236}">
                <a16:creationId xmlns:a16="http://schemas.microsoft.com/office/drawing/2014/main" id="{B707B65C-76C2-F8FE-9916-3619ABDB0E4F}"/>
              </a:ext>
            </a:extLst>
          </p:cNvPr>
          <p:cNvSpPr>
            <a:spLocks noGrp="1"/>
          </p:cNvSpPr>
          <p:nvPr>
            <p:ph sz="quarter" idx="17"/>
          </p:nvPr>
        </p:nvSpPr>
        <p:spPr>
          <a:xfrm rot="16200000">
            <a:off x="-318336" y="4279736"/>
            <a:ext cx="859411" cy="235291"/>
          </a:xfrm>
        </p:spPr>
        <p:txBody>
          <a:bodyPr/>
          <a:lstStyle/>
          <a:p>
            <a:r>
              <a:rPr lang="en-US" sz="1050" dirty="0"/>
              <a:t>Cents/kWh</a:t>
            </a:r>
          </a:p>
        </p:txBody>
      </p:sp>
      <p:sp>
        <p:nvSpPr>
          <p:cNvPr id="14" name="コンテンツ プレースホルダー 1">
            <a:extLst>
              <a:ext uri="{FF2B5EF4-FFF2-40B4-BE49-F238E27FC236}">
                <a16:creationId xmlns:a16="http://schemas.microsoft.com/office/drawing/2014/main" id="{D4839C95-8650-5091-9254-DBA9EFAF7D5E}"/>
              </a:ext>
            </a:extLst>
          </p:cNvPr>
          <p:cNvSpPr txBox="1">
            <a:spLocks/>
          </p:cNvSpPr>
          <p:nvPr/>
        </p:nvSpPr>
        <p:spPr>
          <a:xfrm rot="16200000">
            <a:off x="-305881" y="5174344"/>
            <a:ext cx="859411" cy="235291"/>
          </a:xfrm>
          <a:prstGeom prst="rect">
            <a:avLst/>
          </a:prstGeom>
        </p:spPr>
        <p:txBody>
          <a:bodyPr/>
          <a:lstStyle>
            <a:lvl1pPr marL="0" indent="0" algn="l" defTabSz="685800" rtl="0" eaLnBrk="1" latinLnBrk="0" hangingPunct="1">
              <a:lnSpc>
                <a:spcPct val="90000"/>
              </a:lnSpc>
              <a:spcBef>
                <a:spcPts val="750"/>
              </a:spcBef>
              <a:buFont typeface="Arial" panose="020B0604020202020204" pitchFamily="34" charset="0"/>
              <a:buNone/>
              <a:defRPr sz="16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sz="1050" dirty="0"/>
              <a:t>SoC [%]</a:t>
            </a:r>
          </a:p>
        </p:txBody>
      </p:sp>
      <p:sp>
        <p:nvSpPr>
          <p:cNvPr id="15" name="正方形/長方形 14">
            <a:extLst>
              <a:ext uri="{FF2B5EF4-FFF2-40B4-BE49-F238E27FC236}">
                <a16:creationId xmlns:a16="http://schemas.microsoft.com/office/drawing/2014/main" id="{7FC03122-09DB-0B0C-736C-0466E86DDFEF}"/>
              </a:ext>
            </a:extLst>
          </p:cNvPr>
          <p:cNvSpPr/>
          <p:nvPr/>
        </p:nvSpPr>
        <p:spPr>
          <a:xfrm>
            <a:off x="6179" y="809134"/>
            <a:ext cx="9893642" cy="5405620"/>
          </a:xfrm>
          <a:prstGeom prst="rect">
            <a:avLst/>
          </a:prstGeom>
          <a:noFill/>
          <a:ln w="190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4728720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B615F6-86D0-1842-DA93-6A3A7E8367E2}"/>
            </a:ext>
          </a:extLst>
        </p:cNvPr>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3A64C477-1224-0C3B-4C55-089AE5F9B2C7}"/>
              </a:ext>
            </a:extLst>
          </p:cNvPr>
          <p:cNvSpPr>
            <a:spLocks noGrp="1"/>
          </p:cNvSpPr>
          <p:nvPr>
            <p:ph sz="quarter" idx="16"/>
          </p:nvPr>
        </p:nvSpPr>
        <p:spPr/>
        <p:txBody>
          <a:bodyPr/>
          <a:lstStyle/>
          <a:p>
            <a:r>
              <a:rPr kumimoji="1" lang="en-US" altLang="ja-JP" dirty="0"/>
              <a:t>4. Result and analysis</a:t>
            </a:r>
            <a:br>
              <a:rPr kumimoji="1" lang="en-US" altLang="ja-JP" dirty="0"/>
            </a:br>
            <a:r>
              <a:rPr kumimoji="1" lang="en-US" altLang="ja-JP" dirty="0"/>
              <a:t>	Energy mix in microgrid non-P2P</a:t>
            </a:r>
            <a:endParaRPr kumimoji="1" lang="ja-JP" altLang="en-US" dirty="0"/>
          </a:p>
        </p:txBody>
      </p:sp>
      <p:pic>
        <p:nvPicPr>
          <p:cNvPr id="5" name="図 4">
            <a:extLst>
              <a:ext uri="{FF2B5EF4-FFF2-40B4-BE49-F238E27FC236}">
                <a16:creationId xmlns:a16="http://schemas.microsoft.com/office/drawing/2014/main" id="{330AF6BB-2551-11DE-4E39-DD356060A80D}"/>
              </a:ext>
            </a:extLst>
          </p:cNvPr>
          <p:cNvPicPr>
            <a:picLocks noChangeAspect="1"/>
          </p:cNvPicPr>
          <p:nvPr/>
        </p:nvPicPr>
        <p:blipFill>
          <a:blip r:embed="rId2"/>
          <a:srcRect l="1639" t="4915" r="420" b="82221"/>
          <a:stretch/>
        </p:blipFill>
        <p:spPr>
          <a:xfrm>
            <a:off x="167362" y="1312546"/>
            <a:ext cx="8683173" cy="2464810"/>
          </a:xfrm>
          <a:prstGeom prst="rect">
            <a:avLst/>
          </a:prstGeom>
        </p:spPr>
      </p:pic>
      <p:pic>
        <p:nvPicPr>
          <p:cNvPr id="6" name="図 5">
            <a:extLst>
              <a:ext uri="{FF2B5EF4-FFF2-40B4-BE49-F238E27FC236}">
                <a16:creationId xmlns:a16="http://schemas.microsoft.com/office/drawing/2014/main" id="{950F7CBF-7E45-5E4E-9CC9-4D43BEA58087}"/>
              </a:ext>
            </a:extLst>
          </p:cNvPr>
          <p:cNvPicPr>
            <a:picLocks noChangeAspect="1"/>
          </p:cNvPicPr>
          <p:nvPr/>
        </p:nvPicPr>
        <p:blipFill>
          <a:blip r:embed="rId2"/>
          <a:srcRect l="2198" t="74415"/>
          <a:stretch/>
        </p:blipFill>
        <p:spPr>
          <a:xfrm>
            <a:off x="173304" y="4932969"/>
            <a:ext cx="8724226" cy="1162577"/>
          </a:xfrm>
          <a:prstGeom prst="rect">
            <a:avLst/>
          </a:prstGeom>
        </p:spPr>
      </p:pic>
      <p:sp>
        <p:nvSpPr>
          <p:cNvPr id="7" name="コンテンツ プレースホルダー 1">
            <a:extLst>
              <a:ext uri="{FF2B5EF4-FFF2-40B4-BE49-F238E27FC236}">
                <a16:creationId xmlns:a16="http://schemas.microsoft.com/office/drawing/2014/main" id="{C92D2552-ADB7-306D-4619-6D5D5C7B412D}"/>
              </a:ext>
            </a:extLst>
          </p:cNvPr>
          <p:cNvSpPr txBox="1">
            <a:spLocks/>
          </p:cNvSpPr>
          <p:nvPr/>
        </p:nvSpPr>
        <p:spPr>
          <a:xfrm>
            <a:off x="2465612" y="795330"/>
            <a:ext cx="5946077" cy="326894"/>
          </a:xfrm>
          <a:prstGeom prst="rect">
            <a:avLst/>
          </a:prstGeom>
        </p:spPr>
        <p:txBody>
          <a:bodyPr/>
          <a:lstStyle>
            <a:lvl1pPr marL="0" indent="0" algn="l" defTabSz="685800" rtl="0" eaLnBrk="1" latinLnBrk="0" hangingPunct="1">
              <a:lnSpc>
                <a:spcPct val="90000"/>
              </a:lnSpc>
              <a:spcBef>
                <a:spcPts val="750"/>
              </a:spcBef>
              <a:buFont typeface="Arial" panose="020B0604020202020204" pitchFamily="34" charset="0"/>
              <a:buNone/>
              <a:defRPr sz="16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altLang="ja-JP" sz="1400" dirty="0"/>
              <a:t>Energy</a:t>
            </a:r>
            <a:r>
              <a:rPr lang="ja-JP" altLang="en-US" sz="1400" dirty="0"/>
              <a:t> </a:t>
            </a:r>
            <a:r>
              <a:rPr lang="en-US" altLang="ja-JP" sz="1400" dirty="0"/>
              <a:t>mix</a:t>
            </a:r>
            <a:r>
              <a:rPr lang="ja-JP" altLang="en-US" sz="1400" dirty="0"/>
              <a:t> </a:t>
            </a:r>
            <a:r>
              <a:rPr lang="en-US" altLang="ja-JP" sz="1400" dirty="0"/>
              <a:t>in</a:t>
            </a:r>
            <a:r>
              <a:rPr lang="ja-JP" altLang="en-US" sz="1400" dirty="0"/>
              <a:t> </a:t>
            </a:r>
            <a:r>
              <a:rPr lang="en-US" altLang="ja-JP" sz="1400" dirty="0"/>
              <a:t>microgrid</a:t>
            </a:r>
            <a:r>
              <a:rPr lang="ja-JP" altLang="en-US" sz="1400" dirty="0"/>
              <a:t> </a:t>
            </a:r>
            <a:r>
              <a:rPr lang="en-US" altLang="ja-JP" sz="1400" dirty="0"/>
              <a:t>(sum) @thread 0 @episode 100 (test) w/o P2P</a:t>
            </a:r>
          </a:p>
        </p:txBody>
      </p:sp>
      <p:pic>
        <p:nvPicPr>
          <p:cNvPr id="8" name="図 7">
            <a:extLst>
              <a:ext uri="{FF2B5EF4-FFF2-40B4-BE49-F238E27FC236}">
                <a16:creationId xmlns:a16="http://schemas.microsoft.com/office/drawing/2014/main" id="{60CF23FF-49E6-0D47-3605-5070DA8CE1CA}"/>
              </a:ext>
            </a:extLst>
          </p:cNvPr>
          <p:cNvPicPr>
            <a:picLocks noChangeAspect="1"/>
          </p:cNvPicPr>
          <p:nvPr/>
        </p:nvPicPr>
        <p:blipFill rotWithShape="1">
          <a:blip r:embed="rId3"/>
          <a:srcRect l="93978" t="20059" r="686" b="61242"/>
          <a:stretch/>
        </p:blipFill>
        <p:spPr>
          <a:xfrm>
            <a:off x="8919029" y="1269872"/>
            <a:ext cx="989712" cy="1231014"/>
          </a:xfrm>
          <a:prstGeom prst="rect">
            <a:avLst/>
          </a:prstGeom>
        </p:spPr>
      </p:pic>
      <p:pic>
        <p:nvPicPr>
          <p:cNvPr id="9" name="図 8">
            <a:extLst>
              <a:ext uri="{FF2B5EF4-FFF2-40B4-BE49-F238E27FC236}">
                <a16:creationId xmlns:a16="http://schemas.microsoft.com/office/drawing/2014/main" id="{4A0B9FD2-8723-D391-0301-D4C7AC8207EB}"/>
              </a:ext>
            </a:extLst>
          </p:cNvPr>
          <p:cNvPicPr>
            <a:picLocks noChangeAspect="1"/>
          </p:cNvPicPr>
          <p:nvPr/>
        </p:nvPicPr>
        <p:blipFill rotWithShape="1">
          <a:blip r:embed="rId3"/>
          <a:srcRect l="93358" t="16517" b="79784"/>
          <a:stretch/>
        </p:blipFill>
        <p:spPr>
          <a:xfrm>
            <a:off x="8875158" y="5006219"/>
            <a:ext cx="1030842" cy="203729"/>
          </a:xfrm>
          <a:prstGeom prst="rect">
            <a:avLst/>
          </a:prstGeom>
        </p:spPr>
      </p:pic>
      <p:pic>
        <p:nvPicPr>
          <p:cNvPr id="10" name="図 9">
            <a:extLst>
              <a:ext uri="{FF2B5EF4-FFF2-40B4-BE49-F238E27FC236}">
                <a16:creationId xmlns:a16="http://schemas.microsoft.com/office/drawing/2014/main" id="{F0BF271D-D0A5-61F6-D61F-E80733D628D2}"/>
              </a:ext>
            </a:extLst>
          </p:cNvPr>
          <p:cNvPicPr>
            <a:picLocks noChangeAspect="1"/>
          </p:cNvPicPr>
          <p:nvPr/>
        </p:nvPicPr>
        <p:blipFill rotWithShape="1">
          <a:blip r:embed="rId3"/>
          <a:srcRect l="93358" t="12048" r="1677" b="83204"/>
          <a:stretch/>
        </p:blipFill>
        <p:spPr>
          <a:xfrm>
            <a:off x="8875158" y="3926392"/>
            <a:ext cx="947653" cy="321603"/>
          </a:xfrm>
          <a:prstGeom prst="rect">
            <a:avLst/>
          </a:prstGeom>
        </p:spPr>
      </p:pic>
      <p:sp>
        <p:nvSpPr>
          <p:cNvPr id="11" name="コンテンツ プレースホルダー 1">
            <a:extLst>
              <a:ext uri="{FF2B5EF4-FFF2-40B4-BE49-F238E27FC236}">
                <a16:creationId xmlns:a16="http://schemas.microsoft.com/office/drawing/2014/main" id="{F46255A0-31EF-85C4-9E93-8D4D28BB6C07}"/>
              </a:ext>
            </a:extLst>
          </p:cNvPr>
          <p:cNvSpPr txBox="1">
            <a:spLocks/>
          </p:cNvSpPr>
          <p:nvPr/>
        </p:nvSpPr>
        <p:spPr>
          <a:xfrm rot="16200000">
            <a:off x="-115381" y="2418506"/>
            <a:ext cx="478411" cy="235291"/>
          </a:xfrm>
          <a:prstGeom prst="rect">
            <a:avLst/>
          </a:prstGeom>
          <a:solidFill>
            <a:schemeClr val="bg1"/>
          </a:solidFill>
        </p:spPr>
        <p:txBody>
          <a:bodyPr/>
          <a:lstStyle>
            <a:lvl1pPr marL="0" indent="0" algn="l" defTabSz="685800" rtl="0" eaLnBrk="1" latinLnBrk="0" hangingPunct="1">
              <a:lnSpc>
                <a:spcPct val="90000"/>
              </a:lnSpc>
              <a:spcBef>
                <a:spcPts val="750"/>
              </a:spcBef>
              <a:buFont typeface="Arial" panose="020B0604020202020204" pitchFamily="34" charset="0"/>
              <a:buNone/>
              <a:defRPr sz="16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sz="1050" dirty="0"/>
              <a:t>kWh</a:t>
            </a:r>
          </a:p>
        </p:txBody>
      </p:sp>
      <p:pic>
        <p:nvPicPr>
          <p:cNvPr id="12" name="図 11">
            <a:extLst>
              <a:ext uri="{FF2B5EF4-FFF2-40B4-BE49-F238E27FC236}">
                <a16:creationId xmlns:a16="http://schemas.microsoft.com/office/drawing/2014/main" id="{EADD67F3-7D51-CE18-EF5F-3D57BB57C964}"/>
              </a:ext>
            </a:extLst>
          </p:cNvPr>
          <p:cNvPicPr>
            <a:picLocks noChangeAspect="1"/>
          </p:cNvPicPr>
          <p:nvPr/>
        </p:nvPicPr>
        <p:blipFill>
          <a:blip r:embed="rId2"/>
          <a:srcRect l="2109" t="38447" b="41945"/>
          <a:stretch/>
        </p:blipFill>
        <p:spPr>
          <a:xfrm>
            <a:off x="177262" y="4006784"/>
            <a:ext cx="8714326" cy="890988"/>
          </a:xfrm>
          <a:prstGeom prst="rect">
            <a:avLst/>
          </a:prstGeom>
        </p:spPr>
      </p:pic>
      <p:sp>
        <p:nvSpPr>
          <p:cNvPr id="13" name="コンテンツ プレースホルダー 1">
            <a:extLst>
              <a:ext uri="{FF2B5EF4-FFF2-40B4-BE49-F238E27FC236}">
                <a16:creationId xmlns:a16="http://schemas.microsoft.com/office/drawing/2014/main" id="{2C6649E1-08F1-C98B-AC8B-634429281DA5}"/>
              </a:ext>
            </a:extLst>
          </p:cNvPr>
          <p:cNvSpPr>
            <a:spLocks noGrp="1"/>
          </p:cNvSpPr>
          <p:nvPr>
            <p:ph sz="quarter" idx="17"/>
          </p:nvPr>
        </p:nvSpPr>
        <p:spPr>
          <a:xfrm rot="16200000">
            <a:off x="-318336" y="4279736"/>
            <a:ext cx="859411" cy="235291"/>
          </a:xfrm>
        </p:spPr>
        <p:txBody>
          <a:bodyPr/>
          <a:lstStyle/>
          <a:p>
            <a:r>
              <a:rPr lang="en-US" sz="1050" dirty="0"/>
              <a:t>Cents/kWh</a:t>
            </a:r>
          </a:p>
        </p:txBody>
      </p:sp>
      <p:sp>
        <p:nvSpPr>
          <p:cNvPr id="14" name="コンテンツ プレースホルダー 1">
            <a:extLst>
              <a:ext uri="{FF2B5EF4-FFF2-40B4-BE49-F238E27FC236}">
                <a16:creationId xmlns:a16="http://schemas.microsoft.com/office/drawing/2014/main" id="{290FCF5A-4D0E-CE42-A1B5-1A3D9541A55E}"/>
              </a:ext>
            </a:extLst>
          </p:cNvPr>
          <p:cNvSpPr txBox="1">
            <a:spLocks/>
          </p:cNvSpPr>
          <p:nvPr/>
        </p:nvSpPr>
        <p:spPr>
          <a:xfrm rot="16200000">
            <a:off x="-305881" y="5174344"/>
            <a:ext cx="859411" cy="235291"/>
          </a:xfrm>
          <a:prstGeom prst="rect">
            <a:avLst/>
          </a:prstGeom>
        </p:spPr>
        <p:txBody>
          <a:bodyPr/>
          <a:lstStyle>
            <a:lvl1pPr marL="0" indent="0" algn="l" defTabSz="685800" rtl="0" eaLnBrk="1" latinLnBrk="0" hangingPunct="1">
              <a:lnSpc>
                <a:spcPct val="90000"/>
              </a:lnSpc>
              <a:spcBef>
                <a:spcPts val="750"/>
              </a:spcBef>
              <a:buFont typeface="Arial" panose="020B0604020202020204" pitchFamily="34" charset="0"/>
              <a:buNone/>
              <a:defRPr sz="16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sz="1050" dirty="0"/>
              <a:t>SoC [%]</a:t>
            </a:r>
          </a:p>
        </p:txBody>
      </p:sp>
      <p:sp>
        <p:nvSpPr>
          <p:cNvPr id="15" name="正方形/長方形 14">
            <a:extLst>
              <a:ext uri="{FF2B5EF4-FFF2-40B4-BE49-F238E27FC236}">
                <a16:creationId xmlns:a16="http://schemas.microsoft.com/office/drawing/2014/main" id="{E86F5A3A-AFB1-012E-D46E-774FF4B471FC}"/>
              </a:ext>
            </a:extLst>
          </p:cNvPr>
          <p:cNvSpPr/>
          <p:nvPr/>
        </p:nvSpPr>
        <p:spPr>
          <a:xfrm>
            <a:off x="6179" y="809134"/>
            <a:ext cx="9893642" cy="5405620"/>
          </a:xfrm>
          <a:prstGeom prst="rect">
            <a:avLst/>
          </a:pr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テキスト ボックス 15">
            <a:extLst>
              <a:ext uri="{FF2B5EF4-FFF2-40B4-BE49-F238E27FC236}">
                <a16:creationId xmlns:a16="http://schemas.microsoft.com/office/drawing/2014/main" id="{766C975E-F751-C49C-DF31-F53FA3D9B7F9}"/>
              </a:ext>
            </a:extLst>
          </p:cNvPr>
          <p:cNvSpPr txBox="1"/>
          <p:nvPr/>
        </p:nvSpPr>
        <p:spPr>
          <a:xfrm>
            <a:off x="64979" y="1779292"/>
            <a:ext cx="352982" cy="215444"/>
          </a:xfrm>
          <a:prstGeom prst="rect">
            <a:avLst/>
          </a:prstGeom>
          <a:noFill/>
        </p:spPr>
        <p:txBody>
          <a:bodyPr wrap="none" rtlCol="0">
            <a:spAutoFit/>
          </a:bodyPr>
          <a:lstStyle/>
          <a:p>
            <a:r>
              <a:rPr lang="en-US" sz="800" dirty="0"/>
              <a:t>200</a:t>
            </a:r>
          </a:p>
        </p:txBody>
      </p:sp>
      <p:cxnSp>
        <p:nvCxnSpPr>
          <p:cNvPr id="18" name="直線コネクタ 17">
            <a:extLst>
              <a:ext uri="{FF2B5EF4-FFF2-40B4-BE49-F238E27FC236}">
                <a16:creationId xmlns:a16="http://schemas.microsoft.com/office/drawing/2014/main" id="{48A4F0F7-517F-DB76-C68E-8E91DBBBAC4F}"/>
              </a:ext>
            </a:extLst>
          </p:cNvPr>
          <p:cNvCxnSpPr>
            <a:cxnSpLocks/>
          </p:cNvCxnSpPr>
          <p:nvPr/>
        </p:nvCxnSpPr>
        <p:spPr>
          <a:xfrm>
            <a:off x="353408" y="1890161"/>
            <a:ext cx="8497127"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a16:creationId xmlns:a16="http://schemas.microsoft.com/office/drawing/2014/main" id="{AAF5B7D0-2C56-6523-CE56-CDEF28CA0744}"/>
              </a:ext>
            </a:extLst>
          </p:cNvPr>
          <p:cNvCxnSpPr>
            <a:cxnSpLocks/>
          </p:cNvCxnSpPr>
          <p:nvPr/>
        </p:nvCxnSpPr>
        <p:spPr>
          <a:xfrm>
            <a:off x="353408" y="3186551"/>
            <a:ext cx="8497127"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25" name="テキスト ボックス 24">
            <a:extLst>
              <a:ext uri="{FF2B5EF4-FFF2-40B4-BE49-F238E27FC236}">
                <a16:creationId xmlns:a16="http://schemas.microsoft.com/office/drawing/2014/main" id="{6E817E55-A120-B3AA-5040-5D5FDFA19E52}"/>
              </a:ext>
            </a:extLst>
          </p:cNvPr>
          <p:cNvSpPr txBox="1"/>
          <p:nvPr/>
        </p:nvSpPr>
        <p:spPr>
          <a:xfrm>
            <a:off x="31685" y="3063325"/>
            <a:ext cx="394660" cy="215444"/>
          </a:xfrm>
          <a:prstGeom prst="rect">
            <a:avLst/>
          </a:prstGeom>
          <a:noFill/>
        </p:spPr>
        <p:txBody>
          <a:bodyPr wrap="none" rtlCol="0">
            <a:spAutoFit/>
          </a:bodyPr>
          <a:lstStyle/>
          <a:p>
            <a:r>
              <a:rPr lang="en-US" sz="800" dirty="0"/>
              <a:t>-200</a:t>
            </a:r>
          </a:p>
        </p:txBody>
      </p:sp>
    </p:spTree>
    <p:extLst>
      <p:ext uri="{BB962C8B-B14F-4D97-AF65-F5344CB8AC3E}">
        <p14:creationId xmlns:p14="http://schemas.microsoft.com/office/powerpoint/2010/main" val="202574150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図 27">
            <a:extLst>
              <a:ext uri="{FF2B5EF4-FFF2-40B4-BE49-F238E27FC236}">
                <a16:creationId xmlns:a16="http://schemas.microsoft.com/office/drawing/2014/main" id="{84D12710-DE29-745D-F5E1-9D652020C6AF}"/>
              </a:ext>
            </a:extLst>
          </p:cNvPr>
          <p:cNvPicPr>
            <a:picLocks noChangeAspect="1"/>
          </p:cNvPicPr>
          <p:nvPr/>
        </p:nvPicPr>
        <p:blipFill>
          <a:blip r:embed="rId2"/>
          <a:stretch>
            <a:fillRect/>
          </a:stretch>
        </p:blipFill>
        <p:spPr>
          <a:xfrm>
            <a:off x="8807532" y="1153019"/>
            <a:ext cx="1065001" cy="1231014"/>
          </a:xfrm>
          <a:prstGeom prst="rect">
            <a:avLst/>
          </a:prstGeom>
        </p:spPr>
      </p:pic>
      <p:sp>
        <p:nvSpPr>
          <p:cNvPr id="3" name="コンテンツ プレースホルダー 2">
            <a:extLst>
              <a:ext uri="{FF2B5EF4-FFF2-40B4-BE49-F238E27FC236}">
                <a16:creationId xmlns:a16="http://schemas.microsoft.com/office/drawing/2014/main" id="{C4B7549D-C746-232D-A74E-ABC29A2721FE}"/>
              </a:ext>
            </a:extLst>
          </p:cNvPr>
          <p:cNvSpPr>
            <a:spLocks noGrp="1"/>
          </p:cNvSpPr>
          <p:nvPr>
            <p:ph sz="quarter" idx="16"/>
          </p:nvPr>
        </p:nvSpPr>
        <p:spPr/>
        <p:txBody>
          <a:bodyPr/>
          <a:lstStyle/>
          <a:p>
            <a:r>
              <a:rPr lang="en-US" dirty="0"/>
              <a:t>4. Result </a:t>
            </a:r>
            <a:r>
              <a:rPr kumimoji="1" lang="en-US" altLang="ja-JP" dirty="0"/>
              <a:t>and analysis</a:t>
            </a:r>
            <a:br>
              <a:rPr lang="en-US" dirty="0"/>
            </a:br>
            <a:r>
              <a:rPr lang="en-US" dirty="0"/>
              <a:t>	Energy mix of an agent P2P</a:t>
            </a:r>
          </a:p>
        </p:txBody>
      </p:sp>
      <p:pic>
        <p:nvPicPr>
          <p:cNvPr id="8" name="図 7">
            <a:extLst>
              <a:ext uri="{FF2B5EF4-FFF2-40B4-BE49-F238E27FC236}">
                <a16:creationId xmlns:a16="http://schemas.microsoft.com/office/drawing/2014/main" id="{0DE17101-5076-6B79-2B30-D6D833FB68E9}"/>
              </a:ext>
            </a:extLst>
          </p:cNvPr>
          <p:cNvPicPr>
            <a:picLocks noChangeAspect="1"/>
          </p:cNvPicPr>
          <p:nvPr/>
        </p:nvPicPr>
        <p:blipFill>
          <a:blip r:embed="rId3"/>
          <a:stretch>
            <a:fillRect/>
          </a:stretch>
        </p:blipFill>
        <p:spPr>
          <a:xfrm>
            <a:off x="0" y="1066717"/>
            <a:ext cx="8807532" cy="4582070"/>
          </a:xfrm>
          <a:prstGeom prst="rect">
            <a:avLst/>
          </a:prstGeom>
        </p:spPr>
      </p:pic>
      <p:sp>
        <p:nvSpPr>
          <p:cNvPr id="19" name="コンテンツ プレースホルダー 1">
            <a:extLst>
              <a:ext uri="{FF2B5EF4-FFF2-40B4-BE49-F238E27FC236}">
                <a16:creationId xmlns:a16="http://schemas.microsoft.com/office/drawing/2014/main" id="{2A593819-C789-DD8D-3549-1AE60A4DFC4F}"/>
              </a:ext>
            </a:extLst>
          </p:cNvPr>
          <p:cNvSpPr txBox="1">
            <a:spLocks/>
          </p:cNvSpPr>
          <p:nvPr/>
        </p:nvSpPr>
        <p:spPr>
          <a:xfrm>
            <a:off x="2465612" y="795330"/>
            <a:ext cx="6029204" cy="326894"/>
          </a:xfrm>
          <a:prstGeom prst="rect">
            <a:avLst/>
          </a:prstGeom>
        </p:spPr>
        <p:txBody>
          <a:bodyPr/>
          <a:lstStyle>
            <a:lvl1pPr marL="0" indent="0" algn="l" defTabSz="685800" rtl="0" eaLnBrk="1" latinLnBrk="0" hangingPunct="1">
              <a:lnSpc>
                <a:spcPct val="90000"/>
              </a:lnSpc>
              <a:spcBef>
                <a:spcPts val="750"/>
              </a:spcBef>
              <a:buFont typeface="Arial" panose="020B0604020202020204" pitchFamily="34" charset="0"/>
              <a:buNone/>
              <a:defRPr sz="16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altLang="ja-JP" sz="1400" dirty="0"/>
              <a:t>Energy</a:t>
            </a:r>
            <a:r>
              <a:rPr lang="ja-JP" altLang="en-US" sz="1400" dirty="0"/>
              <a:t> </a:t>
            </a:r>
            <a:r>
              <a:rPr lang="en-US" altLang="ja-JP" sz="1400" dirty="0"/>
              <a:t>mix</a:t>
            </a:r>
            <a:r>
              <a:rPr lang="ja-JP" altLang="en-US" sz="1400" dirty="0"/>
              <a:t> </a:t>
            </a:r>
            <a:r>
              <a:rPr lang="en-US" altLang="ja-JP" sz="1400" dirty="0"/>
              <a:t>in</a:t>
            </a:r>
            <a:r>
              <a:rPr lang="ja-JP" altLang="en-US" sz="1400" dirty="0"/>
              <a:t> </a:t>
            </a:r>
            <a:r>
              <a:rPr lang="en-US" altLang="ja-JP" sz="1400" dirty="0"/>
              <a:t>microgrid @agent28 @thread 0 @episode 100 (test) w/ P2P</a:t>
            </a:r>
          </a:p>
        </p:txBody>
      </p:sp>
      <p:sp>
        <p:nvSpPr>
          <p:cNvPr id="21" name="正方形/長方形 20">
            <a:extLst>
              <a:ext uri="{FF2B5EF4-FFF2-40B4-BE49-F238E27FC236}">
                <a16:creationId xmlns:a16="http://schemas.microsoft.com/office/drawing/2014/main" id="{7DF591CF-70A6-C122-9878-3601F82B1FD4}"/>
              </a:ext>
            </a:extLst>
          </p:cNvPr>
          <p:cNvSpPr/>
          <p:nvPr/>
        </p:nvSpPr>
        <p:spPr>
          <a:xfrm>
            <a:off x="0" y="795330"/>
            <a:ext cx="9893642" cy="4875921"/>
          </a:xfrm>
          <a:prstGeom prst="rect">
            <a:avLst/>
          </a:prstGeom>
          <a:noFill/>
          <a:ln w="190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テキスト ボックス 21">
            <a:extLst>
              <a:ext uri="{FF2B5EF4-FFF2-40B4-BE49-F238E27FC236}">
                <a16:creationId xmlns:a16="http://schemas.microsoft.com/office/drawing/2014/main" id="{35DE8BA3-47CD-3458-7436-A9EF3DAC631D}"/>
              </a:ext>
            </a:extLst>
          </p:cNvPr>
          <p:cNvSpPr txBox="1"/>
          <p:nvPr/>
        </p:nvSpPr>
        <p:spPr>
          <a:xfrm>
            <a:off x="123825" y="5725219"/>
            <a:ext cx="9190388" cy="400110"/>
          </a:xfrm>
          <a:prstGeom prst="rect">
            <a:avLst/>
          </a:prstGeom>
          <a:noFill/>
        </p:spPr>
        <p:txBody>
          <a:bodyPr wrap="square" rtlCol="0">
            <a:spAutoFit/>
          </a:bodyPr>
          <a:lstStyle/>
          <a:p>
            <a:r>
              <a:rPr lang="en-US" altLang="ja-JP" sz="2000" dirty="0"/>
              <a:t>Charge &amp; Discharge of battery is happening frequently.</a:t>
            </a:r>
          </a:p>
        </p:txBody>
      </p:sp>
      <p:pic>
        <p:nvPicPr>
          <p:cNvPr id="24" name="図 23">
            <a:extLst>
              <a:ext uri="{FF2B5EF4-FFF2-40B4-BE49-F238E27FC236}">
                <a16:creationId xmlns:a16="http://schemas.microsoft.com/office/drawing/2014/main" id="{E68B83F3-9E39-FFB1-8F8D-576827F587C3}"/>
              </a:ext>
            </a:extLst>
          </p:cNvPr>
          <p:cNvPicPr>
            <a:picLocks noChangeAspect="1"/>
          </p:cNvPicPr>
          <p:nvPr/>
        </p:nvPicPr>
        <p:blipFill>
          <a:blip r:embed="rId4"/>
          <a:stretch>
            <a:fillRect/>
          </a:stretch>
        </p:blipFill>
        <p:spPr>
          <a:xfrm>
            <a:off x="8851403" y="2845313"/>
            <a:ext cx="852328" cy="239941"/>
          </a:xfrm>
          <a:prstGeom prst="rect">
            <a:avLst/>
          </a:prstGeom>
        </p:spPr>
      </p:pic>
      <p:pic>
        <p:nvPicPr>
          <p:cNvPr id="26" name="図 25">
            <a:extLst>
              <a:ext uri="{FF2B5EF4-FFF2-40B4-BE49-F238E27FC236}">
                <a16:creationId xmlns:a16="http://schemas.microsoft.com/office/drawing/2014/main" id="{8A4B3FD1-26F6-194C-56F1-CAF29C01DE66}"/>
              </a:ext>
            </a:extLst>
          </p:cNvPr>
          <p:cNvPicPr>
            <a:picLocks noChangeAspect="1"/>
          </p:cNvPicPr>
          <p:nvPr/>
        </p:nvPicPr>
        <p:blipFill>
          <a:blip r:embed="rId5"/>
          <a:stretch>
            <a:fillRect/>
          </a:stretch>
        </p:blipFill>
        <p:spPr>
          <a:xfrm>
            <a:off x="8851403" y="4547587"/>
            <a:ext cx="934315" cy="239941"/>
          </a:xfrm>
          <a:prstGeom prst="rect">
            <a:avLst/>
          </a:prstGeom>
        </p:spPr>
      </p:pic>
    </p:spTree>
    <p:extLst>
      <p:ext uri="{BB962C8B-B14F-4D97-AF65-F5344CB8AC3E}">
        <p14:creationId xmlns:p14="http://schemas.microsoft.com/office/powerpoint/2010/main" val="33840738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BB32CC-DA76-0229-45C3-35E2564B17ED}"/>
            </a:ext>
          </a:extLst>
        </p:cNvPr>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7044CDB9-DD02-00BC-6A28-AEF8CA3A656F}"/>
              </a:ext>
            </a:extLst>
          </p:cNvPr>
          <p:cNvSpPr>
            <a:spLocks noGrp="1"/>
          </p:cNvSpPr>
          <p:nvPr>
            <p:ph sz="quarter" idx="16"/>
          </p:nvPr>
        </p:nvSpPr>
        <p:spPr/>
        <p:txBody>
          <a:bodyPr/>
          <a:lstStyle/>
          <a:p>
            <a:r>
              <a:rPr lang="en-US" dirty="0"/>
              <a:t>4. Result </a:t>
            </a:r>
            <a:r>
              <a:rPr kumimoji="1" lang="en-US" altLang="ja-JP" dirty="0"/>
              <a:t>and analysis</a:t>
            </a:r>
            <a:br>
              <a:rPr lang="en-US" dirty="0"/>
            </a:br>
            <a:r>
              <a:rPr lang="en-US" dirty="0"/>
              <a:t>	Energy mix of an agent non-P2P</a:t>
            </a:r>
          </a:p>
        </p:txBody>
      </p:sp>
      <p:sp>
        <p:nvSpPr>
          <p:cNvPr id="19" name="コンテンツ プレースホルダー 1">
            <a:extLst>
              <a:ext uri="{FF2B5EF4-FFF2-40B4-BE49-F238E27FC236}">
                <a16:creationId xmlns:a16="http://schemas.microsoft.com/office/drawing/2014/main" id="{A9C9E6DF-28E0-26B5-0B27-66C1F8CDF427}"/>
              </a:ext>
            </a:extLst>
          </p:cNvPr>
          <p:cNvSpPr txBox="1">
            <a:spLocks/>
          </p:cNvSpPr>
          <p:nvPr/>
        </p:nvSpPr>
        <p:spPr>
          <a:xfrm>
            <a:off x="2465612" y="795330"/>
            <a:ext cx="6290466" cy="326894"/>
          </a:xfrm>
          <a:prstGeom prst="rect">
            <a:avLst/>
          </a:prstGeom>
        </p:spPr>
        <p:txBody>
          <a:bodyPr/>
          <a:lstStyle>
            <a:lvl1pPr marL="0" indent="0" algn="l" defTabSz="685800" rtl="0" eaLnBrk="1" latinLnBrk="0" hangingPunct="1">
              <a:lnSpc>
                <a:spcPct val="90000"/>
              </a:lnSpc>
              <a:spcBef>
                <a:spcPts val="750"/>
              </a:spcBef>
              <a:buFont typeface="Arial" panose="020B0604020202020204" pitchFamily="34" charset="0"/>
              <a:buNone/>
              <a:defRPr sz="16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altLang="ja-JP" sz="1400" dirty="0"/>
              <a:t>Energy</a:t>
            </a:r>
            <a:r>
              <a:rPr lang="ja-JP" altLang="en-US" sz="1400" dirty="0"/>
              <a:t> </a:t>
            </a:r>
            <a:r>
              <a:rPr lang="en-US" altLang="ja-JP" sz="1400" dirty="0"/>
              <a:t>mix</a:t>
            </a:r>
            <a:r>
              <a:rPr lang="ja-JP" altLang="en-US" sz="1400" dirty="0"/>
              <a:t> </a:t>
            </a:r>
            <a:r>
              <a:rPr lang="en-US" altLang="ja-JP" sz="1400" dirty="0"/>
              <a:t>in</a:t>
            </a:r>
            <a:r>
              <a:rPr lang="ja-JP" altLang="en-US" sz="1400" dirty="0"/>
              <a:t> </a:t>
            </a:r>
            <a:r>
              <a:rPr lang="en-US" altLang="ja-JP" sz="1400" dirty="0"/>
              <a:t>microgrid @agent28 @thread 0 @episode 100 (test) w/o P2P</a:t>
            </a:r>
          </a:p>
        </p:txBody>
      </p:sp>
      <p:sp>
        <p:nvSpPr>
          <p:cNvPr id="21" name="正方形/長方形 20">
            <a:extLst>
              <a:ext uri="{FF2B5EF4-FFF2-40B4-BE49-F238E27FC236}">
                <a16:creationId xmlns:a16="http://schemas.microsoft.com/office/drawing/2014/main" id="{80E16040-59C4-D3D2-4C5A-11E641C8DB39}"/>
              </a:ext>
            </a:extLst>
          </p:cNvPr>
          <p:cNvSpPr/>
          <p:nvPr/>
        </p:nvSpPr>
        <p:spPr>
          <a:xfrm>
            <a:off x="0" y="795330"/>
            <a:ext cx="9893642" cy="4875921"/>
          </a:xfrm>
          <a:prstGeom prst="rect">
            <a:avLst/>
          </a:pr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D359FBBE-106F-7813-4B89-0F1494B9D44A}"/>
              </a:ext>
            </a:extLst>
          </p:cNvPr>
          <p:cNvPicPr>
            <a:picLocks noChangeAspect="1"/>
          </p:cNvPicPr>
          <p:nvPr/>
        </p:nvPicPr>
        <p:blipFill>
          <a:blip r:embed="rId2"/>
          <a:stretch>
            <a:fillRect/>
          </a:stretch>
        </p:blipFill>
        <p:spPr>
          <a:xfrm>
            <a:off x="11875" y="1127281"/>
            <a:ext cx="8771910" cy="4466000"/>
          </a:xfrm>
          <a:prstGeom prst="rect">
            <a:avLst/>
          </a:prstGeom>
        </p:spPr>
      </p:pic>
      <p:pic>
        <p:nvPicPr>
          <p:cNvPr id="5" name="図 4">
            <a:extLst>
              <a:ext uri="{FF2B5EF4-FFF2-40B4-BE49-F238E27FC236}">
                <a16:creationId xmlns:a16="http://schemas.microsoft.com/office/drawing/2014/main" id="{03AF1DBA-3B80-3615-40FB-709B333FE08C}"/>
              </a:ext>
            </a:extLst>
          </p:cNvPr>
          <p:cNvPicPr>
            <a:picLocks noChangeAspect="1"/>
          </p:cNvPicPr>
          <p:nvPr/>
        </p:nvPicPr>
        <p:blipFill>
          <a:blip r:embed="rId3"/>
          <a:stretch>
            <a:fillRect/>
          </a:stretch>
        </p:blipFill>
        <p:spPr>
          <a:xfrm>
            <a:off x="8851403" y="2845313"/>
            <a:ext cx="852328" cy="239941"/>
          </a:xfrm>
          <a:prstGeom prst="rect">
            <a:avLst/>
          </a:prstGeom>
        </p:spPr>
      </p:pic>
      <p:pic>
        <p:nvPicPr>
          <p:cNvPr id="6" name="図 5">
            <a:extLst>
              <a:ext uri="{FF2B5EF4-FFF2-40B4-BE49-F238E27FC236}">
                <a16:creationId xmlns:a16="http://schemas.microsoft.com/office/drawing/2014/main" id="{1BE3F4E5-91EF-0DC9-09B2-C569A5A33F33}"/>
              </a:ext>
            </a:extLst>
          </p:cNvPr>
          <p:cNvPicPr>
            <a:picLocks noChangeAspect="1"/>
          </p:cNvPicPr>
          <p:nvPr/>
        </p:nvPicPr>
        <p:blipFill>
          <a:blip r:embed="rId4"/>
          <a:stretch>
            <a:fillRect/>
          </a:stretch>
        </p:blipFill>
        <p:spPr>
          <a:xfrm>
            <a:off x="8851403" y="4547587"/>
            <a:ext cx="934315" cy="239941"/>
          </a:xfrm>
          <a:prstGeom prst="rect">
            <a:avLst/>
          </a:prstGeom>
        </p:spPr>
      </p:pic>
      <p:pic>
        <p:nvPicPr>
          <p:cNvPr id="7" name="図 6">
            <a:extLst>
              <a:ext uri="{FF2B5EF4-FFF2-40B4-BE49-F238E27FC236}">
                <a16:creationId xmlns:a16="http://schemas.microsoft.com/office/drawing/2014/main" id="{C511AB1E-0ED7-CF69-5253-1227FA3CFCA8}"/>
              </a:ext>
            </a:extLst>
          </p:cNvPr>
          <p:cNvPicPr>
            <a:picLocks noChangeAspect="1"/>
          </p:cNvPicPr>
          <p:nvPr/>
        </p:nvPicPr>
        <p:blipFill>
          <a:blip r:embed="rId5"/>
          <a:stretch>
            <a:fillRect/>
          </a:stretch>
        </p:blipFill>
        <p:spPr>
          <a:xfrm>
            <a:off x="8807532" y="1153019"/>
            <a:ext cx="1065001" cy="1231014"/>
          </a:xfrm>
          <a:prstGeom prst="rect">
            <a:avLst/>
          </a:prstGeom>
        </p:spPr>
      </p:pic>
    </p:spTree>
    <p:extLst>
      <p:ext uri="{BB962C8B-B14F-4D97-AF65-F5344CB8AC3E}">
        <p14:creationId xmlns:p14="http://schemas.microsoft.com/office/powerpoint/2010/main" val="363549801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C4B7549D-C746-232D-A74E-ABC29A2721FE}"/>
              </a:ext>
            </a:extLst>
          </p:cNvPr>
          <p:cNvSpPr>
            <a:spLocks noGrp="1"/>
          </p:cNvSpPr>
          <p:nvPr>
            <p:ph sz="quarter" idx="16"/>
          </p:nvPr>
        </p:nvSpPr>
        <p:spPr/>
        <p:txBody>
          <a:bodyPr/>
          <a:lstStyle/>
          <a:p>
            <a:r>
              <a:rPr lang="en-US" dirty="0"/>
              <a:t>4. Result </a:t>
            </a:r>
            <a:r>
              <a:rPr kumimoji="1" lang="en-US" altLang="ja-JP" dirty="0"/>
              <a:t>and analysis</a:t>
            </a:r>
            <a:br>
              <a:rPr kumimoji="1" lang="en-US" altLang="ja-JP" dirty="0"/>
            </a:br>
            <a:r>
              <a:rPr kumimoji="1" lang="en-US" altLang="ja-JP" dirty="0"/>
              <a:t>	Self Sufficiency Ratio (SSR)</a:t>
            </a:r>
            <a:endParaRPr lang="en-US" dirty="0"/>
          </a:p>
        </p:txBody>
      </p:sp>
      <p:pic>
        <p:nvPicPr>
          <p:cNvPr id="6" name="図 5" descr="グラフ, 折れ線グラフ, 散布図&#10;&#10;自動的に生成された説明">
            <a:extLst>
              <a:ext uri="{FF2B5EF4-FFF2-40B4-BE49-F238E27FC236}">
                <a16:creationId xmlns:a16="http://schemas.microsoft.com/office/drawing/2014/main" id="{18468D05-45BF-E6A4-7B5F-96148891AC6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0989" y="768923"/>
            <a:ext cx="9144019" cy="2660077"/>
          </a:xfrm>
          <a:prstGeom prst="rect">
            <a:avLst/>
          </a:prstGeom>
        </p:spPr>
      </p:pic>
      <p:pic>
        <p:nvPicPr>
          <p:cNvPr id="8" name="図 7" descr="グラフ, 折れ線グラフ, 散布図&#10;&#10;自動的に生成された説明">
            <a:extLst>
              <a:ext uri="{FF2B5EF4-FFF2-40B4-BE49-F238E27FC236}">
                <a16:creationId xmlns:a16="http://schemas.microsoft.com/office/drawing/2014/main" id="{C39FCBAE-0AF4-A298-7E84-8B38004091B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989" y="3688271"/>
            <a:ext cx="9144019" cy="2660077"/>
          </a:xfrm>
          <a:prstGeom prst="rect">
            <a:avLst/>
          </a:prstGeom>
        </p:spPr>
      </p:pic>
      <p:sp>
        <p:nvSpPr>
          <p:cNvPr id="9" name="正方形/長方形 8">
            <a:extLst>
              <a:ext uri="{FF2B5EF4-FFF2-40B4-BE49-F238E27FC236}">
                <a16:creationId xmlns:a16="http://schemas.microsoft.com/office/drawing/2014/main" id="{AD938EA3-8E25-6210-01D2-AF3550ADF7E1}"/>
              </a:ext>
            </a:extLst>
          </p:cNvPr>
          <p:cNvSpPr/>
          <p:nvPr/>
        </p:nvSpPr>
        <p:spPr>
          <a:xfrm>
            <a:off x="380989" y="784754"/>
            <a:ext cx="9144018" cy="2660077"/>
          </a:xfrm>
          <a:prstGeom prst="rect">
            <a:avLst/>
          </a:prstGeom>
          <a:noFill/>
          <a:ln w="190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正方形/長方形 9">
            <a:extLst>
              <a:ext uri="{FF2B5EF4-FFF2-40B4-BE49-F238E27FC236}">
                <a16:creationId xmlns:a16="http://schemas.microsoft.com/office/drawing/2014/main" id="{ACB15BA5-C360-8D1B-094E-E9F9AD76FC45}"/>
              </a:ext>
            </a:extLst>
          </p:cNvPr>
          <p:cNvSpPr/>
          <p:nvPr/>
        </p:nvSpPr>
        <p:spPr>
          <a:xfrm>
            <a:off x="380989" y="3688271"/>
            <a:ext cx="9144018" cy="2660077"/>
          </a:xfrm>
          <a:prstGeom prst="rect">
            <a:avLst/>
          </a:pr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テキスト ボックス 10">
            <a:extLst>
              <a:ext uri="{FF2B5EF4-FFF2-40B4-BE49-F238E27FC236}">
                <a16:creationId xmlns:a16="http://schemas.microsoft.com/office/drawing/2014/main" id="{957DAACE-763E-BE66-FD6D-3A6C3AA0384E}"/>
              </a:ext>
            </a:extLst>
          </p:cNvPr>
          <p:cNvSpPr txBox="1"/>
          <p:nvPr/>
        </p:nvSpPr>
        <p:spPr>
          <a:xfrm>
            <a:off x="6480853" y="784754"/>
            <a:ext cx="676009" cy="246221"/>
          </a:xfrm>
          <a:prstGeom prst="rect">
            <a:avLst/>
          </a:prstGeom>
          <a:noFill/>
        </p:spPr>
        <p:txBody>
          <a:bodyPr wrap="square" rtlCol="0">
            <a:spAutoFit/>
          </a:bodyPr>
          <a:lstStyle/>
          <a:p>
            <a:r>
              <a:rPr lang="en-US" altLang="ja-JP" sz="1000" dirty="0"/>
              <a:t>P2P</a:t>
            </a:r>
          </a:p>
        </p:txBody>
      </p:sp>
      <p:sp>
        <p:nvSpPr>
          <p:cNvPr id="12" name="テキスト ボックス 11">
            <a:extLst>
              <a:ext uri="{FF2B5EF4-FFF2-40B4-BE49-F238E27FC236}">
                <a16:creationId xmlns:a16="http://schemas.microsoft.com/office/drawing/2014/main" id="{97E7A67E-6363-93AB-4E94-567F069CA8CB}"/>
              </a:ext>
            </a:extLst>
          </p:cNvPr>
          <p:cNvSpPr txBox="1"/>
          <p:nvPr/>
        </p:nvSpPr>
        <p:spPr>
          <a:xfrm>
            <a:off x="6480852" y="3704102"/>
            <a:ext cx="759138" cy="246221"/>
          </a:xfrm>
          <a:prstGeom prst="rect">
            <a:avLst/>
          </a:prstGeom>
          <a:noFill/>
        </p:spPr>
        <p:txBody>
          <a:bodyPr wrap="square" rtlCol="0">
            <a:spAutoFit/>
          </a:bodyPr>
          <a:lstStyle/>
          <a:p>
            <a:r>
              <a:rPr lang="en-US" altLang="ja-JP" sz="1000" dirty="0"/>
              <a:t>non-P2P</a:t>
            </a:r>
          </a:p>
        </p:txBody>
      </p:sp>
    </p:spTree>
    <p:extLst>
      <p:ext uri="{BB962C8B-B14F-4D97-AF65-F5344CB8AC3E}">
        <p14:creationId xmlns:p14="http://schemas.microsoft.com/office/powerpoint/2010/main" val="416101129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2CB054-C7E5-6D2A-FFB4-60B3174E69EA}"/>
            </a:ext>
          </a:extLst>
        </p:cNvPr>
        <p:cNvGrpSpPr/>
        <p:nvPr/>
      </p:nvGrpSpPr>
      <p:grpSpPr>
        <a:xfrm>
          <a:off x="0" y="0"/>
          <a:ext cx="0" cy="0"/>
          <a:chOff x="0" y="0"/>
          <a:chExt cx="0" cy="0"/>
        </a:xfrm>
      </p:grpSpPr>
      <p:pic>
        <p:nvPicPr>
          <p:cNvPr id="7" name="図 6" descr="グラフ, 折れ線グラフ&#10;&#10;自動的に生成された説明">
            <a:extLst>
              <a:ext uri="{FF2B5EF4-FFF2-40B4-BE49-F238E27FC236}">
                <a16:creationId xmlns:a16="http://schemas.microsoft.com/office/drawing/2014/main" id="{910488BE-E537-B83F-CE4A-C020DAA7B3A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0987" y="3704103"/>
            <a:ext cx="9144019" cy="2644246"/>
          </a:xfrm>
          <a:prstGeom prst="rect">
            <a:avLst/>
          </a:prstGeom>
        </p:spPr>
      </p:pic>
      <p:pic>
        <p:nvPicPr>
          <p:cNvPr id="4" name="図 3" descr="グラフ, 折れ線グラフ&#10;&#10;自動的に生成された説明">
            <a:extLst>
              <a:ext uri="{FF2B5EF4-FFF2-40B4-BE49-F238E27FC236}">
                <a16:creationId xmlns:a16="http://schemas.microsoft.com/office/drawing/2014/main" id="{5CD6220E-9259-1194-030E-EDA9EBC3EA9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988" y="784755"/>
            <a:ext cx="9144019" cy="2644246"/>
          </a:xfrm>
          <a:prstGeom prst="rect">
            <a:avLst/>
          </a:prstGeom>
        </p:spPr>
      </p:pic>
      <p:sp>
        <p:nvSpPr>
          <p:cNvPr id="3" name="コンテンツ プレースホルダー 2">
            <a:extLst>
              <a:ext uri="{FF2B5EF4-FFF2-40B4-BE49-F238E27FC236}">
                <a16:creationId xmlns:a16="http://schemas.microsoft.com/office/drawing/2014/main" id="{CEA1C49A-5954-AB2F-CBCB-52A6EDFE6B24}"/>
              </a:ext>
            </a:extLst>
          </p:cNvPr>
          <p:cNvSpPr>
            <a:spLocks noGrp="1"/>
          </p:cNvSpPr>
          <p:nvPr>
            <p:ph sz="quarter" idx="16"/>
          </p:nvPr>
        </p:nvSpPr>
        <p:spPr/>
        <p:txBody>
          <a:bodyPr/>
          <a:lstStyle/>
          <a:p>
            <a:r>
              <a:rPr lang="en-US" dirty="0"/>
              <a:t>4. Result </a:t>
            </a:r>
            <a:r>
              <a:rPr kumimoji="1" lang="en-US" altLang="ja-JP" dirty="0"/>
              <a:t>and analysis</a:t>
            </a:r>
            <a:br>
              <a:rPr kumimoji="1" lang="en-US" altLang="ja-JP" dirty="0"/>
            </a:br>
            <a:r>
              <a:rPr kumimoji="1" lang="en-US" altLang="ja-JP" dirty="0"/>
              <a:t>	Solar Operating Ratio (SOR)</a:t>
            </a:r>
            <a:endParaRPr lang="en-US" dirty="0"/>
          </a:p>
        </p:txBody>
      </p:sp>
      <p:sp>
        <p:nvSpPr>
          <p:cNvPr id="9" name="正方形/長方形 8">
            <a:extLst>
              <a:ext uri="{FF2B5EF4-FFF2-40B4-BE49-F238E27FC236}">
                <a16:creationId xmlns:a16="http://schemas.microsoft.com/office/drawing/2014/main" id="{E2BCE594-B486-9B28-6C10-B865D2F5A175}"/>
              </a:ext>
            </a:extLst>
          </p:cNvPr>
          <p:cNvSpPr/>
          <p:nvPr/>
        </p:nvSpPr>
        <p:spPr>
          <a:xfrm>
            <a:off x="380989" y="784754"/>
            <a:ext cx="9144018" cy="2660077"/>
          </a:xfrm>
          <a:prstGeom prst="rect">
            <a:avLst/>
          </a:prstGeom>
          <a:noFill/>
          <a:ln w="190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正方形/長方形 9">
            <a:extLst>
              <a:ext uri="{FF2B5EF4-FFF2-40B4-BE49-F238E27FC236}">
                <a16:creationId xmlns:a16="http://schemas.microsoft.com/office/drawing/2014/main" id="{CE4925D7-258D-2BFC-8A66-4FDC7F3D2911}"/>
              </a:ext>
            </a:extLst>
          </p:cNvPr>
          <p:cNvSpPr/>
          <p:nvPr/>
        </p:nvSpPr>
        <p:spPr>
          <a:xfrm>
            <a:off x="380989" y="3688271"/>
            <a:ext cx="9144018" cy="2660077"/>
          </a:xfrm>
          <a:prstGeom prst="rect">
            <a:avLst/>
          </a:pr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テキスト ボックス 10">
            <a:extLst>
              <a:ext uri="{FF2B5EF4-FFF2-40B4-BE49-F238E27FC236}">
                <a16:creationId xmlns:a16="http://schemas.microsoft.com/office/drawing/2014/main" id="{CE66D1FB-1369-0A06-A3ED-8681536F7493}"/>
              </a:ext>
            </a:extLst>
          </p:cNvPr>
          <p:cNvSpPr txBox="1"/>
          <p:nvPr/>
        </p:nvSpPr>
        <p:spPr>
          <a:xfrm>
            <a:off x="6480853" y="784754"/>
            <a:ext cx="676009" cy="246221"/>
          </a:xfrm>
          <a:prstGeom prst="rect">
            <a:avLst/>
          </a:prstGeom>
          <a:noFill/>
        </p:spPr>
        <p:txBody>
          <a:bodyPr wrap="square" rtlCol="0">
            <a:spAutoFit/>
          </a:bodyPr>
          <a:lstStyle/>
          <a:p>
            <a:r>
              <a:rPr lang="en-US" altLang="ja-JP" sz="1000" dirty="0"/>
              <a:t>P2P</a:t>
            </a:r>
          </a:p>
        </p:txBody>
      </p:sp>
      <p:sp>
        <p:nvSpPr>
          <p:cNvPr id="12" name="テキスト ボックス 11">
            <a:extLst>
              <a:ext uri="{FF2B5EF4-FFF2-40B4-BE49-F238E27FC236}">
                <a16:creationId xmlns:a16="http://schemas.microsoft.com/office/drawing/2014/main" id="{A4B50992-DB22-C867-50E8-3C9F0289C07C}"/>
              </a:ext>
            </a:extLst>
          </p:cNvPr>
          <p:cNvSpPr txBox="1"/>
          <p:nvPr/>
        </p:nvSpPr>
        <p:spPr>
          <a:xfrm>
            <a:off x="6480852" y="3704102"/>
            <a:ext cx="759138" cy="246221"/>
          </a:xfrm>
          <a:prstGeom prst="rect">
            <a:avLst/>
          </a:prstGeom>
          <a:noFill/>
        </p:spPr>
        <p:txBody>
          <a:bodyPr wrap="square" rtlCol="0">
            <a:spAutoFit/>
          </a:bodyPr>
          <a:lstStyle/>
          <a:p>
            <a:r>
              <a:rPr lang="en-US" altLang="ja-JP" sz="1000" dirty="0"/>
              <a:t>non-P2P</a:t>
            </a:r>
          </a:p>
        </p:txBody>
      </p:sp>
    </p:spTree>
    <p:extLst>
      <p:ext uri="{BB962C8B-B14F-4D97-AF65-F5344CB8AC3E}">
        <p14:creationId xmlns:p14="http://schemas.microsoft.com/office/powerpoint/2010/main" val="192946385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555480-7C0A-A4F6-2EA1-BA3FD2ECEABE}"/>
            </a:ext>
          </a:extLst>
        </p:cNvPr>
        <p:cNvGrpSpPr/>
        <p:nvPr/>
      </p:nvGrpSpPr>
      <p:grpSpPr>
        <a:xfrm>
          <a:off x="0" y="0"/>
          <a:ext cx="0" cy="0"/>
          <a:chOff x="0" y="0"/>
          <a:chExt cx="0" cy="0"/>
        </a:xfrm>
      </p:grpSpPr>
      <p:pic>
        <p:nvPicPr>
          <p:cNvPr id="8" name="図 7" descr="グラフ, 箱ひげ図&#10;&#10;自動的に生成された説明">
            <a:extLst>
              <a:ext uri="{FF2B5EF4-FFF2-40B4-BE49-F238E27FC236}">
                <a16:creationId xmlns:a16="http://schemas.microsoft.com/office/drawing/2014/main" id="{1C338D20-FF90-72DC-F770-E34E7E37866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978392" y="1130847"/>
            <a:ext cx="4898343" cy="4015631"/>
          </a:xfrm>
          <a:prstGeom prst="rect">
            <a:avLst/>
          </a:prstGeom>
        </p:spPr>
      </p:pic>
      <p:pic>
        <p:nvPicPr>
          <p:cNvPr id="5" name="図 4" descr="グラフ, 箱ひげ図&#10;&#10;自動的に生成された説明">
            <a:extLst>
              <a:ext uri="{FF2B5EF4-FFF2-40B4-BE49-F238E27FC236}">
                <a16:creationId xmlns:a16="http://schemas.microsoft.com/office/drawing/2014/main" id="{9777B74D-0DF6-14FC-3F45-B183311026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265" y="1130847"/>
            <a:ext cx="4887290" cy="4015631"/>
          </a:xfrm>
          <a:prstGeom prst="rect">
            <a:avLst/>
          </a:prstGeom>
        </p:spPr>
      </p:pic>
      <p:sp>
        <p:nvSpPr>
          <p:cNvPr id="3" name="コンテンツ プレースホルダー 2">
            <a:extLst>
              <a:ext uri="{FF2B5EF4-FFF2-40B4-BE49-F238E27FC236}">
                <a16:creationId xmlns:a16="http://schemas.microsoft.com/office/drawing/2014/main" id="{1F9FFC00-6FF6-C4C4-DAAF-C2FB586C96B8}"/>
              </a:ext>
            </a:extLst>
          </p:cNvPr>
          <p:cNvSpPr>
            <a:spLocks noGrp="1"/>
          </p:cNvSpPr>
          <p:nvPr>
            <p:ph sz="quarter" idx="16"/>
          </p:nvPr>
        </p:nvSpPr>
        <p:spPr/>
        <p:txBody>
          <a:bodyPr/>
          <a:lstStyle/>
          <a:p>
            <a:r>
              <a:rPr lang="en-US" dirty="0"/>
              <a:t>4. Result </a:t>
            </a:r>
            <a:r>
              <a:rPr kumimoji="1" lang="en-US" altLang="ja-JP" dirty="0"/>
              <a:t>and analysis</a:t>
            </a:r>
            <a:br>
              <a:rPr kumimoji="1" lang="en-US" altLang="ja-JP" dirty="0"/>
            </a:br>
            <a:r>
              <a:rPr kumimoji="1" lang="en-US" altLang="ja-JP" dirty="0"/>
              <a:t>	Net cost by agent group (CAPEX and OPEX are included)</a:t>
            </a:r>
            <a:endParaRPr lang="en-US" dirty="0"/>
          </a:p>
        </p:txBody>
      </p:sp>
      <p:sp>
        <p:nvSpPr>
          <p:cNvPr id="10" name="正方形/長方形 9">
            <a:extLst>
              <a:ext uri="{FF2B5EF4-FFF2-40B4-BE49-F238E27FC236}">
                <a16:creationId xmlns:a16="http://schemas.microsoft.com/office/drawing/2014/main" id="{707D6DBF-4647-FBD6-4A3D-D19A4401EE5D}"/>
              </a:ext>
            </a:extLst>
          </p:cNvPr>
          <p:cNvSpPr/>
          <p:nvPr/>
        </p:nvSpPr>
        <p:spPr>
          <a:xfrm>
            <a:off x="13251" y="1002746"/>
            <a:ext cx="4903304" cy="4143734"/>
          </a:xfrm>
          <a:prstGeom prst="rect">
            <a:avLst/>
          </a:prstGeom>
          <a:noFill/>
          <a:ln w="190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正方形/長方形 10">
            <a:extLst>
              <a:ext uri="{FF2B5EF4-FFF2-40B4-BE49-F238E27FC236}">
                <a16:creationId xmlns:a16="http://schemas.microsoft.com/office/drawing/2014/main" id="{A9CA1E09-7FC2-C616-C8AC-E7198549D4B6}"/>
              </a:ext>
            </a:extLst>
          </p:cNvPr>
          <p:cNvSpPr/>
          <p:nvPr/>
        </p:nvSpPr>
        <p:spPr>
          <a:xfrm>
            <a:off x="4973431" y="1002746"/>
            <a:ext cx="4903304" cy="4143734"/>
          </a:xfrm>
          <a:prstGeom prst="rect">
            <a:avLst/>
          </a:pr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テキスト ボックス 11">
            <a:extLst>
              <a:ext uri="{FF2B5EF4-FFF2-40B4-BE49-F238E27FC236}">
                <a16:creationId xmlns:a16="http://schemas.microsoft.com/office/drawing/2014/main" id="{A2D64E96-23C3-B60B-DC61-C3EABDDFB355}"/>
              </a:ext>
            </a:extLst>
          </p:cNvPr>
          <p:cNvSpPr txBox="1"/>
          <p:nvPr/>
        </p:nvSpPr>
        <p:spPr>
          <a:xfrm>
            <a:off x="2876262" y="1007738"/>
            <a:ext cx="676009" cy="246221"/>
          </a:xfrm>
          <a:prstGeom prst="rect">
            <a:avLst/>
          </a:prstGeom>
          <a:noFill/>
        </p:spPr>
        <p:txBody>
          <a:bodyPr wrap="square" rtlCol="0">
            <a:spAutoFit/>
          </a:bodyPr>
          <a:lstStyle/>
          <a:p>
            <a:r>
              <a:rPr lang="en-US" altLang="ja-JP" sz="1000" dirty="0"/>
              <a:t>P2P</a:t>
            </a:r>
          </a:p>
        </p:txBody>
      </p:sp>
      <p:sp>
        <p:nvSpPr>
          <p:cNvPr id="13" name="テキスト ボックス 12">
            <a:extLst>
              <a:ext uri="{FF2B5EF4-FFF2-40B4-BE49-F238E27FC236}">
                <a16:creationId xmlns:a16="http://schemas.microsoft.com/office/drawing/2014/main" id="{50E1FC85-556D-6751-62BA-8F4033CF30A5}"/>
              </a:ext>
            </a:extLst>
          </p:cNvPr>
          <p:cNvSpPr txBox="1"/>
          <p:nvPr/>
        </p:nvSpPr>
        <p:spPr>
          <a:xfrm>
            <a:off x="7816012" y="1007738"/>
            <a:ext cx="676009" cy="246221"/>
          </a:xfrm>
          <a:prstGeom prst="rect">
            <a:avLst/>
          </a:prstGeom>
          <a:noFill/>
        </p:spPr>
        <p:txBody>
          <a:bodyPr wrap="square" rtlCol="0">
            <a:spAutoFit/>
          </a:bodyPr>
          <a:lstStyle/>
          <a:p>
            <a:r>
              <a:rPr lang="en-US" altLang="ja-JP" sz="1000" dirty="0"/>
              <a:t>non-P2P</a:t>
            </a:r>
          </a:p>
        </p:txBody>
      </p:sp>
      <p:sp>
        <p:nvSpPr>
          <p:cNvPr id="9" name="テキスト ボックス 8">
            <a:extLst>
              <a:ext uri="{FF2B5EF4-FFF2-40B4-BE49-F238E27FC236}">
                <a16:creationId xmlns:a16="http://schemas.microsoft.com/office/drawing/2014/main" id="{68E6F5D1-6141-7CB0-DC07-363B69FB766C}"/>
              </a:ext>
            </a:extLst>
          </p:cNvPr>
          <p:cNvSpPr txBox="1"/>
          <p:nvPr/>
        </p:nvSpPr>
        <p:spPr>
          <a:xfrm>
            <a:off x="61986" y="5269591"/>
            <a:ext cx="9752910" cy="1015663"/>
          </a:xfrm>
          <a:prstGeom prst="rect">
            <a:avLst/>
          </a:prstGeom>
          <a:noFill/>
        </p:spPr>
        <p:txBody>
          <a:bodyPr wrap="square" rtlCol="0">
            <a:spAutoFit/>
          </a:bodyPr>
          <a:lstStyle/>
          <a:p>
            <a:r>
              <a:rPr lang="en-US" altLang="ja-JP" sz="2000" dirty="0"/>
              <a:t>Agents with EV reduced total electricity cost in both case. </a:t>
            </a:r>
            <a:br>
              <a:rPr lang="en-US" altLang="ja-JP" sz="2000" dirty="0"/>
            </a:br>
            <a:r>
              <a:rPr lang="en-US" altLang="ja-JP" sz="2000" dirty="0"/>
              <a:t>DR mostly works to reduce total electricity cost, except for agents with either battery or EV.</a:t>
            </a:r>
          </a:p>
        </p:txBody>
      </p:sp>
    </p:spTree>
    <p:extLst>
      <p:ext uri="{BB962C8B-B14F-4D97-AF65-F5344CB8AC3E}">
        <p14:creationId xmlns:p14="http://schemas.microsoft.com/office/powerpoint/2010/main" val="281324801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55399-C471-8A1E-196C-DD6B37F25423}"/>
            </a:ext>
          </a:extLst>
        </p:cNvPr>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756BB3EE-C8BE-C428-F15E-9B9A0F72B1F8}"/>
              </a:ext>
            </a:extLst>
          </p:cNvPr>
          <p:cNvSpPr>
            <a:spLocks noGrp="1"/>
          </p:cNvSpPr>
          <p:nvPr>
            <p:ph sz="quarter" idx="16"/>
          </p:nvPr>
        </p:nvSpPr>
        <p:spPr/>
        <p:txBody>
          <a:bodyPr/>
          <a:lstStyle/>
          <a:p>
            <a:r>
              <a:rPr lang="en-US" dirty="0"/>
              <a:t>4. Result </a:t>
            </a:r>
            <a:r>
              <a:rPr kumimoji="1" lang="en-US" altLang="ja-JP" dirty="0"/>
              <a:t>and analysis</a:t>
            </a:r>
            <a:br>
              <a:rPr kumimoji="1" lang="en-US" altLang="ja-JP" dirty="0"/>
            </a:br>
            <a:r>
              <a:rPr kumimoji="1" lang="en-US" altLang="ja-JP" dirty="0"/>
              <a:t>	Net cost by agent group (CAPEX and OPEX are NOT included)</a:t>
            </a:r>
            <a:endParaRPr lang="en-US" dirty="0"/>
          </a:p>
        </p:txBody>
      </p:sp>
      <p:pic>
        <p:nvPicPr>
          <p:cNvPr id="4" name="図 3" descr="グラフ, 箱ひげ図&#10;&#10;自動的に生成された説明">
            <a:extLst>
              <a:ext uri="{FF2B5EF4-FFF2-40B4-BE49-F238E27FC236}">
                <a16:creationId xmlns:a16="http://schemas.microsoft.com/office/drawing/2014/main" id="{3047BC15-BB00-C8BE-F6A6-8C837A45B3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952999" y="1130849"/>
            <a:ext cx="4953000" cy="4015631"/>
          </a:xfrm>
          <a:prstGeom prst="rect">
            <a:avLst/>
          </a:prstGeom>
        </p:spPr>
      </p:pic>
      <p:pic>
        <p:nvPicPr>
          <p:cNvPr id="7" name="図 6" descr="グラフ, 箱ひげ図&#10;&#10;自動的に生成された説明">
            <a:extLst>
              <a:ext uri="{FF2B5EF4-FFF2-40B4-BE49-F238E27FC236}">
                <a16:creationId xmlns:a16="http://schemas.microsoft.com/office/drawing/2014/main" id="{B90AC203-CF20-5EA1-4490-1D23D4CF0B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 y="1130849"/>
            <a:ext cx="4953000" cy="4015631"/>
          </a:xfrm>
          <a:prstGeom prst="rect">
            <a:avLst/>
          </a:prstGeom>
        </p:spPr>
      </p:pic>
      <p:sp>
        <p:nvSpPr>
          <p:cNvPr id="10" name="正方形/長方形 9">
            <a:extLst>
              <a:ext uri="{FF2B5EF4-FFF2-40B4-BE49-F238E27FC236}">
                <a16:creationId xmlns:a16="http://schemas.microsoft.com/office/drawing/2014/main" id="{5EC6CBDB-91F7-065D-F480-D5E1A92A53B4}"/>
              </a:ext>
            </a:extLst>
          </p:cNvPr>
          <p:cNvSpPr/>
          <p:nvPr/>
        </p:nvSpPr>
        <p:spPr>
          <a:xfrm>
            <a:off x="13251" y="1002746"/>
            <a:ext cx="4903304" cy="4143734"/>
          </a:xfrm>
          <a:prstGeom prst="rect">
            <a:avLst/>
          </a:prstGeom>
          <a:noFill/>
          <a:ln w="190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正方形/長方形 10">
            <a:extLst>
              <a:ext uri="{FF2B5EF4-FFF2-40B4-BE49-F238E27FC236}">
                <a16:creationId xmlns:a16="http://schemas.microsoft.com/office/drawing/2014/main" id="{3832B003-1F24-2AF5-09B1-65C3DF8E1C18}"/>
              </a:ext>
            </a:extLst>
          </p:cNvPr>
          <p:cNvSpPr/>
          <p:nvPr/>
        </p:nvSpPr>
        <p:spPr>
          <a:xfrm>
            <a:off x="4973431" y="1002746"/>
            <a:ext cx="4903304" cy="4143734"/>
          </a:xfrm>
          <a:prstGeom prst="rect">
            <a:avLst/>
          </a:pr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テキスト ボックス 11">
            <a:extLst>
              <a:ext uri="{FF2B5EF4-FFF2-40B4-BE49-F238E27FC236}">
                <a16:creationId xmlns:a16="http://schemas.microsoft.com/office/drawing/2014/main" id="{83E7C08D-20FB-19C8-F11D-2AC79E234C25}"/>
              </a:ext>
            </a:extLst>
          </p:cNvPr>
          <p:cNvSpPr txBox="1"/>
          <p:nvPr/>
        </p:nvSpPr>
        <p:spPr>
          <a:xfrm>
            <a:off x="2876262" y="1007738"/>
            <a:ext cx="676009" cy="246221"/>
          </a:xfrm>
          <a:prstGeom prst="rect">
            <a:avLst/>
          </a:prstGeom>
          <a:noFill/>
        </p:spPr>
        <p:txBody>
          <a:bodyPr wrap="square" rtlCol="0">
            <a:spAutoFit/>
          </a:bodyPr>
          <a:lstStyle/>
          <a:p>
            <a:r>
              <a:rPr lang="en-US" altLang="ja-JP" sz="1000" dirty="0"/>
              <a:t>P2P</a:t>
            </a:r>
          </a:p>
        </p:txBody>
      </p:sp>
      <p:sp>
        <p:nvSpPr>
          <p:cNvPr id="13" name="テキスト ボックス 12">
            <a:extLst>
              <a:ext uri="{FF2B5EF4-FFF2-40B4-BE49-F238E27FC236}">
                <a16:creationId xmlns:a16="http://schemas.microsoft.com/office/drawing/2014/main" id="{8B966B8C-CFC8-E64D-FB51-F2F3841A379F}"/>
              </a:ext>
            </a:extLst>
          </p:cNvPr>
          <p:cNvSpPr txBox="1"/>
          <p:nvPr/>
        </p:nvSpPr>
        <p:spPr>
          <a:xfrm>
            <a:off x="7816012" y="1007738"/>
            <a:ext cx="676009" cy="246221"/>
          </a:xfrm>
          <a:prstGeom prst="rect">
            <a:avLst/>
          </a:prstGeom>
          <a:noFill/>
        </p:spPr>
        <p:txBody>
          <a:bodyPr wrap="square" rtlCol="0">
            <a:spAutoFit/>
          </a:bodyPr>
          <a:lstStyle/>
          <a:p>
            <a:r>
              <a:rPr lang="en-US" altLang="ja-JP" sz="1000" dirty="0"/>
              <a:t>non-P2P</a:t>
            </a:r>
          </a:p>
        </p:txBody>
      </p:sp>
      <p:sp>
        <p:nvSpPr>
          <p:cNvPr id="14" name="テキスト ボックス 13">
            <a:extLst>
              <a:ext uri="{FF2B5EF4-FFF2-40B4-BE49-F238E27FC236}">
                <a16:creationId xmlns:a16="http://schemas.microsoft.com/office/drawing/2014/main" id="{F55436BC-0056-4001-97C9-97B91E9B2F7A}"/>
              </a:ext>
            </a:extLst>
          </p:cNvPr>
          <p:cNvSpPr txBox="1"/>
          <p:nvPr/>
        </p:nvSpPr>
        <p:spPr>
          <a:xfrm>
            <a:off x="61986" y="5269591"/>
            <a:ext cx="9752910" cy="707886"/>
          </a:xfrm>
          <a:prstGeom prst="rect">
            <a:avLst/>
          </a:prstGeom>
          <a:noFill/>
        </p:spPr>
        <p:txBody>
          <a:bodyPr wrap="square" rtlCol="0">
            <a:spAutoFit/>
          </a:bodyPr>
          <a:lstStyle/>
          <a:p>
            <a:r>
              <a:rPr lang="en-US" altLang="ja-JP" sz="2000" dirty="0"/>
              <a:t>Agents with PV reduced total electricity cost by joining P2P community, </a:t>
            </a:r>
            <a:br>
              <a:rPr lang="en-US" altLang="ja-JP" sz="2000" dirty="0"/>
            </a:br>
            <a:r>
              <a:rPr lang="en-US" altLang="ja-JP" sz="2000" dirty="0"/>
              <a:t>while agents without PV increased total electricity cost. (</a:t>
            </a:r>
            <a:r>
              <a:rPr lang="ja-JP" altLang="en-US" sz="2000" dirty="0"/>
              <a:t>←</a:t>
            </a:r>
            <a:r>
              <a:rPr lang="en-US" altLang="ja-JP" sz="2000" dirty="0"/>
              <a:t> strange…) </a:t>
            </a:r>
          </a:p>
        </p:txBody>
      </p:sp>
    </p:spTree>
    <p:extLst>
      <p:ext uri="{BB962C8B-B14F-4D97-AF65-F5344CB8AC3E}">
        <p14:creationId xmlns:p14="http://schemas.microsoft.com/office/powerpoint/2010/main" val="154129559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DD76A9-6CCB-95C3-B4BA-A3991281A81C}"/>
            </a:ext>
          </a:extLst>
        </p:cNvPr>
        <p:cNvGrpSpPr/>
        <p:nvPr/>
      </p:nvGrpSpPr>
      <p:grpSpPr>
        <a:xfrm>
          <a:off x="0" y="0"/>
          <a:ext cx="0" cy="0"/>
          <a:chOff x="0" y="0"/>
          <a:chExt cx="0" cy="0"/>
        </a:xfrm>
      </p:grpSpPr>
      <p:pic>
        <p:nvPicPr>
          <p:cNvPr id="8" name="図 7" descr="グラフ, 棒グラフ&#10;&#10;自動的に生成された説明">
            <a:extLst>
              <a:ext uri="{FF2B5EF4-FFF2-40B4-BE49-F238E27FC236}">
                <a16:creationId xmlns:a16="http://schemas.microsoft.com/office/drawing/2014/main" id="{52CDFD91-F3BD-508E-BFDF-5F80DA0E665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251" y="1007898"/>
            <a:ext cx="4903304" cy="4138580"/>
          </a:xfrm>
          <a:prstGeom prst="rect">
            <a:avLst/>
          </a:prstGeom>
        </p:spPr>
      </p:pic>
      <p:pic>
        <p:nvPicPr>
          <p:cNvPr id="5" name="図 4" descr="グラフ, 棒グラフ&#10;&#10;自動的に生成された説明">
            <a:extLst>
              <a:ext uri="{FF2B5EF4-FFF2-40B4-BE49-F238E27FC236}">
                <a16:creationId xmlns:a16="http://schemas.microsoft.com/office/drawing/2014/main" id="{ABB3DD60-B4F7-CDE5-33CA-606FD88A5CD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73431" y="1002745"/>
            <a:ext cx="4903304" cy="4143733"/>
          </a:xfrm>
          <a:prstGeom prst="rect">
            <a:avLst/>
          </a:prstGeom>
        </p:spPr>
      </p:pic>
      <p:sp>
        <p:nvSpPr>
          <p:cNvPr id="3" name="コンテンツ プレースホルダー 2">
            <a:extLst>
              <a:ext uri="{FF2B5EF4-FFF2-40B4-BE49-F238E27FC236}">
                <a16:creationId xmlns:a16="http://schemas.microsoft.com/office/drawing/2014/main" id="{E21F17B8-9997-9F22-898B-638BF35E76DD}"/>
              </a:ext>
            </a:extLst>
          </p:cNvPr>
          <p:cNvSpPr>
            <a:spLocks noGrp="1"/>
          </p:cNvSpPr>
          <p:nvPr>
            <p:ph sz="quarter" idx="16"/>
          </p:nvPr>
        </p:nvSpPr>
        <p:spPr/>
        <p:txBody>
          <a:bodyPr/>
          <a:lstStyle/>
          <a:p>
            <a:r>
              <a:rPr lang="en-US" dirty="0"/>
              <a:t>4. Result </a:t>
            </a:r>
            <a:r>
              <a:rPr kumimoji="1" lang="en-US" altLang="ja-JP" dirty="0"/>
              <a:t>and analysis</a:t>
            </a:r>
            <a:br>
              <a:rPr kumimoji="1" lang="en-US" altLang="ja-JP" dirty="0"/>
            </a:br>
            <a:r>
              <a:rPr kumimoji="1" lang="en-US" altLang="ja-JP" dirty="0"/>
              <a:t>	Energy amount buy by agent group</a:t>
            </a:r>
            <a:endParaRPr lang="en-US" dirty="0"/>
          </a:p>
        </p:txBody>
      </p:sp>
      <p:sp>
        <p:nvSpPr>
          <p:cNvPr id="10" name="正方形/長方形 9">
            <a:extLst>
              <a:ext uri="{FF2B5EF4-FFF2-40B4-BE49-F238E27FC236}">
                <a16:creationId xmlns:a16="http://schemas.microsoft.com/office/drawing/2014/main" id="{BF2113BB-4B1C-2C9A-7626-E608FF9F1223}"/>
              </a:ext>
            </a:extLst>
          </p:cNvPr>
          <p:cNvSpPr/>
          <p:nvPr/>
        </p:nvSpPr>
        <p:spPr>
          <a:xfrm>
            <a:off x="13251" y="1002746"/>
            <a:ext cx="4903304" cy="4143734"/>
          </a:xfrm>
          <a:prstGeom prst="rect">
            <a:avLst/>
          </a:prstGeom>
          <a:noFill/>
          <a:ln w="190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正方形/長方形 10">
            <a:extLst>
              <a:ext uri="{FF2B5EF4-FFF2-40B4-BE49-F238E27FC236}">
                <a16:creationId xmlns:a16="http://schemas.microsoft.com/office/drawing/2014/main" id="{771AF4A4-8D1E-AC1F-1E1A-48CF570F994F}"/>
              </a:ext>
            </a:extLst>
          </p:cNvPr>
          <p:cNvSpPr/>
          <p:nvPr/>
        </p:nvSpPr>
        <p:spPr>
          <a:xfrm>
            <a:off x="4973431" y="1002746"/>
            <a:ext cx="4903304" cy="4143734"/>
          </a:xfrm>
          <a:prstGeom prst="rect">
            <a:avLst/>
          </a:pr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テキスト ボックス 11">
            <a:extLst>
              <a:ext uri="{FF2B5EF4-FFF2-40B4-BE49-F238E27FC236}">
                <a16:creationId xmlns:a16="http://schemas.microsoft.com/office/drawing/2014/main" id="{928F29C0-7549-9250-17F9-D22EE3B82146}"/>
              </a:ext>
            </a:extLst>
          </p:cNvPr>
          <p:cNvSpPr txBox="1"/>
          <p:nvPr/>
        </p:nvSpPr>
        <p:spPr>
          <a:xfrm>
            <a:off x="2969395" y="956938"/>
            <a:ext cx="676009" cy="246221"/>
          </a:xfrm>
          <a:prstGeom prst="rect">
            <a:avLst/>
          </a:prstGeom>
          <a:noFill/>
        </p:spPr>
        <p:txBody>
          <a:bodyPr wrap="square" rtlCol="0">
            <a:spAutoFit/>
          </a:bodyPr>
          <a:lstStyle/>
          <a:p>
            <a:r>
              <a:rPr lang="en-US" altLang="ja-JP" sz="1000" dirty="0"/>
              <a:t>P2P</a:t>
            </a:r>
          </a:p>
        </p:txBody>
      </p:sp>
      <p:sp>
        <p:nvSpPr>
          <p:cNvPr id="13" name="テキスト ボックス 12">
            <a:extLst>
              <a:ext uri="{FF2B5EF4-FFF2-40B4-BE49-F238E27FC236}">
                <a16:creationId xmlns:a16="http://schemas.microsoft.com/office/drawing/2014/main" id="{C1EB2B70-3809-753B-1AEA-96A1CDFDAAC9}"/>
              </a:ext>
            </a:extLst>
          </p:cNvPr>
          <p:cNvSpPr txBox="1"/>
          <p:nvPr/>
        </p:nvSpPr>
        <p:spPr>
          <a:xfrm>
            <a:off x="7904912" y="956938"/>
            <a:ext cx="676009" cy="246221"/>
          </a:xfrm>
          <a:prstGeom prst="rect">
            <a:avLst/>
          </a:prstGeom>
          <a:noFill/>
        </p:spPr>
        <p:txBody>
          <a:bodyPr wrap="square" rtlCol="0">
            <a:spAutoFit/>
          </a:bodyPr>
          <a:lstStyle/>
          <a:p>
            <a:r>
              <a:rPr lang="en-US" altLang="ja-JP" sz="1000" dirty="0"/>
              <a:t>non-P2P</a:t>
            </a:r>
          </a:p>
        </p:txBody>
      </p:sp>
      <p:sp>
        <p:nvSpPr>
          <p:cNvPr id="14" name="テキスト ボックス 13">
            <a:extLst>
              <a:ext uri="{FF2B5EF4-FFF2-40B4-BE49-F238E27FC236}">
                <a16:creationId xmlns:a16="http://schemas.microsoft.com/office/drawing/2014/main" id="{D79D3333-5C31-62D4-4AC3-8546BFE376DA}"/>
              </a:ext>
            </a:extLst>
          </p:cNvPr>
          <p:cNvSpPr txBox="1"/>
          <p:nvPr/>
        </p:nvSpPr>
        <p:spPr>
          <a:xfrm>
            <a:off x="61986" y="5269591"/>
            <a:ext cx="9752910" cy="1015663"/>
          </a:xfrm>
          <a:prstGeom prst="rect">
            <a:avLst/>
          </a:prstGeom>
          <a:noFill/>
        </p:spPr>
        <p:txBody>
          <a:bodyPr wrap="square" rtlCol="0">
            <a:spAutoFit/>
          </a:bodyPr>
          <a:lstStyle/>
          <a:p>
            <a:r>
              <a:rPr lang="en-US" altLang="ja-JP" sz="2000" dirty="0"/>
              <a:t>The amount of energy bought seems correct.</a:t>
            </a:r>
            <a:br>
              <a:rPr lang="en-US" altLang="ja-JP" sz="2000" dirty="0"/>
            </a:br>
            <a:r>
              <a:rPr lang="ja-JP" altLang="en-US" sz="2000" dirty="0"/>
              <a:t>→</a:t>
            </a:r>
            <a:r>
              <a:rPr lang="en-US" altLang="ja-JP" sz="2000" dirty="0"/>
              <a:t>Cost calculation maybe wrong…???</a:t>
            </a:r>
          </a:p>
          <a:p>
            <a:endParaRPr lang="en-US" altLang="ja-JP" sz="2000" dirty="0"/>
          </a:p>
        </p:txBody>
      </p:sp>
    </p:spTree>
    <p:extLst>
      <p:ext uri="{BB962C8B-B14F-4D97-AF65-F5344CB8AC3E}">
        <p14:creationId xmlns:p14="http://schemas.microsoft.com/office/powerpoint/2010/main" val="181207807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AA9FD6-8A60-70BA-440A-BB7ADF0EE136}"/>
            </a:ext>
          </a:extLst>
        </p:cNvPr>
        <p:cNvGrpSpPr/>
        <p:nvPr/>
      </p:nvGrpSpPr>
      <p:grpSpPr>
        <a:xfrm>
          <a:off x="0" y="0"/>
          <a:ext cx="0" cy="0"/>
          <a:chOff x="0" y="0"/>
          <a:chExt cx="0" cy="0"/>
        </a:xfrm>
      </p:grpSpPr>
      <p:pic>
        <p:nvPicPr>
          <p:cNvPr id="8" name="図 7" descr="グラフ, 箱ひげ図&#10;&#10;自動的に生成された説明">
            <a:extLst>
              <a:ext uri="{FF2B5EF4-FFF2-40B4-BE49-F238E27FC236}">
                <a16:creationId xmlns:a16="http://schemas.microsoft.com/office/drawing/2014/main" id="{7BA0D3E0-FFE4-5B34-2E0C-2A08361EBF2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354" y="3688271"/>
            <a:ext cx="8094147" cy="2771245"/>
          </a:xfrm>
          <a:prstGeom prst="rect">
            <a:avLst/>
          </a:prstGeom>
        </p:spPr>
      </p:pic>
      <p:pic>
        <p:nvPicPr>
          <p:cNvPr id="5" name="図 4" descr="グラフ, 箱ひげ図&#10;&#10;自動的に生成された説明">
            <a:extLst>
              <a:ext uri="{FF2B5EF4-FFF2-40B4-BE49-F238E27FC236}">
                <a16:creationId xmlns:a16="http://schemas.microsoft.com/office/drawing/2014/main" id="{108412F8-E5CE-2112-A7CE-BE26A69AAFF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354" y="784752"/>
            <a:ext cx="8094147" cy="2771245"/>
          </a:xfrm>
          <a:prstGeom prst="rect">
            <a:avLst/>
          </a:prstGeom>
        </p:spPr>
      </p:pic>
      <p:sp>
        <p:nvSpPr>
          <p:cNvPr id="3" name="コンテンツ プレースホルダー 2">
            <a:extLst>
              <a:ext uri="{FF2B5EF4-FFF2-40B4-BE49-F238E27FC236}">
                <a16:creationId xmlns:a16="http://schemas.microsoft.com/office/drawing/2014/main" id="{1E45661A-9616-0DA0-0408-18DF3D150210}"/>
              </a:ext>
            </a:extLst>
          </p:cNvPr>
          <p:cNvSpPr>
            <a:spLocks noGrp="1"/>
          </p:cNvSpPr>
          <p:nvPr>
            <p:ph sz="quarter" idx="16"/>
          </p:nvPr>
        </p:nvSpPr>
        <p:spPr/>
        <p:txBody>
          <a:bodyPr/>
          <a:lstStyle/>
          <a:p>
            <a:r>
              <a:rPr lang="en-US" dirty="0"/>
              <a:t>4. Result </a:t>
            </a:r>
            <a:r>
              <a:rPr kumimoji="1" lang="en-US" altLang="ja-JP" dirty="0"/>
              <a:t>and analysis</a:t>
            </a:r>
            <a:br>
              <a:rPr kumimoji="1" lang="en-US" altLang="ja-JP" dirty="0"/>
            </a:br>
            <a:r>
              <a:rPr kumimoji="1" lang="en-US" altLang="ja-JP" dirty="0"/>
              <a:t>	Surplus demand (VPP availability)</a:t>
            </a:r>
            <a:endParaRPr lang="en-US" dirty="0"/>
          </a:p>
        </p:txBody>
      </p:sp>
      <p:sp>
        <p:nvSpPr>
          <p:cNvPr id="9" name="正方形/長方形 8">
            <a:extLst>
              <a:ext uri="{FF2B5EF4-FFF2-40B4-BE49-F238E27FC236}">
                <a16:creationId xmlns:a16="http://schemas.microsoft.com/office/drawing/2014/main" id="{5099F8A0-3FF7-757E-F1BD-B50402C9773F}"/>
              </a:ext>
            </a:extLst>
          </p:cNvPr>
          <p:cNvSpPr/>
          <p:nvPr/>
        </p:nvSpPr>
        <p:spPr>
          <a:xfrm>
            <a:off x="97357" y="784754"/>
            <a:ext cx="8064511" cy="2771246"/>
          </a:xfrm>
          <a:prstGeom prst="rect">
            <a:avLst/>
          </a:prstGeom>
          <a:noFill/>
          <a:ln w="190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正方形/長方形 9">
            <a:extLst>
              <a:ext uri="{FF2B5EF4-FFF2-40B4-BE49-F238E27FC236}">
                <a16:creationId xmlns:a16="http://schemas.microsoft.com/office/drawing/2014/main" id="{CF0376ED-0941-CC8D-209A-21C93E9FDF9D}"/>
              </a:ext>
            </a:extLst>
          </p:cNvPr>
          <p:cNvSpPr/>
          <p:nvPr/>
        </p:nvSpPr>
        <p:spPr>
          <a:xfrm>
            <a:off x="97357" y="3688271"/>
            <a:ext cx="8064508" cy="2771246"/>
          </a:xfrm>
          <a:prstGeom prst="rect">
            <a:avLst/>
          </a:pr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テキスト ボックス 10">
            <a:extLst>
              <a:ext uri="{FF2B5EF4-FFF2-40B4-BE49-F238E27FC236}">
                <a16:creationId xmlns:a16="http://schemas.microsoft.com/office/drawing/2014/main" id="{33C920B4-1B57-223C-B682-BD2854F3CFF8}"/>
              </a:ext>
            </a:extLst>
          </p:cNvPr>
          <p:cNvSpPr txBox="1"/>
          <p:nvPr/>
        </p:nvSpPr>
        <p:spPr>
          <a:xfrm>
            <a:off x="4669363" y="751084"/>
            <a:ext cx="676009" cy="246221"/>
          </a:xfrm>
          <a:prstGeom prst="rect">
            <a:avLst/>
          </a:prstGeom>
          <a:noFill/>
        </p:spPr>
        <p:txBody>
          <a:bodyPr wrap="square" rtlCol="0">
            <a:spAutoFit/>
          </a:bodyPr>
          <a:lstStyle/>
          <a:p>
            <a:r>
              <a:rPr lang="en-US" altLang="ja-JP" sz="1000" dirty="0"/>
              <a:t>P2P</a:t>
            </a:r>
          </a:p>
        </p:txBody>
      </p:sp>
      <p:sp>
        <p:nvSpPr>
          <p:cNvPr id="12" name="テキスト ボックス 11">
            <a:extLst>
              <a:ext uri="{FF2B5EF4-FFF2-40B4-BE49-F238E27FC236}">
                <a16:creationId xmlns:a16="http://schemas.microsoft.com/office/drawing/2014/main" id="{A8A4ED5D-AE5C-F62F-77AF-EE17D598A142}"/>
              </a:ext>
            </a:extLst>
          </p:cNvPr>
          <p:cNvSpPr txBox="1"/>
          <p:nvPr/>
        </p:nvSpPr>
        <p:spPr>
          <a:xfrm>
            <a:off x="4669363" y="3644835"/>
            <a:ext cx="759138" cy="246221"/>
          </a:xfrm>
          <a:prstGeom prst="rect">
            <a:avLst/>
          </a:prstGeom>
          <a:noFill/>
        </p:spPr>
        <p:txBody>
          <a:bodyPr wrap="square" rtlCol="0">
            <a:spAutoFit/>
          </a:bodyPr>
          <a:lstStyle/>
          <a:p>
            <a:r>
              <a:rPr lang="en-US" altLang="ja-JP" sz="1000" dirty="0"/>
              <a:t>non-P2P</a:t>
            </a:r>
          </a:p>
        </p:txBody>
      </p:sp>
      <p:sp>
        <p:nvSpPr>
          <p:cNvPr id="13" name="テキスト ボックス 12">
            <a:extLst>
              <a:ext uri="{FF2B5EF4-FFF2-40B4-BE49-F238E27FC236}">
                <a16:creationId xmlns:a16="http://schemas.microsoft.com/office/drawing/2014/main" id="{12536266-7279-94FE-4C60-5CAA685C6E6D}"/>
              </a:ext>
            </a:extLst>
          </p:cNvPr>
          <p:cNvSpPr txBox="1"/>
          <p:nvPr/>
        </p:nvSpPr>
        <p:spPr>
          <a:xfrm>
            <a:off x="8161865" y="5781824"/>
            <a:ext cx="1744135" cy="646331"/>
          </a:xfrm>
          <a:prstGeom prst="rect">
            <a:avLst/>
          </a:prstGeom>
          <a:noFill/>
        </p:spPr>
        <p:txBody>
          <a:bodyPr wrap="square" rtlCol="0">
            <a:spAutoFit/>
          </a:bodyPr>
          <a:lstStyle/>
          <a:p>
            <a:r>
              <a:rPr lang="en-US" altLang="ja-JP" sz="1200" dirty="0"/>
              <a:t>P2P increased the availability to consume more energy.</a:t>
            </a:r>
          </a:p>
        </p:txBody>
      </p:sp>
    </p:spTree>
    <p:extLst>
      <p:ext uri="{BB962C8B-B14F-4D97-AF65-F5344CB8AC3E}">
        <p14:creationId xmlns:p14="http://schemas.microsoft.com/office/powerpoint/2010/main" val="93963195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AA7748-5BED-268A-DB2B-92294206B143}"/>
            </a:ext>
          </a:extLst>
        </p:cNvPr>
        <p:cNvGrpSpPr/>
        <p:nvPr/>
      </p:nvGrpSpPr>
      <p:grpSpPr>
        <a:xfrm>
          <a:off x="0" y="0"/>
          <a:ext cx="0" cy="0"/>
          <a:chOff x="0" y="0"/>
          <a:chExt cx="0" cy="0"/>
        </a:xfrm>
      </p:grpSpPr>
      <p:pic>
        <p:nvPicPr>
          <p:cNvPr id="7" name="図 6" descr="グラフ&#10;&#10;自動的に生成された説明">
            <a:extLst>
              <a:ext uri="{FF2B5EF4-FFF2-40B4-BE49-F238E27FC236}">
                <a16:creationId xmlns:a16="http://schemas.microsoft.com/office/drawing/2014/main" id="{874469DC-01AF-5DDA-E4C8-E431309BF22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352" y="3687747"/>
            <a:ext cx="8064507" cy="2770723"/>
          </a:xfrm>
          <a:prstGeom prst="rect">
            <a:avLst/>
          </a:prstGeom>
        </p:spPr>
      </p:pic>
      <p:pic>
        <p:nvPicPr>
          <p:cNvPr id="4" name="図 3" descr="グラフ&#10;&#10;自動的に生成された説明">
            <a:extLst>
              <a:ext uri="{FF2B5EF4-FFF2-40B4-BE49-F238E27FC236}">
                <a16:creationId xmlns:a16="http://schemas.microsoft.com/office/drawing/2014/main" id="{9DB4D061-62E3-38B5-2FB4-DA64336E691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353" y="784753"/>
            <a:ext cx="8064507" cy="2770723"/>
          </a:xfrm>
          <a:prstGeom prst="rect">
            <a:avLst/>
          </a:prstGeom>
        </p:spPr>
      </p:pic>
      <p:sp>
        <p:nvSpPr>
          <p:cNvPr id="3" name="コンテンツ プレースホルダー 2">
            <a:extLst>
              <a:ext uri="{FF2B5EF4-FFF2-40B4-BE49-F238E27FC236}">
                <a16:creationId xmlns:a16="http://schemas.microsoft.com/office/drawing/2014/main" id="{EEE58461-C35B-7D76-92A4-675F6188EA5D}"/>
              </a:ext>
            </a:extLst>
          </p:cNvPr>
          <p:cNvSpPr>
            <a:spLocks noGrp="1"/>
          </p:cNvSpPr>
          <p:nvPr>
            <p:ph sz="quarter" idx="16"/>
          </p:nvPr>
        </p:nvSpPr>
        <p:spPr/>
        <p:txBody>
          <a:bodyPr/>
          <a:lstStyle/>
          <a:p>
            <a:r>
              <a:rPr lang="en-US" dirty="0"/>
              <a:t>4. Result </a:t>
            </a:r>
            <a:r>
              <a:rPr kumimoji="1" lang="en-US" altLang="ja-JP" dirty="0"/>
              <a:t>and analysis</a:t>
            </a:r>
            <a:br>
              <a:rPr kumimoji="1" lang="en-US" altLang="ja-JP" dirty="0"/>
            </a:br>
            <a:r>
              <a:rPr kumimoji="1" lang="en-US" altLang="ja-JP" dirty="0"/>
              <a:t>	Surplus supply (VPP availability)</a:t>
            </a:r>
            <a:endParaRPr lang="en-US" dirty="0"/>
          </a:p>
        </p:txBody>
      </p:sp>
      <p:sp>
        <p:nvSpPr>
          <p:cNvPr id="9" name="正方形/長方形 8">
            <a:extLst>
              <a:ext uri="{FF2B5EF4-FFF2-40B4-BE49-F238E27FC236}">
                <a16:creationId xmlns:a16="http://schemas.microsoft.com/office/drawing/2014/main" id="{1D1273D6-91F1-768C-71D5-550846790286}"/>
              </a:ext>
            </a:extLst>
          </p:cNvPr>
          <p:cNvSpPr/>
          <p:nvPr/>
        </p:nvSpPr>
        <p:spPr>
          <a:xfrm>
            <a:off x="97357" y="784754"/>
            <a:ext cx="8064511" cy="2771246"/>
          </a:xfrm>
          <a:prstGeom prst="rect">
            <a:avLst/>
          </a:prstGeom>
          <a:noFill/>
          <a:ln w="190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正方形/長方形 9">
            <a:extLst>
              <a:ext uri="{FF2B5EF4-FFF2-40B4-BE49-F238E27FC236}">
                <a16:creationId xmlns:a16="http://schemas.microsoft.com/office/drawing/2014/main" id="{55BAAB3C-63E3-A221-2C8E-C0F3D71C7E36}"/>
              </a:ext>
            </a:extLst>
          </p:cNvPr>
          <p:cNvSpPr/>
          <p:nvPr/>
        </p:nvSpPr>
        <p:spPr>
          <a:xfrm>
            <a:off x="97357" y="3688271"/>
            <a:ext cx="8064508" cy="2771246"/>
          </a:xfrm>
          <a:prstGeom prst="rect">
            <a:avLst/>
          </a:pr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テキスト ボックス 10">
            <a:extLst>
              <a:ext uri="{FF2B5EF4-FFF2-40B4-BE49-F238E27FC236}">
                <a16:creationId xmlns:a16="http://schemas.microsoft.com/office/drawing/2014/main" id="{E1FAE57A-289C-8EF1-5C51-86CBF1657F91}"/>
              </a:ext>
            </a:extLst>
          </p:cNvPr>
          <p:cNvSpPr txBox="1"/>
          <p:nvPr/>
        </p:nvSpPr>
        <p:spPr>
          <a:xfrm>
            <a:off x="4669363" y="751084"/>
            <a:ext cx="676009" cy="246221"/>
          </a:xfrm>
          <a:prstGeom prst="rect">
            <a:avLst/>
          </a:prstGeom>
          <a:noFill/>
        </p:spPr>
        <p:txBody>
          <a:bodyPr wrap="square" rtlCol="0">
            <a:spAutoFit/>
          </a:bodyPr>
          <a:lstStyle/>
          <a:p>
            <a:r>
              <a:rPr lang="en-US" altLang="ja-JP" sz="1000" dirty="0"/>
              <a:t>P2P</a:t>
            </a:r>
          </a:p>
        </p:txBody>
      </p:sp>
      <p:sp>
        <p:nvSpPr>
          <p:cNvPr id="12" name="テキスト ボックス 11">
            <a:extLst>
              <a:ext uri="{FF2B5EF4-FFF2-40B4-BE49-F238E27FC236}">
                <a16:creationId xmlns:a16="http://schemas.microsoft.com/office/drawing/2014/main" id="{7A4E1858-4377-D08C-799C-35D12C568900}"/>
              </a:ext>
            </a:extLst>
          </p:cNvPr>
          <p:cNvSpPr txBox="1"/>
          <p:nvPr/>
        </p:nvSpPr>
        <p:spPr>
          <a:xfrm>
            <a:off x="4669363" y="3644835"/>
            <a:ext cx="759138" cy="246221"/>
          </a:xfrm>
          <a:prstGeom prst="rect">
            <a:avLst/>
          </a:prstGeom>
          <a:noFill/>
        </p:spPr>
        <p:txBody>
          <a:bodyPr wrap="square" rtlCol="0">
            <a:spAutoFit/>
          </a:bodyPr>
          <a:lstStyle/>
          <a:p>
            <a:r>
              <a:rPr lang="en-US" altLang="ja-JP" sz="1000" dirty="0"/>
              <a:t>non-P2P</a:t>
            </a:r>
          </a:p>
        </p:txBody>
      </p:sp>
      <p:sp>
        <p:nvSpPr>
          <p:cNvPr id="13" name="テキスト ボックス 12">
            <a:extLst>
              <a:ext uri="{FF2B5EF4-FFF2-40B4-BE49-F238E27FC236}">
                <a16:creationId xmlns:a16="http://schemas.microsoft.com/office/drawing/2014/main" id="{C5DD04D0-E737-5D33-C275-AE8232E15B26}"/>
              </a:ext>
            </a:extLst>
          </p:cNvPr>
          <p:cNvSpPr txBox="1"/>
          <p:nvPr/>
        </p:nvSpPr>
        <p:spPr>
          <a:xfrm>
            <a:off x="8161859" y="5627473"/>
            <a:ext cx="1744135" cy="830997"/>
          </a:xfrm>
          <a:prstGeom prst="rect">
            <a:avLst/>
          </a:prstGeom>
          <a:noFill/>
        </p:spPr>
        <p:txBody>
          <a:bodyPr wrap="square" rtlCol="0">
            <a:spAutoFit/>
          </a:bodyPr>
          <a:lstStyle/>
          <a:p>
            <a:r>
              <a:rPr lang="en-US" altLang="ja-JP" sz="1200" dirty="0"/>
              <a:t>P2P has a negative impact on availability to supply more energy especially in evening.</a:t>
            </a:r>
          </a:p>
        </p:txBody>
      </p:sp>
    </p:spTree>
    <p:extLst>
      <p:ext uri="{BB962C8B-B14F-4D97-AF65-F5344CB8AC3E}">
        <p14:creationId xmlns:p14="http://schemas.microsoft.com/office/powerpoint/2010/main" val="186690992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コンテンツ プレースホルダー 1">
            <a:extLst>
              <a:ext uri="{FF2B5EF4-FFF2-40B4-BE49-F238E27FC236}">
                <a16:creationId xmlns:a16="http://schemas.microsoft.com/office/drawing/2014/main" id="{A69F8014-B60B-E06E-B259-E733D46851C0}"/>
              </a:ext>
            </a:extLst>
          </p:cNvPr>
          <p:cNvSpPr>
            <a:spLocks noGrp="1"/>
          </p:cNvSpPr>
          <p:nvPr>
            <p:ph sz="quarter" idx="17"/>
          </p:nvPr>
        </p:nvSpPr>
        <p:spPr>
          <a:xfrm>
            <a:off x="569340" y="904862"/>
            <a:ext cx="8767320" cy="5686438"/>
          </a:xfrm>
        </p:spPr>
        <p:txBody>
          <a:bodyPr/>
          <a:lstStyle/>
          <a:p>
            <a:r>
              <a:rPr kumimoji="1" lang="en-US" altLang="ja-JP" dirty="0">
                <a:solidFill>
                  <a:schemeClr val="tx1">
                    <a:lumMod val="20000"/>
                    <a:lumOff val="80000"/>
                  </a:schemeClr>
                </a:solidFill>
              </a:rPr>
              <a:t>1. Introduction and background</a:t>
            </a:r>
          </a:p>
          <a:p>
            <a:pPr marL="342900" indent="-342900">
              <a:buAutoNum type="arabicPeriod"/>
            </a:pPr>
            <a:endParaRPr kumimoji="1" lang="en-US" altLang="ja-JP" dirty="0">
              <a:solidFill>
                <a:schemeClr val="tx1">
                  <a:lumMod val="20000"/>
                  <a:lumOff val="80000"/>
                </a:schemeClr>
              </a:solidFill>
            </a:endParaRPr>
          </a:p>
          <a:p>
            <a:r>
              <a:rPr kumimoji="1" lang="en-US" altLang="ja-JP" dirty="0">
                <a:solidFill>
                  <a:schemeClr val="tx1">
                    <a:lumMod val="20000"/>
                    <a:lumOff val="80000"/>
                  </a:schemeClr>
                </a:solidFill>
              </a:rPr>
              <a:t>2. Objective</a:t>
            </a:r>
          </a:p>
          <a:p>
            <a:endParaRPr kumimoji="1" lang="en-US" altLang="ja-JP" dirty="0">
              <a:solidFill>
                <a:schemeClr val="tx1">
                  <a:lumMod val="20000"/>
                  <a:lumOff val="80000"/>
                </a:schemeClr>
              </a:solidFill>
            </a:endParaRPr>
          </a:p>
          <a:p>
            <a:r>
              <a:rPr kumimoji="1" lang="en-US" altLang="ja-JP" dirty="0">
                <a:solidFill>
                  <a:schemeClr val="tx1">
                    <a:lumMod val="20000"/>
                    <a:lumOff val="80000"/>
                  </a:schemeClr>
                </a:solidFill>
              </a:rPr>
              <a:t>3. Methodology</a:t>
            </a:r>
          </a:p>
          <a:p>
            <a:r>
              <a:rPr kumimoji="1" lang="en-US" altLang="ja-JP" sz="1200" dirty="0">
                <a:solidFill>
                  <a:schemeClr val="tx1">
                    <a:lumMod val="20000"/>
                    <a:lumOff val="80000"/>
                  </a:schemeClr>
                </a:solidFill>
              </a:rPr>
              <a:t>3.1 Step 1: </a:t>
            </a:r>
            <a:r>
              <a:rPr lang="en-US" altLang="ja-JP" sz="1200" dirty="0">
                <a:solidFill>
                  <a:schemeClr val="tx1">
                    <a:lumMod val="20000"/>
                    <a:lumOff val="80000"/>
                  </a:schemeClr>
                </a:solidFill>
              </a:rPr>
              <a:t>Data collection</a:t>
            </a:r>
          </a:p>
          <a:p>
            <a:r>
              <a:rPr kumimoji="1" lang="en-US" altLang="ja-JP" sz="1200" dirty="0">
                <a:solidFill>
                  <a:schemeClr val="tx1">
                    <a:lumMod val="20000"/>
                    <a:lumOff val="80000"/>
                  </a:schemeClr>
                </a:solidFill>
              </a:rPr>
              <a:t>       3.1.1 Data (demand, PV supply, wholesale price)</a:t>
            </a:r>
            <a:endParaRPr kumimoji="1" lang="ja-JP" altLang="en-US" sz="1200" dirty="0">
              <a:solidFill>
                <a:schemeClr val="tx1">
                  <a:lumMod val="20000"/>
                  <a:lumOff val="80000"/>
                </a:schemeClr>
              </a:solidFill>
            </a:endParaRPr>
          </a:p>
          <a:p>
            <a:r>
              <a:rPr kumimoji="1" lang="en-US" altLang="ja-JP" sz="1200" dirty="0">
                <a:solidFill>
                  <a:schemeClr val="tx1">
                    <a:lumMod val="20000"/>
                    <a:lumOff val="80000"/>
                  </a:schemeClr>
                </a:solidFill>
              </a:rPr>
              <a:t>       3.1.2 Car usage survey </a:t>
            </a:r>
            <a:r>
              <a:rPr kumimoji="1" lang="ja-JP" altLang="en-US" sz="1200" dirty="0">
                <a:solidFill>
                  <a:schemeClr val="tx1">
                    <a:lumMod val="20000"/>
                    <a:lumOff val="80000"/>
                  </a:schemeClr>
                </a:solidFill>
              </a:rPr>
              <a:t>→ </a:t>
            </a:r>
            <a:r>
              <a:rPr kumimoji="1" lang="en-US" altLang="ja-JP" sz="1200" dirty="0">
                <a:solidFill>
                  <a:schemeClr val="tx1">
                    <a:lumMod val="20000"/>
                    <a:lumOff val="80000"/>
                  </a:schemeClr>
                </a:solidFill>
              </a:rPr>
              <a:t>Car usage data</a:t>
            </a:r>
          </a:p>
          <a:p>
            <a:r>
              <a:rPr kumimoji="1" lang="en-US" altLang="ja-JP" sz="1200" dirty="0">
                <a:solidFill>
                  <a:schemeClr val="tx1">
                    <a:lumMod val="20000"/>
                    <a:lumOff val="80000"/>
                  </a:schemeClr>
                </a:solidFill>
              </a:rPr>
              <a:t>       3.1.3 Technology parameter (battery charge/discharge speed limit, efficiency)</a:t>
            </a:r>
          </a:p>
          <a:p>
            <a:r>
              <a:rPr kumimoji="1" lang="en-US" altLang="ja-JP" sz="1200" dirty="0">
                <a:solidFill>
                  <a:schemeClr val="tx1">
                    <a:lumMod val="20000"/>
                    <a:lumOff val="80000"/>
                  </a:schemeClr>
                </a:solidFill>
              </a:rPr>
              <a:t>3.2 Step 2: </a:t>
            </a:r>
            <a:r>
              <a:rPr lang="en-US" altLang="ja-JP" sz="1200" dirty="0">
                <a:solidFill>
                  <a:schemeClr val="tx1">
                    <a:lumMod val="20000"/>
                    <a:lumOff val="80000"/>
                  </a:schemeClr>
                </a:solidFill>
              </a:rPr>
              <a:t>Model construction </a:t>
            </a:r>
            <a:r>
              <a:rPr kumimoji="1" lang="en-US" altLang="ja-JP" sz="1200" dirty="0">
                <a:solidFill>
                  <a:schemeClr val="tx1">
                    <a:lumMod val="20000"/>
                    <a:lumOff val="80000"/>
                  </a:schemeClr>
                </a:solidFill>
              </a:rPr>
              <a:t>	</a:t>
            </a:r>
          </a:p>
          <a:p>
            <a:r>
              <a:rPr kumimoji="1" lang="en-US" altLang="ja-JP" sz="1200" dirty="0">
                <a:solidFill>
                  <a:schemeClr val="tx1">
                    <a:lumMod val="20000"/>
                    <a:lumOff val="80000"/>
                  </a:schemeClr>
                </a:solidFill>
              </a:rPr>
              <a:t>       3.2.1 Generate agent</a:t>
            </a:r>
          </a:p>
          <a:p>
            <a:r>
              <a:rPr kumimoji="1" lang="en-US" altLang="ja-JP" sz="1200" dirty="0">
                <a:solidFill>
                  <a:schemeClr val="tx1">
                    <a:lumMod val="20000"/>
                    <a:lumOff val="80000"/>
                  </a:schemeClr>
                </a:solidFill>
              </a:rPr>
              <a:t>       3.2.2 Design P2P energy trading model</a:t>
            </a:r>
          </a:p>
          <a:p>
            <a:r>
              <a:rPr kumimoji="1" lang="en-US" altLang="ja-JP" sz="1200" dirty="0">
                <a:solidFill>
                  <a:schemeClr val="tx1">
                    <a:lumMod val="20000"/>
                    <a:lumOff val="80000"/>
                  </a:schemeClr>
                </a:solidFill>
              </a:rPr>
              <a:t>3.3 Step 3: Train agents</a:t>
            </a:r>
          </a:p>
          <a:p>
            <a:r>
              <a:rPr kumimoji="1" lang="en-US" altLang="ja-JP" sz="1200" dirty="0">
                <a:solidFill>
                  <a:schemeClr val="tx1">
                    <a:lumMod val="20000"/>
                    <a:lumOff val="80000"/>
                  </a:schemeClr>
                </a:solidFill>
              </a:rPr>
              <a:t>       3.3.1 Q table</a:t>
            </a:r>
          </a:p>
          <a:p>
            <a:r>
              <a:rPr kumimoji="1" lang="en-US" altLang="ja-JP" sz="1200" dirty="0">
                <a:solidFill>
                  <a:schemeClr val="tx1">
                    <a:lumMod val="20000"/>
                    <a:lumOff val="80000"/>
                  </a:schemeClr>
                </a:solidFill>
              </a:rPr>
              <a:t>       3.3.2 Reward</a:t>
            </a:r>
          </a:p>
          <a:p>
            <a:endParaRPr kumimoji="1" lang="en-US" altLang="ja-JP" sz="1200" dirty="0">
              <a:solidFill>
                <a:schemeClr val="tx1">
                  <a:lumMod val="20000"/>
                  <a:lumOff val="80000"/>
                </a:schemeClr>
              </a:solidFill>
            </a:endParaRPr>
          </a:p>
          <a:p>
            <a:r>
              <a:rPr kumimoji="1" lang="en-US" altLang="ja-JP" dirty="0">
                <a:solidFill>
                  <a:schemeClr val="tx1">
                    <a:lumMod val="20000"/>
                    <a:lumOff val="80000"/>
                  </a:schemeClr>
                </a:solidFill>
              </a:rPr>
              <a:t>4. Results and analysis</a:t>
            </a:r>
          </a:p>
          <a:p>
            <a:endParaRPr kumimoji="1" lang="en-US" altLang="ja-JP" dirty="0"/>
          </a:p>
          <a:p>
            <a:r>
              <a:rPr kumimoji="1" lang="en-US" altLang="ja-JP" dirty="0"/>
              <a:t>5. Summary and future work</a:t>
            </a:r>
          </a:p>
          <a:p>
            <a:endParaRPr kumimoji="1" lang="ja-JP" altLang="en-US" dirty="0"/>
          </a:p>
        </p:txBody>
      </p:sp>
      <p:sp>
        <p:nvSpPr>
          <p:cNvPr id="3" name="コンテンツ プレースホルダー 2">
            <a:extLst>
              <a:ext uri="{FF2B5EF4-FFF2-40B4-BE49-F238E27FC236}">
                <a16:creationId xmlns:a16="http://schemas.microsoft.com/office/drawing/2014/main" id="{8144E4AA-4DE2-6001-26C0-0276D6F2A954}"/>
              </a:ext>
            </a:extLst>
          </p:cNvPr>
          <p:cNvSpPr>
            <a:spLocks noGrp="1"/>
          </p:cNvSpPr>
          <p:nvPr>
            <p:ph sz="quarter" idx="16"/>
          </p:nvPr>
        </p:nvSpPr>
        <p:spPr/>
        <p:txBody>
          <a:bodyPr/>
          <a:lstStyle/>
          <a:p>
            <a:r>
              <a:rPr kumimoji="1" lang="en-US" altLang="ja-JP" dirty="0"/>
              <a:t>CONTENT</a:t>
            </a:r>
            <a:endParaRPr kumimoji="1" lang="ja-JP" altLang="en-US" dirty="0"/>
          </a:p>
        </p:txBody>
      </p:sp>
    </p:spTree>
    <p:extLst>
      <p:ext uri="{BB962C8B-B14F-4D97-AF65-F5344CB8AC3E}">
        <p14:creationId xmlns:p14="http://schemas.microsoft.com/office/powerpoint/2010/main" val="232055743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コンテンツ プレースホルダー 1">
            <a:extLst>
              <a:ext uri="{FF2B5EF4-FFF2-40B4-BE49-F238E27FC236}">
                <a16:creationId xmlns:a16="http://schemas.microsoft.com/office/drawing/2014/main" id="{EFE4E9CA-AEFA-7701-BB4A-0C9A424804B1}"/>
              </a:ext>
            </a:extLst>
          </p:cNvPr>
          <p:cNvSpPr>
            <a:spLocks noGrp="1"/>
          </p:cNvSpPr>
          <p:nvPr>
            <p:ph sz="quarter" idx="17"/>
          </p:nvPr>
        </p:nvSpPr>
        <p:spPr>
          <a:xfrm>
            <a:off x="569340" y="813543"/>
            <a:ext cx="8767320" cy="5684623"/>
          </a:xfrm>
        </p:spPr>
        <p:txBody>
          <a:bodyPr/>
          <a:lstStyle/>
          <a:p>
            <a:r>
              <a:rPr kumimoji="1" lang="en-US" altLang="ja-JP" sz="1600" dirty="0"/>
              <a:t>An autonomous decentralized energy system by using bidding is proposed.</a:t>
            </a:r>
          </a:p>
          <a:p>
            <a:endParaRPr kumimoji="1" lang="en-US" altLang="ja-JP" sz="1600" dirty="0"/>
          </a:p>
          <a:p>
            <a:r>
              <a:rPr kumimoji="1" lang="en-US" altLang="ja-JP" dirty="0"/>
              <a:t>P2P energy trade community boosts the utilization of PV panels and increase the energy self sufficiency rate. </a:t>
            </a:r>
          </a:p>
          <a:p>
            <a:endParaRPr kumimoji="1" lang="en-US" altLang="ja-JP" sz="1600" dirty="0"/>
          </a:p>
          <a:p>
            <a:r>
              <a:rPr kumimoji="1" lang="en-US" altLang="ja-JP" dirty="0"/>
              <a:t>EV connection to energy system decrease the total cost of each agent.</a:t>
            </a:r>
          </a:p>
          <a:p>
            <a:endParaRPr kumimoji="1" lang="en-US" altLang="ja-JP" dirty="0"/>
          </a:p>
          <a:p>
            <a:r>
              <a:rPr kumimoji="1" lang="en-US" altLang="ja-JP" dirty="0"/>
              <a:t>Installation of PV decrease the total cost of energy with P2P energy trade.</a:t>
            </a:r>
          </a:p>
          <a:p>
            <a:endParaRPr kumimoji="1" lang="en-US" altLang="ja-JP" dirty="0"/>
          </a:p>
          <a:p>
            <a:r>
              <a:rPr kumimoji="1" lang="en-US" altLang="ja-JP" dirty="0"/>
              <a:t>The best facility combination is to install only PV and do DR.</a:t>
            </a:r>
          </a:p>
          <a:p>
            <a:endParaRPr kumimoji="1" lang="en-US" altLang="ja-JP" sz="1600" dirty="0"/>
          </a:p>
          <a:p>
            <a:r>
              <a:rPr kumimoji="1" lang="en-US" altLang="ja-JP" sz="1600" dirty="0"/>
              <a:t>There </a:t>
            </a:r>
            <a:r>
              <a:rPr kumimoji="1" lang="en-US" altLang="ja-JP" dirty="0"/>
              <a:t>is a trade-off in terms of surplus supply availability. </a:t>
            </a:r>
            <a:br>
              <a:rPr kumimoji="1" lang="en-US" altLang="ja-JP" dirty="0"/>
            </a:br>
            <a:r>
              <a:rPr kumimoji="1" lang="en-US" altLang="ja-JP" dirty="0"/>
              <a:t>P2P increase the energy usage in community</a:t>
            </a:r>
            <a:r>
              <a:rPr kumimoji="1" lang="ja-JP" altLang="en-US" dirty="0"/>
              <a:t>⇔</a:t>
            </a:r>
            <a:r>
              <a:rPr kumimoji="1" lang="en-US" altLang="ja-JP" dirty="0"/>
              <a:t>decrease surplus supply availability</a:t>
            </a:r>
            <a:endParaRPr kumimoji="1" lang="en-US" altLang="ja-JP" sz="1600" dirty="0"/>
          </a:p>
          <a:p>
            <a:endParaRPr kumimoji="1" lang="en-US" altLang="ja-JP" dirty="0"/>
          </a:p>
          <a:p>
            <a:endParaRPr kumimoji="1" lang="en-US" altLang="ja-JP" sz="1600" dirty="0"/>
          </a:p>
          <a:p>
            <a:r>
              <a:rPr kumimoji="1" lang="en-US" altLang="ja-JP" dirty="0"/>
              <a:t>Future</a:t>
            </a:r>
            <a:r>
              <a:rPr kumimoji="1" lang="en-US" altLang="ja-JP" sz="1600" dirty="0"/>
              <a:t> tasks t</a:t>
            </a:r>
            <a:r>
              <a:rPr kumimoji="1" lang="en-US" altLang="ja-JP" dirty="0"/>
              <a:t>o do:</a:t>
            </a:r>
            <a:endParaRPr kumimoji="1" lang="en-US" altLang="ja-JP" sz="1600" dirty="0"/>
          </a:p>
          <a:p>
            <a:r>
              <a:rPr kumimoji="1" lang="en-US" altLang="ja-JP" sz="1600" dirty="0"/>
              <a:t>	Update</a:t>
            </a:r>
            <a:r>
              <a:rPr kumimoji="1" lang="en-US" altLang="ja-JP" dirty="0"/>
              <a:t> the model: Agents choose facility to maximize their reward.</a:t>
            </a:r>
            <a:endParaRPr kumimoji="1" lang="en-US" altLang="ja-JP" sz="1600" dirty="0"/>
          </a:p>
        </p:txBody>
      </p:sp>
      <p:sp>
        <p:nvSpPr>
          <p:cNvPr id="3" name="コンテンツ プレースホルダー 2">
            <a:extLst>
              <a:ext uri="{FF2B5EF4-FFF2-40B4-BE49-F238E27FC236}">
                <a16:creationId xmlns:a16="http://schemas.microsoft.com/office/drawing/2014/main" id="{0EF6C6E4-6D25-5300-1A81-4E308DB2682F}"/>
              </a:ext>
            </a:extLst>
          </p:cNvPr>
          <p:cNvSpPr>
            <a:spLocks noGrp="1"/>
          </p:cNvSpPr>
          <p:nvPr>
            <p:ph sz="quarter" idx="16"/>
          </p:nvPr>
        </p:nvSpPr>
        <p:spPr/>
        <p:txBody>
          <a:bodyPr/>
          <a:lstStyle/>
          <a:p>
            <a:r>
              <a:rPr kumimoji="1" lang="en-US" altLang="ja-JP" dirty="0"/>
              <a:t>Summary and future work</a:t>
            </a:r>
            <a:endParaRPr kumimoji="1" lang="ja-JP" altLang="en-US" dirty="0"/>
          </a:p>
        </p:txBody>
      </p:sp>
    </p:spTree>
    <p:extLst>
      <p:ext uri="{BB962C8B-B14F-4D97-AF65-F5344CB8AC3E}">
        <p14:creationId xmlns:p14="http://schemas.microsoft.com/office/powerpoint/2010/main" val="141090061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3" name="直線コネクタ 42">
            <a:extLst>
              <a:ext uri="{FF2B5EF4-FFF2-40B4-BE49-F238E27FC236}">
                <a16:creationId xmlns:a16="http://schemas.microsoft.com/office/drawing/2014/main" id="{B0318953-FE75-F232-CC15-0EEEDCC0DE3B}"/>
              </a:ext>
            </a:extLst>
          </p:cNvPr>
          <p:cNvCxnSpPr>
            <a:cxnSpLocks/>
          </p:cNvCxnSpPr>
          <p:nvPr/>
        </p:nvCxnSpPr>
        <p:spPr>
          <a:xfrm>
            <a:off x="3573310" y="2169151"/>
            <a:ext cx="0" cy="3388407"/>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8" name="直線コネクタ 27">
            <a:extLst>
              <a:ext uri="{FF2B5EF4-FFF2-40B4-BE49-F238E27FC236}">
                <a16:creationId xmlns:a16="http://schemas.microsoft.com/office/drawing/2014/main" id="{A382BC15-0100-1952-E16F-BA324471706A}"/>
              </a:ext>
            </a:extLst>
          </p:cNvPr>
          <p:cNvCxnSpPr>
            <a:cxnSpLocks/>
          </p:cNvCxnSpPr>
          <p:nvPr/>
        </p:nvCxnSpPr>
        <p:spPr>
          <a:xfrm>
            <a:off x="4032885" y="2169151"/>
            <a:ext cx="0" cy="3578408"/>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sp>
        <p:nvSpPr>
          <p:cNvPr id="3" name="コンテンツ プレースホルダー 2">
            <a:extLst>
              <a:ext uri="{FF2B5EF4-FFF2-40B4-BE49-F238E27FC236}">
                <a16:creationId xmlns:a16="http://schemas.microsoft.com/office/drawing/2014/main" id="{F7238563-1FBD-79CB-8A52-A1805A490C61}"/>
              </a:ext>
            </a:extLst>
          </p:cNvPr>
          <p:cNvSpPr>
            <a:spLocks noGrp="1"/>
          </p:cNvSpPr>
          <p:nvPr>
            <p:ph sz="quarter" idx="16"/>
          </p:nvPr>
        </p:nvSpPr>
        <p:spPr/>
        <p:txBody>
          <a:bodyPr/>
          <a:lstStyle/>
          <a:p>
            <a:r>
              <a:rPr kumimoji="1" lang="en-US" altLang="ja-JP" dirty="0"/>
              <a:t>Summary and future work</a:t>
            </a:r>
            <a:endParaRPr kumimoji="1" lang="ja-JP" altLang="en-US" dirty="0"/>
          </a:p>
        </p:txBody>
      </p:sp>
      <p:cxnSp>
        <p:nvCxnSpPr>
          <p:cNvPr id="5" name="直線コネクタ 4">
            <a:extLst>
              <a:ext uri="{FF2B5EF4-FFF2-40B4-BE49-F238E27FC236}">
                <a16:creationId xmlns:a16="http://schemas.microsoft.com/office/drawing/2014/main" id="{0BDBD8A1-82EF-253A-A140-2A15DD28A26F}"/>
              </a:ext>
            </a:extLst>
          </p:cNvPr>
          <p:cNvCxnSpPr>
            <a:cxnSpLocks/>
          </p:cNvCxnSpPr>
          <p:nvPr/>
        </p:nvCxnSpPr>
        <p:spPr>
          <a:xfrm>
            <a:off x="3200752" y="2203886"/>
            <a:ext cx="0" cy="3440013"/>
          </a:xfrm>
          <a:prstGeom prst="line">
            <a:avLst/>
          </a:prstGeom>
          <a:ln>
            <a:solidFill>
              <a:schemeClr val="accent1"/>
            </a:solidFill>
            <a:prstDash val="dash"/>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1803BE7B-6C0E-9E41-1022-A87BB35FB77A}"/>
              </a:ext>
            </a:extLst>
          </p:cNvPr>
          <p:cNvCxnSpPr>
            <a:cxnSpLocks/>
          </p:cNvCxnSpPr>
          <p:nvPr/>
        </p:nvCxnSpPr>
        <p:spPr>
          <a:xfrm>
            <a:off x="3935004" y="2203886"/>
            <a:ext cx="0" cy="3440013"/>
          </a:xfrm>
          <a:prstGeom prst="line">
            <a:avLst/>
          </a:prstGeom>
          <a:ln>
            <a:solidFill>
              <a:schemeClr val="accent1"/>
            </a:solidFill>
            <a:prstDash val="dash"/>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7C3FDD2F-3073-0E96-847E-4D5796C7A4A9}"/>
              </a:ext>
            </a:extLst>
          </p:cNvPr>
          <p:cNvCxnSpPr>
            <a:cxnSpLocks/>
          </p:cNvCxnSpPr>
          <p:nvPr/>
        </p:nvCxnSpPr>
        <p:spPr>
          <a:xfrm>
            <a:off x="4688670" y="2182034"/>
            <a:ext cx="0" cy="3487818"/>
          </a:xfrm>
          <a:prstGeom prst="line">
            <a:avLst/>
          </a:prstGeom>
          <a:ln>
            <a:solidFill>
              <a:schemeClr val="accent1"/>
            </a:solidFill>
            <a:prstDash val="dash"/>
          </a:ln>
        </p:spPr>
        <p:style>
          <a:lnRef idx="1">
            <a:schemeClr val="accent1"/>
          </a:lnRef>
          <a:fillRef idx="0">
            <a:schemeClr val="accent1"/>
          </a:fillRef>
          <a:effectRef idx="0">
            <a:schemeClr val="accent1"/>
          </a:effectRef>
          <a:fontRef idx="minor">
            <a:schemeClr val="tx1"/>
          </a:fontRef>
        </p:style>
      </p:cxnSp>
      <p:sp>
        <p:nvSpPr>
          <p:cNvPr id="8" name="矢印: 山形 7">
            <a:extLst>
              <a:ext uri="{FF2B5EF4-FFF2-40B4-BE49-F238E27FC236}">
                <a16:creationId xmlns:a16="http://schemas.microsoft.com/office/drawing/2014/main" id="{7AE0690E-58F5-E158-1696-BEC3B583250C}"/>
              </a:ext>
            </a:extLst>
          </p:cNvPr>
          <p:cNvSpPr/>
          <p:nvPr/>
        </p:nvSpPr>
        <p:spPr>
          <a:xfrm>
            <a:off x="2445213" y="1706127"/>
            <a:ext cx="808333" cy="461282"/>
          </a:xfrm>
          <a:prstGeom prst="chevron">
            <a:avLst>
              <a:gd name="adj" fmla="val 21264"/>
            </a:avLst>
          </a:prstGeom>
          <a:solidFill>
            <a:schemeClr val="accent1">
              <a:lumMod val="40000"/>
              <a:lumOff val="6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kumimoji="1" lang="en-US" altLang="ja-JP" sz="1600" dirty="0">
                <a:solidFill>
                  <a:schemeClr val="tx1"/>
                </a:solidFill>
                <a:latin typeface="游ゴシック Medium" panose="020B0500000000000000" pitchFamily="50" charset="-128"/>
                <a:ea typeface="游ゴシック Medium" panose="020B0500000000000000" pitchFamily="50" charset="-128"/>
                <a:cs typeface="Arial" panose="020B0604020202020204" pitchFamily="34" charset="0"/>
              </a:rPr>
              <a:t>Oct.</a:t>
            </a:r>
            <a:endParaRPr kumimoji="1" lang="ja-JP" altLang="en-US" sz="1600" dirty="0">
              <a:solidFill>
                <a:schemeClr val="tx1"/>
              </a:solidFill>
              <a:latin typeface="游ゴシック Medium" panose="020B0500000000000000" pitchFamily="50" charset="-128"/>
              <a:ea typeface="游ゴシック Medium" panose="020B0500000000000000" pitchFamily="50" charset="-128"/>
              <a:cs typeface="Arial" panose="020B0604020202020204" pitchFamily="34" charset="0"/>
            </a:endParaRPr>
          </a:p>
        </p:txBody>
      </p:sp>
      <p:sp>
        <p:nvSpPr>
          <p:cNvPr id="9" name="矢印: 山形 8">
            <a:extLst>
              <a:ext uri="{FF2B5EF4-FFF2-40B4-BE49-F238E27FC236}">
                <a16:creationId xmlns:a16="http://schemas.microsoft.com/office/drawing/2014/main" id="{AC7D5D5A-B6C0-455E-A7A2-FC7E8E1E7E3C}"/>
              </a:ext>
            </a:extLst>
          </p:cNvPr>
          <p:cNvSpPr/>
          <p:nvPr/>
        </p:nvSpPr>
        <p:spPr>
          <a:xfrm>
            <a:off x="3212976" y="1706127"/>
            <a:ext cx="808333" cy="461282"/>
          </a:xfrm>
          <a:prstGeom prst="chevron">
            <a:avLst>
              <a:gd name="adj" fmla="val 21264"/>
            </a:avLst>
          </a:prstGeom>
          <a:solidFill>
            <a:schemeClr val="accent1">
              <a:lumMod val="40000"/>
              <a:lumOff val="6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kumimoji="1" lang="en-US" altLang="ja-JP" sz="1600" dirty="0">
                <a:solidFill>
                  <a:schemeClr val="tx1"/>
                </a:solidFill>
                <a:latin typeface="游ゴシック Medium" panose="020B0500000000000000" pitchFamily="50" charset="-128"/>
                <a:ea typeface="游ゴシック Medium" panose="020B0500000000000000" pitchFamily="50" charset="-128"/>
                <a:cs typeface="Arial" panose="020B0604020202020204" pitchFamily="34" charset="0"/>
              </a:rPr>
              <a:t>Nov.</a:t>
            </a:r>
            <a:endParaRPr kumimoji="1" lang="ja-JP" altLang="en-US" sz="1600" dirty="0">
              <a:solidFill>
                <a:schemeClr val="tx1"/>
              </a:solidFill>
              <a:latin typeface="游ゴシック Medium" panose="020B0500000000000000" pitchFamily="50" charset="-128"/>
              <a:ea typeface="游ゴシック Medium" panose="020B0500000000000000" pitchFamily="50" charset="-128"/>
              <a:cs typeface="Arial" panose="020B0604020202020204" pitchFamily="34" charset="0"/>
            </a:endParaRPr>
          </a:p>
        </p:txBody>
      </p:sp>
      <p:sp>
        <p:nvSpPr>
          <p:cNvPr id="10" name="矢印: 山形 9">
            <a:extLst>
              <a:ext uri="{FF2B5EF4-FFF2-40B4-BE49-F238E27FC236}">
                <a16:creationId xmlns:a16="http://schemas.microsoft.com/office/drawing/2014/main" id="{E32CEDBB-0138-6196-CAC5-8C66CDE35F49}"/>
              </a:ext>
            </a:extLst>
          </p:cNvPr>
          <p:cNvSpPr/>
          <p:nvPr/>
        </p:nvSpPr>
        <p:spPr>
          <a:xfrm>
            <a:off x="3970271" y="1704385"/>
            <a:ext cx="808333" cy="461282"/>
          </a:xfrm>
          <a:prstGeom prst="chevron">
            <a:avLst>
              <a:gd name="adj" fmla="val 21264"/>
            </a:avLst>
          </a:prstGeom>
          <a:solidFill>
            <a:schemeClr val="accent1">
              <a:lumMod val="40000"/>
              <a:lumOff val="6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kumimoji="1" lang="en-US" altLang="ja-JP" sz="1600" dirty="0">
                <a:solidFill>
                  <a:schemeClr val="tx1"/>
                </a:solidFill>
                <a:latin typeface="游ゴシック Medium" panose="020B0500000000000000" pitchFamily="50" charset="-128"/>
                <a:ea typeface="游ゴシック Medium" panose="020B0500000000000000" pitchFamily="50" charset="-128"/>
                <a:cs typeface="Arial" panose="020B0604020202020204" pitchFamily="34" charset="0"/>
              </a:rPr>
              <a:t>Dec.</a:t>
            </a:r>
            <a:endParaRPr kumimoji="1" lang="ja-JP" altLang="en-US" sz="1600" dirty="0">
              <a:solidFill>
                <a:schemeClr val="tx1"/>
              </a:solidFill>
              <a:latin typeface="游ゴシック Medium" panose="020B0500000000000000" pitchFamily="50" charset="-128"/>
              <a:ea typeface="游ゴシック Medium" panose="020B0500000000000000" pitchFamily="50" charset="-128"/>
              <a:cs typeface="Arial" panose="020B0604020202020204" pitchFamily="34" charset="0"/>
            </a:endParaRPr>
          </a:p>
        </p:txBody>
      </p:sp>
      <p:cxnSp>
        <p:nvCxnSpPr>
          <p:cNvPr id="13" name="直線コネクタ 12">
            <a:extLst>
              <a:ext uri="{FF2B5EF4-FFF2-40B4-BE49-F238E27FC236}">
                <a16:creationId xmlns:a16="http://schemas.microsoft.com/office/drawing/2014/main" id="{DC8E3F95-BD6F-DAB4-FFB4-E427C0017BDD}"/>
              </a:ext>
            </a:extLst>
          </p:cNvPr>
          <p:cNvCxnSpPr>
            <a:cxnSpLocks/>
          </p:cNvCxnSpPr>
          <p:nvPr/>
        </p:nvCxnSpPr>
        <p:spPr>
          <a:xfrm>
            <a:off x="5458636" y="2203886"/>
            <a:ext cx="0" cy="3440013"/>
          </a:xfrm>
          <a:prstGeom prst="line">
            <a:avLst/>
          </a:prstGeom>
          <a:ln>
            <a:solidFill>
              <a:schemeClr val="accent1"/>
            </a:solidFill>
            <a:prstDash val="dash"/>
          </a:ln>
        </p:spPr>
        <p:style>
          <a:lnRef idx="1">
            <a:schemeClr val="accent1"/>
          </a:lnRef>
          <a:fillRef idx="0">
            <a:schemeClr val="accent1"/>
          </a:fillRef>
          <a:effectRef idx="0">
            <a:schemeClr val="accent1"/>
          </a:effectRef>
          <a:fontRef idx="minor">
            <a:schemeClr val="tx1"/>
          </a:fontRef>
        </p:style>
      </p:cxnSp>
      <p:cxnSp>
        <p:nvCxnSpPr>
          <p:cNvPr id="14" name="直線コネクタ 13">
            <a:extLst>
              <a:ext uri="{FF2B5EF4-FFF2-40B4-BE49-F238E27FC236}">
                <a16:creationId xmlns:a16="http://schemas.microsoft.com/office/drawing/2014/main" id="{7A7FBA2D-B931-8570-4E6C-23CB10443133}"/>
              </a:ext>
            </a:extLst>
          </p:cNvPr>
          <p:cNvCxnSpPr>
            <a:cxnSpLocks/>
          </p:cNvCxnSpPr>
          <p:nvPr/>
        </p:nvCxnSpPr>
        <p:spPr>
          <a:xfrm>
            <a:off x="7004254" y="2194526"/>
            <a:ext cx="0" cy="3449373"/>
          </a:xfrm>
          <a:prstGeom prst="line">
            <a:avLst/>
          </a:prstGeom>
          <a:ln>
            <a:solidFill>
              <a:schemeClr val="accent1"/>
            </a:solidFill>
            <a:prstDash val="dash"/>
          </a:ln>
        </p:spPr>
        <p:style>
          <a:lnRef idx="1">
            <a:schemeClr val="accent1"/>
          </a:lnRef>
          <a:fillRef idx="0">
            <a:schemeClr val="accent1"/>
          </a:fillRef>
          <a:effectRef idx="0">
            <a:schemeClr val="accent1"/>
          </a:effectRef>
          <a:fontRef idx="minor">
            <a:schemeClr val="tx1"/>
          </a:fontRef>
        </p:style>
      </p:cxnSp>
      <p:sp>
        <p:nvSpPr>
          <p:cNvPr id="17" name="矢印: 山形 16">
            <a:extLst>
              <a:ext uri="{FF2B5EF4-FFF2-40B4-BE49-F238E27FC236}">
                <a16:creationId xmlns:a16="http://schemas.microsoft.com/office/drawing/2014/main" id="{913DC00E-65AD-78A9-D9BA-5A597261C121}"/>
              </a:ext>
            </a:extLst>
          </p:cNvPr>
          <p:cNvSpPr/>
          <p:nvPr/>
        </p:nvSpPr>
        <p:spPr>
          <a:xfrm>
            <a:off x="6248715" y="1696767"/>
            <a:ext cx="808333" cy="461282"/>
          </a:xfrm>
          <a:prstGeom prst="chevron">
            <a:avLst>
              <a:gd name="adj" fmla="val 21264"/>
            </a:avLst>
          </a:prstGeom>
          <a:solidFill>
            <a:schemeClr val="accent1">
              <a:lumMod val="40000"/>
              <a:lumOff val="6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kumimoji="1" lang="en-US" altLang="ja-JP" sz="1600" dirty="0">
                <a:solidFill>
                  <a:schemeClr val="tx1"/>
                </a:solidFill>
                <a:latin typeface="游ゴシック Medium" panose="020B0500000000000000" pitchFamily="50" charset="-128"/>
                <a:ea typeface="游ゴシック Medium" panose="020B0500000000000000" pitchFamily="50" charset="-128"/>
                <a:cs typeface="Arial" panose="020B0604020202020204" pitchFamily="34" charset="0"/>
              </a:rPr>
              <a:t>Mar.</a:t>
            </a:r>
            <a:endParaRPr kumimoji="1" lang="ja-JP" altLang="en-US" sz="1600" dirty="0">
              <a:solidFill>
                <a:schemeClr val="tx1"/>
              </a:solidFill>
              <a:latin typeface="游ゴシック Medium" panose="020B0500000000000000" pitchFamily="50" charset="-128"/>
              <a:ea typeface="游ゴシック Medium" panose="020B0500000000000000" pitchFamily="50" charset="-128"/>
              <a:cs typeface="Arial" panose="020B0604020202020204" pitchFamily="34" charset="0"/>
            </a:endParaRPr>
          </a:p>
        </p:txBody>
      </p:sp>
      <p:sp>
        <p:nvSpPr>
          <p:cNvPr id="20" name="矢印: 山形 19">
            <a:extLst>
              <a:ext uri="{FF2B5EF4-FFF2-40B4-BE49-F238E27FC236}">
                <a16:creationId xmlns:a16="http://schemas.microsoft.com/office/drawing/2014/main" id="{9C3B8A77-63F2-1E55-CF35-85C414894E39}"/>
              </a:ext>
            </a:extLst>
          </p:cNvPr>
          <p:cNvSpPr/>
          <p:nvPr/>
        </p:nvSpPr>
        <p:spPr>
          <a:xfrm>
            <a:off x="4738034" y="1700624"/>
            <a:ext cx="808333" cy="461282"/>
          </a:xfrm>
          <a:prstGeom prst="chevron">
            <a:avLst>
              <a:gd name="adj" fmla="val 21264"/>
            </a:avLst>
          </a:prstGeom>
          <a:solidFill>
            <a:schemeClr val="accent1">
              <a:lumMod val="40000"/>
              <a:lumOff val="6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kumimoji="1" lang="en-US" altLang="ja-JP" sz="1600" dirty="0">
                <a:solidFill>
                  <a:schemeClr val="tx1"/>
                </a:solidFill>
                <a:latin typeface="游ゴシック Medium" panose="020B0500000000000000" pitchFamily="50" charset="-128"/>
                <a:ea typeface="游ゴシック Medium" panose="020B0500000000000000" pitchFamily="50" charset="-128"/>
                <a:cs typeface="Arial" panose="020B0604020202020204" pitchFamily="34" charset="0"/>
              </a:rPr>
              <a:t>Jan.</a:t>
            </a:r>
            <a:endParaRPr kumimoji="1" lang="ja-JP" altLang="en-US" sz="1600" dirty="0">
              <a:solidFill>
                <a:schemeClr val="tx1"/>
              </a:solidFill>
              <a:latin typeface="游ゴシック Medium" panose="020B0500000000000000" pitchFamily="50" charset="-128"/>
              <a:ea typeface="游ゴシック Medium" panose="020B0500000000000000" pitchFamily="50" charset="-128"/>
              <a:cs typeface="Arial" panose="020B0604020202020204" pitchFamily="34" charset="0"/>
            </a:endParaRPr>
          </a:p>
        </p:txBody>
      </p:sp>
      <p:sp>
        <p:nvSpPr>
          <p:cNvPr id="21" name="矢印: 山形 20">
            <a:extLst>
              <a:ext uri="{FF2B5EF4-FFF2-40B4-BE49-F238E27FC236}">
                <a16:creationId xmlns:a16="http://schemas.microsoft.com/office/drawing/2014/main" id="{3CC0B997-6D8B-A7D3-45E4-27F026476831}"/>
              </a:ext>
            </a:extLst>
          </p:cNvPr>
          <p:cNvSpPr/>
          <p:nvPr/>
        </p:nvSpPr>
        <p:spPr>
          <a:xfrm>
            <a:off x="5490112" y="1697205"/>
            <a:ext cx="808333" cy="461282"/>
          </a:xfrm>
          <a:prstGeom prst="chevron">
            <a:avLst>
              <a:gd name="adj" fmla="val 21264"/>
            </a:avLst>
          </a:prstGeom>
          <a:solidFill>
            <a:schemeClr val="accent1">
              <a:lumMod val="40000"/>
              <a:lumOff val="6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kumimoji="1" lang="en-US" altLang="ja-JP" sz="1600" dirty="0">
                <a:solidFill>
                  <a:schemeClr val="tx1"/>
                </a:solidFill>
                <a:latin typeface="游ゴシック Medium" panose="020B0500000000000000" pitchFamily="50" charset="-128"/>
                <a:ea typeface="游ゴシック Medium" panose="020B0500000000000000" pitchFamily="50" charset="-128"/>
                <a:cs typeface="Arial" panose="020B0604020202020204" pitchFamily="34" charset="0"/>
              </a:rPr>
              <a:t>Feb.</a:t>
            </a:r>
            <a:endParaRPr kumimoji="1" lang="ja-JP" altLang="en-US" sz="1600" dirty="0">
              <a:solidFill>
                <a:schemeClr val="tx1"/>
              </a:solidFill>
              <a:latin typeface="游ゴシック Medium" panose="020B0500000000000000" pitchFamily="50" charset="-128"/>
              <a:ea typeface="游ゴシック Medium" panose="020B0500000000000000" pitchFamily="50" charset="-128"/>
              <a:cs typeface="Arial" panose="020B0604020202020204" pitchFamily="34" charset="0"/>
            </a:endParaRPr>
          </a:p>
        </p:txBody>
      </p:sp>
      <p:cxnSp>
        <p:nvCxnSpPr>
          <p:cNvPr id="23" name="直線コネクタ 22">
            <a:extLst>
              <a:ext uri="{FF2B5EF4-FFF2-40B4-BE49-F238E27FC236}">
                <a16:creationId xmlns:a16="http://schemas.microsoft.com/office/drawing/2014/main" id="{D9F8044B-A63A-68C5-76E5-27D3169E830F}"/>
              </a:ext>
            </a:extLst>
          </p:cNvPr>
          <p:cNvCxnSpPr>
            <a:cxnSpLocks/>
          </p:cNvCxnSpPr>
          <p:nvPr/>
        </p:nvCxnSpPr>
        <p:spPr>
          <a:xfrm>
            <a:off x="6249726" y="2203886"/>
            <a:ext cx="0" cy="3440013"/>
          </a:xfrm>
          <a:prstGeom prst="line">
            <a:avLst/>
          </a:prstGeom>
          <a:ln>
            <a:solidFill>
              <a:schemeClr val="accent1"/>
            </a:solidFill>
            <a:prstDash val="dash"/>
          </a:ln>
        </p:spPr>
        <p:style>
          <a:lnRef idx="1">
            <a:schemeClr val="accent1"/>
          </a:lnRef>
          <a:fillRef idx="0">
            <a:schemeClr val="accent1"/>
          </a:fillRef>
          <a:effectRef idx="0">
            <a:schemeClr val="accent1"/>
          </a:effectRef>
          <a:fontRef idx="minor">
            <a:schemeClr val="tx1"/>
          </a:fontRef>
        </p:style>
      </p:cxnSp>
      <p:sp>
        <p:nvSpPr>
          <p:cNvPr id="24" name="テキスト ボックス 21">
            <a:extLst>
              <a:ext uri="{FF2B5EF4-FFF2-40B4-BE49-F238E27FC236}">
                <a16:creationId xmlns:a16="http://schemas.microsoft.com/office/drawing/2014/main" id="{C69D7320-6A5C-093D-F53D-CD44C10CFA37}"/>
              </a:ext>
            </a:extLst>
          </p:cNvPr>
          <p:cNvSpPr txBox="1"/>
          <p:nvPr/>
        </p:nvSpPr>
        <p:spPr>
          <a:xfrm>
            <a:off x="1799087" y="1813686"/>
            <a:ext cx="1028700" cy="338554"/>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kumimoji="1" lang="en-US" altLang="ja-JP" sz="1600" dirty="0">
                <a:latin typeface="游ゴシック Medium" panose="020B0500000000000000" pitchFamily="50" charset="-128"/>
                <a:ea typeface="游ゴシック Medium" panose="020B0500000000000000" pitchFamily="50" charset="-128"/>
              </a:rPr>
              <a:t>2024</a:t>
            </a:r>
            <a:endParaRPr kumimoji="1" lang="ja-JP" altLang="en-US" sz="1600" dirty="0">
              <a:latin typeface="游ゴシック Medium" panose="020B0500000000000000" pitchFamily="50" charset="-128"/>
              <a:ea typeface="游ゴシック Medium" panose="020B0500000000000000" pitchFamily="50" charset="-128"/>
            </a:endParaRPr>
          </a:p>
        </p:txBody>
      </p:sp>
      <p:sp>
        <p:nvSpPr>
          <p:cNvPr id="25" name="矢印: 山形 24">
            <a:extLst>
              <a:ext uri="{FF2B5EF4-FFF2-40B4-BE49-F238E27FC236}">
                <a16:creationId xmlns:a16="http://schemas.microsoft.com/office/drawing/2014/main" id="{E887669F-A60A-6F02-AB1A-884BE932E884}"/>
              </a:ext>
            </a:extLst>
          </p:cNvPr>
          <p:cNvSpPr/>
          <p:nvPr/>
        </p:nvSpPr>
        <p:spPr>
          <a:xfrm>
            <a:off x="2318657" y="2295122"/>
            <a:ext cx="871957" cy="551489"/>
          </a:xfrm>
          <a:prstGeom prst="chevron">
            <a:avLst>
              <a:gd name="adj" fmla="val 21264"/>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buClr>
                <a:schemeClr val="accent1"/>
              </a:buClr>
            </a:pPr>
            <a:endParaRPr kumimoji="1" lang="en-US" altLang="ja-JP" sz="700" dirty="0">
              <a:solidFill>
                <a:schemeClr val="tx1"/>
              </a:solidFill>
              <a:latin typeface="游ゴシック Medium" panose="020B0500000000000000" pitchFamily="50" charset="-128"/>
              <a:ea typeface="游ゴシック Medium" panose="020B0500000000000000" pitchFamily="50" charset="-128"/>
              <a:cs typeface="Arial" panose="020B0604020202020204" pitchFamily="34" charset="0"/>
            </a:endParaRPr>
          </a:p>
        </p:txBody>
      </p:sp>
      <p:sp>
        <p:nvSpPr>
          <p:cNvPr id="27" name="テキスト ボックス 33">
            <a:extLst>
              <a:ext uri="{FF2B5EF4-FFF2-40B4-BE49-F238E27FC236}">
                <a16:creationId xmlns:a16="http://schemas.microsoft.com/office/drawing/2014/main" id="{C82815CF-BA23-ED14-2BBD-000F5FC08112}"/>
              </a:ext>
            </a:extLst>
          </p:cNvPr>
          <p:cNvSpPr txBox="1"/>
          <p:nvPr/>
        </p:nvSpPr>
        <p:spPr>
          <a:xfrm>
            <a:off x="3611411" y="5747559"/>
            <a:ext cx="836840" cy="40011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kumimoji="1" lang="ja-JP" altLang="en-US" sz="1000" dirty="0">
                <a:solidFill>
                  <a:schemeClr val="accent2"/>
                </a:solidFill>
              </a:rPr>
              <a:t>予備審査</a:t>
            </a:r>
            <a:br>
              <a:rPr kumimoji="1" lang="en-US" altLang="ja-JP" sz="1000" dirty="0">
                <a:solidFill>
                  <a:schemeClr val="accent2"/>
                </a:solidFill>
              </a:rPr>
            </a:br>
            <a:r>
              <a:rPr kumimoji="1" lang="ja-JP" altLang="en-US" sz="1000" dirty="0">
                <a:solidFill>
                  <a:schemeClr val="accent2"/>
                </a:solidFill>
              </a:rPr>
              <a:t>エネコン前刷</a:t>
            </a:r>
          </a:p>
        </p:txBody>
      </p:sp>
      <p:cxnSp>
        <p:nvCxnSpPr>
          <p:cNvPr id="31" name="直線コネクタ 30">
            <a:extLst>
              <a:ext uri="{FF2B5EF4-FFF2-40B4-BE49-F238E27FC236}">
                <a16:creationId xmlns:a16="http://schemas.microsoft.com/office/drawing/2014/main" id="{E15A45E2-6DCB-0DF3-2AEA-F8EFFA44C57C}"/>
              </a:ext>
            </a:extLst>
          </p:cNvPr>
          <p:cNvCxnSpPr>
            <a:cxnSpLocks/>
          </p:cNvCxnSpPr>
          <p:nvPr/>
        </p:nvCxnSpPr>
        <p:spPr>
          <a:xfrm>
            <a:off x="4190728" y="2169151"/>
            <a:ext cx="0" cy="3420663"/>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sp>
        <p:nvSpPr>
          <p:cNvPr id="33" name="テキスト ボックス 33">
            <a:extLst>
              <a:ext uri="{FF2B5EF4-FFF2-40B4-BE49-F238E27FC236}">
                <a16:creationId xmlns:a16="http://schemas.microsoft.com/office/drawing/2014/main" id="{12E78110-F0DE-A134-DA54-2CA849EE3573}"/>
              </a:ext>
            </a:extLst>
          </p:cNvPr>
          <p:cNvSpPr txBox="1"/>
          <p:nvPr/>
        </p:nvSpPr>
        <p:spPr>
          <a:xfrm>
            <a:off x="3882425" y="5557558"/>
            <a:ext cx="836840" cy="246221"/>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kumimoji="1" lang="ja-JP" altLang="en-US" sz="1000" dirty="0">
                <a:solidFill>
                  <a:schemeClr val="accent2"/>
                </a:solidFill>
              </a:rPr>
              <a:t>健康診断</a:t>
            </a:r>
          </a:p>
        </p:txBody>
      </p:sp>
      <p:cxnSp>
        <p:nvCxnSpPr>
          <p:cNvPr id="34" name="直線コネクタ 33">
            <a:extLst>
              <a:ext uri="{FF2B5EF4-FFF2-40B4-BE49-F238E27FC236}">
                <a16:creationId xmlns:a16="http://schemas.microsoft.com/office/drawing/2014/main" id="{868C73D0-70B5-A999-82E4-BA8146FD0BDB}"/>
              </a:ext>
            </a:extLst>
          </p:cNvPr>
          <p:cNvCxnSpPr>
            <a:cxnSpLocks/>
          </p:cNvCxnSpPr>
          <p:nvPr/>
        </p:nvCxnSpPr>
        <p:spPr>
          <a:xfrm>
            <a:off x="5436593" y="2161906"/>
            <a:ext cx="0" cy="3585653"/>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sp>
        <p:nvSpPr>
          <p:cNvPr id="36" name="テキスト ボックス 33">
            <a:extLst>
              <a:ext uri="{FF2B5EF4-FFF2-40B4-BE49-F238E27FC236}">
                <a16:creationId xmlns:a16="http://schemas.microsoft.com/office/drawing/2014/main" id="{A052A6E4-E444-B461-EE2D-A7AA411E817E}"/>
              </a:ext>
            </a:extLst>
          </p:cNvPr>
          <p:cNvSpPr txBox="1"/>
          <p:nvPr/>
        </p:nvSpPr>
        <p:spPr>
          <a:xfrm>
            <a:off x="5018173" y="5747559"/>
            <a:ext cx="836840" cy="246221"/>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kumimoji="1" lang="ja-JP" altLang="en-US" sz="1000" dirty="0">
                <a:solidFill>
                  <a:schemeClr val="accent2"/>
                </a:solidFill>
              </a:rPr>
              <a:t>本審査</a:t>
            </a:r>
          </a:p>
        </p:txBody>
      </p:sp>
      <p:sp>
        <p:nvSpPr>
          <p:cNvPr id="40" name="テキスト ボックス 39">
            <a:extLst>
              <a:ext uri="{FF2B5EF4-FFF2-40B4-BE49-F238E27FC236}">
                <a16:creationId xmlns:a16="http://schemas.microsoft.com/office/drawing/2014/main" id="{3023B7BB-52E7-B5F6-9F65-5A713BEFF368}"/>
              </a:ext>
            </a:extLst>
          </p:cNvPr>
          <p:cNvSpPr txBox="1"/>
          <p:nvPr/>
        </p:nvSpPr>
        <p:spPr>
          <a:xfrm>
            <a:off x="2091731" y="2401589"/>
            <a:ext cx="1128022" cy="338554"/>
          </a:xfrm>
          <a:prstGeom prst="rect">
            <a:avLst/>
          </a:prstGeom>
          <a:noFill/>
        </p:spPr>
        <p:txBody>
          <a:bodyPr wrap="square">
            <a:spAutoFit/>
          </a:bodyPr>
          <a:lstStyle/>
          <a:p>
            <a:pPr algn="ctr">
              <a:buClr>
                <a:schemeClr val="accent1"/>
              </a:buClr>
            </a:pPr>
            <a:r>
              <a:rPr kumimoji="1" lang="en-US" altLang="ja-JP" sz="800" dirty="0">
                <a:solidFill>
                  <a:schemeClr val="tx1"/>
                </a:solidFill>
                <a:latin typeface="游ゴシック Medium" panose="020B0500000000000000" pitchFamily="50" charset="-128"/>
                <a:ea typeface="游ゴシック Medium" panose="020B0500000000000000" pitchFamily="50" charset="-128"/>
                <a:cs typeface="Arial" panose="020B0604020202020204" pitchFamily="34" charset="0"/>
              </a:rPr>
              <a:t>Construct a model </a:t>
            </a:r>
            <a:br>
              <a:rPr kumimoji="1" lang="en-US" altLang="ja-JP" sz="800" dirty="0">
                <a:solidFill>
                  <a:schemeClr val="tx1"/>
                </a:solidFill>
                <a:latin typeface="游ゴシック Medium" panose="020B0500000000000000" pitchFamily="50" charset="-128"/>
                <a:ea typeface="游ゴシック Medium" panose="020B0500000000000000" pitchFamily="50" charset="-128"/>
                <a:cs typeface="Arial" panose="020B0604020202020204" pitchFamily="34" charset="0"/>
              </a:rPr>
            </a:br>
            <a:r>
              <a:rPr kumimoji="1" lang="en-US" altLang="ja-JP" sz="800" dirty="0">
                <a:solidFill>
                  <a:schemeClr val="tx1"/>
                </a:solidFill>
                <a:latin typeface="游ゴシック Medium" panose="020B0500000000000000" pitchFamily="50" charset="-128"/>
                <a:ea typeface="游ゴシック Medium" panose="020B0500000000000000" pitchFamily="50" charset="-128"/>
                <a:cs typeface="Arial" panose="020B0604020202020204" pitchFamily="34" charset="0"/>
              </a:rPr>
              <a:t>without P2P trade</a:t>
            </a:r>
          </a:p>
        </p:txBody>
      </p:sp>
      <p:sp>
        <p:nvSpPr>
          <p:cNvPr id="41" name="矢印: 山形 40">
            <a:extLst>
              <a:ext uri="{FF2B5EF4-FFF2-40B4-BE49-F238E27FC236}">
                <a16:creationId xmlns:a16="http://schemas.microsoft.com/office/drawing/2014/main" id="{E0F67461-D4C6-CE07-508A-2B03063306DD}"/>
              </a:ext>
            </a:extLst>
          </p:cNvPr>
          <p:cNvSpPr/>
          <p:nvPr/>
        </p:nvSpPr>
        <p:spPr>
          <a:xfrm>
            <a:off x="3121010" y="2932934"/>
            <a:ext cx="812282" cy="551489"/>
          </a:xfrm>
          <a:prstGeom prst="chevron">
            <a:avLst>
              <a:gd name="adj" fmla="val 21264"/>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buClr>
                <a:schemeClr val="accent1"/>
              </a:buClr>
            </a:pPr>
            <a:endParaRPr kumimoji="1" lang="en-US" altLang="ja-JP" sz="700" dirty="0">
              <a:solidFill>
                <a:schemeClr val="tx1"/>
              </a:solidFill>
              <a:latin typeface="游ゴシック Medium" panose="020B0500000000000000" pitchFamily="50" charset="-128"/>
              <a:ea typeface="游ゴシック Medium" panose="020B0500000000000000" pitchFamily="50" charset="-128"/>
              <a:cs typeface="Arial" panose="020B0604020202020204" pitchFamily="34" charset="0"/>
            </a:endParaRPr>
          </a:p>
        </p:txBody>
      </p:sp>
      <p:sp>
        <p:nvSpPr>
          <p:cNvPr id="42" name="テキスト ボックス 41">
            <a:extLst>
              <a:ext uri="{FF2B5EF4-FFF2-40B4-BE49-F238E27FC236}">
                <a16:creationId xmlns:a16="http://schemas.microsoft.com/office/drawing/2014/main" id="{85729BF1-0976-5120-39D3-5B288F279778}"/>
              </a:ext>
            </a:extLst>
          </p:cNvPr>
          <p:cNvSpPr txBox="1"/>
          <p:nvPr/>
        </p:nvSpPr>
        <p:spPr>
          <a:xfrm>
            <a:off x="2835628" y="3038480"/>
            <a:ext cx="1128022" cy="338554"/>
          </a:xfrm>
          <a:prstGeom prst="rect">
            <a:avLst/>
          </a:prstGeom>
          <a:noFill/>
        </p:spPr>
        <p:txBody>
          <a:bodyPr wrap="square">
            <a:spAutoFit/>
          </a:bodyPr>
          <a:lstStyle/>
          <a:p>
            <a:pPr algn="ctr">
              <a:buClr>
                <a:schemeClr val="accent1"/>
              </a:buClr>
            </a:pPr>
            <a:r>
              <a:rPr kumimoji="1" lang="en-US" altLang="ja-JP" sz="800" dirty="0">
                <a:solidFill>
                  <a:schemeClr val="tx1"/>
                </a:solidFill>
                <a:latin typeface="游ゴシック Medium" panose="020B0500000000000000" pitchFamily="50" charset="-128"/>
                <a:ea typeface="游ゴシック Medium" panose="020B0500000000000000" pitchFamily="50" charset="-128"/>
                <a:cs typeface="Arial" panose="020B0604020202020204" pitchFamily="34" charset="0"/>
              </a:rPr>
              <a:t>Analyze &amp; Compare</a:t>
            </a:r>
            <a:br>
              <a:rPr kumimoji="1" lang="en-US" altLang="ja-JP" sz="800" dirty="0">
                <a:solidFill>
                  <a:schemeClr val="tx1"/>
                </a:solidFill>
                <a:latin typeface="游ゴシック Medium" panose="020B0500000000000000" pitchFamily="50" charset="-128"/>
                <a:ea typeface="游ゴシック Medium" panose="020B0500000000000000" pitchFamily="50" charset="-128"/>
                <a:cs typeface="Arial" panose="020B0604020202020204" pitchFamily="34" charset="0"/>
              </a:rPr>
            </a:br>
            <a:r>
              <a:rPr kumimoji="1" lang="en-US" altLang="ja-JP" sz="800" dirty="0">
                <a:solidFill>
                  <a:schemeClr val="tx1"/>
                </a:solidFill>
                <a:latin typeface="游ゴシック Medium" panose="020B0500000000000000" pitchFamily="50" charset="-128"/>
                <a:ea typeface="游ゴシック Medium" panose="020B0500000000000000" pitchFamily="50" charset="-128"/>
                <a:cs typeface="Arial" panose="020B0604020202020204" pitchFamily="34" charset="0"/>
              </a:rPr>
              <a:t>scenarios</a:t>
            </a:r>
          </a:p>
        </p:txBody>
      </p:sp>
      <p:sp>
        <p:nvSpPr>
          <p:cNvPr id="45" name="テキスト ボックス 33">
            <a:extLst>
              <a:ext uri="{FF2B5EF4-FFF2-40B4-BE49-F238E27FC236}">
                <a16:creationId xmlns:a16="http://schemas.microsoft.com/office/drawing/2014/main" id="{0887C0AB-E845-7A96-13E7-D4E9FB147E3E}"/>
              </a:ext>
            </a:extLst>
          </p:cNvPr>
          <p:cNvSpPr txBox="1"/>
          <p:nvPr/>
        </p:nvSpPr>
        <p:spPr>
          <a:xfrm>
            <a:off x="3165097" y="5557265"/>
            <a:ext cx="836840" cy="246221"/>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kumimoji="1" lang="ja-JP" altLang="en-US" sz="1000" dirty="0">
                <a:solidFill>
                  <a:schemeClr val="accent2"/>
                </a:solidFill>
              </a:rPr>
              <a:t>秋合宿</a:t>
            </a:r>
          </a:p>
        </p:txBody>
      </p:sp>
      <p:sp>
        <p:nvSpPr>
          <p:cNvPr id="46" name="矢印: 山形 45">
            <a:extLst>
              <a:ext uri="{FF2B5EF4-FFF2-40B4-BE49-F238E27FC236}">
                <a16:creationId xmlns:a16="http://schemas.microsoft.com/office/drawing/2014/main" id="{7DD26A13-5819-BC72-2B7F-72D626DCB7CE}"/>
              </a:ext>
            </a:extLst>
          </p:cNvPr>
          <p:cNvSpPr/>
          <p:nvPr/>
        </p:nvSpPr>
        <p:spPr>
          <a:xfrm>
            <a:off x="3856269" y="3583265"/>
            <a:ext cx="590348" cy="551489"/>
          </a:xfrm>
          <a:prstGeom prst="chevron">
            <a:avLst>
              <a:gd name="adj" fmla="val 21264"/>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buClr>
                <a:schemeClr val="accent1"/>
              </a:buClr>
            </a:pPr>
            <a:endParaRPr kumimoji="1" lang="en-US" altLang="ja-JP" sz="700" dirty="0">
              <a:solidFill>
                <a:schemeClr val="tx1"/>
              </a:solidFill>
              <a:latin typeface="游ゴシック Medium" panose="020B0500000000000000" pitchFamily="50" charset="-128"/>
              <a:ea typeface="游ゴシック Medium" panose="020B0500000000000000" pitchFamily="50" charset="-128"/>
              <a:cs typeface="Arial" panose="020B0604020202020204" pitchFamily="34" charset="0"/>
            </a:endParaRPr>
          </a:p>
        </p:txBody>
      </p:sp>
      <p:sp>
        <p:nvSpPr>
          <p:cNvPr id="47" name="テキスト ボックス 46">
            <a:extLst>
              <a:ext uri="{FF2B5EF4-FFF2-40B4-BE49-F238E27FC236}">
                <a16:creationId xmlns:a16="http://schemas.microsoft.com/office/drawing/2014/main" id="{E04DA784-9091-2187-D1AC-E27A73CB770D}"/>
              </a:ext>
            </a:extLst>
          </p:cNvPr>
          <p:cNvSpPr txBox="1"/>
          <p:nvPr/>
        </p:nvSpPr>
        <p:spPr>
          <a:xfrm>
            <a:off x="3600907" y="3679267"/>
            <a:ext cx="1128022" cy="338554"/>
          </a:xfrm>
          <a:prstGeom prst="rect">
            <a:avLst/>
          </a:prstGeom>
          <a:noFill/>
        </p:spPr>
        <p:txBody>
          <a:bodyPr wrap="square">
            <a:spAutoFit/>
          </a:bodyPr>
          <a:lstStyle/>
          <a:p>
            <a:pPr algn="ctr">
              <a:buClr>
                <a:schemeClr val="accent1"/>
              </a:buClr>
            </a:pPr>
            <a:r>
              <a:rPr kumimoji="1" lang="en-US" altLang="ja-JP" sz="800" dirty="0">
                <a:latin typeface="游ゴシック Medium" panose="020B0500000000000000" pitchFamily="50" charset="-128"/>
                <a:ea typeface="游ゴシック Medium" panose="020B0500000000000000" pitchFamily="50" charset="-128"/>
                <a:cs typeface="Arial" panose="020B0604020202020204" pitchFamily="34" charset="0"/>
              </a:rPr>
              <a:t>Improve</a:t>
            </a:r>
            <a:r>
              <a:rPr kumimoji="1" lang="en-US" altLang="ja-JP" sz="800" dirty="0">
                <a:solidFill>
                  <a:schemeClr val="tx1"/>
                </a:solidFill>
                <a:latin typeface="游ゴシック Medium" panose="020B0500000000000000" pitchFamily="50" charset="-128"/>
                <a:ea typeface="游ゴシック Medium" panose="020B0500000000000000" pitchFamily="50" charset="-128"/>
                <a:cs typeface="Arial" panose="020B0604020202020204" pitchFamily="34" charset="0"/>
              </a:rPr>
              <a:t> </a:t>
            </a:r>
            <a:br>
              <a:rPr kumimoji="1" lang="en-US" altLang="ja-JP" sz="800" dirty="0">
                <a:solidFill>
                  <a:schemeClr val="tx1"/>
                </a:solidFill>
                <a:latin typeface="游ゴシック Medium" panose="020B0500000000000000" pitchFamily="50" charset="-128"/>
                <a:ea typeface="游ゴシック Medium" panose="020B0500000000000000" pitchFamily="50" charset="-128"/>
                <a:cs typeface="Arial" panose="020B0604020202020204" pitchFamily="34" charset="0"/>
              </a:rPr>
            </a:br>
            <a:r>
              <a:rPr kumimoji="1" lang="en-US" altLang="ja-JP" sz="800" dirty="0">
                <a:solidFill>
                  <a:schemeClr val="tx1"/>
                </a:solidFill>
                <a:latin typeface="游ゴシック Medium" panose="020B0500000000000000" pitchFamily="50" charset="-128"/>
                <a:ea typeface="游ゴシック Medium" panose="020B0500000000000000" pitchFamily="50" charset="-128"/>
                <a:cs typeface="Arial" panose="020B0604020202020204" pitchFamily="34" charset="0"/>
              </a:rPr>
              <a:t>(Buffer)</a:t>
            </a:r>
          </a:p>
        </p:txBody>
      </p:sp>
      <p:sp>
        <p:nvSpPr>
          <p:cNvPr id="48" name="矢印: 山形 47">
            <a:extLst>
              <a:ext uri="{FF2B5EF4-FFF2-40B4-BE49-F238E27FC236}">
                <a16:creationId xmlns:a16="http://schemas.microsoft.com/office/drawing/2014/main" id="{7EB5E270-1E8E-7CD0-4701-013E224E8B10}"/>
              </a:ext>
            </a:extLst>
          </p:cNvPr>
          <p:cNvSpPr/>
          <p:nvPr/>
        </p:nvSpPr>
        <p:spPr>
          <a:xfrm>
            <a:off x="4327839" y="4253000"/>
            <a:ext cx="1387432" cy="551489"/>
          </a:xfrm>
          <a:prstGeom prst="chevron">
            <a:avLst>
              <a:gd name="adj" fmla="val 21264"/>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buClr>
                <a:schemeClr val="accent1"/>
              </a:buClr>
            </a:pPr>
            <a:endParaRPr kumimoji="1" lang="en-US" altLang="ja-JP" sz="700" dirty="0">
              <a:solidFill>
                <a:schemeClr val="tx1"/>
              </a:solidFill>
              <a:latin typeface="游ゴシック Medium" panose="020B0500000000000000" pitchFamily="50" charset="-128"/>
              <a:ea typeface="游ゴシック Medium" panose="020B0500000000000000" pitchFamily="50" charset="-128"/>
              <a:cs typeface="Arial" panose="020B0604020202020204" pitchFamily="34" charset="0"/>
            </a:endParaRPr>
          </a:p>
        </p:txBody>
      </p:sp>
      <p:sp>
        <p:nvSpPr>
          <p:cNvPr id="49" name="テキスト ボックス 48">
            <a:extLst>
              <a:ext uri="{FF2B5EF4-FFF2-40B4-BE49-F238E27FC236}">
                <a16:creationId xmlns:a16="http://schemas.microsoft.com/office/drawing/2014/main" id="{75AE0FBE-2649-3327-98BB-0354B80DA5A2}"/>
              </a:ext>
            </a:extLst>
          </p:cNvPr>
          <p:cNvSpPr txBox="1"/>
          <p:nvPr/>
        </p:nvSpPr>
        <p:spPr>
          <a:xfrm>
            <a:off x="4426430" y="4421022"/>
            <a:ext cx="1128022" cy="215444"/>
          </a:xfrm>
          <a:prstGeom prst="rect">
            <a:avLst/>
          </a:prstGeom>
          <a:noFill/>
        </p:spPr>
        <p:txBody>
          <a:bodyPr wrap="square">
            <a:spAutoFit/>
          </a:bodyPr>
          <a:lstStyle/>
          <a:p>
            <a:pPr algn="ctr">
              <a:buClr>
                <a:schemeClr val="accent1"/>
              </a:buClr>
            </a:pPr>
            <a:r>
              <a:rPr kumimoji="1" lang="en-US" altLang="ja-JP" sz="800" dirty="0">
                <a:latin typeface="游ゴシック Medium" panose="020B0500000000000000" pitchFamily="50" charset="-128"/>
                <a:ea typeface="游ゴシック Medium" panose="020B0500000000000000" pitchFamily="50" charset="-128"/>
                <a:cs typeface="Arial" panose="020B0604020202020204" pitchFamily="34" charset="0"/>
              </a:rPr>
              <a:t>Write thesis</a:t>
            </a:r>
            <a:endParaRPr kumimoji="1" lang="en-US" altLang="ja-JP" sz="800" dirty="0">
              <a:solidFill>
                <a:schemeClr val="tx1"/>
              </a:solidFill>
              <a:latin typeface="游ゴシック Medium" panose="020B0500000000000000" pitchFamily="50" charset="-128"/>
              <a:ea typeface="游ゴシック Medium" panose="020B0500000000000000" pitchFamily="50" charset="-128"/>
              <a:cs typeface="Arial" panose="020B0604020202020204" pitchFamily="34" charset="0"/>
            </a:endParaRPr>
          </a:p>
        </p:txBody>
      </p:sp>
      <p:sp>
        <p:nvSpPr>
          <p:cNvPr id="50" name="矢印: 山形 49">
            <a:extLst>
              <a:ext uri="{FF2B5EF4-FFF2-40B4-BE49-F238E27FC236}">
                <a16:creationId xmlns:a16="http://schemas.microsoft.com/office/drawing/2014/main" id="{8C940D36-87E4-2AF8-0723-7A9EB561378A}"/>
              </a:ext>
            </a:extLst>
          </p:cNvPr>
          <p:cNvSpPr/>
          <p:nvPr/>
        </p:nvSpPr>
        <p:spPr>
          <a:xfrm>
            <a:off x="5447948" y="4944138"/>
            <a:ext cx="1556305" cy="551489"/>
          </a:xfrm>
          <a:prstGeom prst="chevron">
            <a:avLst>
              <a:gd name="adj" fmla="val 21264"/>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buClr>
                <a:schemeClr val="accent1"/>
              </a:buClr>
            </a:pPr>
            <a:endParaRPr kumimoji="1" lang="en-US" altLang="ja-JP" sz="700" dirty="0">
              <a:solidFill>
                <a:schemeClr val="tx1"/>
              </a:solidFill>
              <a:latin typeface="游ゴシック Medium" panose="020B0500000000000000" pitchFamily="50" charset="-128"/>
              <a:ea typeface="游ゴシック Medium" panose="020B0500000000000000" pitchFamily="50" charset="-128"/>
              <a:cs typeface="Arial" panose="020B0604020202020204" pitchFamily="34" charset="0"/>
            </a:endParaRPr>
          </a:p>
        </p:txBody>
      </p:sp>
      <p:sp>
        <p:nvSpPr>
          <p:cNvPr id="51" name="テキスト ボックス 50">
            <a:extLst>
              <a:ext uri="{FF2B5EF4-FFF2-40B4-BE49-F238E27FC236}">
                <a16:creationId xmlns:a16="http://schemas.microsoft.com/office/drawing/2014/main" id="{24290F24-D3D1-0ED3-A7D9-8D819C9FEE7B}"/>
              </a:ext>
            </a:extLst>
          </p:cNvPr>
          <p:cNvSpPr txBox="1"/>
          <p:nvPr/>
        </p:nvSpPr>
        <p:spPr>
          <a:xfrm>
            <a:off x="5546539" y="5112160"/>
            <a:ext cx="1265321" cy="215444"/>
          </a:xfrm>
          <a:prstGeom prst="rect">
            <a:avLst/>
          </a:prstGeom>
          <a:noFill/>
        </p:spPr>
        <p:txBody>
          <a:bodyPr wrap="square">
            <a:spAutoFit/>
          </a:bodyPr>
          <a:lstStyle/>
          <a:p>
            <a:pPr algn="ctr">
              <a:buClr>
                <a:schemeClr val="accent1"/>
              </a:buClr>
            </a:pPr>
            <a:r>
              <a:rPr kumimoji="1" lang="en-US" altLang="ja-JP" sz="800" dirty="0">
                <a:latin typeface="游ゴシック Medium" panose="020B0500000000000000" pitchFamily="50" charset="-128"/>
                <a:ea typeface="游ゴシック Medium" panose="020B0500000000000000" pitchFamily="50" charset="-128"/>
                <a:cs typeface="Arial" panose="020B0604020202020204" pitchFamily="34" charset="0"/>
              </a:rPr>
              <a:t>Write paper</a:t>
            </a:r>
            <a:endParaRPr kumimoji="1" lang="en-US" altLang="ja-JP" sz="800" dirty="0">
              <a:solidFill>
                <a:schemeClr val="tx1"/>
              </a:solidFill>
              <a:latin typeface="游ゴシック Medium" panose="020B0500000000000000" pitchFamily="50" charset="-128"/>
              <a:ea typeface="游ゴシック Medium" panose="020B0500000000000000" pitchFamily="50" charset="-128"/>
              <a:cs typeface="Arial" panose="020B0604020202020204" pitchFamily="34" charset="0"/>
            </a:endParaRPr>
          </a:p>
        </p:txBody>
      </p:sp>
      <p:sp>
        <p:nvSpPr>
          <p:cNvPr id="2" name="矢印: 下 1">
            <a:extLst>
              <a:ext uri="{FF2B5EF4-FFF2-40B4-BE49-F238E27FC236}">
                <a16:creationId xmlns:a16="http://schemas.microsoft.com/office/drawing/2014/main" id="{07760EE4-902F-72EF-61FF-59EAA6B0D58F}"/>
              </a:ext>
            </a:extLst>
          </p:cNvPr>
          <p:cNvSpPr/>
          <p:nvPr/>
        </p:nvSpPr>
        <p:spPr>
          <a:xfrm>
            <a:off x="3545199" y="1215140"/>
            <a:ext cx="484632" cy="46128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テキスト ボックス 3">
            <a:extLst>
              <a:ext uri="{FF2B5EF4-FFF2-40B4-BE49-F238E27FC236}">
                <a16:creationId xmlns:a16="http://schemas.microsoft.com/office/drawing/2014/main" id="{7A45DBB8-616C-B7E4-62B6-0A183F2E3808}"/>
              </a:ext>
            </a:extLst>
          </p:cNvPr>
          <p:cNvSpPr txBox="1"/>
          <p:nvPr/>
        </p:nvSpPr>
        <p:spPr>
          <a:xfrm>
            <a:off x="3472131" y="934657"/>
            <a:ext cx="630768" cy="276999"/>
          </a:xfrm>
          <a:prstGeom prst="rect">
            <a:avLst/>
          </a:prstGeom>
          <a:noFill/>
        </p:spPr>
        <p:txBody>
          <a:bodyPr wrap="square" rtlCol="0">
            <a:spAutoFit/>
          </a:bodyPr>
          <a:lstStyle/>
          <a:p>
            <a:r>
              <a:rPr lang="en-US" altLang="ja-JP" sz="1200" dirty="0"/>
              <a:t>Today</a:t>
            </a:r>
          </a:p>
        </p:txBody>
      </p:sp>
    </p:spTree>
    <p:extLst>
      <p:ext uri="{BB962C8B-B14F-4D97-AF65-F5344CB8AC3E}">
        <p14:creationId xmlns:p14="http://schemas.microsoft.com/office/powerpoint/2010/main" val="280503716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CED8E8AC-24F4-7D88-EAA2-1A75F1D1D0CA}"/>
              </a:ext>
            </a:extLst>
          </p:cNvPr>
          <p:cNvSpPr txBox="1"/>
          <p:nvPr/>
        </p:nvSpPr>
        <p:spPr>
          <a:xfrm>
            <a:off x="1009403" y="2721114"/>
            <a:ext cx="2337499" cy="707886"/>
          </a:xfrm>
          <a:prstGeom prst="rect">
            <a:avLst/>
          </a:prstGeom>
          <a:noFill/>
        </p:spPr>
        <p:txBody>
          <a:bodyPr wrap="none" rtlCol="0">
            <a:spAutoFit/>
          </a:bodyPr>
          <a:lstStyle/>
          <a:p>
            <a:r>
              <a:rPr lang="en-US" altLang="ja-JP" sz="4000" dirty="0"/>
              <a:t>Appendix</a:t>
            </a:r>
            <a:endParaRPr lang="en-US" sz="4000" dirty="0"/>
          </a:p>
        </p:txBody>
      </p:sp>
    </p:spTree>
    <p:extLst>
      <p:ext uri="{BB962C8B-B14F-4D97-AF65-F5344CB8AC3E}">
        <p14:creationId xmlns:p14="http://schemas.microsoft.com/office/powerpoint/2010/main" val="168412512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551E08-213E-102A-FDF8-2172932F1AC3}"/>
            </a:ext>
          </a:extLst>
        </p:cNvPr>
        <p:cNvGrpSpPr/>
        <p:nvPr/>
      </p:nvGrpSpPr>
      <p:grpSpPr>
        <a:xfrm>
          <a:off x="0" y="0"/>
          <a:ext cx="0" cy="0"/>
          <a:chOff x="0" y="0"/>
          <a:chExt cx="0" cy="0"/>
        </a:xfrm>
      </p:grpSpPr>
      <p:sp>
        <p:nvSpPr>
          <p:cNvPr id="2" name="コンテンツ プレースホルダー 1">
            <a:extLst>
              <a:ext uri="{FF2B5EF4-FFF2-40B4-BE49-F238E27FC236}">
                <a16:creationId xmlns:a16="http://schemas.microsoft.com/office/drawing/2014/main" id="{C2B51BAA-24B4-C70F-4E3C-6D18949B3A4F}"/>
              </a:ext>
            </a:extLst>
          </p:cNvPr>
          <p:cNvSpPr>
            <a:spLocks noGrp="1"/>
          </p:cNvSpPr>
          <p:nvPr>
            <p:ph sz="quarter" idx="17"/>
          </p:nvPr>
        </p:nvSpPr>
        <p:spPr>
          <a:xfrm>
            <a:off x="569340" y="904862"/>
            <a:ext cx="8767320" cy="5686438"/>
          </a:xfrm>
        </p:spPr>
        <p:txBody>
          <a:bodyPr/>
          <a:lstStyle/>
          <a:p>
            <a:r>
              <a:rPr kumimoji="1" lang="en-US" altLang="ja-JP" dirty="0"/>
              <a:t>1. Introduction and background</a:t>
            </a:r>
          </a:p>
          <a:p>
            <a:pPr marL="342900" indent="-342900">
              <a:buAutoNum type="arabicPeriod"/>
            </a:pPr>
            <a:endParaRPr kumimoji="1" lang="en-US" altLang="ja-JP" dirty="0"/>
          </a:p>
          <a:p>
            <a:r>
              <a:rPr kumimoji="1" lang="en-US" altLang="ja-JP" dirty="0">
                <a:solidFill>
                  <a:schemeClr val="tx1">
                    <a:lumMod val="20000"/>
                    <a:lumOff val="80000"/>
                  </a:schemeClr>
                </a:solidFill>
              </a:rPr>
              <a:t>2. Objective</a:t>
            </a:r>
          </a:p>
          <a:p>
            <a:endParaRPr kumimoji="1" lang="en-US" altLang="ja-JP" dirty="0">
              <a:solidFill>
                <a:schemeClr val="tx1">
                  <a:lumMod val="20000"/>
                  <a:lumOff val="80000"/>
                </a:schemeClr>
              </a:solidFill>
            </a:endParaRPr>
          </a:p>
          <a:p>
            <a:r>
              <a:rPr kumimoji="1" lang="en-US" altLang="ja-JP" dirty="0">
                <a:solidFill>
                  <a:schemeClr val="tx1">
                    <a:lumMod val="20000"/>
                    <a:lumOff val="80000"/>
                  </a:schemeClr>
                </a:solidFill>
              </a:rPr>
              <a:t>3. Methodology</a:t>
            </a:r>
          </a:p>
          <a:p>
            <a:r>
              <a:rPr kumimoji="1" lang="en-US" altLang="ja-JP" sz="1200" dirty="0">
                <a:solidFill>
                  <a:schemeClr val="tx1">
                    <a:lumMod val="20000"/>
                    <a:lumOff val="80000"/>
                  </a:schemeClr>
                </a:solidFill>
              </a:rPr>
              <a:t>3.1 Step 1: </a:t>
            </a:r>
            <a:r>
              <a:rPr lang="en-US" altLang="ja-JP" sz="1200" dirty="0">
                <a:solidFill>
                  <a:schemeClr val="tx1">
                    <a:lumMod val="20000"/>
                    <a:lumOff val="80000"/>
                  </a:schemeClr>
                </a:solidFill>
              </a:rPr>
              <a:t>Data collection</a:t>
            </a:r>
          </a:p>
          <a:p>
            <a:r>
              <a:rPr kumimoji="1" lang="en-US" altLang="ja-JP" sz="1200" dirty="0">
                <a:solidFill>
                  <a:schemeClr val="tx1">
                    <a:lumMod val="20000"/>
                    <a:lumOff val="80000"/>
                  </a:schemeClr>
                </a:solidFill>
              </a:rPr>
              <a:t>       3.1.1 Data (demand, PV supply, wholesale price)</a:t>
            </a:r>
            <a:endParaRPr kumimoji="1" lang="ja-JP" altLang="en-US" sz="1200" dirty="0">
              <a:solidFill>
                <a:schemeClr val="tx1">
                  <a:lumMod val="20000"/>
                  <a:lumOff val="80000"/>
                </a:schemeClr>
              </a:solidFill>
            </a:endParaRPr>
          </a:p>
          <a:p>
            <a:r>
              <a:rPr kumimoji="1" lang="en-US" altLang="ja-JP" sz="1200" dirty="0">
                <a:solidFill>
                  <a:schemeClr val="tx1">
                    <a:lumMod val="20000"/>
                    <a:lumOff val="80000"/>
                  </a:schemeClr>
                </a:solidFill>
              </a:rPr>
              <a:t>       3.1.2 Car usage survey </a:t>
            </a:r>
            <a:r>
              <a:rPr kumimoji="1" lang="ja-JP" altLang="en-US" sz="1200" dirty="0">
                <a:solidFill>
                  <a:schemeClr val="tx1">
                    <a:lumMod val="20000"/>
                    <a:lumOff val="80000"/>
                  </a:schemeClr>
                </a:solidFill>
              </a:rPr>
              <a:t>→ </a:t>
            </a:r>
            <a:r>
              <a:rPr kumimoji="1" lang="en-US" altLang="ja-JP" sz="1200" dirty="0">
                <a:solidFill>
                  <a:schemeClr val="tx1">
                    <a:lumMod val="20000"/>
                    <a:lumOff val="80000"/>
                  </a:schemeClr>
                </a:solidFill>
              </a:rPr>
              <a:t>Car usage data</a:t>
            </a:r>
          </a:p>
          <a:p>
            <a:r>
              <a:rPr kumimoji="1" lang="en-US" altLang="ja-JP" sz="1200" dirty="0">
                <a:solidFill>
                  <a:schemeClr val="tx1">
                    <a:lumMod val="20000"/>
                    <a:lumOff val="80000"/>
                  </a:schemeClr>
                </a:solidFill>
              </a:rPr>
              <a:t>       3.1.3 Technology parameter (battery charge/discharge speed limit, efficiency)</a:t>
            </a:r>
          </a:p>
          <a:p>
            <a:r>
              <a:rPr kumimoji="1" lang="en-US" altLang="ja-JP" sz="1200" dirty="0">
                <a:solidFill>
                  <a:schemeClr val="tx1">
                    <a:lumMod val="20000"/>
                    <a:lumOff val="80000"/>
                  </a:schemeClr>
                </a:solidFill>
              </a:rPr>
              <a:t>3.2 Step 2: </a:t>
            </a:r>
            <a:r>
              <a:rPr lang="en-US" altLang="ja-JP" sz="1200" dirty="0">
                <a:solidFill>
                  <a:schemeClr val="tx1">
                    <a:lumMod val="20000"/>
                    <a:lumOff val="80000"/>
                  </a:schemeClr>
                </a:solidFill>
              </a:rPr>
              <a:t>Model construction </a:t>
            </a:r>
            <a:r>
              <a:rPr kumimoji="1" lang="en-US" altLang="ja-JP" sz="1200" dirty="0">
                <a:solidFill>
                  <a:schemeClr val="tx1">
                    <a:lumMod val="20000"/>
                    <a:lumOff val="80000"/>
                  </a:schemeClr>
                </a:solidFill>
              </a:rPr>
              <a:t>	</a:t>
            </a:r>
          </a:p>
          <a:p>
            <a:r>
              <a:rPr kumimoji="1" lang="en-US" altLang="ja-JP" sz="1200" dirty="0">
                <a:solidFill>
                  <a:schemeClr val="tx1">
                    <a:lumMod val="20000"/>
                    <a:lumOff val="80000"/>
                  </a:schemeClr>
                </a:solidFill>
              </a:rPr>
              <a:t>       3.2.1 Generate agent</a:t>
            </a:r>
          </a:p>
          <a:p>
            <a:r>
              <a:rPr kumimoji="1" lang="en-US" altLang="ja-JP" sz="1200" dirty="0">
                <a:solidFill>
                  <a:schemeClr val="tx1">
                    <a:lumMod val="20000"/>
                    <a:lumOff val="80000"/>
                  </a:schemeClr>
                </a:solidFill>
              </a:rPr>
              <a:t>       3.2.2 Design P2P energy trading model</a:t>
            </a:r>
          </a:p>
          <a:p>
            <a:r>
              <a:rPr kumimoji="1" lang="en-US" altLang="ja-JP" sz="1200" dirty="0">
                <a:solidFill>
                  <a:schemeClr val="tx1">
                    <a:lumMod val="20000"/>
                    <a:lumOff val="80000"/>
                  </a:schemeClr>
                </a:solidFill>
              </a:rPr>
              <a:t>       3.2.3 Design non-P2P energy model</a:t>
            </a:r>
          </a:p>
          <a:p>
            <a:r>
              <a:rPr kumimoji="1" lang="en-US" altLang="ja-JP" sz="1200" dirty="0">
                <a:solidFill>
                  <a:schemeClr val="tx1">
                    <a:lumMod val="20000"/>
                    <a:lumOff val="80000"/>
                  </a:schemeClr>
                </a:solidFill>
              </a:rPr>
              <a:t>3.3 Step 3: Train agents</a:t>
            </a:r>
          </a:p>
          <a:p>
            <a:r>
              <a:rPr kumimoji="1" lang="en-US" altLang="ja-JP" sz="1200" dirty="0">
                <a:solidFill>
                  <a:schemeClr val="tx1">
                    <a:lumMod val="20000"/>
                    <a:lumOff val="80000"/>
                  </a:schemeClr>
                </a:solidFill>
              </a:rPr>
              <a:t>       3.3.1 Q table</a:t>
            </a:r>
          </a:p>
          <a:p>
            <a:r>
              <a:rPr kumimoji="1" lang="en-US" altLang="ja-JP" sz="1200" dirty="0">
                <a:solidFill>
                  <a:schemeClr val="tx1">
                    <a:lumMod val="20000"/>
                    <a:lumOff val="80000"/>
                  </a:schemeClr>
                </a:solidFill>
              </a:rPr>
              <a:t>       3.3.2 Reward</a:t>
            </a:r>
          </a:p>
          <a:p>
            <a:endParaRPr kumimoji="1" lang="en-US" altLang="ja-JP" sz="1200" dirty="0">
              <a:solidFill>
                <a:schemeClr val="tx1">
                  <a:lumMod val="20000"/>
                  <a:lumOff val="80000"/>
                </a:schemeClr>
              </a:solidFill>
            </a:endParaRPr>
          </a:p>
          <a:p>
            <a:r>
              <a:rPr kumimoji="1" lang="en-US" altLang="ja-JP" dirty="0">
                <a:solidFill>
                  <a:schemeClr val="tx1">
                    <a:lumMod val="20000"/>
                    <a:lumOff val="80000"/>
                  </a:schemeClr>
                </a:solidFill>
              </a:rPr>
              <a:t>4. Results and analysis</a:t>
            </a:r>
          </a:p>
          <a:p>
            <a:endParaRPr kumimoji="1" lang="en-US" altLang="ja-JP" dirty="0">
              <a:solidFill>
                <a:schemeClr val="tx1">
                  <a:lumMod val="20000"/>
                  <a:lumOff val="80000"/>
                </a:schemeClr>
              </a:solidFill>
            </a:endParaRPr>
          </a:p>
          <a:p>
            <a:r>
              <a:rPr kumimoji="1" lang="en-US" altLang="ja-JP" dirty="0">
                <a:solidFill>
                  <a:schemeClr val="tx1">
                    <a:lumMod val="20000"/>
                    <a:lumOff val="80000"/>
                  </a:schemeClr>
                </a:solidFill>
              </a:rPr>
              <a:t>5. Summary and future work</a:t>
            </a:r>
          </a:p>
          <a:p>
            <a:endParaRPr kumimoji="1" lang="ja-JP" altLang="en-US" dirty="0"/>
          </a:p>
        </p:txBody>
      </p:sp>
      <p:sp>
        <p:nvSpPr>
          <p:cNvPr id="3" name="コンテンツ プレースホルダー 2">
            <a:extLst>
              <a:ext uri="{FF2B5EF4-FFF2-40B4-BE49-F238E27FC236}">
                <a16:creationId xmlns:a16="http://schemas.microsoft.com/office/drawing/2014/main" id="{F9EEC985-9178-233C-26F0-F77441F336C8}"/>
              </a:ext>
            </a:extLst>
          </p:cNvPr>
          <p:cNvSpPr>
            <a:spLocks noGrp="1"/>
          </p:cNvSpPr>
          <p:nvPr>
            <p:ph sz="quarter" idx="16"/>
          </p:nvPr>
        </p:nvSpPr>
        <p:spPr/>
        <p:txBody>
          <a:bodyPr/>
          <a:lstStyle/>
          <a:p>
            <a:r>
              <a:rPr kumimoji="1" lang="en-US" altLang="ja-JP" dirty="0"/>
              <a:t>CONTENT</a:t>
            </a:r>
            <a:endParaRPr kumimoji="1" lang="ja-JP" altLang="en-US" dirty="0"/>
          </a:p>
        </p:txBody>
      </p:sp>
    </p:spTree>
    <p:extLst>
      <p:ext uri="{BB962C8B-B14F-4D97-AF65-F5344CB8AC3E}">
        <p14:creationId xmlns:p14="http://schemas.microsoft.com/office/powerpoint/2010/main" val="91362770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2F6D67A2-F760-053F-3EF5-70907742BEF5}"/>
              </a:ext>
            </a:extLst>
          </p:cNvPr>
          <p:cNvSpPr>
            <a:spLocks noGrp="1"/>
          </p:cNvSpPr>
          <p:nvPr>
            <p:ph sz="quarter" idx="16"/>
          </p:nvPr>
        </p:nvSpPr>
        <p:spPr/>
        <p:txBody>
          <a:bodyPr/>
          <a:lstStyle/>
          <a:p>
            <a:r>
              <a:rPr lang="en-US" dirty="0"/>
              <a:t>1. Introduction and background</a:t>
            </a:r>
          </a:p>
        </p:txBody>
      </p:sp>
      <p:pic>
        <p:nvPicPr>
          <p:cNvPr id="4" name="図 3">
            <a:extLst>
              <a:ext uri="{FF2B5EF4-FFF2-40B4-BE49-F238E27FC236}">
                <a16:creationId xmlns:a16="http://schemas.microsoft.com/office/drawing/2014/main" id="{B0C3E1FD-7DD8-E9C8-B18F-348445EF4264}"/>
              </a:ext>
            </a:extLst>
          </p:cNvPr>
          <p:cNvPicPr>
            <a:picLocks noChangeAspect="1"/>
          </p:cNvPicPr>
          <p:nvPr/>
        </p:nvPicPr>
        <p:blipFill>
          <a:blip r:embed="rId2"/>
          <a:stretch>
            <a:fillRect/>
          </a:stretch>
        </p:blipFill>
        <p:spPr>
          <a:xfrm>
            <a:off x="2132575" y="1821812"/>
            <a:ext cx="5640849" cy="4346991"/>
          </a:xfrm>
          <a:prstGeom prst="rect">
            <a:avLst/>
          </a:prstGeom>
        </p:spPr>
      </p:pic>
      <p:sp>
        <p:nvSpPr>
          <p:cNvPr id="7" name="テキスト ボックス 6">
            <a:extLst>
              <a:ext uri="{FF2B5EF4-FFF2-40B4-BE49-F238E27FC236}">
                <a16:creationId xmlns:a16="http://schemas.microsoft.com/office/drawing/2014/main" id="{4167E298-6B6B-B5FE-DF66-BA0F17D6A0B7}"/>
              </a:ext>
            </a:extLst>
          </p:cNvPr>
          <p:cNvSpPr txBox="1"/>
          <p:nvPr/>
        </p:nvSpPr>
        <p:spPr>
          <a:xfrm>
            <a:off x="154378" y="6473479"/>
            <a:ext cx="6104433" cy="276999"/>
          </a:xfrm>
          <a:prstGeom prst="rect">
            <a:avLst/>
          </a:prstGeom>
          <a:noFill/>
        </p:spPr>
        <p:txBody>
          <a:bodyPr wrap="square">
            <a:spAutoFit/>
          </a:bodyPr>
          <a:lstStyle/>
          <a:p>
            <a:r>
              <a:rPr lang="en-US" sz="600" dirty="0"/>
              <a:t>[1] </a:t>
            </a:r>
            <a:r>
              <a:rPr lang="en-US" sz="600" dirty="0">
                <a:hlinkClick r:id="rId3"/>
              </a:rPr>
              <a:t>https://www.deloitte.com/nl/en/Industries/energy/blogs/peer-to-peer-energy-trading.html</a:t>
            </a:r>
            <a:endParaRPr lang="en-US" sz="600" dirty="0"/>
          </a:p>
          <a:p>
            <a:r>
              <a:rPr lang="en-US" sz="600" dirty="0"/>
              <a:t>[2] </a:t>
            </a:r>
            <a:r>
              <a:rPr lang="en-US" sz="600" dirty="0" err="1"/>
              <a:t>Chausov</a:t>
            </a:r>
            <a:r>
              <a:rPr lang="en-US" sz="600" dirty="0"/>
              <a:t>, Igor &amp; </a:t>
            </a:r>
            <a:r>
              <a:rPr lang="en-US" sz="600" dirty="0" err="1"/>
              <a:t>Burdin</a:t>
            </a:r>
            <a:r>
              <a:rPr lang="en-US" sz="600" dirty="0"/>
              <a:t>, Ilya &amp; </a:t>
            </a:r>
            <a:r>
              <a:rPr lang="en-US" sz="600" dirty="0" err="1"/>
              <a:t>Rybushkina</a:t>
            </a:r>
            <a:r>
              <a:rPr lang="en-US" sz="600" dirty="0"/>
              <a:t>, Alena &amp; </a:t>
            </a:r>
            <a:r>
              <a:rPr lang="en-US" sz="600" dirty="0" err="1"/>
              <a:t>Ermolaev</a:t>
            </a:r>
            <a:r>
              <a:rPr lang="en-US" sz="600" dirty="0"/>
              <a:t>, Kirill &amp; </a:t>
            </a:r>
            <a:r>
              <a:rPr lang="en-US" sz="600" dirty="0" err="1"/>
              <a:t>Kholkin</a:t>
            </a:r>
            <a:r>
              <a:rPr lang="en-US" sz="600" dirty="0"/>
              <a:t>, Dmitry. (2021). Internet of distributed energy architecture. Version 2.0.  </a:t>
            </a:r>
          </a:p>
        </p:txBody>
      </p:sp>
      <p:sp>
        <p:nvSpPr>
          <p:cNvPr id="8" name="テキスト ボックス 7">
            <a:extLst>
              <a:ext uri="{FF2B5EF4-FFF2-40B4-BE49-F238E27FC236}">
                <a16:creationId xmlns:a16="http://schemas.microsoft.com/office/drawing/2014/main" id="{6F1D6542-9680-F221-B71F-4B2C27EF9708}"/>
              </a:ext>
            </a:extLst>
          </p:cNvPr>
          <p:cNvSpPr txBox="1"/>
          <p:nvPr/>
        </p:nvSpPr>
        <p:spPr>
          <a:xfrm>
            <a:off x="1602091" y="6161332"/>
            <a:ext cx="6713173" cy="276999"/>
          </a:xfrm>
          <a:prstGeom prst="rect">
            <a:avLst/>
          </a:prstGeom>
          <a:noFill/>
        </p:spPr>
        <p:txBody>
          <a:bodyPr wrap="square" rtlCol="0">
            <a:spAutoFit/>
          </a:bodyPr>
          <a:lstStyle/>
          <a:p>
            <a:r>
              <a:rPr lang="en-US" altLang="ja-JP" sz="1200" dirty="0"/>
              <a:t>Comparison of the principles of arrangement of centralized and decentralized energy systems [2]</a:t>
            </a:r>
            <a:endParaRPr lang="en-US" sz="1200" dirty="0"/>
          </a:p>
        </p:txBody>
      </p:sp>
      <p:sp>
        <p:nvSpPr>
          <p:cNvPr id="10" name="テキスト ボックス 9">
            <a:extLst>
              <a:ext uri="{FF2B5EF4-FFF2-40B4-BE49-F238E27FC236}">
                <a16:creationId xmlns:a16="http://schemas.microsoft.com/office/drawing/2014/main" id="{2DE75466-1C00-30C5-9F87-CE8AF7BF6BDA}"/>
              </a:ext>
            </a:extLst>
          </p:cNvPr>
          <p:cNvSpPr txBox="1"/>
          <p:nvPr/>
        </p:nvSpPr>
        <p:spPr>
          <a:xfrm>
            <a:off x="154378" y="790866"/>
            <a:ext cx="7484741" cy="523220"/>
          </a:xfrm>
          <a:prstGeom prst="rect">
            <a:avLst/>
          </a:prstGeom>
          <a:noFill/>
        </p:spPr>
        <p:txBody>
          <a:bodyPr wrap="none" rtlCol="0">
            <a:spAutoFit/>
          </a:bodyPr>
          <a:lstStyle/>
          <a:p>
            <a:r>
              <a:rPr lang="ja-JP" altLang="en-US" sz="1400" dirty="0"/>
              <a:t>・</a:t>
            </a:r>
            <a:r>
              <a:rPr lang="en-US" altLang="ja-JP" sz="1400" dirty="0"/>
              <a:t>Increasing need for electricity in consumer’s everyday life, such as electrification of mobility</a:t>
            </a:r>
          </a:p>
          <a:p>
            <a:r>
              <a:rPr lang="ja-JP" altLang="en-US" sz="1400" dirty="0"/>
              <a:t>・</a:t>
            </a:r>
            <a:r>
              <a:rPr lang="en-US" altLang="ja-JP" sz="1400" dirty="0"/>
              <a:t>Increasing decentralized and intermittent renewable electricity generation</a:t>
            </a:r>
          </a:p>
        </p:txBody>
      </p:sp>
      <p:cxnSp>
        <p:nvCxnSpPr>
          <p:cNvPr id="13" name="コネクタ: カギ線 12">
            <a:extLst>
              <a:ext uri="{FF2B5EF4-FFF2-40B4-BE49-F238E27FC236}">
                <a16:creationId xmlns:a16="http://schemas.microsoft.com/office/drawing/2014/main" id="{958EFDD4-E04C-D8B7-3826-20040B3A3F9D}"/>
              </a:ext>
            </a:extLst>
          </p:cNvPr>
          <p:cNvCxnSpPr>
            <a:cxnSpLocks/>
          </p:cNvCxnSpPr>
          <p:nvPr/>
        </p:nvCxnSpPr>
        <p:spPr>
          <a:xfrm>
            <a:off x="358119" y="1278940"/>
            <a:ext cx="165279" cy="148859"/>
          </a:xfrm>
          <a:prstGeom prst="bentConnector3">
            <a:avLst>
              <a:gd name="adj1" fmla="val 54"/>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テキスト ボックス 15">
            <a:extLst>
              <a:ext uri="{FF2B5EF4-FFF2-40B4-BE49-F238E27FC236}">
                <a16:creationId xmlns:a16="http://schemas.microsoft.com/office/drawing/2014/main" id="{2BA90D80-FCF8-9E73-6BC1-5F9559EA57B1}"/>
              </a:ext>
            </a:extLst>
          </p:cNvPr>
          <p:cNvSpPr txBox="1"/>
          <p:nvPr/>
        </p:nvSpPr>
        <p:spPr>
          <a:xfrm>
            <a:off x="523398" y="1278940"/>
            <a:ext cx="7988790" cy="523220"/>
          </a:xfrm>
          <a:prstGeom prst="rect">
            <a:avLst/>
          </a:prstGeom>
          <a:noFill/>
        </p:spPr>
        <p:txBody>
          <a:bodyPr wrap="none" rtlCol="0">
            <a:spAutoFit/>
          </a:bodyPr>
          <a:lstStyle/>
          <a:p>
            <a:r>
              <a:rPr lang="en-US" sz="1400" b="0" i="0" dirty="0">
                <a:solidFill>
                  <a:srgbClr val="000000"/>
                </a:solidFill>
                <a:effectLst/>
                <a:latin typeface="Open Sans" panose="020B0606030504020204" pitchFamily="34" charset="0"/>
              </a:rPr>
              <a:t>The current system is struggling to deal with these developments, and this leads to </a:t>
            </a:r>
            <a:br>
              <a:rPr lang="en-US" sz="1400" b="0" i="0" dirty="0">
                <a:solidFill>
                  <a:srgbClr val="000000"/>
                </a:solidFill>
                <a:effectLst/>
                <a:latin typeface="Open Sans" panose="020B0606030504020204" pitchFamily="34" charset="0"/>
              </a:rPr>
            </a:br>
            <a:r>
              <a:rPr lang="en-US" sz="1400" b="0" i="0" dirty="0">
                <a:solidFill>
                  <a:srgbClr val="000000"/>
                </a:solidFill>
                <a:effectLst/>
                <a:latin typeface="Open Sans" panose="020B0606030504020204" pitchFamily="34" charset="0"/>
              </a:rPr>
              <a:t>higher energy bills, increased investment costs, and more challenges for the DSOs and TSO.[1]</a:t>
            </a:r>
            <a:endParaRPr lang="en-US" altLang="ja-JP" sz="1400" dirty="0"/>
          </a:p>
        </p:txBody>
      </p:sp>
    </p:spTree>
    <p:extLst>
      <p:ext uri="{BB962C8B-B14F-4D97-AF65-F5344CB8AC3E}">
        <p14:creationId xmlns:p14="http://schemas.microsoft.com/office/powerpoint/2010/main" val="16947945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D3D0310-9072-94B8-4FEF-CDA453E467D0}"/>
              </a:ext>
            </a:extLst>
          </p:cNvPr>
          <p:cNvSpPr>
            <a:spLocks noGrp="1"/>
          </p:cNvSpPr>
          <p:nvPr>
            <p:ph sz="quarter" idx="4294967295"/>
          </p:nvPr>
        </p:nvSpPr>
        <p:spPr>
          <a:xfrm>
            <a:off x="123825" y="93599"/>
            <a:ext cx="9018182" cy="525214"/>
          </a:xfrm>
          <a:prstGeom prst="rect">
            <a:avLst/>
          </a:prstGeom>
        </p:spPr>
        <p:txBody>
          <a:bodyPr/>
          <a:lstStyle/>
          <a:p>
            <a:pPr marL="0" indent="0">
              <a:buNone/>
            </a:pPr>
            <a:r>
              <a:rPr lang="ja-JP" altLang="en-US" sz="2100" b="1" dirty="0"/>
              <a:t>背景　電力市場の自由化と</a:t>
            </a:r>
            <a:r>
              <a:rPr lang="en-US" altLang="ja-JP" sz="2100" b="1" dirty="0"/>
              <a:t>P2P</a:t>
            </a:r>
            <a:r>
              <a:rPr lang="ja-JP" altLang="en-US" sz="2100" b="1" dirty="0"/>
              <a:t>電力取引</a:t>
            </a:r>
            <a:endParaRPr lang="en-US" sz="2100" b="1" dirty="0"/>
          </a:p>
        </p:txBody>
      </p:sp>
      <p:sp>
        <p:nvSpPr>
          <p:cNvPr id="4" name="正方形/長方形 19">
            <a:extLst>
              <a:ext uri="{FF2B5EF4-FFF2-40B4-BE49-F238E27FC236}">
                <a16:creationId xmlns:a16="http://schemas.microsoft.com/office/drawing/2014/main" id="{E3E15E3E-E7D0-348F-38F7-B4B0A0211A38}"/>
              </a:ext>
            </a:extLst>
          </p:cNvPr>
          <p:cNvSpPr/>
          <p:nvPr/>
        </p:nvSpPr>
        <p:spPr>
          <a:xfrm>
            <a:off x="5011155" y="2027319"/>
            <a:ext cx="537412" cy="2171699"/>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矢印: 下 13">
            <a:extLst>
              <a:ext uri="{FF2B5EF4-FFF2-40B4-BE49-F238E27FC236}">
                <a16:creationId xmlns:a16="http://schemas.microsoft.com/office/drawing/2014/main" id="{73C8ED70-EA0A-07C9-3A4D-C0111B429F25}"/>
              </a:ext>
            </a:extLst>
          </p:cNvPr>
          <p:cNvSpPr/>
          <p:nvPr/>
        </p:nvSpPr>
        <p:spPr>
          <a:xfrm>
            <a:off x="1227225" y="1999572"/>
            <a:ext cx="1016666" cy="3456747"/>
          </a:xfrm>
          <a:prstGeom prst="downArrow">
            <a:avLst>
              <a:gd name="adj1" fmla="val 50000"/>
              <a:gd name="adj2" fmla="val 39941"/>
            </a:avLst>
          </a:prstGeom>
          <a:solidFill>
            <a:schemeClr val="accent1">
              <a:lumMod val="20000"/>
              <a:lumOff val="8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直線コネクタ 4">
            <a:extLst>
              <a:ext uri="{FF2B5EF4-FFF2-40B4-BE49-F238E27FC236}">
                <a16:creationId xmlns:a16="http://schemas.microsoft.com/office/drawing/2014/main" id="{745D81C4-2DE9-A81B-FA46-E09D10068D8C}"/>
              </a:ext>
            </a:extLst>
          </p:cNvPr>
          <p:cNvCxnSpPr>
            <a:cxnSpLocks/>
          </p:cNvCxnSpPr>
          <p:nvPr/>
        </p:nvCxnSpPr>
        <p:spPr>
          <a:xfrm flipV="1">
            <a:off x="3080086" y="824161"/>
            <a:ext cx="0" cy="5245768"/>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8" name="テキスト ボックス 10">
            <a:extLst>
              <a:ext uri="{FF2B5EF4-FFF2-40B4-BE49-F238E27FC236}">
                <a16:creationId xmlns:a16="http://schemas.microsoft.com/office/drawing/2014/main" id="{AC99397F-9737-13CF-77ED-7758E45AC6BA}"/>
              </a:ext>
            </a:extLst>
          </p:cNvPr>
          <p:cNvSpPr txBox="1"/>
          <p:nvPr/>
        </p:nvSpPr>
        <p:spPr>
          <a:xfrm>
            <a:off x="932450" y="824161"/>
            <a:ext cx="1800493" cy="369332"/>
          </a:xfrm>
          <a:prstGeom prst="rect">
            <a:avLst/>
          </a:prstGeom>
          <a:noFill/>
        </p:spPr>
        <p:txBody>
          <a:bodyPr wrap="none" rtlCol="0">
            <a:spAutoFit/>
          </a:bodyPr>
          <a:lstStyle/>
          <a:p>
            <a:r>
              <a:rPr lang="ja-JP" altLang="en-US" b="1" dirty="0"/>
              <a:t>従来の事業体制</a:t>
            </a:r>
            <a:endParaRPr lang="en-US" b="1" dirty="0"/>
          </a:p>
        </p:txBody>
      </p:sp>
      <p:sp>
        <p:nvSpPr>
          <p:cNvPr id="9" name="テキスト ボックス 11">
            <a:extLst>
              <a:ext uri="{FF2B5EF4-FFF2-40B4-BE49-F238E27FC236}">
                <a16:creationId xmlns:a16="http://schemas.microsoft.com/office/drawing/2014/main" id="{C188F097-6A6C-9DE5-3F29-15062C331210}"/>
              </a:ext>
            </a:extLst>
          </p:cNvPr>
          <p:cNvSpPr txBox="1"/>
          <p:nvPr/>
        </p:nvSpPr>
        <p:spPr>
          <a:xfrm>
            <a:off x="663144" y="1485537"/>
            <a:ext cx="2159566" cy="307777"/>
          </a:xfrm>
          <a:prstGeom prst="rect">
            <a:avLst/>
          </a:prstGeom>
          <a:noFill/>
        </p:spPr>
        <p:txBody>
          <a:bodyPr wrap="none" rtlCol="0">
            <a:spAutoFit/>
          </a:bodyPr>
          <a:lstStyle/>
          <a:p>
            <a:r>
              <a:rPr lang="ja-JP" altLang="en-US" sz="1400" dirty="0"/>
              <a:t>各地域の一般電気事業者</a:t>
            </a:r>
            <a:endParaRPr lang="en-US" sz="1400" dirty="0"/>
          </a:p>
        </p:txBody>
      </p:sp>
      <p:sp>
        <p:nvSpPr>
          <p:cNvPr id="10" name="テキスト ボックス 12">
            <a:extLst>
              <a:ext uri="{FF2B5EF4-FFF2-40B4-BE49-F238E27FC236}">
                <a16:creationId xmlns:a16="http://schemas.microsoft.com/office/drawing/2014/main" id="{2E04539B-CE26-30D1-F8FF-6C66F7DD137D}"/>
              </a:ext>
            </a:extLst>
          </p:cNvPr>
          <p:cNvSpPr txBox="1"/>
          <p:nvPr/>
        </p:nvSpPr>
        <p:spPr>
          <a:xfrm>
            <a:off x="1123301" y="1793314"/>
            <a:ext cx="1239252" cy="2585323"/>
          </a:xfrm>
          <a:prstGeom prst="rect">
            <a:avLst/>
          </a:prstGeom>
          <a:noFill/>
          <a:ln w="28575">
            <a:solidFill>
              <a:schemeClr val="accent1"/>
            </a:solidFill>
          </a:ln>
        </p:spPr>
        <p:txBody>
          <a:bodyPr wrap="square" rtlCol="0">
            <a:spAutoFit/>
          </a:bodyPr>
          <a:lstStyle/>
          <a:p>
            <a:pPr algn="ctr"/>
            <a:endParaRPr lang="en-US" altLang="ja-JP" dirty="0"/>
          </a:p>
          <a:p>
            <a:pPr algn="ctr"/>
            <a:r>
              <a:rPr lang="ja-JP" altLang="en-US" dirty="0"/>
              <a:t>発電</a:t>
            </a:r>
            <a:endParaRPr lang="en-US" altLang="ja-JP" dirty="0"/>
          </a:p>
          <a:p>
            <a:pPr algn="ctr"/>
            <a:endParaRPr lang="en-US" dirty="0"/>
          </a:p>
          <a:p>
            <a:pPr algn="ctr"/>
            <a:r>
              <a:rPr lang="ja-JP" altLang="en-US" dirty="0"/>
              <a:t>送電</a:t>
            </a:r>
            <a:endParaRPr lang="en-US" altLang="ja-JP" dirty="0"/>
          </a:p>
          <a:p>
            <a:pPr algn="ctr"/>
            <a:endParaRPr lang="en-US" dirty="0"/>
          </a:p>
          <a:p>
            <a:pPr algn="ctr"/>
            <a:r>
              <a:rPr lang="ja-JP" altLang="en-US" dirty="0"/>
              <a:t>配電</a:t>
            </a:r>
            <a:endParaRPr lang="en-US" altLang="ja-JP" dirty="0"/>
          </a:p>
          <a:p>
            <a:pPr algn="ctr"/>
            <a:endParaRPr lang="en-US" dirty="0"/>
          </a:p>
          <a:p>
            <a:pPr algn="ctr"/>
            <a:r>
              <a:rPr lang="ja-JP" altLang="en-US" dirty="0"/>
              <a:t>小売</a:t>
            </a:r>
            <a:endParaRPr lang="en-US" altLang="ja-JP" dirty="0"/>
          </a:p>
          <a:p>
            <a:pPr algn="ctr"/>
            <a:endParaRPr lang="en-US" dirty="0"/>
          </a:p>
        </p:txBody>
      </p:sp>
      <p:sp>
        <p:nvSpPr>
          <p:cNvPr id="11" name="テキスト ボックス 14">
            <a:extLst>
              <a:ext uri="{FF2B5EF4-FFF2-40B4-BE49-F238E27FC236}">
                <a16:creationId xmlns:a16="http://schemas.microsoft.com/office/drawing/2014/main" id="{41C5148B-5950-B028-26F3-00BCD72CC7DE}"/>
              </a:ext>
            </a:extLst>
          </p:cNvPr>
          <p:cNvSpPr txBox="1"/>
          <p:nvPr/>
        </p:nvSpPr>
        <p:spPr>
          <a:xfrm>
            <a:off x="1123301" y="5553617"/>
            <a:ext cx="1239250" cy="495108"/>
          </a:xfrm>
          <a:prstGeom prst="rect">
            <a:avLst/>
          </a:prstGeom>
          <a:noFill/>
          <a:ln w="28575">
            <a:solidFill>
              <a:schemeClr val="tx1"/>
            </a:solidFill>
          </a:ln>
        </p:spPr>
        <p:txBody>
          <a:bodyPr wrap="square" tIns="108000" bIns="108000" rtlCol="0">
            <a:spAutoFit/>
          </a:bodyPr>
          <a:lstStyle/>
          <a:p>
            <a:pPr algn="ctr"/>
            <a:r>
              <a:rPr lang="ja-JP" altLang="en-US" dirty="0"/>
              <a:t>消費者</a:t>
            </a:r>
            <a:endParaRPr lang="en-US" dirty="0"/>
          </a:p>
        </p:txBody>
      </p:sp>
      <p:sp>
        <p:nvSpPr>
          <p:cNvPr id="12" name="テキスト ボックス 15">
            <a:extLst>
              <a:ext uri="{FF2B5EF4-FFF2-40B4-BE49-F238E27FC236}">
                <a16:creationId xmlns:a16="http://schemas.microsoft.com/office/drawing/2014/main" id="{0310628F-6AC0-8342-B007-013FE8304E02}"/>
              </a:ext>
            </a:extLst>
          </p:cNvPr>
          <p:cNvSpPr txBox="1"/>
          <p:nvPr/>
        </p:nvSpPr>
        <p:spPr>
          <a:xfrm>
            <a:off x="512306" y="4520542"/>
            <a:ext cx="2518638" cy="523220"/>
          </a:xfrm>
          <a:prstGeom prst="rect">
            <a:avLst/>
          </a:prstGeom>
          <a:noFill/>
        </p:spPr>
        <p:txBody>
          <a:bodyPr wrap="none" rtlCol="0">
            <a:spAutoFit/>
          </a:bodyPr>
          <a:lstStyle/>
          <a:p>
            <a:pPr algn="ctr"/>
            <a:r>
              <a:rPr lang="ja-JP" altLang="en-US" sz="1400" dirty="0"/>
              <a:t>供給義務、地域独占</a:t>
            </a:r>
            <a:endParaRPr lang="en-US" altLang="ja-JP" sz="1400" dirty="0"/>
          </a:p>
          <a:p>
            <a:pPr algn="ctr"/>
            <a:r>
              <a:rPr lang="ja-JP" altLang="en-US" sz="1400" dirty="0"/>
              <a:t>総括原価方式による料金規制</a:t>
            </a:r>
            <a:endParaRPr lang="en-US" sz="1400" dirty="0"/>
          </a:p>
        </p:txBody>
      </p:sp>
      <p:sp>
        <p:nvSpPr>
          <p:cNvPr id="13" name="テキスト ボックス 16">
            <a:extLst>
              <a:ext uri="{FF2B5EF4-FFF2-40B4-BE49-F238E27FC236}">
                <a16:creationId xmlns:a16="http://schemas.microsoft.com/office/drawing/2014/main" id="{CAB18D8B-9E8F-7074-37E1-985705461375}"/>
              </a:ext>
            </a:extLst>
          </p:cNvPr>
          <p:cNvSpPr txBox="1"/>
          <p:nvPr/>
        </p:nvSpPr>
        <p:spPr>
          <a:xfrm>
            <a:off x="5548567" y="824161"/>
            <a:ext cx="3161443" cy="369332"/>
          </a:xfrm>
          <a:prstGeom prst="rect">
            <a:avLst/>
          </a:prstGeom>
          <a:noFill/>
        </p:spPr>
        <p:txBody>
          <a:bodyPr wrap="none" rtlCol="0">
            <a:spAutoFit/>
          </a:bodyPr>
          <a:lstStyle/>
          <a:p>
            <a:r>
              <a:rPr lang="ja-JP" altLang="en-US" b="1" dirty="0"/>
              <a:t>電力システム改革後</a:t>
            </a:r>
            <a:r>
              <a:rPr lang="en-US" altLang="ja-JP" b="1" dirty="0"/>
              <a:t>(2016</a:t>
            </a:r>
            <a:r>
              <a:rPr lang="ja-JP" altLang="en-US" b="1" dirty="0"/>
              <a:t>年～</a:t>
            </a:r>
            <a:r>
              <a:rPr lang="en-US" altLang="ja-JP" b="1" dirty="0"/>
              <a:t>)</a:t>
            </a:r>
            <a:endParaRPr lang="en-US" b="1" dirty="0"/>
          </a:p>
        </p:txBody>
      </p:sp>
      <p:sp>
        <p:nvSpPr>
          <p:cNvPr id="14" name="テキスト ボックス 17">
            <a:extLst>
              <a:ext uri="{FF2B5EF4-FFF2-40B4-BE49-F238E27FC236}">
                <a16:creationId xmlns:a16="http://schemas.microsoft.com/office/drawing/2014/main" id="{F3DB3315-57C6-55AF-2FF9-BDD8BEED7037}"/>
              </a:ext>
            </a:extLst>
          </p:cNvPr>
          <p:cNvSpPr txBox="1"/>
          <p:nvPr/>
        </p:nvSpPr>
        <p:spPr>
          <a:xfrm>
            <a:off x="3588795" y="1793314"/>
            <a:ext cx="2262157" cy="2585323"/>
          </a:xfrm>
          <a:prstGeom prst="rect">
            <a:avLst/>
          </a:prstGeom>
          <a:noFill/>
          <a:ln w="28575">
            <a:solidFill>
              <a:schemeClr val="accent1"/>
            </a:solidFill>
          </a:ln>
        </p:spPr>
        <p:txBody>
          <a:bodyPr wrap="square" rtlCol="0">
            <a:spAutoFit/>
          </a:bodyPr>
          <a:lstStyle/>
          <a:p>
            <a:endParaRPr lang="en-US" altLang="ja-JP" dirty="0"/>
          </a:p>
          <a:p>
            <a:r>
              <a:rPr lang="ja-JP" altLang="en-US" dirty="0"/>
              <a:t>　　　　　　発電</a:t>
            </a:r>
            <a:endParaRPr lang="en-US" altLang="ja-JP" dirty="0"/>
          </a:p>
          <a:p>
            <a:endParaRPr lang="en-US" dirty="0"/>
          </a:p>
          <a:p>
            <a:r>
              <a:rPr lang="ja-JP" altLang="en-US" dirty="0"/>
              <a:t>　送配電</a:t>
            </a:r>
            <a:endParaRPr lang="en-US" altLang="ja-JP" dirty="0"/>
          </a:p>
          <a:p>
            <a:r>
              <a:rPr lang="ja-JP" altLang="en-US" dirty="0"/>
              <a:t>　事業者</a:t>
            </a:r>
            <a:endParaRPr lang="en-US" altLang="ja-JP" dirty="0"/>
          </a:p>
          <a:p>
            <a:endParaRPr lang="en-US" dirty="0"/>
          </a:p>
          <a:p>
            <a:endParaRPr lang="en-US" dirty="0"/>
          </a:p>
          <a:p>
            <a:r>
              <a:rPr lang="ja-JP" altLang="en-US" dirty="0"/>
              <a:t>　　　　　　小売</a:t>
            </a:r>
            <a:endParaRPr lang="en-US" altLang="ja-JP" dirty="0"/>
          </a:p>
          <a:p>
            <a:endParaRPr lang="en-US" dirty="0"/>
          </a:p>
        </p:txBody>
      </p:sp>
      <p:sp>
        <p:nvSpPr>
          <p:cNvPr id="15" name="正方形/長方形 18">
            <a:extLst>
              <a:ext uri="{FF2B5EF4-FFF2-40B4-BE49-F238E27FC236}">
                <a16:creationId xmlns:a16="http://schemas.microsoft.com/office/drawing/2014/main" id="{D3AB587B-2CBC-E4D0-5050-7F09A0316F6C}"/>
              </a:ext>
            </a:extLst>
          </p:cNvPr>
          <p:cNvSpPr/>
          <p:nvPr/>
        </p:nvSpPr>
        <p:spPr>
          <a:xfrm>
            <a:off x="3717760" y="2436393"/>
            <a:ext cx="1028700" cy="1022684"/>
          </a:xfrm>
          <a:prstGeom prst="rect">
            <a:avLst/>
          </a:prstGeom>
          <a:no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テキスト ボックス 20">
            <a:extLst>
              <a:ext uri="{FF2B5EF4-FFF2-40B4-BE49-F238E27FC236}">
                <a16:creationId xmlns:a16="http://schemas.microsoft.com/office/drawing/2014/main" id="{C7D78721-375B-8804-5773-188D2DF3F268}"/>
              </a:ext>
            </a:extLst>
          </p:cNvPr>
          <p:cNvSpPr txBox="1"/>
          <p:nvPr/>
        </p:nvSpPr>
        <p:spPr>
          <a:xfrm>
            <a:off x="4678690" y="2382249"/>
            <a:ext cx="537412" cy="769441"/>
          </a:xfrm>
          <a:prstGeom prst="rect">
            <a:avLst/>
          </a:prstGeom>
          <a:noFill/>
        </p:spPr>
        <p:txBody>
          <a:bodyPr wrap="square" rtlCol="0">
            <a:spAutoFit/>
          </a:bodyPr>
          <a:lstStyle/>
          <a:p>
            <a:r>
              <a:rPr lang="ja-JP" altLang="en-US" sz="1000" dirty="0"/>
              <a:t>法的</a:t>
            </a:r>
            <a:endParaRPr lang="en-US" altLang="ja-JP" sz="1000" dirty="0"/>
          </a:p>
          <a:p>
            <a:r>
              <a:rPr lang="ja-JP" altLang="en-US" sz="1000" dirty="0"/>
              <a:t>分離</a:t>
            </a:r>
            <a:endParaRPr lang="en-US" altLang="ja-JP" sz="1000" dirty="0"/>
          </a:p>
          <a:p>
            <a:r>
              <a:rPr lang="ja-JP" altLang="en-US" sz="2400" dirty="0">
                <a:solidFill>
                  <a:schemeClr val="accent2"/>
                </a:solidFill>
              </a:rPr>
              <a:t>←</a:t>
            </a:r>
            <a:endParaRPr lang="en-US" sz="1000" dirty="0">
              <a:solidFill>
                <a:schemeClr val="accent2"/>
              </a:solidFill>
            </a:endParaRPr>
          </a:p>
        </p:txBody>
      </p:sp>
      <p:sp>
        <p:nvSpPr>
          <p:cNvPr id="17" name="テキスト ボックス 21">
            <a:extLst>
              <a:ext uri="{FF2B5EF4-FFF2-40B4-BE49-F238E27FC236}">
                <a16:creationId xmlns:a16="http://schemas.microsoft.com/office/drawing/2014/main" id="{44926028-C472-E30D-A081-D9449D69189D}"/>
              </a:ext>
            </a:extLst>
          </p:cNvPr>
          <p:cNvSpPr txBox="1"/>
          <p:nvPr/>
        </p:nvSpPr>
        <p:spPr>
          <a:xfrm>
            <a:off x="3854892" y="1486992"/>
            <a:ext cx="1729961" cy="307777"/>
          </a:xfrm>
          <a:prstGeom prst="rect">
            <a:avLst/>
          </a:prstGeom>
          <a:noFill/>
        </p:spPr>
        <p:txBody>
          <a:bodyPr wrap="none" rtlCol="0">
            <a:spAutoFit/>
          </a:bodyPr>
          <a:lstStyle/>
          <a:p>
            <a:r>
              <a:rPr lang="en-US" altLang="ja-JP" sz="1400" dirty="0"/>
              <a:t>(</a:t>
            </a:r>
            <a:r>
              <a:rPr lang="ja-JP" altLang="en-US" sz="1400" dirty="0"/>
              <a:t>旧</a:t>
            </a:r>
            <a:r>
              <a:rPr lang="en-US" altLang="ja-JP" sz="1400" dirty="0"/>
              <a:t>)</a:t>
            </a:r>
            <a:r>
              <a:rPr lang="ja-JP" altLang="en-US" sz="1400" dirty="0"/>
              <a:t>一般電気事業者</a:t>
            </a:r>
            <a:endParaRPr lang="en-US" sz="1400" dirty="0"/>
          </a:p>
        </p:txBody>
      </p:sp>
      <p:sp>
        <p:nvSpPr>
          <p:cNvPr id="18" name="テキスト ボックス 22">
            <a:extLst>
              <a:ext uri="{FF2B5EF4-FFF2-40B4-BE49-F238E27FC236}">
                <a16:creationId xmlns:a16="http://schemas.microsoft.com/office/drawing/2014/main" id="{A738EE31-B80F-0391-29F3-5D8A36F984C0}"/>
              </a:ext>
            </a:extLst>
          </p:cNvPr>
          <p:cNvSpPr txBox="1"/>
          <p:nvPr/>
        </p:nvSpPr>
        <p:spPr>
          <a:xfrm>
            <a:off x="6396149" y="1793314"/>
            <a:ext cx="877163" cy="646331"/>
          </a:xfrm>
          <a:prstGeom prst="rect">
            <a:avLst/>
          </a:prstGeom>
          <a:noFill/>
          <a:ln w="28575">
            <a:solidFill>
              <a:schemeClr val="accent1"/>
            </a:solidFill>
          </a:ln>
        </p:spPr>
        <p:txBody>
          <a:bodyPr wrap="none" rtlCol="0">
            <a:spAutoFit/>
          </a:bodyPr>
          <a:lstStyle/>
          <a:p>
            <a:pPr algn="ctr"/>
            <a:r>
              <a:rPr lang="ja-JP" altLang="en-US" dirty="0"/>
              <a:t>発電</a:t>
            </a:r>
            <a:endParaRPr lang="en-US" altLang="ja-JP" dirty="0"/>
          </a:p>
          <a:p>
            <a:pPr algn="ctr"/>
            <a:r>
              <a:rPr lang="ja-JP" altLang="en-US" dirty="0"/>
              <a:t>事業者</a:t>
            </a:r>
            <a:endParaRPr lang="en-US" dirty="0"/>
          </a:p>
        </p:txBody>
      </p:sp>
      <p:sp>
        <p:nvSpPr>
          <p:cNvPr id="19" name="テキスト ボックス 23">
            <a:extLst>
              <a:ext uri="{FF2B5EF4-FFF2-40B4-BE49-F238E27FC236}">
                <a16:creationId xmlns:a16="http://schemas.microsoft.com/office/drawing/2014/main" id="{4EED67B9-8127-CF98-5B92-D3891EE7CE52}"/>
              </a:ext>
            </a:extLst>
          </p:cNvPr>
          <p:cNvSpPr txBox="1"/>
          <p:nvPr/>
        </p:nvSpPr>
        <p:spPr>
          <a:xfrm>
            <a:off x="7372143" y="1790062"/>
            <a:ext cx="877163" cy="646331"/>
          </a:xfrm>
          <a:prstGeom prst="rect">
            <a:avLst/>
          </a:prstGeom>
          <a:noFill/>
          <a:ln w="28575">
            <a:solidFill>
              <a:schemeClr val="accent1"/>
            </a:solidFill>
          </a:ln>
        </p:spPr>
        <p:txBody>
          <a:bodyPr wrap="none" rtlCol="0">
            <a:spAutoFit/>
          </a:bodyPr>
          <a:lstStyle/>
          <a:p>
            <a:pPr algn="ctr"/>
            <a:r>
              <a:rPr lang="ja-JP" altLang="en-US" dirty="0"/>
              <a:t>発電</a:t>
            </a:r>
            <a:endParaRPr lang="en-US" altLang="ja-JP" dirty="0"/>
          </a:p>
          <a:p>
            <a:pPr algn="ctr"/>
            <a:r>
              <a:rPr lang="ja-JP" altLang="en-US" dirty="0"/>
              <a:t>事業者</a:t>
            </a:r>
            <a:endParaRPr lang="en-US" dirty="0"/>
          </a:p>
        </p:txBody>
      </p:sp>
      <p:sp>
        <p:nvSpPr>
          <p:cNvPr id="20" name="テキスト ボックス 24">
            <a:extLst>
              <a:ext uri="{FF2B5EF4-FFF2-40B4-BE49-F238E27FC236}">
                <a16:creationId xmlns:a16="http://schemas.microsoft.com/office/drawing/2014/main" id="{D6B3B73E-9FA4-743E-810C-57111824E36C}"/>
              </a:ext>
            </a:extLst>
          </p:cNvPr>
          <p:cNvSpPr txBox="1"/>
          <p:nvPr/>
        </p:nvSpPr>
        <p:spPr>
          <a:xfrm>
            <a:off x="8348137" y="1790062"/>
            <a:ext cx="877163" cy="646331"/>
          </a:xfrm>
          <a:prstGeom prst="rect">
            <a:avLst/>
          </a:prstGeom>
          <a:noFill/>
          <a:ln w="28575">
            <a:solidFill>
              <a:schemeClr val="accent1"/>
            </a:solidFill>
          </a:ln>
        </p:spPr>
        <p:txBody>
          <a:bodyPr wrap="none" rtlCol="0">
            <a:spAutoFit/>
          </a:bodyPr>
          <a:lstStyle/>
          <a:p>
            <a:pPr algn="ctr"/>
            <a:r>
              <a:rPr lang="ja-JP" altLang="en-US" dirty="0"/>
              <a:t>発電</a:t>
            </a:r>
            <a:endParaRPr lang="en-US" altLang="ja-JP" dirty="0"/>
          </a:p>
          <a:p>
            <a:pPr algn="ctr"/>
            <a:r>
              <a:rPr lang="ja-JP" altLang="en-US" dirty="0"/>
              <a:t>事業者</a:t>
            </a:r>
            <a:endParaRPr lang="en-US" dirty="0"/>
          </a:p>
        </p:txBody>
      </p:sp>
      <p:sp>
        <p:nvSpPr>
          <p:cNvPr id="21" name="テキスト ボックス 25">
            <a:extLst>
              <a:ext uri="{FF2B5EF4-FFF2-40B4-BE49-F238E27FC236}">
                <a16:creationId xmlns:a16="http://schemas.microsoft.com/office/drawing/2014/main" id="{42E77444-3CB1-EFC2-6BE0-85304B5A13DD}"/>
              </a:ext>
            </a:extLst>
          </p:cNvPr>
          <p:cNvSpPr txBox="1"/>
          <p:nvPr/>
        </p:nvSpPr>
        <p:spPr>
          <a:xfrm>
            <a:off x="6396149" y="2829262"/>
            <a:ext cx="2829151" cy="567811"/>
          </a:xfrm>
          <a:prstGeom prst="rect">
            <a:avLst/>
          </a:prstGeom>
          <a:noFill/>
          <a:ln w="28575">
            <a:solidFill>
              <a:schemeClr val="accent2"/>
            </a:solidFill>
          </a:ln>
        </p:spPr>
        <p:txBody>
          <a:bodyPr wrap="square" tIns="144000" bIns="144000" rtlCol="0" anchor="ctr" anchorCtr="1">
            <a:spAutoFit/>
          </a:bodyPr>
          <a:lstStyle/>
          <a:p>
            <a:pPr algn="ctr"/>
            <a:r>
              <a:rPr lang="ja-JP" altLang="en-US" dirty="0"/>
              <a:t>卸売電力取引市場 </a:t>
            </a:r>
            <a:r>
              <a:rPr lang="en-US" altLang="ja-JP" dirty="0"/>
              <a:t>(JEPX)</a:t>
            </a:r>
          </a:p>
        </p:txBody>
      </p:sp>
      <p:sp>
        <p:nvSpPr>
          <p:cNvPr id="22" name="テキスト ボックス 26">
            <a:extLst>
              <a:ext uri="{FF2B5EF4-FFF2-40B4-BE49-F238E27FC236}">
                <a16:creationId xmlns:a16="http://schemas.microsoft.com/office/drawing/2014/main" id="{C0007485-6501-DD67-5F94-EBCC7DE2C022}"/>
              </a:ext>
            </a:extLst>
          </p:cNvPr>
          <p:cNvSpPr txBox="1"/>
          <p:nvPr/>
        </p:nvSpPr>
        <p:spPr>
          <a:xfrm>
            <a:off x="6395220" y="3727945"/>
            <a:ext cx="878092" cy="648997"/>
          </a:xfrm>
          <a:prstGeom prst="rect">
            <a:avLst/>
          </a:prstGeom>
          <a:noFill/>
          <a:ln w="28575">
            <a:solidFill>
              <a:schemeClr val="accent1"/>
            </a:solidFill>
          </a:ln>
        </p:spPr>
        <p:txBody>
          <a:bodyPr wrap="none" lIns="79200" tIns="108000" rIns="79200" bIns="108000" rtlCol="0">
            <a:spAutoFit/>
          </a:bodyPr>
          <a:lstStyle/>
          <a:p>
            <a:pPr algn="ctr"/>
            <a:r>
              <a:rPr lang="ja-JP" altLang="en-US" sz="1400" dirty="0"/>
              <a:t>小売電気</a:t>
            </a:r>
            <a:endParaRPr lang="en-US" altLang="ja-JP" sz="1400" dirty="0"/>
          </a:p>
          <a:p>
            <a:pPr algn="ctr"/>
            <a:r>
              <a:rPr lang="ja-JP" altLang="en-US" sz="1400" dirty="0"/>
              <a:t>事業者</a:t>
            </a:r>
            <a:endParaRPr lang="en-US" sz="1400" dirty="0"/>
          </a:p>
        </p:txBody>
      </p:sp>
      <p:sp>
        <p:nvSpPr>
          <p:cNvPr id="23" name="テキスト ボックス 27">
            <a:extLst>
              <a:ext uri="{FF2B5EF4-FFF2-40B4-BE49-F238E27FC236}">
                <a16:creationId xmlns:a16="http://schemas.microsoft.com/office/drawing/2014/main" id="{4525E7BA-2C22-6693-3EA8-6034EC2709A4}"/>
              </a:ext>
            </a:extLst>
          </p:cNvPr>
          <p:cNvSpPr txBox="1"/>
          <p:nvPr/>
        </p:nvSpPr>
        <p:spPr>
          <a:xfrm>
            <a:off x="7371678" y="3727945"/>
            <a:ext cx="878092" cy="648997"/>
          </a:xfrm>
          <a:prstGeom prst="rect">
            <a:avLst/>
          </a:prstGeom>
          <a:noFill/>
          <a:ln w="28575">
            <a:solidFill>
              <a:schemeClr val="accent1"/>
            </a:solidFill>
          </a:ln>
        </p:spPr>
        <p:txBody>
          <a:bodyPr wrap="none" lIns="79200" tIns="108000" rIns="79200" bIns="108000" rtlCol="0">
            <a:spAutoFit/>
          </a:bodyPr>
          <a:lstStyle/>
          <a:p>
            <a:pPr algn="ctr"/>
            <a:r>
              <a:rPr lang="ja-JP" altLang="en-US" sz="1400" dirty="0"/>
              <a:t>小売電気</a:t>
            </a:r>
            <a:endParaRPr lang="en-US" altLang="ja-JP" sz="1400" dirty="0"/>
          </a:p>
          <a:p>
            <a:pPr algn="ctr"/>
            <a:r>
              <a:rPr lang="ja-JP" altLang="en-US" sz="1400" dirty="0"/>
              <a:t>事業者</a:t>
            </a:r>
            <a:endParaRPr lang="en-US" sz="1400" dirty="0"/>
          </a:p>
        </p:txBody>
      </p:sp>
      <p:sp>
        <p:nvSpPr>
          <p:cNvPr id="24" name="テキスト ボックス 28">
            <a:extLst>
              <a:ext uri="{FF2B5EF4-FFF2-40B4-BE49-F238E27FC236}">
                <a16:creationId xmlns:a16="http://schemas.microsoft.com/office/drawing/2014/main" id="{994180AB-F8B5-19CA-E1DE-0F77C54E2A5E}"/>
              </a:ext>
            </a:extLst>
          </p:cNvPr>
          <p:cNvSpPr txBox="1"/>
          <p:nvPr/>
        </p:nvSpPr>
        <p:spPr>
          <a:xfrm>
            <a:off x="8348136" y="3727944"/>
            <a:ext cx="878092" cy="648997"/>
          </a:xfrm>
          <a:prstGeom prst="rect">
            <a:avLst/>
          </a:prstGeom>
          <a:noFill/>
          <a:ln w="28575">
            <a:solidFill>
              <a:schemeClr val="accent1"/>
            </a:solidFill>
          </a:ln>
        </p:spPr>
        <p:txBody>
          <a:bodyPr wrap="none" lIns="79200" tIns="108000" rIns="79200" bIns="108000" rtlCol="0">
            <a:spAutoFit/>
          </a:bodyPr>
          <a:lstStyle/>
          <a:p>
            <a:pPr algn="ctr"/>
            <a:r>
              <a:rPr lang="ja-JP" altLang="en-US" sz="1400" dirty="0"/>
              <a:t>小売電気</a:t>
            </a:r>
            <a:endParaRPr lang="en-US" altLang="ja-JP" sz="1400" dirty="0"/>
          </a:p>
          <a:p>
            <a:pPr algn="ctr"/>
            <a:r>
              <a:rPr lang="ja-JP" altLang="en-US" sz="1400" dirty="0"/>
              <a:t>事業者</a:t>
            </a:r>
            <a:endParaRPr lang="en-US" sz="1400" dirty="0"/>
          </a:p>
        </p:txBody>
      </p:sp>
      <p:sp>
        <p:nvSpPr>
          <p:cNvPr id="25" name="テキスト ボックス 29">
            <a:extLst>
              <a:ext uri="{FF2B5EF4-FFF2-40B4-BE49-F238E27FC236}">
                <a16:creationId xmlns:a16="http://schemas.microsoft.com/office/drawing/2014/main" id="{DFE1ABAB-B686-3F66-2624-34856D4401E5}"/>
              </a:ext>
            </a:extLst>
          </p:cNvPr>
          <p:cNvSpPr txBox="1"/>
          <p:nvPr/>
        </p:nvSpPr>
        <p:spPr>
          <a:xfrm>
            <a:off x="6396149" y="4700576"/>
            <a:ext cx="2829151" cy="567811"/>
          </a:xfrm>
          <a:prstGeom prst="rect">
            <a:avLst/>
          </a:prstGeom>
          <a:noFill/>
          <a:ln w="28575">
            <a:solidFill>
              <a:schemeClr val="accent2"/>
            </a:solidFill>
          </a:ln>
        </p:spPr>
        <p:txBody>
          <a:bodyPr wrap="square" tIns="144000" bIns="144000" rtlCol="0" anchor="ctr" anchorCtr="1">
            <a:spAutoFit/>
          </a:bodyPr>
          <a:lstStyle/>
          <a:p>
            <a:pPr algn="ctr"/>
            <a:r>
              <a:rPr lang="ja-JP" altLang="en-US" dirty="0"/>
              <a:t>小売電力市場</a:t>
            </a:r>
            <a:endParaRPr lang="en-US" altLang="ja-JP" dirty="0"/>
          </a:p>
        </p:txBody>
      </p:sp>
      <p:sp>
        <p:nvSpPr>
          <p:cNvPr id="26" name="テキスト ボックス 30">
            <a:extLst>
              <a:ext uri="{FF2B5EF4-FFF2-40B4-BE49-F238E27FC236}">
                <a16:creationId xmlns:a16="http://schemas.microsoft.com/office/drawing/2014/main" id="{ACDE2A0C-614C-D3C8-1E7F-9CB48D09BB41}"/>
              </a:ext>
            </a:extLst>
          </p:cNvPr>
          <p:cNvSpPr txBox="1"/>
          <p:nvPr/>
        </p:nvSpPr>
        <p:spPr>
          <a:xfrm>
            <a:off x="6392787" y="5558099"/>
            <a:ext cx="595128" cy="514738"/>
          </a:xfrm>
          <a:prstGeom prst="rect">
            <a:avLst/>
          </a:prstGeom>
          <a:noFill/>
          <a:ln w="28575">
            <a:solidFill>
              <a:schemeClr val="tx1"/>
            </a:solidFill>
          </a:ln>
        </p:spPr>
        <p:txBody>
          <a:bodyPr wrap="square" lIns="36000" tIns="72000" rIns="36000" bIns="72000" rtlCol="0">
            <a:spAutoFit/>
          </a:bodyPr>
          <a:lstStyle/>
          <a:p>
            <a:pPr algn="ctr"/>
            <a:r>
              <a:rPr lang="ja-JP" altLang="en-US" sz="1200" dirty="0"/>
              <a:t>生産</a:t>
            </a:r>
            <a:endParaRPr lang="en-US" altLang="ja-JP" sz="1200" dirty="0"/>
          </a:p>
          <a:p>
            <a:pPr algn="ctr"/>
            <a:r>
              <a:rPr lang="ja-JP" altLang="en-US" sz="1200" dirty="0"/>
              <a:t>消費者</a:t>
            </a:r>
            <a:endParaRPr lang="en-US" sz="1200" dirty="0"/>
          </a:p>
        </p:txBody>
      </p:sp>
      <p:sp>
        <p:nvSpPr>
          <p:cNvPr id="27" name="テキスト ボックス 36">
            <a:extLst>
              <a:ext uri="{FF2B5EF4-FFF2-40B4-BE49-F238E27FC236}">
                <a16:creationId xmlns:a16="http://schemas.microsoft.com/office/drawing/2014/main" id="{1287BF2F-BDEB-AA88-27D1-71C1AFE9FDE7}"/>
              </a:ext>
            </a:extLst>
          </p:cNvPr>
          <p:cNvSpPr txBox="1"/>
          <p:nvPr/>
        </p:nvSpPr>
        <p:spPr>
          <a:xfrm>
            <a:off x="8630171" y="5561489"/>
            <a:ext cx="595129" cy="511830"/>
          </a:xfrm>
          <a:prstGeom prst="rect">
            <a:avLst/>
          </a:prstGeom>
          <a:noFill/>
          <a:ln w="28575">
            <a:solidFill>
              <a:schemeClr val="tx1"/>
            </a:solidFill>
          </a:ln>
        </p:spPr>
        <p:txBody>
          <a:bodyPr wrap="square" lIns="36000" tIns="162000" rIns="36000" bIns="162000" rtlCol="0">
            <a:spAutoFit/>
          </a:bodyPr>
          <a:lstStyle/>
          <a:p>
            <a:pPr algn="ctr"/>
            <a:r>
              <a:rPr lang="ja-JP" altLang="en-US" sz="1200" dirty="0"/>
              <a:t>消費者</a:t>
            </a:r>
            <a:endParaRPr lang="en-US" sz="1200" dirty="0"/>
          </a:p>
        </p:txBody>
      </p:sp>
      <p:cxnSp>
        <p:nvCxnSpPr>
          <p:cNvPr id="28" name="直線矢印コネクタ 38">
            <a:extLst>
              <a:ext uri="{FF2B5EF4-FFF2-40B4-BE49-F238E27FC236}">
                <a16:creationId xmlns:a16="http://schemas.microsoft.com/office/drawing/2014/main" id="{4442EA10-4394-CACE-3E0F-A6FF733CF36F}"/>
              </a:ext>
            </a:extLst>
          </p:cNvPr>
          <p:cNvCxnSpPr>
            <a:cxnSpLocks/>
          </p:cNvCxnSpPr>
          <p:nvPr/>
        </p:nvCxnSpPr>
        <p:spPr>
          <a:xfrm>
            <a:off x="5544945" y="2222800"/>
            <a:ext cx="916015" cy="625815"/>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9" name="直線矢印コネクタ 46">
            <a:extLst>
              <a:ext uri="{FF2B5EF4-FFF2-40B4-BE49-F238E27FC236}">
                <a16:creationId xmlns:a16="http://schemas.microsoft.com/office/drawing/2014/main" id="{B872BA35-57BF-0DDC-97F9-DBF69630F7CD}"/>
              </a:ext>
            </a:extLst>
          </p:cNvPr>
          <p:cNvCxnSpPr>
            <a:cxnSpLocks/>
          </p:cNvCxnSpPr>
          <p:nvPr/>
        </p:nvCxnSpPr>
        <p:spPr>
          <a:xfrm>
            <a:off x="7810724" y="2439645"/>
            <a:ext cx="0" cy="389617"/>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0" name="直線矢印コネクタ 47">
            <a:extLst>
              <a:ext uri="{FF2B5EF4-FFF2-40B4-BE49-F238E27FC236}">
                <a16:creationId xmlns:a16="http://schemas.microsoft.com/office/drawing/2014/main" id="{41D6C662-9DA3-B4CD-9A27-87A8A7EDFCA9}"/>
              </a:ext>
            </a:extLst>
          </p:cNvPr>
          <p:cNvCxnSpPr>
            <a:cxnSpLocks/>
            <a:stCxn id="20" idx="2"/>
          </p:cNvCxnSpPr>
          <p:nvPr/>
        </p:nvCxnSpPr>
        <p:spPr>
          <a:xfrm flipH="1">
            <a:off x="8626699" y="2436393"/>
            <a:ext cx="160020" cy="42309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1" name="直線矢印コネクタ 54">
            <a:extLst>
              <a:ext uri="{FF2B5EF4-FFF2-40B4-BE49-F238E27FC236}">
                <a16:creationId xmlns:a16="http://schemas.microsoft.com/office/drawing/2014/main" id="{0E1A809D-AE92-3592-2142-1C451E9A477D}"/>
              </a:ext>
            </a:extLst>
          </p:cNvPr>
          <p:cNvCxnSpPr>
            <a:cxnSpLocks/>
            <a:endCxn id="22" idx="0"/>
          </p:cNvCxnSpPr>
          <p:nvPr/>
        </p:nvCxnSpPr>
        <p:spPr>
          <a:xfrm flipH="1">
            <a:off x="6834266" y="3408562"/>
            <a:ext cx="219756" cy="319383"/>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 name="直線矢印コネクタ 56">
            <a:extLst>
              <a:ext uri="{FF2B5EF4-FFF2-40B4-BE49-F238E27FC236}">
                <a16:creationId xmlns:a16="http://schemas.microsoft.com/office/drawing/2014/main" id="{5AF2BA8D-19DA-EC37-90EB-287EF2752E1A}"/>
              </a:ext>
            </a:extLst>
          </p:cNvPr>
          <p:cNvCxnSpPr>
            <a:cxnSpLocks/>
            <a:endCxn id="24" idx="0"/>
          </p:cNvCxnSpPr>
          <p:nvPr/>
        </p:nvCxnSpPr>
        <p:spPr>
          <a:xfrm>
            <a:off x="8626699" y="3397933"/>
            <a:ext cx="160483" cy="33001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 name="直線矢印コネクタ 58">
            <a:extLst>
              <a:ext uri="{FF2B5EF4-FFF2-40B4-BE49-F238E27FC236}">
                <a16:creationId xmlns:a16="http://schemas.microsoft.com/office/drawing/2014/main" id="{D17AE675-AD3A-DA6C-2A7E-11849CA1F686}"/>
              </a:ext>
            </a:extLst>
          </p:cNvPr>
          <p:cNvCxnSpPr>
            <a:cxnSpLocks/>
            <a:endCxn id="23" idx="0"/>
          </p:cNvCxnSpPr>
          <p:nvPr/>
        </p:nvCxnSpPr>
        <p:spPr>
          <a:xfrm>
            <a:off x="7810724" y="3408562"/>
            <a:ext cx="0" cy="319383"/>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4" name="直線矢印コネクタ 60">
            <a:extLst>
              <a:ext uri="{FF2B5EF4-FFF2-40B4-BE49-F238E27FC236}">
                <a16:creationId xmlns:a16="http://schemas.microsoft.com/office/drawing/2014/main" id="{1D2E370D-5B40-363F-17D0-6FAB5BBB0822}"/>
              </a:ext>
            </a:extLst>
          </p:cNvPr>
          <p:cNvCxnSpPr>
            <a:cxnSpLocks/>
          </p:cNvCxnSpPr>
          <p:nvPr/>
        </p:nvCxnSpPr>
        <p:spPr>
          <a:xfrm flipH="1">
            <a:off x="5544945" y="3418991"/>
            <a:ext cx="877906" cy="419283"/>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5" name="直線矢印コネクタ 62">
            <a:extLst>
              <a:ext uri="{FF2B5EF4-FFF2-40B4-BE49-F238E27FC236}">
                <a16:creationId xmlns:a16="http://schemas.microsoft.com/office/drawing/2014/main" id="{8D1AB14B-31DF-2C3E-E59C-753770B1C093}"/>
              </a:ext>
            </a:extLst>
          </p:cNvPr>
          <p:cNvCxnSpPr>
            <a:cxnSpLocks/>
          </p:cNvCxnSpPr>
          <p:nvPr/>
        </p:nvCxnSpPr>
        <p:spPr>
          <a:xfrm>
            <a:off x="5561854" y="3878125"/>
            <a:ext cx="899106" cy="80683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6" name="直線矢印コネクタ 64">
            <a:extLst>
              <a:ext uri="{FF2B5EF4-FFF2-40B4-BE49-F238E27FC236}">
                <a16:creationId xmlns:a16="http://schemas.microsoft.com/office/drawing/2014/main" id="{53C428EC-D7CC-00A5-54D1-5BF6E6C519C0}"/>
              </a:ext>
            </a:extLst>
          </p:cNvPr>
          <p:cNvCxnSpPr>
            <a:cxnSpLocks/>
          </p:cNvCxnSpPr>
          <p:nvPr/>
        </p:nvCxnSpPr>
        <p:spPr>
          <a:xfrm>
            <a:off x="6836960" y="4376942"/>
            <a:ext cx="217061" cy="28971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7" name="直線矢印コネクタ 69">
            <a:extLst>
              <a:ext uri="{FF2B5EF4-FFF2-40B4-BE49-F238E27FC236}">
                <a16:creationId xmlns:a16="http://schemas.microsoft.com/office/drawing/2014/main" id="{C9C0E27F-DF14-EE52-B8CF-22CE3AC41FDF}"/>
              </a:ext>
            </a:extLst>
          </p:cNvPr>
          <p:cNvCxnSpPr>
            <a:cxnSpLocks/>
          </p:cNvCxnSpPr>
          <p:nvPr/>
        </p:nvCxnSpPr>
        <p:spPr>
          <a:xfrm>
            <a:off x="7808941" y="4381193"/>
            <a:ext cx="0" cy="319383"/>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8" name="直線矢印コネクタ 70">
            <a:extLst>
              <a:ext uri="{FF2B5EF4-FFF2-40B4-BE49-F238E27FC236}">
                <a16:creationId xmlns:a16="http://schemas.microsoft.com/office/drawing/2014/main" id="{5B668F0C-4AFB-17C1-7CF3-91D1741BE806}"/>
              </a:ext>
            </a:extLst>
          </p:cNvPr>
          <p:cNvCxnSpPr>
            <a:cxnSpLocks/>
          </p:cNvCxnSpPr>
          <p:nvPr/>
        </p:nvCxnSpPr>
        <p:spPr>
          <a:xfrm flipH="1">
            <a:off x="8630171" y="4373753"/>
            <a:ext cx="167294" cy="311206"/>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9" name="直線矢印コネクタ 72">
            <a:extLst>
              <a:ext uri="{FF2B5EF4-FFF2-40B4-BE49-F238E27FC236}">
                <a16:creationId xmlns:a16="http://schemas.microsoft.com/office/drawing/2014/main" id="{3AF74CC5-DEDF-AEA6-9B97-CECAB3E852E7}"/>
              </a:ext>
            </a:extLst>
          </p:cNvPr>
          <p:cNvCxnSpPr>
            <a:cxnSpLocks/>
            <a:endCxn id="26" idx="0"/>
          </p:cNvCxnSpPr>
          <p:nvPr/>
        </p:nvCxnSpPr>
        <p:spPr>
          <a:xfrm flipH="1">
            <a:off x="6690351" y="5283653"/>
            <a:ext cx="363670" cy="274446"/>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40" name="直線矢印コネクタ 74">
            <a:extLst>
              <a:ext uri="{FF2B5EF4-FFF2-40B4-BE49-F238E27FC236}">
                <a16:creationId xmlns:a16="http://schemas.microsoft.com/office/drawing/2014/main" id="{9544A346-5AD2-F285-F8E0-68B84C7F731C}"/>
              </a:ext>
            </a:extLst>
          </p:cNvPr>
          <p:cNvCxnSpPr>
            <a:cxnSpLocks/>
          </p:cNvCxnSpPr>
          <p:nvPr/>
        </p:nvCxnSpPr>
        <p:spPr>
          <a:xfrm>
            <a:off x="7434927" y="5262918"/>
            <a:ext cx="0" cy="29857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41" name="直線矢印コネクタ 77">
            <a:extLst>
              <a:ext uri="{FF2B5EF4-FFF2-40B4-BE49-F238E27FC236}">
                <a16:creationId xmlns:a16="http://schemas.microsoft.com/office/drawing/2014/main" id="{2B48FF68-5516-8B44-9AC2-490C09D6E8D5}"/>
              </a:ext>
            </a:extLst>
          </p:cNvPr>
          <p:cNvCxnSpPr>
            <a:cxnSpLocks/>
          </p:cNvCxnSpPr>
          <p:nvPr/>
        </p:nvCxnSpPr>
        <p:spPr>
          <a:xfrm flipH="1">
            <a:off x="8179505" y="5269835"/>
            <a:ext cx="2449" cy="28826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42" name="直線矢印コネクタ 79">
            <a:extLst>
              <a:ext uri="{FF2B5EF4-FFF2-40B4-BE49-F238E27FC236}">
                <a16:creationId xmlns:a16="http://schemas.microsoft.com/office/drawing/2014/main" id="{659B05A0-C976-541D-C593-AEF78D5330F4}"/>
              </a:ext>
            </a:extLst>
          </p:cNvPr>
          <p:cNvCxnSpPr>
            <a:cxnSpLocks/>
            <a:endCxn id="27" idx="0"/>
          </p:cNvCxnSpPr>
          <p:nvPr/>
        </p:nvCxnSpPr>
        <p:spPr>
          <a:xfrm>
            <a:off x="8626517" y="5283653"/>
            <a:ext cx="301219" cy="277836"/>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95">
            <a:extLst>
              <a:ext uri="{FF2B5EF4-FFF2-40B4-BE49-F238E27FC236}">
                <a16:creationId xmlns:a16="http://schemas.microsoft.com/office/drawing/2014/main" id="{86758446-85FB-B5E2-2CAF-F871998DAF2D}"/>
              </a:ext>
            </a:extLst>
          </p:cNvPr>
          <p:cNvCxnSpPr>
            <a:cxnSpLocks/>
            <a:endCxn id="15" idx="0"/>
          </p:cNvCxnSpPr>
          <p:nvPr/>
        </p:nvCxnSpPr>
        <p:spPr>
          <a:xfrm rot="10800000" flipV="1">
            <a:off x="4232111" y="1925049"/>
            <a:ext cx="2160677" cy="511343"/>
          </a:xfrm>
          <a:prstGeom prst="bentConnector2">
            <a:avLst/>
          </a:prstGeom>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44" name="コネクタ: カギ線 100">
            <a:extLst>
              <a:ext uri="{FF2B5EF4-FFF2-40B4-BE49-F238E27FC236}">
                <a16:creationId xmlns:a16="http://schemas.microsoft.com/office/drawing/2014/main" id="{06B44A00-92B1-FDCA-EE30-2F24A584E979}"/>
              </a:ext>
            </a:extLst>
          </p:cNvPr>
          <p:cNvCxnSpPr>
            <a:cxnSpLocks/>
            <a:stCxn id="18" idx="1"/>
            <a:endCxn id="22" idx="1"/>
          </p:cNvCxnSpPr>
          <p:nvPr/>
        </p:nvCxnSpPr>
        <p:spPr>
          <a:xfrm rot="10800000" flipV="1">
            <a:off x="6395221" y="2116480"/>
            <a:ext cx="929" cy="1935964"/>
          </a:xfrm>
          <a:prstGeom prst="bentConnector3">
            <a:avLst>
              <a:gd name="adj1" fmla="val 30535091"/>
            </a:avLst>
          </a:prstGeom>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45" name="テキスト ボックス 105">
            <a:extLst>
              <a:ext uri="{FF2B5EF4-FFF2-40B4-BE49-F238E27FC236}">
                <a16:creationId xmlns:a16="http://schemas.microsoft.com/office/drawing/2014/main" id="{BDACF670-10DD-ECF4-08B3-D921553A4307}"/>
              </a:ext>
            </a:extLst>
          </p:cNvPr>
          <p:cNvSpPr txBox="1"/>
          <p:nvPr/>
        </p:nvSpPr>
        <p:spPr>
          <a:xfrm>
            <a:off x="5011155" y="5508252"/>
            <a:ext cx="415498" cy="307777"/>
          </a:xfrm>
          <a:prstGeom prst="rect">
            <a:avLst/>
          </a:prstGeom>
          <a:noFill/>
        </p:spPr>
        <p:txBody>
          <a:bodyPr wrap="none" rtlCol="0">
            <a:spAutoFit/>
          </a:bodyPr>
          <a:lstStyle/>
          <a:p>
            <a:r>
              <a:rPr lang="en-US" altLang="ja-JP" sz="1400" dirty="0">
                <a:solidFill>
                  <a:schemeClr val="accent2"/>
                </a:solidFill>
              </a:rPr>
              <a:t>FIT</a:t>
            </a:r>
            <a:endParaRPr lang="en-US" sz="1400" dirty="0">
              <a:solidFill>
                <a:schemeClr val="accent2"/>
              </a:solidFill>
            </a:endParaRPr>
          </a:p>
        </p:txBody>
      </p:sp>
      <p:sp>
        <p:nvSpPr>
          <p:cNvPr id="46" name="テキスト ボックス 106">
            <a:extLst>
              <a:ext uri="{FF2B5EF4-FFF2-40B4-BE49-F238E27FC236}">
                <a16:creationId xmlns:a16="http://schemas.microsoft.com/office/drawing/2014/main" id="{2C6A86E5-33EA-21F6-084D-1531F7A979A1}"/>
              </a:ext>
            </a:extLst>
          </p:cNvPr>
          <p:cNvSpPr txBox="1"/>
          <p:nvPr/>
        </p:nvSpPr>
        <p:spPr>
          <a:xfrm>
            <a:off x="5850950" y="1663734"/>
            <a:ext cx="415498" cy="307777"/>
          </a:xfrm>
          <a:prstGeom prst="rect">
            <a:avLst/>
          </a:prstGeom>
          <a:noFill/>
        </p:spPr>
        <p:txBody>
          <a:bodyPr wrap="none" rtlCol="0">
            <a:spAutoFit/>
          </a:bodyPr>
          <a:lstStyle/>
          <a:p>
            <a:r>
              <a:rPr lang="en-US" altLang="ja-JP" sz="1400" dirty="0">
                <a:solidFill>
                  <a:schemeClr val="accent2"/>
                </a:solidFill>
              </a:rPr>
              <a:t>FIT</a:t>
            </a:r>
            <a:endParaRPr lang="en-US" sz="1400" dirty="0">
              <a:solidFill>
                <a:schemeClr val="accent2"/>
              </a:solidFill>
            </a:endParaRPr>
          </a:p>
        </p:txBody>
      </p:sp>
      <p:sp>
        <p:nvSpPr>
          <p:cNvPr id="47" name="テキスト ボックス 107">
            <a:extLst>
              <a:ext uri="{FF2B5EF4-FFF2-40B4-BE49-F238E27FC236}">
                <a16:creationId xmlns:a16="http://schemas.microsoft.com/office/drawing/2014/main" id="{0E3DB9D2-88BE-2C41-B30E-263B5F0D5ECA}"/>
              </a:ext>
            </a:extLst>
          </p:cNvPr>
          <p:cNvSpPr txBox="1"/>
          <p:nvPr/>
        </p:nvSpPr>
        <p:spPr>
          <a:xfrm rot="16200000">
            <a:off x="5813641" y="2967526"/>
            <a:ext cx="421910" cy="307777"/>
          </a:xfrm>
          <a:prstGeom prst="rect">
            <a:avLst/>
          </a:prstGeom>
          <a:noFill/>
        </p:spPr>
        <p:txBody>
          <a:bodyPr wrap="none" rtlCol="0">
            <a:spAutoFit/>
          </a:bodyPr>
          <a:lstStyle/>
          <a:p>
            <a:r>
              <a:rPr lang="en-US" altLang="ja-JP" sz="1400" dirty="0">
                <a:solidFill>
                  <a:schemeClr val="accent2"/>
                </a:solidFill>
              </a:rPr>
              <a:t>FIP</a:t>
            </a:r>
            <a:endParaRPr lang="en-US" sz="1400" dirty="0">
              <a:solidFill>
                <a:schemeClr val="accent2"/>
              </a:solidFill>
            </a:endParaRPr>
          </a:p>
        </p:txBody>
      </p:sp>
      <p:sp>
        <p:nvSpPr>
          <p:cNvPr id="48" name="テキスト ボックス 51">
            <a:extLst>
              <a:ext uri="{FF2B5EF4-FFF2-40B4-BE49-F238E27FC236}">
                <a16:creationId xmlns:a16="http://schemas.microsoft.com/office/drawing/2014/main" id="{F26C4473-7A56-CDF0-FA25-65BFC2147547}"/>
              </a:ext>
            </a:extLst>
          </p:cNvPr>
          <p:cNvSpPr txBox="1"/>
          <p:nvPr/>
        </p:nvSpPr>
        <p:spPr>
          <a:xfrm>
            <a:off x="7137363" y="5573360"/>
            <a:ext cx="595128" cy="514738"/>
          </a:xfrm>
          <a:prstGeom prst="rect">
            <a:avLst/>
          </a:prstGeom>
          <a:noFill/>
          <a:ln w="28575">
            <a:solidFill>
              <a:schemeClr val="tx1"/>
            </a:solidFill>
          </a:ln>
        </p:spPr>
        <p:txBody>
          <a:bodyPr wrap="square" lIns="36000" tIns="72000" rIns="36000" bIns="72000" rtlCol="0">
            <a:spAutoFit/>
          </a:bodyPr>
          <a:lstStyle/>
          <a:p>
            <a:pPr algn="ctr"/>
            <a:r>
              <a:rPr lang="ja-JP" altLang="en-US" sz="1200" dirty="0"/>
              <a:t>生産</a:t>
            </a:r>
            <a:endParaRPr lang="en-US" altLang="ja-JP" sz="1200" dirty="0"/>
          </a:p>
          <a:p>
            <a:pPr algn="ctr"/>
            <a:r>
              <a:rPr lang="ja-JP" altLang="en-US" sz="1200" dirty="0"/>
              <a:t>消費者</a:t>
            </a:r>
            <a:endParaRPr lang="en-US" sz="1200" dirty="0"/>
          </a:p>
        </p:txBody>
      </p:sp>
      <p:sp>
        <p:nvSpPr>
          <p:cNvPr id="49" name="テキスト ボックス 52">
            <a:extLst>
              <a:ext uri="{FF2B5EF4-FFF2-40B4-BE49-F238E27FC236}">
                <a16:creationId xmlns:a16="http://schemas.microsoft.com/office/drawing/2014/main" id="{56AFBAD0-43E7-3DD4-3EAD-970A45923923}"/>
              </a:ext>
            </a:extLst>
          </p:cNvPr>
          <p:cNvSpPr txBox="1"/>
          <p:nvPr/>
        </p:nvSpPr>
        <p:spPr>
          <a:xfrm>
            <a:off x="7881939" y="5573360"/>
            <a:ext cx="595128" cy="514738"/>
          </a:xfrm>
          <a:prstGeom prst="rect">
            <a:avLst/>
          </a:prstGeom>
          <a:noFill/>
          <a:ln w="28575">
            <a:solidFill>
              <a:schemeClr val="tx1"/>
            </a:solidFill>
          </a:ln>
        </p:spPr>
        <p:txBody>
          <a:bodyPr wrap="square" lIns="36000" tIns="72000" rIns="36000" bIns="72000" rtlCol="0">
            <a:spAutoFit/>
          </a:bodyPr>
          <a:lstStyle/>
          <a:p>
            <a:pPr algn="ctr"/>
            <a:r>
              <a:rPr lang="ja-JP" altLang="en-US" sz="1200" dirty="0"/>
              <a:t>生産</a:t>
            </a:r>
            <a:endParaRPr lang="en-US" altLang="ja-JP" sz="1200" dirty="0"/>
          </a:p>
          <a:p>
            <a:pPr algn="ctr"/>
            <a:r>
              <a:rPr lang="ja-JP" altLang="en-US" sz="1200" dirty="0"/>
              <a:t>消費者</a:t>
            </a:r>
            <a:endParaRPr lang="en-US" sz="1200" dirty="0"/>
          </a:p>
        </p:txBody>
      </p:sp>
      <p:cxnSp>
        <p:nvCxnSpPr>
          <p:cNvPr id="50" name="コネクタ: カギ線 57">
            <a:extLst>
              <a:ext uri="{FF2B5EF4-FFF2-40B4-BE49-F238E27FC236}">
                <a16:creationId xmlns:a16="http://schemas.microsoft.com/office/drawing/2014/main" id="{98988889-75F2-9490-73BE-883597AC9884}"/>
              </a:ext>
            </a:extLst>
          </p:cNvPr>
          <p:cNvCxnSpPr>
            <a:cxnSpLocks/>
            <a:stCxn id="51" idx="1"/>
          </p:cNvCxnSpPr>
          <p:nvPr/>
        </p:nvCxnSpPr>
        <p:spPr>
          <a:xfrm rot="10800000">
            <a:off x="4561308" y="3441403"/>
            <a:ext cx="1633190" cy="2386688"/>
          </a:xfrm>
          <a:prstGeom prst="bentConnector2">
            <a:avLst/>
          </a:prstGeom>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51" name="正方形/長方形 2">
            <a:extLst>
              <a:ext uri="{FF2B5EF4-FFF2-40B4-BE49-F238E27FC236}">
                <a16:creationId xmlns:a16="http://schemas.microsoft.com/office/drawing/2014/main" id="{11CED9DD-0847-85DB-B569-0403BE30ED39}"/>
              </a:ext>
            </a:extLst>
          </p:cNvPr>
          <p:cNvSpPr/>
          <p:nvPr/>
        </p:nvSpPr>
        <p:spPr>
          <a:xfrm>
            <a:off x="6194498" y="5469778"/>
            <a:ext cx="3228885" cy="716626"/>
          </a:xfrm>
          <a:prstGeom prst="rect">
            <a:avLst/>
          </a:prstGeom>
          <a:no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6" name="直線矢印コネクタ 66">
            <a:extLst>
              <a:ext uri="{FF2B5EF4-FFF2-40B4-BE49-F238E27FC236}">
                <a16:creationId xmlns:a16="http://schemas.microsoft.com/office/drawing/2014/main" id="{FCBD4E38-78B4-6832-63AA-BC98722A2846}"/>
              </a:ext>
            </a:extLst>
          </p:cNvPr>
          <p:cNvCxnSpPr>
            <a:cxnSpLocks/>
          </p:cNvCxnSpPr>
          <p:nvPr/>
        </p:nvCxnSpPr>
        <p:spPr>
          <a:xfrm>
            <a:off x="6834322" y="2460065"/>
            <a:ext cx="160483" cy="330011"/>
          </a:xfrm>
          <a:prstGeom prst="straightConnector1">
            <a:avLst/>
          </a:prstGeom>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57" name="テキスト ボックス 67">
            <a:extLst>
              <a:ext uri="{FF2B5EF4-FFF2-40B4-BE49-F238E27FC236}">
                <a16:creationId xmlns:a16="http://schemas.microsoft.com/office/drawing/2014/main" id="{E75A4E7E-2230-1AED-F973-E361C16CDCE5}"/>
              </a:ext>
            </a:extLst>
          </p:cNvPr>
          <p:cNvSpPr txBox="1"/>
          <p:nvPr/>
        </p:nvSpPr>
        <p:spPr>
          <a:xfrm>
            <a:off x="6863226" y="2436841"/>
            <a:ext cx="421910" cy="307777"/>
          </a:xfrm>
          <a:prstGeom prst="rect">
            <a:avLst/>
          </a:prstGeom>
          <a:noFill/>
        </p:spPr>
        <p:txBody>
          <a:bodyPr wrap="none" rtlCol="0">
            <a:spAutoFit/>
          </a:bodyPr>
          <a:lstStyle/>
          <a:p>
            <a:r>
              <a:rPr lang="en-US" altLang="ja-JP" sz="1400" dirty="0">
                <a:solidFill>
                  <a:schemeClr val="accent2"/>
                </a:solidFill>
              </a:rPr>
              <a:t>FIP</a:t>
            </a:r>
            <a:endParaRPr lang="en-US" sz="1400" dirty="0">
              <a:solidFill>
                <a:schemeClr val="accent2"/>
              </a:solidFill>
            </a:endParaRPr>
          </a:p>
        </p:txBody>
      </p:sp>
      <p:sp>
        <p:nvSpPr>
          <p:cNvPr id="58" name="TextBox 16">
            <a:extLst>
              <a:ext uri="{FF2B5EF4-FFF2-40B4-BE49-F238E27FC236}">
                <a16:creationId xmlns:a16="http://schemas.microsoft.com/office/drawing/2014/main" id="{F5504C1C-6238-71AA-06B8-CA4E54CB4CD4}"/>
              </a:ext>
            </a:extLst>
          </p:cNvPr>
          <p:cNvSpPr txBox="1"/>
          <p:nvPr/>
        </p:nvSpPr>
        <p:spPr>
          <a:xfrm>
            <a:off x="123825" y="6558580"/>
            <a:ext cx="2719014" cy="338554"/>
          </a:xfrm>
          <a:prstGeom prst="rect">
            <a:avLst/>
          </a:prstGeom>
          <a:noFill/>
        </p:spPr>
        <p:txBody>
          <a:bodyPr wrap="none" rtlCol="0">
            <a:spAutoFit/>
          </a:bodyPr>
          <a:lstStyle/>
          <a:p>
            <a:r>
              <a:rPr lang="ja-JP" altLang="en-US" sz="800" dirty="0">
                <a:hlinkClick r:id="rId2"/>
              </a:rPr>
              <a:t>一般財団法人 新エネルギー財団 電力市場の概要</a:t>
            </a:r>
            <a:r>
              <a:rPr lang="en-US" altLang="ja-JP" sz="800" dirty="0">
                <a:hlinkClick r:id="rId2"/>
              </a:rPr>
              <a:t>(</a:t>
            </a:r>
            <a:r>
              <a:rPr lang="ja-JP" altLang="en-US" sz="800" dirty="0">
                <a:hlinkClick r:id="rId2"/>
              </a:rPr>
              <a:t>その</a:t>
            </a:r>
            <a:r>
              <a:rPr lang="en-US" altLang="ja-JP" sz="800" dirty="0">
                <a:hlinkClick r:id="rId2"/>
              </a:rPr>
              <a:t>1)</a:t>
            </a:r>
            <a:endParaRPr lang="en-US" sz="800" dirty="0"/>
          </a:p>
          <a:p>
            <a:endParaRPr lang="en-US" sz="800" dirty="0"/>
          </a:p>
        </p:txBody>
      </p:sp>
    </p:spTree>
    <p:extLst>
      <p:ext uri="{BB962C8B-B14F-4D97-AF65-F5344CB8AC3E}">
        <p14:creationId xmlns:p14="http://schemas.microsoft.com/office/powerpoint/2010/main" val="355259706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BAF1CA79-0FBB-CB43-04FA-17B8379E5FCF}"/>
              </a:ext>
            </a:extLst>
          </p:cNvPr>
          <p:cNvSpPr>
            <a:spLocks noGrp="1"/>
          </p:cNvSpPr>
          <p:nvPr>
            <p:ph sz="quarter" idx="16"/>
          </p:nvPr>
        </p:nvSpPr>
        <p:spPr/>
        <p:txBody>
          <a:bodyPr/>
          <a:lstStyle/>
          <a:p>
            <a:r>
              <a:rPr kumimoji="1" lang="en-US" altLang="ja-JP" dirty="0"/>
              <a:t>CAPEX of PV</a:t>
            </a:r>
            <a:endParaRPr kumimoji="1" lang="ja-JP" altLang="en-US" dirty="0"/>
          </a:p>
        </p:txBody>
      </p:sp>
      <p:sp>
        <p:nvSpPr>
          <p:cNvPr id="4" name="テキスト ボックス 3">
            <a:extLst>
              <a:ext uri="{FF2B5EF4-FFF2-40B4-BE49-F238E27FC236}">
                <a16:creationId xmlns:a16="http://schemas.microsoft.com/office/drawing/2014/main" id="{E4408D3D-6A0A-DCC5-EE40-54AD6D4B3C33}"/>
              </a:ext>
            </a:extLst>
          </p:cNvPr>
          <p:cNvSpPr txBox="1"/>
          <p:nvPr/>
        </p:nvSpPr>
        <p:spPr>
          <a:xfrm>
            <a:off x="118320" y="6488668"/>
            <a:ext cx="9669359" cy="276999"/>
          </a:xfrm>
          <a:prstGeom prst="rect">
            <a:avLst/>
          </a:prstGeom>
          <a:noFill/>
        </p:spPr>
        <p:txBody>
          <a:bodyPr wrap="square">
            <a:spAutoFit/>
          </a:bodyPr>
          <a:lstStyle/>
          <a:p>
            <a:r>
              <a:rPr lang="en-US" sz="600" dirty="0"/>
              <a:t>[1] </a:t>
            </a:r>
            <a:r>
              <a:rPr lang="en-US" sz="600" dirty="0">
                <a:hlinkClick r:id="rId2"/>
              </a:rPr>
              <a:t>https://www.nrel.gov/docs/fy22osti/83586.pdf</a:t>
            </a:r>
            <a:endParaRPr lang="en-US" sz="600" dirty="0"/>
          </a:p>
          <a:p>
            <a:endParaRPr lang="en-US" sz="600" dirty="0"/>
          </a:p>
        </p:txBody>
      </p:sp>
      <p:pic>
        <p:nvPicPr>
          <p:cNvPr id="6" name="図 5">
            <a:extLst>
              <a:ext uri="{FF2B5EF4-FFF2-40B4-BE49-F238E27FC236}">
                <a16:creationId xmlns:a16="http://schemas.microsoft.com/office/drawing/2014/main" id="{FE9B58C7-92CA-FB6C-D457-126C32ED99E2}"/>
              </a:ext>
            </a:extLst>
          </p:cNvPr>
          <p:cNvPicPr>
            <a:picLocks noChangeAspect="1"/>
          </p:cNvPicPr>
          <p:nvPr/>
        </p:nvPicPr>
        <p:blipFill>
          <a:blip r:embed="rId3"/>
          <a:stretch>
            <a:fillRect/>
          </a:stretch>
        </p:blipFill>
        <p:spPr>
          <a:xfrm>
            <a:off x="63890" y="761125"/>
            <a:ext cx="3363684" cy="2146561"/>
          </a:xfrm>
          <a:prstGeom prst="rect">
            <a:avLst/>
          </a:prstGeom>
        </p:spPr>
      </p:pic>
      <p:pic>
        <p:nvPicPr>
          <p:cNvPr id="8" name="図 7">
            <a:extLst>
              <a:ext uri="{FF2B5EF4-FFF2-40B4-BE49-F238E27FC236}">
                <a16:creationId xmlns:a16="http://schemas.microsoft.com/office/drawing/2014/main" id="{41C01826-9AF7-5D21-8B58-12CE528FF74D}"/>
              </a:ext>
            </a:extLst>
          </p:cNvPr>
          <p:cNvPicPr>
            <a:picLocks noChangeAspect="1"/>
          </p:cNvPicPr>
          <p:nvPr/>
        </p:nvPicPr>
        <p:blipFill>
          <a:blip r:embed="rId4"/>
          <a:stretch>
            <a:fillRect/>
          </a:stretch>
        </p:blipFill>
        <p:spPr>
          <a:xfrm>
            <a:off x="3525084" y="761125"/>
            <a:ext cx="2614458" cy="3154888"/>
          </a:xfrm>
          <a:prstGeom prst="rect">
            <a:avLst/>
          </a:prstGeom>
        </p:spPr>
      </p:pic>
      <p:pic>
        <p:nvPicPr>
          <p:cNvPr id="10" name="図 9">
            <a:extLst>
              <a:ext uri="{FF2B5EF4-FFF2-40B4-BE49-F238E27FC236}">
                <a16:creationId xmlns:a16="http://schemas.microsoft.com/office/drawing/2014/main" id="{3AA13E5B-E67C-9AE0-6BBA-4B8E8CF5B460}"/>
              </a:ext>
            </a:extLst>
          </p:cNvPr>
          <p:cNvPicPr>
            <a:picLocks noChangeAspect="1"/>
          </p:cNvPicPr>
          <p:nvPr/>
        </p:nvPicPr>
        <p:blipFill>
          <a:blip r:embed="rId5"/>
          <a:stretch>
            <a:fillRect/>
          </a:stretch>
        </p:blipFill>
        <p:spPr>
          <a:xfrm>
            <a:off x="3530527" y="3850577"/>
            <a:ext cx="2576356" cy="2916051"/>
          </a:xfrm>
          <a:prstGeom prst="rect">
            <a:avLst/>
          </a:prstGeom>
        </p:spPr>
      </p:pic>
      <p:pic>
        <p:nvPicPr>
          <p:cNvPr id="12" name="図 11">
            <a:extLst>
              <a:ext uri="{FF2B5EF4-FFF2-40B4-BE49-F238E27FC236}">
                <a16:creationId xmlns:a16="http://schemas.microsoft.com/office/drawing/2014/main" id="{A2B24D6A-287A-2535-A2E3-23A2A588EF60}"/>
              </a:ext>
            </a:extLst>
          </p:cNvPr>
          <p:cNvPicPr>
            <a:picLocks noChangeAspect="1"/>
          </p:cNvPicPr>
          <p:nvPr/>
        </p:nvPicPr>
        <p:blipFill>
          <a:blip r:embed="rId6"/>
          <a:stretch>
            <a:fillRect/>
          </a:stretch>
        </p:blipFill>
        <p:spPr>
          <a:xfrm>
            <a:off x="6287912" y="1895311"/>
            <a:ext cx="3390615" cy="2604651"/>
          </a:xfrm>
          <a:prstGeom prst="rect">
            <a:avLst/>
          </a:prstGeom>
        </p:spPr>
      </p:pic>
      <p:sp>
        <p:nvSpPr>
          <p:cNvPr id="13" name="コンテンツ プレースホルダー 1">
            <a:extLst>
              <a:ext uri="{FF2B5EF4-FFF2-40B4-BE49-F238E27FC236}">
                <a16:creationId xmlns:a16="http://schemas.microsoft.com/office/drawing/2014/main" id="{199E7BDC-D192-5EEF-8D45-83B447C9C43D}"/>
              </a:ext>
            </a:extLst>
          </p:cNvPr>
          <p:cNvSpPr>
            <a:spLocks noGrp="1"/>
          </p:cNvSpPr>
          <p:nvPr>
            <p:ph sz="quarter" idx="17"/>
          </p:nvPr>
        </p:nvSpPr>
        <p:spPr>
          <a:xfrm>
            <a:off x="6287912" y="4877645"/>
            <a:ext cx="3511155" cy="1566697"/>
          </a:xfrm>
        </p:spPr>
        <p:txBody>
          <a:bodyPr/>
          <a:lstStyle/>
          <a:p>
            <a:r>
              <a:rPr kumimoji="1" lang="en-US" altLang="ja-JP" sz="1400" dirty="0"/>
              <a:t>MMP model is used in the cost calculation.</a:t>
            </a:r>
          </a:p>
          <a:p>
            <a:endParaRPr kumimoji="1" lang="en-US" altLang="ja-JP" sz="1400" dirty="0"/>
          </a:p>
          <a:p>
            <a:r>
              <a:rPr kumimoji="1" lang="en-US" altLang="ja-JP" sz="1400" dirty="0"/>
              <a:t>CAPEX per year is calculated by Straight Line Method.</a:t>
            </a:r>
            <a:br>
              <a:rPr kumimoji="1" lang="en-US" altLang="ja-JP" sz="1400" dirty="0"/>
            </a:br>
            <a:r>
              <a:rPr kumimoji="1" lang="en-US" altLang="ja-JP" sz="1400" dirty="0"/>
              <a:t>The statutory useful life of the depreciable </a:t>
            </a:r>
            <a:br>
              <a:rPr kumimoji="1" lang="en-US" altLang="ja-JP" sz="1400" dirty="0"/>
            </a:br>
            <a:r>
              <a:rPr kumimoji="1" lang="en-US" altLang="ja-JP" sz="1400" dirty="0"/>
              <a:t>assets for PV is 17 years.</a:t>
            </a:r>
          </a:p>
        </p:txBody>
      </p:sp>
      <p:sp>
        <p:nvSpPr>
          <p:cNvPr id="15" name="矢印: 右 14">
            <a:extLst>
              <a:ext uri="{FF2B5EF4-FFF2-40B4-BE49-F238E27FC236}">
                <a16:creationId xmlns:a16="http://schemas.microsoft.com/office/drawing/2014/main" id="{8705EB10-38BF-A728-B078-1F5D02CC1B68}"/>
              </a:ext>
            </a:extLst>
          </p:cNvPr>
          <p:cNvSpPr/>
          <p:nvPr/>
        </p:nvSpPr>
        <p:spPr>
          <a:xfrm rot="16200000">
            <a:off x="7679692" y="4517001"/>
            <a:ext cx="277000" cy="30828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コンテンツ プレースホルダー 1">
            <a:extLst>
              <a:ext uri="{FF2B5EF4-FFF2-40B4-BE49-F238E27FC236}">
                <a16:creationId xmlns:a16="http://schemas.microsoft.com/office/drawing/2014/main" id="{6878A9DF-51C6-2BA1-39CC-093C7D43F282}"/>
              </a:ext>
            </a:extLst>
          </p:cNvPr>
          <p:cNvSpPr txBox="1">
            <a:spLocks/>
          </p:cNvSpPr>
          <p:nvPr/>
        </p:nvSpPr>
        <p:spPr>
          <a:xfrm>
            <a:off x="227473" y="4210011"/>
            <a:ext cx="3511155" cy="568803"/>
          </a:xfrm>
          <a:prstGeom prst="rect">
            <a:avLst/>
          </a:prstGeom>
        </p:spPr>
        <p:txBody>
          <a:bodyPr/>
          <a:lstStyle>
            <a:lvl1pPr marL="0" indent="0" algn="l" defTabSz="685800" rtl="0" eaLnBrk="1" latinLnBrk="0" hangingPunct="1">
              <a:lnSpc>
                <a:spcPct val="90000"/>
              </a:lnSpc>
              <a:spcBef>
                <a:spcPts val="750"/>
              </a:spcBef>
              <a:buFont typeface="Arial" panose="020B0604020202020204" pitchFamily="34" charset="0"/>
              <a:buNone/>
              <a:defRPr sz="16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kumimoji="1" lang="en-US" altLang="ja-JP" sz="1400" dirty="0"/>
              <a:t>MSP: Minimum Sustainable Price</a:t>
            </a:r>
          </a:p>
          <a:p>
            <a:r>
              <a:rPr kumimoji="1" lang="en-US" altLang="ja-JP" sz="1400" dirty="0"/>
              <a:t>MMP: Modeled Market Price</a:t>
            </a:r>
          </a:p>
        </p:txBody>
      </p:sp>
    </p:spTree>
    <p:extLst>
      <p:ext uri="{BB962C8B-B14F-4D97-AF65-F5344CB8AC3E}">
        <p14:creationId xmlns:p14="http://schemas.microsoft.com/office/powerpoint/2010/main" val="87207111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BAF1CA79-0FBB-CB43-04FA-17B8379E5FCF}"/>
              </a:ext>
            </a:extLst>
          </p:cNvPr>
          <p:cNvSpPr>
            <a:spLocks noGrp="1"/>
          </p:cNvSpPr>
          <p:nvPr>
            <p:ph sz="quarter" idx="16"/>
          </p:nvPr>
        </p:nvSpPr>
        <p:spPr/>
        <p:txBody>
          <a:bodyPr/>
          <a:lstStyle/>
          <a:p>
            <a:r>
              <a:rPr kumimoji="1" lang="en-US" altLang="ja-JP" dirty="0"/>
              <a:t>OPEX of PV</a:t>
            </a:r>
            <a:endParaRPr kumimoji="1" lang="ja-JP" altLang="en-US" dirty="0"/>
          </a:p>
        </p:txBody>
      </p:sp>
      <p:sp>
        <p:nvSpPr>
          <p:cNvPr id="4" name="テキスト ボックス 3">
            <a:extLst>
              <a:ext uri="{FF2B5EF4-FFF2-40B4-BE49-F238E27FC236}">
                <a16:creationId xmlns:a16="http://schemas.microsoft.com/office/drawing/2014/main" id="{E4408D3D-6A0A-DCC5-EE40-54AD6D4B3C33}"/>
              </a:ext>
            </a:extLst>
          </p:cNvPr>
          <p:cNvSpPr txBox="1"/>
          <p:nvPr/>
        </p:nvSpPr>
        <p:spPr>
          <a:xfrm>
            <a:off x="118320" y="6488668"/>
            <a:ext cx="9669359" cy="276999"/>
          </a:xfrm>
          <a:prstGeom prst="rect">
            <a:avLst/>
          </a:prstGeom>
          <a:noFill/>
        </p:spPr>
        <p:txBody>
          <a:bodyPr wrap="square">
            <a:spAutoFit/>
          </a:bodyPr>
          <a:lstStyle/>
          <a:p>
            <a:r>
              <a:rPr lang="en-US" sz="600" dirty="0"/>
              <a:t>[1] </a:t>
            </a:r>
            <a:r>
              <a:rPr lang="en-US" sz="600" dirty="0">
                <a:hlinkClick r:id="rId2"/>
              </a:rPr>
              <a:t>https://www.nrel.gov/docs/fy22osti/83586.pdf</a:t>
            </a:r>
            <a:endParaRPr lang="en-US" sz="600" dirty="0"/>
          </a:p>
          <a:p>
            <a:endParaRPr lang="en-US" sz="600" dirty="0"/>
          </a:p>
        </p:txBody>
      </p:sp>
      <p:sp>
        <p:nvSpPr>
          <p:cNvPr id="13" name="コンテンツ プレースホルダー 1">
            <a:extLst>
              <a:ext uri="{FF2B5EF4-FFF2-40B4-BE49-F238E27FC236}">
                <a16:creationId xmlns:a16="http://schemas.microsoft.com/office/drawing/2014/main" id="{199E7BDC-D192-5EEF-8D45-83B447C9C43D}"/>
              </a:ext>
            </a:extLst>
          </p:cNvPr>
          <p:cNvSpPr>
            <a:spLocks noGrp="1"/>
          </p:cNvSpPr>
          <p:nvPr>
            <p:ph sz="quarter" idx="17"/>
          </p:nvPr>
        </p:nvSpPr>
        <p:spPr>
          <a:xfrm>
            <a:off x="4952999" y="5622693"/>
            <a:ext cx="4479950" cy="461828"/>
          </a:xfrm>
        </p:spPr>
        <p:txBody>
          <a:bodyPr/>
          <a:lstStyle/>
          <a:p>
            <a:r>
              <a:rPr kumimoji="1" lang="en-US" altLang="ja-JP" sz="1400" dirty="0"/>
              <a:t>MMP residential model is used in the cost calculation.</a:t>
            </a:r>
          </a:p>
        </p:txBody>
      </p:sp>
      <p:pic>
        <p:nvPicPr>
          <p:cNvPr id="5" name="図 4">
            <a:extLst>
              <a:ext uri="{FF2B5EF4-FFF2-40B4-BE49-F238E27FC236}">
                <a16:creationId xmlns:a16="http://schemas.microsoft.com/office/drawing/2014/main" id="{F4F70B7C-7BFB-9116-1DF0-929F8476975E}"/>
              </a:ext>
            </a:extLst>
          </p:cNvPr>
          <p:cNvPicPr>
            <a:picLocks noChangeAspect="1"/>
          </p:cNvPicPr>
          <p:nvPr/>
        </p:nvPicPr>
        <p:blipFill>
          <a:blip r:embed="rId3"/>
          <a:stretch>
            <a:fillRect/>
          </a:stretch>
        </p:blipFill>
        <p:spPr>
          <a:xfrm>
            <a:off x="118320" y="2415348"/>
            <a:ext cx="4615506" cy="2027303"/>
          </a:xfrm>
          <a:prstGeom prst="rect">
            <a:avLst/>
          </a:prstGeom>
        </p:spPr>
      </p:pic>
      <p:pic>
        <p:nvPicPr>
          <p:cNvPr id="9" name="図 8">
            <a:extLst>
              <a:ext uri="{FF2B5EF4-FFF2-40B4-BE49-F238E27FC236}">
                <a16:creationId xmlns:a16="http://schemas.microsoft.com/office/drawing/2014/main" id="{3AC41836-34EA-C81A-D752-90D813860548}"/>
              </a:ext>
            </a:extLst>
          </p:cNvPr>
          <p:cNvPicPr>
            <a:picLocks noChangeAspect="1"/>
          </p:cNvPicPr>
          <p:nvPr/>
        </p:nvPicPr>
        <p:blipFill>
          <a:blip r:embed="rId4"/>
          <a:stretch>
            <a:fillRect/>
          </a:stretch>
        </p:blipFill>
        <p:spPr>
          <a:xfrm>
            <a:off x="4898572" y="1933365"/>
            <a:ext cx="4615506" cy="2991267"/>
          </a:xfrm>
          <a:prstGeom prst="rect">
            <a:avLst/>
          </a:prstGeom>
        </p:spPr>
      </p:pic>
    </p:spTree>
    <p:extLst>
      <p:ext uri="{BB962C8B-B14F-4D97-AF65-F5344CB8AC3E}">
        <p14:creationId xmlns:p14="http://schemas.microsoft.com/office/powerpoint/2010/main" val="177490263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図 13">
            <a:extLst>
              <a:ext uri="{FF2B5EF4-FFF2-40B4-BE49-F238E27FC236}">
                <a16:creationId xmlns:a16="http://schemas.microsoft.com/office/drawing/2014/main" id="{DB684F4C-26AD-B4AA-9E51-8C47388BD52A}"/>
              </a:ext>
            </a:extLst>
          </p:cNvPr>
          <p:cNvPicPr>
            <a:picLocks noChangeAspect="1"/>
          </p:cNvPicPr>
          <p:nvPr/>
        </p:nvPicPr>
        <p:blipFill>
          <a:blip r:embed="rId2"/>
          <a:stretch>
            <a:fillRect/>
          </a:stretch>
        </p:blipFill>
        <p:spPr>
          <a:xfrm>
            <a:off x="6289723" y="2030986"/>
            <a:ext cx="3388804" cy="2604651"/>
          </a:xfrm>
          <a:prstGeom prst="rect">
            <a:avLst/>
          </a:prstGeom>
        </p:spPr>
      </p:pic>
      <p:pic>
        <p:nvPicPr>
          <p:cNvPr id="5" name="図 4">
            <a:extLst>
              <a:ext uri="{FF2B5EF4-FFF2-40B4-BE49-F238E27FC236}">
                <a16:creationId xmlns:a16="http://schemas.microsoft.com/office/drawing/2014/main" id="{E2389208-283E-244B-0390-9726EAE6D229}"/>
              </a:ext>
            </a:extLst>
          </p:cNvPr>
          <p:cNvPicPr>
            <a:picLocks noChangeAspect="1"/>
          </p:cNvPicPr>
          <p:nvPr/>
        </p:nvPicPr>
        <p:blipFill>
          <a:blip r:embed="rId3"/>
          <a:stretch>
            <a:fillRect/>
          </a:stretch>
        </p:blipFill>
        <p:spPr>
          <a:xfrm>
            <a:off x="3525085" y="771088"/>
            <a:ext cx="2573348" cy="2916051"/>
          </a:xfrm>
          <a:prstGeom prst="rect">
            <a:avLst/>
          </a:prstGeom>
        </p:spPr>
      </p:pic>
      <p:sp>
        <p:nvSpPr>
          <p:cNvPr id="3" name="コンテンツ プレースホルダー 2">
            <a:extLst>
              <a:ext uri="{FF2B5EF4-FFF2-40B4-BE49-F238E27FC236}">
                <a16:creationId xmlns:a16="http://schemas.microsoft.com/office/drawing/2014/main" id="{BAF1CA79-0FBB-CB43-04FA-17B8379E5FCF}"/>
              </a:ext>
            </a:extLst>
          </p:cNvPr>
          <p:cNvSpPr>
            <a:spLocks noGrp="1"/>
          </p:cNvSpPr>
          <p:nvPr>
            <p:ph sz="quarter" idx="16"/>
          </p:nvPr>
        </p:nvSpPr>
        <p:spPr/>
        <p:txBody>
          <a:bodyPr/>
          <a:lstStyle/>
          <a:p>
            <a:r>
              <a:rPr kumimoji="1" lang="en-US" altLang="ja-JP" dirty="0"/>
              <a:t>CAPEX of Battery</a:t>
            </a:r>
            <a:endParaRPr kumimoji="1" lang="ja-JP" altLang="en-US" dirty="0"/>
          </a:p>
        </p:txBody>
      </p:sp>
      <p:sp>
        <p:nvSpPr>
          <p:cNvPr id="4" name="テキスト ボックス 3">
            <a:extLst>
              <a:ext uri="{FF2B5EF4-FFF2-40B4-BE49-F238E27FC236}">
                <a16:creationId xmlns:a16="http://schemas.microsoft.com/office/drawing/2014/main" id="{E4408D3D-6A0A-DCC5-EE40-54AD6D4B3C33}"/>
              </a:ext>
            </a:extLst>
          </p:cNvPr>
          <p:cNvSpPr txBox="1"/>
          <p:nvPr/>
        </p:nvSpPr>
        <p:spPr>
          <a:xfrm>
            <a:off x="118320" y="6488668"/>
            <a:ext cx="9669359" cy="276999"/>
          </a:xfrm>
          <a:prstGeom prst="rect">
            <a:avLst/>
          </a:prstGeom>
          <a:noFill/>
        </p:spPr>
        <p:txBody>
          <a:bodyPr wrap="square">
            <a:spAutoFit/>
          </a:bodyPr>
          <a:lstStyle/>
          <a:p>
            <a:r>
              <a:rPr lang="en-US" sz="600" dirty="0"/>
              <a:t>[1] </a:t>
            </a:r>
            <a:r>
              <a:rPr lang="en-US" sz="600" dirty="0">
                <a:hlinkClick r:id="rId4"/>
              </a:rPr>
              <a:t>https://www.nrel.gov/docs/fy22osti/83586.pdf</a:t>
            </a:r>
            <a:endParaRPr lang="en-US" sz="600" dirty="0"/>
          </a:p>
          <a:p>
            <a:endParaRPr lang="en-US" sz="600" dirty="0"/>
          </a:p>
        </p:txBody>
      </p:sp>
      <p:pic>
        <p:nvPicPr>
          <p:cNvPr id="6" name="図 5">
            <a:extLst>
              <a:ext uri="{FF2B5EF4-FFF2-40B4-BE49-F238E27FC236}">
                <a16:creationId xmlns:a16="http://schemas.microsoft.com/office/drawing/2014/main" id="{FE9B58C7-92CA-FB6C-D457-126C32ED99E2}"/>
              </a:ext>
            </a:extLst>
          </p:cNvPr>
          <p:cNvPicPr>
            <a:picLocks noChangeAspect="1"/>
          </p:cNvPicPr>
          <p:nvPr/>
        </p:nvPicPr>
        <p:blipFill>
          <a:blip r:embed="rId5"/>
          <a:stretch>
            <a:fillRect/>
          </a:stretch>
        </p:blipFill>
        <p:spPr>
          <a:xfrm>
            <a:off x="63890" y="761125"/>
            <a:ext cx="3363684" cy="2146561"/>
          </a:xfrm>
          <a:prstGeom prst="rect">
            <a:avLst/>
          </a:prstGeom>
        </p:spPr>
      </p:pic>
      <p:sp>
        <p:nvSpPr>
          <p:cNvPr id="15" name="矢印: 右 14">
            <a:extLst>
              <a:ext uri="{FF2B5EF4-FFF2-40B4-BE49-F238E27FC236}">
                <a16:creationId xmlns:a16="http://schemas.microsoft.com/office/drawing/2014/main" id="{8705EB10-38BF-A728-B078-1F5D02CC1B68}"/>
              </a:ext>
            </a:extLst>
          </p:cNvPr>
          <p:cNvSpPr/>
          <p:nvPr/>
        </p:nvSpPr>
        <p:spPr>
          <a:xfrm rot="16200000">
            <a:off x="7948366" y="4567566"/>
            <a:ext cx="277000" cy="30828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コンテンツ プレースホルダー 1">
            <a:extLst>
              <a:ext uri="{FF2B5EF4-FFF2-40B4-BE49-F238E27FC236}">
                <a16:creationId xmlns:a16="http://schemas.microsoft.com/office/drawing/2014/main" id="{6878A9DF-51C6-2BA1-39CC-093C7D43F282}"/>
              </a:ext>
            </a:extLst>
          </p:cNvPr>
          <p:cNvSpPr txBox="1">
            <a:spLocks/>
          </p:cNvSpPr>
          <p:nvPr/>
        </p:nvSpPr>
        <p:spPr>
          <a:xfrm>
            <a:off x="227473" y="4210011"/>
            <a:ext cx="3511155" cy="568803"/>
          </a:xfrm>
          <a:prstGeom prst="rect">
            <a:avLst/>
          </a:prstGeom>
        </p:spPr>
        <p:txBody>
          <a:bodyPr/>
          <a:lstStyle>
            <a:lvl1pPr marL="0" indent="0" algn="l" defTabSz="685800" rtl="0" eaLnBrk="1" latinLnBrk="0" hangingPunct="1">
              <a:lnSpc>
                <a:spcPct val="90000"/>
              </a:lnSpc>
              <a:spcBef>
                <a:spcPts val="750"/>
              </a:spcBef>
              <a:buFont typeface="Arial" panose="020B0604020202020204" pitchFamily="34" charset="0"/>
              <a:buNone/>
              <a:defRPr sz="16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kumimoji="1" lang="en-US" altLang="ja-JP" sz="1400" dirty="0"/>
              <a:t>MSP: Minimum Sustainable Price</a:t>
            </a:r>
          </a:p>
          <a:p>
            <a:r>
              <a:rPr kumimoji="1" lang="en-US" altLang="ja-JP" sz="1400" dirty="0"/>
              <a:t>MMP: Modeled Market Price</a:t>
            </a:r>
          </a:p>
        </p:txBody>
      </p:sp>
      <p:pic>
        <p:nvPicPr>
          <p:cNvPr id="9" name="図 8">
            <a:extLst>
              <a:ext uri="{FF2B5EF4-FFF2-40B4-BE49-F238E27FC236}">
                <a16:creationId xmlns:a16="http://schemas.microsoft.com/office/drawing/2014/main" id="{5EEA83DD-C6CC-65DE-00F6-762AA2CD04E7}"/>
              </a:ext>
            </a:extLst>
          </p:cNvPr>
          <p:cNvPicPr>
            <a:picLocks noChangeAspect="1"/>
          </p:cNvPicPr>
          <p:nvPr/>
        </p:nvPicPr>
        <p:blipFill>
          <a:blip r:embed="rId6"/>
          <a:stretch>
            <a:fillRect/>
          </a:stretch>
        </p:blipFill>
        <p:spPr>
          <a:xfrm>
            <a:off x="3521917" y="3662249"/>
            <a:ext cx="2576516" cy="1337048"/>
          </a:xfrm>
          <a:prstGeom prst="rect">
            <a:avLst/>
          </a:prstGeom>
        </p:spPr>
      </p:pic>
      <p:sp>
        <p:nvSpPr>
          <p:cNvPr id="17" name="コンテンツ プレースホルダー 1">
            <a:extLst>
              <a:ext uri="{FF2B5EF4-FFF2-40B4-BE49-F238E27FC236}">
                <a16:creationId xmlns:a16="http://schemas.microsoft.com/office/drawing/2014/main" id="{1BB508A4-4C18-48C0-14B0-B1B217CF2C5D}"/>
              </a:ext>
            </a:extLst>
          </p:cNvPr>
          <p:cNvSpPr txBox="1">
            <a:spLocks/>
          </p:cNvSpPr>
          <p:nvPr/>
        </p:nvSpPr>
        <p:spPr>
          <a:xfrm>
            <a:off x="6289723" y="4891089"/>
            <a:ext cx="3511155" cy="1566697"/>
          </a:xfrm>
          <a:prstGeom prst="rect">
            <a:avLst/>
          </a:prstGeom>
        </p:spPr>
        <p:txBody>
          <a:bodyPr/>
          <a:lstStyle>
            <a:lvl1pPr marL="0" indent="0" algn="l" defTabSz="685800" rtl="0" eaLnBrk="1" latinLnBrk="0" hangingPunct="1">
              <a:lnSpc>
                <a:spcPct val="90000"/>
              </a:lnSpc>
              <a:spcBef>
                <a:spcPts val="750"/>
              </a:spcBef>
              <a:buFont typeface="Arial" panose="020B0604020202020204" pitchFamily="34" charset="0"/>
              <a:buNone/>
              <a:defRPr sz="16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kumimoji="1" lang="en-US" altLang="ja-JP" sz="1400" dirty="0"/>
              <a:t>MMP model is used in the cost calculation.</a:t>
            </a:r>
          </a:p>
          <a:p>
            <a:endParaRPr kumimoji="1" lang="en-US" altLang="ja-JP" sz="1400" dirty="0"/>
          </a:p>
          <a:p>
            <a:r>
              <a:rPr kumimoji="1" lang="en-US" altLang="ja-JP" sz="1400" dirty="0"/>
              <a:t>CAPEX per year is calculated by Straight Line Method.</a:t>
            </a:r>
            <a:br>
              <a:rPr kumimoji="1" lang="en-US" altLang="ja-JP" sz="1400" dirty="0"/>
            </a:br>
            <a:r>
              <a:rPr kumimoji="1" lang="en-US" altLang="ja-JP" sz="1400" dirty="0"/>
              <a:t>The statutory useful life of the depreciable </a:t>
            </a:r>
            <a:br>
              <a:rPr kumimoji="1" lang="en-US" altLang="ja-JP" sz="1400" dirty="0"/>
            </a:br>
            <a:r>
              <a:rPr kumimoji="1" lang="en-US" altLang="ja-JP" sz="1400" dirty="0"/>
              <a:t>assets for Battery is 6 years.</a:t>
            </a:r>
          </a:p>
        </p:txBody>
      </p:sp>
      <p:sp>
        <p:nvSpPr>
          <p:cNvPr id="20" name="コンテンツ プレースホルダー 1">
            <a:extLst>
              <a:ext uri="{FF2B5EF4-FFF2-40B4-BE49-F238E27FC236}">
                <a16:creationId xmlns:a16="http://schemas.microsoft.com/office/drawing/2014/main" id="{BBB70C4C-6595-0146-7513-CB06032AD5F7}"/>
              </a:ext>
            </a:extLst>
          </p:cNvPr>
          <p:cNvSpPr>
            <a:spLocks noGrp="1"/>
          </p:cNvSpPr>
          <p:nvPr>
            <p:ph sz="quarter" idx="17"/>
          </p:nvPr>
        </p:nvSpPr>
        <p:spPr>
          <a:xfrm>
            <a:off x="105122" y="6188096"/>
            <a:ext cx="4479950" cy="276999"/>
          </a:xfrm>
        </p:spPr>
        <p:txBody>
          <a:bodyPr/>
          <a:lstStyle/>
          <a:p>
            <a:r>
              <a:rPr kumimoji="1" lang="en-US" altLang="ja-JP" sz="1400" dirty="0"/>
              <a:t>※OPEX of Battery is not provided in the NREL report.</a:t>
            </a:r>
          </a:p>
        </p:txBody>
      </p:sp>
    </p:spTree>
    <p:extLst>
      <p:ext uri="{BB962C8B-B14F-4D97-AF65-F5344CB8AC3E}">
        <p14:creationId xmlns:p14="http://schemas.microsoft.com/office/powerpoint/2010/main" val="155699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4F30B8B7-1CF8-B9F2-FB6E-1DA45A3E6F52}"/>
              </a:ext>
            </a:extLst>
          </p:cNvPr>
          <p:cNvSpPr>
            <a:spLocks noGrp="1"/>
          </p:cNvSpPr>
          <p:nvPr>
            <p:ph sz="quarter" idx="16"/>
          </p:nvPr>
        </p:nvSpPr>
        <p:spPr/>
        <p:txBody>
          <a:bodyPr/>
          <a:lstStyle/>
          <a:p>
            <a:r>
              <a:rPr lang="en-US" dirty="0"/>
              <a:t>Previous</a:t>
            </a:r>
            <a:r>
              <a:rPr lang="ja-JP" altLang="en-US" dirty="0"/>
              <a:t> </a:t>
            </a:r>
            <a:r>
              <a:rPr lang="en-US" altLang="ja-JP" dirty="0"/>
              <a:t>research</a:t>
            </a:r>
            <a:endParaRPr lang="en-US" dirty="0"/>
          </a:p>
        </p:txBody>
      </p:sp>
      <p:graphicFrame>
        <p:nvGraphicFramePr>
          <p:cNvPr id="4" name="表 3">
            <a:extLst>
              <a:ext uri="{FF2B5EF4-FFF2-40B4-BE49-F238E27FC236}">
                <a16:creationId xmlns:a16="http://schemas.microsoft.com/office/drawing/2014/main" id="{DCB1B3B7-C7A2-D11C-7D52-AA55799A61A1}"/>
              </a:ext>
            </a:extLst>
          </p:cNvPr>
          <p:cNvGraphicFramePr>
            <a:graphicFrameLocks noGrp="1"/>
          </p:cNvGraphicFramePr>
          <p:nvPr>
            <p:extLst>
              <p:ext uri="{D42A27DB-BD31-4B8C-83A1-F6EECF244321}">
                <p14:modId xmlns:p14="http://schemas.microsoft.com/office/powerpoint/2010/main" val="1575301909"/>
              </p:ext>
            </p:extLst>
          </p:nvPr>
        </p:nvGraphicFramePr>
        <p:xfrm>
          <a:off x="123826" y="851064"/>
          <a:ext cx="9669360" cy="3517867"/>
        </p:xfrm>
        <a:graphic>
          <a:graphicData uri="http://schemas.openxmlformats.org/drawingml/2006/table">
            <a:tbl>
              <a:tblPr firstRow="1" bandRow="1">
                <a:tableStyleId>{073A0DAA-6AF3-43AB-8588-CEC1D06C72B9}</a:tableStyleId>
              </a:tblPr>
              <a:tblGrid>
                <a:gridCol w="1394409">
                  <a:extLst>
                    <a:ext uri="{9D8B030D-6E8A-4147-A177-3AD203B41FA5}">
                      <a16:colId xmlns:a16="http://schemas.microsoft.com/office/drawing/2014/main" val="2277309603"/>
                    </a:ext>
                  </a:extLst>
                </a:gridCol>
                <a:gridCol w="4082960">
                  <a:extLst>
                    <a:ext uri="{9D8B030D-6E8A-4147-A177-3AD203B41FA5}">
                      <a16:colId xmlns:a16="http://schemas.microsoft.com/office/drawing/2014/main" val="3991979406"/>
                    </a:ext>
                  </a:extLst>
                </a:gridCol>
                <a:gridCol w="851065">
                  <a:extLst>
                    <a:ext uri="{9D8B030D-6E8A-4147-A177-3AD203B41FA5}">
                      <a16:colId xmlns:a16="http://schemas.microsoft.com/office/drawing/2014/main" val="4146701185"/>
                    </a:ext>
                  </a:extLst>
                </a:gridCol>
                <a:gridCol w="811480">
                  <a:extLst>
                    <a:ext uri="{9D8B030D-6E8A-4147-A177-3AD203B41FA5}">
                      <a16:colId xmlns:a16="http://schemas.microsoft.com/office/drawing/2014/main" val="124853328"/>
                    </a:ext>
                  </a:extLst>
                </a:gridCol>
                <a:gridCol w="728354">
                  <a:extLst>
                    <a:ext uri="{9D8B030D-6E8A-4147-A177-3AD203B41FA5}">
                      <a16:colId xmlns:a16="http://schemas.microsoft.com/office/drawing/2014/main" val="1214598982"/>
                    </a:ext>
                  </a:extLst>
                </a:gridCol>
                <a:gridCol w="688768">
                  <a:extLst>
                    <a:ext uri="{9D8B030D-6E8A-4147-A177-3AD203B41FA5}">
                      <a16:colId xmlns:a16="http://schemas.microsoft.com/office/drawing/2014/main" val="3837196901"/>
                    </a:ext>
                  </a:extLst>
                </a:gridCol>
                <a:gridCol w="633351">
                  <a:extLst>
                    <a:ext uri="{9D8B030D-6E8A-4147-A177-3AD203B41FA5}">
                      <a16:colId xmlns:a16="http://schemas.microsoft.com/office/drawing/2014/main" val="1941594223"/>
                    </a:ext>
                  </a:extLst>
                </a:gridCol>
                <a:gridCol w="478973">
                  <a:extLst>
                    <a:ext uri="{9D8B030D-6E8A-4147-A177-3AD203B41FA5}">
                      <a16:colId xmlns:a16="http://schemas.microsoft.com/office/drawing/2014/main" val="2823365316"/>
                    </a:ext>
                  </a:extLst>
                </a:gridCol>
              </a:tblGrid>
              <a:tr h="500347">
                <a:tc>
                  <a:txBody>
                    <a:bodyPr/>
                    <a:lstStyle/>
                    <a:p>
                      <a:r>
                        <a:rPr lang="en-US" sz="1200" dirty="0"/>
                        <a:t>Target variable</a:t>
                      </a:r>
                    </a:p>
                  </a:txBody>
                  <a:tcPr/>
                </a:tc>
                <a:tc>
                  <a:txBody>
                    <a:bodyPr/>
                    <a:lstStyle/>
                    <a:p>
                      <a:r>
                        <a:rPr lang="en-US" sz="1200" dirty="0"/>
                        <a:t>Method</a:t>
                      </a:r>
                    </a:p>
                  </a:txBody>
                  <a:tcPr/>
                </a:tc>
                <a:tc>
                  <a:txBody>
                    <a:bodyPr/>
                    <a:lstStyle/>
                    <a:p>
                      <a:r>
                        <a:rPr lang="en-US" sz="1200" dirty="0"/>
                        <a:t>Demand response</a:t>
                      </a:r>
                    </a:p>
                  </a:txBody>
                  <a:tcPr/>
                </a:tc>
                <a:tc>
                  <a:txBody>
                    <a:bodyPr/>
                    <a:lstStyle/>
                    <a:p>
                      <a:r>
                        <a:rPr lang="en-US" sz="1200" dirty="0"/>
                        <a:t>Battery</a:t>
                      </a:r>
                    </a:p>
                  </a:txBody>
                  <a:tcPr/>
                </a:tc>
                <a:tc>
                  <a:txBody>
                    <a:bodyPr/>
                    <a:lstStyle/>
                    <a:p>
                      <a:r>
                        <a:rPr lang="en-US" sz="1200" dirty="0"/>
                        <a:t>EV battery</a:t>
                      </a:r>
                    </a:p>
                  </a:txBody>
                  <a:tcPr/>
                </a:tc>
                <a:tc>
                  <a:txBody>
                    <a:bodyPr/>
                    <a:lstStyle/>
                    <a:p>
                      <a:r>
                        <a:rPr lang="en-US" sz="1200" dirty="0"/>
                        <a:t>bids</a:t>
                      </a:r>
                    </a:p>
                  </a:txBody>
                  <a:tcPr/>
                </a:tc>
                <a:tc>
                  <a:txBody>
                    <a:bodyPr/>
                    <a:lstStyle/>
                    <a:p>
                      <a:r>
                        <a:rPr lang="en-US" sz="1200" dirty="0"/>
                        <a:t>Year</a:t>
                      </a:r>
                    </a:p>
                  </a:txBody>
                  <a:tcPr/>
                </a:tc>
                <a:tc>
                  <a:txBody>
                    <a:bodyPr/>
                    <a:lstStyle/>
                    <a:p>
                      <a:r>
                        <a:rPr lang="en-US" sz="1200" dirty="0"/>
                        <a:t>Ref.</a:t>
                      </a:r>
                    </a:p>
                  </a:txBody>
                  <a:tcPr/>
                </a:tc>
                <a:extLst>
                  <a:ext uri="{0D108BD9-81ED-4DB2-BD59-A6C34878D82A}">
                    <a16:rowId xmlns:a16="http://schemas.microsoft.com/office/drawing/2014/main" val="3683012988"/>
                  </a:ext>
                </a:extLst>
              </a:tr>
              <a:tr h="500347">
                <a:tc>
                  <a:txBody>
                    <a:bodyPr/>
                    <a:lstStyle/>
                    <a:p>
                      <a:r>
                        <a:rPr lang="en-US" dirty="0"/>
                        <a:t>Energy retail price</a:t>
                      </a:r>
                    </a:p>
                  </a:txBody>
                  <a:tcPr/>
                </a:tc>
                <a:tc>
                  <a:txBody>
                    <a:bodyPr/>
                    <a:lstStyle/>
                    <a:p>
                      <a:r>
                        <a:rPr lang="en-US" dirty="0"/>
                        <a:t>Reinforcement Learning (Q-learning)</a:t>
                      </a:r>
                    </a:p>
                  </a:txBody>
                  <a:tcPr/>
                </a:tc>
                <a:tc>
                  <a:txBody>
                    <a:bodyPr/>
                    <a:lstStyle/>
                    <a:p>
                      <a:r>
                        <a:rPr lang="ja-JP" altLang="en-US" dirty="0"/>
                        <a:t>✓</a:t>
                      </a:r>
                      <a:endParaRPr lang="en-US" dirty="0"/>
                    </a:p>
                  </a:txBody>
                  <a:tcPr/>
                </a:tc>
                <a:tc>
                  <a:txBody>
                    <a:bodyPr/>
                    <a:lstStyle/>
                    <a:p>
                      <a:r>
                        <a:rPr lang="en-US" dirty="0"/>
                        <a:t>-</a:t>
                      </a:r>
                    </a:p>
                  </a:txBody>
                  <a:tcPr/>
                </a:tc>
                <a:tc>
                  <a:txBody>
                    <a:bodyPr/>
                    <a:lstStyle/>
                    <a:p>
                      <a:r>
                        <a:rPr lang="en-US" dirty="0"/>
                        <a:t>-</a:t>
                      </a:r>
                    </a:p>
                  </a:txBody>
                  <a:tcPr/>
                </a:tc>
                <a:tc>
                  <a:txBody>
                    <a:bodyPr/>
                    <a:lstStyle/>
                    <a:p>
                      <a:r>
                        <a:rPr lang="en-US" dirty="0"/>
                        <a:t>-</a:t>
                      </a:r>
                    </a:p>
                  </a:txBody>
                  <a:tcPr/>
                </a:tc>
                <a:tc>
                  <a:txBody>
                    <a:bodyPr/>
                    <a:lstStyle/>
                    <a:p>
                      <a:r>
                        <a:rPr lang="en-US" altLang="ja-JP" dirty="0"/>
                        <a:t>2018</a:t>
                      </a:r>
                      <a:endParaRPr lang="en-US" dirty="0"/>
                    </a:p>
                  </a:txBody>
                  <a:tcPr/>
                </a:tc>
                <a:tc>
                  <a:txBody>
                    <a:bodyPr/>
                    <a:lstStyle/>
                    <a:p>
                      <a:r>
                        <a:rPr lang="en-US" dirty="0"/>
                        <a:t>1</a:t>
                      </a:r>
                    </a:p>
                  </a:txBody>
                  <a:tcPr/>
                </a:tc>
                <a:extLst>
                  <a:ext uri="{0D108BD9-81ED-4DB2-BD59-A6C34878D82A}">
                    <a16:rowId xmlns:a16="http://schemas.microsoft.com/office/drawing/2014/main" val="3210442989"/>
                  </a:ext>
                </a:extLst>
              </a:tr>
              <a:tr h="500347">
                <a:tc>
                  <a:txBody>
                    <a:bodyPr/>
                    <a:lstStyle/>
                    <a:p>
                      <a:r>
                        <a:rPr lang="en-US" dirty="0"/>
                        <a:t>Energy retail price</a:t>
                      </a:r>
                    </a:p>
                  </a:txBody>
                  <a:tcPr/>
                </a:tc>
                <a:tc>
                  <a:txBody>
                    <a:bodyPr/>
                    <a:lstStyle/>
                    <a:p>
                      <a:r>
                        <a:rPr lang="en-US" dirty="0"/>
                        <a:t>Deep Reinforcement Learning (Proximal Policy Optimization)</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ja-JP" altLang="en-US" dirty="0"/>
                        <a:t>✓</a:t>
                      </a:r>
                      <a:endParaRPr lang="en-US" dirty="0"/>
                    </a:p>
                    <a:p>
                      <a:endParaRPr lang="en-US"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ja-JP" altLang="en-US" dirty="0"/>
                        <a:t>✓</a:t>
                      </a:r>
                      <a:endParaRPr lang="en-US" dirty="0"/>
                    </a:p>
                    <a:p>
                      <a:endParaRPr lang="en-US" dirty="0"/>
                    </a:p>
                  </a:txBody>
                  <a:tcPr/>
                </a:tc>
                <a:tc>
                  <a:txBody>
                    <a:bodyPr/>
                    <a:lstStyle/>
                    <a:p>
                      <a:r>
                        <a:rPr lang="en-US" dirty="0"/>
                        <a:t>-</a:t>
                      </a:r>
                    </a:p>
                  </a:txBody>
                  <a:tcPr/>
                </a:tc>
                <a:tc>
                  <a:txBody>
                    <a:bodyPr/>
                    <a:lstStyle/>
                    <a:p>
                      <a:r>
                        <a:rPr lang="en-US" dirty="0"/>
                        <a:t>-</a:t>
                      </a:r>
                    </a:p>
                  </a:txBody>
                  <a:tcPr/>
                </a:tc>
                <a:tc>
                  <a:txBody>
                    <a:bodyPr/>
                    <a:lstStyle/>
                    <a:p>
                      <a:r>
                        <a:rPr lang="en-US" dirty="0"/>
                        <a:t>2024</a:t>
                      </a:r>
                    </a:p>
                  </a:txBody>
                  <a:tcPr/>
                </a:tc>
                <a:tc>
                  <a:txBody>
                    <a:bodyPr/>
                    <a:lstStyle/>
                    <a:p>
                      <a:r>
                        <a:rPr lang="en-US" dirty="0"/>
                        <a:t>2</a:t>
                      </a:r>
                    </a:p>
                  </a:txBody>
                  <a:tcPr/>
                </a:tc>
                <a:extLst>
                  <a:ext uri="{0D108BD9-81ED-4DB2-BD59-A6C34878D82A}">
                    <a16:rowId xmlns:a16="http://schemas.microsoft.com/office/drawing/2014/main" val="4094834131"/>
                  </a:ext>
                </a:extLst>
              </a:tr>
              <a:tr h="500347">
                <a:tc>
                  <a:txBody>
                    <a:bodyPr/>
                    <a:lstStyle/>
                    <a:p>
                      <a:r>
                        <a:rPr lang="en-US" dirty="0"/>
                        <a:t>Energy retail price</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dirty="0"/>
                        <a:t>Reinforcement Learning (Q-learning)</a:t>
                      </a:r>
                    </a:p>
                    <a:p>
                      <a:endParaRPr lang="en-US"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ja-JP" altLang="en-US" dirty="0"/>
                        <a:t>✓</a:t>
                      </a:r>
                      <a:endParaRPr lang="en-US" dirty="0"/>
                    </a:p>
                    <a:p>
                      <a:endParaRPr lang="en-US"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ja-JP" altLang="en-US" dirty="0"/>
                        <a:t>✓</a:t>
                      </a:r>
                      <a:r>
                        <a:rPr lang="en-US" altLang="ja-JP" dirty="0"/>
                        <a:t>(Cen-</a:t>
                      </a:r>
                      <a:r>
                        <a:rPr lang="en-US" altLang="ja-JP" dirty="0" err="1"/>
                        <a:t>tralized</a:t>
                      </a:r>
                      <a:r>
                        <a:rPr lang="en-US" altLang="ja-JP" dirty="0"/>
                        <a:t>)</a:t>
                      </a:r>
                      <a:endParaRPr lang="en-US" dirty="0"/>
                    </a:p>
                  </a:txBody>
                  <a:tcPr/>
                </a:tc>
                <a:tc>
                  <a:txBody>
                    <a:bodyPr/>
                    <a:lstStyle/>
                    <a:p>
                      <a:r>
                        <a:rPr lang="en-US" dirty="0"/>
                        <a:t>-</a:t>
                      </a:r>
                    </a:p>
                  </a:txBody>
                  <a:tcPr/>
                </a:tc>
                <a:tc>
                  <a:txBody>
                    <a:bodyPr/>
                    <a:lstStyle/>
                    <a:p>
                      <a:r>
                        <a:rPr lang="en-US" dirty="0"/>
                        <a:t>-</a:t>
                      </a:r>
                    </a:p>
                  </a:txBody>
                  <a:tcPr/>
                </a:tc>
                <a:tc>
                  <a:txBody>
                    <a:bodyPr/>
                    <a:lstStyle/>
                    <a:p>
                      <a:r>
                        <a:rPr lang="en-US" dirty="0"/>
                        <a:t>2021</a:t>
                      </a:r>
                    </a:p>
                  </a:txBody>
                  <a:tcPr/>
                </a:tc>
                <a:tc>
                  <a:txBody>
                    <a:bodyPr/>
                    <a:lstStyle/>
                    <a:p>
                      <a:r>
                        <a:rPr lang="en-US" dirty="0"/>
                        <a:t>3</a:t>
                      </a:r>
                    </a:p>
                  </a:txBody>
                  <a:tcPr/>
                </a:tc>
                <a:extLst>
                  <a:ext uri="{0D108BD9-81ED-4DB2-BD59-A6C34878D82A}">
                    <a16:rowId xmlns:a16="http://schemas.microsoft.com/office/drawing/2014/main" val="3325424039"/>
                  </a:ext>
                </a:extLst>
              </a:tr>
              <a:tr h="500347">
                <a:tc>
                  <a:txBody>
                    <a:bodyPr/>
                    <a:lstStyle/>
                    <a:p>
                      <a:r>
                        <a:rPr lang="en-US" dirty="0"/>
                        <a:t>Total cost</a:t>
                      </a:r>
                    </a:p>
                  </a:txBody>
                  <a:tcPr/>
                </a:tc>
                <a:tc>
                  <a:txBody>
                    <a:bodyPr/>
                    <a:lstStyle/>
                    <a:p>
                      <a:r>
                        <a:rPr lang="en-US" dirty="0"/>
                        <a:t>Mixed-</a:t>
                      </a:r>
                      <a:r>
                        <a:rPr lang="en-US" dirty="0" err="1"/>
                        <a:t>Lnteger</a:t>
                      </a:r>
                      <a:r>
                        <a:rPr lang="en-US" dirty="0"/>
                        <a:t> Linear Problem</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ja-JP" altLang="en-US" dirty="0"/>
                        <a:t>✓</a:t>
                      </a:r>
                      <a:endParaRPr lang="en-US" dirty="0"/>
                    </a:p>
                    <a:p>
                      <a:endParaRPr lang="en-US"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ja-JP" altLang="en-US" dirty="0"/>
                        <a:t>✓</a:t>
                      </a:r>
                      <a:endParaRPr lang="en-US" dirty="0"/>
                    </a:p>
                    <a:p>
                      <a:endParaRPr lang="en-US" dirty="0"/>
                    </a:p>
                  </a:txBody>
                  <a:tcPr/>
                </a:tc>
                <a:tc>
                  <a:txBody>
                    <a:bodyPr/>
                    <a:lstStyle/>
                    <a:p>
                      <a:r>
                        <a:rPr lang="en-US" dirty="0"/>
                        <a:t>-</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ja-JP" altLang="en-US" dirty="0"/>
                        <a:t>✓</a:t>
                      </a:r>
                      <a:endParaRPr lang="en-US" dirty="0"/>
                    </a:p>
                    <a:p>
                      <a:endParaRPr lang="en-US" dirty="0"/>
                    </a:p>
                  </a:txBody>
                  <a:tcPr/>
                </a:tc>
                <a:tc>
                  <a:txBody>
                    <a:bodyPr/>
                    <a:lstStyle/>
                    <a:p>
                      <a:r>
                        <a:rPr lang="en-US" dirty="0"/>
                        <a:t>2020</a:t>
                      </a:r>
                    </a:p>
                  </a:txBody>
                  <a:tcPr/>
                </a:tc>
                <a:tc>
                  <a:txBody>
                    <a:bodyPr/>
                    <a:lstStyle/>
                    <a:p>
                      <a:r>
                        <a:rPr lang="en-US" dirty="0"/>
                        <a:t>4</a:t>
                      </a:r>
                    </a:p>
                  </a:txBody>
                  <a:tcPr/>
                </a:tc>
                <a:extLst>
                  <a:ext uri="{0D108BD9-81ED-4DB2-BD59-A6C34878D82A}">
                    <a16:rowId xmlns:a16="http://schemas.microsoft.com/office/drawing/2014/main" val="1374433075"/>
                  </a:ext>
                </a:extLst>
              </a:tr>
              <a:tr h="500347">
                <a:tc>
                  <a:txBody>
                    <a:bodyPr/>
                    <a:lstStyle/>
                    <a:p>
                      <a:r>
                        <a:rPr lang="en-US" dirty="0"/>
                        <a:t>Cost of each agent</a:t>
                      </a:r>
                    </a:p>
                  </a:txBody>
                  <a:tcPr/>
                </a:tc>
                <a:tc>
                  <a:txBody>
                    <a:bodyPr/>
                    <a:lstStyle/>
                    <a:p>
                      <a:r>
                        <a:rPr lang="en-US" dirty="0"/>
                        <a:t>Reinforcement Learning (DA-MADDPG)</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dirty="0"/>
                        <a:t>-</a:t>
                      </a:r>
                    </a:p>
                    <a:p>
                      <a:endParaRPr lang="en-US"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ja-JP" altLang="en-US" dirty="0"/>
                        <a:t>✓</a:t>
                      </a:r>
                      <a:endParaRPr lang="en-US" dirty="0"/>
                    </a:p>
                    <a:p>
                      <a:endParaRPr lang="en-US" dirty="0"/>
                    </a:p>
                  </a:txBody>
                  <a:tcPr/>
                </a:tc>
                <a:tc>
                  <a:txBody>
                    <a:bodyPr/>
                    <a:lstStyle/>
                    <a:p>
                      <a:r>
                        <a:rPr lang="en-US" dirty="0"/>
                        <a:t>-</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ja-JP" altLang="en-US" dirty="0"/>
                        <a:t>✓</a:t>
                      </a:r>
                      <a:endParaRPr lang="en-US" dirty="0"/>
                    </a:p>
                    <a:p>
                      <a:endParaRPr lang="en-US" dirty="0"/>
                    </a:p>
                  </a:txBody>
                  <a:tcPr/>
                </a:tc>
                <a:tc>
                  <a:txBody>
                    <a:bodyPr/>
                    <a:lstStyle/>
                    <a:p>
                      <a:r>
                        <a:rPr lang="en-US" dirty="0"/>
                        <a:t>2021</a:t>
                      </a:r>
                    </a:p>
                  </a:txBody>
                  <a:tcPr/>
                </a:tc>
                <a:tc>
                  <a:txBody>
                    <a:bodyPr/>
                    <a:lstStyle/>
                    <a:p>
                      <a:r>
                        <a:rPr lang="en-US" dirty="0"/>
                        <a:t>5</a:t>
                      </a:r>
                    </a:p>
                  </a:txBody>
                  <a:tcPr/>
                </a:tc>
                <a:extLst>
                  <a:ext uri="{0D108BD9-81ED-4DB2-BD59-A6C34878D82A}">
                    <a16:rowId xmlns:a16="http://schemas.microsoft.com/office/drawing/2014/main" val="1021101085"/>
                  </a:ext>
                </a:extLst>
              </a:tr>
              <a:tr h="500347">
                <a:tc>
                  <a:txBody>
                    <a:bodyPr/>
                    <a:lstStyle/>
                    <a:p>
                      <a:r>
                        <a:rPr lang="en-US" dirty="0"/>
                        <a:t>Cost of each agent</a:t>
                      </a:r>
                    </a:p>
                  </a:txBody>
                  <a:tcPr/>
                </a:tc>
                <a:tc>
                  <a:txBody>
                    <a:bodyPr/>
                    <a:lstStyle/>
                    <a:p>
                      <a:r>
                        <a:rPr lang="en-US" dirty="0"/>
                        <a:t>Deep Reinforcement Learning (TD3)</a:t>
                      </a:r>
                    </a:p>
                  </a:txBody>
                  <a:tcPr/>
                </a:tc>
                <a:tc>
                  <a:txBody>
                    <a:bodyPr/>
                    <a:lstStyle/>
                    <a:p>
                      <a:r>
                        <a:rPr lang="en-US" dirty="0"/>
                        <a:t>-</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ja-JP" altLang="en-US" dirty="0"/>
                        <a:t>✓</a:t>
                      </a:r>
                      <a:endParaRPr lang="en-US" dirty="0"/>
                    </a:p>
                    <a:p>
                      <a:endParaRPr lang="en-US" dirty="0"/>
                    </a:p>
                  </a:txBody>
                  <a:tcPr/>
                </a:tc>
                <a:tc>
                  <a:txBody>
                    <a:bodyPr/>
                    <a:lstStyle/>
                    <a:p>
                      <a:r>
                        <a:rPr lang="en-US" dirty="0"/>
                        <a:t>-</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ja-JP" altLang="en-US" dirty="0"/>
                        <a:t>✓</a:t>
                      </a:r>
                      <a:endParaRPr lang="en-US" dirty="0"/>
                    </a:p>
                    <a:p>
                      <a:endParaRPr lang="en-US" dirty="0"/>
                    </a:p>
                  </a:txBody>
                  <a:tcPr/>
                </a:tc>
                <a:tc>
                  <a:txBody>
                    <a:bodyPr/>
                    <a:lstStyle/>
                    <a:p>
                      <a:r>
                        <a:rPr lang="en-US" dirty="0"/>
                        <a:t>2023</a:t>
                      </a:r>
                    </a:p>
                  </a:txBody>
                  <a:tcPr/>
                </a:tc>
                <a:tc>
                  <a:txBody>
                    <a:bodyPr/>
                    <a:lstStyle/>
                    <a:p>
                      <a:r>
                        <a:rPr lang="en-US" dirty="0"/>
                        <a:t>6</a:t>
                      </a:r>
                    </a:p>
                  </a:txBody>
                  <a:tcPr/>
                </a:tc>
                <a:extLst>
                  <a:ext uri="{0D108BD9-81ED-4DB2-BD59-A6C34878D82A}">
                    <a16:rowId xmlns:a16="http://schemas.microsoft.com/office/drawing/2014/main" val="260642583"/>
                  </a:ext>
                </a:extLst>
              </a:tr>
            </a:tbl>
          </a:graphicData>
        </a:graphic>
      </p:graphicFrame>
      <p:sp>
        <p:nvSpPr>
          <p:cNvPr id="5" name="テキスト ボックス 4">
            <a:extLst>
              <a:ext uri="{FF2B5EF4-FFF2-40B4-BE49-F238E27FC236}">
                <a16:creationId xmlns:a16="http://schemas.microsoft.com/office/drawing/2014/main" id="{52DA13E7-226C-28EA-9EEF-4109170C5984}"/>
              </a:ext>
            </a:extLst>
          </p:cNvPr>
          <p:cNvSpPr txBox="1"/>
          <p:nvPr/>
        </p:nvSpPr>
        <p:spPr>
          <a:xfrm>
            <a:off x="123824" y="5285947"/>
            <a:ext cx="9669359" cy="1107996"/>
          </a:xfrm>
          <a:prstGeom prst="rect">
            <a:avLst/>
          </a:prstGeom>
          <a:noFill/>
        </p:spPr>
        <p:txBody>
          <a:bodyPr wrap="square">
            <a:spAutoFit/>
          </a:bodyPr>
          <a:lstStyle/>
          <a:p>
            <a:r>
              <a:rPr lang="en-US" sz="600" dirty="0"/>
              <a:t>[1] </a:t>
            </a:r>
            <a:r>
              <a:rPr lang="en-US" sz="600" dirty="0" err="1"/>
              <a:t>Renzhi</a:t>
            </a:r>
            <a:r>
              <a:rPr lang="en-US" sz="600" dirty="0"/>
              <a:t> Lu, Seung Ho Hong, </a:t>
            </a:r>
            <a:r>
              <a:rPr lang="en-US" sz="600" dirty="0" err="1"/>
              <a:t>Xiongfeng</a:t>
            </a:r>
            <a:r>
              <a:rPr lang="en-US" sz="600" dirty="0"/>
              <a:t> Zhang, "A Dynamic pricing demand response algorithm for smart grid: Reinforcement learning approach, " in Applied Energy, Vol. 220, pp. 220-230, 2018, </a:t>
            </a:r>
            <a:r>
              <a:rPr lang="en-US" sz="600" dirty="0" err="1"/>
              <a:t>doi</a:t>
            </a:r>
            <a:r>
              <a:rPr lang="en-US" sz="600" dirty="0"/>
              <a:t>: 10.1016/j.apenergy.2018.03.072.</a:t>
            </a:r>
          </a:p>
          <a:p>
            <a:r>
              <a:rPr lang="en-US" sz="600" dirty="0"/>
              <a:t>[2] D. </a:t>
            </a:r>
            <a:r>
              <a:rPr lang="en-US" sz="600" dirty="0" err="1"/>
              <a:t>Watari</a:t>
            </a:r>
            <a:r>
              <a:rPr lang="en-US" sz="600" dirty="0"/>
              <a:t>, I. Taniguchi and T. </a:t>
            </a:r>
            <a:r>
              <a:rPr lang="en-US" sz="600" dirty="0" err="1"/>
              <a:t>Onoye</a:t>
            </a:r>
            <a:r>
              <a:rPr lang="en-US" sz="600" dirty="0"/>
              <a:t>, "Duck Curve Aware Dynamic Pricing and Battery Scheduling Strategy Using Reinforcement Learning," in IEEE Transactions on Smart Grid, Vol. 15(1), pp. 457-471, 2024, </a:t>
            </a:r>
            <a:r>
              <a:rPr lang="en-US" sz="600" dirty="0" err="1"/>
              <a:t>doi</a:t>
            </a:r>
            <a:r>
              <a:rPr lang="en-US" sz="600" dirty="0"/>
              <a:t>: 10.1109/TSG.2023.3288355.</a:t>
            </a:r>
          </a:p>
          <a:p>
            <a:r>
              <a:rPr lang="en-US" sz="600" dirty="0"/>
              <a:t>[3] Li He, </a:t>
            </a:r>
            <a:r>
              <a:rPr lang="en-US" sz="600" dirty="0" err="1"/>
              <a:t>Yuanzhi</a:t>
            </a:r>
            <a:r>
              <a:rPr lang="en-US" sz="600" dirty="0"/>
              <a:t> Liu, Jie Zhang, “Peer-to-peer energy sharing with battery storage: Energy pawn in the smart grid,” in Applied Energy, Vol. 297, 117129, 2021, doi.org/10.1016/j.apenergy.2021.117129.</a:t>
            </a:r>
          </a:p>
          <a:p>
            <a:r>
              <a:rPr lang="en-US" sz="600" dirty="0"/>
              <a:t>[4] </a:t>
            </a:r>
            <a:r>
              <a:rPr lang="en-US" sz="600" dirty="0" err="1"/>
              <a:t>Suyang</a:t>
            </a:r>
            <a:r>
              <a:rPr lang="en-US" sz="600" dirty="0"/>
              <a:t> Zhou, </a:t>
            </a:r>
            <a:r>
              <a:rPr lang="en-US" sz="600" dirty="0" err="1"/>
              <a:t>Fenghua</a:t>
            </a:r>
            <a:r>
              <a:rPr lang="en-US" sz="600" dirty="0"/>
              <a:t> Zou, Zhi Wu, Wei Gu, </a:t>
            </a:r>
            <a:r>
              <a:rPr lang="en-US" sz="600" dirty="0" err="1"/>
              <a:t>Qiteng</a:t>
            </a:r>
            <a:r>
              <a:rPr lang="en-US" sz="600" dirty="0"/>
              <a:t> Hong, Campbell Booth,  “A smart community energy management scheme considering user dominated demand side response and P2P trading,” in International Journal of Electrical Power &amp; Energy Systems, Vol. 114, 105378, 2020, doi.org/10.1016/j.ijepes.2019.105378.</a:t>
            </a:r>
          </a:p>
          <a:p>
            <a:r>
              <a:rPr lang="en-US" sz="600" dirty="0"/>
              <a:t>[5] Qiu D., Wang J., Wang J., </a:t>
            </a:r>
            <a:r>
              <a:rPr lang="en-US" sz="600" dirty="0" err="1"/>
              <a:t>Strbac</a:t>
            </a:r>
            <a:r>
              <a:rPr lang="en-US" sz="600" dirty="0"/>
              <a:t> </a:t>
            </a:r>
            <a:r>
              <a:rPr lang="en-US" sz="600" dirty="0" err="1"/>
              <a:t>G,“Multi</a:t>
            </a:r>
            <a:r>
              <a:rPr lang="en-US" sz="600" dirty="0"/>
              <a:t>-Agent Reinforcement Learning for Automated Peer-to-Peer Energy Trading in Double-Side Auction Market,” in IJCAI International Joint Conference on Artificial Intelligence, pp. 2913 - 2920, 2021, doi.org/10.24963/ijcai.2021/401</a:t>
            </a:r>
          </a:p>
          <a:p>
            <a:r>
              <a:rPr lang="en-US" sz="600" dirty="0"/>
              <a:t>[6] H. Zhang, K. Kok and N. G. </a:t>
            </a:r>
            <a:r>
              <a:rPr lang="en-US" sz="600" dirty="0" err="1"/>
              <a:t>Paterakis</a:t>
            </a:r>
            <a:r>
              <a:rPr lang="en-US" sz="600" dirty="0"/>
              <a:t>, "Deep Reinforcement Learning-Based Prosumer Aggregation Bidding Strategy in a Hierarchical Local Electricity Market," 2023 Asia Meeting on Environment and Electrical Engineering (EEE-AM), Hanoi, Vietnam, 2023, pp. 01-06, </a:t>
            </a:r>
            <a:r>
              <a:rPr lang="en-US" sz="600" dirty="0" err="1"/>
              <a:t>doi</a:t>
            </a:r>
            <a:r>
              <a:rPr lang="en-US" sz="600" dirty="0"/>
              <a:t>: 10.1109/EEE-AM58328.2023.10395533.</a:t>
            </a:r>
          </a:p>
          <a:p>
            <a:endParaRPr lang="en-US" sz="600" dirty="0"/>
          </a:p>
          <a:p>
            <a:endParaRPr lang="en-US" sz="600" dirty="0"/>
          </a:p>
          <a:p>
            <a:endParaRPr lang="en-US" sz="600" dirty="0"/>
          </a:p>
        </p:txBody>
      </p:sp>
    </p:spTree>
    <p:extLst>
      <p:ext uri="{BB962C8B-B14F-4D97-AF65-F5344CB8AC3E}">
        <p14:creationId xmlns:p14="http://schemas.microsoft.com/office/powerpoint/2010/main" val="109576812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1A9E88A8-BD80-796C-E868-1325DCB21ADE}"/>
              </a:ext>
            </a:extLst>
          </p:cNvPr>
          <p:cNvSpPr>
            <a:spLocks noGrp="1"/>
          </p:cNvSpPr>
          <p:nvPr>
            <p:ph sz="quarter" idx="16"/>
          </p:nvPr>
        </p:nvSpPr>
        <p:spPr/>
        <p:txBody>
          <a:bodyPr/>
          <a:lstStyle/>
          <a:p>
            <a:r>
              <a:rPr kumimoji="1" lang="en-US" altLang="ja-JP" dirty="0"/>
              <a:t>Match frequency in present society (Japan)​</a:t>
            </a:r>
            <a:endParaRPr kumimoji="1" lang="ja-JP" altLang="en-US" dirty="0"/>
          </a:p>
        </p:txBody>
      </p:sp>
      <p:pic>
        <p:nvPicPr>
          <p:cNvPr id="1026" name="Picture 2" descr="Table&#10;&#10;Description automatically generated">
            <a:extLst>
              <a:ext uri="{FF2B5EF4-FFF2-40B4-BE49-F238E27FC236}">
                <a16:creationId xmlns:a16="http://schemas.microsoft.com/office/drawing/2014/main" id="{86DC177C-FBAD-9365-791C-5BE6DC97151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0967" y="833519"/>
            <a:ext cx="8184065" cy="5572771"/>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8">
            <a:extLst>
              <a:ext uri="{FF2B5EF4-FFF2-40B4-BE49-F238E27FC236}">
                <a16:creationId xmlns:a16="http://schemas.microsoft.com/office/drawing/2014/main" id="{8E4356CC-CAB9-D16E-9D3D-929A2E78E4D1}"/>
              </a:ext>
            </a:extLst>
          </p:cNvPr>
          <p:cNvSpPr/>
          <p:nvPr/>
        </p:nvSpPr>
        <p:spPr>
          <a:xfrm>
            <a:off x="947057" y="2950029"/>
            <a:ext cx="8017329" cy="1058065"/>
          </a:xfrm>
          <a:prstGeom prst="rect">
            <a:avLst/>
          </a:prstGeom>
          <a:no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5" name="TextBox 6">
            <a:extLst>
              <a:ext uri="{FF2B5EF4-FFF2-40B4-BE49-F238E27FC236}">
                <a16:creationId xmlns:a16="http://schemas.microsoft.com/office/drawing/2014/main" id="{A0C0C73A-BDA9-E27E-E1B5-D880A8C7492A}"/>
              </a:ext>
            </a:extLst>
          </p:cNvPr>
          <p:cNvSpPr txBox="1"/>
          <p:nvPr/>
        </p:nvSpPr>
        <p:spPr>
          <a:xfrm>
            <a:off x="123825" y="6519446"/>
            <a:ext cx="3658374" cy="338554"/>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800" dirty="0"/>
              <a:t>[1] </a:t>
            </a:r>
            <a:r>
              <a:rPr lang="en-US" altLang="ja-JP" sz="800" dirty="0">
                <a:hlinkClick r:id="rId3"/>
              </a:rPr>
              <a:t>OCCTO</a:t>
            </a:r>
            <a:r>
              <a:rPr lang="ja-JP" altLang="en-US" sz="800" dirty="0">
                <a:hlinkClick r:id="rId3"/>
              </a:rPr>
              <a:t>電力広域的運営推進機関</a:t>
            </a:r>
            <a:r>
              <a:rPr lang="en-US" altLang="ja-JP" sz="800" dirty="0">
                <a:hlinkClick r:id="rId3"/>
              </a:rPr>
              <a:t>, (</a:t>
            </a:r>
            <a:r>
              <a:rPr lang="ja-JP" altLang="en-US" sz="800" dirty="0">
                <a:hlinkClick r:id="rId3"/>
              </a:rPr>
              <a:t>参考資料</a:t>
            </a:r>
            <a:r>
              <a:rPr lang="en-US" altLang="ja-JP" sz="800" dirty="0">
                <a:hlinkClick r:id="rId3"/>
              </a:rPr>
              <a:t>)</a:t>
            </a:r>
            <a:r>
              <a:rPr lang="ja-JP" altLang="en-US" sz="800" dirty="0">
                <a:hlinkClick r:id="rId3"/>
              </a:rPr>
              <a:t>需給調整市場について </a:t>
            </a:r>
            <a:r>
              <a:rPr lang="en-US" altLang="ja-JP" sz="800" dirty="0">
                <a:hlinkClick r:id="rId3"/>
              </a:rPr>
              <a:t>(2019)</a:t>
            </a:r>
            <a:endParaRPr lang="en-US" sz="800" dirty="0"/>
          </a:p>
          <a:p>
            <a:r>
              <a:rPr lang="en-US" sz="800" dirty="0"/>
              <a:t> </a:t>
            </a:r>
          </a:p>
        </p:txBody>
      </p:sp>
    </p:spTree>
    <p:extLst>
      <p:ext uri="{BB962C8B-B14F-4D97-AF65-F5344CB8AC3E}">
        <p14:creationId xmlns:p14="http://schemas.microsoft.com/office/powerpoint/2010/main" val="412301788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グラフィックス 2">
            <a:extLst>
              <a:ext uri="{FF2B5EF4-FFF2-40B4-BE49-F238E27FC236}">
                <a16:creationId xmlns:a16="http://schemas.microsoft.com/office/drawing/2014/main" id="{63D3AEE4-F260-A5CC-4A0C-396A78EC700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81000" y="1600200"/>
            <a:ext cx="9144000" cy="3657600"/>
          </a:xfrm>
          <a:prstGeom prst="rect">
            <a:avLst/>
          </a:prstGeom>
        </p:spPr>
      </p:pic>
      <p:grpSp>
        <p:nvGrpSpPr>
          <p:cNvPr id="8" name="グラフィックス 6">
            <a:extLst>
              <a:ext uri="{FF2B5EF4-FFF2-40B4-BE49-F238E27FC236}">
                <a16:creationId xmlns:a16="http://schemas.microsoft.com/office/drawing/2014/main" id="{958D3DC9-C59D-8A89-D290-3BE688C47BB2}"/>
              </a:ext>
            </a:extLst>
          </p:cNvPr>
          <p:cNvGrpSpPr/>
          <p:nvPr/>
        </p:nvGrpSpPr>
        <p:grpSpPr>
          <a:xfrm>
            <a:off x="-8763000" y="1600200"/>
            <a:ext cx="17826140" cy="3657600"/>
            <a:chOff x="-8763000" y="1600200"/>
            <a:chExt cx="17826140" cy="3657600"/>
          </a:xfrm>
        </p:grpSpPr>
        <p:sp>
          <p:nvSpPr>
            <p:cNvPr id="9" name="フリーフォーム: 図形 8">
              <a:extLst>
                <a:ext uri="{FF2B5EF4-FFF2-40B4-BE49-F238E27FC236}">
                  <a16:creationId xmlns:a16="http://schemas.microsoft.com/office/drawing/2014/main" id="{CAE34060-DC25-EA6B-F105-7DD43B0BB71C}"/>
                </a:ext>
              </a:extLst>
            </p:cNvPr>
            <p:cNvSpPr/>
            <p:nvPr/>
          </p:nvSpPr>
          <p:spPr>
            <a:xfrm>
              <a:off x="-8763000" y="1600200"/>
              <a:ext cx="9144000" cy="3657600"/>
            </a:xfrm>
            <a:custGeom>
              <a:avLst/>
              <a:gdLst>
                <a:gd name="connsiteX0" fmla="*/ 0 w 9144000"/>
                <a:gd name="connsiteY0" fmla="*/ 3657600 h 3657600"/>
                <a:gd name="connsiteX1" fmla="*/ 9144000 w 9144000"/>
                <a:gd name="connsiteY1" fmla="*/ 3657600 h 3657600"/>
                <a:gd name="connsiteX2" fmla="*/ 9144000 w 9144000"/>
                <a:gd name="connsiteY2" fmla="*/ 0 h 3657600"/>
                <a:gd name="connsiteX3" fmla="*/ 0 w 9144000"/>
                <a:gd name="connsiteY3" fmla="*/ 0 h 3657600"/>
              </a:gdLst>
              <a:ahLst/>
              <a:cxnLst>
                <a:cxn ang="0">
                  <a:pos x="connsiteX0" y="connsiteY0"/>
                </a:cxn>
                <a:cxn ang="0">
                  <a:pos x="connsiteX1" y="connsiteY1"/>
                </a:cxn>
                <a:cxn ang="0">
                  <a:pos x="connsiteX2" y="connsiteY2"/>
                </a:cxn>
                <a:cxn ang="0">
                  <a:pos x="connsiteX3" y="connsiteY3"/>
                </a:cxn>
              </a:cxnLst>
              <a:rect l="l" t="t" r="r" b="b"/>
              <a:pathLst>
                <a:path w="9144000" h="3657600">
                  <a:moveTo>
                    <a:pt x="0" y="3657600"/>
                  </a:moveTo>
                  <a:lnTo>
                    <a:pt x="9144000" y="3657600"/>
                  </a:lnTo>
                  <a:lnTo>
                    <a:pt x="9144000" y="0"/>
                  </a:lnTo>
                  <a:lnTo>
                    <a:pt x="0" y="0"/>
                  </a:lnTo>
                  <a:close/>
                </a:path>
              </a:pathLst>
            </a:custGeom>
            <a:solidFill>
              <a:srgbClr val="FFFFFF"/>
            </a:solidFill>
            <a:ln w="12700" cap="flat">
              <a:noFill/>
              <a:prstDash val="solid"/>
              <a:round/>
            </a:ln>
          </p:spPr>
          <p:txBody>
            <a:bodyPr rtlCol="0" anchor="ctr"/>
            <a:lstStyle/>
            <a:p>
              <a:endParaRPr lang="en-US"/>
            </a:p>
          </p:txBody>
        </p:sp>
        <p:grpSp>
          <p:nvGrpSpPr>
            <p:cNvPr id="10" name="グラフィックス 6">
              <a:extLst>
                <a:ext uri="{FF2B5EF4-FFF2-40B4-BE49-F238E27FC236}">
                  <a16:creationId xmlns:a16="http://schemas.microsoft.com/office/drawing/2014/main" id="{61500F18-FA4D-EFC3-C514-311B561482C7}"/>
                </a:ext>
              </a:extLst>
            </p:cNvPr>
            <p:cNvGrpSpPr/>
            <p:nvPr/>
          </p:nvGrpSpPr>
          <p:grpSpPr>
            <a:xfrm>
              <a:off x="-8621537" y="1749575"/>
              <a:ext cx="17684677" cy="3365954"/>
              <a:chOff x="-8621537" y="1749575"/>
              <a:chExt cx="17684677" cy="3365954"/>
            </a:xfrm>
          </p:grpSpPr>
          <p:sp>
            <p:nvSpPr>
              <p:cNvPr id="11" name="フリーフォーム: 図形 10">
                <a:extLst>
                  <a:ext uri="{FF2B5EF4-FFF2-40B4-BE49-F238E27FC236}">
                    <a16:creationId xmlns:a16="http://schemas.microsoft.com/office/drawing/2014/main" id="{A9C42B02-B1AF-B1D3-57BD-6A3A0E33805A}"/>
                  </a:ext>
                </a:extLst>
              </p:cNvPr>
              <p:cNvSpPr/>
              <p:nvPr/>
            </p:nvSpPr>
            <p:spPr>
              <a:xfrm>
                <a:off x="-8347455" y="1941575"/>
                <a:ext cx="8400796" cy="2962147"/>
              </a:xfrm>
              <a:custGeom>
                <a:avLst/>
                <a:gdLst>
                  <a:gd name="connsiteX0" fmla="*/ 0 w 8400796"/>
                  <a:gd name="connsiteY0" fmla="*/ 2962148 h 2962147"/>
                  <a:gd name="connsiteX1" fmla="*/ 8400796 w 8400796"/>
                  <a:gd name="connsiteY1" fmla="*/ 2962148 h 2962147"/>
                  <a:gd name="connsiteX2" fmla="*/ 8400796 w 8400796"/>
                  <a:gd name="connsiteY2" fmla="*/ 0 h 2962147"/>
                  <a:gd name="connsiteX3" fmla="*/ 0 w 8400796"/>
                  <a:gd name="connsiteY3" fmla="*/ 0 h 2962147"/>
                </a:gdLst>
                <a:ahLst/>
                <a:cxnLst>
                  <a:cxn ang="0">
                    <a:pos x="connsiteX0" y="connsiteY0"/>
                  </a:cxn>
                  <a:cxn ang="0">
                    <a:pos x="connsiteX1" y="connsiteY1"/>
                  </a:cxn>
                  <a:cxn ang="0">
                    <a:pos x="connsiteX2" y="connsiteY2"/>
                  </a:cxn>
                  <a:cxn ang="0">
                    <a:pos x="connsiteX3" y="connsiteY3"/>
                  </a:cxn>
                </a:cxnLst>
                <a:rect l="l" t="t" r="r" b="b"/>
                <a:pathLst>
                  <a:path w="8400796" h="2962147">
                    <a:moveTo>
                      <a:pt x="0" y="2962148"/>
                    </a:moveTo>
                    <a:lnTo>
                      <a:pt x="8400796" y="2962148"/>
                    </a:lnTo>
                    <a:lnTo>
                      <a:pt x="8400796" y="0"/>
                    </a:lnTo>
                    <a:lnTo>
                      <a:pt x="0" y="0"/>
                    </a:lnTo>
                    <a:close/>
                  </a:path>
                </a:pathLst>
              </a:custGeom>
              <a:solidFill>
                <a:srgbClr val="FFFFFF"/>
              </a:solidFill>
              <a:ln w="12700" cap="flat">
                <a:noFill/>
                <a:prstDash val="solid"/>
                <a:round/>
              </a:ln>
            </p:spPr>
            <p:txBody>
              <a:bodyPr rtlCol="0" anchor="ctr"/>
              <a:lstStyle/>
              <a:p>
                <a:endParaRPr lang="en-US"/>
              </a:p>
            </p:txBody>
          </p:sp>
          <p:grpSp>
            <p:nvGrpSpPr>
              <p:cNvPr id="12" name="グラフィックス 6">
                <a:extLst>
                  <a:ext uri="{FF2B5EF4-FFF2-40B4-BE49-F238E27FC236}">
                    <a16:creationId xmlns:a16="http://schemas.microsoft.com/office/drawing/2014/main" id="{F026EA06-E086-D304-075F-8ED88F677F6A}"/>
                  </a:ext>
                </a:extLst>
              </p:cNvPr>
              <p:cNvGrpSpPr/>
              <p:nvPr/>
            </p:nvGrpSpPr>
            <p:grpSpPr>
              <a:xfrm>
                <a:off x="-7879558" y="1941575"/>
                <a:ext cx="7856541" cy="3173954"/>
                <a:chOff x="-7879558" y="1941575"/>
                <a:chExt cx="7856541" cy="3173954"/>
              </a:xfrm>
            </p:grpSpPr>
            <p:grpSp>
              <p:nvGrpSpPr>
                <p:cNvPr id="13" name="グラフィックス 6">
                  <a:extLst>
                    <a:ext uri="{FF2B5EF4-FFF2-40B4-BE49-F238E27FC236}">
                      <a16:creationId xmlns:a16="http://schemas.microsoft.com/office/drawing/2014/main" id="{D5ADCCF7-CF9C-F046-DE4A-35ADA68BC567}"/>
                    </a:ext>
                  </a:extLst>
                </p:cNvPr>
                <p:cNvGrpSpPr/>
                <p:nvPr/>
              </p:nvGrpSpPr>
              <p:grpSpPr>
                <a:xfrm>
                  <a:off x="-7879558" y="1941575"/>
                  <a:ext cx="191559" cy="3172962"/>
                  <a:chOff x="-7879558" y="1941575"/>
                  <a:chExt cx="191559" cy="3172962"/>
                </a:xfrm>
              </p:grpSpPr>
              <p:sp>
                <p:nvSpPr>
                  <p:cNvPr id="14" name="フリーフォーム: 図形 13">
                    <a:extLst>
                      <a:ext uri="{FF2B5EF4-FFF2-40B4-BE49-F238E27FC236}">
                        <a16:creationId xmlns:a16="http://schemas.microsoft.com/office/drawing/2014/main" id="{6907B0E5-50C2-24A6-0738-82FA2E063246}"/>
                      </a:ext>
                    </a:extLst>
                  </p:cNvPr>
                  <p:cNvSpPr/>
                  <p:nvPr/>
                </p:nvSpPr>
                <p:spPr>
                  <a:xfrm>
                    <a:off x="-7775101" y="1941575"/>
                    <a:ext cx="12700" cy="2962147"/>
                  </a:xfrm>
                  <a:custGeom>
                    <a:avLst/>
                    <a:gdLst>
                      <a:gd name="connsiteX0" fmla="*/ 0 w 12700"/>
                      <a:gd name="connsiteY0" fmla="*/ 2962148 h 2962147"/>
                      <a:gd name="connsiteX1" fmla="*/ 0 w 12700"/>
                      <a:gd name="connsiteY1" fmla="*/ 0 h 2962147"/>
                    </a:gdLst>
                    <a:ahLst/>
                    <a:cxnLst>
                      <a:cxn ang="0">
                        <a:pos x="connsiteX0" y="connsiteY0"/>
                      </a:cxn>
                      <a:cxn ang="0">
                        <a:pos x="connsiteX1" y="connsiteY1"/>
                      </a:cxn>
                    </a:cxnLst>
                    <a:rect l="l" t="t" r="r" b="b"/>
                    <a:pathLst>
                      <a:path w="12700" h="2962147">
                        <a:moveTo>
                          <a:pt x="0" y="2962148"/>
                        </a:moveTo>
                        <a:lnTo>
                          <a:pt x="0" y="0"/>
                        </a:lnTo>
                      </a:path>
                    </a:pathLst>
                  </a:custGeom>
                  <a:noFill/>
                  <a:ln w="10160" cap="sq">
                    <a:solidFill>
                      <a:srgbClr val="B0B0B0"/>
                    </a:solidFill>
                    <a:prstDash val="solid"/>
                    <a:round/>
                  </a:ln>
                </p:spPr>
                <p:txBody>
                  <a:bodyPr rtlCol="0" anchor="ctr"/>
                  <a:lstStyle/>
                  <a:p>
                    <a:endParaRPr lang="en-US"/>
                  </a:p>
                </p:txBody>
              </p:sp>
              <p:sp>
                <p:nvSpPr>
                  <p:cNvPr id="15" name="フリーフォーム: 図形 14">
                    <a:extLst>
                      <a:ext uri="{FF2B5EF4-FFF2-40B4-BE49-F238E27FC236}">
                        <a16:creationId xmlns:a16="http://schemas.microsoft.com/office/drawing/2014/main" id="{8EA08D7F-3F89-8C13-4C46-6F49DAE85564}"/>
                      </a:ext>
                    </a:extLst>
                  </p:cNvPr>
                  <p:cNvSpPr/>
                  <p:nvPr/>
                </p:nvSpPr>
                <p:spPr>
                  <a:xfrm>
                    <a:off x="-7775101" y="4903724"/>
                    <a:ext cx="12700" cy="44450"/>
                  </a:xfrm>
                  <a:custGeom>
                    <a:avLst/>
                    <a:gdLst>
                      <a:gd name="connsiteX0" fmla="*/ 78 w 12700"/>
                      <a:gd name="connsiteY0" fmla="*/ 260 h 44450"/>
                      <a:gd name="connsiteX1" fmla="*/ 78 w 12700"/>
                      <a:gd name="connsiteY1" fmla="*/ 44710 h 44450"/>
                    </a:gdLst>
                    <a:ahLst/>
                    <a:cxnLst>
                      <a:cxn ang="0">
                        <a:pos x="connsiteX0" y="connsiteY0"/>
                      </a:cxn>
                      <a:cxn ang="0">
                        <a:pos x="connsiteX1" y="connsiteY1"/>
                      </a:cxn>
                    </a:cxnLst>
                    <a:rect l="l" t="t" r="r" b="b"/>
                    <a:pathLst>
                      <a:path w="12700" h="44450">
                        <a:moveTo>
                          <a:pt x="78" y="260"/>
                        </a:moveTo>
                        <a:lnTo>
                          <a:pt x="78" y="44710"/>
                        </a:lnTo>
                      </a:path>
                    </a:pathLst>
                  </a:custGeom>
                  <a:solidFill>
                    <a:srgbClr val="000000"/>
                  </a:solidFill>
                  <a:ln w="10160" cap="flat">
                    <a:solidFill>
                      <a:srgbClr val="000000"/>
                    </a:solidFill>
                    <a:prstDash val="solid"/>
                    <a:round/>
                  </a:ln>
                </p:spPr>
                <p:txBody>
                  <a:bodyPr rtlCol="0" anchor="ctr"/>
                  <a:lstStyle/>
                  <a:p>
                    <a:endParaRPr lang="en-US"/>
                  </a:p>
                </p:txBody>
              </p:sp>
              <p:grpSp>
                <p:nvGrpSpPr>
                  <p:cNvPr id="16" name="グラフィックス 6">
                    <a:extLst>
                      <a:ext uri="{FF2B5EF4-FFF2-40B4-BE49-F238E27FC236}">
                        <a16:creationId xmlns:a16="http://schemas.microsoft.com/office/drawing/2014/main" id="{0D026FD3-103F-D3FE-51EA-6F67401AD3D5}"/>
                      </a:ext>
                    </a:extLst>
                  </p:cNvPr>
                  <p:cNvGrpSpPr/>
                  <p:nvPr/>
                </p:nvGrpSpPr>
                <p:grpSpPr>
                  <a:xfrm>
                    <a:off x="-7879558" y="4996527"/>
                    <a:ext cx="191559" cy="118010"/>
                    <a:chOff x="-7879558" y="4996527"/>
                    <a:chExt cx="191559" cy="118010"/>
                  </a:xfrm>
                  <a:solidFill>
                    <a:srgbClr val="000000"/>
                  </a:solidFill>
                </p:grpSpPr>
                <p:sp>
                  <p:nvSpPr>
                    <p:cNvPr id="17" name="フリーフォーム: 図形 16">
                      <a:extLst>
                        <a:ext uri="{FF2B5EF4-FFF2-40B4-BE49-F238E27FC236}">
                          <a16:creationId xmlns:a16="http://schemas.microsoft.com/office/drawing/2014/main" id="{4EB5D925-4DCF-07D4-E534-F36563B6D097}"/>
                        </a:ext>
                      </a:extLst>
                    </p:cNvPr>
                    <p:cNvSpPr/>
                    <p:nvPr/>
                  </p:nvSpPr>
                  <p:spPr>
                    <a:xfrm flipV="1">
                      <a:off x="-7879558" y="4996527"/>
                      <a:ext cx="31551" cy="118010"/>
                    </a:xfrm>
                    <a:custGeom>
                      <a:avLst/>
                      <a:gdLst>
                        <a:gd name="connsiteX0" fmla="*/ 18637 w 31551"/>
                        <a:gd name="connsiteY0" fmla="*/ 116590 h 118010"/>
                        <a:gd name="connsiteX1" fmla="*/ 31158 w 31551"/>
                        <a:gd name="connsiteY1" fmla="*/ 116590 h 118010"/>
                        <a:gd name="connsiteX2" fmla="*/ 31158 w 31551"/>
                        <a:gd name="connsiteY2" fmla="*/ 30449 h 118010"/>
                        <a:gd name="connsiteX3" fmla="*/ 24808 w 31551"/>
                        <a:gd name="connsiteY3" fmla="*/ 6140 h 118010"/>
                        <a:gd name="connsiteX4" fmla="*/ 4369 w 31551"/>
                        <a:gd name="connsiteY4" fmla="*/ -1420 h 118010"/>
                        <a:gd name="connsiteX5" fmla="*/ -393 w 31551"/>
                        <a:gd name="connsiteY5" fmla="*/ -1420 h 118010"/>
                        <a:gd name="connsiteX6" fmla="*/ -393 w 31551"/>
                        <a:gd name="connsiteY6" fmla="*/ 9117 h 118010"/>
                        <a:gd name="connsiteX7" fmla="*/ 3516 w 31551"/>
                        <a:gd name="connsiteY7" fmla="*/ 9117 h 118010"/>
                        <a:gd name="connsiteX8" fmla="*/ 15224 w 31551"/>
                        <a:gd name="connsiteY8" fmla="*/ 13780 h 118010"/>
                        <a:gd name="connsiteX9" fmla="*/ 18637 w 31551"/>
                        <a:gd name="connsiteY9" fmla="*/ 30449 h 118010"/>
                        <a:gd name="connsiteX10" fmla="*/ 18637 w 31551"/>
                        <a:gd name="connsiteY10" fmla="*/ 116590 h 118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1551" h="118010">
                          <a:moveTo>
                            <a:pt x="18637" y="116590"/>
                          </a:moveTo>
                          <a:lnTo>
                            <a:pt x="31158" y="116590"/>
                          </a:lnTo>
                          <a:lnTo>
                            <a:pt x="31158" y="30449"/>
                          </a:lnTo>
                          <a:cubicBezTo>
                            <a:pt x="31158" y="19283"/>
                            <a:pt x="29042" y="11180"/>
                            <a:pt x="24808" y="6140"/>
                          </a:cubicBezTo>
                          <a:cubicBezTo>
                            <a:pt x="20575" y="1100"/>
                            <a:pt x="13762" y="-1420"/>
                            <a:pt x="4369" y="-1420"/>
                          </a:cubicBezTo>
                          <a:lnTo>
                            <a:pt x="-393" y="-1420"/>
                          </a:lnTo>
                          <a:lnTo>
                            <a:pt x="-393" y="9117"/>
                          </a:lnTo>
                          <a:lnTo>
                            <a:pt x="3516" y="9117"/>
                          </a:lnTo>
                          <a:cubicBezTo>
                            <a:pt x="9046" y="9117"/>
                            <a:pt x="12948" y="10671"/>
                            <a:pt x="15224" y="13780"/>
                          </a:cubicBezTo>
                          <a:cubicBezTo>
                            <a:pt x="17499" y="16876"/>
                            <a:pt x="18637" y="22432"/>
                            <a:pt x="18637" y="30449"/>
                          </a:cubicBezTo>
                          <a:lnTo>
                            <a:pt x="18637" y="116590"/>
                          </a:lnTo>
                          <a:close/>
                        </a:path>
                      </a:pathLst>
                    </a:custGeom>
                    <a:solidFill>
                      <a:srgbClr val="000000"/>
                    </a:solidFill>
                    <a:ln w="20" cap="flat">
                      <a:noFill/>
                      <a:prstDash val="solid"/>
                      <a:round/>
                    </a:ln>
                  </p:spPr>
                  <p:txBody>
                    <a:bodyPr rtlCol="0" anchor="ctr"/>
                    <a:lstStyle/>
                    <a:p>
                      <a:endParaRPr lang="en-US"/>
                    </a:p>
                  </p:txBody>
                </p:sp>
                <p:sp>
                  <p:nvSpPr>
                    <p:cNvPr id="18" name="フリーフォーム: 図形 17">
                      <a:extLst>
                        <a:ext uri="{FF2B5EF4-FFF2-40B4-BE49-F238E27FC236}">
                          <a16:creationId xmlns:a16="http://schemas.microsoft.com/office/drawing/2014/main" id="{9B5DEDE0-FC5B-FDA5-21E1-E91AF2273946}"/>
                        </a:ext>
                      </a:extLst>
                    </p:cNvPr>
                    <p:cNvSpPr/>
                    <p:nvPr/>
                  </p:nvSpPr>
                  <p:spPr>
                    <a:xfrm flipV="1">
                      <a:off x="-7827915" y="5017998"/>
                      <a:ext cx="58677" cy="72925"/>
                    </a:xfrm>
                    <a:custGeom>
                      <a:avLst/>
                      <a:gdLst>
                        <a:gd name="connsiteX0" fmla="*/ 34131 w 58677"/>
                        <a:gd name="connsiteY0" fmla="*/ 35236 h 72925"/>
                        <a:gd name="connsiteX1" fmla="*/ 14962 w 58677"/>
                        <a:gd name="connsiteY1" fmla="*/ 32081 h 72925"/>
                        <a:gd name="connsiteX2" fmla="*/ 9624 w 58677"/>
                        <a:gd name="connsiteY2" fmla="*/ 21286 h 72925"/>
                        <a:gd name="connsiteX3" fmla="*/ 13632 w 58677"/>
                        <a:gd name="connsiteY3" fmla="*/ 11642 h 72925"/>
                        <a:gd name="connsiteX4" fmla="*/ 24506 w 58677"/>
                        <a:gd name="connsiteY4" fmla="*/ 8090 h 72925"/>
                        <a:gd name="connsiteX5" fmla="*/ 39746 w 58677"/>
                        <a:gd name="connsiteY5" fmla="*/ 14817 h 72925"/>
                        <a:gd name="connsiteX6" fmla="*/ 45481 w 58677"/>
                        <a:gd name="connsiteY6" fmla="*/ 32696 h 72925"/>
                        <a:gd name="connsiteX7" fmla="*/ 45481 w 58677"/>
                        <a:gd name="connsiteY7" fmla="*/ 35236 h 72925"/>
                        <a:gd name="connsiteX8" fmla="*/ 34131 w 58677"/>
                        <a:gd name="connsiteY8" fmla="*/ 35236 h 72925"/>
                        <a:gd name="connsiteX9" fmla="*/ 56891 w 58677"/>
                        <a:gd name="connsiteY9" fmla="*/ 39959 h 72925"/>
                        <a:gd name="connsiteX10" fmla="*/ 56891 w 58677"/>
                        <a:gd name="connsiteY10" fmla="*/ 331 h 72925"/>
                        <a:gd name="connsiteX11" fmla="*/ 45481 w 58677"/>
                        <a:gd name="connsiteY11" fmla="*/ 331 h 72925"/>
                        <a:gd name="connsiteX12" fmla="*/ 45481 w 58677"/>
                        <a:gd name="connsiteY12" fmla="*/ 10868 h 72925"/>
                        <a:gd name="connsiteX13" fmla="*/ 35738 w 58677"/>
                        <a:gd name="connsiteY13" fmla="*/ 1542 h 72925"/>
                        <a:gd name="connsiteX14" fmla="*/ 21470 w 58677"/>
                        <a:gd name="connsiteY14" fmla="*/ -1475 h 72925"/>
                        <a:gd name="connsiteX15" fmla="*/ 4504 w 58677"/>
                        <a:gd name="connsiteY15" fmla="*/ 4518 h 72925"/>
                        <a:gd name="connsiteX16" fmla="*/ -1787 w 58677"/>
                        <a:gd name="connsiteY16" fmla="*/ 20552 h 72925"/>
                        <a:gd name="connsiteX17" fmla="*/ 6052 w 58677"/>
                        <a:gd name="connsiteY17" fmla="*/ 38213 h 72925"/>
                        <a:gd name="connsiteX18" fmla="*/ 29467 w 58677"/>
                        <a:gd name="connsiteY18" fmla="*/ 44166 h 72925"/>
                        <a:gd name="connsiteX19" fmla="*/ 45481 w 58677"/>
                        <a:gd name="connsiteY19" fmla="*/ 44166 h 72925"/>
                        <a:gd name="connsiteX20" fmla="*/ 45481 w 58677"/>
                        <a:gd name="connsiteY20" fmla="*/ 45297 h 72925"/>
                        <a:gd name="connsiteX21" fmla="*/ 40302 w 58677"/>
                        <a:gd name="connsiteY21" fmla="*/ 57481 h 72925"/>
                        <a:gd name="connsiteX22" fmla="*/ 25757 w 58677"/>
                        <a:gd name="connsiteY22" fmla="*/ 61787 h 72925"/>
                        <a:gd name="connsiteX23" fmla="*/ 14148 w 58677"/>
                        <a:gd name="connsiteY23" fmla="*/ 60359 h 72925"/>
                        <a:gd name="connsiteX24" fmla="*/ 3313 w 58677"/>
                        <a:gd name="connsiteY24" fmla="*/ 56072 h 72925"/>
                        <a:gd name="connsiteX25" fmla="*/ 3313 w 58677"/>
                        <a:gd name="connsiteY25" fmla="*/ 66629 h 72925"/>
                        <a:gd name="connsiteX26" fmla="*/ 15458 w 58677"/>
                        <a:gd name="connsiteY26" fmla="*/ 70241 h 72925"/>
                        <a:gd name="connsiteX27" fmla="*/ 26927 w 58677"/>
                        <a:gd name="connsiteY27" fmla="*/ 71451 h 72925"/>
                        <a:gd name="connsiteX28" fmla="*/ 49450 w 58677"/>
                        <a:gd name="connsiteY28" fmla="*/ 63633 h 72925"/>
                        <a:gd name="connsiteX29" fmla="*/ 56891 w 58677"/>
                        <a:gd name="connsiteY29" fmla="*/ 39959 h 7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8677" h="72925">
                          <a:moveTo>
                            <a:pt x="34131" y="35236"/>
                          </a:moveTo>
                          <a:cubicBezTo>
                            <a:pt x="24910" y="35236"/>
                            <a:pt x="18520" y="34185"/>
                            <a:pt x="14962" y="32081"/>
                          </a:cubicBezTo>
                          <a:cubicBezTo>
                            <a:pt x="11403" y="29978"/>
                            <a:pt x="9624" y="26380"/>
                            <a:pt x="9624" y="21286"/>
                          </a:cubicBezTo>
                          <a:cubicBezTo>
                            <a:pt x="9624" y="17238"/>
                            <a:pt x="10960" y="14023"/>
                            <a:pt x="13632" y="11642"/>
                          </a:cubicBezTo>
                          <a:cubicBezTo>
                            <a:pt x="16304" y="9274"/>
                            <a:pt x="19929" y="8090"/>
                            <a:pt x="24506" y="8090"/>
                          </a:cubicBezTo>
                          <a:cubicBezTo>
                            <a:pt x="30843" y="8090"/>
                            <a:pt x="35923" y="10333"/>
                            <a:pt x="39746" y="14817"/>
                          </a:cubicBezTo>
                          <a:cubicBezTo>
                            <a:pt x="43570" y="19302"/>
                            <a:pt x="45481" y="25262"/>
                            <a:pt x="45481" y="32696"/>
                          </a:cubicBezTo>
                          <a:lnTo>
                            <a:pt x="45481" y="35236"/>
                          </a:lnTo>
                          <a:lnTo>
                            <a:pt x="34131" y="35236"/>
                          </a:lnTo>
                          <a:close/>
                          <a:moveTo>
                            <a:pt x="56891" y="39959"/>
                          </a:moveTo>
                          <a:lnTo>
                            <a:pt x="56891" y="331"/>
                          </a:lnTo>
                          <a:lnTo>
                            <a:pt x="45481" y="331"/>
                          </a:lnTo>
                          <a:lnTo>
                            <a:pt x="45481" y="10868"/>
                          </a:lnTo>
                          <a:cubicBezTo>
                            <a:pt x="42875" y="6661"/>
                            <a:pt x="39627" y="3553"/>
                            <a:pt x="35738" y="1542"/>
                          </a:cubicBezTo>
                          <a:cubicBezTo>
                            <a:pt x="31849" y="-469"/>
                            <a:pt x="27093" y="-1475"/>
                            <a:pt x="21470" y="-1475"/>
                          </a:cubicBezTo>
                          <a:cubicBezTo>
                            <a:pt x="14366" y="-1475"/>
                            <a:pt x="8711" y="523"/>
                            <a:pt x="4504" y="4518"/>
                          </a:cubicBezTo>
                          <a:cubicBezTo>
                            <a:pt x="310" y="8514"/>
                            <a:pt x="-1787" y="13858"/>
                            <a:pt x="-1787" y="20552"/>
                          </a:cubicBezTo>
                          <a:cubicBezTo>
                            <a:pt x="-1787" y="28357"/>
                            <a:pt x="826" y="34244"/>
                            <a:pt x="6052" y="38213"/>
                          </a:cubicBezTo>
                          <a:cubicBezTo>
                            <a:pt x="11290" y="42182"/>
                            <a:pt x="19096" y="44166"/>
                            <a:pt x="29467" y="44166"/>
                          </a:cubicBezTo>
                          <a:lnTo>
                            <a:pt x="45481" y="44166"/>
                          </a:lnTo>
                          <a:lnTo>
                            <a:pt x="45481" y="45297"/>
                          </a:lnTo>
                          <a:cubicBezTo>
                            <a:pt x="45481" y="50549"/>
                            <a:pt x="43755" y="54610"/>
                            <a:pt x="40302" y="57481"/>
                          </a:cubicBezTo>
                          <a:cubicBezTo>
                            <a:pt x="36849" y="60352"/>
                            <a:pt x="32001" y="61787"/>
                            <a:pt x="25757" y="61787"/>
                          </a:cubicBezTo>
                          <a:cubicBezTo>
                            <a:pt x="21788" y="61787"/>
                            <a:pt x="17918" y="61311"/>
                            <a:pt x="14148" y="60359"/>
                          </a:cubicBezTo>
                          <a:cubicBezTo>
                            <a:pt x="10391" y="59406"/>
                            <a:pt x="6779" y="57977"/>
                            <a:pt x="3313" y="56072"/>
                          </a:cubicBezTo>
                          <a:lnTo>
                            <a:pt x="3313" y="66629"/>
                          </a:lnTo>
                          <a:cubicBezTo>
                            <a:pt x="7480" y="68243"/>
                            <a:pt x="11529" y="69447"/>
                            <a:pt x="15458" y="70241"/>
                          </a:cubicBezTo>
                          <a:cubicBezTo>
                            <a:pt x="19387" y="71048"/>
                            <a:pt x="23210" y="71451"/>
                            <a:pt x="26927" y="71451"/>
                          </a:cubicBezTo>
                          <a:cubicBezTo>
                            <a:pt x="36982" y="71451"/>
                            <a:pt x="44489" y="68845"/>
                            <a:pt x="49450" y="63633"/>
                          </a:cubicBezTo>
                          <a:cubicBezTo>
                            <a:pt x="54411" y="58434"/>
                            <a:pt x="56891" y="50543"/>
                            <a:pt x="56891" y="39959"/>
                          </a:cubicBezTo>
                          <a:close/>
                        </a:path>
                      </a:pathLst>
                    </a:custGeom>
                    <a:solidFill>
                      <a:srgbClr val="000000"/>
                    </a:solidFill>
                    <a:ln w="20" cap="flat">
                      <a:noFill/>
                      <a:prstDash val="solid"/>
                      <a:round/>
                    </a:ln>
                  </p:spPr>
                  <p:txBody>
                    <a:bodyPr rtlCol="0" anchor="ctr"/>
                    <a:lstStyle/>
                    <a:p>
                      <a:endParaRPr lang="en-US"/>
                    </a:p>
                  </p:txBody>
                </p:sp>
                <p:sp>
                  <p:nvSpPr>
                    <p:cNvPr id="19" name="フリーフォーム: 図形 18">
                      <a:extLst>
                        <a:ext uri="{FF2B5EF4-FFF2-40B4-BE49-F238E27FC236}">
                          <a16:creationId xmlns:a16="http://schemas.microsoft.com/office/drawing/2014/main" id="{FB3B44F1-7A19-CE55-B468-A43E91884D0D}"/>
                        </a:ext>
                      </a:extLst>
                    </p:cNvPr>
                    <p:cNvSpPr/>
                    <p:nvPr/>
                  </p:nvSpPr>
                  <p:spPr>
                    <a:xfrm flipV="1">
                      <a:off x="-7746181" y="5017998"/>
                      <a:ext cx="58181" cy="71119"/>
                    </a:xfrm>
                    <a:custGeom>
                      <a:avLst/>
                      <a:gdLst>
                        <a:gd name="connsiteX0" fmla="*/ 56217 w 58181"/>
                        <a:gd name="connsiteY0" fmla="*/ 40410 h 71119"/>
                        <a:gd name="connsiteX1" fmla="*/ 56217 w 58181"/>
                        <a:gd name="connsiteY1" fmla="*/ -1520 h 71119"/>
                        <a:gd name="connsiteX2" fmla="*/ 44807 w 58181"/>
                        <a:gd name="connsiteY2" fmla="*/ -1520 h 71119"/>
                        <a:gd name="connsiteX3" fmla="*/ 44807 w 58181"/>
                        <a:gd name="connsiteY3" fmla="*/ 40033 h 71119"/>
                        <a:gd name="connsiteX4" fmla="*/ 40957 w 58181"/>
                        <a:gd name="connsiteY4" fmla="*/ 54777 h 71119"/>
                        <a:gd name="connsiteX5" fmla="*/ 29428 w 58181"/>
                        <a:gd name="connsiteY5" fmla="*/ 59678 h 71119"/>
                        <a:gd name="connsiteX6" fmla="*/ 14843 w 58181"/>
                        <a:gd name="connsiteY6" fmla="*/ 53784 h 71119"/>
                        <a:gd name="connsiteX7" fmla="*/ 9505 w 58181"/>
                        <a:gd name="connsiteY7" fmla="*/ 37731 h 71119"/>
                        <a:gd name="connsiteX8" fmla="*/ 9505 w 58181"/>
                        <a:gd name="connsiteY8" fmla="*/ -1520 h 71119"/>
                        <a:gd name="connsiteX9" fmla="*/ -1965 w 58181"/>
                        <a:gd name="connsiteY9" fmla="*/ -1520 h 71119"/>
                        <a:gd name="connsiteX10" fmla="*/ -1965 w 58181"/>
                        <a:gd name="connsiteY10" fmla="*/ 67933 h 71119"/>
                        <a:gd name="connsiteX11" fmla="*/ 9505 w 58181"/>
                        <a:gd name="connsiteY11" fmla="*/ 67933 h 71119"/>
                        <a:gd name="connsiteX12" fmla="*/ 9505 w 58181"/>
                        <a:gd name="connsiteY12" fmla="*/ 57138 h 71119"/>
                        <a:gd name="connsiteX13" fmla="*/ 19149 w 58181"/>
                        <a:gd name="connsiteY13" fmla="*/ 66504 h 71119"/>
                        <a:gd name="connsiteX14" fmla="*/ 31968 w 58181"/>
                        <a:gd name="connsiteY14" fmla="*/ 69600 h 71119"/>
                        <a:gd name="connsiteX15" fmla="*/ 50066 w 58181"/>
                        <a:gd name="connsiteY15" fmla="*/ 62198 h 71119"/>
                        <a:gd name="connsiteX16" fmla="*/ 56217 w 58181"/>
                        <a:gd name="connsiteY16" fmla="*/ 40410 h 711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58181" h="71119">
                          <a:moveTo>
                            <a:pt x="56217" y="40410"/>
                          </a:moveTo>
                          <a:lnTo>
                            <a:pt x="56217" y="-1520"/>
                          </a:lnTo>
                          <a:lnTo>
                            <a:pt x="44807" y="-1520"/>
                          </a:lnTo>
                          <a:lnTo>
                            <a:pt x="44807" y="40033"/>
                          </a:lnTo>
                          <a:cubicBezTo>
                            <a:pt x="44807" y="46608"/>
                            <a:pt x="43524" y="51522"/>
                            <a:pt x="40957" y="54777"/>
                          </a:cubicBezTo>
                          <a:cubicBezTo>
                            <a:pt x="38391" y="58044"/>
                            <a:pt x="34548" y="59678"/>
                            <a:pt x="29428" y="59678"/>
                          </a:cubicBezTo>
                          <a:cubicBezTo>
                            <a:pt x="23263" y="59678"/>
                            <a:pt x="18402" y="57714"/>
                            <a:pt x="14843" y="53784"/>
                          </a:cubicBezTo>
                          <a:cubicBezTo>
                            <a:pt x="11284" y="49869"/>
                            <a:pt x="9505" y="44517"/>
                            <a:pt x="9505" y="37731"/>
                          </a:cubicBezTo>
                          <a:lnTo>
                            <a:pt x="9505" y="-1520"/>
                          </a:lnTo>
                          <a:lnTo>
                            <a:pt x="-1965" y="-1520"/>
                          </a:lnTo>
                          <a:lnTo>
                            <a:pt x="-1965" y="67933"/>
                          </a:lnTo>
                          <a:lnTo>
                            <a:pt x="9505" y="67933"/>
                          </a:lnTo>
                          <a:lnTo>
                            <a:pt x="9505" y="57138"/>
                          </a:lnTo>
                          <a:cubicBezTo>
                            <a:pt x="12243" y="61319"/>
                            <a:pt x="15458" y="64441"/>
                            <a:pt x="19149" y="66504"/>
                          </a:cubicBezTo>
                          <a:cubicBezTo>
                            <a:pt x="22853" y="68568"/>
                            <a:pt x="27126" y="69600"/>
                            <a:pt x="31968" y="69600"/>
                          </a:cubicBezTo>
                          <a:cubicBezTo>
                            <a:pt x="39945" y="69600"/>
                            <a:pt x="45978" y="67133"/>
                            <a:pt x="50066" y="62198"/>
                          </a:cubicBezTo>
                          <a:cubicBezTo>
                            <a:pt x="54167" y="57264"/>
                            <a:pt x="56217" y="50001"/>
                            <a:pt x="56217" y="40410"/>
                          </a:cubicBezTo>
                          <a:close/>
                        </a:path>
                      </a:pathLst>
                    </a:custGeom>
                    <a:solidFill>
                      <a:srgbClr val="000000"/>
                    </a:solidFill>
                    <a:ln w="20" cap="flat">
                      <a:noFill/>
                      <a:prstDash val="solid"/>
                      <a:round/>
                    </a:ln>
                  </p:spPr>
                  <p:txBody>
                    <a:bodyPr rtlCol="0" anchor="ctr"/>
                    <a:lstStyle/>
                    <a:p>
                      <a:endParaRPr lang="en-US"/>
                    </a:p>
                  </p:txBody>
                </p:sp>
              </p:grpSp>
            </p:grpSp>
            <p:grpSp>
              <p:nvGrpSpPr>
                <p:cNvPr id="20" name="グラフィックス 6">
                  <a:extLst>
                    <a:ext uri="{FF2B5EF4-FFF2-40B4-BE49-F238E27FC236}">
                      <a16:creationId xmlns:a16="http://schemas.microsoft.com/office/drawing/2014/main" id="{943966EB-9CBB-D528-6001-5DEC30CCEDB4}"/>
                    </a:ext>
                  </a:extLst>
                </p:cNvPr>
                <p:cNvGrpSpPr/>
                <p:nvPr/>
              </p:nvGrpSpPr>
              <p:grpSpPr>
                <a:xfrm>
                  <a:off x="-7180780" y="1941575"/>
                  <a:ext cx="205417" cy="3149348"/>
                  <a:chOff x="-7180780" y="1941575"/>
                  <a:chExt cx="205417" cy="3149348"/>
                </a:xfrm>
              </p:grpSpPr>
              <p:sp>
                <p:nvSpPr>
                  <p:cNvPr id="21" name="フリーフォーム: 図形 20">
                    <a:extLst>
                      <a:ext uri="{FF2B5EF4-FFF2-40B4-BE49-F238E27FC236}">
                        <a16:creationId xmlns:a16="http://schemas.microsoft.com/office/drawing/2014/main" id="{70B70FFA-2D82-5E78-D532-0E98C5C19160}"/>
                      </a:ext>
                    </a:extLst>
                  </p:cNvPr>
                  <p:cNvSpPr/>
                  <p:nvPr/>
                </p:nvSpPr>
                <p:spPr>
                  <a:xfrm>
                    <a:off x="-7080821" y="1941575"/>
                    <a:ext cx="12700" cy="2962147"/>
                  </a:xfrm>
                  <a:custGeom>
                    <a:avLst/>
                    <a:gdLst>
                      <a:gd name="connsiteX0" fmla="*/ 0 w 12700"/>
                      <a:gd name="connsiteY0" fmla="*/ 2962148 h 2962147"/>
                      <a:gd name="connsiteX1" fmla="*/ 0 w 12700"/>
                      <a:gd name="connsiteY1" fmla="*/ 0 h 2962147"/>
                    </a:gdLst>
                    <a:ahLst/>
                    <a:cxnLst>
                      <a:cxn ang="0">
                        <a:pos x="connsiteX0" y="connsiteY0"/>
                      </a:cxn>
                      <a:cxn ang="0">
                        <a:pos x="connsiteX1" y="connsiteY1"/>
                      </a:cxn>
                    </a:cxnLst>
                    <a:rect l="l" t="t" r="r" b="b"/>
                    <a:pathLst>
                      <a:path w="12700" h="2962147">
                        <a:moveTo>
                          <a:pt x="0" y="2962148"/>
                        </a:moveTo>
                        <a:lnTo>
                          <a:pt x="0" y="0"/>
                        </a:lnTo>
                      </a:path>
                    </a:pathLst>
                  </a:custGeom>
                  <a:noFill/>
                  <a:ln w="10160" cap="sq">
                    <a:solidFill>
                      <a:srgbClr val="B0B0B0"/>
                    </a:solidFill>
                    <a:prstDash val="solid"/>
                    <a:round/>
                  </a:ln>
                </p:spPr>
                <p:txBody>
                  <a:bodyPr rtlCol="0" anchor="ctr"/>
                  <a:lstStyle/>
                  <a:p>
                    <a:endParaRPr lang="en-US"/>
                  </a:p>
                </p:txBody>
              </p:sp>
              <p:sp>
                <p:nvSpPr>
                  <p:cNvPr id="22" name="フリーフォーム: 図形 21">
                    <a:extLst>
                      <a:ext uri="{FF2B5EF4-FFF2-40B4-BE49-F238E27FC236}">
                        <a16:creationId xmlns:a16="http://schemas.microsoft.com/office/drawing/2014/main" id="{C2B027FD-D2F4-327B-91AE-288482218207}"/>
                      </a:ext>
                    </a:extLst>
                  </p:cNvPr>
                  <p:cNvSpPr/>
                  <p:nvPr/>
                </p:nvSpPr>
                <p:spPr>
                  <a:xfrm>
                    <a:off x="-7080821" y="4903724"/>
                    <a:ext cx="12700" cy="44450"/>
                  </a:xfrm>
                  <a:custGeom>
                    <a:avLst/>
                    <a:gdLst>
                      <a:gd name="connsiteX0" fmla="*/ 132 w 12700"/>
                      <a:gd name="connsiteY0" fmla="*/ 260 h 44450"/>
                      <a:gd name="connsiteX1" fmla="*/ 132 w 12700"/>
                      <a:gd name="connsiteY1" fmla="*/ 44710 h 44450"/>
                    </a:gdLst>
                    <a:ahLst/>
                    <a:cxnLst>
                      <a:cxn ang="0">
                        <a:pos x="connsiteX0" y="connsiteY0"/>
                      </a:cxn>
                      <a:cxn ang="0">
                        <a:pos x="connsiteX1" y="connsiteY1"/>
                      </a:cxn>
                    </a:cxnLst>
                    <a:rect l="l" t="t" r="r" b="b"/>
                    <a:pathLst>
                      <a:path w="12700" h="44450">
                        <a:moveTo>
                          <a:pt x="132" y="260"/>
                        </a:moveTo>
                        <a:lnTo>
                          <a:pt x="132" y="44710"/>
                        </a:lnTo>
                      </a:path>
                    </a:pathLst>
                  </a:custGeom>
                  <a:solidFill>
                    <a:srgbClr val="000000"/>
                  </a:solidFill>
                  <a:ln w="10160" cap="flat">
                    <a:solidFill>
                      <a:srgbClr val="000000"/>
                    </a:solidFill>
                    <a:prstDash val="solid"/>
                    <a:round/>
                  </a:ln>
                </p:spPr>
                <p:txBody>
                  <a:bodyPr rtlCol="0" anchor="ctr"/>
                  <a:lstStyle/>
                  <a:p>
                    <a:endParaRPr lang="en-US"/>
                  </a:p>
                </p:txBody>
              </p:sp>
              <p:grpSp>
                <p:nvGrpSpPr>
                  <p:cNvPr id="23" name="グラフィックス 6">
                    <a:extLst>
                      <a:ext uri="{FF2B5EF4-FFF2-40B4-BE49-F238E27FC236}">
                        <a16:creationId xmlns:a16="http://schemas.microsoft.com/office/drawing/2014/main" id="{C69C7544-383F-8EB8-7698-0A20266CDC4A}"/>
                      </a:ext>
                    </a:extLst>
                  </p:cNvPr>
                  <p:cNvGrpSpPr/>
                  <p:nvPr/>
                </p:nvGrpSpPr>
                <p:grpSpPr>
                  <a:xfrm>
                    <a:off x="-7180780" y="4992618"/>
                    <a:ext cx="205417" cy="98305"/>
                    <a:chOff x="-7180780" y="4992618"/>
                    <a:chExt cx="205417" cy="98305"/>
                  </a:xfrm>
                  <a:solidFill>
                    <a:srgbClr val="000000"/>
                  </a:solidFill>
                </p:grpSpPr>
                <p:sp>
                  <p:nvSpPr>
                    <p:cNvPr id="24" name="フリーフォーム: 図形 23">
                      <a:extLst>
                        <a:ext uri="{FF2B5EF4-FFF2-40B4-BE49-F238E27FC236}">
                          <a16:creationId xmlns:a16="http://schemas.microsoft.com/office/drawing/2014/main" id="{A64AC375-A1C6-99E6-51CF-108996EEBC8A}"/>
                        </a:ext>
                      </a:extLst>
                    </p:cNvPr>
                    <p:cNvSpPr/>
                    <p:nvPr/>
                  </p:nvSpPr>
                  <p:spPr>
                    <a:xfrm flipV="1">
                      <a:off x="-7180780" y="4996527"/>
                      <a:ext cx="53201" cy="92590"/>
                    </a:xfrm>
                    <a:custGeom>
                      <a:avLst/>
                      <a:gdLst>
                        <a:gd name="connsiteX0" fmla="*/ -1842 w 53201"/>
                        <a:gd name="connsiteY0" fmla="*/ 90529 h 92590"/>
                        <a:gd name="connsiteX1" fmla="*/ 51359 w 53201"/>
                        <a:gd name="connsiteY1" fmla="*/ 90529 h 92590"/>
                        <a:gd name="connsiteX2" fmla="*/ 51359 w 53201"/>
                        <a:gd name="connsiteY2" fmla="*/ 79972 h 92590"/>
                        <a:gd name="connsiteX3" fmla="*/ 10680 w 53201"/>
                        <a:gd name="connsiteY3" fmla="*/ 79972 h 92590"/>
                        <a:gd name="connsiteX4" fmla="*/ 10680 w 53201"/>
                        <a:gd name="connsiteY4" fmla="*/ 52687 h 92590"/>
                        <a:gd name="connsiteX5" fmla="*/ 47391 w 53201"/>
                        <a:gd name="connsiteY5" fmla="*/ 52687 h 92590"/>
                        <a:gd name="connsiteX6" fmla="*/ 47391 w 53201"/>
                        <a:gd name="connsiteY6" fmla="*/ 42150 h 92590"/>
                        <a:gd name="connsiteX7" fmla="*/ 10680 w 53201"/>
                        <a:gd name="connsiteY7" fmla="*/ 42150 h 92590"/>
                        <a:gd name="connsiteX8" fmla="*/ 10680 w 53201"/>
                        <a:gd name="connsiteY8" fmla="*/ -2062 h 92590"/>
                        <a:gd name="connsiteX9" fmla="*/ -1842 w 53201"/>
                        <a:gd name="connsiteY9" fmla="*/ -2062 h 92590"/>
                        <a:gd name="connsiteX10" fmla="*/ -1842 w 53201"/>
                        <a:gd name="connsiteY10" fmla="*/ 90529 h 92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201" h="92590">
                          <a:moveTo>
                            <a:pt x="-1842" y="90529"/>
                          </a:moveTo>
                          <a:lnTo>
                            <a:pt x="51359" y="90529"/>
                          </a:lnTo>
                          <a:lnTo>
                            <a:pt x="51359" y="79972"/>
                          </a:lnTo>
                          <a:lnTo>
                            <a:pt x="10680" y="79972"/>
                          </a:lnTo>
                          <a:lnTo>
                            <a:pt x="10680" y="52687"/>
                          </a:lnTo>
                          <a:lnTo>
                            <a:pt x="47391" y="52687"/>
                          </a:lnTo>
                          <a:lnTo>
                            <a:pt x="47391" y="42150"/>
                          </a:lnTo>
                          <a:lnTo>
                            <a:pt x="10680" y="42150"/>
                          </a:lnTo>
                          <a:lnTo>
                            <a:pt x="10680" y="-2062"/>
                          </a:lnTo>
                          <a:lnTo>
                            <a:pt x="-1842" y="-2062"/>
                          </a:lnTo>
                          <a:lnTo>
                            <a:pt x="-1842" y="90529"/>
                          </a:lnTo>
                          <a:close/>
                        </a:path>
                      </a:pathLst>
                    </a:custGeom>
                    <a:solidFill>
                      <a:srgbClr val="000000"/>
                    </a:solidFill>
                    <a:ln w="20" cap="flat">
                      <a:noFill/>
                      <a:prstDash val="solid"/>
                      <a:round/>
                    </a:ln>
                  </p:spPr>
                  <p:txBody>
                    <a:bodyPr rtlCol="0" anchor="ctr"/>
                    <a:lstStyle/>
                    <a:p>
                      <a:endParaRPr lang="en-US"/>
                    </a:p>
                  </p:txBody>
                </p:sp>
                <p:sp>
                  <p:nvSpPr>
                    <p:cNvPr id="25" name="フリーフォーム: 図形 24">
                      <a:extLst>
                        <a:ext uri="{FF2B5EF4-FFF2-40B4-BE49-F238E27FC236}">
                          <a16:creationId xmlns:a16="http://schemas.microsoft.com/office/drawing/2014/main" id="{A609646B-5D1C-9937-8D8B-337B1FDB3E18}"/>
                        </a:ext>
                      </a:extLst>
                    </p:cNvPr>
                    <p:cNvSpPr/>
                    <p:nvPr/>
                  </p:nvSpPr>
                  <p:spPr>
                    <a:xfrm flipV="1">
                      <a:off x="-7120172" y="5017998"/>
                      <a:ext cx="64373" cy="72925"/>
                    </a:xfrm>
                    <a:custGeom>
                      <a:avLst/>
                      <a:gdLst>
                        <a:gd name="connsiteX0" fmla="*/ 62530 w 64373"/>
                        <a:gd name="connsiteY0" fmla="*/ 37915 h 72925"/>
                        <a:gd name="connsiteX1" fmla="*/ 62530 w 64373"/>
                        <a:gd name="connsiteY1" fmla="*/ 32339 h 72925"/>
                        <a:gd name="connsiteX2" fmla="*/ 10063 w 64373"/>
                        <a:gd name="connsiteY2" fmla="*/ 32339 h 72925"/>
                        <a:gd name="connsiteX3" fmla="*/ 17167 w 64373"/>
                        <a:gd name="connsiteY3" fmla="*/ 14381 h 72925"/>
                        <a:gd name="connsiteX4" fmla="*/ 34868 w 64373"/>
                        <a:gd name="connsiteY4" fmla="*/ 8209 h 72925"/>
                        <a:gd name="connsiteX5" fmla="*/ 47608 w 64373"/>
                        <a:gd name="connsiteY5" fmla="*/ 9817 h 72925"/>
                        <a:gd name="connsiteX6" fmla="*/ 59871 w 64373"/>
                        <a:gd name="connsiteY6" fmla="*/ 14658 h 72925"/>
                        <a:gd name="connsiteX7" fmla="*/ 59871 w 64373"/>
                        <a:gd name="connsiteY7" fmla="*/ 3863 h 72925"/>
                        <a:gd name="connsiteX8" fmla="*/ 47270 w 64373"/>
                        <a:gd name="connsiteY8" fmla="*/ -105 h 72925"/>
                        <a:gd name="connsiteX9" fmla="*/ 34193 w 64373"/>
                        <a:gd name="connsiteY9" fmla="*/ -1475 h 72925"/>
                        <a:gd name="connsiteX10" fmla="*/ 7860 w 64373"/>
                        <a:gd name="connsiteY10" fmla="*/ 8189 h 72925"/>
                        <a:gd name="connsiteX11" fmla="*/ -1843 w 64373"/>
                        <a:gd name="connsiteY11" fmla="*/ 34383 h 72925"/>
                        <a:gd name="connsiteX12" fmla="*/ 7364 w 64373"/>
                        <a:gd name="connsiteY12" fmla="*/ 61430 h 72925"/>
                        <a:gd name="connsiteX13" fmla="*/ 32209 w 64373"/>
                        <a:gd name="connsiteY13" fmla="*/ 71451 h 72925"/>
                        <a:gd name="connsiteX14" fmla="*/ 54374 w 64373"/>
                        <a:gd name="connsiteY14" fmla="*/ 62422 h 72925"/>
                        <a:gd name="connsiteX15" fmla="*/ 62530 w 64373"/>
                        <a:gd name="connsiteY15" fmla="*/ 37915 h 72925"/>
                        <a:gd name="connsiteX16" fmla="*/ 51120 w 64373"/>
                        <a:gd name="connsiteY16" fmla="*/ 41269 h 72925"/>
                        <a:gd name="connsiteX17" fmla="*/ 45881 w 64373"/>
                        <a:gd name="connsiteY17" fmla="*/ 56191 h 72925"/>
                        <a:gd name="connsiteX18" fmla="*/ 32328 w 64373"/>
                        <a:gd name="connsiteY18" fmla="*/ 61787 h 72925"/>
                        <a:gd name="connsiteX19" fmla="*/ 17048 w 64373"/>
                        <a:gd name="connsiteY19" fmla="*/ 56390 h 72925"/>
                        <a:gd name="connsiteX20" fmla="*/ 10440 w 64373"/>
                        <a:gd name="connsiteY20" fmla="*/ 41190 h 72925"/>
                        <a:gd name="connsiteX21" fmla="*/ 51120 w 64373"/>
                        <a:gd name="connsiteY21" fmla="*/ 41269 h 7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64373" h="72925">
                          <a:moveTo>
                            <a:pt x="62530" y="37915"/>
                          </a:moveTo>
                          <a:lnTo>
                            <a:pt x="62530" y="32339"/>
                          </a:lnTo>
                          <a:lnTo>
                            <a:pt x="10063" y="32339"/>
                          </a:lnTo>
                          <a:cubicBezTo>
                            <a:pt x="10566" y="24481"/>
                            <a:pt x="12934" y="18495"/>
                            <a:pt x="17167" y="14381"/>
                          </a:cubicBezTo>
                          <a:cubicBezTo>
                            <a:pt x="21400" y="10266"/>
                            <a:pt x="27301" y="8209"/>
                            <a:pt x="34868" y="8209"/>
                          </a:cubicBezTo>
                          <a:cubicBezTo>
                            <a:pt x="39247" y="8209"/>
                            <a:pt x="43493" y="8745"/>
                            <a:pt x="47608" y="9817"/>
                          </a:cubicBezTo>
                          <a:cubicBezTo>
                            <a:pt x="51722" y="10888"/>
                            <a:pt x="55810" y="12502"/>
                            <a:pt x="59871" y="14658"/>
                          </a:cubicBezTo>
                          <a:lnTo>
                            <a:pt x="59871" y="3863"/>
                          </a:lnTo>
                          <a:cubicBezTo>
                            <a:pt x="55770" y="2130"/>
                            <a:pt x="51570" y="808"/>
                            <a:pt x="47270" y="-105"/>
                          </a:cubicBezTo>
                          <a:cubicBezTo>
                            <a:pt x="42971" y="-1018"/>
                            <a:pt x="38612" y="-1475"/>
                            <a:pt x="34193" y="-1475"/>
                          </a:cubicBezTo>
                          <a:cubicBezTo>
                            <a:pt x="23107" y="-1475"/>
                            <a:pt x="14330" y="1747"/>
                            <a:pt x="7860" y="8189"/>
                          </a:cubicBezTo>
                          <a:cubicBezTo>
                            <a:pt x="1391" y="14645"/>
                            <a:pt x="-1843" y="23376"/>
                            <a:pt x="-1843" y="34383"/>
                          </a:cubicBezTo>
                          <a:cubicBezTo>
                            <a:pt x="-1843" y="45747"/>
                            <a:pt x="1226" y="54763"/>
                            <a:pt x="7364" y="61430"/>
                          </a:cubicBezTo>
                          <a:cubicBezTo>
                            <a:pt x="13503" y="68111"/>
                            <a:pt x="21784" y="71451"/>
                            <a:pt x="32209" y="71451"/>
                          </a:cubicBezTo>
                          <a:cubicBezTo>
                            <a:pt x="41549" y="71451"/>
                            <a:pt x="48937" y="68442"/>
                            <a:pt x="54374" y="62422"/>
                          </a:cubicBezTo>
                          <a:cubicBezTo>
                            <a:pt x="59811" y="56416"/>
                            <a:pt x="62530" y="48247"/>
                            <a:pt x="62530" y="37915"/>
                          </a:cubicBezTo>
                          <a:close/>
                          <a:moveTo>
                            <a:pt x="51120" y="41269"/>
                          </a:moveTo>
                          <a:cubicBezTo>
                            <a:pt x="51040" y="47500"/>
                            <a:pt x="49294" y="52474"/>
                            <a:pt x="45881" y="56191"/>
                          </a:cubicBezTo>
                          <a:cubicBezTo>
                            <a:pt x="42468" y="59922"/>
                            <a:pt x="37950" y="61787"/>
                            <a:pt x="32328" y="61787"/>
                          </a:cubicBezTo>
                          <a:cubicBezTo>
                            <a:pt x="25965" y="61787"/>
                            <a:pt x="20871" y="59988"/>
                            <a:pt x="17048" y="56390"/>
                          </a:cubicBezTo>
                          <a:cubicBezTo>
                            <a:pt x="13225" y="52792"/>
                            <a:pt x="11022" y="47725"/>
                            <a:pt x="10440" y="41190"/>
                          </a:cubicBezTo>
                          <a:lnTo>
                            <a:pt x="51120" y="41269"/>
                          </a:lnTo>
                          <a:close/>
                        </a:path>
                      </a:pathLst>
                    </a:custGeom>
                    <a:solidFill>
                      <a:srgbClr val="000000"/>
                    </a:solidFill>
                    <a:ln w="20" cap="flat">
                      <a:noFill/>
                      <a:prstDash val="solid"/>
                      <a:round/>
                    </a:ln>
                  </p:spPr>
                  <p:txBody>
                    <a:bodyPr rtlCol="0" anchor="ctr"/>
                    <a:lstStyle/>
                    <a:p>
                      <a:endParaRPr lang="en-US"/>
                    </a:p>
                  </p:txBody>
                </p:sp>
                <p:sp>
                  <p:nvSpPr>
                    <p:cNvPr id="26" name="フリーフォーム: 図形 25">
                      <a:extLst>
                        <a:ext uri="{FF2B5EF4-FFF2-40B4-BE49-F238E27FC236}">
                          <a16:creationId xmlns:a16="http://schemas.microsoft.com/office/drawing/2014/main" id="{8373D7DC-4F20-B5A8-3B07-25BAD5BC435E}"/>
                        </a:ext>
                      </a:extLst>
                    </p:cNvPr>
                    <p:cNvSpPr/>
                    <p:nvPr/>
                  </p:nvSpPr>
                  <p:spPr>
                    <a:xfrm flipV="1">
                      <a:off x="-7037513" y="4992618"/>
                      <a:ext cx="62150" cy="98305"/>
                    </a:xfrm>
                    <a:custGeom>
                      <a:avLst/>
                      <a:gdLst>
                        <a:gd name="connsiteX0" fmla="*/ 48295 w 62150"/>
                        <a:gd name="connsiteY0" fmla="*/ 34358 h 98305"/>
                        <a:gd name="connsiteX1" fmla="*/ 43116 w 62150"/>
                        <a:gd name="connsiteY1" fmla="*/ 54102 h 98305"/>
                        <a:gd name="connsiteX2" fmla="*/ 28888 w 62150"/>
                        <a:gd name="connsiteY2" fmla="*/ 61266 h 98305"/>
                        <a:gd name="connsiteX3" fmla="*/ 14640 w 62150"/>
                        <a:gd name="connsiteY3" fmla="*/ 54102 h 98305"/>
                        <a:gd name="connsiteX4" fmla="*/ 9461 w 62150"/>
                        <a:gd name="connsiteY4" fmla="*/ 34358 h 98305"/>
                        <a:gd name="connsiteX5" fmla="*/ 14640 w 62150"/>
                        <a:gd name="connsiteY5" fmla="*/ 14613 h 98305"/>
                        <a:gd name="connsiteX6" fmla="*/ 28888 w 62150"/>
                        <a:gd name="connsiteY6" fmla="*/ 7450 h 98305"/>
                        <a:gd name="connsiteX7" fmla="*/ 43116 w 62150"/>
                        <a:gd name="connsiteY7" fmla="*/ 14613 h 98305"/>
                        <a:gd name="connsiteX8" fmla="*/ 48295 w 62150"/>
                        <a:gd name="connsiteY8" fmla="*/ 34358 h 98305"/>
                        <a:gd name="connsiteX9" fmla="*/ 9461 w 62150"/>
                        <a:gd name="connsiteY9" fmla="*/ 58607 h 98305"/>
                        <a:gd name="connsiteX10" fmla="*/ 18549 w 62150"/>
                        <a:gd name="connsiteY10" fmla="*/ 67795 h 98305"/>
                        <a:gd name="connsiteX11" fmla="*/ 31666 w 62150"/>
                        <a:gd name="connsiteY11" fmla="*/ 70811 h 98305"/>
                        <a:gd name="connsiteX12" fmla="*/ 52224 w 62150"/>
                        <a:gd name="connsiteY12" fmla="*/ 60770 h 98305"/>
                        <a:gd name="connsiteX13" fmla="*/ 60142 w 62150"/>
                        <a:gd name="connsiteY13" fmla="*/ 34358 h 98305"/>
                        <a:gd name="connsiteX14" fmla="*/ 52224 w 62150"/>
                        <a:gd name="connsiteY14" fmla="*/ 7926 h 98305"/>
                        <a:gd name="connsiteX15" fmla="*/ 31666 w 62150"/>
                        <a:gd name="connsiteY15" fmla="*/ -2115 h 98305"/>
                        <a:gd name="connsiteX16" fmla="*/ 18549 w 62150"/>
                        <a:gd name="connsiteY16" fmla="*/ 901 h 98305"/>
                        <a:gd name="connsiteX17" fmla="*/ 9461 w 62150"/>
                        <a:gd name="connsiteY17" fmla="*/ 10109 h 98305"/>
                        <a:gd name="connsiteX18" fmla="*/ 9461 w 62150"/>
                        <a:gd name="connsiteY18" fmla="*/ -309 h 98305"/>
                        <a:gd name="connsiteX19" fmla="*/ -2009 w 62150"/>
                        <a:gd name="connsiteY19" fmla="*/ -309 h 98305"/>
                        <a:gd name="connsiteX20" fmla="*/ -2009 w 62150"/>
                        <a:gd name="connsiteY20" fmla="*/ 96191 h 98305"/>
                        <a:gd name="connsiteX21" fmla="*/ 9461 w 62150"/>
                        <a:gd name="connsiteY21" fmla="*/ 96191 h 98305"/>
                        <a:gd name="connsiteX22" fmla="*/ 9461 w 62150"/>
                        <a:gd name="connsiteY22" fmla="*/ 58607 h 983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62150" h="98305">
                          <a:moveTo>
                            <a:pt x="48295" y="34358"/>
                          </a:moveTo>
                          <a:cubicBezTo>
                            <a:pt x="48295" y="42745"/>
                            <a:pt x="46569" y="49327"/>
                            <a:pt x="43116" y="54102"/>
                          </a:cubicBezTo>
                          <a:cubicBezTo>
                            <a:pt x="39663" y="58878"/>
                            <a:pt x="34921" y="61266"/>
                            <a:pt x="28888" y="61266"/>
                          </a:cubicBezTo>
                          <a:cubicBezTo>
                            <a:pt x="22842" y="61266"/>
                            <a:pt x="18093" y="58878"/>
                            <a:pt x="14640" y="54102"/>
                          </a:cubicBezTo>
                          <a:cubicBezTo>
                            <a:pt x="11187" y="49327"/>
                            <a:pt x="9461" y="42745"/>
                            <a:pt x="9461" y="34358"/>
                          </a:cubicBezTo>
                          <a:cubicBezTo>
                            <a:pt x="9461" y="25970"/>
                            <a:pt x="11187" y="19389"/>
                            <a:pt x="14640" y="14613"/>
                          </a:cubicBezTo>
                          <a:cubicBezTo>
                            <a:pt x="18093" y="9838"/>
                            <a:pt x="22842" y="7450"/>
                            <a:pt x="28888" y="7450"/>
                          </a:cubicBezTo>
                          <a:cubicBezTo>
                            <a:pt x="34921" y="7450"/>
                            <a:pt x="39663" y="9838"/>
                            <a:pt x="43116" y="14613"/>
                          </a:cubicBezTo>
                          <a:cubicBezTo>
                            <a:pt x="46569" y="19389"/>
                            <a:pt x="48295" y="25970"/>
                            <a:pt x="48295" y="34358"/>
                          </a:cubicBezTo>
                          <a:close/>
                          <a:moveTo>
                            <a:pt x="9461" y="58607"/>
                          </a:moveTo>
                          <a:cubicBezTo>
                            <a:pt x="11869" y="62734"/>
                            <a:pt x="14898" y="65797"/>
                            <a:pt x="18549" y="67795"/>
                          </a:cubicBezTo>
                          <a:cubicBezTo>
                            <a:pt x="22214" y="69805"/>
                            <a:pt x="26586" y="70811"/>
                            <a:pt x="31666" y="70811"/>
                          </a:cubicBezTo>
                          <a:cubicBezTo>
                            <a:pt x="40106" y="70811"/>
                            <a:pt x="46959" y="67464"/>
                            <a:pt x="52224" y="60770"/>
                          </a:cubicBezTo>
                          <a:cubicBezTo>
                            <a:pt x="57503" y="54076"/>
                            <a:pt x="60142" y="45272"/>
                            <a:pt x="60142" y="34358"/>
                          </a:cubicBezTo>
                          <a:cubicBezTo>
                            <a:pt x="60142" y="23444"/>
                            <a:pt x="57503" y="14633"/>
                            <a:pt x="52224" y="7926"/>
                          </a:cubicBezTo>
                          <a:cubicBezTo>
                            <a:pt x="46959" y="1232"/>
                            <a:pt x="40106" y="-2115"/>
                            <a:pt x="31666" y="-2115"/>
                          </a:cubicBezTo>
                          <a:cubicBezTo>
                            <a:pt x="26586" y="-2115"/>
                            <a:pt x="22214" y="-1110"/>
                            <a:pt x="18549" y="901"/>
                          </a:cubicBezTo>
                          <a:cubicBezTo>
                            <a:pt x="14898" y="2912"/>
                            <a:pt x="11869" y="5981"/>
                            <a:pt x="9461" y="10109"/>
                          </a:cubicBezTo>
                          <a:lnTo>
                            <a:pt x="9461" y="-309"/>
                          </a:lnTo>
                          <a:lnTo>
                            <a:pt x="-2009" y="-309"/>
                          </a:lnTo>
                          <a:lnTo>
                            <a:pt x="-2009" y="96191"/>
                          </a:lnTo>
                          <a:lnTo>
                            <a:pt x="9461" y="96191"/>
                          </a:lnTo>
                          <a:lnTo>
                            <a:pt x="9461" y="58607"/>
                          </a:lnTo>
                          <a:close/>
                        </a:path>
                      </a:pathLst>
                    </a:custGeom>
                    <a:solidFill>
                      <a:srgbClr val="000000"/>
                    </a:solidFill>
                    <a:ln w="20" cap="flat">
                      <a:noFill/>
                      <a:prstDash val="solid"/>
                      <a:round/>
                    </a:ln>
                  </p:spPr>
                  <p:txBody>
                    <a:bodyPr rtlCol="0" anchor="ctr"/>
                    <a:lstStyle/>
                    <a:p>
                      <a:endParaRPr lang="en-US"/>
                    </a:p>
                  </p:txBody>
                </p:sp>
              </p:grpSp>
            </p:grpSp>
            <p:grpSp>
              <p:nvGrpSpPr>
                <p:cNvPr id="27" name="グラフィックス 6">
                  <a:extLst>
                    <a:ext uri="{FF2B5EF4-FFF2-40B4-BE49-F238E27FC236}">
                      <a16:creationId xmlns:a16="http://schemas.microsoft.com/office/drawing/2014/main" id="{E5A72F98-B17C-9283-F087-E866FDFBEBAC}"/>
                    </a:ext>
                  </a:extLst>
                </p:cNvPr>
                <p:cNvGrpSpPr/>
                <p:nvPr/>
              </p:nvGrpSpPr>
              <p:grpSpPr>
                <a:xfrm>
                  <a:off x="-6493887" y="1941575"/>
                  <a:ext cx="227146" cy="3149348"/>
                  <a:chOff x="-6493887" y="1941575"/>
                  <a:chExt cx="227146" cy="3149348"/>
                </a:xfrm>
              </p:grpSpPr>
              <p:sp>
                <p:nvSpPr>
                  <p:cNvPr id="28" name="フリーフォーム: 図形 27">
                    <a:extLst>
                      <a:ext uri="{FF2B5EF4-FFF2-40B4-BE49-F238E27FC236}">
                        <a16:creationId xmlns:a16="http://schemas.microsoft.com/office/drawing/2014/main" id="{D9429AC4-6D1D-A725-726D-3AD418BB5E88}"/>
                      </a:ext>
                    </a:extLst>
                  </p:cNvPr>
                  <p:cNvSpPr/>
                  <p:nvPr/>
                </p:nvSpPr>
                <p:spPr>
                  <a:xfrm>
                    <a:off x="-6386537" y="1941575"/>
                    <a:ext cx="12700" cy="2962147"/>
                  </a:xfrm>
                  <a:custGeom>
                    <a:avLst/>
                    <a:gdLst>
                      <a:gd name="connsiteX0" fmla="*/ 0 w 12700"/>
                      <a:gd name="connsiteY0" fmla="*/ 2962148 h 2962147"/>
                      <a:gd name="connsiteX1" fmla="*/ 0 w 12700"/>
                      <a:gd name="connsiteY1" fmla="*/ 0 h 2962147"/>
                    </a:gdLst>
                    <a:ahLst/>
                    <a:cxnLst>
                      <a:cxn ang="0">
                        <a:pos x="connsiteX0" y="connsiteY0"/>
                      </a:cxn>
                      <a:cxn ang="0">
                        <a:pos x="connsiteX1" y="connsiteY1"/>
                      </a:cxn>
                    </a:cxnLst>
                    <a:rect l="l" t="t" r="r" b="b"/>
                    <a:pathLst>
                      <a:path w="12700" h="2962147">
                        <a:moveTo>
                          <a:pt x="0" y="2962148"/>
                        </a:moveTo>
                        <a:lnTo>
                          <a:pt x="0" y="0"/>
                        </a:lnTo>
                      </a:path>
                    </a:pathLst>
                  </a:custGeom>
                  <a:noFill/>
                  <a:ln w="10160" cap="sq">
                    <a:solidFill>
                      <a:srgbClr val="B0B0B0"/>
                    </a:solidFill>
                    <a:prstDash val="solid"/>
                    <a:round/>
                  </a:ln>
                </p:spPr>
                <p:txBody>
                  <a:bodyPr rtlCol="0" anchor="ctr"/>
                  <a:lstStyle/>
                  <a:p>
                    <a:endParaRPr lang="en-US"/>
                  </a:p>
                </p:txBody>
              </p:sp>
              <p:sp>
                <p:nvSpPr>
                  <p:cNvPr id="29" name="フリーフォーム: 図形 28">
                    <a:extLst>
                      <a:ext uri="{FF2B5EF4-FFF2-40B4-BE49-F238E27FC236}">
                        <a16:creationId xmlns:a16="http://schemas.microsoft.com/office/drawing/2014/main" id="{AC9E109F-A977-2500-616C-ADCDDADDAD2B}"/>
                      </a:ext>
                    </a:extLst>
                  </p:cNvPr>
                  <p:cNvSpPr/>
                  <p:nvPr/>
                </p:nvSpPr>
                <p:spPr>
                  <a:xfrm>
                    <a:off x="-6386537" y="4903724"/>
                    <a:ext cx="12700" cy="44450"/>
                  </a:xfrm>
                  <a:custGeom>
                    <a:avLst/>
                    <a:gdLst>
                      <a:gd name="connsiteX0" fmla="*/ 187 w 12700"/>
                      <a:gd name="connsiteY0" fmla="*/ 260 h 44450"/>
                      <a:gd name="connsiteX1" fmla="*/ 187 w 12700"/>
                      <a:gd name="connsiteY1" fmla="*/ 44710 h 44450"/>
                    </a:gdLst>
                    <a:ahLst/>
                    <a:cxnLst>
                      <a:cxn ang="0">
                        <a:pos x="connsiteX0" y="connsiteY0"/>
                      </a:cxn>
                      <a:cxn ang="0">
                        <a:pos x="connsiteX1" y="connsiteY1"/>
                      </a:cxn>
                    </a:cxnLst>
                    <a:rect l="l" t="t" r="r" b="b"/>
                    <a:pathLst>
                      <a:path w="12700" h="44450">
                        <a:moveTo>
                          <a:pt x="187" y="260"/>
                        </a:moveTo>
                        <a:lnTo>
                          <a:pt x="187" y="44710"/>
                        </a:lnTo>
                      </a:path>
                    </a:pathLst>
                  </a:custGeom>
                  <a:solidFill>
                    <a:srgbClr val="000000"/>
                  </a:solidFill>
                  <a:ln w="10160" cap="flat">
                    <a:solidFill>
                      <a:srgbClr val="000000"/>
                    </a:solidFill>
                    <a:prstDash val="solid"/>
                    <a:round/>
                  </a:ln>
                </p:spPr>
                <p:txBody>
                  <a:bodyPr rtlCol="0" anchor="ctr"/>
                  <a:lstStyle/>
                  <a:p>
                    <a:endParaRPr lang="en-US"/>
                  </a:p>
                </p:txBody>
              </p:sp>
              <p:grpSp>
                <p:nvGrpSpPr>
                  <p:cNvPr id="30" name="グラフィックス 6">
                    <a:extLst>
                      <a:ext uri="{FF2B5EF4-FFF2-40B4-BE49-F238E27FC236}">
                        <a16:creationId xmlns:a16="http://schemas.microsoft.com/office/drawing/2014/main" id="{1BCD0801-3B1B-A4E7-9007-CE18A998644D}"/>
                      </a:ext>
                    </a:extLst>
                  </p:cNvPr>
                  <p:cNvGrpSpPr/>
                  <p:nvPr/>
                </p:nvGrpSpPr>
                <p:grpSpPr>
                  <a:xfrm>
                    <a:off x="-6493887" y="4996527"/>
                    <a:ext cx="227146" cy="94396"/>
                    <a:chOff x="-6493887" y="4996527"/>
                    <a:chExt cx="227146" cy="94396"/>
                  </a:xfrm>
                  <a:solidFill>
                    <a:srgbClr val="000000"/>
                  </a:solidFill>
                </p:grpSpPr>
                <p:sp>
                  <p:nvSpPr>
                    <p:cNvPr id="31" name="フリーフォーム: 図形 30">
                      <a:extLst>
                        <a:ext uri="{FF2B5EF4-FFF2-40B4-BE49-F238E27FC236}">
                          <a16:creationId xmlns:a16="http://schemas.microsoft.com/office/drawing/2014/main" id="{84B5DB3F-0F24-E024-217D-D343A3B2F78A}"/>
                        </a:ext>
                      </a:extLst>
                    </p:cNvPr>
                    <p:cNvSpPr/>
                    <p:nvPr/>
                  </p:nvSpPr>
                  <p:spPr>
                    <a:xfrm flipV="1">
                      <a:off x="-6493887" y="4996527"/>
                      <a:ext cx="84712" cy="92590"/>
                    </a:xfrm>
                    <a:custGeom>
                      <a:avLst/>
                      <a:gdLst>
                        <a:gd name="connsiteX0" fmla="*/ -2580 w 84712"/>
                        <a:gd name="connsiteY0" fmla="*/ 90529 h 92590"/>
                        <a:gd name="connsiteX1" fmla="*/ 16092 w 84712"/>
                        <a:gd name="connsiteY1" fmla="*/ 90529 h 92590"/>
                        <a:gd name="connsiteX2" fmla="*/ 39707 w 84712"/>
                        <a:gd name="connsiteY2" fmla="*/ 27525 h 92590"/>
                        <a:gd name="connsiteX3" fmla="*/ 63460 w 84712"/>
                        <a:gd name="connsiteY3" fmla="*/ 90529 h 92590"/>
                        <a:gd name="connsiteX4" fmla="*/ 82132 w 84712"/>
                        <a:gd name="connsiteY4" fmla="*/ 90529 h 92590"/>
                        <a:gd name="connsiteX5" fmla="*/ 82132 w 84712"/>
                        <a:gd name="connsiteY5" fmla="*/ -2062 h 92590"/>
                        <a:gd name="connsiteX6" fmla="*/ 69909 w 84712"/>
                        <a:gd name="connsiteY6" fmla="*/ -2062 h 92590"/>
                        <a:gd name="connsiteX7" fmla="*/ 69909 w 84712"/>
                        <a:gd name="connsiteY7" fmla="*/ 79238 h 92590"/>
                        <a:gd name="connsiteX8" fmla="*/ 46037 w 84712"/>
                        <a:gd name="connsiteY8" fmla="*/ 15738 h 92590"/>
                        <a:gd name="connsiteX9" fmla="*/ 33456 w 84712"/>
                        <a:gd name="connsiteY9" fmla="*/ 15738 h 92590"/>
                        <a:gd name="connsiteX10" fmla="*/ 9584 w 84712"/>
                        <a:gd name="connsiteY10" fmla="*/ 79238 h 92590"/>
                        <a:gd name="connsiteX11" fmla="*/ 9584 w 84712"/>
                        <a:gd name="connsiteY11" fmla="*/ -2062 h 92590"/>
                        <a:gd name="connsiteX12" fmla="*/ -2580 w 84712"/>
                        <a:gd name="connsiteY12" fmla="*/ -2062 h 92590"/>
                        <a:gd name="connsiteX13" fmla="*/ -2580 w 84712"/>
                        <a:gd name="connsiteY13" fmla="*/ 90529 h 92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84712" h="92590">
                          <a:moveTo>
                            <a:pt x="-2580" y="90529"/>
                          </a:moveTo>
                          <a:lnTo>
                            <a:pt x="16092" y="90529"/>
                          </a:lnTo>
                          <a:lnTo>
                            <a:pt x="39707" y="27525"/>
                          </a:lnTo>
                          <a:lnTo>
                            <a:pt x="63460" y="90529"/>
                          </a:lnTo>
                          <a:lnTo>
                            <a:pt x="82132" y="90529"/>
                          </a:lnTo>
                          <a:lnTo>
                            <a:pt x="82132" y="-2062"/>
                          </a:lnTo>
                          <a:lnTo>
                            <a:pt x="69909" y="-2062"/>
                          </a:lnTo>
                          <a:lnTo>
                            <a:pt x="69909" y="79238"/>
                          </a:lnTo>
                          <a:lnTo>
                            <a:pt x="46037" y="15738"/>
                          </a:lnTo>
                          <a:lnTo>
                            <a:pt x="33456" y="15738"/>
                          </a:lnTo>
                          <a:lnTo>
                            <a:pt x="9584" y="79238"/>
                          </a:lnTo>
                          <a:lnTo>
                            <a:pt x="9584" y="-2062"/>
                          </a:lnTo>
                          <a:lnTo>
                            <a:pt x="-2580" y="-2062"/>
                          </a:lnTo>
                          <a:lnTo>
                            <a:pt x="-2580" y="90529"/>
                          </a:lnTo>
                          <a:close/>
                        </a:path>
                      </a:pathLst>
                    </a:custGeom>
                    <a:solidFill>
                      <a:srgbClr val="000000"/>
                    </a:solidFill>
                    <a:ln w="20" cap="flat">
                      <a:noFill/>
                      <a:prstDash val="solid"/>
                      <a:round/>
                    </a:ln>
                  </p:spPr>
                  <p:txBody>
                    <a:bodyPr rtlCol="0" anchor="ctr"/>
                    <a:lstStyle/>
                    <a:p>
                      <a:endParaRPr lang="en-US"/>
                    </a:p>
                  </p:txBody>
                </p:sp>
                <p:sp>
                  <p:nvSpPr>
                    <p:cNvPr id="32" name="フリーフォーム: 図形 31">
                      <a:extLst>
                        <a:ext uri="{FF2B5EF4-FFF2-40B4-BE49-F238E27FC236}">
                          <a16:creationId xmlns:a16="http://schemas.microsoft.com/office/drawing/2014/main" id="{0FE15481-98D9-CCF9-1828-54633C8006F5}"/>
                        </a:ext>
                      </a:extLst>
                    </p:cNvPr>
                    <p:cNvSpPr/>
                    <p:nvPr/>
                  </p:nvSpPr>
                  <p:spPr>
                    <a:xfrm flipV="1">
                      <a:off x="-6389154" y="5017998"/>
                      <a:ext cx="58677" cy="72925"/>
                    </a:xfrm>
                    <a:custGeom>
                      <a:avLst/>
                      <a:gdLst>
                        <a:gd name="connsiteX0" fmla="*/ 34244 w 58677"/>
                        <a:gd name="connsiteY0" fmla="*/ 35236 h 72925"/>
                        <a:gd name="connsiteX1" fmla="*/ 15075 w 58677"/>
                        <a:gd name="connsiteY1" fmla="*/ 32081 h 72925"/>
                        <a:gd name="connsiteX2" fmla="*/ 9737 w 58677"/>
                        <a:gd name="connsiteY2" fmla="*/ 21286 h 72925"/>
                        <a:gd name="connsiteX3" fmla="*/ 13745 w 58677"/>
                        <a:gd name="connsiteY3" fmla="*/ 11642 h 72925"/>
                        <a:gd name="connsiteX4" fmla="*/ 24620 w 58677"/>
                        <a:gd name="connsiteY4" fmla="*/ 8090 h 72925"/>
                        <a:gd name="connsiteX5" fmla="*/ 39860 w 58677"/>
                        <a:gd name="connsiteY5" fmla="*/ 14817 h 72925"/>
                        <a:gd name="connsiteX6" fmla="*/ 45595 w 58677"/>
                        <a:gd name="connsiteY6" fmla="*/ 32696 h 72925"/>
                        <a:gd name="connsiteX7" fmla="*/ 45595 w 58677"/>
                        <a:gd name="connsiteY7" fmla="*/ 35236 h 72925"/>
                        <a:gd name="connsiteX8" fmla="*/ 34244 w 58677"/>
                        <a:gd name="connsiteY8" fmla="*/ 35236 h 72925"/>
                        <a:gd name="connsiteX9" fmla="*/ 57005 w 58677"/>
                        <a:gd name="connsiteY9" fmla="*/ 39959 h 72925"/>
                        <a:gd name="connsiteX10" fmla="*/ 57005 w 58677"/>
                        <a:gd name="connsiteY10" fmla="*/ 331 h 72925"/>
                        <a:gd name="connsiteX11" fmla="*/ 45595 w 58677"/>
                        <a:gd name="connsiteY11" fmla="*/ 331 h 72925"/>
                        <a:gd name="connsiteX12" fmla="*/ 45595 w 58677"/>
                        <a:gd name="connsiteY12" fmla="*/ 10868 h 72925"/>
                        <a:gd name="connsiteX13" fmla="*/ 35851 w 58677"/>
                        <a:gd name="connsiteY13" fmla="*/ 1542 h 72925"/>
                        <a:gd name="connsiteX14" fmla="*/ 21584 w 58677"/>
                        <a:gd name="connsiteY14" fmla="*/ -1475 h 72925"/>
                        <a:gd name="connsiteX15" fmla="*/ 4617 w 58677"/>
                        <a:gd name="connsiteY15" fmla="*/ 4518 h 72925"/>
                        <a:gd name="connsiteX16" fmla="*/ -1673 w 58677"/>
                        <a:gd name="connsiteY16" fmla="*/ 20552 h 72925"/>
                        <a:gd name="connsiteX17" fmla="*/ 6165 w 58677"/>
                        <a:gd name="connsiteY17" fmla="*/ 38213 h 72925"/>
                        <a:gd name="connsiteX18" fmla="*/ 29581 w 58677"/>
                        <a:gd name="connsiteY18" fmla="*/ 44166 h 72925"/>
                        <a:gd name="connsiteX19" fmla="*/ 45595 w 58677"/>
                        <a:gd name="connsiteY19" fmla="*/ 44166 h 72925"/>
                        <a:gd name="connsiteX20" fmla="*/ 45595 w 58677"/>
                        <a:gd name="connsiteY20" fmla="*/ 45297 h 72925"/>
                        <a:gd name="connsiteX21" fmla="*/ 40415 w 58677"/>
                        <a:gd name="connsiteY21" fmla="*/ 57481 h 72925"/>
                        <a:gd name="connsiteX22" fmla="*/ 25870 w 58677"/>
                        <a:gd name="connsiteY22" fmla="*/ 61787 h 72925"/>
                        <a:gd name="connsiteX23" fmla="*/ 14261 w 58677"/>
                        <a:gd name="connsiteY23" fmla="*/ 60359 h 72925"/>
                        <a:gd name="connsiteX24" fmla="*/ 3427 w 58677"/>
                        <a:gd name="connsiteY24" fmla="*/ 56072 h 72925"/>
                        <a:gd name="connsiteX25" fmla="*/ 3427 w 58677"/>
                        <a:gd name="connsiteY25" fmla="*/ 66629 h 72925"/>
                        <a:gd name="connsiteX26" fmla="*/ 15571 w 58677"/>
                        <a:gd name="connsiteY26" fmla="*/ 70241 h 72925"/>
                        <a:gd name="connsiteX27" fmla="*/ 27041 w 58677"/>
                        <a:gd name="connsiteY27" fmla="*/ 71451 h 72925"/>
                        <a:gd name="connsiteX28" fmla="*/ 49563 w 58677"/>
                        <a:gd name="connsiteY28" fmla="*/ 63633 h 72925"/>
                        <a:gd name="connsiteX29" fmla="*/ 57005 w 58677"/>
                        <a:gd name="connsiteY29" fmla="*/ 39959 h 7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8677" h="72925">
                          <a:moveTo>
                            <a:pt x="34244" y="35236"/>
                          </a:moveTo>
                          <a:cubicBezTo>
                            <a:pt x="25023" y="35236"/>
                            <a:pt x="18633" y="34185"/>
                            <a:pt x="15075" y="32081"/>
                          </a:cubicBezTo>
                          <a:cubicBezTo>
                            <a:pt x="11516" y="29978"/>
                            <a:pt x="9737" y="26380"/>
                            <a:pt x="9737" y="21286"/>
                          </a:cubicBezTo>
                          <a:cubicBezTo>
                            <a:pt x="9737" y="17238"/>
                            <a:pt x="11073" y="14023"/>
                            <a:pt x="13745" y="11642"/>
                          </a:cubicBezTo>
                          <a:cubicBezTo>
                            <a:pt x="16418" y="9274"/>
                            <a:pt x="20042" y="8090"/>
                            <a:pt x="24620" y="8090"/>
                          </a:cubicBezTo>
                          <a:cubicBezTo>
                            <a:pt x="30956" y="8090"/>
                            <a:pt x="36036" y="10333"/>
                            <a:pt x="39860" y="14817"/>
                          </a:cubicBezTo>
                          <a:cubicBezTo>
                            <a:pt x="43683" y="19302"/>
                            <a:pt x="45595" y="25262"/>
                            <a:pt x="45595" y="32696"/>
                          </a:cubicBezTo>
                          <a:lnTo>
                            <a:pt x="45595" y="35236"/>
                          </a:lnTo>
                          <a:lnTo>
                            <a:pt x="34244" y="35236"/>
                          </a:lnTo>
                          <a:close/>
                          <a:moveTo>
                            <a:pt x="57005" y="39959"/>
                          </a:moveTo>
                          <a:lnTo>
                            <a:pt x="57005" y="331"/>
                          </a:lnTo>
                          <a:lnTo>
                            <a:pt x="45595" y="331"/>
                          </a:lnTo>
                          <a:lnTo>
                            <a:pt x="45595" y="10868"/>
                          </a:lnTo>
                          <a:cubicBezTo>
                            <a:pt x="42988" y="6661"/>
                            <a:pt x="39741" y="3553"/>
                            <a:pt x="35851" y="1542"/>
                          </a:cubicBezTo>
                          <a:cubicBezTo>
                            <a:pt x="31962" y="-469"/>
                            <a:pt x="27206" y="-1475"/>
                            <a:pt x="21584" y="-1475"/>
                          </a:cubicBezTo>
                          <a:cubicBezTo>
                            <a:pt x="14480" y="-1475"/>
                            <a:pt x="8824" y="523"/>
                            <a:pt x="4617" y="4518"/>
                          </a:cubicBezTo>
                          <a:cubicBezTo>
                            <a:pt x="424" y="8514"/>
                            <a:pt x="-1673" y="13858"/>
                            <a:pt x="-1673" y="20552"/>
                          </a:cubicBezTo>
                          <a:cubicBezTo>
                            <a:pt x="-1673" y="28357"/>
                            <a:pt x="939" y="34244"/>
                            <a:pt x="6165" y="38213"/>
                          </a:cubicBezTo>
                          <a:cubicBezTo>
                            <a:pt x="11404" y="42182"/>
                            <a:pt x="19209" y="44166"/>
                            <a:pt x="29581" y="44166"/>
                          </a:cubicBezTo>
                          <a:lnTo>
                            <a:pt x="45595" y="44166"/>
                          </a:lnTo>
                          <a:lnTo>
                            <a:pt x="45595" y="45297"/>
                          </a:lnTo>
                          <a:cubicBezTo>
                            <a:pt x="45595" y="50549"/>
                            <a:pt x="43868" y="54610"/>
                            <a:pt x="40415" y="57481"/>
                          </a:cubicBezTo>
                          <a:cubicBezTo>
                            <a:pt x="36963" y="60352"/>
                            <a:pt x="32114" y="61787"/>
                            <a:pt x="25870" y="61787"/>
                          </a:cubicBezTo>
                          <a:cubicBezTo>
                            <a:pt x="21901" y="61787"/>
                            <a:pt x="18032" y="61311"/>
                            <a:pt x="14261" y="60359"/>
                          </a:cubicBezTo>
                          <a:cubicBezTo>
                            <a:pt x="10504" y="59406"/>
                            <a:pt x="6893" y="57977"/>
                            <a:pt x="3427" y="56072"/>
                          </a:cubicBezTo>
                          <a:lnTo>
                            <a:pt x="3427" y="66629"/>
                          </a:lnTo>
                          <a:cubicBezTo>
                            <a:pt x="7594" y="68243"/>
                            <a:pt x="11642" y="69447"/>
                            <a:pt x="15571" y="70241"/>
                          </a:cubicBezTo>
                          <a:cubicBezTo>
                            <a:pt x="19500" y="71048"/>
                            <a:pt x="23323" y="71451"/>
                            <a:pt x="27041" y="71451"/>
                          </a:cubicBezTo>
                          <a:cubicBezTo>
                            <a:pt x="37095" y="71451"/>
                            <a:pt x="44602" y="68845"/>
                            <a:pt x="49563" y="63633"/>
                          </a:cubicBezTo>
                          <a:cubicBezTo>
                            <a:pt x="54524" y="58434"/>
                            <a:pt x="57005" y="50543"/>
                            <a:pt x="57005" y="39959"/>
                          </a:cubicBezTo>
                          <a:close/>
                        </a:path>
                      </a:pathLst>
                    </a:custGeom>
                    <a:solidFill>
                      <a:srgbClr val="000000"/>
                    </a:solidFill>
                    <a:ln w="20" cap="flat">
                      <a:noFill/>
                      <a:prstDash val="solid"/>
                      <a:round/>
                    </a:ln>
                  </p:spPr>
                  <p:txBody>
                    <a:bodyPr rtlCol="0" anchor="ctr"/>
                    <a:lstStyle/>
                    <a:p>
                      <a:endParaRPr lang="en-US"/>
                    </a:p>
                  </p:txBody>
                </p:sp>
                <p:sp>
                  <p:nvSpPr>
                    <p:cNvPr id="33" name="フリーフォーム: 図形 32">
                      <a:extLst>
                        <a:ext uri="{FF2B5EF4-FFF2-40B4-BE49-F238E27FC236}">
                          <a16:creationId xmlns:a16="http://schemas.microsoft.com/office/drawing/2014/main" id="{7C589D4E-4E9D-B389-B023-16069932515B}"/>
                        </a:ext>
                      </a:extLst>
                    </p:cNvPr>
                    <p:cNvSpPr/>
                    <p:nvPr/>
                  </p:nvSpPr>
                  <p:spPr>
                    <a:xfrm flipV="1">
                      <a:off x="-6307420" y="5017998"/>
                      <a:ext cx="40679" cy="71119"/>
                    </a:xfrm>
                    <a:custGeom>
                      <a:avLst/>
                      <a:gdLst>
                        <a:gd name="connsiteX0" fmla="*/ 39269 w 40679"/>
                        <a:gd name="connsiteY0" fmla="*/ 57277 h 71119"/>
                        <a:gd name="connsiteX1" fmla="*/ 35082 w 40679"/>
                        <a:gd name="connsiteY1" fmla="*/ 58904 h 71119"/>
                        <a:gd name="connsiteX2" fmla="*/ 30101 w 40679"/>
                        <a:gd name="connsiteY2" fmla="*/ 59440 h 71119"/>
                        <a:gd name="connsiteX3" fmla="*/ 15238 w 40679"/>
                        <a:gd name="connsiteY3" fmla="*/ 53149 h 71119"/>
                        <a:gd name="connsiteX4" fmla="*/ 10059 w 40679"/>
                        <a:gd name="connsiteY4" fmla="*/ 35072 h 71119"/>
                        <a:gd name="connsiteX5" fmla="*/ 10059 w 40679"/>
                        <a:gd name="connsiteY5" fmla="*/ -1520 h 71119"/>
                        <a:gd name="connsiteX6" fmla="*/ -1411 w 40679"/>
                        <a:gd name="connsiteY6" fmla="*/ -1520 h 71119"/>
                        <a:gd name="connsiteX7" fmla="*/ -1411 w 40679"/>
                        <a:gd name="connsiteY7" fmla="*/ 67933 h 71119"/>
                        <a:gd name="connsiteX8" fmla="*/ 10059 w 40679"/>
                        <a:gd name="connsiteY8" fmla="*/ 67933 h 71119"/>
                        <a:gd name="connsiteX9" fmla="*/ 10059 w 40679"/>
                        <a:gd name="connsiteY9" fmla="*/ 57138 h 71119"/>
                        <a:gd name="connsiteX10" fmla="*/ 19425 w 40679"/>
                        <a:gd name="connsiteY10" fmla="*/ 66524 h 71119"/>
                        <a:gd name="connsiteX11" fmla="*/ 33454 w 40679"/>
                        <a:gd name="connsiteY11" fmla="*/ 69600 h 71119"/>
                        <a:gd name="connsiteX12" fmla="*/ 36054 w 40679"/>
                        <a:gd name="connsiteY12" fmla="*/ 69441 h 71119"/>
                        <a:gd name="connsiteX13" fmla="*/ 39209 w 40679"/>
                        <a:gd name="connsiteY13" fmla="*/ 68985 h 71119"/>
                        <a:gd name="connsiteX14" fmla="*/ 39269 w 40679"/>
                        <a:gd name="connsiteY14" fmla="*/ 57277 h 711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0679" h="71119">
                          <a:moveTo>
                            <a:pt x="39269" y="57277"/>
                          </a:moveTo>
                          <a:cubicBezTo>
                            <a:pt x="37985" y="58018"/>
                            <a:pt x="36590" y="58560"/>
                            <a:pt x="35082" y="58904"/>
                          </a:cubicBezTo>
                          <a:cubicBezTo>
                            <a:pt x="33573" y="59261"/>
                            <a:pt x="31913" y="59440"/>
                            <a:pt x="30101" y="59440"/>
                          </a:cubicBezTo>
                          <a:cubicBezTo>
                            <a:pt x="23645" y="59440"/>
                            <a:pt x="18691" y="57343"/>
                            <a:pt x="15238" y="53149"/>
                          </a:cubicBezTo>
                          <a:cubicBezTo>
                            <a:pt x="11785" y="48956"/>
                            <a:pt x="10059" y="42930"/>
                            <a:pt x="10059" y="35072"/>
                          </a:cubicBezTo>
                          <a:lnTo>
                            <a:pt x="10059" y="-1520"/>
                          </a:lnTo>
                          <a:lnTo>
                            <a:pt x="-1411" y="-1520"/>
                          </a:lnTo>
                          <a:lnTo>
                            <a:pt x="-1411" y="67933"/>
                          </a:lnTo>
                          <a:lnTo>
                            <a:pt x="10059" y="67933"/>
                          </a:lnTo>
                          <a:lnTo>
                            <a:pt x="10059" y="57138"/>
                          </a:lnTo>
                          <a:cubicBezTo>
                            <a:pt x="12466" y="61358"/>
                            <a:pt x="15589" y="64487"/>
                            <a:pt x="19425" y="66524"/>
                          </a:cubicBezTo>
                          <a:cubicBezTo>
                            <a:pt x="23275" y="68575"/>
                            <a:pt x="27951" y="69600"/>
                            <a:pt x="33454" y="69600"/>
                          </a:cubicBezTo>
                          <a:cubicBezTo>
                            <a:pt x="34235" y="69600"/>
                            <a:pt x="35101" y="69547"/>
                            <a:pt x="36054" y="69441"/>
                          </a:cubicBezTo>
                          <a:cubicBezTo>
                            <a:pt x="37006" y="69349"/>
                            <a:pt x="38058" y="69196"/>
                            <a:pt x="39209" y="68985"/>
                          </a:cubicBezTo>
                          <a:lnTo>
                            <a:pt x="39269" y="57277"/>
                          </a:lnTo>
                          <a:close/>
                        </a:path>
                      </a:pathLst>
                    </a:custGeom>
                    <a:solidFill>
                      <a:srgbClr val="000000"/>
                    </a:solidFill>
                    <a:ln w="20" cap="flat">
                      <a:noFill/>
                      <a:prstDash val="solid"/>
                      <a:round/>
                    </a:ln>
                  </p:spPr>
                  <p:txBody>
                    <a:bodyPr rtlCol="0" anchor="ctr"/>
                    <a:lstStyle/>
                    <a:p>
                      <a:endParaRPr lang="en-US"/>
                    </a:p>
                  </p:txBody>
                </p:sp>
              </p:grpSp>
            </p:grpSp>
            <p:grpSp>
              <p:nvGrpSpPr>
                <p:cNvPr id="34" name="グラフィックス 6">
                  <a:extLst>
                    <a:ext uri="{FF2B5EF4-FFF2-40B4-BE49-F238E27FC236}">
                      <a16:creationId xmlns:a16="http://schemas.microsoft.com/office/drawing/2014/main" id="{82E7CDCE-00F8-5775-7F80-1589B4B23415}"/>
                    </a:ext>
                  </a:extLst>
                </p:cNvPr>
                <p:cNvGrpSpPr/>
                <p:nvPr/>
              </p:nvGrpSpPr>
              <p:grpSpPr>
                <a:xfrm>
                  <a:off x="-5801117" y="1941575"/>
                  <a:ext cx="218710" cy="3173954"/>
                  <a:chOff x="-5801117" y="1941575"/>
                  <a:chExt cx="218710" cy="3173954"/>
                </a:xfrm>
              </p:grpSpPr>
              <p:sp>
                <p:nvSpPr>
                  <p:cNvPr id="35" name="フリーフォーム: 図形 34">
                    <a:extLst>
                      <a:ext uri="{FF2B5EF4-FFF2-40B4-BE49-F238E27FC236}">
                        <a16:creationId xmlns:a16="http://schemas.microsoft.com/office/drawing/2014/main" id="{CA68FE97-8899-A5F4-0DC3-E36ECBD0D2BC}"/>
                      </a:ext>
                    </a:extLst>
                  </p:cNvPr>
                  <p:cNvSpPr/>
                  <p:nvPr/>
                </p:nvSpPr>
                <p:spPr>
                  <a:xfrm>
                    <a:off x="-5692254" y="1941575"/>
                    <a:ext cx="12700" cy="2962147"/>
                  </a:xfrm>
                  <a:custGeom>
                    <a:avLst/>
                    <a:gdLst>
                      <a:gd name="connsiteX0" fmla="*/ 0 w 12700"/>
                      <a:gd name="connsiteY0" fmla="*/ 2962148 h 2962147"/>
                      <a:gd name="connsiteX1" fmla="*/ 0 w 12700"/>
                      <a:gd name="connsiteY1" fmla="*/ 0 h 2962147"/>
                    </a:gdLst>
                    <a:ahLst/>
                    <a:cxnLst>
                      <a:cxn ang="0">
                        <a:pos x="connsiteX0" y="connsiteY0"/>
                      </a:cxn>
                      <a:cxn ang="0">
                        <a:pos x="connsiteX1" y="connsiteY1"/>
                      </a:cxn>
                    </a:cxnLst>
                    <a:rect l="l" t="t" r="r" b="b"/>
                    <a:pathLst>
                      <a:path w="12700" h="2962147">
                        <a:moveTo>
                          <a:pt x="0" y="2962148"/>
                        </a:moveTo>
                        <a:lnTo>
                          <a:pt x="0" y="0"/>
                        </a:lnTo>
                      </a:path>
                    </a:pathLst>
                  </a:custGeom>
                  <a:noFill/>
                  <a:ln w="10160" cap="sq">
                    <a:solidFill>
                      <a:srgbClr val="B0B0B0"/>
                    </a:solidFill>
                    <a:prstDash val="solid"/>
                    <a:round/>
                  </a:ln>
                </p:spPr>
                <p:txBody>
                  <a:bodyPr rtlCol="0" anchor="ctr"/>
                  <a:lstStyle/>
                  <a:p>
                    <a:endParaRPr lang="en-US"/>
                  </a:p>
                </p:txBody>
              </p:sp>
              <p:sp>
                <p:nvSpPr>
                  <p:cNvPr id="36" name="フリーフォーム: 図形 35">
                    <a:extLst>
                      <a:ext uri="{FF2B5EF4-FFF2-40B4-BE49-F238E27FC236}">
                        <a16:creationId xmlns:a16="http://schemas.microsoft.com/office/drawing/2014/main" id="{C4FAED6C-1EFF-07FC-5D97-A97689B86F99}"/>
                      </a:ext>
                    </a:extLst>
                  </p:cNvPr>
                  <p:cNvSpPr/>
                  <p:nvPr/>
                </p:nvSpPr>
                <p:spPr>
                  <a:xfrm>
                    <a:off x="-5692254" y="4903724"/>
                    <a:ext cx="12700" cy="44450"/>
                  </a:xfrm>
                  <a:custGeom>
                    <a:avLst/>
                    <a:gdLst>
                      <a:gd name="connsiteX0" fmla="*/ 242 w 12700"/>
                      <a:gd name="connsiteY0" fmla="*/ 260 h 44450"/>
                      <a:gd name="connsiteX1" fmla="*/ 242 w 12700"/>
                      <a:gd name="connsiteY1" fmla="*/ 44710 h 44450"/>
                    </a:gdLst>
                    <a:ahLst/>
                    <a:cxnLst>
                      <a:cxn ang="0">
                        <a:pos x="connsiteX0" y="connsiteY0"/>
                      </a:cxn>
                      <a:cxn ang="0">
                        <a:pos x="connsiteX1" y="connsiteY1"/>
                      </a:cxn>
                    </a:cxnLst>
                    <a:rect l="l" t="t" r="r" b="b"/>
                    <a:pathLst>
                      <a:path w="12700" h="44450">
                        <a:moveTo>
                          <a:pt x="242" y="260"/>
                        </a:moveTo>
                        <a:lnTo>
                          <a:pt x="242" y="44710"/>
                        </a:lnTo>
                      </a:path>
                    </a:pathLst>
                  </a:custGeom>
                  <a:solidFill>
                    <a:srgbClr val="000000"/>
                  </a:solidFill>
                  <a:ln w="10160" cap="flat">
                    <a:solidFill>
                      <a:srgbClr val="000000"/>
                    </a:solidFill>
                    <a:prstDash val="solid"/>
                    <a:round/>
                  </a:ln>
                </p:spPr>
                <p:txBody>
                  <a:bodyPr rtlCol="0" anchor="ctr"/>
                  <a:lstStyle/>
                  <a:p>
                    <a:endParaRPr lang="en-US"/>
                  </a:p>
                </p:txBody>
              </p:sp>
              <p:grpSp>
                <p:nvGrpSpPr>
                  <p:cNvPr id="37" name="グラフィックス 6">
                    <a:extLst>
                      <a:ext uri="{FF2B5EF4-FFF2-40B4-BE49-F238E27FC236}">
                        <a16:creationId xmlns:a16="http://schemas.microsoft.com/office/drawing/2014/main" id="{372E0FF3-6026-728D-012D-ED440E728D7B}"/>
                      </a:ext>
                    </a:extLst>
                  </p:cNvPr>
                  <p:cNvGrpSpPr/>
                  <p:nvPr/>
                </p:nvGrpSpPr>
                <p:grpSpPr>
                  <a:xfrm>
                    <a:off x="-5801117" y="4996527"/>
                    <a:ext cx="218710" cy="119002"/>
                    <a:chOff x="-5801117" y="4996527"/>
                    <a:chExt cx="218710" cy="119002"/>
                  </a:xfrm>
                  <a:solidFill>
                    <a:srgbClr val="000000"/>
                  </a:solidFill>
                </p:grpSpPr>
                <p:sp>
                  <p:nvSpPr>
                    <p:cNvPr id="38" name="フリーフォーム: 図形 37">
                      <a:extLst>
                        <a:ext uri="{FF2B5EF4-FFF2-40B4-BE49-F238E27FC236}">
                          <a16:creationId xmlns:a16="http://schemas.microsoft.com/office/drawing/2014/main" id="{38E46FE8-D337-30FA-FF2D-DF2E17EE4033}"/>
                        </a:ext>
                      </a:extLst>
                    </p:cNvPr>
                    <p:cNvSpPr/>
                    <p:nvPr/>
                  </p:nvSpPr>
                  <p:spPr>
                    <a:xfrm flipV="1">
                      <a:off x="-5801117" y="4996527"/>
                      <a:ext cx="84832" cy="92590"/>
                    </a:xfrm>
                    <a:custGeom>
                      <a:avLst/>
                      <a:gdLst>
                        <a:gd name="connsiteX0" fmla="*/ 40475 w 84832"/>
                        <a:gd name="connsiteY0" fmla="*/ 78186 h 92590"/>
                        <a:gd name="connsiteX1" fmla="*/ 23469 w 84832"/>
                        <a:gd name="connsiteY1" fmla="*/ 32109 h 92590"/>
                        <a:gd name="connsiteX2" fmla="*/ 57521 w 84832"/>
                        <a:gd name="connsiteY2" fmla="*/ 32109 h 92590"/>
                        <a:gd name="connsiteX3" fmla="*/ 40475 w 84832"/>
                        <a:gd name="connsiteY3" fmla="*/ 78186 h 92590"/>
                        <a:gd name="connsiteX4" fmla="*/ 33391 w 84832"/>
                        <a:gd name="connsiteY4" fmla="*/ 90529 h 92590"/>
                        <a:gd name="connsiteX5" fmla="*/ 47599 w 84832"/>
                        <a:gd name="connsiteY5" fmla="*/ 90529 h 92590"/>
                        <a:gd name="connsiteX6" fmla="*/ 82881 w 84832"/>
                        <a:gd name="connsiteY6" fmla="*/ -2062 h 92590"/>
                        <a:gd name="connsiteX7" fmla="*/ 69864 w 84832"/>
                        <a:gd name="connsiteY7" fmla="*/ -2062 h 92590"/>
                        <a:gd name="connsiteX8" fmla="*/ 61430 w 84832"/>
                        <a:gd name="connsiteY8" fmla="*/ 21691 h 92590"/>
                        <a:gd name="connsiteX9" fmla="*/ 19699 w 84832"/>
                        <a:gd name="connsiteY9" fmla="*/ 21691 h 92590"/>
                        <a:gd name="connsiteX10" fmla="*/ 11265 w 84832"/>
                        <a:gd name="connsiteY10" fmla="*/ -2062 h 92590"/>
                        <a:gd name="connsiteX11" fmla="*/ -1951 w 84832"/>
                        <a:gd name="connsiteY11" fmla="*/ -2062 h 92590"/>
                        <a:gd name="connsiteX12" fmla="*/ 33391 w 84832"/>
                        <a:gd name="connsiteY12" fmla="*/ 90529 h 92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4832" h="92590">
                          <a:moveTo>
                            <a:pt x="40475" y="78186"/>
                          </a:moveTo>
                          <a:lnTo>
                            <a:pt x="23469" y="32109"/>
                          </a:lnTo>
                          <a:lnTo>
                            <a:pt x="57521" y="32109"/>
                          </a:lnTo>
                          <a:lnTo>
                            <a:pt x="40475" y="78186"/>
                          </a:lnTo>
                          <a:close/>
                          <a:moveTo>
                            <a:pt x="33391" y="90529"/>
                          </a:moveTo>
                          <a:lnTo>
                            <a:pt x="47599" y="90529"/>
                          </a:lnTo>
                          <a:lnTo>
                            <a:pt x="82881" y="-2062"/>
                          </a:lnTo>
                          <a:lnTo>
                            <a:pt x="69864" y="-2062"/>
                          </a:lnTo>
                          <a:lnTo>
                            <a:pt x="61430" y="21691"/>
                          </a:lnTo>
                          <a:lnTo>
                            <a:pt x="19699" y="21691"/>
                          </a:lnTo>
                          <a:lnTo>
                            <a:pt x="11265" y="-2062"/>
                          </a:lnTo>
                          <a:lnTo>
                            <a:pt x="-1951" y="-2062"/>
                          </a:lnTo>
                          <a:lnTo>
                            <a:pt x="33391" y="90529"/>
                          </a:lnTo>
                          <a:close/>
                        </a:path>
                      </a:pathLst>
                    </a:custGeom>
                    <a:solidFill>
                      <a:srgbClr val="000000"/>
                    </a:solidFill>
                    <a:ln w="20" cap="flat">
                      <a:noFill/>
                      <a:prstDash val="solid"/>
                      <a:round/>
                    </a:ln>
                  </p:spPr>
                  <p:txBody>
                    <a:bodyPr rtlCol="0" anchor="ctr"/>
                    <a:lstStyle/>
                    <a:p>
                      <a:endParaRPr lang="en-US"/>
                    </a:p>
                  </p:txBody>
                </p:sp>
                <p:sp>
                  <p:nvSpPr>
                    <p:cNvPr id="39" name="フリーフォーム: 図形 38">
                      <a:extLst>
                        <a:ext uri="{FF2B5EF4-FFF2-40B4-BE49-F238E27FC236}">
                          <a16:creationId xmlns:a16="http://schemas.microsoft.com/office/drawing/2014/main" id="{FEBBCAD1-1DBF-B416-93D8-6BE0FDC1428B}"/>
                        </a:ext>
                      </a:extLst>
                    </p:cNvPr>
                    <p:cNvSpPr/>
                    <p:nvPr/>
                  </p:nvSpPr>
                  <p:spPr>
                    <a:xfrm flipV="1">
                      <a:off x="-5703701" y="5017998"/>
                      <a:ext cx="62150" cy="97532"/>
                    </a:xfrm>
                    <a:custGeom>
                      <a:avLst/>
                      <a:gdLst>
                        <a:gd name="connsiteX0" fmla="*/ 9566 w 62150"/>
                        <a:gd name="connsiteY0" fmla="*/ 35976 h 97532"/>
                        <a:gd name="connsiteX1" fmla="*/ 9566 w 62150"/>
                        <a:gd name="connsiteY1" fmla="*/ -854 h 97532"/>
                        <a:gd name="connsiteX2" fmla="*/ -1904 w 62150"/>
                        <a:gd name="connsiteY2" fmla="*/ -854 h 97532"/>
                        <a:gd name="connsiteX3" fmla="*/ -1904 w 62150"/>
                        <a:gd name="connsiteY3" fmla="*/ 95012 h 97532"/>
                        <a:gd name="connsiteX4" fmla="*/ 9566 w 62150"/>
                        <a:gd name="connsiteY4" fmla="*/ 95012 h 97532"/>
                        <a:gd name="connsiteX5" fmla="*/ 9566 w 62150"/>
                        <a:gd name="connsiteY5" fmla="*/ 84475 h 97532"/>
                        <a:gd name="connsiteX6" fmla="*/ 18654 w 62150"/>
                        <a:gd name="connsiteY6" fmla="*/ 93662 h 97532"/>
                        <a:gd name="connsiteX7" fmla="*/ 31771 w 62150"/>
                        <a:gd name="connsiteY7" fmla="*/ 96678 h 97532"/>
                        <a:gd name="connsiteX8" fmla="*/ 52329 w 62150"/>
                        <a:gd name="connsiteY8" fmla="*/ 86638 h 97532"/>
                        <a:gd name="connsiteX9" fmla="*/ 60247 w 62150"/>
                        <a:gd name="connsiteY9" fmla="*/ 60226 h 97532"/>
                        <a:gd name="connsiteX10" fmla="*/ 52329 w 62150"/>
                        <a:gd name="connsiteY10" fmla="*/ 33794 h 97532"/>
                        <a:gd name="connsiteX11" fmla="*/ 31771 w 62150"/>
                        <a:gd name="connsiteY11" fmla="*/ 23753 h 97532"/>
                        <a:gd name="connsiteX12" fmla="*/ 18654 w 62150"/>
                        <a:gd name="connsiteY12" fmla="*/ 26769 h 97532"/>
                        <a:gd name="connsiteX13" fmla="*/ 9566 w 62150"/>
                        <a:gd name="connsiteY13" fmla="*/ 35976 h 97532"/>
                        <a:gd name="connsiteX14" fmla="*/ 48400 w 62150"/>
                        <a:gd name="connsiteY14" fmla="*/ 60226 h 97532"/>
                        <a:gd name="connsiteX15" fmla="*/ 43221 w 62150"/>
                        <a:gd name="connsiteY15" fmla="*/ 79970 h 97532"/>
                        <a:gd name="connsiteX16" fmla="*/ 28993 w 62150"/>
                        <a:gd name="connsiteY16" fmla="*/ 87134 h 97532"/>
                        <a:gd name="connsiteX17" fmla="*/ 14745 w 62150"/>
                        <a:gd name="connsiteY17" fmla="*/ 79970 h 97532"/>
                        <a:gd name="connsiteX18" fmla="*/ 9566 w 62150"/>
                        <a:gd name="connsiteY18" fmla="*/ 60226 h 97532"/>
                        <a:gd name="connsiteX19" fmla="*/ 14745 w 62150"/>
                        <a:gd name="connsiteY19" fmla="*/ 40481 h 97532"/>
                        <a:gd name="connsiteX20" fmla="*/ 28993 w 62150"/>
                        <a:gd name="connsiteY20" fmla="*/ 33317 h 97532"/>
                        <a:gd name="connsiteX21" fmla="*/ 43221 w 62150"/>
                        <a:gd name="connsiteY21" fmla="*/ 40481 h 97532"/>
                        <a:gd name="connsiteX22" fmla="*/ 48400 w 62150"/>
                        <a:gd name="connsiteY22" fmla="*/ 60226 h 97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62150" h="97532">
                          <a:moveTo>
                            <a:pt x="9566" y="35976"/>
                          </a:moveTo>
                          <a:lnTo>
                            <a:pt x="9566" y="-854"/>
                          </a:lnTo>
                          <a:lnTo>
                            <a:pt x="-1904" y="-854"/>
                          </a:lnTo>
                          <a:lnTo>
                            <a:pt x="-1904" y="95012"/>
                          </a:lnTo>
                          <a:lnTo>
                            <a:pt x="9566" y="95012"/>
                          </a:lnTo>
                          <a:lnTo>
                            <a:pt x="9566" y="84475"/>
                          </a:lnTo>
                          <a:cubicBezTo>
                            <a:pt x="11974" y="88602"/>
                            <a:pt x="15003" y="91665"/>
                            <a:pt x="18654" y="93662"/>
                          </a:cubicBezTo>
                          <a:cubicBezTo>
                            <a:pt x="22319" y="95673"/>
                            <a:pt x="26691" y="96678"/>
                            <a:pt x="31771" y="96678"/>
                          </a:cubicBezTo>
                          <a:cubicBezTo>
                            <a:pt x="40211" y="96678"/>
                            <a:pt x="47064" y="93331"/>
                            <a:pt x="52329" y="86638"/>
                          </a:cubicBezTo>
                          <a:cubicBezTo>
                            <a:pt x="57608" y="79944"/>
                            <a:pt x="60247" y="71140"/>
                            <a:pt x="60247" y="60226"/>
                          </a:cubicBezTo>
                          <a:cubicBezTo>
                            <a:pt x="60247" y="49311"/>
                            <a:pt x="57608" y="40501"/>
                            <a:pt x="52329" y="33794"/>
                          </a:cubicBezTo>
                          <a:cubicBezTo>
                            <a:pt x="47064" y="27100"/>
                            <a:pt x="40211" y="23753"/>
                            <a:pt x="31771" y="23753"/>
                          </a:cubicBezTo>
                          <a:cubicBezTo>
                            <a:pt x="26691" y="23753"/>
                            <a:pt x="22319" y="24758"/>
                            <a:pt x="18654" y="26769"/>
                          </a:cubicBezTo>
                          <a:cubicBezTo>
                            <a:pt x="15003" y="28780"/>
                            <a:pt x="11974" y="31849"/>
                            <a:pt x="9566" y="35976"/>
                          </a:cubicBezTo>
                          <a:close/>
                          <a:moveTo>
                            <a:pt x="48400" y="60226"/>
                          </a:moveTo>
                          <a:cubicBezTo>
                            <a:pt x="48400" y="68613"/>
                            <a:pt x="46674" y="75194"/>
                            <a:pt x="43221" y="79970"/>
                          </a:cubicBezTo>
                          <a:cubicBezTo>
                            <a:pt x="39768" y="84746"/>
                            <a:pt x="35026" y="87134"/>
                            <a:pt x="28993" y="87134"/>
                          </a:cubicBezTo>
                          <a:cubicBezTo>
                            <a:pt x="22947" y="87134"/>
                            <a:pt x="18198" y="84746"/>
                            <a:pt x="14745" y="79970"/>
                          </a:cubicBezTo>
                          <a:cubicBezTo>
                            <a:pt x="11292" y="75194"/>
                            <a:pt x="9566" y="68613"/>
                            <a:pt x="9566" y="60226"/>
                          </a:cubicBezTo>
                          <a:cubicBezTo>
                            <a:pt x="9566" y="51838"/>
                            <a:pt x="11292" y="45257"/>
                            <a:pt x="14745" y="40481"/>
                          </a:cubicBezTo>
                          <a:cubicBezTo>
                            <a:pt x="18198" y="35705"/>
                            <a:pt x="22947" y="33317"/>
                            <a:pt x="28993" y="33317"/>
                          </a:cubicBezTo>
                          <a:cubicBezTo>
                            <a:pt x="35026" y="33317"/>
                            <a:pt x="39768" y="35705"/>
                            <a:pt x="43221" y="40481"/>
                          </a:cubicBezTo>
                          <a:cubicBezTo>
                            <a:pt x="46674" y="45257"/>
                            <a:pt x="48400" y="51838"/>
                            <a:pt x="48400" y="60226"/>
                          </a:cubicBezTo>
                          <a:close/>
                        </a:path>
                      </a:pathLst>
                    </a:custGeom>
                    <a:solidFill>
                      <a:srgbClr val="000000"/>
                    </a:solidFill>
                    <a:ln w="20" cap="flat">
                      <a:noFill/>
                      <a:prstDash val="solid"/>
                      <a:round/>
                    </a:ln>
                  </p:spPr>
                  <p:txBody>
                    <a:bodyPr rtlCol="0" anchor="ctr"/>
                    <a:lstStyle/>
                    <a:p>
                      <a:endParaRPr lang="en-US"/>
                    </a:p>
                  </p:txBody>
                </p:sp>
                <p:sp>
                  <p:nvSpPr>
                    <p:cNvPr id="40" name="フリーフォーム: 図形 39">
                      <a:extLst>
                        <a:ext uri="{FF2B5EF4-FFF2-40B4-BE49-F238E27FC236}">
                          <a16:creationId xmlns:a16="http://schemas.microsoft.com/office/drawing/2014/main" id="{7D354588-F9A7-C70E-28B2-CDF7DA272272}"/>
                        </a:ext>
                      </a:extLst>
                    </p:cNvPr>
                    <p:cNvSpPr/>
                    <p:nvPr/>
                  </p:nvSpPr>
                  <p:spPr>
                    <a:xfrm flipV="1">
                      <a:off x="-5623086" y="5017998"/>
                      <a:ext cx="40679" cy="71119"/>
                    </a:xfrm>
                    <a:custGeom>
                      <a:avLst/>
                      <a:gdLst>
                        <a:gd name="connsiteX0" fmla="*/ 39323 w 40679"/>
                        <a:gd name="connsiteY0" fmla="*/ 57277 h 71119"/>
                        <a:gd name="connsiteX1" fmla="*/ 35135 w 40679"/>
                        <a:gd name="connsiteY1" fmla="*/ 58904 h 71119"/>
                        <a:gd name="connsiteX2" fmla="*/ 30155 w 40679"/>
                        <a:gd name="connsiteY2" fmla="*/ 59440 h 71119"/>
                        <a:gd name="connsiteX3" fmla="*/ 15292 w 40679"/>
                        <a:gd name="connsiteY3" fmla="*/ 53149 h 71119"/>
                        <a:gd name="connsiteX4" fmla="*/ 10113 w 40679"/>
                        <a:gd name="connsiteY4" fmla="*/ 35072 h 71119"/>
                        <a:gd name="connsiteX5" fmla="*/ 10113 w 40679"/>
                        <a:gd name="connsiteY5" fmla="*/ -1520 h 71119"/>
                        <a:gd name="connsiteX6" fmla="*/ -1357 w 40679"/>
                        <a:gd name="connsiteY6" fmla="*/ -1520 h 71119"/>
                        <a:gd name="connsiteX7" fmla="*/ -1357 w 40679"/>
                        <a:gd name="connsiteY7" fmla="*/ 67933 h 71119"/>
                        <a:gd name="connsiteX8" fmla="*/ 10113 w 40679"/>
                        <a:gd name="connsiteY8" fmla="*/ 67933 h 71119"/>
                        <a:gd name="connsiteX9" fmla="*/ 10113 w 40679"/>
                        <a:gd name="connsiteY9" fmla="*/ 57138 h 71119"/>
                        <a:gd name="connsiteX10" fmla="*/ 19479 w 40679"/>
                        <a:gd name="connsiteY10" fmla="*/ 66524 h 71119"/>
                        <a:gd name="connsiteX11" fmla="*/ 33508 w 40679"/>
                        <a:gd name="connsiteY11" fmla="*/ 69600 h 71119"/>
                        <a:gd name="connsiteX12" fmla="*/ 36108 w 40679"/>
                        <a:gd name="connsiteY12" fmla="*/ 69441 h 71119"/>
                        <a:gd name="connsiteX13" fmla="*/ 39263 w 40679"/>
                        <a:gd name="connsiteY13" fmla="*/ 68985 h 71119"/>
                        <a:gd name="connsiteX14" fmla="*/ 39323 w 40679"/>
                        <a:gd name="connsiteY14" fmla="*/ 57277 h 711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0679" h="71119">
                          <a:moveTo>
                            <a:pt x="39323" y="57277"/>
                          </a:moveTo>
                          <a:cubicBezTo>
                            <a:pt x="38039" y="58018"/>
                            <a:pt x="36644" y="58560"/>
                            <a:pt x="35135" y="58904"/>
                          </a:cubicBezTo>
                          <a:cubicBezTo>
                            <a:pt x="33627" y="59261"/>
                            <a:pt x="31967" y="59440"/>
                            <a:pt x="30155" y="59440"/>
                          </a:cubicBezTo>
                          <a:cubicBezTo>
                            <a:pt x="23699" y="59440"/>
                            <a:pt x="18745" y="57343"/>
                            <a:pt x="15292" y="53149"/>
                          </a:cubicBezTo>
                          <a:cubicBezTo>
                            <a:pt x="11839" y="48956"/>
                            <a:pt x="10113" y="42930"/>
                            <a:pt x="10113" y="35072"/>
                          </a:cubicBezTo>
                          <a:lnTo>
                            <a:pt x="10113" y="-1520"/>
                          </a:lnTo>
                          <a:lnTo>
                            <a:pt x="-1357" y="-1520"/>
                          </a:lnTo>
                          <a:lnTo>
                            <a:pt x="-1357" y="67933"/>
                          </a:lnTo>
                          <a:lnTo>
                            <a:pt x="10113" y="67933"/>
                          </a:lnTo>
                          <a:lnTo>
                            <a:pt x="10113" y="57138"/>
                          </a:lnTo>
                          <a:cubicBezTo>
                            <a:pt x="12520" y="61358"/>
                            <a:pt x="15642" y="64487"/>
                            <a:pt x="19479" y="66524"/>
                          </a:cubicBezTo>
                          <a:cubicBezTo>
                            <a:pt x="23328" y="68575"/>
                            <a:pt x="28005" y="69600"/>
                            <a:pt x="33508" y="69600"/>
                          </a:cubicBezTo>
                          <a:cubicBezTo>
                            <a:pt x="34289" y="69600"/>
                            <a:pt x="35155" y="69547"/>
                            <a:pt x="36108" y="69441"/>
                          </a:cubicBezTo>
                          <a:cubicBezTo>
                            <a:pt x="37060" y="69349"/>
                            <a:pt x="38112" y="69196"/>
                            <a:pt x="39263" y="68985"/>
                          </a:cubicBezTo>
                          <a:lnTo>
                            <a:pt x="39323" y="57277"/>
                          </a:lnTo>
                          <a:close/>
                        </a:path>
                      </a:pathLst>
                    </a:custGeom>
                    <a:solidFill>
                      <a:srgbClr val="000000"/>
                    </a:solidFill>
                    <a:ln w="20" cap="flat">
                      <a:noFill/>
                      <a:prstDash val="solid"/>
                      <a:round/>
                    </a:ln>
                  </p:spPr>
                  <p:txBody>
                    <a:bodyPr rtlCol="0" anchor="ctr"/>
                    <a:lstStyle/>
                    <a:p>
                      <a:endParaRPr lang="en-US"/>
                    </a:p>
                  </p:txBody>
                </p:sp>
              </p:grpSp>
            </p:grpSp>
            <p:grpSp>
              <p:nvGrpSpPr>
                <p:cNvPr id="41" name="グラフィックス 6">
                  <a:extLst>
                    <a:ext uri="{FF2B5EF4-FFF2-40B4-BE49-F238E27FC236}">
                      <a16:creationId xmlns:a16="http://schemas.microsoft.com/office/drawing/2014/main" id="{2EA492CA-BA35-1CE5-F43A-F2F82223F245}"/>
                    </a:ext>
                  </a:extLst>
                </p:cNvPr>
                <p:cNvGrpSpPr/>
                <p:nvPr/>
              </p:nvGrpSpPr>
              <p:grpSpPr>
                <a:xfrm>
                  <a:off x="-5116801" y="1941575"/>
                  <a:ext cx="246316" cy="3173954"/>
                  <a:chOff x="-5116801" y="1941575"/>
                  <a:chExt cx="246316" cy="3173954"/>
                </a:xfrm>
              </p:grpSpPr>
              <p:sp>
                <p:nvSpPr>
                  <p:cNvPr id="42" name="フリーフォーム: 図形 41">
                    <a:extLst>
                      <a:ext uri="{FF2B5EF4-FFF2-40B4-BE49-F238E27FC236}">
                        <a16:creationId xmlns:a16="http://schemas.microsoft.com/office/drawing/2014/main" id="{37EBD910-098B-5260-4252-60D3734003D2}"/>
                      </a:ext>
                    </a:extLst>
                  </p:cNvPr>
                  <p:cNvSpPr/>
                  <p:nvPr/>
                </p:nvSpPr>
                <p:spPr>
                  <a:xfrm>
                    <a:off x="-4997983" y="1941575"/>
                    <a:ext cx="12700" cy="2962147"/>
                  </a:xfrm>
                  <a:custGeom>
                    <a:avLst/>
                    <a:gdLst>
                      <a:gd name="connsiteX0" fmla="*/ 0 w 12700"/>
                      <a:gd name="connsiteY0" fmla="*/ 2962148 h 2962147"/>
                      <a:gd name="connsiteX1" fmla="*/ 0 w 12700"/>
                      <a:gd name="connsiteY1" fmla="*/ 0 h 2962147"/>
                    </a:gdLst>
                    <a:ahLst/>
                    <a:cxnLst>
                      <a:cxn ang="0">
                        <a:pos x="connsiteX0" y="connsiteY0"/>
                      </a:cxn>
                      <a:cxn ang="0">
                        <a:pos x="connsiteX1" y="connsiteY1"/>
                      </a:cxn>
                    </a:cxnLst>
                    <a:rect l="l" t="t" r="r" b="b"/>
                    <a:pathLst>
                      <a:path w="12700" h="2962147">
                        <a:moveTo>
                          <a:pt x="0" y="2962148"/>
                        </a:moveTo>
                        <a:lnTo>
                          <a:pt x="0" y="0"/>
                        </a:lnTo>
                      </a:path>
                    </a:pathLst>
                  </a:custGeom>
                  <a:noFill/>
                  <a:ln w="10160" cap="sq">
                    <a:solidFill>
                      <a:srgbClr val="B0B0B0"/>
                    </a:solidFill>
                    <a:prstDash val="solid"/>
                    <a:round/>
                  </a:ln>
                </p:spPr>
                <p:txBody>
                  <a:bodyPr rtlCol="0" anchor="ctr"/>
                  <a:lstStyle/>
                  <a:p>
                    <a:endParaRPr lang="en-US"/>
                  </a:p>
                </p:txBody>
              </p:sp>
              <p:sp>
                <p:nvSpPr>
                  <p:cNvPr id="43" name="フリーフォーム: 図形 42">
                    <a:extLst>
                      <a:ext uri="{FF2B5EF4-FFF2-40B4-BE49-F238E27FC236}">
                        <a16:creationId xmlns:a16="http://schemas.microsoft.com/office/drawing/2014/main" id="{AE7727FF-F2BB-D279-C9D4-2A0246391BA6}"/>
                      </a:ext>
                    </a:extLst>
                  </p:cNvPr>
                  <p:cNvSpPr/>
                  <p:nvPr/>
                </p:nvSpPr>
                <p:spPr>
                  <a:xfrm>
                    <a:off x="-4997983" y="4903724"/>
                    <a:ext cx="12700" cy="44450"/>
                  </a:xfrm>
                  <a:custGeom>
                    <a:avLst/>
                    <a:gdLst>
                      <a:gd name="connsiteX0" fmla="*/ 296 w 12700"/>
                      <a:gd name="connsiteY0" fmla="*/ 260 h 44450"/>
                      <a:gd name="connsiteX1" fmla="*/ 296 w 12700"/>
                      <a:gd name="connsiteY1" fmla="*/ 44710 h 44450"/>
                    </a:gdLst>
                    <a:ahLst/>
                    <a:cxnLst>
                      <a:cxn ang="0">
                        <a:pos x="connsiteX0" y="connsiteY0"/>
                      </a:cxn>
                      <a:cxn ang="0">
                        <a:pos x="connsiteX1" y="connsiteY1"/>
                      </a:cxn>
                    </a:cxnLst>
                    <a:rect l="l" t="t" r="r" b="b"/>
                    <a:pathLst>
                      <a:path w="12700" h="44450">
                        <a:moveTo>
                          <a:pt x="296" y="260"/>
                        </a:moveTo>
                        <a:lnTo>
                          <a:pt x="296" y="44710"/>
                        </a:lnTo>
                      </a:path>
                    </a:pathLst>
                  </a:custGeom>
                  <a:solidFill>
                    <a:srgbClr val="000000"/>
                  </a:solidFill>
                  <a:ln w="10160" cap="flat">
                    <a:solidFill>
                      <a:srgbClr val="000000"/>
                    </a:solidFill>
                    <a:prstDash val="solid"/>
                    <a:round/>
                  </a:ln>
                </p:spPr>
                <p:txBody>
                  <a:bodyPr rtlCol="0" anchor="ctr"/>
                  <a:lstStyle/>
                  <a:p>
                    <a:endParaRPr lang="en-US"/>
                  </a:p>
                </p:txBody>
              </p:sp>
              <p:grpSp>
                <p:nvGrpSpPr>
                  <p:cNvPr id="44" name="グラフィックス 6">
                    <a:extLst>
                      <a:ext uri="{FF2B5EF4-FFF2-40B4-BE49-F238E27FC236}">
                        <a16:creationId xmlns:a16="http://schemas.microsoft.com/office/drawing/2014/main" id="{63B11964-EC2E-7E97-4B6B-B6CC6F9AF418}"/>
                      </a:ext>
                    </a:extLst>
                  </p:cNvPr>
                  <p:cNvGrpSpPr/>
                  <p:nvPr/>
                </p:nvGrpSpPr>
                <p:grpSpPr>
                  <a:xfrm>
                    <a:off x="-5116801" y="4996527"/>
                    <a:ext cx="246316" cy="119002"/>
                    <a:chOff x="-5116801" y="4996527"/>
                    <a:chExt cx="246316" cy="119002"/>
                  </a:xfrm>
                  <a:solidFill>
                    <a:srgbClr val="000000"/>
                  </a:solidFill>
                </p:grpSpPr>
                <p:sp>
                  <p:nvSpPr>
                    <p:cNvPr id="45" name="フリーフォーム: 図形 44">
                      <a:extLst>
                        <a:ext uri="{FF2B5EF4-FFF2-40B4-BE49-F238E27FC236}">
                          <a16:creationId xmlns:a16="http://schemas.microsoft.com/office/drawing/2014/main" id="{51273C71-8341-0856-57FE-18DDFE048875}"/>
                        </a:ext>
                      </a:extLst>
                    </p:cNvPr>
                    <p:cNvSpPr/>
                    <p:nvPr/>
                  </p:nvSpPr>
                  <p:spPr>
                    <a:xfrm flipV="1">
                      <a:off x="-5116801" y="4996527"/>
                      <a:ext cx="84712" cy="92590"/>
                    </a:xfrm>
                    <a:custGeom>
                      <a:avLst/>
                      <a:gdLst>
                        <a:gd name="connsiteX0" fmla="*/ -2472 w 84712"/>
                        <a:gd name="connsiteY0" fmla="*/ 90529 h 92590"/>
                        <a:gd name="connsiteX1" fmla="*/ 16201 w 84712"/>
                        <a:gd name="connsiteY1" fmla="*/ 90529 h 92590"/>
                        <a:gd name="connsiteX2" fmla="*/ 39815 w 84712"/>
                        <a:gd name="connsiteY2" fmla="*/ 27525 h 92590"/>
                        <a:gd name="connsiteX3" fmla="*/ 63568 w 84712"/>
                        <a:gd name="connsiteY3" fmla="*/ 90529 h 92590"/>
                        <a:gd name="connsiteX4" fmla="*/ 82241 w 84712"/>
                        <a:gd name="connsiteY4" fmla="*/ 90529 h 92590"/>
                        <a:gd name="connsiteX5" fmla="*/ 82241 w 84712"/>
                        <a:gd name="connsiteY5" fmla="*/ -2062 h 92590"/>
                        <a:gd name="connsiteX6" fmla="*/ 70017 w 84712"/>
                        <a:gd name="connsiteY6" fmla="*/ -2062 h 92590"/>
                        <a:gd name="connsiteX7" fmla="*/ 70017 w 84712"/>
                        <a:gd name="connsiteY7" fmla="*/ 79238 h 92590"/>
                        <a:gd name="connsiteX8" fmla="*/ 46145 w 84712"/>
                        <a:gd name="connsiteY8" fmla="*/ 15738 h 92590"/>
                        <a:gd name="connsiteX9" fmla="*/ 33564 w 84712"/>
                        <a:gd name="connsiteY9" fmla="*/ 15738 h 92590"/>
                        <a:gd name="connsiteX10" fmla="*/ 9692 w 84712"/>
                        <a:gd name="connsiteY10" fmla="*/ 79238 h 92590"/>
                        <a:gd name="connsiteX11" fmla="*/ 9692 w 84712"/>
                        <a:gd name="connsiteY11" fmla="*/ -2062 h 92590"/>
                        <a:gd name="connsiteX12" fmla="*/ -2472 w 84712"/>
                        <a:gd name="connsiteY12" fmla="*/ -2062 h 92590"/>
                        <a:gd name="connsiteX13" fmla="*/ -2472 w 84712"/>
                        <a:gd name="connsiteY13" fmla="*/ 90529 h 92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84712" h="92590">
                          <a:moveTo>
                            <a:pt x="-2472" y="90529"/>
                          </a:moveTo>
                          <a:lnTo>
                            <a:pt x="16201" y="90529"/>
                          </a:lnTo>
                          <a:lnTo>
                            <a:pt x="39815" y="27525"/>
                          </a:lnTo>
                          <a:lnTo>
                            <a:pt x="63568" y="90529"/>
                          </a:lnTo>
                          <a:lnTo>
                            <a:pt x="82241" y="90529"/>
                          </a:lnTo>
                          <a:lnTo>
                            <a:pt x="82241" y="-2062"/>
                          </a:lnTo>
                          <a:lnTo>
                            <a:pt x="70017" y="-2062"/>
                          </a:lnTo>
                          <a:lnTo>
                            <a:pt x="70017" y="79238"/>
                          </a:lnTo>
                          <a:lnTo>
                            <a:pt x="46145" y="15738"/>
                          </a:lnTo>
                          <a:lnTo>
                            <a:pt x="33564" y="15738"/>
                          </a:lnTo>
                          <a:lnTo>
                            <a:pt x="9692" y="79238"/>
                          </a:lnTo>
                          <a:lnTo>
                            <a:pt x="9692" y="-2062"/>
                          </a:lnTo>
                          <a:lnTo>
                            <a:pt x="-2472" y="-2062"/>
                          </a:lnTo>
                          <a:lnTo>
                            <a:pt x="-2472" y="90529"/>
                          </a:lnTo>
                          <a:close/>
                        </a:path>
                      </a:pathLst>
                    </a:custGeom>
                    <a:solidFill>
                      <a:srgbClr val="000000"/>
                    </a:solidFill>
                    <a:ln w="20" cap="flat">
                      <a:noFill/>
                      <a:prstDash val="solid"/>
                      <a:round/>
                    </a:ln>
                  </p:spPr>
                  <p:txBody>
                    <a:bodyPr rtlCol="0" anchor="ctr"/>
                    <a:lstStyle/>
                    <a:p>
                      <a:endParaRPr lang="en-US"/>
                    </a:p>
                  </p:txBody>
                </p:sp>
                <p:sp>
                  <p:nvSpPr>
                    <p:cNvPr id="46" name="フリーフォーム: 図形 45">
                      <a:extLst>
                        <a:ext uri="{FF2B5EF4-FFF2-40B4-BE49-F238E27FC236}">
                          <a16:creationId xmlns:a16="http://schemas.microsoft.com/office/drawing/2014/main" id="{9DC9B549-DACF-FFBB-9262-F5B7FD0F2039}"/>
                        </a:ext>
                      </a:extLst>
                    </p:cNvPr>
                    <p:cNvSpPr/>
                    <p:nvPr/>
                  </p:nvSpPr>
                  <p:spPr>
                    <a:xfrm flipV="1">
                      <a:off x="-5012068" y="5017998"/>
                      <a:ext cx="58677" cy="72925"/>
                    </a:xfrm>
                    <a:custGeom>
                      <a:avLst/>
                      <a:gdLst>
                        <a:gd name="connsiteX0" fmla="*/ 34352 w 58677"/>
                        <a:gd name="connsiteY0" fmla="*/ 35236 h 72925"/>
                        <a:gd name="connsiteX1" fmla="*/ 15183 w 58677"/>
                        <a:gd name="connsiteY1" fmla="*/ 32081 h 72925"/>
                        <a:gd name="connsiteX2" fmla="*/ 9845 w 58677"/>
                        <a:gd name="connsiteY2" fmla="*/ 21286 h 72925"/>
                        <a:gd name="connsiteX3" fmla="*/ 13854 w 58677"/>
                        <a:gd name="connsiteY3" fmla="*/ 11642 h 72925"/>
                        <a:gd name="connsiteX4" fmla="*/ 24728 w 58677"/>
                        <a:gd name="connsiteY4" fmla="*/ 8090 h 72925"/>
                        <a:gd name="connsiteX5" fmla="*/ 39968 w 58677"/>
                        <a:gd name="connsiteY5" fmla="*/ 14817 h 72925"/>
                        <a:gd name="connsiteX6" fmla="*/ 45703 w 58677"/>
                        <a:gd name="connsiteY6" fmla="*/ 32696 h 72925"/>
                        <a:gd name="connsiteX7" fmla="*/ 45703 w 58677"/>
                        <a:gd name="connsiteY7" fmla="*/ 35236 h 72925"/>
                        <a:gd name="connsiteX8" fmla="*/ 34352 w 58677"/>
                        <a:gd name="connsiteY8" fmla="*/ 35236 h 72925"/>
                        <a:gd name="connsiteX9" fmla="*/ 57113 w 58677"/>
                        <a:gd name="connsiteY9" fmla="*/ 39959 h 72925"/>
                        <a:gd name="connsiteX10" fmla="*/ 57113 w 58677"/>
                        <a:gd name="connsiteY10" fmla="*/ 331 h 72925"/>
                        <a:gd name="connsiteX11" fmla="*/ 45703 w 58677"/>
                        <a:gd name="connsiteY11" fmla="*/ 331 h 72925"/>
                        <a:gd name="connsiteX12" fmla="*/ 45703 w 58677"/>
                        <a:gd name="connsiteY12" fmla="*/ 10868 h 72925"/>
                        <a:gd name="connsiteX13" fmla="*/ 35960 w 58677"/>
                        <a:gd name="connsiteY13" fmla="*/ 1542 h 72925"/>
                        <a:gd name="connsiteX14" fmla="*/ 21692 w 58677"/>
                        <a:gd name="connsiteY14" fmla="*/ -1475 h 72925"/>
                        <a:gd name="connsiteX15" fmla="*/ 4726 w 58677"/>
                        <a:gd name="connsiteY15" fmla="*/ 4518 h 72925"/>
                        <a:gd name="connsiteX16" fmla="*/ -1565 w 58677"/>
                        <a:gd name="connsiteY16" fmla="*/ 20552 h 72925"/>
                        <a:gd name="connsiteX17" fmla="*/ 6273 w 58677"/>
                        <a:gd name="connsiteY17" fmla="*/ 38213 h 72925"/>
                        <a:gd name="connsiteX18" fmla="*/ 29689 w 58677"/>
                        <a:gd name="connsiteY18" fmla="*/ 44166 h 72925"/>
                        <a:gd name="connsiteX19" fmla="*/ 45703 w 58677"/>
                        <a:gd name="connsiteY19" fmla="*/ 44166 h 72925"/>
                        <a:gd name="connsiteX20" fmla="*/ 45703 w 58677"/>
                        <a:gd name="connsiteY20" fmla="*/ 45297 h 72925"/>
                        <a:gd name="connsiteX21" fmla="*/ 40524 w 58677"/>
                        <a:gd name="connsiteY21" fmla="*/ 57481 h 72925"/>
                        <a:gd name="connsiteX22" fmla="*/ 25978 w 58677"/>
                        <a:gd name="connsiteY22" fmla="*/ 61787 h 72925"/>
                        <a:gd name="connsiteX23" fmla="*/ 14370 w 58677"/>
                        <a:gd name="connsiteY23" fmla="*/ 60359 h 72925"/>
                        <a:gd name="connsiteX24" fmla="*/ 3535 w 58677"/>
                        <a:gd name="connsiteY24" fmla="*/ 56072 h 72925"/>
                        <a:gd name="connsiteX25" fmla="*/ 3535 w 58677"/>
                        <a:gd name="connsiteY25" fmla="*/ 66629 h 72925"/>
                        <a:gd name="connsiteX26" fmla="*/ 15679 w 58677"/>
                        <a:gd name="connsiteY26" fmla="*/ 70241 h 72925"/>
                        <a:gd name="connsiteX27" fmla="*/ 27149 w 58677"/>
                        <a:gd name="connsiteY27" fmla="*/ 71451 h 72925"/>
                        <a:gd name="connsiteX28" fmla="*/ 49672 w 58677"/>
                        <a:gd name="connsiteY28" fmla="*/ 63633 h 72925"/>
                        <a:gd name="connsiteX29" fmla="*/ 57113 w 58677"/>
                        <a:gd name="connsiteY29" fmla="*/ 39959 h 7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8677" h="72925">
                          <a:moveTo>
                            <a:pt x="34352" y="35236"/>
                          </a:moveTo>
                          <a:cubicBezTo>
                            <a:pt x="25132" y="35236"/>
                            <a:pt x="18742" y="34185"/>
                            <a:pt x="15183" y="32081"/>
                          </a:cubicBezTo>
                          <a:cubicBezTo>
                            <a:pt x="11625" y="29978"/>
                            <a:pt x="9845" y="26380"/>
                            <a:pt x="9845" y="21286"/>
                          </a:cubicBezTo>
                          <a:cubicBezTo>
                            <a:pt x="9845" y="17238"/>
                            <a:pt x="11181" y="14023"/>
                            <a:pt x="13854" y="11642"/>
                          </a:cubicBezTo>
                          <a:cubicBezTo>
                            <a:pt x="16526" y="9274"/>
                            <a:pt x="20151" y="8090"/>
                            <a:pt x="24728" y="8090"/>
                          </a:cubicBezTo>
                          <a:cubicBezTo>
                            <a:pt x="31065" y="8090"/>
                            <a:pt x="36145" y="10333"/>
                            <a:pt x="39968" y="14817"/>
                          </a:cubicBezTo>
                          <a:cubicBezTo>
                            <a:pt x="43791" y="19302"/>
                            <a:pt x="45703" y="25262"/>
                            <a:pt x="45703" y="32696"/>
                          </a:cubicBezTo>
                          <a:lnTo>
                            <a:pt x="45703" y="35236"/>
                          </a:lnTo>
                          <a:lnTo>
                            <a:pt x="34352" y="35236"/>
                          </a:lnTo>
                          <a:close/>
                          <a:moveTo>
                            <a:pt x="57113" y="39959"/>
                          </a:moveTo>
                          <a:lnTo>
                            <a:pt x="57113" y="331"/>
                          </a:lnTo>
                          <a:lnTo>
                            <a:pt x="45703" y="331"/>
                          </a:lnTo>
                          <a:lnTo>
                            <a:pt x="45703" y="10868"/>
                          </a:lnTo>
                          <a:cubicBezTo>
                            <a:pt x="43097" y="6661"/>
                            <a:pt x="39849" y="3553"/>
                            <a:pt x="35960" y="1542"/>
                          </a:cubicBezTo>
                          <a:cubicBezTo>
                            <a:pt x="32070" y="-469"/>
                            <a:pt x="27314" y="-1475"/>
                            <a:pt x="21692" y="-1475"/>
                          </a:cubicBezTo>
                          <a:cubicBezTo>
                            <a:pt x="14588" y="-1475"/>
                            <a:pt x="8933" y="523"/>
                            <a:pt x="4726" y="4518"/>
                          </a:cubicBezTo>
                          <a:cubicBezTo>
                            <a:pt x="532" y="8514"/>
                            <a:pt x="-1565" y="13858"/>
                            <a:pt x="-1565" y="20552"/>
                          </a:cubicBezTo>
                          <a:cubicBezTo>
                            <a:pt x="-1565" y="28357"/>
                            <a:pt x="1048" y="34244"/>
                            <a:pt x="6273" y="38213"/>
                          </a:cubicBezTo>
                          <a:cubicBezTo>
                            <a:pt x="11512" y="42182"/>
                            <a:pt x="19317" y="44166"/>
                            <a:pt x="29689" y="44166"/>
                          </a:cubicBezTo>
                          <a:lnTo>
                            <a:pt x="45703" y="44166"/>
                          </a:lnTo>
                          <a:lnTo>
                            <a:pt x="45703" y="45297"/>
                          </a:lnTo>
                          <a:cubicBezTo>
                            <a:pt x="45703" y="50549"/>
                            <a:pt x="43977" y="54610"/>
                            <a:pt x="40524" y="57481"/>
                          </a:cubicBezTo>
                          <a:cubicBezTo>
                            <a:pt x="37071" y="60352"/>
                            <a:pt x="32223" y="61787"/>
                            <a:pt x="25978" y="61787"/>
                          </a:cubicBezTo>
                          <a:cubicBezTo>
                            <a:pt x="22010" y="61787"/>
                            <a:pt x="18140" y="61311"/>
                            <a:pt x="14370" y="60359"/>
                          </a:cubicBezTo>
                          <a:cubicBezTo>
                            <a:pt x="10613" y="59406"/>
                            <a:pt x="7001" y="57977"/>
                            <a:pt x="3535" y="56072"/>
                          </a:cubicBezTo>
                          <a:lnTo>
                            <a:pt x="3535" y="66629"/>
                          </a:lnTo>
                          <a:cubicBezTo>
                            <a:pt x="7702" y="68243"/>
                            <a:pt x="11750" y="69447"/>
                            <a:pt x="15679" y="70241"/>
                          </a:cubicBezTo>
                          <a:cubicBezTo>
                            <a:pt x="19608" y="71048"/>
                            <a:pt x="23432" y="71451"/>
                            <a:pt x="27149" y="71451"/>
                          </a:cubicBezTo>
                          <a:cubicBezTo>
                            <a:pt x="37203" y="71451"/>
                            <a:pt x="44711" y="68845"/>
                            <a:pt x="49672" y="63633"/>
                          </a:cubicBezTo>
                          <a:cubicBezTo>
                            <a:pt x="54633" y="58434"/>
                            <a:pt x="57113" y="50543"/>
                            <a:pt x="57113" y="39959"/>
                          </a:cubicBezTo>
                          <a:close/>
                        </a:path>
                      </a:pathLst>
                    </a:custGeom>
                    <a:solidFill>
                      <a:srgbClr val="000000"/>
                    </a:solidFill>
                    <a:ln w="20" cap="flat">
                      <a:noFill/>
                      <a:prstDash val="solid"/>
                      <a:round/>
                    </a:ln>
                  </p:spPr>
                  <p:txBody>
                    <a:bodyPr rtlCol="0" anchor="ctr"/>
                    <a:lstStyle/>
                    <a:p>
                      <a:endParaRPr lang="en-US"/>
                    </a:p>
                  </p:txBody>
                </p:sp>
                <p:sp>
                  <p:nvSpPr>
                    <p:cNvPr id="47" name="フリーフォーム: 図形 46">
                      <a:extLst>
                        <a:ext uri="{FF2B5EF4-FFF2-40B4-BE49-F238E27FC236}">
                          <a16:creationId xmlns:a16="http://schemas.microsoft.com/office/drawing/2014/main" id="{C032B4F7-9429-85EB-7D11-0A98A18C4F47}"/>
                        </a:ext>
                      </a:extLst>
                    </p:cNvPr>
                    <p:cNvSpPr/>
                    <p:nvPr/>
                  </p:nvSpPr>
                  <p:spPr>
                    <a:xfrm flipV="1">
                      <a:off x="-4938073" y="5019665"/>
                      <a:ext cx="67587" cy="95865"/>
                    </a:xfrm>
                    <a:custGeom>
                      <a:avLst/>
                      <a:gdLst>
                        <a:gd name="connsiteX0" fmla="*/ 35478 w 67587"/>
                        <a:gd name="connsiteY0" fmla="*/ 19151 h 95865"/>
                        <a:gd name="connsiteX1" fmla="*/ 26052 w 67587"/>
                        <a:gd name="connsiteY1" fmla="*/ 2979 h 95865"/>
                        <a:gd name="connsiteX2" fmla="*/ 13789 w 67587"/>
                        <a:gd name="connsiteY2" fmla="*/ -811 h 95865"/>
                        <a:gd name="connsiteX3" fmla="*/ 4661 w 67587"/>
                        <a:gd name="connsiteY3" fmla="*/ -811 h 95865"/>
                        <a:gd name="connsiteX4" fmla="*/ 4661 w 67587"/>
                        <a:gd name="connsiteY4" fmla="*/ 8733 h 95865"/>
                        <a:gd name="connsiteX5" fmla="*/ 11368 w 67587"/>
                        <a:gd name="connsiteY5" fmla="*/ 8733 h 95865"/>
                        <a:gd name="connsiteX6" fmla="*/ 18670 w 67587"/>
                        <a:gd name="connsiteY6" fmla="*/ 10976 h 95865"/>
                        <a:gd name="connsiteX7" fmla="*/ 24445 w 67587"/>
                        <a:gd name="connsiteY7" fmla="*/ 21513 h 95865"/>
                        <a:gd name="connsiteX8" fmla="*/ 26489 w 67587"/>
                        <a:gd name="connsiteY8" fmla="*/ 26712 h 95865"/>
                        <a:gd name="connsiteX9" fmla="*/ -1590 w 67587"/>
                        <a:gd name="connsiteY9" fmla="*/ 95054 h 95865"/>
                        <a:gd name="connsiteX10" fmla="*/ 10495 w 67587"/>
                        <a:gd name="connsiteY10" fmla="*/ 95054 h 95865"/>
                        <a:gd name="connsiteX11" fmla="*/ 32204 w 67587"/>
                        <a:gd name="connsiteY11" fmla="*/ 40741 h 95865"/>
                        <a:gd name="connsiteX12" fmla="*/ 53913 w 67587"/>
                        <a:gd name="connsiteY12" fmla="*/ 95054 h 95865"/>
                        <a:gd name="connsiteX13" fmla="*/ 65998 w 67587"/>
                        <a:gd name="connsiteY13" fmla="*/ 95054 h 95865"/>
                        <a:gd name="connsiteX14" fmla="*/ 35478 w 67587"/>
                        <a:gd name="connsiteY14" fmla="*/ 19151 h 958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7587" h="95865">
                          <a:moveTo>
                            <a:pt x="35478" y="19151"/>
                          </a:moveTo>
                          <a:cubicBezTo>
                            <a:pt x="32263" y="10883"/>
                            <a:pt x="29121" y="5492"/>
                            <a:pt x="26052" y="2979"/>
                          </a:cubicBezTo>
                          <a:cubicBezTo>
                            <a:pt x="22996" y="452"/>
                            <a:pt x="18908" y="-811"/>
                            <a:pt x="13789" y="-811"/>
                          </a:cubicBezTo>
                          <a:lnTo>
                            <a:pt x="4661" y="-811"/>
                          </a:lnTo>
                          <a:lnTo>
                            <a:pt x="4661" y="8733"/>
                          </a:lnTo>
                          <a:lnTo>
                            <a:pt x="11368" y="8733"/>
                          </a:lnTo>
                          <a:cubicBezTo>
                            <a:pt x="14503" y="8733"/>
                            <a:pt x="16937" y="9481"/>
                            <a:pt x="18670" y="10976"/>
                          </a:cubicBezTo>
                          <a:cubicBezTo>
                            <a:pt x="20417" y="12457"/>
                            <a:pt x="22341" y="15970"/>
                            <a:pt x="24445" y="21513"/>
                          </a:cubicBezTo>
                          <a:lnTo>
                            <a:pt x="26489" y="26712"/>
                          </a:lnTo>
                          <a:lnTo>
                            <a:pt x="-1590" y="95054"/>
                          </a:lnTo>
                          <a:lnTo>
                            <a:pt x="10495" y="95054"/>
                          </a:lnTo>
                          <a:lnTo>
                            <a:pt x="32204" y="40741"/>
                          </a:lnTo>
                          <a:lnTo>
                            <a:pt x="53913" y="95054"/>
                          </a:lnTo>
                          <a:lnTo>
                            <a:pt x="65998" y="95054"/>
                          </a:lnTo>
                          <a:lnTo>
                            <a:pt x="35478" y="19151"/>
                          </a:lnTo>
                          <a:close/>
                        </a:path>
                      </a:pathLst>
                    </a:custGeom>
                    <a:solidFill>
                      <a:srgbClr val="000000"/>
                    </a:solidFill>
                    <a:ln w="20" cap="flat">
                      <a:noFill/>
                      <a:prstDash val="solid"/>
                      <a:round/>
                    </a:ln>
                  </p:spPr>
                  <p:txBody>
                    <a:bodyPr rtlCol="0" anchor="ctr"/>
                    <a:lstStyle/>
                    <a:p>
                      <a:endParaRPr lang="en-US"/>
                    </a:p>
                  </p:txBody>
                </p:sp>
              </p:grpSp>
            </p:grpSp>
            <p:grpSp>
              <p:nvGrpSpPr>
                <p:cNvPr id="48" name="グラフィックス 6">
                  <a:extLst>
                    <a:ext uri="{FF2B5EF4-FFF2-40B4-BE49-F238E27FC236}">
                      <a16:creationId xmlns:a16="http://schemas.microsoft.com/office/drawing/2014/main" id="{D01241BD-2F44-F727-D43D-CC9D81F2BBC5}"/>
                    </a:ext>
                  </a:extLst>
                </p:cNvPr>
                <p:cNvGrpSpPr/>
                <p:nvPr/>
              </p:nvGrpSpPr>
              <p:grpSpPr>
                <a:xfrm>
                  <a:off x="-4409480" y="1941575"/>
                  <a:ext cx="194225" cy="3172962"/>
                  <a:chOff x="-4409480" y="1941575"/>
                  <a:chExt cx="194225" cy="3172962"/>
                </a:xfrm>
              </p:grpSpPr>
              <p:sp>
                <p:nvSpPr>
                  <p:cNvPr id="49" name="フリーフォーム: 図形 48">
                    <a:extLst>
                      <a:ext uri="{FF2B5EF4-FFF2-40B4-BE49-F238E27FC236}">
                        <a16:creationId xmlns:a16="http://schemas.microsoft.com/office/drawing/2014/main" id="{A8A51C74-D99E-0772-7951-B68E822E8E0D}"/>
                      </a:ext>
                    </a:extLst>
                  </p:cNvPr>
                  <p:cNvSpPr/>
                  <p:nvPr/>
                </p:nvSpPr>
                <p:spPr>
                  <a:xfrm>
                    <a:off x="-4303699" y="1941575"/>
                    <a:ext cx="12700" cy="2962147"/>
                  </a:xfrm>
                  <a:custGeom>
                    <a:avLst/>
                    <a:gdLst>
                      <a:gd name="connsiteX0" fmla="*/ 0 w 12700"/>
                      <a:gd name="connsiteY0" fmla="*/ 2962148 h 2962147"/>
                      <a:gd name="connsiteX1" fmla="*/ 0 w 12700"/>
                      <a:gd name="connsiteY1" fmla="*/ 0 h 2962147"/>
                    </a:gdLst>
                    <a:ahLst/>
                    <a:cxnLst>
                      <a:cxn ang="0">
                        <a:pos x="connsiteX0" y="connsiteY0"/>
                      </a:cxn>
                      <a:cxn ang="0">
                        <a:pos x="connsiteX1" y="connsiteY1"/>
                      </a:cxn>
                    </a:cxnLst>
                    <a:rect l="l" t="t" r="r" b="b"/>
                    <a:pathLst>
                      <a:path w="12700" h="2962147">
                        <a:moveTo>
                          <a:pt x="0" y="2962148"/>
                        </a:moveTo>
                        <a:lnTo>
                          <a:pt x="0" y="0"/>
                        </a:lnTo>
                      </a:path>
                    </a:pathLst>
                  </a:custGeom>
                  <a:noFill/>
                  <a:ln w="10160" cap="sq">
                    <a:solidFill>
                      <a:srgbClr val="B0B0B0"/>
                    </a:solidFill>
                    <a:prstDash val="solid"/>
                    <a:round/>
                  </a:ln>
                </p:spPr>
                <p:txBody>
                  <a:bodyPr rtlCol="0" anchor="ctr"/>
                  <a:lstStyle/>
                  <a:p>
                    <a:endParaRPr lang="en-US"/>
                  </a:p>
                </p:txBody>
              </p:sp>
              <p:sp>
                <p:nvSpPr>
                  <p:cNvPr id="50" name="フリーフォーム: 図形 49">
                    <a:extLst>
                      <a:ext uri="{FF2B5EF4-FFF2-40B4-BE49-F238E27FC236}">
                        <a16:creationId xmlns:a16="http://schemas.microsoft.com/office/drawing/2014/main" id="{77DFFB19-E65C-108F-67BC-D7EDC2E646C5}"/>
                      </a:ext>
                    </a:extLst>
                  </p:cNvPr>
                  <p:cNvSpPr/>
                  <p:nvPr/>
                </p:nvSpPr>
                <p:spPr>
                  <a:xfrm>
                    <a:off x="-4303699" y="4903724"/>
                    <a:ext cx="12700" cy="44450"/>
                  </a:xfrm>
                  <a:custGeom>
                    <a:avLst/>
                    <a:gdLst>
                      <a:gd name="connsiteX0" fmla="*/ 351 w 12700"/>
                      <a:gd name="connsiteY0" fmla="*/ 260 h 44450"/>
                      <a:gd name="connsiteX1" fmla="*/ 351 w 12700"/>
                      <a:gd name="connsiteY1" fmla="*/ 44710 h 44450"/>
                    </a:gdLst>
                    <a:ahLst/>
                    <a:cxnLst>
                      <a:cxn ang="0">
                        <a:pos x="connsiteX0" y="connsiteY0"/>
                      </a:cxn>
                      <a:cxn ang="0">
                        <a:pos x="connsiteX1" y="connsiteY1"/>
                      </a:cxn>
                    </a:cxnLst>
                    <a:rect l="l" t="t" r="r" b="b"/>
                    <a:pathLst>
                      <a:path w="12700" h="44450">
                        <a:moveTo>
                          <a:pt x="351" y="260"/>
                        </a:moveTo>
                        <a:lnTo>
                          <a:pt x="351" y="44710"/>
                        </a:lnTo>
                      </a:path>
                    </a:pathLst>
                  </a:custGeom>
                  <a:solidFill>
                    <a:srgbClr val="000000"/>
                  </a:solidFill>
                  <a:ln w="10160" cap="flat">
                    <a:solidFill>
                      <a:srgbClr val="000000"/>
                    </a:solidFill>
                    <a:prstDash val="solid"/>
                    <a:round/>
                  </a:ln>
                </p:spPr>
                <p:txBody>
                  <a:bodyPr rtlCol="0" anchor="ctr"/>
                  <a:lstStyle/>
                  <a:p>
                    <a:endParaRPr lang="en-US"/>
                  </a:p>
                </p:txBody>
              </p:sp>
              <p:grpSp>
                <p:nvGrpSpPr>
                  <p:cNvPr id="51" name="グラフィックス 6">
                    <a:extLst>
                      <a:ext uri="{FF2B5EF4-FFF2-40B4-BE49-F238E27FC236}">
                        <a16:creationId xmlns:a16="http://schemas.microsoft.com/office/drawing/2014/main" id="{C89F75D2-39EE-C312-E48A-5626C4878A71}"/>
                      </a:ext>
                    </a:extLst>
                  </p:cNvPr>
                  <p:cNvGrpSpPr/>
                  <p:nvPr/>
                </p:nvGrpSpPr>
                <p:grpSpPr>
                  <a:xfrm>
                    <a:off x="-4409480" y="4996527"/>
                    <a:ext cx="194225" cy="118010"/>
                    <a:chOff x="-4409480" y="4996527"/>
                    <a:chExt cx="194225" cy="118010"/>
                  </a:xfrm>
                  <a:solidFill>
                    <a:srgbClr val="000000"/>
                  </a:solidFill>
                </p:grpSpPr>
                <p:sp>
                  <p:nvSpPr>
                    <p:cNvPr id="52" name="フリーフォーム: 図形 51">
                      <a:extLst>
                        <a:ext uri="{FF2B5EF4-FFF2-40B4-BE49-F238E27FC236}">
                          <a16:creationId xmlns:a16="http://schemas.microsoft.com/office/drawing/2014/main" id="{49B1BE5B-550C-477F-9904-8528EAE266CA}"/>
                        </a:ext>
                      </a:extLst>
                    </p:cNvPr>
                    <p:cNvSpPr/>
                    <p:nvPr/>
                  </p:nvSpPr>
                  <p:spPr>
                    <a:xfrm flipV="1">
                      <a:off x="-4409480" y="4996527"/>
                      <a:ext cx="31551" cy="118010"/>
                    </a:xfrm>
                    <a:custGeom>
                      <a:avLst/>
                      <a:gdLst>
                        <a:gd name="connsiteX0" fmla="*/ 18910 w 31551"/>
                        <a:gd name="connsiteY0" fmla="*/ 116590 h 118010"/>
                        <a:gd name="connsiteX1" fmla="*/ 31432 w 31551"/>
                        <a:gd name="connsiteY1" fmla="*/ 116590 h 118010"/>
                        <a:gd name="connsiteX2" fmla="*/ 31432 w 31551"/>
                        <a:gd name="connsiteY2" fmla="*/ 30449 h 118010"/>
                        <a:gd name="connsiteX3" fmla="*/ 25082 w 31551"/>
                        <a:gd name="connsiteY3" fmla="*/ 6140 h 118010"/>
                        <a:gd name="connsiteX4" fmla="*/ 4643 w 31551"/>
                        <a:gd name="connsiteY4" fmla="*/ -1420 h 118010"/>
                        <a:gd name="connsiteX5" fmla="*/ -120 w 31551"/>
                        <a:gd name="connsiteY5" fmla="*/ -1420 h 118010"/>
                        <a:gd name="connsiteX6" fmla="*/ -120 w 31551"/>
                        <a:gd name="connsiteY6" fmla="*/ 9117 h 118010"/>
                        <a:gd name="connsiteX7" fmla="*/ 3789 w 31551"/>
                        <a:gd name="connsiteY7" fmla="*/ 9117 h 118010"/>
                        <a:gd name="connsiteX8" fmla="*/ 15497 w 31551"/>
                        <a:gd name="connsiteY8" fmla="*/ 13780 h 118010"/>
                        <a:gd name="connsiteX9" fmla="*/ 18910 w 31551"/>
                        <a:gd name="connsiteY9" fmla="*/ 30449 h 118010"/>
                        <a:gd name="connsiteX10" fmla="*/ 18910 w 31551"/>
                        <a:gd name="connsiteY10" fmla="*/ 116590 h 118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1551" h="118010">
                          <a:moveTo>
                            <a:pt x="18910" y="116590"/>
                          </a:moveTo>
                          <a:lnTo>
                            <a:pt x="31432" y="116590"/>
                          </a:lnTo>
                          <a:lnTo>
                            <a:pt x="31432" y="30449"/>
                          </a:lnTo>
                          <a:cubicBezTo>
                            <a:pt x="31432" y="19283"/>
                            <a:pt x="29315" y="11180"/>
                            <a:pt x="25082" y="6140"/>
                          </a:cubicBezTo>
                          <a:cubicBezTo>
                            <a:pt x="20848" y="1100"/>
                            <a:pt x="14035" y="-1420"/>
                            <a:pt x="4643" y="-1420"/>
                          </a:cubicBezTo>
                          <a:lnTo>
                            <a:pt x="-120" y="-1420"/>
                          </a:lnTo>
                          <a:lnTo>
                            <a:pt x="-120" y="9117"/>
                          </a:lnTo>
                          <a:lnTo>
                            <a:pt x="3789" y="9117"/>
                          </a:lnTo>
                          <a:cubicBezTo>
                            <a:pt x="9319" y="9117"/>
                            <a:pt x="13222" y="10671"/>
                            <a:pt x="15497" y="13780"/>
                          </a:cubicBezTo>
                          <a:cubicBezTo>
                            <a:pt x="17772" y="16876"/>
                            <a:pt x="18910" y="22432"/>
                            <a:pt x="18910" y="30449"/>
                          </a:cubicBezTo>
                          <a:lnTo>
                            <a:pt x="18910" y="116590"/>
                          </a:lnTo>
                          <a:close/>
                        </a:path>
                      </a:pathLst>
                    </a:custGeom>
                    <a:solidFill>
                      <a:srgbClr val="000000"/>
                    </a:solidFill>
                    <a:ln w="20" cap="flat">
                      <a:noFill/>
                      <a:prstDash val="solid"/>
                      <a:round/>
                    </a:ln>
                  </p:spPr>
                  <p:txBody>
                    <a:bodyPr rtlCol="0" anchor="ctr"/>
                    <a:lstStyle/>
                    <a:p>
                      <a:endParaRPr lang="en-US"/>
                    </a:p>
                  </p:txBody>
                </p:sp>
                <p:sp>
                  <p:nvSpPr>
                    <p:cNvPr id="53" name="フリーフォーム: 図形 52">
                      <a:extLst>
                        <a:ext uri="{FF2B5EF4-FFF2-40B4-BE49-F238E27FC236}">
                          <a16:creationId xmlns:a16="http://schemas.microsoft.com/office/drawing/2014/main" id="{7EACD161-142C-27C1-0642-3E93301B6985}"/>
                        </a:ext>
                      </a:extLst>
                    </p:cNvPr>
                    <p:cNvSpPr/>
                    <p:nvPr/>
                  </p:nvSpPr>
                  <p:spPr>
                    <a:xfrm flipV="1">
                      <a:off x="-4354662" y="5017998"/>
                      <a:ext cx="58162" cy="72925"/>
                    </a:xfrm>
                    <a:custGeom>
                      <a:avLst/>
                      <a:gdLst>
                        <a:gd name="connsiteX0" fmla="*/ -1660 w 58162"/>
                        <a:gd name="connsiteY0" fmla="*/ 27735 h 72925"/>
                        <a:gd name="connsiteX1" fmla="*/ -1660 w 58162"/>
                        <a:gd name="connsiteY1" fmla="*/ 69784 h 72925"/>
                        <a:gd name="connsiteX2" fmla="*/ 9750 w 58162"/>
                        <a:gd name="connsiteY2" fmla="*/ 69784 h 72925"/>
                        <a:gd name="connsiteX3" fmla="*/ 9750 w 58162"/>
                        <a:gd name="connsiteY3" fmla="*/ 28172 h 72925"/>
                        <a:gd name="connsiteX4" fmla="*/ 13580 w 58162"/>
                        <a:gd name="connsiteY4" fmla="*/ 13369 h 72925"/>
                        <a:gd name="connsiteX5" fmla="*/ 25129 w 58162"/>
                        <a:gd name="connsiteY5" fmla="*/ 8447 h 72925"/>
                        <a:gd name="connsiteX6" fmla="*/ 39714 w 58162"/>
                        <a:gd name="connsiteY6" fmla="*/ 14341 h 72925"/>
                        <a:gd name="connsiteX7" fmla="*/ 45092 w 58162"/>
                        <a:gd name="connsiteY7" fmla="*/ 30414 h 72925"/>
                        <a:gd name="connsiteX8" fmla="*/ 45092 w 58162"/>
                        <a:gd name="connsiteY8" fmla="*/ 69784 h 72925"/>
                        <a:gd name="connsiteX9" fmla="*/ 56502 w 58162"/>
                        <a:gd name="connsiteY9" fmla="*/ 69784 h 72925"/>
                        <a:gd name="connsiteX10" fmla="*/ 56502 w 58162"/>
                        <a:gd name="connsiteY10" fmla="*/ 331 h 72925"/>
                        <a:gd name="connsiteX11" fmla="*/ 45092 w 58162"/>
                        <a:gd name="connsiteY11" fmla="*/ 331 h 72925"/>
                        <a:gd name="connsiteX12" fmla="*/ 45092 w 58162"/>
                        <a:gd name="connsiteY12" fmla="*/ 11007 h 72925"/>
                        <a:gd name="connsiteX13" fmla="*/ 35448 w 58162"/>
                        <a:gd name="connsiteY13" fmla="*/ 1601 h 72925"/>
                        <a:gd name="connsiteX14" fmla="*/ 22708 w 58162"/>
                        <a:gd name="connsiteY14" fmla="*/ -1475 h 72925"/>
                        <a:gd name="connsiteX15" fmla="*/ 4531 w 58162"/>
                        <a:gd name="connsiteY15" fmla="*/ 5967 h 72925"/>
                        <a:gd name="connsiteX16" fmla="*/ -1660 w 58162"/>
                        <a:gd name="connsiteY16" fmla="*/ 27735 h 72925"/>
                        <a:gd name="connsiteX17" fmla="*/ 27054 w 58162"/>
                        <a:gd name="connsiteY17" fmla="*/ 71451 h 72925"/>
                        <a:gd name="connsiteX18" fmla="*/ 27054 w 58162"/>
                        <a:gd name="connsiteY18" fmla="*/ 71451 h 7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8162" h="72925">
                          <a:moveTo>
                            <a:pt x="-1660" y="27735"/>
                          </a:moveTo>
                          <a:lnTo>
                            <a:pt x="-1660" y="69784"/>
                          </a:lnTo>
                          <a:lnTo>
                            <a:pt x="9750" y="69784"/>
                          </a:lnTo>
                          <a:lnTo>
                            <a:pt x="9750" y="28172"/>
                          </a:lnTo>
                          <a:cubicBezTo>
                            <a:pt x="9750" y="21597"/>
                            <a:pt x="11027" y="16663"/>
                            <a:pt x="13580" y="13369"/>
                          </a:cubicBezTo>
                          <a:cubicBezTo>
                            <a:pt x="16146" y="10088"/>
                            <a:pt x="19996" y="8447"/>
                            <a:pt x="25129" y="8447"/>
                          </a:cubicBezTo>
                          <a:cubicBezTo>
                            <a:pt x="31281" y="8447"/>
                            <a:pt x="36142" y="10412"/>
                            <a:pt x="39714" y="14341"/>
                          </a:cubicBezTo>
                          <a:cubicBezTo>
                            <a:pt x="43299" y="18270"/>
                            <a:pt x="45092" y="23628"/>
                            <a:pt x="45092" y="30414"/>
                          </a:cubicBezTo>
                          <a:lnTo>
                            <a:pt x="45092" y="69784"/>
                          </a:lnTo>
                          <a:lnTo>
                            <a:pt x="56502" y="69784"/>
                          </a:lnTo>
                          <a:lnTo>
                            <a:pt x="56502" y="331"/>
                          </a:lnTo>
                          <a:lnTo>
                            <a:pt x="45092" y="331"/>
                          </a:lnTo>
                          <a:lnTo>
                            <a:pt x="45092" y="11007"/>
                          </a:lnTo>
                          <a:cubicBezTo>
                            <a:pt x="42327" y="6787"/>
                            <a:pt x="39112" y="3652"/>
                            <a:pt x="35448" y="1601"/>
                          </a:cubicBezTo>
                          <a:cubicBezTo>
                            <a:pt x="31796" y="-449"/>
                            <a:pt x="27550" y="-1475"/>
                            <a:pt x="22708" y="-1475"/>
                          </a:cubicBezTo>
                          <a:cubicBezTo>
                            <a:pt x="14731" y="-1475"/>
                            <a:pt x="8672" y="1006"/>
                            <a:pt x="4531" y="5967"/>
                          </a:cubicBezTo>
                          <a:cubicBezTo>
                            <a:pt x="404" y="10928"/>
                            <a:pt x="-1660" y="18184"/>
                            <a:pt x="-1660" y="27735"/>
                          </a:cubicBezTo>
                          <a:close/>
                          <a:moveTo>
                            <a:pt x="27054" y="71451"/>
                          </a:moveTo>
                          <a:lnTo>
                            <a:pt x="27054" y="71451"/>
                          </a:lnTo>
                          <a:close/>
                        </a:path>
                      </a:pathLst>
                    </a:custGeom>
                    <a:solidFill>
                      <a:srgbClr val="000000"/>
                    </a:solidFill>
                    <a:ln w="20" cap="flat">
                      <a:noFill/>
                      <a:prstDash val="solid"/>
                      <a:round/>
                    </a:ln>
                  </p:spPr>
                  <p:txBody>
                    <a:bodyPr rtlCol="0" anchor="ctr"/>
                    <a:lstStyle/>
                    <a:p>
                      <a:endParaRPr lang="en-US"/>
                    </a:p>
                  </p:txBody>
                </p:sp>
                <p:sp>
                  <p:nvSpPr>
                    <p:cNvPr id="54" name="フリーフォーム: 図形 53">
                      <a:extLst>
                        <a:ext uri="{FF2B5EF4-FFF2-40B4-BE49-F238E27FC236}">
                          <a16:creationId xmlns:a16="http://schemas.microsoft.com/office/drawing/2014/main" id="{77BB7DA5-F17C-E4B0-7274-003CD552A7F5}"/>
                        </a:ext>
                      </a:extLst>
                    </p:cNvPr>
                    <p:cNvSpPr/>
                    <p:nvPr/>
                  </p:nvSpPr>
                  <p:spPr>
                    <a:xfrm flipV="1">
                      <a:off x="-4273436" y="5017998"/>
                      <a:ext cx="58181" cy="71119"/>
                    </a:xfrm>
                    <a:custGeom>
                      <a:avLst/>
                      <a:gdLst>
                        <a:gd name="connsiteX0" fmla="*/ 56491 w 58181"/>
                        <a:gd name="connsiteY0" fmla="*/ 40410 h 71119"/>
                        <a:gd name="connsiteX1" fmla="*/ 56491 w 58181"/>
                        <a:gd name="connsiteY1" fmla="*/ -1520 h 71119"/>
                        <a:gd name="connsiteX2" fmla="*/ 45081 w 58181"/>
                        <a:gd name="connsiteY2" fmla="*/ -1520 h 71119"/>
                        <a:gd name="connsiteX3" fmla="*/ 45081 w 58181"/>
                        <a:gd name="connsiteY3" fmla="*/ 40033 h 71119"/>
                        <a:gd name="connsiteX4" fmla="*/ 41231 w 58181"/>
                        <a:gd name="connsiteY4" fmla="*/ 54777 h 71119"/>
                        <a:gd name="connsiteX5" fmla="*/ 29702 w 58181"/>
                        <a:gd name="connsiteY5" fmla="*/ 59678 h 71119"/>
                        <a:gd name="connsiteX6" fmla="*/ 15116 w 58181"/>
                        <a:gd name="connsiteY6" fmla="*/ 53784 h 71119"/>
                        <a:gd name="connsiteX7" fmla="*/ 9778 w 58181"/>
                        <a:gd name="connsiteY7" fmla="*/ 37731 h 71119"/>
                        <a:gd name="connsiteX8" fmla="*/ 9778 w 58181"/>
                        <a:gd name="connsiteY8" fmla="*/ -1520 h 71119"/>
                        <a:gd name="connsiteX9" fmla="*/ -1691 w 58181"/>
                        <a:gd name="connsiteY9" fmla="*/ -1520 h 71119"/>
                        <a:gd name="connsiteX10" fmla="*/ -1691 w 58181"/>
                        <a:gd name="connsiteY10" fmla="*/ 67933 h 71119"/>
                        <a:gd name="connsiteX11" fmla="*/ 9778 w 58181"/>
                        <a:gd name="connsiteY11" fmla="*/ 67933 h 71119"/>
                        <a:gd name="connsiteX12" fmla="*/ 9778 w 58181"/>
                        <a:gd name="connsiteY12" fmla="*/ 57138 h 71119"/>
                        <a:gd name="connsiteX13" fmla="*/ 19423 w 58181"/>
                        <a:gd name="connsiteY13" fmla="*/ 66504 h 71119"/>
                        <a:gd name="connsiteX14" fmla="*/ 32242 w 58181"/>
                        <a:gd name="connsiteY14" fmla="*/ 69600 h 71119"/>
                        <a:gd name="connsiteX15" fmla="*/ 50339 w 58181"/>
                        <a:gd name="connsiteY15" fmla="*/ 62198 h 71119"/>
                        <a:gd name="connsiteX16" fmla="*/ 56491 w 58181"/>
                        <a:gd name="connsiteY16" fmla="*/ 40410 h 711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58181" h="71119">
                          <a:moveTo>
                            <a:pt x="56491" y="40410"/>
                          </a:moveTo>
                          <a:lnTo>
                            <a:pt x="56491" y="-1520"/>
                          </a:lnTo>
                          <a:lnTo>
                            <a:pt x="45081" y="-1520"/>
                          </a:lnTo>
                          <a:lnTo>
                            <a:pt x="45081" y="40033"/>
                          </a:lnTo>
                          <a:cubicBezTo>
                            <a:pt x="45081" y="46608"/>
                            <a:pt x="43797" y="51522"/>
                            <a:pt x="41231" y="54777"/>
                          </a:cubicBezTo>
                          <a:cubicBezTo>
                            <a:pt x="38664" y="58044"/>
                            <a:pt x="34821" y="59678"/>
                            <a:pt x="29702" y="59678"/>
                          </a:cubicBezTo>
                          <a:cubicBezTo>
                            <a:pt x="23537" y="59678"/>
                            <a:pt x="18675" y="57714"/>
                            <a:pt x="15116" y="53784"/>
                          </a:cubicBezTo>
                          <a:cubicBezTo>
                            <a:pt x="11558" y="49869"/>
                            <a:pt x="9778" y="44517"/>
                            <a:pt x="9778" y="37731"/>
                          </a:cubicBezTo>
                          <a:lnTo>
                            <a:pt x="9778" y="-1520"/>
                          </a:lnTo>
                          <a:lnTo>
                            <a:pt x="-1691" y="-1520"/>
                          </a:lnTo>
                          <a:lnTo>
                            <a:pt x="-1691" y="67933"/>
                          </a:lnTo>
                          <a:lnTo>
                            <a:pt x="9778" y="67933"/>
                          </a:lnTo>
                          <a:lnTo>
                            <a:pt x="9778" y="57138"/>
                          </a:lnTo>
                          <a:cubicBezTo>
                            <a:pt x="12517" y="61319"/>
                            <a:pt x="15732" y="64441"/>
                            <a:pt x="19423" y="66504"/>
                          </a:cubicBezTo>
                          <a:cubicBezTo>
                            <a:pt x="23127" y="68568"/>
                            <a:pt x="27400" y="69600"/>
                            <a:pt x="32242" y="69600"/>
                          </a:cubicBezTo>
                          <a:cubicBezTo>
                            <a:pt x="40219" y="69600"/>
                            <a:pt x="46251" y="67133"/>
                            <a:pt x="50339" y="62198"/>
                          </a:cubicBezTo>
                          <a:cubicBezTo>
                            <a:pt x="54440" y="57264"/>
                            <a:pt x="56491" y="50001"/>
                            <a:pt x="56491" y="40410"/>
                          </a:cubicBezTo>
                          <a:close/>
                        </a:path>
                      </a:pathLst>
                    </a:custGeom>
                    <a:solidFill>
                      <a:srgbClr val="000000"/>
                    </a:solidFill>
                    <a:ln w="20" cap="flat">
                      <a:noFill/>
                      <a:prstDash val="solid"/>
                      <a:round/>
                    </a:ln>
                  </p:spPr>
                  <p:txBody>
                    <a:bodyPr rtlCol="0" anchor="ctr"/>
                    <a:lstStyle/>
                    <a:p>
                      <a:endParaRPr lang="en-US"/>
                    </a:p>
                  </p:txBody>
                </p:sp>
              </p:grpSp>
            </p:grpSp>
            <p:grpSp>
              <p:nvGrpSpPr>
                <p:cNvPr id="55" name="グラフィックス 6">
                  <a:extLst>
                    <a:ext uri="{FF2B5EF4-FFF2-40B4-BE49-F238E27FC236}">
                      <a16:creationId xmlns:a16="http://schemas.microsoft.com/office/drawing/2014/main" id="{EF7D940B-A35B-7567-FB58-F305557C57D1}"/>
                    </a:ext>
                  </a:extLst>
                </p:cNvPr>
                <p:cNvGrpSpPr/>
                <p:nvPr/>
              </p:nvGrpSpPr>
              <p:grpSpPr>
                <a:xfrm>
                  <a:off x="-3692603" y="1941575"/>
                  <a:ext cx="147890" cy="3172962"/>
                  <a:chOff x="-3692603" y="1941575"/>
                  <a:chExt cx="147890" cy="3172962"/>
                </a:xfrm>
              </p:grpSpPr>
              <p:sp>
                <p:nvSpPr>
                  <p:cNvPr id="56" name="フリーフォーム: 図形 55">
                    <a:extLst>
                      <a:ext uri="{FF2B5EF4-FFF2-40B4-BE49-F238E27FC236}">
                        <a16:creationId xmlns:a16="http://schemas.microsoft.com/office/drawing/2014/main" id="{4FF8D06D-1407-49B2-8491-03AC634BCCD0}"/>
                      </a:ext>
                    </a:extLst>
                  </p:cNvPr>
                  <p:cNvSpPr/>
                  <p:nvPr/>
                </p:nvSpPr>
                <p:spPr>
                  <a:xfrm>
                    <a:off x="-3609416" y="1941575"/>
                    <a:ext cx="12700" cy="2962147"/>
                  </a:xfrm>
                  <a:custGeom>
                    <a:avLst/>
                    <a:gdLst>
                      <a:gd name="connsiteX0" fmla="*/ 0 w 12700"/>
                      <a:gd name="connsiteY0" fmla="*/ 2962148 h 2962147"/>
                      <a:gd name="connsiteX1" fmla="*/ 0 w 12700"/>
                      <a:gd name="connsiteY1" fmla="*/ 0 h 2962147"/>
                    </a:gdLst>
                    <a:ahLst/>
                    <a:cxnLst>
                      <a:cxn ang="0">
                        <a:pos x="connsiteX0" y="connsiteY0"/>
                      </a:cxn>
                      <a:cxn ang="0">
                        <a:pos x="connsiteX1" y="connsiteY1"/>
                      </a:cxn>
                    </a:cxnLst>
                    <a:rect l="l" t="t" r="r" b="b"/>
                    <a:pathLst>
                      <a:path w="12700" h="2962147">
                        <a:moveTo>
                          <a:pt x="0" y="2962148"/>
                        </a:moveTo>
                        <a:lnTo>
                          <a:pt x="0" y="0"/>
                        </a:lnTo>
                      </a:path>
                    </a:pathLst>
                  </a:custGeom>
                  <a:noFill/>
                  <a:ln w="10160" cap="sq">
                    <a:solidFill>
                      <a:srgbClr val="B0B0B0"/>
                    </a:solidFill>
                    <a:prstDash val="solid"/>
                    <a:round/>
                  </a:ln>
                </p:spPr>
                <p:txBody>
                  <a:bodyPr rtlCol="0" anchor="ctr"/>
                  <a:lstStyle/>
                  <a:p>
                    <a:endParaRPr lang="en-US"/>
                  </a:p>
                </p:txBody>
              </p:sp>
              <p:sp>
                <p:nvSpPr>
                  <p:cNvPr id="57" name="フリーフォーム: 図形 56">
                    <a:extLst>
                      <a:ext uri="{FF2B5EF4-FFF2-40B4-BE49-F238E27FC236}">
                        <a16:creationId xmlns:a16="http://schemas.microsoft.com/office/drawing/2014/main" id="{24DC0E4D-EB0F-28E3-458C-77EADEBF13AF}"/>
                      </a:ext>
                    </a:extLst>
                  </p:cNvPr>
                  <p:cNvSpPr/>
                  <p:nvPr/>
                </p:nvSpPr>
                <p:spPr>
                  <a:xfrm>
                    <a:off x="-3609416" y="4903724"/>
                    <a:ext cx="12700" cy="44450"/>
                  </a:xfrm>
                  <a:custGeom>
                    <a:avLst/>
                    <a:gdLst>
                      <a:gd name="connsiteX0" fmla="*/ 406 w 12700"/>
                      <a:gd name="connsiteY0" fmla="*/ 260 h 44450"/>
                      <a:gd name="connsiteX1" fmla="*/ 406 w 12700"/>
                      <a:gd name="connsiteY1" fmla="*/ 44710 h 44450"/>
                    </a:gdLst>
                    <a:ahLst/>
                    <a:cxnLst>
                      <a:cxn ang="0">
                        <a:pos x="connsiteX0" y="connsiteY0"/>
                      </a:cxn>
                      <a:cxn ang="0">
                        <a:pos x="connsiteX1" y="connsiteY1"/>
                      </a:cxn>
                    </a:cxnLst>
                    <a:rect l="l" t="t" r="r" b="b"/>
                    <a:pathLst>
                      <a:path w="12700" h="44450">
                        <a:moveTo>
                          <a:pt x="406" y="260"/>
                        </a:moveTo>
                        <a:lnTo>
                          <a:pt x="406" y="44710"/>
                        </a:lnTo>
                      </a:path>
                    </a:pathLst>
                  </a:custGeom>
                  <a:solidFill>
                    <a:srgbClr val="000000"/>
                  </a:solidFill>
                  <a:ln w="10160" cap="flat">
                    <a:solidFill>
                      <a:srgbClr val="000000"/>
                    </a:solidFill>
                    <a:prstDash val="solid"/>
                    <a:round/>
                  </a:ln>
                </p:spPr>
                <p:txBody>
                  <a:bodyPr rtlCol="0" anchor="ctr"/>
                  <a:lstStyle/>
                  <a:p>
                    <a:endParaRPr lang="en-US"/>
                  </a:p>
                </p:txBody>
              </p:sp>
              <p:grpSp>
                <p:nvGrpSpPr>
                  <p:cNvPr id="58" name="グラフィックス 6">
                    <a:extLst>
                      <a:ext uri="{FF2B5EF4-FFF2-40B4-BE49-F238E27FC236}">
                        <a16:creationId xmlns:a16="http://schemas.microsoft.com/office/drawing/2014/main" id="{09FE5B94-C577-7FA7-1731-938FE02670E8}"/>
                      </a:ext>
                    </a:extLst>
                  </p:cNvPr>
                  <p:cNvGrpSpPr/>
                  <p:nvPr/>
                </p:nvGrpSpPr>
                <p:grpSpPr>
                  <a:xfrm>
                    <a:off x="-3692603" y="4992618"/>
                    <a:ext cx="147890" cy="121919"/>
                    <a:chOff x="-3692603" y="4992618"/>
                    <a:chExt cx="147890" cy="121919"/>
                  </a:xfrm>
                  <a:solidFill>
                    <a:srgbClr val="000000"/>
                  </a:solidFill>
                </p:grpSpPr>
                <p:sp>
                  <p:nvSpPr>
                    <p:cNvPr id="59" name="フリーフォーム: 図形 58">
                      <a:extLst>
                        <a:ext uri="{FF2B5EF4-FFF2-40B4-BE49-F238E27FC236}">
                          <a16:creationId xmlns:a16="http://schemas.microsoft.com/office/drawing/2014/main" id="{2B24B6CB-D006-0739-56A9-50064A8F577B}"/>
                        </a:ext>
                      </a:extLst>
                    </p:cNvPr>
                    <p:cNvSpPr/>
                    <p:nvPr/>
                  </p:nvSpPr>
                  <p:spPr>
                    <a:xfrm flipV="1">
                      <a:off x="-3692603" y="4996527"/>
                      <a:ext cx="31551" cy="118010"/>
                    </a:xfrm>
                    <a:custGeom>
                      <a:avLst/>
                      <a:gdLst>
                        <a:gd name="connsiteX0" fmla="*/ 18967 w 31551"/>
                        <a:gd name="connsiteY0" fmla="*/ 116590 h 118010"/>
                        <a:gd name="connsiteX1" fmla="*/ 31488 w 31551"/>
                        <a:gd name="connsiteY1" fmla="*/ 116590 h 118010"/>
                        <a:gd name="connsiteX2" fmla="*/ 31488 w 31551"/>
                        <a:gd name="connsiteY2" fmla="*/ 30449 h 118010"/>
                        <a:gd name="connsiteX3" fmla="*/ 25138 w 31551"/>
                        <a:gd name="connsiteY3" fmla="*/ 6140 h 118010"/>
                        <a:gd name="connsiteX4" fmla="*/ 4699 w 31551"/>
                        <a:gd name="connsiteY4" fmla="*/ -1420 h 118010"/>
                        <a:gd name="connsiteX5" fmla="*/ -64 w 31551"/>
                        <a:gd name="connsiteY5" fmla="*/ -1420 h 118010"/>
                        <a:gd name="connsiteX6" fmla="*/ -64 w 31551"/>
                        <a:gd name="connsiteY6" fmla="*/ 9117 h 118010"/>
                        <a:gd name="connsiteX7" fmla="*/ 3846 w 31551"/>
                        <a:gd name="connsiteY7" fmla="*/ 9117 h 118010"/>
                        <a:gd name="connsiteX8" fmla="*/ 15554 w 31551"/>
                        <a:gd name="connsiteY8" fmla="*/ 13780 h 118010"/>
                        <a:gd name="connsiteX9" fmla="*/ 18967 w 31551"/>
                        <a:gd name="connsiteY9" fmla="*/ 30449 h 118010"/>
                        <a:gd name="connsiteX10" fmla="*/ 18967 w 31551"/>
                        <a:gd name="connsiteY10" fmla="*/ 116590 h 118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1551" h="118010">
                          <a:moveTo>
                            <a:pt x="18967" y="116590"/>
                          </a:moveTo>
                          <a:lnTo>
                            <a:pt x="31488" y="116590"/>
                          </a:lnTo>
                          <a:lnTo>
                            <a:pt x="31488" y="30449"/>
                          </a:lnTo>
                          <a:cubicBezTo>
                            <a:pt x="31488" y="19283"/>
                            <a:pt x="29371" y="11180"/>
                            <a:pt x="25138" y="6140"/>
                          </a:cubicBezTo>
                          <a:cubicBezTo>
                            <a:pt x="20905" y="1100"/>
                            <a:pt x="14092" y="-1420"/>
                            <a:pt x="4699" y="-1420"/>
                          </a:cubicBezTo>
                          <a:lnTo>
                            <a:pt x="-64" y="-1420"/>
                          </a:lnTo>
                          <a:lnTo>
                            <a:pt x="-64" y="9117"/>
                          </a:lnTo>
                          <a:lnTo>
                            <a:pt x="3846" y="9117"/>
                          </a:lnTo>
                          <a:cubicBezTo>
                            <a:pt x="9376" y="9117"/>
                            <a:pt x="13278" y="10671"/>
                            <a:pt x="15554" y="13780"/>
                          </a:cubicBezTo>
                          <a:cubicBezTo>
                            <a:pt x="17829" y="16876"/>
                            <a:pt x="18967" y="22432"/>
                            <a:pt x="18967" y="30449"/>
                          </a:cubicBezTo>
                          <a:lnTo>
                            <a:pt x="18967" y="116590"/>
                          </a:lnTo>
                          <a:close/>
                        </a:path>
                      </a:pathLst>
                    </a:custGeom>
                    <a:solidFill>
                      <a:srgbClr val="000000"/>
                    </a:solidFill>
                    <a:ln w="20" cap="flat">
                      <a:noFill/>
                      <a:prstDash val="solid"/>
                      <a:round/>
                    </a:ln>
                  </p:spPr>
                  <p:txBody>
                    <a:bodyPr rtlCol="0" anchor="ctr"/>
                    <a:lstStyle/>
                    <a:p>
                      <a:endParaRPr lang="en-US"/>
                    </a:p>
                  </p:txBody>
                </p:sp>
                <p:sp>
                  <p:nvSpPr>
                    <p:cNvPr id="60" name="フリーフォーム: 図形 59">
                      <a:extLst>
                        <a:ext uri="{FF2B5EF4-FFF2-40B4-BE49-F238E27FC236}">
                          <a16:creationId xmlns:a16="http://schemas.microsoft.com/office/drawing/2014/main" id="{ABA13A74-9F46-7070-9E16-1BCE87D69CCA}"/>
                        </a:ext>
                      </a:extLst>
                    </p:cNvPr>
                    <p:cNvSpPr/>
                    <p:nvPr/>
                  </p:nvSpPr>
                  <p:spPr>
                    <a:xfrm flipV="1">
                      <a:off x="-3637785" y="5017998"/>
                      <a:ext cx="58162" cy="72925"/>
                    </a:xfrm>
                    <a:custGeom>
                      <a:avLst/>
                      <a:gdLst>
                        <a:gd name="connsiteX0" fmla="*/ -1604 w 58162"/>
                        <a:gd name="connsiteY0" fmla="*/ 27735 h 72925"/>
                        <a:gd name="connsiteX1" fmla="*/ -1604 w 58162"/>
                        <a:gd name="connsiteY1" fmla="*/ 69784 h 72925"/>
                        <a:gd name="connsiteX2" fmla="*/ 9807 w 58162"/>
                        <a:gd name="connsiteY2" fmla="*/ 69784 h 72925"/>
                        <a:gd name="connsiteX3" fmla="*/ 9807 w 58162"/>
                        <a:gd name="connsiteY3" fmla="*/ 28172 h 72925"/>
                        <a:gd name="connsiteX4" fmla="*/ 13636 w 58162"/>
                        <a:gd name="connsiteY4" fmla="*/ 13369 h 72925"/>
                        <a:gd name="connsiteX5" fmla="*/ 25185 w 58162"/>
                        <a:gd name="connsiteY5" fmla="*/ 8447 h 72925"/>
                        <a:gd name="connsiteX6" fmla="*/ 39771 w 58162"/>
                        <a:gd name="connsiteY6" fmla="*/ 14341 h 72925"/>
                        <a:gd name="connsiteX7" fmla="*/ 45148 w 58162"/>
                        <a:gd name="connsiteY7" fmla="*/ 30414 h 72925"/>
                        <a:gd name="connsiteX8" fmla="*/ 45148 w 58162"/>
                        <a:gd name="connsiteY8" fmla="*/ 69784 h 72925"/>
                        <a:gd name="connsiteX9" fmla="*/ 56558 w 58162"/>
                        <a:gd name="connsiteY9" fmla="*/ 69784 h 72925"/>
                        <a:gd name="connsiteX10" fmla="*/ 56558 w 58162"/>
                        <a:gd name="connsiteY10" fmla="*/ 331 h 72925"/>
                        <a:gd name="connsiteX11" fmla="*/ 45148 w 58162"/>
                        <a:gd name="connsiteY11" fmla="*/ 331 h 72925"/>
                        <a:gd name="connsiteX12" fmla="*/ 45148 w 58162"/>
                        <a:gd name="connsiteY12" fmla="*/ 11007 h 72925"/>
                        <a:gd name="connsiteX13" fmla="*/ 35504 w 58162"/>
                        <a:gd name="connsiteY13" fmla="*/ 1601 h 72925"/>
                        <a:gd name="connsiteX14" fmla="*/ 22764 w 58162"/>
                        <a:gd name="connsiteY14" fmla="*/ -1475 h 72925"/>
                        <a:gd name="connsiteX15" fmla="*/ 4588 w 58162"/>
                        <a:gd name="connsiteY15" fmla="*/ 5967 h 72925"/>
                        <a:gd name="connsiteX16" fmla="*/ -1604 w 58162"/>
                        <a:gd name="connsiteY16" fmla="*/ 27735 h 72925"/>
                        <a:gd name="connsiteX17" fmla="*/ 27110 w 58162"/>
                        <a:gd name="connsiteY17" fmla="*/ 71451 h 72925"/>
                        <a:gd name="connsiteX18" fmla="*/ 27110 w 58162"/>
                        <a:gd name="connsiteY18" fmla="*/ 71451 h 7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8162" h="72925">
                          <a:moveTo>
                            <a:pt x="-1604" y="27735"/>
                          </a:moveTo>
                          <a:lnTo>
                            <a:pt x="-1604" y="69784"/>
                          </a:lnTo>
                          <a:lnTo>
                            <a:pt x="9807" y="69784"/>
                          </a:lnTo>
                          <a:lnTo>
                            <a:pt x="9807" y="28172"/>
                          </a:lnTo>
                          <a:cubicBezTo>
                            <a:pt x="9807" y="21597"/>
                            <a:pt x="11083" y="16663"/>
                            <a:pt x="13636" y="13369"/>
                          </a:cubicBezTo>
                          <a:cubicBezTo>
                            <a:pt x="16203" y="10088"/>
                            <a:pt x="20052" y="8447"/>
                            <a:pt x="25185" y="8447"/>
                          </a:cubicBezTo>
                          <a:cubicBezTo>
                            <a:pt x="31337" y="8447"/>
                            <a:pt x="36199" y="10412"/>
                            <a:pt x="39771" y="14341"/>
                          </a:cubicBezTo>
                          <a:cubicBezTo>
                            <a:pt x="43356" y="18270"/>
                            <a:pt x="45148" y="23628"/>
                            <a:pt x="45148" y="30414"/>
                          </a:cubicBezTo>
                          <a:lnTo>
                            <a:pt x="45148" y="69784"/>
                          </a:lnTo>
                          <a:lnTo>
                            <a:pt x="56558" y="69784"/>
                          </a:lnTo>
                          <a:lnTo>
                            <a:pt x="56558" y="331"/>
                          </a:lnTo>
                          <a:lnTo>
                            <a:pt x="45148" y="331"/>
                          </a:lnTo>
                          <a:lnTo>
                            <a:pt x="45148" y="11007"/>
                          </a:lnTo>
                          <a:cubicBezTo>
                            <a:pt x="42383" y="6787"/>
                            <a:pt x="39169" y="3652"/>
                            <a:pt x="35504" y="1601"/>
                          </a:cubicBezTo>
                          <a:cubicBezTo>
                            <a:pt x="31853" y="-449"/>
                            <a:pt x="27606" y="-1475"/>
                            <a:pt x="22764" y="-1475"/>
                          </a:cubicBezTo>
                          <a:cubicBezTo>
                            <a:pt x="14787" y="-1475"/>
                            <a:pt x="8728" y="1006"/>
                            <a:pt x="4588" y="5967"/>
                          </a:cubicBezTo>
                          <a:cubicBezTo>
                            <a:pt x="460" y="10928"/>
                            <a:pt x="-1604" y="18184"/>
                            <a:pt x="-1604" y="27735"/>
                          </a:cubicBezTo>
                          <a:close/>
                          <a:moveTo>
                            <a:pt x="27110" y="71451"/>
                          </a:moveTo>
                          <a:lnTo>
                            <a:pt x="27110" y="71451"/>
                          </a:lnTo>
                          <a:close/>
                        </a:path>
                      </a:pathLst>
                    </a:custGeom>
                    <a:solidFill>
                      <a:srgbClr val="000000"/>
                    </a:solidFill>
                    <a:ln w="20" cap="flat">
                      <a:noFill/>
                      <a:prstDash val="solid"/>
                      <a:round/>
                    </a:ln>
                  </p:spPr>
                  <p:txBody>
                    <a:bodyPr rtlCol="0" anchor="ctr"/>
                    <a:lstStyle/>
                    <a:p>
                      <a:endParaRPr lang="en-US"/>
                    </a:p>
                  </p:txBody>
                </p:sp>
                <p:sp>
                  <p:nvSpPr>
                    <p:cNvPr id="61" name="フリーフォーム: 図形 60">
                      <a:extLst>
                        <a:ext uri="{FF2B5EF4-FFF2-40B4-BE49-F238E27FC236}">
                          <a16:creationId xmlns:a16="http://schemas.microsoft.com/office/drawing/2014/main" id="{73D7E36C-271F-7140-E51F-68A05DBAEDD5}"/>
                        </a:ext>
                      </a:extLst>
                    </p:cNvPr>
                    <p:cNvSpPr/>
                    <p:nvPr/>
                  </p:nvSpPr>
                  <p:spPr>
                    <a:xfrm flipV="1">
                      <a:off x="-3556123" y="4992618"/>
                      <a:ext cx="11410" cy="96500"/>
                    </a:xfrm>
                    <a:custGeom>
                      <a:avLst/>
                      <a:gdLst>
                        <a:gd name="connsiteX0" fmla="*/ -480 w 11410"/>
                        <a:gd name="connsiteY0" fmla="*/ 94340 h 96500"/>
                        <a:gd name="connsiteX1" fmla="*/ 10930 w 11410"/>
                        <a:gd name="connsiteY1" fmla="*/ 94340 h 96500"/>
                        <a:gd name="connsiteX2" fmla="*/ 10930 w 11410"/>
                        <a:gd name="connsiteY2" fmla="*/ -2161 h 96500"/>
                        <a:gd name="connsiteX3" fmla="*/ -480 w 11410"/>
                        <a:gd name="connsiteY3" fmla="*/ -2161 h 96500"/>
                        <a:gd name="connsiteX4" fmla="*/ -480 w 11410"/>
                        <a:gd name="connsiteY4" fmla="*/ 94340 h 965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10" h="96500">
                          <a:moveTo>
                            <a:pt x="-480" y="94340"/>
                          </a:moveTo>
                          <a:lnTo>
                            <a:pt x="10930" y="94340"/>
                          </a:lnTo>
                          <a:lnTo>
                            <a:pt x="10930" y="-2161"/>
                          </a:lnTo>
                          <a:lnTo>
                            <a:pt x="-480" y="-2161"/>
                          </a:lnTo>
                          <a:lnTo>
                            <a:pt x="-480" y="94340"/>
                          </a:lnTo>
                          <a:close/>
                        </a:path>
                      </a:pathLst>
                    </a:custGeom>
                    <a:solidFill>
                      <a:srgbClr val="000000"/>
                    </a:solidFill>
                    <a:ln w="20" cap="flat">
                      <a:noFill/>
                      <a:prstDash val="solid"/>
                      <a:round/>
                    </a:ln>
                  </p:spPr>
                  <p:txBody>
                    <a:bodyPr rtlCol="0" anchor="ctr"/>
                    <a:lstStyle/>
                    <a:p>
                      <a:endParaRPr lang="en-US"/>
                    </a:p>
                  </p:txBody>
                </p:sp>
              </p:grpSp>
            </p:grpSp>
            <p:grpSp>
              <p:nvGrpSpPr>
                <p:cNvPr id="62" name="グラフィックス 6">
                  <a:extLst>
                    <a:ext uri="{FF2B5EF4-FFF2-40B4-BE49-F238E27FC236}">
                      <a16:creationId xmlns:a16="http://schemas.microsoft.com/office/drawing/2014/main" id="{DD435951-9012-120D-3D0F-F376709BD608}"/>
                    </a:ext>
                  </a:extLst>
                </p:cNvPr>
                <p:cNvGrpSpPr/>
                <p:nvPr/>
              </p:nvGrpSpPr>
              <p:grpSpPr>
                <a:xfrm>
                  <a:off x="-3038143" y="1941575"/>
                  <a:ext cx="235453" cy="3173954"/>
                  <a:chOff x="-3038143" y="1941575"/>
                  <a:chExt cx="235453" cy="3173954"/>
                </a:xfrm>
              </p:grpSpPr>
              <p:sp>
                <p:nvSpPr>
                  <p:cNvPr id="63" name="フリーフォーム: 図形 62">
                    <a:extLst>
                      <a:ext uri="{FF2B5EF4-FFF2-40B4-BE49-F238E27FC236}">
                        <a16:creationId xmlns:a16="http://schemas.microsoft.com/office/drawing/2014/main" id="{229ED1EA-DBC5-22BA-F48E-140CE854529C}"/>
                      </a:ext>
                    </a:extLst>
                  </p:cNvPr>
                  <p:cNvSpPr/>
                  <p:nvPr/>
                </p:nvSpPr>
                <p:spPr>
                  <a:xfrm>
                    <a:off x="-2915132" y="1941575"/>
                    <a:ext cx="12700" cy="2962147"/>
                  </a:xfrm>
                  <a:custGeom>
                    <a:avLst/>
                    <a:gdLst>
                      <a:gd name="connsiteX0" fmla="*/ 0 w 12700"/>
                      <a:gd name="connsiteY0" fmla="*/ 2962148 h 2962147"/>
                      <a:gd name="connsiteX1" fmla="*/ 0 w 12700"/>
                      <a:gd name="connsiteY1" fmla="*/ 0 h 2962147"/>
                    </a:gdLst>
                    <a:ahLst/>
                    <a:cxnLst>
                      <a:cxn ang="0">
                        <a:pos x="connsiteX0" y="connsiteY0"/>
                      </a:cxn>
                      <a:cxn ang="0">
                        <a:pos x="connsiteX1" y="connsiteY1"/>
                      </a:cxn>
                    </a:cxnLst>
                    <a:rect l="l" t="t" r="r" b="b"/>
                    <a:pathLst>
                      <a:path w="12700" h="2962147">
                        <a:moveTo>
                          <a:pt x="0" y="2962148"/>
                        </a:moveTo>
                        <a:lnTo>
                          <a:pt x="0" y="0"/>
                        </a:lnTo>
                      </a:path>
                    </a:pathLst>
                  </a:custGeom>
                  <a:noFill/>
                  <a:ln w="10160" cap="sq">
                    <a:solidFill>
                      <a:srgbClr val="B0B0B0"/>
                    </a:solidFill>
                    <a:prstDash val="solid"/>
                    <a:round/>
                  </a:ln>
                </p:spPr>
                <p:txBody>
                  <a:bodyPr rtlCol="0" anchor="ctr"/>
                  <a:lstStyle/>
                  <a:p>
                    <a:endParaRPr lang="en-US"/>
                  </a:p>
                </p:txBody>
              </p:sp>
              <p:sp>
                <p:nvSpPr>
                  <p:cNvPr id="64" name="フリーフォーム: 図形 63">
                    <a:extLst>
                      <a:ext uri="{FF2B5EF4-FFF2-40B4-BE49-F238E27FC236}">
                        <a16:creationId xmlns:a16="http://schemas.microsoft.com/office/drawing/2014/main" id="{34C3F500-7885-569F-679C-EBADFB609C11}"/>
                      </a:ext>
                    </a:extLst>
                  </p:cNvPr>
                  <p:cNvSpPr/>
                  <p:nvPr/>
                </p:nvSpPr>
                <p:spPr>
                  <a:xfrm>
                    <a:off x="-2915132" y="4903724"/>
                    <a:ext cx="12700" cy="44450"/>
                  </a:xfrm>
                  <a:custGeom>
                    <a:avLst/>
                    <a:gdLst>
                      <a:gd name="connsiteX0" fmla="*/ 460 w 12700"/>
                      <a:gd name="connsiteY0" fmla="*/ 260 h 44450"/>
                      <a:gd name="connsiteX1" fmla="*/ 460 w 12700"/>
                      <a:gd name="connsiteY1" fmla="*/ 44710 h 44450"/>
                    </a:gdLst>
                    <a:ahLst/>
                    <a:cxnLst>
                      <a:cxn ang="0">
                        <a:pos x="connsiteX0" y="connsiteY0"/>
                      </a:cxn>
                      <a:cxn ang="0">
                        <a:pos x="connsiteX1" y="connsiteY1"/>
                      </a:cxn>
                    </a:cxnLst>
                    <a:rect l="l" t="t" r="r" b="b"/>
                    <a:pathLst>
                      <a:path w="12700" h="44450">
                        <a:moveTo>
                          <a:pt x="460" y="260"/>
                        </a:moveTo>
                        <a:lnTo>
                          <a:pt x="460" y="44710"/>
                        </a:lnTo>
                      </a:path>
                    </a:pathLst>
                  </a:custGeom>
                  <a:solidFill>
                    <a:srgbClr val="000000"/>
                  </a:solidFill>
                  <a:ln w="10160" cap="flat">
                    <a:solidFill>
                      <a:srgbClr val="000000"/>
                    </a:solidFill>
                    <a:prstDash val="solid"/>
                    <a:round/>
                  </a:ln>
                </p:spPr>
                <p:txBody>
                  <a:bodyPr rtlCol="0" anchor="ctr"/>
                  <a:lstStyle/>
                  <a:p>
                    <a:endParaRPr lang="en-US"/>
                  </a:p>
                </p:txBody>
              </p:sp>
              <p:grpSp>
                <p:nvGrpSpPr>
                  <p:cNvPr id="65" name="グラフィックス 6">
                    <a:extLst>
                      <a:ext uri="{FF2B5EF4-FFF2-40B4-BE49-F238E27FC236}">
                        <a16:creationId xmlns:a16="http://schemas.microsoft.com/office/drawing/2014/main" id="{FCA8070A-CCAE-182B-C39C-1843EFB93F2A}"/>
                      </a:ext>
                    </a:extLst>
                  </p:cNvPr>
                  <p:cNvGrpSpPr/>
                  <p:nvPr/>
                </p:nvGrpSpPr>
                <p:grpSpPr>
                  <a:xfrm>
                    <a:off x="-3038143" y="4996527"/>
                    <a:ext cx="235453" cy="119002"/>
                    <a:chOff x="-3038143" y="4996527"/>
                    <a:chExt cx="235453" cy="119002"/>
                  </a:xfrm>
                  <a:solidFill>
                    <a:srgbClr val="000000"/>
                  </a:solidFill>
                </p:grpSpPr>
                <p:sp>
                  <p:nvSpPr>
                    <p:cNvPr id="66" name="フリーフォーム: 図形 65">
                      <a:extLst>
                        <a:ext uri="{FF2B5EF4-FFF2-40B4-BE49-F238E27FC236}">
                          <a16:creationId xmlns:a16="http://schemas.microsoft.com/office/drawing/2014/main" id="{A57AD054-E795-D7D6-4A44-3FA2ED9F5953}"/>
                        </a:ext>
                      </a:extLst>
                    </p:cNvPr>
                    <p:cNvSpPr/>
                    <p:nvPr/>
                  </p:nvSpPr>
                  <p:spPr>
                    <a:xfrm flipV="1">
                      <a:off x="-3038143" y="4996527"/>
                      <a:ext cx="84832" cy="92590"/>
                    </a:xfrm>
                    <a:custGeom>
                      <a:avLst/>
                      <a:gdLst>
                        <a:gd name="connsiteX0" fmla="*/ 40693 w 84832"/>
                        <a:gd name="connsiteY0" fmla="*/ 78186 h 92590"/>
                        <a:gd name="connsiteX1" fmla="*/ 23686 w 84832"/>
                        <a:gd name="connsiteY1" fmla="*/ 32109 h 92590"/>
                        <a:gd name="connsiteX2" fmla="*/ 57738 w 84832"/>
                        <a:gd name="connsiteY2" fmla="*/ 32109 h 92590"/>
                        <a:gd name="connsiteX3" fmla="*/ 40693 w 84832"/>
                        <a:gd name="connsiteY3" fmla="*/ 78186 h 92590"/>
                        <a:gd name="connsiteX4" fmla="*/ 33608 w 84832"/>
                        <a:gd name="connsiteY4" fmla="*/ 90529 h 92590"/>
                        <a:gd name="connsiteX5" fmla="*/ 47816 w 84832"/>
                        <a:gd name="connsiteY5" fmla="*/ 90529 h 92590"/>
                        <a:gd name="connsiteX6" fmla="*/ 83099 w 84832"/>
                        <a:gd name="connsiteY6" fmla="*/ -2062 h 92590"/>
                        <a:gd name="connsiteX7" fmla="*/ 70081 w 84832"/>
                        <a:gd name="connsiteY7" fmla="*/ -2062 h 92590"/>
                        <a:gd name="connsiteX8" fmla="*/ 61648 w 84832"/>
                        <a:gd name="connsiteY8" fmla="*/ 21691 h 92590"/>
                        <a:gd name="connsiteX9" fmla="*/ 19916 w 84832"/>
                        <a:gd name="connsiteY9" fmla="*/ 21691 h 92590"/>
                        <a:gd name="connsiteX10" fmla="*/ 11483 w 84832"/>
                        <a:gd name="connsiteY10" fmla="*/ -2062 h 92590"/>
                        <a:gd name="connsiteX11" fmla="*/ -1733 w 84832"/>
                        <a:gd name="connsiteY11" fmla="*/ -2062 h 92590"/>
                        <a:gd name="connsiteX12" fmla="*/ 33608 w 84832"/>
                        <a:gd name="connsiteY12" fmla="*/ 90529 h 92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4832" h="92590">
                          <a:moveTo>
                            <a:pt x="40693" y="78186"/>
                          </a:moveTo>
                          <a:lnTo>
                            <a:pt x="23686" y="32109"/>
                          </a:lnTo>
                          <a:lnTo>
                            <a:pt x="57738" y="32109"/>
                          </a:lnTo>
                          <a:lnTo>
                            <a:pt x="40693" y="78186"/>
                          </a:lnTo>
                          <a:close/>
                          <a:moveTo>
                            <a:pt x="33608" y="90529"/>
                          </a:moveTo>
                          <a:lnTo>
                            <a:pt x="47816" y="90529"/>
                          </a:lnTo>
                          <a:lnTo>
                            <a:pt x="83099" y="-2062"/>
                          </a:lnTo>
                          <a:lnTo>
                            <a:pt x="70081" y="-2062"/>
                          </a:lnTo>
                          <a:lnTo>
                            <a:pt x="61648" y="21691"/>
                          </a:lnTo>
                          <a:lnTo>
                            <a:pt x="19916" y="21691"/>
                          </a:lnTo>
                          <a:lnTo>
                            <a:pt x="11483" y="-2062"/>
                          </a:lnTo>
                          <a:lnTo>
                            <a:pt x="-1733" y="-2062"/>
                          </a:lnTo>
                          <a:lnTo>
                            <a:pt x="33608" y="90529"/>
                          </a:lnTo>
                          <a:close/>
                        </a:path>
                      </a:pathLst>
                    </a:custGeom>
                    <a:solidFill>
                      <a:srgbClr val="000000"/>
                    </a:solidFill>
                    <a:ln w="20" cap="flat">
                      <a:noFill/>
                      <a:prstDash val="solid"/>
                      <a:round/>
                    </a:ln>
                  </p:spPr>
                  <p:txBody>
                    <a:bodyPr rtlCol="0" anchor="ctr"/>
                    <a:lstStyle/>
                    <a:p>
                      <a:endParaRPr lang="en-US"/>
                    </a:p>
                  </p:txBody>
                </p:sp>
                <p:sp>
                  <p:nvSpPr>
                    <p:cNvPr id="67" name="フリーフォーム: 図形 66">
                      <a:extLst>
                        <a:ext uri="{FF2B5EF4-FFF2-40B4-BE49-F238E27FC236}">
                          <a16:creationId xmlns:a16="http://schemas.microsoft.com/office/drawing/2014/main" id="{A6D7B6AC-CD15-24A8-3227-1A18AC0B5FCE}"/>
                        </a:ext>
                      </a:extLst>
                    </p:cNvPr>
                    <p:cNvSpPr/>
                    <p:nvPr/>
                  </p:nvSpPr>
                  <p:spPr>
                    <a:xfrm flipV="1">
                      <a:off x="-2941461" y="5017998"/>
                      <a:ext cx="58162" cy="72925"/>
                    </a:xfrm>
                    <a:custGeom>
                      <a:avLst/>
                      <a:gdLst>
                        <a:gd name="connsiteX0" fmla="*/ -1549 w 58162"/>
                        <a:gd name="connsiteY0" fmla="*/ 27735 h 72925"/>
                        <a:gd name="connsiteX1" fmla="*/ -1549 w 58162"/>
                        <a:gd name="connsiteY1" fmla="*/ 69784 h 72925"/>
                        <a:gd name="connsiteX2" fmla="*/ 9861 w 58162"/>
                        <a:gd name="connsiteY2" fmla="*/ 69784 h 72925"/>
                        <a:gd name="connsiteX3" fmla="*/ 9861 w 58162"/>
                        <a:gd name="connsiteY3" fmla="*/ 28172 h 72925"/>
                        <a:gd name="connsiteX4" fmla="*/ 13691 w 58162"/>
                        <a:gd name="connsiteY4" fmla="*/ 13369 h 72925"/>
                        <a:gd name="connsiteX5" fmla="*/ 25240 w 58162"/>
                        <a:gd name="connsiteY5" fmla="*/ 8447 h 72925"/>
                        <a:gd name="connsiteX6" fmla="*/ 39825 w 58162"/>
                        <a:gd name="connsiteY6" fmla="*/ 14341 h 72925"/>
                        <a:gd name="connsiteX7" fmla="*/ 45203 w 58162"/>
                        <a:gd name="connsiteY7" fmla="*/ 30414 h 72925"/>
                        <a:gd name="connsiteX8" fmla="*/ 45203 w 58162"/>
                        <a:gd name="connsiteY8" fmla="*/ 69784 h 72925"/>
                        <a:gd name="connsiteX9" fmla="*/ 56613 w 58162"/>
                        <a:gd name="connsiteY9" fmla="*/ 69784 h 72925"/>
                        <a:gd name="connsiteX10" fmla="*/ 56613 w 58162"/>
                        <a:gd name="connsiteY10" fmla="*/ 331 h 72925"/>
                        <a:gd name="connsiteX11" fmla="*/ 45203 w 58162"/>
                        <a:gd name="connsiteY11" fmla="*/ 331 h 72925"/>
                        <a:gd name="connsiteX12" fmla="*/ 45203 w 58162"/>
                        <a:gd name="connsiteY12" fmla="*/ 11007 h 72925"/>
                        <a:gd name="connsiteX13" fmla="*/ 35559 w 58162"/>
                        <a:gd name="connsiteY13" fmla="*/ 1601 h 72925"/>
                        <a:gd name="connsiteX14" fmla="*/ 22819 w 58162"/>
                        <a:gd name="connsiteY14" fmla="*/ -1475 h 72925"/>
                        <a:gd name="connsiteX15" fmla="*/ 4642 w 58162"/>
                        <a:gd name="connsiteY15" fmla="*/ 5967 h 72925"/>
                        <a:gd name="connsiteX16" fmla="*/ -1549 w 58162"/>
                        <a:gd name="connsiteY16" fmla="*/ 27735 h 72925"/>
                        <a:gd name="connsiteX17" fmla="*/ 27165 w 58162"/>
                        <a:gd name="connsiteY17" fmla="*/ 71451 h 72925"/>
                        <a:gd name="connsiteX18" fmla="*/ 27165 w 58162"/>
                        <a:gd name="connsiteY18" fmla="*/ 71451 h 7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8162" h="72925">
                          <a:moveTo>
                            <a:pt x="-1549" y="27735"/>
                          </a:moveTo>
                          <a:lnTo>
                            <a:pt x="-1549" y="69784"/>
                          </a:lnTo>
                          <a:lnTo>
                            <a:pt x="9861" y="69784"/>
                          </a:lnTo>
                          <a:lnTo>
                            <a:pt x="9861" y="28172"/>
                          </a:lnTo>
                          <a:cubicBezTo>
                            <a:pt x="9861" y="21597"/>
                            <a:pt x="11138" y="16663"/>
                            <a:pt x="13691" y="13369"/>
                          </a:cubicBezTo>
                          <a:cubicBezTo>
                            <a:pt x="16258" y="10088"/>
                            <a:pt x="20107" y="8447"/>
                            <a:pt x="25240" y="8447"/>
                          </a:cubicBezTo>
                          <a:cubicBezTo>
                            <a:pt x="31392" y="8447"/>
                            <a:pt x="36254" y="10412"/>
                            <a:pt x="39825" y="14341"/>
                          </a:cubicBezTo>
                          <a:cubicBezTo>
                            <a:pt x="43411" y="18270"/>
                            <a:pt x="45203" y="23628"/>
                            <a:pt x="45203" y="30414"/>
                          </a:cubicBezTo>
                          <a:lnTo>
                            <a:pt x="45203" y="69784"/>
                          </a:lnTo>
                          <a:lnTo>
                            <a:pt x="56613" y="69784"/>
                          </a:lnTo>
                          <a:lnTo>
                            <a:pt x="56613" y="331"/>
                          </a:lnTo>
                          <a:lnTo>
                            <a:pt x="45203" y="331"/>
                          </a:lnTo>
                          <a:lnTo>
                            <a:pt x="45203" y="11007"/>
                          </a:lnTo>
                          <a:cubicBezTo>
                            <a:pt x="42438" y="6787"/>
                            <a:pt x="39224" y="3652"/>
                            <a:pt x="35559" y="1601"/>
                          </a:cubicBezTo>
                          <a:cubicBezTo>
                            <a:pt x="31908" y="-449"/>
                            <a:pt x="27661" y="-1475"/>
                            <a:pt x="22819" y="-1475"/>
                          </a:cubicBezTo>
                          <a:cubicBezTo>
                            <a:pt x="14842" y="-1475"/>
                            <a:pt x="8783" y="1006"/>
                            <a:pt x="4642" y="5967"/>
                          </a:cubicBezTo>
                          <a:cubicBezTo>
                            <a:pt x="515" y="10928"/>
                            <a:pt x="-1549" y="18184"/>
                            <a:pt x="-1549" y="27735"/>
                          </a:cubicBezTo>
                          <a:close/>
                          <a:moveTo>
                            <a:pt x="27165" y="71451"/>
                          </a:moveTo>
                          <a:lnTo>
                            <a:pt x="27165" y="71451"/>
                          </a:lnTo>
                          <a:close/>
                        </a:path>
                      </a:pathLst>
                    </a:custGeom>
                    <a:solidFill>
                      <a:srgbClr val="000000"/>
                    </a:solidFill>
                    <a:ln w="20" cap="flat">
                      <a:noFill/>
                      <a:prstDash val="solid"/>
                      <a:round/>
                    </a:ln>
                  </p:spPr>
                  <p:txBody>
                    <a:bodyPr rtlCol="0" anchor="ctr"/>
                    <a:lstStyle/>
                    <a:p>
                      <a:endParaRPr lang="en-US"/>
                    </a:p>
                  </p:txBody>
                </p:sp>
                <p:sp>
                  <p:nvSpPr>
                    <p:cNvPr id="68" name="フリーフォーム: 図形 67">
                      <a:extLst>
                        <a:ext uri="{FF2B5EF4-FFF2-40B4-BE49-F238E27FC236}">
                          <a16:creationId xmlns:a16="http://schemas.microsoft.com/office/drawing/2014/main" id="{3DEBD990-7FEB-DEEA-A748-C1DC1212B147}"/>
                        </a:ext>
                      </a:extLst>
                    </p:cNvPr>
                    <p:cNvSpPr/>
                    <p:nvPr/>
                  </p:nvSpPr>
                  <p:spPr>
                    <a:xfrm flipV="1">
                      <a:off x="-2864761" y="5017998"/>
                      <a:ext cx="62071" cy="97532"/>
                    </a:xfrm>
                    <a:custGeom>
                      <a:avLst/>
                      <a:gdLst>
                        <a:gd name="connsiteX0" fmla="*/ 49211 w 62071"/>
                        <a:gd name="connsiteY0" fmla="*/ 61099 h 97532"/>
                        <a:gd name="connsiteX1" fmla="*/ 44091 w 62071"/>
                        <a:gd name="connsiteY1" fmla="*/ 80307 h 97532"/>
                        <a:gd name="connsiteX2" fmla="*/ 29744 w 62071"/>
                        <a:gd name="connsiteY2" fmla="*/ 87134 h 97532"/>
                        <a:gd name="connsiteX3" fmla="*/ 15457 w 62071"/>
                        <a:gd name="connsiteY3" fmla="*/ 80307 h 97532"/>
                        <a:gd name="connsiteX4" fmla="*/ 10337 w 62071"/>
                        <a:gd name="connsiteY4" fmla="*/ 61099 h 97532"/>
                        <a:gd name="connsiteX5" fmla="*/ 15457 w 62071"/>
                        <a:gd name="connsiteY5" fmla="*/ 41930 h 97532"/>
                        <a:gd name="connsiteX6" fmla="*/ 29744 w 62071"/>
                        <a:gd name="connsiteY6" fmla="*/ 35103 h 97532"/>
                        <a:gd name="connsiteX7" fmla="*/ 44091 w 62071"/>
                        <a:gd name="connsiteY7" fmla="*/ 41930 h 97532"/>
                        <a:gd name="connsiteX8" fmla="*/ 49211 w 62071"/>
                        <a:gd name="connsiteY8" fmla="*/ 61099 h 97532"/>
                        <a:gd name="connsiteX9" fmla="*/ 60621 w 62071"/>
                        <a:gd name="connsiteY9" fmla="*/ 34171 h 97532"/>
                        <a:gd name="connsiteX10" fmla="*/ 52743 w 62071"/>
                        <a:gd name="connsiteY10" fmla="*/ 7798 h 97532"/>
                        <a:gd name="connsiteX11" fmla="*/ 28633 w 62071"/>
                        <a:gd name="connsiteY11" fmla="*/ -854 h 97532"/>
                        <a:gd name="connsiteX12" fmla="*/ 17282 w 62071"/>
                        <a:gd name="connsiteY12" fmla="*/ 39 h 97532"/>
                        <a:gd name="connsiteX13" fmla="*/ 6924 w 62071"/>
                        <a:gd name="connsiteY13" fmla="*/ 2798 h 97532"/>
                        <a:gd name="connsiteX14" fmla="*/ 6924 w 62071"/>
                        <a:gd name="connsiteY14" fmla="*/ 13890 h 97532"/>
                        <a:gd name="connsiteX15" fmla="*/ 16846 w 62071"/>
                        <a:gd name="connsiteY15" fmla="*/ 9882 h 97532"/>
                        <a:gd name="connsiteX16" fmla="*/ 26827 w 62071"/>
                        <a:gd name="connsiteY16" fmla="*/ 8572 h 97532"/>
                        <a:gd name="connsiteX17" fmla="*/ 43635 w 62071"/>
                        <a:gd name="connsiteY17" fmla="*/ 14426 h 97532"/>
                        <a:gd name="connsiteX18" fmla="*/ 49211 w 62071"/>
                        <a:gd name="connsiteY18" fmla="*/ 32127 h 97532"/>
                        <a:gd name="connsiteX19" fmla="*/ 49211 w 62071"/>
                        <a:gd name="connsiteY19" fmla="*/ 37782 h 97532"/>
                        <a:gd name="connsiteX20" fmla="*/ 40162 w 62071"/>
                        <a:gd name="connsiteY20" fmla="*/ 28595 h 97532"/>
                        <a:gd name="connsiteX21" fmla="*/ 26946 w 62071"/>
                        <a:gd name="connsiteY21" fmla="*/ 25558 h 97532"/>
                        <a:gd name="connsiteX22" fmla="*/ 6368 w 62071"/>
                        <a:gd name="connsiteY22" fmla="*/ 35282 h 97532"/>
                        <a:gd name="connsiteX23" fmla="*/ -1450 w 62071"/>
                        <a:gd name="connsiteY23" fmla="*/ 61099 h 97532"/>
                        <a:gd name="connsiteX24" fmla="*/ 6368 w 62071"/>
                        <a:gd name="connsiteY24" fmla="*/ 86935 h 97532"/>
                        <a:gd name="connsiteX25" fmla="*/ 26946 w 62071"/>
                        <a:gd name="connsiteY25" fmla="*/ 96678 h 97532"/>
                        <a:gd name="connsiteX26" fmla="*/ 40162 w 62071"/>
                        <a:gd name="connsiteY26" fmla="*/ 93642 h 97532"/>
                        <a:gd name="connsiteX27" fmla="*/ 49211 w 62071"/>
                        <a:gd name="connsiteY27" fmla="*/ 84475 h 97532"/>
                        <a:gd name="connsiteX28" fmla="*/ 49211 w 62071"/>
                        <a:gd name="connsiteY28" fmla="*/ 95012 h 97532"/>
                        <a:gd name="connsiteX29" fmla="*/ 60621 w 62071"/>
                        <a:gd name="connsiteY29" fmla="*/ 95012 h 97532"/>
                        <a:gd name="connsiteX30" fmla="*/ 60621 w 62071"/>
                        <a:gd name="connsiteY30" fmla="*/ 34171 h 97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2071" h="97532">
                          <a:moveTo>
                            <a:pt x="49211" y="61099"/>
                          </a:moveTo>
                          <a:cubicBezTo>
                            <a:pt x="49211" y="69367"/>
                            <a:pt x="47504" y="75770"/>
                            <a:pt x="44091" y="80307"/>
                          </a:cubicBezTo>
                          <a:cubicBezTo>
                            <a:pt x="40691" y="84858"/>
                            <a:pt x="35909" y="87134"/>
                            <a:pt x="29744" y="87134"/>
                          </a:cubicBezTo>
                          <a:cubicBezTo>
                            <a:pt x="23632" y="87134"/>
                            <a:pt x="18870" y="84858"/>
                            <a:pt x="15457" y="80307"/>
                          </a:cubicBezTo>
                          <a:cubicBezTo>
                            <a:pt x="12044" y="75770"/>
                            <a:pt x="10337" y="69367"/>
                            <a:pt x="10337" y="61099"/>
                          </a:cubicBezTo>
                          <a:cubicBezTo>
                            <a:pt x="10337" y="52870"/>
                            <a:pt x="12044" y="46480"/>
                            <a:pt x="15457" y="41930"/>
                          </a:cubicBezTo>
                          <a:cubicBezTo>
                            <a:pt x="18870" y="37379"/>
                            <a:pt x="23632" y="35103"/>
                            <a:pt x="29744" y="35103"/>
                          </a:cubicBezTo>
                          <a:cubicBezTo>
                            <a:pt x="35909" y="35103"/>
                            <a:pt x="40691" y="37379"/>
                            <a:pt x="44091" y="41930"/>
                          </a:cubicBezTo>
                          <a:cubicBezTo>
                            <a:pt x="47504" y="46480"/>
                            <a:pt x="49211" y="52870"/>
                            <a:pt x="49211" y="61099"/>
                          </a:cubicBezTo>
                          <a:close/>
                          <a:moveTo>
                            <a:pt x="60621" y="34171"/>
                          </a:moveTo>
                          <a:cubicBezTo>
                            <a:pt x="60621" y="22357"/>
                            <a:pt x="57995" y="13566"/>
                            <a:pt x="52743" y="7798"/>
                          </a:cubicBezTo>
                          <a:cubicBezTo>
                            <a:pt x="47504" y="2030"/>
                            <a:pt x="39468" y="-854"/>
                            <a:pt x="28633" y="-854"/>
                          </a:cubicBezTo>
                          <a:cubicBezTo>
                            <a:pt x="24625" y="-854"/>
                            <a:pt x="20841" y="-556"/>
                            <a:pt x="17282" y="39"/>
                          </a:cubicBezTo>
                          <a:cubicBezTo>
                            <a:pt x="13724" y="635"/>
                            <a:pt x="10271" y="1554"/>
                            <a:pt x="6924" y="2798"/>
                          </a:cubicBezTo>
                          <a:lnTo>
                            <a:pt x="6924" y="13890"/>
                          </a:lnTo>
                          <a:cubicBezTo>
                            <a:pt x="10271" y="12078"/>
                            <a:pt x="13578" y="10742"/>
                            <a:pt x="16846" y="9882"/>
                          </a:cubicBezTo>
                          <a:cubicBezTo>
                            <a:pt x="20113" y="9009"/>
                            <a:pt x="23440" y="8572"/>
                            <a:pt x="26827" y="8572"/>
                          </a:cubicBezTo>
                          <a:cubicBezTo>
                            <a:pt x="34315" y="8572"/>
                            <a:pt x="39918" y="10524"/>
                            <a:pt x="43635" y="14426"/>
                          </a:cubicBezTo>
                          <a:cubicBezTo>
                            <a:pt x="47352" y="18329"/>
                            <a:pt x="49211" y="24229"/>
                            <a:pt x="49211" y="32127"/>
                          </a:cubicBezTo>
                          <a:lnTo>
                            <a:pt x="49211" y="37782"/>
                          </a:lnTo>
                          <a:cubicBezTo>
                            <a:pt x="46856" y="33681"/>
                            <a:pt x="43840" y="30619"/>
                            <a:pt x="40162" y="28595"/>
                          </a:cubicBezTo>
                          <a:cubicBezTo>
                            <a:pt x="36485" y="26571"/>
                            <a:pt x="32079" y="25558"/>
                            <a:pt x="26946" y="25558"/>
                          </a:cubicBezTo>
                          <a:cubicBezTo>
                            <a:pt x="18440" y="25558"/>
                            <a:pt x="11581" y="28800"/>
                            <a:pt x="6368" y="35282"/>
                          </a:cubicBezTo>
                          <a:cubicBezTo>
                            <a:pt x="1156" y="41777"/>
                            <a:pt x="-1450" y="50383"/>
                            <a:pt x="-1450" y="61099"/>
                          </a:cubicBezTo>
                          <a:cubicBezTo>
                            <a:pt x="-1450" y="71841"/>
                            <a:pt x="1156" y="80453"/>
                            <a:pt x="6368" y="86935"/>
                          </a:cubicBezTo>
                          <a:cubicBezTo>
                            <a:pt x="11581" y="93431"/>
                            <a:pt x="18440" y="96678"/>
                            <a:pt x="26946" y="96678"/>
                          </a:cubicBezTo>
                          <a:cubicBezTo>
                            <a:pt x="32079" y="96678"/>
                            <a:pt x="36485" y="95666"/>
                            <a:pt x="40162" y="93642"/>
                          </a:cubicBezTo>
                          <a:cubicBezTo>
                            <a:pt x="43840" y="91618"/>
                            <a:pt x="46856" y="88562"/>
                            <a:pt x="49211" y="84475"/>
                          </a:cubicBezTo>
                          <a:lnTo>
                            <a:pt x="49211" y="95012"/>
                          </a:lnTo>
                          <a:lnTo>
                            <a:pt x="60621" y="95012"/>
                          </a:lnTo>
                          <a:lnTo>
                            <a:pt x="60621" y="34171"/>
                          </a:lnTo>
                          <a:close/>
                        </a:path>
                      </a:pathLst>
                    </a:custGeom>
                    <a:solidFill>
                      <a:srgbClr val="000000"/>
                    </a:solidFill>
                    <a:ln w="20" cap="flat">
                      <a:noFill/>
                      <a:prstDash val="solid"/>
                      <a:round/>
                    </a:ln>
                  </p:spPr>
                  <p:txBody>
                    <a:bodyPr rtlCol="0" anchor="ctr"/>
                    <a:lstStyle/>
                    <a:p>
                      <a:endParaRPr lang="en-US"/>
                    </a:p>
                  </p:txBody>
                </p:sp>
              </p:grpSp>
            </p:grpSp>
            <p:grpSp>
              <p:nvGrpSpPr>
                <p:cNvPr id="69" name="グラフィックス 6">
                  <a:extLst>
                    <a:ext uri="{FF2B5EF4-FFF2-40B4-BE49-F238E27FC236}">
                      <a16:creationId xmlns:a16="http://schemas.microsoft.com/office/drawing/2014/main" id="{824BC9BC-3926-B898-64BA-1F669FA3E0C5}"/>
                    </a:ext>
                  </a:extLst>
                </p:cNvPr>
                <p:cNvGrpSpPr/>
                <p:nvPr/>
              </p:nvGrpSpPr>
              <p:grpSpPr>
                <a:xfrm>
                  <a:off x="-2332185" y="1941575"/>
                  <a:ext cx="224055" cy="3173954"/>
                  <a:chOff x="-2332185" y="1941575"/>
                  <a:chExt cx="224055" cy="3173954"/>
                </a:xfrm>
              </p:grpSpPr>
              <p:sp>
                <p:nvSpPr>
                  <p:cNvPr id="70" name="フリーフォーム: 図形 69">
                    <a:extLst>
                      <a:ext uri="{FF2B5EF4-FFF2-40B4-BE49-F238E27FC236}">
                        <a16:creationId xmlns:a16="http://schemas.microsoft.com/office/drawing/2014/main" id="{A09F67F2-E35F-B040-ACEF-B62D32A9B16E}"/>
                      </a:ext>
                    </a:extLst>
                  </p:cNvPr>
                  <p:cNvSpPr/>
                  <p:nvPr/>
                </p:nvSpPr>
                <p:spPr>
                  <a:xfrm>
                    <a:off x="-2220861" y="1941575"/>
                    <a:ext cx="12700" cy="2962147"/>
                  </a:xfrm>
                  <a:custGeom>
                    <a:avLst/>
                    <a:gdLst>
                      <a:gd name="connsiteX0" fmla="*/ 0 w 12700"/>
                      <a:gd name="connsiteY0" fmla="*/ 2962148 h 2962147"/>
                      <a:gd name="connsiteX1" fmla="*/ 0 w 12700"/>
                      <a:gd name="connsiteY1" fmla="*/ 0 h 2962147"/>
                    </a:gdLst>
                    <a:ahLst/>
                    <a:cxnLst>
                      <a:cxn ang="0">
                        <a:pos x="connsiteX0" y="connsiteY0"/>
                      </a:cxn>
                      <a:cxn ang="0">
                        <a:pos x="connsiteX1" y="connsiteY1"/>
                      </a:cxn>
                    </a:cxnLst>
                    <a:rect l="l" t="t" r="r" b="b"/>
                    <a:pathLst>
                      <a:path w="12700" h="2962147">
                        <a:moveTo>
                          <a:pt x="0" y="2962148"/>
                        </a:moveTo>
                        <a:lnTo>
                          <a:pt x="0" y="0"/>
                        </a:lnTo>
                      </a:path>
                    </a:pathLst>
                  </a:custGeom>
                  <a:noFill/>
                  <a:ln w="10160" cap="sq">
                    <a:solidFill>
                      <a:srgbClr val="B0B0B0"/>
                    </a:solidFill>
                    <a:prstDash val="solid"/>
                    <a:round/>
                  </a:ln>
                </p:spPr>
                <p:txBody>
                  <a:bodyPr rtlCol="0" anchor="ctr"/>
                  <a:lstStyle/>
                  <a:p>
                    <a:endParaRPr lang="en-US"/>
                  </a:p>
                </p:txBody>
              </p:sp>
              <p:sp>
                <p:nvSpPr>
                  <p:cNvPr id="71" name="フリーフォーム: 図形 70">
                    <a:extLst>
                      <a:ext uri="{FF2B5EF4-FFF2-40B4-BE49-F238E27FC236}">
                        <a16:creationId xmlns:a16="http://schemas.microsoft.com/office/drawing/2014/main" id="{16DCD3BE-DAA4-7AA4-9D4B-90FBF71D465F}"/>
                      </a:ext>
                    </a:extLst>
                  </p:cNvPr>
                  <p:cNvSpPr/>
                  <p:nvPr/>
                </p:nvSpPr>
                <p:spPr>
                  <a:xfrm>
                    <a:off x="-2220861" y="4903724"/>
                    <a:ext cx="12700" cy="44450"/>
                  </a:xfrm>
                  <a:custGeom>
                    <a:avLst/>
                    <a:gdLst>
                      <a:gd name="connsiteX0" fmla="*/ 515 w 12700"/>
                      <a:gd name="connsiteY0" fmla="*/ 260 h 44450"/>
                      <a:gd name="connsiteX1" fmla="*/ 515 w 12700"/>
                      <a:gd name="connsiteY1" fmla="*/ 44710 h 44450"/>
                    </a:gdLst>
                    <a:ahLst/>
                    <a:cxnLst>
                      <a:cxn ang="0">
                        <a:pos x="connsiteX0" y="connsiteY0"/>
                      </a:cxn>
                      <a:cxn ang="0">
                        <a:pos x="connsiteX1" y="connsiteY1"/>
                      </a:cxn>
                    </a:cxnLst>
                    <a:rect l="l" t="t" r="r" b="b"/>
                    <a:pathLst>
                      <a:path w="12700" h="44450">
                        <a:moveTo>
                          <a:pt x="515" y="260"/>
                        </a:moveTo>
                        <a:lnTo>
                          <a:pt x="515" y="44710"/>
                        </a:lnTo>
                      </a:path>
                    </a:pathLst>
                  </a:custGeom>
                  <a:solidFill>
                    <a:srgbClr val="000000"/>
                  </a:solidFill>
                  <a:ln w="10160" cap="flat">
                    <a:solidFill>
                      <a:srgbClr val="000000"/>
                    </a:solidFill>
                    <a:prstDash val="solid"/>
                    <a:round/>
                  </a:ln>
                </p:spPr>
                <p:txBody>
                  <a:bodyPr rtlCol="0" anchor="ctr"/>
                  <a:lstStyle/>
                  <a:p>
                    <a:endParaRPr lang="en-US"/>
                  </a:p>
                </p:txBody>
              </p:sp>
              <p:grpSp>
                <p:nvGrpSpPr>
                  <p:cNvPr id="72" name="グラフィックス 6">
                    <a:extLst>
                      <a:ext uri="{FF2B5EF4-FFF2-40B4-BE49-F238E27FC236}">
                        <a16:creationId xmlns:a16="http://schemas.microsoft.com/office/drawing/2014/main" id="{4282772F-9276-AFA9-B624-58ECBB0CAD10}"/>
                      </a:ext>
                    </a:extLst>
                  </p:cNvPr>
                  <p:cNvGrpSpPr/>
                  <p:nvPr/>
                </p:nvGrpSpPr>
                <p:grpSpPr>
                  <a:xfrm>
                    <a:off x="-2332185" y="4994860"/>
                    <a:ext cx="224055" cy="120669"/>
                    <a:chOff x="-2332185" y="4994860"/>
                    <a:chExt cx="224055" cy="120669"/>
                  </a:xfrm>
                  <a:solidFill>
                    <a:srgbClr val="000000"/>
                  </a:solidFill>
                </p:grpSpPr>
                <p:sp>
                  <p:nvSpPr>
                    <p:cNvPr id="73" name="フリーフォーム: 図形 72">
                      <a:extLst>
                        <a:ext uri="{FF2B5EF4-FFF2-40B4-BE49-F238E27FC236}">
                          <a16:creationId xmlns:a16="http://schemas.microsoft.com/office/drawing/2014/main" id="{C36F7D17-7DA4-7BCA-EE0E-6ADAD70EAFC6}"/>
                        </a:ext>
                      </a:extLst>
                    </p:cNvPr>
                    <p:cNvSpPr/>
                    <p:nvPr/>
                  </p:nvSpPr>
                  <p:spPr>
                    <a:xfrm flipV="1">
                      <a:off x="-2332185" y="4994860"/>
                      <a:ext cx="65166" cy="96063"/>
                    </a:xfrm>
                    <a:custGeom>
                      <a:avLst/>
                      <a:gdLst>
                        <a:gd name="connsiteX0" fmla="*/ 58036 w 65166"/>
                        <a:gd name="connsiteY0" fmla="*/ 89302 h 96063"/>
                        <a:gd name="connsiteX1" fmla="*/ 58036 w 65166"/>
                        <a:gd name="connsiteY1" fmla="*/ 77078 h 96063"/>
                        <a:gd name="connsiteX2" fmla="*/ 44582 w 65166"/>
                        <a:gd name="connsiteY2" fmla="*/ 82158 h 96063"/>
                        <a:gd name="connsiteX3" fmla="*/ 32358 w 65166"/>
                        <a:gd name="connsiteY3" fmla="*/ 83845 h 96063"/>
                        <a:gd name="connsiteX4" fmla="*/ 16582 w 65166"/>
                        <a:gd name="connsiteY4" fmla="*/ 79876 h 96063"/>
                        <a:gd name="connsiteX5" fmla="*/ 11026 w 65166"/>
                        <a:gd name="connsiteY5" fmla="*/ 68585 h 96063"/>
                        <a:gd name="connsiteX6" fmla="*/ 14717 w 65166"/>
                        <a:gd name="connsiteY6" fmla="*/ 59298 h 96063"/>
                        <a:gd name="connsiteX7" fmla="*/ 28707 w 65166"/>
                        <a:gd name="connsiteY7" fmla="*/ 54258 h 96063"/>
                        <a:gd name="connsiteX8" fmla="*/ 36267 w 65166"/>
                        <a:gd name="connsiteY8" fmla="*/ 52710 h 96063"/>
                        <a:gd name="connsiteX9" fmla="*/ 56944 w 65166"/>
                        <a:gd name="connsiteY9" fmla="*/ 43304 h 96063"/>
                        <a:gd name="connsiteX10" fmla="*/ 63612 w 65166"/>
                        <a:gd name="connsiteY10" fmla="*/ 25306 h 96063"/>
                        <a:gd name="connsiteX11" fmla="*/ 54583 w 65166"/>
                        <a:gd name="connsiteY11" fmla="*/ 4887 h 96063"/>
                        <a:gd name="connsiteX12" fmla="*/ 28151 w 65166"/>
                        <a:gd name="connsiteY12" fmla="*/ -2058 h 96063"/>
                        <a:gd name="connsiteX13" fmla="*/ 14161 w 65166"/>
                        <a:gd name="connsiteY13" fmla="*/ -570 h 96063"/>
                        <a:gd name="connsiteX14" fmla="*/ -1178 w 65166"/>
                        <a:gd name="connsiteY14" fmla="*/ 3835 h 96063"/>
                        <a:gd name="connsiteX15" fmla="*/ -1178 w 65166"/>
                        <a:gd name="connsiteY15" fmla="*/ 16734 h 96063"/>
                        <a:gd name="connsiteX16" fmla="*/ 13764 w 65166"/>
                        <a:gd name="connsiteY16" fmla="*/ 10284 h 96063"/>
                        <a:gd name="connsiteX17" fmla="*/ 28151 w 65166"/>
                        <a:gd name="connsiteY17" fmla="*/ 8121 h 96063"/>
                        <a:gd name="connsiteX18" fmla="*/ 44701 w 65166"/>
                        <a:gd name="connsiteY18" fmla="*/ 12328 h 96063"/>
                        <a:gd name="connsiteX19" fmla="*/ 50535 w 65166"/>
                        <a:gd name="connsiteY19" fmla="*/ 24373 h 96063"/>
                        <a:gd name="connsiteX20" fmla="*/ 46348 w 65166"/>
                        <a:gd name="connsiteY20" fmla="*/ 35030 h 96063"/>
                        <a:gd name="connsiteX21" fmla="*/ 32616 w 65166"/>
                        <a:gd name="connsiteY21" fmla="*/ 40804 h 96063"/>
                        <a:gd name="connsiteX22" fmla="*/ 24976 w 65166"/>
                        <a:gd name="connsiteY22" fmla="*/ 42292 h 96063"/>
                        <a:gd name="connsiteX23" fmla="*/ 4696 w 65166"/>
                        <a:gd name="connsiteY23" fmla="*/ 51024 h 96063"/>
                        <a:gd name="connsiteX24" fmla="*/ -1555 w 65166"/>
                        <a:gd name="connsiteY24" fmla="*/ 67593 h 96063"/>
                        <a:gd name="connsiteX25" fmla="*/ 7097 w 65166"/>
                        <a:gd name="connsiteY25" fmla="*/ 86941 h 96063"/>
                        <a:gd name="connsiteX26" fmla="*/ 30929 w 65166"/>
                        <a:gd name="connsiteY26" fmla="*/ 94005 h 96063"/>
                        <a:gd name="connsiteX27" fmla="*/ 44205 w 65166"/>
                        <a:gd name="connsiteY27" fmla="*/ 92815 h 96063"/>
                        <a:gd name="connsiteX28" fmla="*/ 58036 w 65166"/>
                        <a:gd name="connsiteY28" fmla="*/ 89302 h 960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65166" h="96063">
                          <a:moveTo>
                            <a:pt x="58036" y="89302"/>
                          </a:moveTo>
                          <a:lnTo>
                            <a:pt x="58036" y="77078"/>
                          </a:lnTo>
                          <a:cubicBezTo>
                            <a:pt x="53287" y="79354"/>
                            <a:pt x="48802" y="81047"/>
                            <a:pt x="44582" y="82158"/>
                          </a:cubicBezTo>
                          <a:cubicBezTo>
                            <a:pt x="40361" y="83283"/>
                            <a:pt x="36287" y="83845"/>
                            <a:pt x="32358" y="83845"/>
                          </a:cubicBezTo>
                          <a:cubicBezTo>
                            <a:pt x="25545" y="83845"/>
                            <a:pt x="20286" y="82522"/>
                            <a:pt x="16582" y="79876"/>
                          </a:cubicBezTo>
                          <a:cubicBezTo>
                            <a:pt x="12878" y="77231"/>
                            <a:pt x="11026" y="73467"/>
                            <a:pt x="11026" y="68585"/>
                          </a:cubicBezTo>
                          <a:cubicBezTo>
                            <a:pt x="11026" y="64484"/>
                            <a:pt x="12256" y="61389"/>
                            <a:pt x="14717" y="59298"/>
                          </a:cubicBezTo>
                          <a:cubicBezTo>
                            <a:pt x="17177" y="57221"/>
                            <a:pt x="21841" y="55541"/>
                            <a:pt x="28707" y="54258"/>
                          </a:cubicBezTo>
                          <a:lnTo>
                            <a:pt x="36267" y="52710"/>
                          </a:lnTo>
                          <a:cubicBezTo>
                            <a:pt x="45607" y="50924"/>
                            <a:pt x="52499" y="47789"/>
                            <a:pt x="56944" y="43304"/>
                          </a:cubicBezTo>
                          <a:cubicBezTo>
                            <a:pt x="61389" y="38820"/>
                            <a:pt x="63612" y="32820"/>
                            <a:pt x="63612" y="25306"/>
                          </a:cubicBezTo>
                          <a:cubicBezTo>
                            <a:pt x="63612" y="16323"/>
                            <a:pt x="60602" y="9517"/>
                            <a:pt x="54583" y="4887"/>
                          </a:cubicBezTo>
                          <a:cubicBezTo>
                            <a:pt x="48577" y="257"/>
                            <a:pt x="39766" y="-2058"/>
                            <a:pt x="28151" y="-2058"/>
                          </a:cubicBezTo>
                          <a:cubicBezTo>
                            <a:pt x="23772" y="-2058"/>
                            <a:pt x="19109" y="-1562"/>
                            <a:pt x="14161" y="-570"/>
                          </a:cubicBezTo>
                          <a:cubicBezTo>
                            <a:pt x="9227" y="422"/>
                            <a:pt x="4114" y="1890"/>
                            <a:pt x="-1178" y="3835"/>
                          </a:cubicBezTo>
                          <a:lnTo>
                            <a:pt x="-1178" y="16734"/>
                          </a:lnTo>
                          <a:cubicBezTo>
                            <a:pt x="3902" y="13889"/>
                            <a:pt x="8883" y="11740"/>
                            <a:pt x="13764" y="10284"/>
                          </a:cubicBezTo>
                          <a:cubicBezTo>
                            <a:pt x="18646" y="8842"/>
                            <a:pt x="23442" y="8121"/>
                            <a:pt x="28151" y="8121"/>
                          </a:cubicBezTo>
                          <a:cubicBezTo>
                            <a:pt x="35295" y="8121"/>
                            <a:pt x="40811" y="9524"/>
                            <a:pt x="44701" y="12328"/>
                          </a:cubicBezTo>
                          <a:cubicBezTo>
                            <a:pt x="48590" y="15146"/>
                            <a:pt x="50535" y="19161"/>
                            <a:pt x="50535" y="24373"/>
                          </a:cubicBezTo>
                          <a:cubicBezTo>
                            <a:pt x="50535" y="28911"/>
                            <a:pt x="49139" y="32463"/>
                            <a:pt x="46348" y="35030"/>
                          </a:cubicBezTo>
                          <a:cubicBezTo>
                            <a:pt x="43556" y="37596"/>
                            <a:pt x="38979" y="39521"/>
                            <a:pt x="32616" y="40804"/>
                          </a:cubicBezTo>
                          <a:lnTo>
                            <a:pt x="24976" y="42292"/>
                          </a:lnTo>
                          <a:cubicBezTo>
                            <a:pt x="15636" y="44144"/>
                            <a:pt x="8876" y="47055"/>
                            <a:pt x="4696" y="51024"/>
                          </a:cubicBezTo>
                          <a:cubicBezTo>
                            <a:pt x="529" y="54992"/>
                            <a:pt x="-1555" y="60515"/>
                            <a:pt x="-1555" y="67593"/>
                          </a:cubicBezTo>
                          <a:cubicBezTo>
                            <a:pt x="-1555" y="75782"/>
                            <a:pt x="1329" y="82231"/>
                            <a:pt x="7097" y="86941"/>
                          </a:cubicBezTo>
                          <a:cubicBezTo>
                            <a:pt x="12865" y="91650"/>
                            <a:pt x="20809" y="94005"/>
                            <a:pt x="30929" y="94005"/>
                          </a:cubicBezTo>
                          <a:cubicBezTo>
                            <a:pt x="35281" y="94005"/>
                            <a:pt x="39707" y="93608"/>
                            <a:pt x="44205" y="92815"/>
                          </a:cubicBezTo>
                          <a:cubicBezTo>
                            <a:pt x="48716" y="92034"/>
                            <a:pt x="53326" y="90863"/>
                            <a:pt x="58036" y="89302"/>
                          </a:cubicBezTo>
                          <a:close/>
                        </a:path>
                      </a:pathLst>
                    </a:custGeom>
                    <a:solidFill>
                      <a:srgbClr val="000000"/>
                    </a:solidFill>
                    <a:ln w="20" cap="flat">
                      <a:noFill/>
                      <a:prstDash val="solid"/>
                      <a:round/>
                    </a:ln>
                  </p:spPr>
                  <p:txBody>
                    <a:bodyPr rtlCol="0" anchor="ctr"/>
                    <a:lstStyle/>
                    <a:p>
                      <a:endParaRPr lang="en-US"/>
                    </a:p>
                  </p:txBody>
                </p:sp>
                <p:sp>
                  <p:nvSpPr>
                    <p:cNvPr id="74" name="フリーフォーム: 図形 73">
                      <a:extLst>
                        <a:ext uri="{FF2B5EF4-FFF2-40B4-BE49-F238E27FC236}">
                          <a16:creationId xmlns:a16="http://schemas.microsoft.com/office/drawing/2014/main" id="{B470E01E-39EC-33E5-9C66-9B0855EC194B}"/>
                        </a:ext>
                      </a:extLst>
                    </p:cNvPr>
                    <p:cNvSpPr/>
                    <p:nvPr/>
                  </p:nvSpPr>
                  <p:spPr>
                    <a:xfrm flipV="1">
                      <a:off x="-2252939" y="5017998"/>
                      <a:ext cx="64373" cy="72925"/>
                    </a:xfrm>
                    <a:custGeom>
                      <a:avLst/>
                      <a:gdLst>
                        <a:gd name="connsiteX0" fmla="*/ 62913 w 64373"/>
                        <a:gd name="connsiteY0" fmla="*/ 37915 h 72925"/>
                        <a:gd name="connsiteX1" fmla="*/ 62913 w 64373"/>
                        <a:gd name="connsiteY1" fmla="*/ 32339 h 72925"/>
                        <a:gd name="connsiteX2" fmla="*/ 10446 w 64373"/>
                        <a:gd name="connsiteY2" fmla="*/ 32339 h 72925"/>
                        <a:gd name="connsiteX3" fmla="*/ 17550 w 64373"/>
                        <a:gd name="connsiteY3" fmla="*/ 14381 h 72925"/>
                        <a:gd name="connsiteX4" fmla="*/ 35251 w 64373"/>
                        <a:gd name="connsiteY4" fmla="*/ 8209 h 72925"/>
                        <a:gd name="connsiteX5" fmla="*/ 47991 w 64373"/>
                        <a:gd name="connsiteY5" fmla="*/ 9817 h 72925"/>
                        <a:gd name="connsiteX6" fmla="*/ 60254 w 64373"/>
                        <a:gd name="connsiteY6" fmla="*/ 14658 h 72925"/>
                        <a:gd name="connsiteX7" fmla="*/ 60254 w 64373"/>
                        <a:gd name="connsiteY7" fmla="*/ 3863 h 72925"/>
                        <a:gd name="connsiteX8" fmla="*/ 47653 w 64373"/>
                        <a:gd name="connsiteY8" fmla="*/ -105 h 72925"/>
                        <a:gd name="connsiteX9" fmla="*/ 34576 w 64373"/>
                        <a:gd name="connsiteY9" fmla="*/ -1475 h 72925"/>
                        <a:gd name="connsiteX10" fmla="*/ 8244 w 64373"/>
                        <a:gd name="connsiteY10" fmla="*/ 8189 h 72925"/>
                        <a:gd name="connsiteX11" fmla="*/ -1460 w 64373"/>
                        <a:gd name="connsiteY11" fmla="*/ 34383 h 72925"/>
                        <a:gd name="connsiteX12" fmla="*/ 7748 w 64373"/>
                        <a:gd name="connsiteY12" fmla="*/ 61430 h 72925"/>
                        <a:gd name="connsiteX13" fmla="*/ 32592 w 64373"/>
                        <a:gd name="connsiteY13" fmla="*/ 71451 h 72925"/>
                        <a:gd name="connsiteX14" fmla="*/ 54757 w 64373"/>
                        <a:gd name="connsiteY14" fmla="*/ 62422 h 72925"/>
                        <a:gd name="connsiteX15" fmla="*/ 62913 w 64373"/>
                        <a:gd name="connsiteY15" fmla="*/ 37915 h 72925"/>
                        <a:gd name="connsiteX16" fmla="*/ 51503 w 64373"/>
                        <a:gd name="connsiteY16" fmla="*/ 41269 h 72925"/>
                        <a:gd name="connsiteX17" fmla="*/ 46264 w 64373"/>
                        <a:gd name="connsiteY17" fmla="*/ 56191 h 72925"/>
                        <a:gd name="connsiteX18" fmla="*/ 32711 w 64373"/>
                        <a:gd name="connsiteY18" fmla="*/ 61787 h 72925"/>
                        <a:gd name="connsiteX19" fmla="*/ 17431 w 64373"/>
                        <a:gd name="connsiteY19" fmla="*/ 56390 h 72925"/>
                        <a:gd name="connsiteX20" fmla="*/ 10823 w 64373"/>
                        <a:gd name="connsiteY20" fmla="*/ 41190 h 72925"/>
                        <a:gd name="connsiteX21" fmla="*/ 51503 w 64373"/>
                        <a:gd name="connsiteY21" fmla="*/ 41269 h 7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64373" h="72925">
                          <a:moveTo>
                            <a:pt x="62913" y="37915"/>
                          </a:moveTo>
                          <a:lnTo>
                            <a:pt x="62913" y="32339"/>
                          </a:lnTo>
                          <a:lnTo>
                            <a:pt x="10446" y="32339"/>
                          </a:lnTo>
                          <a:cubicBezTo>
                            <a:pt x="10949" y="24481"/>
                            <a:pt x="13317" y="18495"/>
                            <a:pt x="17550" y="14381"/>
                          </a:cubicBezTo>
                          <a:cubicBezTo>
                            <a:pt x="21784" y="10266"/>
                            <a:pt x="27684" y="8209"/>
                            <a:pt x="35251" y="8209"/>
                          </a:cubicBezTo>
                          <a:cubicBezTo>
                            <a:pt x="39630" y="8209"/>
                            <a:pt x="43877" y="8745"/>
                            <a:pt x="47991" y="9817"/>
                          </a:cubicBezTo>
                          <a:cubicBezTo>
                            <a:pt x="52105" y="10888"/>
                            <a:pt x="56193" y="12502"/>
                            <a:pt x="60254" y="14658"/>
                          </a:cubicBezTo>
                          <a:lnTo>
                            <a:pt x="60254" y="3863"/>
                          </a:lnTo>
                          <a:cubicBezTo>
                            <a:pt x="56153" y="2130"/>
                            <a:pt x="51953" y="808"/>
                            <a:pt x="47653" y="-105"/>
                          </a:cubicBezTo>
                          <a:cubicBezTo>
                            <a:pt x="43354" y="-1018"/>
                            <a:pt x="38995" y="-1475"/>
                            <a:pt x="34576" y="-1475"/>
                          </a:cubicBezTo>
                          <a:cubicBezTo>
                            <a:pt x="23490" y="-1475"/>
                            <a:pt x="14713" y="1747"/>
                            <a:pt x="8244" y="8189"/>
                          </a:cubicBezTo>
                          <a:cubicBezTo>
                            <a:pt x="1775" y="14645"/>
                            <a:pt x="-1460" y="23376"/>
                            <a:pt x="-1460" y="34383"/>
                          </a:cubicBezTo>
                          <a:cubicBezTo>
                            <a:pt x="-1460" y="45747"/>
                            <a:pt x="1609" y="54763"/>
                            <a:pt x="7748" y="61430"/>
                          </a:cubicBezTo>
                          <a:cubicBezTo>
                            <a:pt x="13886" y="68111"/>
                            <a:pt x="22167" y="71451"/>
                            <a:pt x="32592" y="71451"/>
                          </a:cubicBezTo>
                          <a:cubicBezTo>
                            <a:pt x="41932" y="71451"/>
                            <a:pt x="49320" y="68442"/>
                            <a:pt x="54757" y="62422"/>
                          </a:cubicBezTo>
                          <a:cubicBezTo>
                            <a:pt x="60195" y="56416"/>
                            <a:pt x="62913" y="48247"/>
                            <a:pt x="62913" y="37915"/>
                          </a:cubicBezTo>
                          <a:close/>
                          <a:moveTo>
                            <a:pt x="51503" y="41269"/>
                          </a:moveTo>
                          <a:cubicBezTo>
                            <a:pt x="51424" y="47500"/>
                            <a:pt x="49677" y="52474"/>
                            <a:pt x="46264" y="56191"/>
                          </a:cubicBezTo>
                          <a:cubicBezTo>
                            <a:pt x="42851" y="59922"/>
                            <a:pt x="38333" y="61787"/>
                            <a:pt x="32711" y="61787"/>
                          </a:cubicBezTo>
                          <a:cubicBezTo>
                            <a:pt x="26348" y="61787"/>
                            <a:pt x="21255" y="59988"/>
                            <a:pt x="17431" y="56390"/>
                          </a:cubicBezTo>
                          <a:cubicBezTo>
                            <a:pt x="13608" y="52792"/>
                            <a:pt x="11405" y="47725"/>
                            <a:pt x="10823" y="41190"/>
                          </a:cubicBezTo>
                          <a:lnTo>
                            <a:pt x="51503" y="41269"/>
                          </a:lnTo>
                          <a:close/>
                        </a:path>
                      </a:pathLst>
                    </a:custGeom>
                    <a:solidFill>
                      <a:srgbClr val="000000"/>
                    </a:solidFill>
                    <a:ln w="20" cap="flat">
                      <a:noFill/>
                      <a:prstDash val="solid"/>
                      <a:round/>
                    </a:ln>
                  </p:spPr>
                  <p:txBody>
                    <a:bodyPr rtlCol="0" anchor="ctr"/>
                    <a:lstStyle/>
                    <a:p>
                      <a:endParaRPr lang="en-US"/>
                    </a:p>
                  </p:txBody>
                </p:sp>
                <p:sp>
                  <p:nvSpPr>
                    <p:cNvPr id="75" name="フリーフォーム: 図形 74">
                      <a:extLst>
                        <a:ext uri="{FF2B5EF4-FFF2-40B4-BE49-F238E27FC236}">
                          <a16:creationId xmlns:a16="http://schemas.microsoft.com/office/drawing/2014/main" id="{39B95459-0EA8-D80E-0B80-ECD6E774537D}"/>
                        </a:ext>
                      </a:extLst>
                    </p:cNvPr>
                    <p:cNvSpPr/>
                    <p:nvPr/>
                  </p:nvSpPr>
                  <p:spPr>
                    <a:xfrm flipV="1">
                      <a:off x="-2170279" y="5017998"/>
                      <a:ext cx="62150" cy="97532"/>
                    </a:xfrm>
                    <a:custGeom>
                      <a:avLst/>
                      <a:gdLst>
                        <a:gd name="connsiteX0" fmla="*/ 9844 w 62150"/>
                        <a:gd name="connsiteY0" fmla="*/ 35976 h 97532"/>
                        <a:gd name="connsiteX1" fmla="*/ 9844 w 62150"/>
                        <a:gd name="connsiteY1" fmla="*/ -854 h 97532"/>
                        <a:gd name="connsiteX2" fmla="*/ -1625 w 62150"/>
                        <a:gd name="connsiteY2" fmla="*/ -854 h 97532"/>
                        <a:gd name="connsiteX3" fmla="*/ -1625 w 62150"/>
                        <a:gd name="connsiteY3" fmla="*/ 95012 h 97532"/>
                        <a:gd name="connsiteX4" fmla="*/ 9844 w 62150"/>
                        <a:gd name="connsiteY4" fmla="*/ 95012 h 97532"/>
                        <a:gd name="connsiteX5" fmla="*/ 9844 w 62150"/>
                        <a:gd name="connsiteY5" fmla="*/ 84475 h 97532"/>
                        <a:gd name="connsiteX6" fmla="*/ 18933 w 62150"/>
                        <a:gd name="connsiteY6" fmla="*/ 93662 h 97532"/>
                        <a:gd name="connsiteX7" fmla="*/ 32049 w 62150"/>
                        <a:gd name="connsiteY7" fmla="*/ 96678 h 97532"/>
                        <a:gd name="connsiteX8" fmla="*/ 52608 w 62150"/>
                        <a:gd name="connsiteY8" fmla="*/ 86638 h 97532"/>
                        <a:gd name="connsiteX9" fmla="*/ 60525 w 62150"/>
                        <a:gd name="connsiteY9" fmla="*/ 60226 h 97532"/>
                        <a:gd name="connsiteX10" fmla="*/ 52608 w 62150"/>
                        <a:gd name="connsiteY10" fmla="*/ 33794 h 97532"/>
                        <a:gd name="connsiteX11" fmla="*/ 32049 w 62150"/>
                        <a:gd name="connsiteY11" fmla="*/ 23753 h 97532"/>
                        <a:gd name="connsiteX12" fmla="*/ 18933 w 62150"/>
                        <a:gd name="connsiteY12" fmla="*/ 26769 h 97532"/>
                        <a:gd name="connsiteX13" fmla="*/ 9844 w 62150"/>
                        <a:gd name="connsiteY13" fmla="*/ 35976 h 97532"/>
                        <a:gd name="connsiteX14" fmla="*/ 48678 w 62150"/>
                        <a:gd name="connsiteY14" fmla="*/ 60226 h 97532"/>
                        <a:gd name="connsiteX15" fmla="*/ 43499 w 62150"/>
                        <a:gd name="connsiteY15" fmla="*/ 79970 h 97532"/>
                        <a:gd name="connsiteX16" fmla="*/ 29271 w 62150"/>
                        <a:gd name="connsiteY16" fmla="*/ 87134 h 97532"/>
                        <a:gd name="connsiteX17" fmla="*/ 15023 w 62150"/>
                        <a:gd name="connsiteY17" fmla="*/ 79970 h 97532"/>
                        <a:gd name="connsiteX18" fmla="*/ 9844 w 62150"/>
                        <a:gd name="connsiteY18" fmla="*/ 60226 h 97532"/>
                        <a:gd name="connsiteX19" fmla="*/ 15023 w 62150"/>
                        <a:gd name="connsiteY19" fmla="*/ 40481 h 97532"/>
                        <a:gd name="connsiteX20" fmla="*/ 29271 w 62150"/>
                        <a:gd name="connsiteY20" fmla="*/ 33317 h 97532"/>
                        <a:gd name="connsiteX21" fmla="*/ 43499 w 62150"/>
                        <a:gd name="connsiteY21" fmla="*/ 40481 h 97532"/>
                        <a:gd name="connsiteX22" fmla="*/ 48678 w 62150"/>
                        <a:gd name="connsiteY22" fmla="*/ 60226 h 97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62150" h="97532">
                          <a:moveTo>
                            <a:pt x="9844" y="35976"/>
                          </a:moveTo>
                          <a:lnTo>
                            <a:pt x="9844" y="-854"/>
                          </a:lnTo>
                          <a:lnTo>
                            <a:pt x="-1625" y="-854"/>
                          </a:lnTo>
                          <a:lnTo>
                            <a:pt x="-1625" y="95012"/>
                          </a:lnTo>
                          <a:lnTo>
                            <a:pt x="9844" y="95012"/>
                          </a:lnTo>
                          <a:lnTo>
                            <a:pt x="9844" y="84475"/>
                          </a:lnTo>
                          <a:cubicBezTo>
                            <a:pt x="12252" y="88602"/>
                            <a:pt x="15281" y="91665"/>
                            <a:pt x="18933" y="93662"/>
                          </a:cubicBezTo>
                          <a:cubicBezTo>
                            <a:pt x="22597" y="95673"/>
                            <a:pt x="26969" y="96678"/>
                            <a:pt x="32049" y="96678"/>
                          </a:cubicBezTo>
                          <a:cubicBezTo>
                            <a:pt x="40490" y="96678"/>
                            <a:pt x="47342" y="93331"/>
                            <a:pt x="52608" y="86638"/>
                          </a:cubicBezTo>
                          <a:cubicBezTo>
                            <a:pt x="57886" y="79944"/>
                            <a:pt x="60525" y="71140"/>
                            <a:pt x="60525" y="60226"/>
                          </a:cubicBezTo>
                          <a:cubicBezTo>
                            <a:pt x="60525" y="49311"/>
                            <a:pt x="57886" y="40501"/>
                            <a:pt x="52608" y="33794"/>
                          </a:cubicBezTo>
                          <a:cubicBezTo>
                            <a:pt x="47342" y="27100"/>
                            <a:pt x="40490" y="23753"/>
                            <a:pt x="32049" y="23753"/>
                          </a:cubicBezTo>
                          <a:cubicBezTo>
                            <a:pt x="26969" y="23753"/>
                            <a:pt x="22597" y="24758"/>
                            <a:pt x="18933" y="26769"/>
                          </a:cubicBezTo>
                          <a:cubicBezTo>
                            <a:pt x="15281" y="28780"/>
                            <a:pt x="12252" y="31849"/>
                            <a:pt x="9844" y="35976"/>
                          </a:cubicBezTo>
                          <a:close/>
                          <a:moveTo>
                            <a:pt x="48678" y="60226"/>
                          </a:moveTo>
                          <a:cubicBezTo>
                            <a:pt x="48678" y="68613"/>
                            <a:pt x="46952" y="75194"/>
                            <a:pt x="43499" y="79970"/>
                          </a:cubicBezTo>
                          <a:cubicBezTo>
                            <a:pt x="40046" y="84746"/>
                            <a:pt x="35304" y="87134"/>
                            <a:pt x="29271" y="87134"/>
                          </a:cubicBezTo>
                          <a:cubicBezTo>
                            <a:pt x="23225" y="87134"/>
                            <a:pt x="18476" y="84746"/>
                            <a:pt x="15023" y="79970"/>
                          </a:cubicBezTo>
                          <a:cubicBezTo>
                            <a:pt x="11571" y="75194"/>
                            <a:pt x="9844" y="68613"/>
                            <a:pt x="9844" y="60226"/>
                          </a:cubicBezTo>
                          <a:cubicBezTo>
                            <a:pt x="9844" y="51838"/>
                            <a:pt x="11571" y="45257"/>
                            <a:pt x="15023" y="40481"/>
                          </a:cubicBezTo>
                          <a:cubicBezTo>
                            <a:pt x="18476" y="35705"/>
                            <a:pt x="23225" y="33317"/>
                            <a:pt x="29271" y="33317"/>
                          </a:cubicBezTo>
                          <a:cubicBezTo>
                            <a:pt x="35304" y="33317"/>
                            <a:pt x="40046" y="35705"/>
                            <a:pt x="43499" y="40481"/>
                          </a:cubicBezTo>
                          <a:cubicBezTo>
                            <a:pt x="46952" y="45257"/>
                            <a:pt x="48678" y="51838"/>
                            <a:pt x="48678" y="60226"/>
                          </a:cubicBezTo>
                          <a:close/>
                        </a:path>
                      </a:pathLst>
                    </a:custGeom>
                    <a:solidFill>
                      <a:srgbClr val="000000"/>
                    </a:solidFill>
                    <a:ln w="20" cap="flat">
                      <a:noFill/>
                      <a:prstDash val="solid"/>
                      <a:round/>
                    </a:ln>
                  </p:spPr>
                  <p:txBody>
                    <a:bodyPr rtlCol="0" anchor="ctr"/>
                    <a:lstStyle/>
                    <a:p>
                      <a:endParaRPr lang="en-US"/>
                    </a:p>
                  </p:txBody>
                </p:sp>
              </p:grpSp>
            </p:grpSp>
            <p:grpSp>
              <p:nvGrpSpPr>
                <p:cNvPr id="76" name="グラフィックス 6">
                  <a:extLst>
                    <a:ext uri="{FF2B5EF4-FFF2-40B4-BE49-F238E27FC236}">
                      <a16:creationId xmlns:a16="http://schemas.microsoft.com/office/drawing/2014/main" id="{AB5CBEC3-5375-3CED-ED18-AF65834AC900}"/>
                    </a:ext>
                  </a:extLst>
                </p:cNvPr>
                <p:cNvGrpSpPr/>
                <p:nvPr/>
              </p:nvGrpSpPr>
              <p:grpSpPr>
                <a:xfrm>
                  <a:off x="-1629245" y="1941575"/>
                  <a:ext cx="209415" cy="3149348"/>
                  <a:chOff x="-1629245" y="1941575"/>
                  <a:chExt cx="209415" cy="3149348"/>
                </a:xfrm>
              </p:grpSpPr>
              <p:sp>
                <p:nvSpPr>
                  <p:cNvPr id="77" name="フリーフォーム: 図形 76">
                    <a:extLst>
                      <a:ext uri="{FF2B5EF4-FFF2-40B4-BE49-F238E27FC236}">
                        <a16:creationId xmlns:a16="http://schemas.microsoft.com/office/drawing/2014/main" id="{DD404EEF-3C0C-C616-F6B0-B11D7F774AE6}"/>
                      </a:ext>
                    </a:extLst>
                  </p:cNvPr>
                  <p:cNvSpPr/>
                  <p:nvPr/>
                </p:nvSpPr>
                <p:spPr>
                  <a:xfrm>
                    <a:off x="-1526578" y="1941575"/>
                    <a:ext cx="12700" cy="2962147"/>
                  </a:xfrm>
                  <a:custGeom>
                    <a:avLst/>
                    <a:gdLst>
                      <a:gd name="connsiteX0" fmla="*/ 0 w 12700"/>
                      <a:gd name="connsiteY0" fmla="*/ 2962148 h 2962147"/>
                      <a:gd name="connsiteX1" fmla="*/ 0 w 12700"/>
                      <a:gd name="connsiteY1" fmla="*/ 0 h 2962147"/>
                    </a:gdLst>
                    <a:ahLst/>
                    <a:cxnLst>
                      <a:cxn ang="0">
                        <a:pos x="connsiteX0" y="connsiteY0"/>
                      </a:cxn>
                      <a:cxn ang="0">
                        <a:pos x="connsiteX1" y="connsiteY1"/>
                      </a:cxn>
                    </a:cxnLst>
                    <a:rect l="l" t="t" r="r" b="b"/>
                    <a:pathLst>
                      <a:path w="12700" h="2962147">
                        <a:moveTo>
                          <a:pt x="0" y="2962148"/>
                        </a:moveTo>
                        <a:lnTo>
                          <a:pt x="0" y="0"/>
                        </a:lnTo>
                      </a:path>
                    </a:pathLst>
                  </a:custGeom>
                  <a:noFill/>
                  <a:ln w="10160" cap="sq">
                    <a:solidFill>
                      <a:srgbClr val="B0B0B0"/>
                    </a:solidFill>
                    <a:prstDash val="solid"/>
                    <a:round/>
                  </a:ln>
                </p:spPr>
                <p:txBody>
                  <a:bodyPr rtlCol="0" anchor="ctr"/>
                  <a:lstStyle/>
                  <a:p>
                    <a:endParaRPr lang="en-US"/>
                  </a:p>
                </p:txBody>
              </p:sp>
              <p:sp>
                <p:nvSpPr>
                  <p:cNvPr id="78" name="フリーフォーム: 図形 77">
                    <a:extLst>
                      <a:ext uri="{FF2B5EF4-FFF2-40B4-BE49-F238E27FC236}">
                        <a16:creationId xmlns:a16="http://schemas.microsoft.com/office/drawing/2014/main" id="{7CCE9FD2-E743-116C-51D3-89CBB728FC3D}"/>
                      </a:ext>
                    </a:extLst>
                  </p:cNvPr>
                  <p:cNvSpPr/>
                  <p:nvPr/>
                </p:nvSpPr>
                <p:spPr>
                  <a:xfrm>
                    <a:off x="-1526578" y="4903724"/>
                    <a:ext cx="12700" cy="44450"/>
                  </a:xfrm>
                  <a:custGeom>
                    <a:avLst/>
                    <a:gdLst>
                      <a:gd name="connsiteX0" fmla="*/ 570 w 12700"/>
                      <a:gd name="connsiteY0" fmla="*/ 260 h 44450"/>
                      <a:gd name="connsiteX1" fmla="*/ 570 w 12700"/>
                      <a:gd name="connsiteY1" fmla="*/ 44710 h 44450"/>
                    </a:gdLst>
                    <a:ahLst/>
                    <a:cxnLst>
                      <a:cxn ang="0">
                        <a:pos x="connsiteX0" y="connsiteY0"/>
                      </a:cxn>
                      <a:cxn ang="0">
                        <a:pos x="connsiteX1" y="connsiteY1"/>
                      </a:cxn>
                    </a:cxnLst>
                    <a:rect l="l" t="t" r="r" b="b"/>
                    <a:pathLst>
                      <a:path w="12700" h="44450">
                        <a:moveTo>
                          <a:pt x="570" y="260"/>
                        </a:moveTo>
                        <a:lnTo>
                          <a:pt x="570" y="44710"/>
                        </a:lnTo>
                      </a:path>
                    </a:pathLst>
                  </a:custGeom>
                  <a:solidFill>
                    <a:srgbClr val="000000"/>
                  </a:solidFill>
                  <a:ln w="10160" cap="flat">
                    <a:solidFill>
                      <a:srgbClr val="000000"/>
                    </a:solidFill>
                    <a:prstDash val="solid"/>
                    <a:round/>
                  </a:ln>
                </p:spPr>
                <p:txBody>
                  <a:bodyPr rtlCol="0" anchor="ctr"/>
                  <a:lstStyle/>
                  <a:p>
                    <a:endParaRPr lang="en-US"/>
                  </a:p>
                </p:txBody>
              </p:sp>
              <p:grpSp>
                <p:nvGrpSpPr>
                  <p:cNvPr id="79" name="グラフィックス 6">
                    <a:extLst>
                      <a:ext uri="{FF2B5EF4-FFF2-40B4-BE49-F238E27FC236}">
                        <a16:creationId xmlns:a16="http://schemas.microsoft.com/office/drawing/2014/main" id="{917ACAB6-2D9D-D037-BD69-73CCE19F6BA7}"/>
                      </a:ext>
                    </a:extLst>
                  </p:cNvPr>
                  <p:cNvGrpSpPr/>
                  <p:nvPr/>
                </p:nvGrpSpPr>
                <p:grpSpPr>
                  <a:xfrm>
                    <a:off x="-1629245" y="4994860"/>
                    <a:ext cx="209415" cy="96063"/>
                    <a:chOff x="-1629245" y="4994860"/>
                    <a:chExt cx="209415" cy="96063"/>
                  </a:xfrm>
                  <a:solidFill>
                    <a:srgbClr val="000000"/>
                  </a:solidFill>
                </p:grpSpPr>
                <p:sp>
                  <p:nvSpPr>
                    <p:cNvPr id="80" name="フリーフォーム: 図形 79">
                      <a:extLst>
                        <a:ext uri="{FF2B5EF4-FFF2-40B4-BE49-F238E27FC236}">
                          <a16:creationId xmlns:a16="http://schemas.microsoft.com/office/drawing/2014/main" id="{8E8CCA33-E7C8-E4A9-56EF-DAE36F5A5681}"/>
                        </a:ext>
                      </a:extLst>
                    </p:cNvPr>
                    <p:cNvSpPr/>
                    <p:nvPr/>
                  </p:nvSpPr>
                  <p:spPr>
                    <a:xfrm flipV="1">
                      <a:off x="-1629245" y="4994860"/>
                      <a:ext cx="85705" cy="96063"/>
                    </a:xfrm>
                    <a:custGeom>
                      <a:avLst/>
                      <a:gdLst>
                        <a:gd name="connsiteX0" fmla="*/ 40969 w 85705"/>
                        <a:gd name="connsiteY0" fmla="*/ 83845 h 96063"/>
                        <a:gd name="connsiteX1" fmla="*/ 19279 w 85705"/>
                        <a:gd name="connsiteY1" fmla="*/ 73665 h 96063"/>
                        <a:gd name="connsiteX2" fmla="*/ 11263 w 85705"/>
                        <a:gd name="connsiteY2" fmla="*/ 45944 h 96063"/>
                        <a:gd name="connsiteX3" fmla="*/ 19279 w 85705"/>
                        <a:gd name="connsiteY3" fmla="*/ 18281 h 96063"/>
                        <a:gd name="connsiteX4" fmla="*/ 40969 w 85705"/>
                        <a:gd name="connsiteY4" fmla="*/ 8121 h 96063"/>
                        <a:gd name="connsiteX5" fmla="*/ 62578 w 85705"/>
                        <a:gd name="connsiteY5" fmla="*/ 18281 h 96063"/>
                        <a:gd name="connsiteX6" fmla="*/ 70556 w 85705"/>
                        <a:gd name="connsiteY6" fmla="*/ 45944 h 96063"/>
                        <a:gd name="connsiteX7" fmla="*/ 62578 w 85705"/>
                        <a:gd name="connsiteY7" fmla="*/ 73665 h 96063"/>
                        <a:gd name="connsiteX8" fmla="*/ 40969 w 85705"/>
                        <a:gd name="connsiteY8" fmla="*/ 83845 h 96063"/>
                        <a:gd name="connsiteX9" fmla="*/ 40969 w 85705"/>
                        <a:gd name="connsiteY9" fmla="*/ 94005 h 96063"/>
                        <a:gd name="connsiteX10" fmla="*/ 72084 w 85705"/>
                        <a:gd name="connsiteY10" fmla="*/ 80948 h 96063"/>
                        <a:gd name="connsiteX11" fmla="*/ 83752 w 85705"/>
                        <a:gd name="connsiteY11" fmla="*/ 45944 h 96063"/>
                        <a:gd name="connsiteX12" fmla="*/ 72084 w 85705"/>
                        <a:gd name="connsiteY12" fmla="*/ 10999 h 96063"/>
                        <a:gd name="connsiteX13" fmla="*/ 40969 w 85705"/>
                        <a:gd name="connsiteY13" fmla="*/ -2058 h 96063"/>
                        <a:gd name="connsiteX14" fmla="*/ 9735 w 85705"/>
                        <a:gd name="connsiteY14" fmla="*/ 10959 h 96063"/>
                        <a:gd name="connsiteX15" fmla="*/ -1953 w 85705"/>
                        <a:gd name="connsiteY15" fmla="*/ 45944 h 96063"/>
                        <a:gd name="connsiteX16" fmla="*/ 9735 w 85705"/>
                        <a:gd name="connsiteY16" fmla="*/ 80948 h 96063"/>
                        <a:gd name="connsiteX17" fmla="*/ 40969 w 85705"/>
                        <a:gd name="connsiteY17" fmla="*/ 94005 h 960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85705" h="96063">
                          <a:moveTo>
                            <a:pt x="40969" y="83845"/>
                          </a:moveTo>
                          <a:cubicBezTo>
                            <a:pt x="31867" y="83845"/>
                            <a:pt x="24637" y="80452"/>
                            <a:pt x="19279" y="73665"/>
                          </a:cubicBezTo>
                          <a:cubicBezTo>
                            <a:pt x="13935" y="66892"/>
                            <a:pt x="11263" y="57651"/>
                            <a:pt x="11263" y="45944"/>
                          </a:cubicBezTo>
                          <a:cubicBezTo>
                            <a:pt x="11263" y="34289"/>
                            <a:pt x="13935" y="25068"/>
                            <a:pt x="19279" y="18281"/>
                          </a:cubicBezTo>
                          <a:cubicBezTo>
                            <a:pt x="24637" y="11508"/>
                            <a:pt x="31867" y="8121"/>
                            <a:pt x="40969" y="8121"/>
                          </a:cubicBezTo>
                          <a:cubicBezTo>
                            <a:pt x="50057" y="8121"/>
                            <a:pt x="57260" y="11508"/>
                            <a:pt x="62578" y="18281"/>
                          </a:cubicBezTo>
                          <a:cubicBezTo>
                            <a:pt x="67897" y="25068"/>
                            <a:pt x="70556" y="34289"/>
                            <a:pt x="70556" y="45944"/>
                          </a:cubicBezTo>
                          <a:cubicBezTo>
                            <a:pt x="70556" y="57651"/>
                            <a:pt x="67897" y="66892"/>
                            <a:pt x="62578" y="73665"/>
                          </a:cubicBezTo>
                          <a:cubicBezTo>
                            <a:pt x="57260" y="80452"/>
                            <a:pt x="50057" y="83845"/>
                            <a:pt x="40969" y="83845"/>
                          </a:cubicBezTo>
                          <a:close/>
                          <a:moveTo>
                            <a:pt x="40969" y="94005"/>
                          </a:moveTo>
                          <a:cubicBezTo>
                            <a:pt x="53946" y="94005"/>
                            <a:pt x="64318" y="89653"/>
                            <a:pt x="72084" y="80948"/>
                          </a:cubicBezTo>
                          <a:cubicBezTo>
                            <a:pt x="79862" y="72243"/>
                            <a:pt x="83752" y="60575"/>
                            <a:pt x="83752" y="45944"/>
                          </a:cubicBezTo>
                          <a:cubicBezTo>
                            <a:pt x="83752" y="31352"/>
                            <a:pt x="79862" y="19704"/>
                            <a:pt x="72084" y="10999"/>
                          </a:cubicBezTo>
                          <a:cubicBezTo>
                            <a:pt x="64318" y="2294"/>
                            <a:pt x="53946" y="-2058"/>
                            <a:pt x="40969" y="-2058"/>
                          </a:cubicBezTo>
                          <a:cubicBezTo>
                            <a:pt x="27951" y="-2058"/>
                            <a:pt x="17540" y="2281"/>
                            <a:pt x="9735" y="10959"/>
                          </a:cubicBezTo>
                          <a:cubicBezTo>
                            <a:pt x="1943" y="19651"/>
                            <a:pt x="-1953" y="31312"/>
                            <a:pt x="-1953" y="45944"/>
                          </a:cubicBezTo>
                          <a:cubicBezTo>
                            <a:pt x="-1953" y="60575"/>
                            <a:pt x="1943" y="72243"/>
                            <a:pt x="9735" y="80948"/>
                          </a:cubicBezTo>
                          <a:cubicBezTo>
                            <a:pt x="17540" y="89653"/>
                            <a:pt x="27951" y="94005"/>
                            <a:pt x="40969" y="94005"/>
                          </a:cubicBezTo>
                          <a:close/>
                        </a:path>
                      </a:pathLst>
                    </a:custGeom>
                    <a:solidFill>
                      <a:srgbClr val="000000"/>
                    </a:solidFill>
                    <a:ln w="20" cap="flat">
                      <a:noFill/>
                      <a:prstDash val="solid"/>
                      <a:round/>
                    </a:ln>
                  </p:spPr>
                  <p:txBody>
                    <a:bodyPr rtlCol="0" anchor="ctr"/>
                    <a:lstStyle/>
                    <a:p>
                      <a:endParaRPr lang="en-US"/>
                    </a:p>
                  </p:txBody>
                </p:sp>
                <p:sp>
                  <p:nvSpPr>
                    <p:cNvPr id="81" name="フリーフォーム: 図形 80">
                      <a:extLst>
                        <a:ext uri="{FF2B5EF4-FFF2-40B4-BE49-F238E27FC236}">
                          <a16:creationId xmlns:a16="http://schemas.microsoft.com/office/drawing/2014/main" id="{731D8FC1-292C-BEED-DE5B-9417A8DAAC75}"/>
                        </a:ext>
                      </a:extLst>
                    </p:cNvPr>
                    <p:cNvSpPr/>
                    <p:nvPr/>
                  </p:nvSpPr>
                  <p:spPr>
                    <a:xfrm flipV="1">
                      <a:off x="-1529401" y="5017998"/>
                      <a:ext cx="54947" cy="72925"/>
                    </a:xfrm>
                    <a:custGeom>
                      <a:avLst/>
                      <a:gdLst>
                        <a:gd name="connsiteX0" fmla="*/ 53782 w 54947"/>
                        <a:gd name="connsiteY0" fmla="*/ 67125 h 72925"/>
                        <a:gd name="connsiteX1" fmla="*/ 53782 w 54947"/>
                        <a:gd name="connsiteY1" fmla="*/ 56449 h 72925"/>
                        <a:gd name="connsiteX2" fmla="*/ 44078 w 54947"/>
                        <a:gd name="connsiteY2" fmla="*/ 60458 h 72925"/>
                        <a:gd name="connsiteX3" fmla="*/ 34255 w 54947"/>
                        <a:gd name="connsiteY3" fmla="*/ 61787 h 72925"/>
                        <a:gd name="connsiteX4" fmla="*/ 16991 w 54947"/>
                        <a:gd name="connsiteY4" fmla="*/ 54743 h 72925"/>
                        <a:gd name="connsiteX5" fmla="*/ 10860 w 54947"/>
                        <a:gd name="connsiteY5" fmla="*/ 34998 h 72925"/>
                        <a:gd name="connsiteX6" fmla="*/ 16991 w 54947"/>
                        <a:gd name="connsiteY6" fmla="*/ 15234 h 72925"/>
                        <a:gd name="connsiteX7" fmla="*/ 34255 w 54947"/>
                        <a:gd name="connsiteY7" fmla="*/ 8209 h 72925"/>
                        <a:gd name="connsiteX8" fmla="*/ 44078 w 54947"/>
                        <a:gd name="connsiteY8" fmla="*/ 9539 h 72925"/>
                        <a:gd name="connsiteX9" fmla="*/ 53782 w 54947"/>
                        <a:gd name="connsiteY9" fmla="*/ 13547 h 72925"/>
                        <a:gd name="connsiteX10" fmla="*/ 53782 w 54947"/>
                        <a:gd name="connsiteY10" fmla="*/ 2990 h 72925"/>
                        <a:gd name="connsiteX11" fmla="*/ 43880 w 54947"/>
                        <a:gd name="connsiteY11" fmla="*/ -343 h 72925"/>
                        <a:gd name="connsiteX12" fmla="*/ 33005 w 54947"/>
                        <a:gd name="connsiteY12" fmla="*/ -1475 h 72925"/>
                        <a:gd name="connsiteX13" fmla="*/ 8062 w 54947"/>
                        <a:gd name="connsiteY13" fmla="*/ 8388 h 72925"/>
                        <a:gd name="connsiteX14" fmla="*/ -1166 w 54947"/>
                        <a:gd name="connsiteY14" fmla="*/ 34998 h 72925"/>
                        <a:gd name="connsiteX15" fmla="*/ 8161 w 54947"/>
                        <a:gd name="connsiteY15" fmla="*/ 61708 h 72925"/>
                        <a:gd name="connsiteX16" fmla="*/ 33759 w 54947"/>
                        <a:gd name="connsiteY16" fmla="*/ 71451 h 72925"/>
                        <a:gd name="connsiteX17" fmla="*/ 44038 w 54947"/>
                        <a:gd name="connsiteY17" fmla="*/ 70360 h 72925"/>
                        <a:gd name="connsiteX18" fmla="*/ 53782 w 54947"/>
                        <a:gd name="connsiteY18" fmla="*/ 67125 h 7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947" h="72925">
                          <a:moveTo>
                            <a:pt x="53782" y="67125"/>
                          </a:moveTo>
                          <a:lnTo>
                            <a:pt x="53782" y="56449"/>
                          </a:lnTo>
                          <a:cubicBezTo>
                            <a:pt x="50554" y="58235"/>
                            <a:pt x="47319" y="59571"/>
                            <a:pt x="44078" y="60458"/>
                          </a:cubicBezTo>
                          <a:cubicBezTo>
                            <a:pt x="40837" y="61344"/>
                            <a:pt x="37563" y="61787"/>
                            <a:pt x="34255" y="61787"/>
                          </a:cubicBezTo>
                          <a:cubicBezTo>
                            <a:pt x="26847" y="61787"/>
                            <a:pt x="21092" y="59439"/>
                            <a:pt x="16991" y="54743"/>
                          </a:cubicBezTo>
                          <a:cubicBezTo>
                            <a:pt x="12903" y="50060"/>
                            <a:pt x="10860" y="43478"/>
                            <a:pt x="10860" y="34998"/>
                          </a:cubicBezTo>
                          <a:cubicBezTo>
                            <a:pt x="10860" y="26518"/>
                            <a:pt x="12903" y="19930"/>
                            <a:pt x="16991" y="15234"/>
                          </a:cubicBezTo>
                          <a:cubicBezTo>
                            <a:pt x="21092" y="10551"/>
                            <a:pt x="26847" y="8209"/>
                            <a:pt x="34255" y="8209"/>
                          </a:cubicBezTo>
                          <a:cubicBezTo>
                            <a:pt x="37563" y="8209"/>
                            <a:pt x="40837" y="8652"/>
                            <a:pt x="44078" y="9539"/>
                          </a:cubicBezTo>
                          <a:cubicBezTo>
                            <a:pt x="47319" y="10425"/>
                            <a:pt x="50554" y="11761"/>
                            <a:pt x="53782" y="13547"/>
                          </a:cubicBezTo>
                          <a:lnTo>
                            <a:pt x="53782" y="2990"/>
                          </a:lnTo>
                          <a:cubicBezTo>
                            <a:pt x="50593" y="1509"/>
                            <a:pt x="47293" y="397"/>
                            <a:pt x="43880" y="-343"/>
                          </a:cubicBezTo>
                          <a:cubicBezTo>
                            <a:pt x="40480" y="-1097"/>
                            <a:pt x="36855" y="-1475"/>
                            <a:pt x="33005" y="-1475"/>
                          </a:cubicBezTo>
                          <a:cubicBezTo>
                            <a:pt x="22541" y="-1475"/>
                            <a:pt x="14226" y="1813"/>
                            <a:pt x="8062" y="8388"/>
                          </a:cubicBezTo>
                          <a:cubicBezTo>
                            <a:pt x="1910" y="14963"/>
                            <a:pt x="-1166" y="23833"/>
                            <a:pt x="-1166" y="34998"/>
                          </a:cubicBezTo>
                          <a:cubicBezTo>
                            <a:pt x="-1166" y="46323"/>
                            <a:pt x="1943" y="55226"/>
                            <a:pt x="8161" y="61708"/>
                          </a:cubicBezTo>
                          <a:cubicBezTo>
                            <a:pt x="14392" y="68203"/>
                            <a:pt x="22925" y="71451"/>
                            <a:pt x="33759" y="71451"/>
                          </a:cubicBezTo>
                          <a:cubicBezTo>
                            <a:pt x="37265" y="71451"/>
                            <a:pt x="40691" y="71088"/>
                            <a:pt x="44038" y="70360"/>
                          </a:cubicBezTo>
                          <a:cubicBezTo>
                            <a:pt x="47385" y="69645"/>
                            <a:pt x="50633" y="68567"/>
                            <a:pt x="53782" y="67125"/>
                          </a:cubicBezTo>
                          <a:close/>
                        </a:path>
                      </a:pathLst>
                    </a:custGeom>
                    <a:solidFill>
                      <a:srgbClr val="000000"/>
                    </a:solidFill>
                    <a:ln w="20" cap="flat">
                      <a:noFill/>
                      <a:prstDash val="solid"/>
                      <a:round/>
                    </a:ln>
                  </p:spPr>
                  <p:txBody>
                    <a:bodyPr rtlCol="0" anchor="ctr"/>
                    <a:lstStyle/>
                    <a:p>
                      <a:endParaRPr lang="en-US"/>
                    </a:p>
                  </p:txBody>
                </p:sp>
                <p:sp>
                  <p:nvSpPr>
                    <p:cNvPr id="82" name="フリーフォーム: 図形 81">
                      <a:extLst>
                        <a:ext uri="{FF2B5EF4-FFF2-40B4-BE49-F238E27FC236}">
                          <a16:creationId xmlns:a16="http://schemas.microsoft.com/office/drawing/2014/main" id="{45062DD4-31C0-9FCF-722A-7D32C192D019}"/>
                        </a:ext>
                      </a:extLst>
                    </p:cNvPr>
                    <p:cNvSpPr/>
                    <p:nvPr/>
                  </p:nvSpPr>
                  <p:spPr>
                    <a:xfrm flipV="1">
                      <a:off x="-1463168" y="4999940"/>
                      <a:ext cx="43338" cy="89177"/>
                    </a:xfrm>
                    <a:custGeom>
                      <a:avLst/>
                      <a:gdLst>
                        <a:gd name="connsiteX0" fmla="*/ 19156 w 43338"/>
                        <a:gd name="connsiteY0" fmla="*/ 87202 h 89177"/>
                        <a:gd name="connsiteX1" fmla="*/ 19156 w 43338"/>
                        <a:gd name="connsiteY1" fmla="*/ 67477 h 89177"/>
                        <a:gd name="connsiteX2" fmla="*/ 42651 w 43338"/>
                        <a:gd name="connsiteY2" fmla="*/ 67477 h 89177"/>
                        <a:gd name="connsiteX3" fmla="*/ 42651 w 43338"/>
                        <a:gd name="connsiteY3" fmla="*/ 58607 h 89177"/>
                        <a:gd name="connsiteX4" fmla="*/ 19156 w 43338"/>
                        <a:gd name="connsiteY4" fmla="*/ 58607 h 89177"/>
                        <a:gd name="connsiteX5" fmla="*/ 19156 w 43338"/>
                        <a:gd name="connsiteY5" fmla="*/ 20904 h 89177"/>
                        <a:gd name="connsiteX6" fmla="*/ 21478 w 43338"/>
                        <a:gd name="connsiteY6" fmla="*/ 9990 h 89177"/>
                        <a:gd name="connsiteX7" fmla="*/ 30943 w 43338"/>
                        <a:gd name="connsiteY7" fmla="*/ 7569 h 89177"/>
                        <a:gd name="connsiteX8" fmla="*/ 42651 w 43338"/>
                        <a:gd name="connsiteY8" fmla="*/ 7569 h 89177"/>
                        <a:gd name="connsiteX9" fmla="*/ 42651 w 43338"/>
                        <a:gd name="connsiteY9" fmla="*/ -1976 h 89177"/>
                        <a:gd name="connsiteX10" fmla="*/ 30943 w 43338"/>
                        <a:gd name="connsiteY10" fmla="*/ -1976 h 89177"/>
                        <a:gd name="connsiteX11" fmla="*/ 12707 w 43338"/>
                        <a:gd name="connsiteY11" fmla="*/ 2945 h 89177"/>
                        <a:gd name="connsiteX12" fmla="*/ 7687 w 43338"/>
                        <a:gd name="connsiteY12" fmla="*/ 20904 h 89177"/>
                        <a:gd name="connsiteX13" fmla="*/ 7687 w 43338"/>
                        <a:gd name="connsiteY13" fmla="*/ 58607 h 89177"/>
                        <a:gd name="connsiteX14" fmla="*/ -688 w 43338"/>
                        <a:gd name="connsiteY14" fmla="*/ 58607 h 89177"/>
                        <a:gd name="connsiteX15" fmla="*/ -688 w 43338"/>
                        <a:gd name="connsiteY15" fmla="*/ 67477 h 89177"/>
                        <a:gd name="connsiteX16" fmla="*/ 7687 w 43338"/>
                        <a:gd name="connsiteY16" fmla="*/ 67477 h 89177"/>
                        <a:gd name="connsiteX17" fmla="*/ 7687 w 43338"/>
                        <a:gd name="connsiteY17" fmla="*/ 87202 h 89177"/>
                        <a:gd name="connsiteX18" fmla="*/ 19156 w 43338"/>
                        <a:gd name="connsiteY18" fmla="*/ 87202 h 89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3338" h="89177">
                          <a:moveTo>
                            <a:pt x="19156" y="87202"/>
                          </a:moveTo>
                          <a:lnTo>
                            <a:pt x="19156" y="67477"/>
                          </a:lnTo>
                          <a:lnTo>
                            <a:pt x="42651" y="67477"/>
                          </a:lnTo>
                          <a:lnTo>
                            <a:pt x="42651" y="58607"/>
                          </a:lnTo>
                          <a:lnTo>
                            <a:pt x="19156" y="58607"/>
                          </a:lnTo>
                          <a:lnTo>
                            <a:pt x="19156" y="20904"/>
                          </a:lnTo>
                          <a:cubicBezTo>
                            <a:pt x="19156" y="15242"/>
                            <a:pt x="19930" y="11604"/>
                            <a:pt x="21478" y="9990"/>
                          </a:cubicBezTo>
                          <a:cubicBezTo>
                            <a:pt x="23026" y="8376"/>
                            <a:pt x="26181" y="7569"/>
                            <a:pt x="30943" y="7569"/>
                          </a:cubicBezTo>
                          <a:lnTo>
                            <a:pt x="42651" y="7569"/>
                          </a:lnTo>
                          <a:lnTo>
                            <a:pt x="42651" y="-1976"/>
                          </a:lnTo>
                          <a:lnTo>
                            <a:pt x="30943" y="-1976"/>
                          </a:lnTo>
                          <a:cubicBezTo>
                            <a:pt x="22133" y="-1976"/>
                            <a:pt x="16054" y="-335"/>
                            <a:pt x="12707" y="2945"/>
                          </a:cubicBezTo>
                          <a:cubicBezTo>
                            <a:pt x="9360" y="6240"/>
                            <a:pt x="7687" y="12226"/>
                            <a:pt x="7687" y="20904"/>
                          </a:cubicBezTo>
                          <a:lnTo>
                            <a:pt x="7687" y="58607"/>
                          </a:lnTo>
                          <a:lnTo>
                            <a:pt x="-688" y="58607"/>
                          </a:lnTo>
                          <a:lnTo>
                            <a:pt x="-688" y="67477"/>
                          </a:lnTo>
                          <a:lnTo>
                            <a:pt x="7687" y="67477"/>
                          </a:lnTo>
                          <a:lnTo>
                            <a:pt x="7687" y="87202"/>
                          </a:lnTo>
                          <a:lnTo>
                            <a:pt x="19156" y="87202"/>
                          </a:lnTo>
                          <a:close/>
                        </a:path>
                      </a:pathLst>
                    </a:custGeom>
                    <a:solidFill>
                      <a:srgbClr val="000000"/>
                    </a:solidFill>
                    <a:ln w="20" cap="flat">
                      <a:noFill/>
                      <a:prstDash val="solid"/>
                      <a:round/>
                    </a:ln>
                  </p:spPr>
                  <p:txBody>
                    <a:bodyPr rtlCol="0" anchor="ctr"/>
                    <a:lstStyle/>
                    <a:p>
                      <a:endParaRPr lang="en-US"/>
                    </a:p>
                  </p:txBody>
                </p:sp>
              </p:grpSp>
            </p:grpSp>
            <p:grpSp>
              <p:nvGrpSpPr>
                <p:cNvPr id="83" name="グラフィックス 6">
                  <a:extLst>
                    <a:ext uri="{FF2B5EF4-FFF2-40B4-BE49-F238E27FC236}">
                      <a16:creationId xmlns:a16="http://schemas.microsoft.com/office/drawing/2014/main" id="{C85060BA-329D-5BD0-69B8-420BCB813766}"/>
                    </a:ext>
                  </a:extLst>
                </p:cNvPr>
                <p:cNvGrpSpPr/>
                <p:nvPr/>
              </p:nvGrpSpPr>
              <p:grpSpPr>
                <a:xfrm>
                  <a:off x="-943771" y="1941575"/>
                  <a:ext cx="231618" cy="3149348"/>
                  <a:chOff x="-943771" y="1941575"/>
                  <a:chExt cx="231618" cy="3149348"/>
                </a:xfrm>
              </p:grpSpPr>
              <p:sp>
                <p:nvSpPr>
                  <p:cNvPr id="84" name="フリーフォーム: 図形 83">
                    <a:extLst>
                      <a:ext uri="{FF2B5EF4-FFF2-40B4-BE49-F238E27FC236}">
                        <a16:creationId xmlns:a16="http://schemas.microsoft.com/office/drawing/2014/main" id="{5D300E43-60AA-9144-5D24-5505E730ADE2}"/>
                      </a:ext>
                    </a:extLst>
                  </p:cNvPr>
                  <p:cNvSpPr/>
                  <p:nvPr/>
                </p:nvSpPr>
                <p:spPr>
                  <a:xfrm>
                    <a:off x="-832294" y="1941575"/>
                    <a:ext cx="12700" cy="2962147"/>
                  </a:xfrm>
                  <a:custGeom>
                    <a:avLst/>
                    <a:gdLst>
                      <a:gd name="connsiteX0" fmla="*/ 0 w 12700"/>
                      <a:gd name="connsiteY0" fmla="*/ 2962148 h 2962147"/>
                      <a:gd name="connsiteX1" fmla="*/ 0 w 12700"/>
                      <a:gd name="connsiteY1" fmla="*/ 0 h 2962147"/>
                    </a:gdLst>
                    <a:ahLst/>
                    <a:cxnLst>
                      <a:cxn ang="0">
                        <a:pos x="connsiteX0" y="connsiteY0"/>
                      </a:cxn>
                      <a:cxn ang="0">
                        <a:pos x="connsiteX1" y="connsiteY1"/>
                      </a:cxn>
                    </a:cxnLst>
                    <a:rect l="l" t="t" r="r" b="b"/>
                    <a:pathLst>
                      <a:path w="12700" h="2962147">
                        <a:moveTo>
                          <a:pt x="0" y="2962148"/>
                        </a:moveTo>
                        <a:lnTo>
                          <a:pt x="0" y="0"/>
                        </a:lnTo>
                      </a:path>
                    </a:pathLst>
                  </a:custGeom>
                  <a:noFill/>
                  <a:ln w="10160" cap="sq">
                    <a:solidFill>
                      <a:srgbClr val="B0B0B0"/>
                    </a:solidFill>
                    <a:prstDash val="solid"/>
                    <a:round/>
                  </a:ln>
                </p:spPr>
                <p:txBody>
                  <a:bodyPr rtlCol="0" anchor="ctr"/>
                  <a:lstStyle/>
                  <a:p>
                    <a:endParaRPr lang="en-US"/>
                  </a:p>
                </p:txBody>
              </p:sp>
              <p:sp>
                <p:nvSpPr>
                  <p:cNvPr id="85" name="フリーフォーム: 図形 84">
                    <a:extLst>
                      <a:ext uri="{FF2B5EF4-FFF2-40B4-BE49-F238E27FC236}">
                        <a16:creationId xmlns:a16="http://schemas.microsoft.com/office/drawing/2014/main" id="{B356D746-CC7C-4437-8D8D-70B128592489}"/>
                      </a:ext>
                    </a:extLst>
                  </p:cNvPr>
                  <p:cNvSpPr/>
                  <p:nvPr/>
                </p:nvSpPr>
                <p:spPr>
                  <a:xfrm>
                    <a:off x="-832294" y="4903724"/>
                    <a:ext cx="12700" cy="44450"/>
                  </a:xfrm>
                  <a:custGeom>
                    <a:avLst/>
                    <a:gdLst>
                      <a:gd name="connsiteX0" fmla="*/ 624 w 12700"/>
                      <a:gd name="connsiteY0" fmla="*/ 260 h 44450"/>
                      <a:gd name="connsiteX1" fmla="*/ 624 w 12700"/>
                      <a:gd name="connsiteY1" fmla="*/ 44710 h 44450"/>
                    </a:gdLst>
                    <a:ahLst/>
                    <a:cxnLst>
                      <a:cxn ang="0">
                        <a:pos x="connsiteX0" y="connsiteY0"/>
                      </a:cxn>
                      <a:cxn ang="0">
                        <a:pos x="connsiteX1" y="connsiteY1"/>
                      </a:cxn>
                    </a:cxnLst>
                    <a:rect l="l" t="t" r="r" b="b"/>
                    <a:pathLst>
                      <a:path w="12700" h="44450">
                        <a:moveTo>
                          <a:pt x="624" y="260"/>
                        </a:moveTo>
                        <a:lnTo>
                          <a:pt x="624" y="44710"/>
                        </a:lnTo>
                      </a:path>
                    </a:pathLst>
                  </a:custGeom>
                  <a:solidFill>
                    <a:srgbClr val="000000"/>
                  </a:solidFill>
                  <a:ln w="10160" cap="flat">
                    <a:solidFill>
                      <a:srgbClr val="000000"/>
                    </a:solidFill>
                    <a:prstDash val="solid"/>
                    <a:round/>
                  </a:ln>
                </p:spPr>
                <p:txBody>
                  <a:bodyPr rtlCol="0" anchor="ctr"/>
                  <a:lstStyle/>
                  <a:p>
                    <a:endParaRPr lang="en-US"/>
                  </a:p>
                </p:txBody>
              </p:sp>
              <p:grpSp>
                <p:nvGrpSpPr>
                  <p:cNvPr id="86" name="グラフィックス 6">
                    <a:extLst>
                      <a:ext uri="{FF2B5EF4-FFF2-40B4-BE49-F238E27FC236}">
                        <a16:creationId xmlns:a16="http://schemas.microsoft.com/office/drawing/2014/main" id="{FED0DE96-5C8D-DEA9-58A5-F92F8F8B7C8B}"/>
                      </a:ext>
                    </a:extLst>
                  </p:cNvPr>
                  <p:cNvGrpSpPr/>
                  <p:nvPr/>
                </p:nvGrpSpPr>
                <p:grpSpPr>
                  <a:xfrm>
                    <a:off x="-943771" y="4996527"/>
                    <a:ext cx="231618" cy="94396"/>
                    <a:chOff x="-943771" y="4996527"/>
                    <a:chExt cx="231618" cy="94396"/>
                  </a:xfrm>
                  <a:solidFill>
                    <a:srgbClr val="000000"/>
                  </a:solidFill>
                </p:grpSpPr>
                <p:sp>
                  <p:nvSpPr>
                    <p:cNvPr id="87" name="フリーフォーム: 図形 86">
                      <a:extLst>
                        <a:ext uri="{FF2B5EF4-FFF2-40B4-BE49-F238E27FC236}">
                          <a16:creationId xmlns:a16="http://schemas.microsoft.com/office/drawing/2014/main" id="{97CB9937-7DB2-4FE7-BF84-628122462B6C}"/>
                        </a:ext>
                      </a:extLst>
                    </p:cNvPr>
                    <p:cNvSpPr/>
                    <p:nvPr/>
                  </p:nvSpPr>
                  <p:spPr>
                    <a:xfrm flipV="1">
                      <a:off x="-943771" y="4996527"/>
                      <a:ext cx="70068" cy="92590"/>
                    </a:xfrm>
                    <a:custGeom>
                      <a:avLst/>
                      <a:gdLst>
                        <a:gd name="connsiteX0" fmla="*/ -1775 w 70068"/>
                        <a:gd name="connsiteY0" fmla="*/ 90529 h 92590"/>
                        <a:gd name="connsiteX1" fmla="*/ 15092 w 70068"/>
                        <a:gd name="connsiteY1" fmla="*/ 90529 h 92590"/>
                        <a:gd name="connsiteX2" fmla="*/ 56149 w 70068"/>
                        <a:gd name="connsiteY2" fmla="*/ 13079 h 92590"/>
                        <a:gd name="connsiteX3" fmla="*/ 56149 w 70068"/>
                        <a:gd name="connsiteY3" fmla="*/ 90529 h 92590"/>
                        <a:gd name="connsiteX4" fmla="*/ 68293 w 70068"/>
                        <a:gd name="connsiteY4" fmla="*/ 90529 h 92590"/>
                        <a:gd name="connsiteX5" fmla="*/ 68293 w 70068"/>
                        <a:gd name="connsiteY5" fmla="*/ -2062 h 92590"/>
                        <a:gd name="connsiteX6" fmla="*/ 51426 w 70068"/>
                        <a:gd name="connsiteY6" fmla="*/ -2062 h 92590"/>
                        <a:gd name="connsiteX7" fmla="*/ 10389 w 70068"/>
                        <a:gd name="connsiteY7" fmla="*/ 75388 h 92590"/>
                        <a:gd name="connsiteX8" fmla="*/ 10389 w 70068"/>
                        <a:gd name="connsiteY8" fmla="*/ -2062 h 92590"/>
                        <a:gd name="connsiteX9" fmla="*/ -1775 w 70068"/>
                        <a:gd name="connsiteY9" fmla="*/ -2062 h 92590"/>
                        <a:gd name="connsiteX10" fmla="*/ -1775 w 70068"/>
                        <a:gd name="connsiteY10" fmla="*/ 90529 h 92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0068" h="92590">
                          <a:moveTo>
                            <a:pt x="-1775" y="90529"/>
                          </a:moveTo>
                          <a:lnTo>
                            <a:pt x="15092" y="90529"/>
                          </a:lnTo>
                          <a:lnTo>
                            <a:pt x="56149" y="13079"/>
                          </a:lnTo>
                          <a:lnTo>
                            <a:pt x="56149" y="90529"/>
                          </a:lnTo>
                          <a:lnTo>
                            <a:pt x="68293" y="90529"/>
                          </a:lnTo>
                          <a:lnTo>
                            <a:pt x="68293" y="-2062"/>
                          </a:lnTo>
                          <a:lnTo>
                            <a:pt x="51426" y="-2062"/>
                          </a:lnTo>
                          <a:lnTo>
                            <a:pt x="10389" y="75388"/>
                          </a:lnTo>
                          <a:lnTo>
                            <a:pt x="10389" y="-2062"/>
                          </a:lnTo>
                          <a:lnTo>
                            <a:pt x="-1775" y="-2062"/>
                          </a:lnTo>
                          <a:lnTo>
                            <a:pt x="-1775" y="90529"/>
                          </a:lnTo>
                          <a:close/>
                        </a:path>
                      </a:pathLst>
                    </a:custGeom>
                    <a:solidFill>
                      <a:srgbClr val="000000"/>
                    </a:solidFill>
                    <a:ln w="20" cap="flat">
                      <a:noFill/>
                      <a:prstDash val="solid"/>
                      <a:round/>
                    </a:ln>
                  </p:spPr>
                  <p:txBody>
                    <a:bodyPr rtlCol="0" anchor="ctr"/>
                    <a:lstStyle/>
                    <a:p>
                      <a:endParaRPr lang="en-US"/>
                    </a:p>
                  </p:txBody>
                </p:sp>
                <p:sp>
                  <p:nvSpPr>
                    <p:cNvPr id="88" name="フリーフォーム: 図形 87">
                      <a:extLst>
                        <a:ext uri="{FF2B5EF4-FFF2-40B4-BE49-F238E27FC236}">
                          <a16:creationId xmlns:a16="http://schemas.microsoft.com/office/drawing/2014/main" id="{5E05702F-52C8-4BCF-7497-D88884DB4829}"/>
                        </a:ext>
                      </a:extLst>
                    </p:cNvPr>
                    <p:cNvSpPr/>
                    <p:nvPr/>
                  </p:nvSpPr>
                  <p:spPr>
                    <a:xfrm flipV="1">
                      <a:off x="-854226" y="5017998"/>
                      <a:ext cx="63757" cy="72925"/>
                    </a:xfrm>
                    <a:custGeom>
                      <a:avLst/>
                      <a:gdLst>
                        <a:gd name="connsiteX0" fmla="*/ 30535 w 63757"/>
                        <a:gd name="connsiteY0" fmla="*/ 61787 h 72925"/>
                        <a:gd name="connsiteX1" fmla="*/ 16029 w 63757"/>
                        <a:gd name="connsiteY1" fmla="*/ 54624 h 72925"/>
                        <a:gd name="connsiteX2" fmla="*/ 10691 w 63757"/>
                        <a:gd name="connsiteY2" fmla="*/ 34998 h 72925"/>
                        <a:gd name="connsiteX3" fmla="*/ 15989 w 63757"/>
                        <a:gd name="connsiteY3" fmla="*/ 15373 h 72925"/>
                        <a:gd name="connsiteX4" fmla="*/ 30535 w 63757"/>
                        <a:gd name="connsiteY4" fmla="*/ 8209 h 72925"/>
                        <a:gd name="connsiteX5" fmla="*/ 44981 w 63757"/>
                        <a:gd name="connsiteY5" fmla="*/ 15393 h 72925"/>
                        <a:gd name="connsiteX6" fmla="*/ 50319 w 63757"/>
                        <a:gd name="connsiteY6" fmla="*/ 34998 h 72925"/>
                        <a:gd name="connsiteX7" fmla="*/ 44981 w 63757"/>
                        <a:gd name="connsiteY7" fmla="*/ 54564 h 72925"/>
                        <a:gd name="connsiteX8" fmla="*/ 30535 w 63757"/>
                        <a:gd name="connsiteY8" fmla="*/ 61787 h 72925"/>
                        <a:gd name="connsiteX9" fmla="*/ 30535 w 63757"/>
                        <a:gd name="connsiteY9" fmla="*/ 71451 h 72925"/>
                        <a:gd name="connsiteX10" fmla="*/ 53911 w 63757"/>
                        <a:gd name="connsiteY10" fmla="*/ 61768 h 72925"/>
                        <a:gd name="connsiteX11" fmla="*/ 62424 w 63757"/>
                        <a:gd name="connsiteY11" fmla="*/ 34998 h 72925"/>
                        <a:gd name="connsiteX12" fmla="*/ 53911 w 63757"/>
                        <a:gd name="connsiteY12" fmla="*/ 8229 h 72925"/>
                        <a:gd name="connsiteX13" fmla="*/ 30535 w 63757"/>
                        <a:gd name="connsiteY13" fmla="*/ -1475 h 72925"/>
                        <a:gd name="connsiteX14" fmla="*/ 7119 w 63757"/>
                        <a:gd name="connsiteY14" fmla="*/ 8229 h 72925"/>
                        <a:gd name="connsiteX15" fmla="*/ -1334 w 63757"/>
                        <a:gd name="connsiteY15" fmla="*/ 34998 h 72925"/>
                        <a:gd name="connsiteX16" fmla="*/ 7119 w 63757"/>
                        <a:gd name="connsiteY16" fmla="*/ 61768 h 72925"/>
                        <a:gd name="connsiteX17" fmla="*/ 30535 w 63757"/>
                        <a:gd name="connsiteY17" fmla="*/ 71451 h 7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3757" h="72925">
                          <a:moveTo>
                            <a:pt x="30535" y="61787"/>
                          </a:moveTo>
                          <a:cubicBezTo>
                            <a:pt x="24423" y="61787"/>
                            <a:pt x="19588" y="59400"/>
                            <a:pt x="16029" y="54624"/>
                          </a:cubicBezTo>
                          <a:cubicBezTo>
                            <a:pt x="12470" y="49848"/>
                            <a:pt x="10691" y="43306"/>
                            <a:pt x="10691" y="34998"/>
                          </a:cubicBezTo>
                          <a:cubicBezTo>
                            <a:pt x="10691" y="26690"/>
                            <a:pt x="12457" y="20149"/>
                            <a:pt x="15989" y="15373"/>
                          </a:cubicBezTo>
                          <a:cubicBezTo>
                            <a:pt x="19535" y="10597"/>
                            <a:pt x="24383" y="8209"/>
                            <a:pt x="30535" y="8209"/>
                          </a:cubicBezTo>
                          <a:cubicBezTo>
                            <a:pt x="36620" y="8209"/>
                            <a:pt x="41436" y="10604"/>
                            <a:pt x="44981" y="15393"/>
                          </a:cubicBezTo>
                          <a:cubicBezTo>
                            <a:pt x="48540" y="20195"/>
                            <a:pt x="50319" y="26730"/>
                            <a:pt x="50319" y="34998"/>
                          </a:cubicBezTo>
                          <a:cubicBezTo>
                            <a:pt x="50319" y="43227"/>
                            <a:pt x="48540" y="49749"/>
                            <a:pt x="44981" y="54564"/>
                          </a:cubicBezTo>
                          <a:cubicBezTo>
                            <a:pt x="41436" y="59380"/>
                            <a:pt x="36620" y="61787"/>
                            <a:pt x="30535" y="61787"/>
                          </a:cubicBezTo>
                          <a:close/>
                          <a:moveTo>
                            <a:pt x="30535" y="71451"/>
                          </a:moveTo>
                          <a:cubicBezTo>
                            <a:pt x="40457" y="71451"/>
                            <a:pt x="48249" y="68223"/>
                            <a:pt x="53911" y="61768"/>
                          </a:cubicBezTo>
                          <a:cubicBezTo>
                            <a:pt x="59586" y="55325"/>
                            <a:pt x="62424" y="46402"/>
                            <a:pt x="62424" y="34998"/>
                          </a:cubicBezTo>
                          <a:cubicBezTo>
                            <a:pt x="62424" y="23634"/>
                            <a:pt x="59586" y="14711"/>
                            <a:pt x="53911" y="8229"/>
                          </a:cubicBezTo>
                          <a:cubicBezTo>
                            <a:pt x="48249" y="1760"/>
                            <a:pt x="40457" y="-1475"/>
                            <a:pt x="30535" y="-1475"/>
                          </a:cubicBezTo>
                          <a:cubicBezTo>
                            <a:pt x="20573" y="-1475"/>
                            <a:pt x="12768" y="1760"/>
                            <a:pt x="7119" y="8229"/>
                          </a:cubicBezTo>
                          <a:cubicBezTo>
                            <a:pt x="1484" y="14711"/>
                            <a:pt x="-1334" y="23634"/>
                            <a:pt x="-1334" y="34998"/>
                          </a:cubicBezTo>
                          <a:cubicBezTo>
                            <a:pt x="-1334" y="46402"/>
                            <a:pt x="1484" y="55325"/>
                            <a:pt x="7119" y="61768"/>
                          </a:cubicBezTo>
                          <a:cubicBezTo>
                            <a:pt x="12768" y="68223"/>
                            <a:pt x="20573" y="71451"/>
                            <a:pt x="30535" y="71451"/>
                          </a:cubicBezTo>
                          <a:close/>
                        </a:path>
                      </a:pathLst>
                    </a:custGeom>
                    <a:solidFill>
                      <a:srgbClr val="000000"/>
                    </a:solidFill>
                    <a:ln w="20" cap="flat">
                      <a:noFill/>
                      <a:prstDash val="solid"/>
                      <a:round/>
                    </a:ln>
                  </p:spPr>
                  <p:txBody>
                    <a:bodyPr rtlCol="0" anchor="ctr"/>
                    <a:lstStyle/>
                    <a:p>
                      <a:endParaRPr lang="en-US"/>
                    </a:p>
                  </p:txBody>
                </p:sp>
                <p:sp>
                  <p:nvSpPr>
                    <p:cNvPr id="89" name="フリーフォーム: 図形 88">
                      <a:extLst>
                        <a:ext uri="{FF2B5EF4-FFF2-40B4-BE49-F238E27FC236}">
                          <a16:creationId xmlns:a16="http://schemas.microsoft.com/office/drawing/2014/main" id="{8DF3A396-0CD2-014F-7D75-6933BF2C5F0E}"/>
                        </a:ext>
                      </a:extLst>
                    </p:cNvPr>
                    <p:cNvSpPr/>
                    <p:nvPr/>
                  </p:nvSpPr>
                  <p:spPr>
                    <a:xfrm flipV="1">
                      <a:off x="-779741" y="5019665"/>
                      <a:ext cx="67587" cy="69453"/>
                    </a:xfrm>
                    <a:custGeom>
                      <a:avLst/>
                      <a:gdLst>
                        <a:gd name="connsiteX0" fmla="*/ -1263 w 67587"/>
                        <a:gd name="connsiteY0" fmla="*/ 67975 h 69453"/>
                        <a:gd name="connsiteX1" fmla="*/ 10822 w 67587"/>
                        <a:gd name="connsiteY1" fmla="*/ 67975 h 69453"/>
                        <a:gd name="connsiteX2" fmla="*/ 32531 w 67587"/>
                        <a:gd name="connsiteY2" fmla="*/ 9694 h 69453"/>
                        <a:gd name="connsiteX3" fmla="*/ 54240 w 67587"/>
                        <a:gd name="connsiteY3" fmla="*/ 67975 h 69453"/>
                        <a:gd name="connsiteX4" fmla="*/ 66325 w 67587"/>
                        <a:gd name="connsiteY4" fmla="*/ 67975 h 69453"/>
                        <a:gd name="connsiteX5" fmla="*/ 40270 w 67587"/>
                        <a:gd name="connsiteY5" fmla="*/ -1478 h 69453"/>
                        <a:gd name="connsiteX6" fmla="*/ 24772 w 67587"/>
                        <a:gd name="connsiteY6" fmla="*/ -1478 h 69453"/>
                        <a:gd name="connsiteX7" fmla="*/ -1263 w 67587"/>
                        <a:gd name="connsiteY7" fmla="*/ 67975 h 69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7587" h="69453">
                          <a:moveTo>
                            <a:pt x="-1263" y="67975"/>
                          </a:moveTo>
                          <a:lnTo>
                            <a:pt x="10822" y="67975"/>
                          </a:lnTo>
                          <a:lnTo>
                            <a:pt x="32531" y="9694"/>
                          </a:lnTo>
                          <a:lnTo>
                            <a:pt x="54240" y="67975"/>
                          </a:lnTo>
                          <a:lnTo>
                            <a:pt x="66325" y="67975"/>
                          </a:lnTo>
                          <a:lnTo>
                            <a:pt x="40270" y="-1478"/>
                          </a:lnTo>
                          <a:lnTo>
                            <a:pt x="24772" y="-1478"/>
                          </a:lnTo>
                          <a:lnTo>
                            <a:pt x="-1263" y="67975"/>
                          </a:lnTo>
                          <a:close/>
                        </a:path>
                      </a:pathLst>
                    </a:custGeom>
                    <a:solidFill>
                      <a:srgbClr val="000000"/>
                    </a:solidFill>
                    <a:ln w="20" cap="flat">
                      <a:noFill/>
                      <a:prstDash val="solid"/>
                      <a:round/>
                    </a:ln>
                  </p:spPr>
                  <p:txBody>
                    <a:bodyPr rtlCol="0" anchor="ctr"/>
                    <a:lstStyle/>
                    <a:p>
                      <a:endParaRPr lang="en-US"/>
                    </a:p>
                  </p:txBody>
                </p:sp>
              </p:grpSp>
            </p:grpSp>
            <p:grpSp>
              <p:nvGrpSpPr>
                <p:cNvPr id="90" name="グラフィックス 6">
                  <a:extLst>
                    <a:ext uri="{FF2B5EF4-FFF2-40B4-BE49-F238E27FC236}">
                      <a16:creationId xmlns:a16="http://schemas.microsoft.com/office/drawing/2014/main" id="{72269B2D-DE3E-167D-90A5-952EC4A26FFC}"/>
                    </a:ext>
                  </a:extLst>
                </p:cNvPr>
                <p:cNvGrpSpPr/>
                <p:nvPr/>
              </p:nvGrpSpPr>
              <p:grpSpPr>
                <a:xfrm>
                  <a:off x="-248434" y="1941575"/>
                  <a:ext cx="225417" cy="3149348"/>
                  <a:chOff x="-248434" y="1941575"/>
                  <a:chExt cx="225417" cy="3149348"/>
                </a:xfrm>
              </p:grpSpPr>
              <p:sp>
                <p:nvSpPr>
                  <p:cNvPr id="91" name="フリーフォーム: 図形 90">
                    <a:extLst>
                      <a:ext uri="{FF2B5EF4-FFF2-40B4-BE49-F238E27FC236}">
                        <a16:creationId xmlns:a16="http://schemas.microsoft.com/office/drawing/2014/main" id="{F713DDA9-8B04-8B5E-CE9E-37443319EC0C}"/>
                      </a:ext>
                    </a:extLst>
                  </p:cNvPr>
                  <p:cNvSpPr/>
                  <p:nvPr/>
                </p:nvSpPr>
                <p:spPr>
                  <a:xfrm>
                    <a:off x="-138010" y="1941575"/>
                    <a:ext cx="12700" cy="2962147"/>
                  </a:xfrm>
                  <a:custGeom>
                    <a:avLst/>
                    <a:gdLst>
                      <a:gd name="connsiteX0" fmla="*/ 0 w 12700"/>
                      <a:gd name="connsiteY0" fmla="*/ 2962148 h 2962147"/>
                      <a:gd name="connsiteX1" fmla="*/ 0 w 12700"/>
                      <a:gd name="connsiteY1" fmla="*/ 0 h 2962147"/>
                    </a:gdLst>
                    <a:ahLst/>
                    <a:cxnLst>
                      <a:cxn ang="0">
                        <a:pos x="connsiteX0" y="connsiteY0"/>
                      </a:cxn>
                      <a:cxn ang="0">
                        <a:pos x="connsiteX1" y="connsiteY1"/>
                      </a:cxn>
                    </a:cxnLst>
                    <a:rect l="l" t="t" r="r" b="b"/>
                    <a:pathLst>
                      <a:path w="12700" h="2962147">
                        <a:moveTo>
                          <a:pt x="0" y="2962148"/>
                        </a:moveTo>
                        <a:lnTo>
                          <a:pt x="0" y="0"/>
                        </a:lnTo>
                      </a:path>
                    </a:pathLst>
                  </a:custGeom>
                  <a:noFill/>
                  <a:ln w="10160" cap="sq">
                    <a:solidFill>
                      <a:srgbClr val="B0B0B0"/>
                    </a:solidFill>
                    <a:prstDash val="solid"/>
                    <a:round/>
                  </a:ln>
                </p:spPr>
                <p:txBody>
                  <a:bodyPr rtlCol="0" anchor="ctr"/>
                  <a:lstStyle/>
                  <a:p>
                    <a:endParaRPr lang="en-US"/>
                  </a:p>
                </p:txBody>
              </p:sp>
              <p:sp>
                <p:nvSpPr>
                  <p:cNvPr id="92" name="フリーフォーム: 図形 91">
                    <a:extLst>
                      <a:ext uri="{FF2B5EF4-FFF2-40B4-BE49-F238E27FC236}">
                        <a16:creationId xmlns:a16="http://schemas.microsoft.com/office/drawing/2014/main" id="{7241B44B-61D0-CF1E-D794-8F9E089487D9}"/>
                      </a:ext>
                    </a:extLst>
                  </p:cNvPr>
                  <p:cNvSpPr/>
                  <p:nvPr/>
                </p:nvSpPr>
                <p:spPr>
                  <a:xfrm>
                    <a:off x="-138010" y="4903724"/>
                    <a:ext cx="12700" cy="44450"/>
                  </a:xfrm>
                  <a:custGeom>
                    <a:avLst/>
                    <a:gdLst>
                      <a:gd name="connsiteX0" fmla="*/ 679 w 12700"/>
                      <a:gd name="connsiteY0" fmla="*/ 260 h 44450"/>
                      <a:gd name="connsiteX1" fmla="*/ 679 w 12700"/>
                      <a:gd name="connsiteY1" fmla="*/ 44710 h 44450"/>
                    </a:gdLst>
                    <a:ahLst/>
                    <a:cxnLst>
                      <a:cxn ang="0">
                        <a:pos x="connsiteX0" y="connsiteY0"/>
                      </a:cxn>
                      <a:cxn ang="0">
                        <a:pos x="connsiteX1" y="connsiteY1"/>
                      </a:cxn>
                    </a:cxnLst>
                    <a:rect l="l" t="t" r="r" b="b"/>
                    <a:pathLst>
                      <a:path w="12700" h="44450">
                        <a:moveTo>
                          <a:pt x="679" y="260"/>
                        </a:moveTo>
                        <a:lnTo>
                          <a:pt x="679" y="44710"/>
                        </a:lnTo>
                      </a:path>
                    </a:pathLst>
                  </a:custGeom>
                  <a:solidFill>
                    <a:srgbClr val="000000"/>
                  </a:solidFill>
                  <a:ln w="10160" cap="flat">
                    <a:solidFill>
                      <a:srgbClr val="000000"/>
                    </a:solidFill>
                    <a:prstDash val="solid"/>
                    <a:round/>
                  </a:ln>
                </p:spPr>
                <p:txBody>
                  <a:bodyPr rtlCol="0" anchor="ctr"/>
                  <a:lstStyle/>
                  <a:p>
                    <a:endParaRPr lang="en-US"/>
                  </a:p>
                </p:txBody>
              </p:sp>
              <p:grpSp>
                <p:nvGrpSpPr>
                  <p:cNvPr id="93" name="グラフィックス 6">
                    <a:extLst>
                      <a:ext uri="{FF2B5EF4-FFF2-40B4-BE49-F238E27FC236}">
                        <a16:creationId xmlns:a16="http://schemas.microsoft.com/office/drawing/2014/main" id="{99B32EFC-6D67-E697-F69B-CB9C00ECAAFE}"/>
                      </a:ext>
                    </a:extLst>
                  </p:cNvPr>
                  <p:cNvGrpSpPr/>
                  <p:nvPr/>
                </p:nvGrpSpPr>
                <p:grpSpPr>
                  <a:xfrm>
                    <a:off x="-248434" y="4996527"/>
                    <a:ext cx="225417" cy="94396"/>
                    <a:chOff x="-248434" y="4996527"/>
                    <a:chExt cx="225417" cy="94396"/>
                  </a:xfrm>
                  <a:solidFill>
                    <a:srgbClr val="000000"/>
                  </a:solidFill>
                </p:grpSpPr>
                <p:sp>
                  <p:nvSpPr>
                    <p:cNvPr id="94" name="フリーフォーム: 図形 93">
                      <a:extLst>
                        <a:ext uri="{FF2B5EF4-FFF2-40B4-BE49-F238E27FC236}">
                          <a16:creationId xmlns:a16="http://schemas.microsoft.com/office/drawing/2014/main" id="{7909B6A1-0DFC-DC21-6A2A-709CC032B532}"/>
                        </a:ext>
                      </a:extLst>
                    </p:cNvPr>
                    <p:cNvSpPr/>
                    <p:nvPr/>
                  </p:nvSpPr>
                  <p:spPr>
                    <a:xfrm flipV="1">
                      <a:off x="-248434" y="4996527"/>
                      <a:ext cx="77827" cy="92590"/>
                    </a:xfrm>
                    <a:custGeom>
                      <a:avLst/>
                      <a:gdLst>
                        <a:gd name="connsiteX0" fmla="*/ 10606 w 77827"/>
                        <a:gd name="connsiteY0" fmla="*/ 80230 h 92590"/>
                        <a:gd name="connsiteX1" fmla="*/ 10606 w 77827"/>
                        <a:gd name="connsiteY1" fmla="*/ 8237 h 92590"/>
                        <a:gd name="connsiteX2" fmla="*/ 25747 w 77827"/>
                        <a:gd name="connsiteY2" fmla="*/ 8237 h 92590"/>
                        <a:gd name="connsiteX3" fmla="*/ 53806 w 77827"/>
                        <a:gd name="connsiteY3" fmla="*/ 16909 h 92590"/>
                        <a:gd name="connsiteX4" fmla="*/ 62696 w 77827"/>
                        <a:gd name="connsiteY4" fmla="*/ 44333 h 92590"/>
                        <a:gd name="connsiteX5" fmla="*/ 53806 w 77827"/>
                        <a:gd name="connsiteY5" fmla="*/ 71578 h 92590"/>
                        <a:gd name="connsiteX6" fmla="*/ 25747 w 77827"/>
                        <a:gd name="connsiteY6" fmla="*/ 80230 h 92590"/>
                        <a:gd name="connsiteX7" fmla="*/ 10606 w 77827"/>
                        <a:gd name="connsiteY7" fmla="*/ 80230 h 92590"/>
                        <a:gd name="connsiteX8" fmla="*/ -1915 w 77827"/>
                        <a:gd name="connsiteY8" fmla="*/ 90529 h 92590"/>
                        <a:gd name="connsiteX9" fmla="*/ 23822 w 77827"/>
                        <a:gd name="connsiteY9" fmla="*/ 90529 h 92590"/>
                        <a:gd name="connsiteX10" fmla="*/ 63311 w 77827"/>
                        <a:gd name="connsiteY10" fmla="*/ 79337 h 92590"/>
                        <a:gd name="connsiteX11" fmla="*/ 75912 w 77827"/>
                        <a:gd name="connsiteY11" fmla="*/ 44333 h 92590"/>
                        <a:gd name="connsiteX12" fmla="*/ 63251 w 77827"/>
                        <a:gd name="connsiteY12" fmla="*/ 9150 h 92590"/>
                        <a:gd name="connsiteX13" fmla="*/ 23822 w 77827"/>
                        <a:gd name="connsiteY13" fmla="*/ -2062 h 92590"/>
                        <a:gd name="connsiteX14" fmla="*/ -1915 w 77827"/>
                        <a:gd name="connsiteY14" fmla="*/ -2062 h 92590"/>
                        <a:gd name="connsiteX15" fmla="*/ -1915 w 77827"/>
                        <a:gd name="connsiteY15" fmla="*/ 90529 h 92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77827" h="92590">
                          <a:moveTo>
                            <a:pt x="10606" y="80230"/>
                          </a:moveTo>
                          <a:lnTo>
                            <a:pt x="10606" y="8237"/>
                          </a:lnTo>
                          <a:lnTo>
                            <a:pt x="25747" y="8237"/>
                          </a:lnTo>
                          <a:cubicBezTo>
                            <a:pt x="38526" y="8237"/>
                            <a:pt x="47879" y="11128"/>
                            <a:pt x="53806" y="16909"/>
                          </a:cubicBezTo>
                          <a:cubicBezTo>
                            <a:pt x="59732" y="22703"/>
                            <a:pt x="62696" y="31844"/>
                            <a:pt x="62696" y="44333"/>
                          </a:cubicBezTo>
                          <a:cubicBezTo>
                            <a:pt x="62696" y="56729"/>
                            <a:pt x="59732" y="65810"/>
                            <a:pt x="53806" y="71578"/>
                          </a:cubicBezTo>
                          <a:cubicBezTo>
                            <a:pt x="47879" y="77346"/>
                            <a:pt x="38526" y="80230"/>
                            <a:pt x="25747" y="80230"/>
                          </a:cubicBezTo>
                          <a:lnTo>
                            <a:pt x="10606" y="80230"/>
                          </a:lnTo>
                          <a:close/>
                          <a:moveTo>
                            <a:pt x="-1915" y="90529"/>
                          </a:moveTo>
                          <a:lnTo>
                            <a:pt x="23822" y="90529"/>
                          </a:lnTo>
                          <a:cubicBezTo>
                            <a:pt x="41761" y="90529"/>
                            <a:pt x="54924" y="86798"/>
                            <a:pt x="63311" y="79337"/>
                          </a:cubicBezTo>
                          <a:cubicBezTo>
                            <a:pt x="71711" y="71876"/>
                            <a:pt x="75912" y="60208"/>
                            <a:pt x="75912" y="44333"/>
                          </a:cubicBezTo>
                          <a:cubicBezTo>
                            <a:pt x="75912" y="28365"/>
                            <a:pt x="71692" y="16637"/>
                            <a:pt x="63251" y="9150"/>
                          </a:cubicBezTo>
                          <a:cubicBezTo>
                            <a:pt x="54824" y="1675"/>
                            <a:pt x="41681" y="-2062"/>
                            <a:pt x="23822" y="-2062"/>
                          </a:cubicBezTo>
                          <a:lnTo>
                            <a:pt x="-1915" y="-2062"/>
                          </a:lnTo>
                          <a:lnTo>
                            <a:pt x="-1915" y="90529"/>
                          </a:lnTo>
                          <a:close/>
                        </a:path>
                      </a:pathLst>
                    </a:custGeom>
                    <a:solidFill>
                      <a:srgbClr val="000000"/>
                    </a:solidFill>
                    <a:ln w="20" cap="flat">
                      <a:noFill/>
                      <a:prstDash val="solid"/>
                      <a:round/>
                    </a:ln>
                  </p:spPr>
                  <p:txBody>
                    <a:bodyPr rtlCol="0" anchor="ctr"/>
                    <a:lstStyle/>
                    <a:p>
                      <a:endParaRPr lang="en-US"/>
                    </a:p>
                  </p:txBody>
                </p:sp>
                <p:sp>
                  <p:nvSpPr>
                    <p:cNvPr id="95" name="フリーフォーム: 図形 94">
                      <a:extLst>
                        <a:ext uri="{FF2B5EF4-FFF2-40B4-BE49-F238E27FC236}">
                          <a16:creationId xmlns:a16="http://schemas.microsoft.com/office/drawing/2014/main" id="{6AFD6146-E0E3-C1F9-5707-B0E9C837B799}"/>
                        </a:ext>
                      </a:extLst>
                    </p:cNvPr>
                    <p:cNvSpPr/>
                    <p:nvPr/>
                  </p:nvSpPr>
                  <p:spPr>
                    <a:xfrm flipV="1">
                      <a:off x="-156098" y="5017998"/>
                      <a:ext cx="64373" cy="72925"/>
                    </a:xfrm>
                    <a:custGeom>
                      <a:avLst/>
                      <a:gdLst>
                        <a:gd name="connsiteX0" fmla="*/ 63078 w 64373"/>
                        <a:gd name="connsiteY0" fmla="*/ 37915 h 72925"/>
                        <a:gd name="connsiteX1" fmla="*/ 63078 w 64373"/>
                        <a:gd name="connsiteY1" fmla="*/ 32339 h 72925"/>
                        <a:gd name="connsiteX2" fmla="*/ 10611 w 64373"/>
                        <a:gd name="connsiteY2" fmla="*/ 32339 h 72925"/>
                        <a:gd name="connsiteX3" fmla="*/ 17716 w 64373"/>
                        <a:gd name="connsiteY3" fmla="*/ 14381 h 72925"/>
                        <a:gd name="connsiteX4" fmla="*/ 35416 w 64373"/>
                        <a:gd name="connsiteY4" fmla="*/ 8209 h 72925"/>
                        <a:gd name="connsiteX5" fmla="*/ 48156 w 64373"/>
                        <a:gd name="connsiteY5" fmla="*/ 9817 h 72925"/>
                        <a:gd name="connsiteX6" fmla="*/ 60419 w 64373"/>
                        <a:gd name="connsiteY6" fmla="*/ 14658 h 72925"/>
                        <a:gd name="connsiteX7" fmla="*/ 60419 w 64373"/>
                        <a:gd name="connsiteY7" fmla="*/ 3863 h 72925"/>
                        <a:gd name="connsiteX8" fmla="*/ 47819 w 64373"/>
                        <a:gd name="connsiteY8" fmla="*/ -105 h 72925"/>
                        <a:gd name="connsiteX9" fmla="*/ 34741 w 64373"/>
                        <a:gd name="connsiteY9" fmla="*/ -1475 h 72925"/>
                        <a:gd name="connsiteX10" fmla="*/ 8409 w 64373"/>
                        <a:gd name="connsiteY10" fmla="*/ 8189 h 72925"/>
                        <a:gd name="connsiteX11" fmla="*/ -1295 w 64373"/>
                        <a:gd name="connsiteY11" fmla="*/ 34383 h 72925"/>
                        <a:gd name="connsiteX12" fmla="*/ 7913 w 64373"/>
                        <a:gd name="connsiteY12" fmla="*/ 61430 h 72925"/>
                        <a:gd name="connsiteX13" fmla="*/ 32757 w 64373"/>
                        <a:gd name="connsiteY13" fmla="*/ 71451 h 72925"/>
                        <a:gd name="connsiteX14" fmla="*/ 54923 w 64373"/>
                        <a:gd name="connsiteY14" fmla="*/ 62422 h 72925"/>
                        <a:gd name="connsiteX15" fmla="*/ 63078 w 64373"/>
                        <a:gd name="connsiteY15" fmla="*/ 37915 h 72925"/>
                        <a:gd name="connsiteX16" fmla="*/ 51668 w 64373"/>
                        <a:gd name="connsiteY16" fmla="*/ 41269 h 72925"/>
                        <a:gd name="connsiteX17" fmla="*/ 46429 w 64373"/>
                        <a:gd name="connsiteY17" fmla="*/ 56191 h 72925"/>
                        <a:gd name="connsiteX18" fmla="*/ 32876 w 64373"/>
                        <a:gd name="connsiteY18" fmla="*/ 61787 h 72925"/>
                        <a:gd name="connsiteX19" fmla="*/ 17596 w 64373"/>
                        <a:gd name="connsiteY19" fmla="*/ 56390 h 72925"/>
                        <a:gd name="connsiteX20" fmla="*/ 10989 w 64373"/>
                        <a:gd name="connsiteY20" fmla="*/ 41190 h 72925"/>
                        <a:gd name="connsiteX21" fmla="*/ 51668 w 64373"/>
                        <a:gd name="connsiteY21" fmla="*/ 41269 h 7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64373" h="72925">
                          <a:moveTo>
                            <a:pt x="63078" y="37915"/>
                          </a:moveTo>
                          <a:lnTo>
                            <a:pt x="63078" y="32339"/>
                          </a:lnTo>
                          <a:lnTo>
                            <a:pt x="10611" y="32339"/>
                          </a:lnTo>
                          <a:cubicBezTo>
                            <a:pt x="11114" y="24481"/>
                            <a:pt x="13482" y="18495"/>
                            <a:pt x="17716" y="14381"/>
                          </a:cubicBezTo>
                          <a:cubicBezTo>
                            <a:pt x="21949" y="10266"/>
                            <a:pt x="27849" y="8209"/>
                            <a:pt x="35416" y="8209"/>
                          </a:cubicBezTo>
                          <a:cubicBezTo>
                            <a:pt x="39795" y="8209"/>
                            <a:pt x="44042" y="8745"/>
                            <a:pt x="48156" y="9817"/>
                          </a:cubicBezTo>
                          <a:cubicBezTo>
                            <a:pt x="52270" y="10888"/>
                            <a:pt x="56358" y="12502"/>
                            <a:pt x="60419" y="14658"/>
                          </a:cubicBezTo>
                          <a:lnTo>
                            <a:pt x="60419" y="3863"/>
                          </a:lnTo>
                          <a:cubicBezTo>
                            <a:pt x="56318" y="2130"/>
                            <a:pt x="52118" y="808"/>
                            <a:pt x="47819" y="-105"/>
                          </a:cubicBezTo>
                          <a:cubicBezTo>
                            <a:pt x="43519" y="-1018"/>
                            <a:pt x="39160" y="-1475"/>
                            <a:pt x="34741" y="-1475"/>
                          </a:cubicBezTo>
                          <a:cubicBezTo>
                            <a:pt x="23655" y="-1475"/>
                            <a:pt x="14878" y="1747"/>
                            <a:pt x="8409" y="8189"/>
                          </a:cubicBezTo>
                          <a:cubicBezTo>
                            <a:pt x="1940" y="14645"/>
                            <a:pt x="-1295" y="23376"/>
                            <a:pt x="-1295" y="34383"/>
                          </a:cubicBezTo>
                          <a:cubicBezTo>
                            <a:pt x="-1295" y="45747"/>
                            <a:pt x="1774" y="54763"/>
                            <a:pt x="7913" y="61430"/>
                          </a:cubicBezTo>
                          <a:cubicBezTo>
                            <a:pt x="14051" y="68111"/>
                            <a:pt x="22333" y="71451"/>
                            <a:pt x="32757" y="71451"/>
                          </a:cubicBezTo>
                          <a:cubicBezTo>
                            <a:pt x="42097" y="71451"/>
                            <a:pt x="49485" y="68442"/>
                            <a:pt x="54923" y="62422"/>
                          </a:cubicBezTo>
                          <a:cubicBezTo>
                            <a:pt x="60360" y="56416"/>
                            <a:pt x="63078" y="48247"/>
                            <a:pt x="63078" y="37915"/>
                          </a:cubicBezTo>
                          <a:close/>
                          <a:moveTo>
                            <a:pt x="51668" y="41269"/>
                          </a:moveTo>
                          <a:cubicBezTo>
                            <a:pt x="51589" y="47500"/>
                            <a:pt x="49843" y="52474"/>
                            <a:pt x="46429" y="56191"/>
                          </a:cubicBezTo>
                          <a:cubicBezTo>
                            <a:pt x="43016" y="59922"/>
                            <a:pt x="38499" y="61787"/>
                            <a:pt x="32876" y="61787"/>
                          </a:cubicBezTo>
                          <a:cubicBezTo>
                            <a:pt x="26513" y="61787"/>
                            <a:pt x="21420" y="59988"/>
                            <a:pt x="17596" y="56390"/>
                          </a:cubicBezTo>
                          <a:cubicBezTo>
                            <a:pt x="13773" y="52792"/>
                            <a:pt x="11571" y="47725"/>
                            <a:pt x="10989" y="41190"/>
                          </a:cubicBezTo>
                          <a:lnTo>
                            <a:pt x="51668" y="41269"/>
                          </a:lnTo>
                          <a:close/>
                        </a:path>
                      </a:pathLst>
                    </a:custGeom>
                    <a:solidFill>
                      <a:srgbClr val="000000"/>
                    </a:solidFill>
                    <a:ln w="20" cap="flat">
                      <a:noFill/>
                      <a:prstDash val="solid"/>
                      <a:round/>
                    </a:ln>
                  </p:spPr>
                  <p:txBody>
                    <a:bodyPr rtlCol="0" anchor="ctr"/>
                    <a:lstStyle/>
                    <a:p>
                      <a:endParaRPr lang="en-US"/>
                    </a:p>
                  </p:txBody>
                </p:sp>
                <p:sp>
                  <p:nvSpPr>
                    <p:cNvPr id="96" name="フリーフォーム: 図形 95">
                      <a:extLst>
                        <a:ext uri="{FF2B5EF4-FFF2-40B4-BE49-F238E27FC236}">
                          <a16:creationId xmlns:a16="http://schemas.microsoft.com/office/drawing/2014/main" id="{616EA3EF-987E-0058-0E7C-24E3EFFD1988}"/>
                        </a:ext>
                      </a:extLst>
                    </p:cNvPr>
                    <p:cNvSpPr/>
                    <p:nvPr/>
                  </p:nvSpPr>
                  <p:spPr>
                    <a:xfrm flipV="1">
                      <a:off x="-77964" y="5017998"/>
                      <a:ext cx="54947" cy="72925"/>
                    </a:xfrm>
                    <a:custGeom>
                      <a:avLst/>
                      <a:gdLst>
                        <a:gd name="connsiteX0" fmla="*/ 53896 w 54947"/>
                        <a:gd name="connsiteY0" fmla="*/ 67125 h 72925"/>
                        <a:gd name="connsiteX1" fmla="*/ 53896 w 54947"/>
                        <a:gd name="connsiteY1" fmla="*/ 56449 h 72925"/>
                        <a:gd name="connsiteX2" fmla="*/ 44192 w 54947"/>
                        <a:gd name="connsiteY2" fmla="*/ 60458 h 72925"/>
                        <a:gd name="connsiteX3" fmla="*/ 34370 w 54947"/>
                        <a:gd name="connsiteY3" fmla="*/ 61787 h 72925"/>
                        <a:gd name="connsiteX4" fmla="*/ 17106 w 54947"/>
                        <a:gd name="connsiteY4" fmla="*/ 54743 h 72925"/>
                        <a:gd name="connsiteX5" fmla="*/ 10974 w 54947"/>
                        <a:gd name="connsiteY5" fmla="*/ 34998 h 72925"/>
                        <a:gd name="connsiteX6" fmla="*/ 17106 w 54947"/>
                        <a:gd name="connsiteY6" fmla="*/ 15234 h 72925"/>
                        <a:gd name="connsiteX7" fmla="*/ 34370 w 54947"/>
                        <a:gd name="connsiteY7" fmla="*/ 8209 h 72925"/>
                        <a:gd name="connsiteX8" fmla="*/ 44192 w 54947"/>
                        <a:gd name="connsiteY8" fmla="*/ 9539 h 72925"/>
                        <a:gd name="connsiteX9" fmla="*/ 53896 w 54947"/>
                        <a:gd name="connsiteY9" fmla="*/ 13547 h 72925"/>
                        <a:gd name="connsiteX10" fmla="*/ 53896 w 54947"/>
                        <a:gd name="connsiteY10" fmla="*/ 2990 h 72925"/>
                        <a:gd name="connsiteX11" fmla="*/ 43994 w 54947"/>
                        <a:gd name="connsiteY11" fmla="*/ -343 h 72925"/>
                        <a:gd name="connsiteX12" fmla="*/ 33119 w 54947"/>
                        <a:gd name="connsiteY12" fmla="*/ -1475 h 72925"/>
                        <a:gd name="connsiteX13" fmla="*/ 8176 w 54947"/>
                        <a:gd name="connsiteY13" fmla="*/ 8388 h 72925"/>
                        <a:gd name="connsiteX14" fmla="*/ -1051 w 54947"/>
                        <a:gd name="connsiteY14" fmla="*/ 34998 h 72925"/>
                        <a:gd name="connsiteX15" fmla="*/ 8275 w 54947"/>
                        <a:gd name="connsiteY15" fmla="*/ 61708 h 72925"/>
                        <a:gd name="connsiteX16" fmla="*/ 33874 w 54947"/>
                        <a:gd name="connsiteY16" fmla="*/ 71451 h 72925"/>
                        <a:gd name="connsiteX17" fmla="*/ 44153 w 54947"/>
                        <a:gd name="connsiteY17" fmla="*/ 70360 h 72925"/>
                        <a:gd name="connsiteX18" fmla="*/ 53896 w 54947"/>
                        <a:gd name="connsiteY18" fmla="*/ 67125 h 7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947" h="72925">
                          <a:moveTo>
                            <a:pt x="53896" y="67125"/>
                          </a:moveTo>
                          <a:lnTo>
                            <a:pt x="53896" y="56449"/>
                          </a:lnTo>
                          <a:cubicBezTo>
                            <a:pt x="50668" y="58235"/>
                            <a:pt x="47433" y="59571"/>
                            <a:pt x="44192" y="60458"/>
                          </a:cubicBezTo>
                          <a:cubicBezTo>
                            <a:pt x="40951" y="61344"/>
                            <a:pt x="37677" y="61787"/>
                            <a:pt x="34370" y="61787"/>
                          </a:cubicBezTo>
                          <a:cubicBezTo>
                            <a:pt x="26961" y="61787"/>
                            <a:pt x="21207" y="59439"/>
                            <a:pt x="17106" y="54743"/>
                          </a:cubicBezTo>
                          <a:cubicBezTo>
                            <a:pt x="13018" y="50060"/>
                            <a:pt x="10974" y="43478"/>
                            <a:pt x="10974" y="34998"/>
                          </a:cubicBezTo>
                          <a:cubicBezTo>
                            <a:pt x="10974" y="26518"/>
                            <a:pt x="13018" y="19930"/>
                            <a:pt x="17106" y="15234"/>
                          </a:cubicBezTo>
                          <a:cubicBezTo>
                            <a:pt x="21207" y="10551"/>
                            <a:pt x="26961" y="8209"/>
                            <a:pt x="34370" y="8209"/>
                          </a:cubicBezTo>
                          <a:cubicBezTo>
                            <a:pt x="37677" y="8209"/>
                            <a:pt x="40951" y="8652"/>
                            <a:pt x="44192" y="9539"/>
                          </a:cubicBezTo>
                          <a:cubicBezTo>
                            <a:pt x="47433" y="10425"/>
                            <a:pt x="50668" y="11761"/>
                            <a:pt x="53896" y="13547"/>
                          </a:cubicBezTo>
                          <a:lnTo>
                            <a:pt x="53896" y="2990"/>
                          </a:lnTo>
                          <a:cubicBezTo>
                            <a:pt x="50708" y="1509"/>
                            <a:pt x="47407" y="397"/>
                            <a:pt x="43994" y="-343"/>
                          </a:cubicBezTo>
                          <a:cubicBezTo>
                            <a:pt x="40594" y="-1097"/>
                            <a:pt x="36969" y="-1475"/>
                            <a:pt x="33119" y="-1475"/>
                          </a:cubicBezTo>
                          <a:cubicBezTo>
                            <a:pt x="22655" y="-1475"/>
                            <a:pt x="14341" y="1813"/>
                            <a:pt x="8176" y="8388"/>
                          </a:cubicBezTo>
                          <a:cubicBezTo>
                            <a:pt x="2024" y="14963"/>
                            <a:pt x="-1051" y="23833"/>
                            <a:pt x="-1051" y="34998"/>
                          </a:cubicBezTo>
                          <a:cubicBezTo>
                            <a:pt x="-1051" y="46323"/>
                            <a:pt x="2057" y="55226"/>
                            <a:pt x="8275" y="61708"/>
                          </a:cubicBezTo>
                          <a:cubicBezTo>
                            <a:pt x="14506" y="68203"/>
                            <a:pt x="23039" y="71451"/>
                            <a:pt x="33874" y="71451"/>
                          </a:cubicBezTo>
                          <a:cubicBezTo>
                            <a:pt x="37379" y="71451"/>
                            <a:pt x="40806" y="71088"/>
                            <a:pt x="44153" y="70360"/>
                          </a:cubicBezTo>
                          <a:cubicBezTo>
                            <a:pt x="47500" y="69645"/>
                            <a:pt x="50747" y="68567"/>
                            <a:pt x="53896" y="67125"/>
                          </a:cubicBezTo>
                          <a:close/>
                        </a:path>
                      </a:pathLst>
                    </a:custGeom>
                    <a:solidFill>
                      <a:srgbClr val="000000"/>
                    </a:solidFill>
                    <a:ln w="20" cap="flat">
                      <a:noFill/>
                      <a:prstDash val="solid"/>
                      <a:round/>
                    </a:ln>
                  </p:spPr>
                  <p:txBody>
                    <a:bodyPr rtlCol="0" anchor="ctr"/>
                    <a:lstStyle/>
                    <a:p>
                      <a:endParaRPr lang="en-US"/>
                    </a:p>
                  </p:txBody>
                </p:sp>
              </p:grpSp>
            </p:grpSp>
          </p:grpSp>
          <p:grpSp>
            <p:nvGrpSpPr>
              <p:cNvPr id="97" name="グラフィックス 6">
                <a:extLst>
                  <a:ext uri="{FF2B5EF4-FFF2-40B4-BE49-F238E27FC236}">
                    <a16:creationId xmlns:a16="http://schemas.microsoft.com/office/drawing/2014/main" id="{AFEAE553-45BF-10A7-8759-0FAC5FC3C8C4}"/>
                  </a:ext>
                </a:extLst>
              </p:cNvPr>
              <p:cNvGrpSpPr/>
              <p:nvPr/>
            </p:nvGrpSpPr>
            <p:grpSpPr>
              <a:xfrm>
                <a:off x="-8621537" y="1895568"/>
                <a:ext cx="8865377" cy="3058209"/>
                <a:chOff x="-8621537" y="1895568"/>
                <a:chExt cx="8865377" cy="3058209"/>
              </a:xfrm>
            </p:grpSpPr>
            <p:grpSp>
              <p:nvGrpSpPr>
                <p:cNvPr id="98" name="グラフィックス 6">
                  <a:extLst>
                    <a:ext uri="{FF2B5EF4-FFF2-40B4-BE49-F238E27FC236}">
                      <a16:creationId xmlns:a16="http://schemas.microsoft.com/office/drawing/2014/main" id="{D84DB9CD-C2C2-5334-9CEE-FE834811E89A}"/>
                    </a:ext>
                  </a:extLst>
                </p:cNvPr>
                <p:cNvGrpSpPr/>
                <p:nvPr/>
              </p:nvGrpSpPr>
              <p:grpSpPr>
                <a:xfrm>
                  <a:off x="-8439451" y="4857713"/>
                  <a:ext cx="8683291" cy="96063"/>
                  <a:chOff x="-8439451" y="4857713"/>
                  <a:chExt cx="8683291" cy="96063"/>
                </a:xfrm>
              </p:grpSpPr>
              <p:sp>
                <p:nvSpPr>
                  <p:cNvPr id="99" name="フリーフォーム: 図形 98">
                    <a:extLst>
                      <a:ext uri="{FF2B5EF4-FFF2-40B4-BE49-F238E27FC236}">
                        <a16:creationId xmlns:a16="http://schemas.microsoft.com/office/drawing/2014/main" id="{A68D1FBE-2588-5831-E968-E18EEA526736}"/>
                      </a:ext>
                    </a:extLst>
                  </p:cNvPr>
                  <p:cNvSpPr/>
                  <p:nvPr/>
                </p:nvSpPr>
                <p:spPr>
                  <a:xfrm>
                    <a:off x="-8156955" y="4903723"/>
                    <a:ext cx="8400796" cy="12700"/>
                  </a:xfrm>
                  <a:custGeom>
                    <a:avLst/>
                    <a:gdLst>
                      <a:gd name="connsiteX0" fmla="*/ 0 w 8400796"/>
                      <a:gd name="connsiteY0" fmla="*/ 0 h 12700"/>
                      <a:gd name="connsiteX1" fmla="*/ 8400796 w 8400796"/>
                      <a:gd name="connsiteY1" fmla="*/ 0 h 12700"/>
                    </a:gdLst>
                    <a:ahLst/>
                    <a:cxnLst>
                      <a:cxn ang="0">
                        <a:pos x="connsiteX0" y="connsiteY0"/>
                      </a:cxn>
                      <a:cxn ang="0">
                        <a:pos x="connsiteX1" y="connsiteY1"/>
                      </a:cxn>
                    </a:cxnLst>
                    <a:rect l="l" t="t" r="r" b="b"/>
                    <a:pathLst>
                      <a:path w="8400796" h="12700">
                        <a:moveTo>
                          <a:pt x="0" y="0"/>
                        </a:moveTo>
                        <a:lnTo>
                          <a:pt x="8400796" y="0"/>
                        </a:lnTo>
                      </a:path>
                    </a:pathLst>
                  </a:custGeom>
                  <a:noFill/>
                  <a:ln w="10160" cap="sq">
                    <a:solidFill>
                      <a:srgbClr val="B0B0B0"/>
                    </a:solidFill>
                    <a:prstDash val="solid"/>
                    <a:round/>
                  </a:ln>
                </p:spPr>
                <p:txBody>
                  <a:bodyPr rtlCol="0" anchor="ctr"/>
                  <a:lstStyle/>
                  <a:p>
                    <a:endParaRPr lang="en-US"/>
                  </a:p>
                </p:txBody>
              </p:sp>
              <p:sp>
                <p:nvSpPr>
                  <p:cNvPr id="100" name="フリーフォーム: 図形 99">
                    <a:extLst>
                      <a:ext uri="{FF2B5EF4-FFF2-40B4-BE49-F238E27FC236}">
                        <a16:creationId xmlns:a16="http://schemas.microsoft.com/office/drawing/2014/main" id="{9B8D2976-E33A-4E92-EDDC-26117E16C153}"/>
                      </a:ext>
                    </a:extLst>
                  </p:cNvPr>
                  <p:cNvSpPr/>
                  <p:nvPr/>
                </p:nvSpPr>
                <p:spPr>
                  <a:xfrm>
                    <a:off x="-8201406" y="4903724"/>
                    <a:ext cx="44450" cy="12700"/>
                  </a:xfrm>
                  <a:custGeom>
                    <a:avLst/>
                    <a:gdLst>
                      <a:gd name="connsiteX0" fmla="*/ 44498 w 44450"/>
                      <a:gd name="connsiteY0" fmla="*/ 260 h 12700"/>
                      <a:gd name="connsiteX1" fmla="*/ 48 w 44450"/>
                      <a:gd name="connsiteY1" fmla="*/ 260 h 12700"/>
                    </a:gdLst>
                    <a:ahLst/>
                    <a:cxnLst>
                      <a:cxn ang="0">
                        <a:pos x="connsiteX0" y="connsiteY0"/>
                      </a:cxn>
                      <a:cxn ang="0">
                        <a:pos x="connsiteX1" y="connsiteY1"/>
                      </a:cxn>
                    </a:cxnLst>
                    <a:rect l="l" t="t" r="r" b="b"/>
                    <a:pathLst>
                      <a:path w="44450" h="12700">
                        <a:moveTo>
                          <a:pt x="44498" y="260"/>
                        </a:moveTo>
                        <a:lnTo>
                          <a:pt x="48" y="260"/>
                        </a:lnTo>
                      </a:path>
                    </a:pathLst>
                  </a:custGeom>
                  <a:solidFill>
                    <a:srgbClr val="000000"/>
                  </a:solidFill>
                  <a:ln w="10160" cap="flat">
                    <a:solidFill>
                      <a:srgbClr val="000000"/>
                    </a:solidFill>
                    <a:prstDash val="solid"/>
                    <a:round/>
                  </a:ln>
                </p:spPr>
                <p:txBody>
                  <a:bodyPr rtlCol="0" anchor="ctr"/>
                  <a:lstStyle/>
                  <a:p>
                    <a:endParaRPr lang="en-US"/>
                  </a:p>
                </p:txBody>
              </p:sp>
              <p:grpSp>
                <p:nvGrpSpPr>
                  <p:cNvPr id="101" name="グラフィックス 6">
                    <a:extLst>
                      <a:ext uri="{FF2B5EF4-FFF2-40B4-BE49-F238E27FC236}">
                        <a16:creationId xmlns:a16="http://schemas.microsoft.com/office/drawing/2014/main" id="{FD3ED727-4A43-81FA-61CF-218D02265795}"/>
                      </a:ext>
                    </a:extLst>
                  </p:cNvPr>
                  <p:cNvGrpSpPr/>
                  <p:nvPr/>
                </p:nvGrpSpPr>
                <p:grpSpPr>
                  <a:xfrm>
                    <a:off x="-8439451" y="4857713"/>
                    <a:ext cx="185167" cy="96063"/>
                    <a:chOff x="-8439451" y="4857713"/>
                    <a:chExt cx="185167" cy="96063"/>
                  </a:xfrm>
                  <a:solidFill>
                    <a:srgbClr val="000000"/>
                  </a:solidFill>
                </p:grpSpPr>
                <p:sp>
                  <p:nvSpPr>
                    <p:cNvPr id="102" name="フリーフォーム: 図形 101">
                      <a:extLst>
                        <a:ext uri="{FF2B5EF4-FFF2-40B4-BE49-F238E27FC236}">
                          <a16:creationId xmlns:a16="http://schemas.microsoft.com/office/drawing/2014/main" id="{B6A1E0DB-360D-6952-4B1C-2C78880EA19A}"/>
                        </a:ext>
                      </a:extLst>
                    </p:cNvPr>
                    <p:cNvSpPr/>
                    <p:nvPr/>
                  </p:nvSpPr>
                  <p:spPr>
                    <a:xfrm flipV="1">
                      <a:off x="-8439451" y="4857713"/>
                      <a:ext cx="63996" cy="96063"/>
                    </a:xfrm>
                    <a:custGeom>
                      <a:avLst/>
                      <a:gdLst>
                        <a:gd name="connsiteX0" fmla="*/ 29982 w 63996"/>
                        <a:gd name="connsiteY0" fmla="*/ 84073 h 96063"/>
                        <a:gd name="connsiteX1" fmla="*/ 15436 w 63996"/>
                        <a:gd name="connsiteY1" fmla="*/ 74548 h 96063"/>
                        <a:gd name="connsiteX2" fmla="*/ 10574 w 63996"/>
                        <a:gd name="connsiteY2" fmla="*/ 45933 h 96063"/>
                        <a:gd name="connsiteX3" fmla="*/ 15436 w 63996"/>
                        <a:gd name="connsiteY3" fmla="*/ 17378 h 96063"/>
                        <a:gd name="connsiteX4" fmla="*/ 29982 w 63996"/>
                        <a:gd name="connsiteY4" fmla="*/ 7853 h 96063"/>
                        <a:gd name="connsiteX5" fmla="*/ 44587 w 63996"/>
                        <a:gd name="connsiteY5" fmla="*/ 17378 h 96063"/>
                        <a:gd name="connsiteX6" fmla="*/ 49468 w 63996"/>
                        <a:gd name="connsiteY6" fmla="*/ 45933 h 96063"/>
                        <a:gd name="connsiteX7" fmla="*/ 44587 w 63996"/>
                        <a:gd name="connsiteY7" fmla="*/ 74548 h 96063"/>
                        <a:gd name="connsiteX8" fmla="*/ 29982 w 63996"/>
                        <a:gd name="connsiteY8" fmla="*/ 84073 h 96063"/>
                        <a:gd name="connsiteX9" fmla="*/ 29982 w 63996"/>
                        <a:gd name="connsiteY9" fmla="*/ 93994 h 96063"/>
                        <a:gd name="connsiteX10" fmla="*/ 53774 w 63996"/>
                        <a:gd name="connsiteY10" fmla="*/ 81671 h 96063"/>
                        <a:gd name="connsiteX11" fmla="*/ 61990 w 63996"/>
                        <a:gd name="connsiteY11" fmla="*/ 45933 h 96063"/>
                        <a:gd name="connsiteX12" fmla="*/ 53774 w 63996"/>
                        <a:gd name="connsiteY12" fmla="*/ 10234 h 96063"/>
                        <a:gd name="connsiteX13" fmla="*/ 29982 w 63996"/>
                        <a:gd name="connsiteY13" fmla="*/ -2069 h 96063"/>
                        <a:gd name="connsiteX14" fmla="*/ 6209 w 63996"/>
                        <a:gd name="connsiteY14" fmla="*/ 10234 h 96063"/>
                        <a:gd name="connsiteX15" fmla="*/ -2007 w 63996"/>
                        <a:gd name="connsiteY15" fmla="*/ 45933 h 96063"/>
                        <a:gd name="connsiteX16" fmla="*/ 6209 w 63996"/>
                        <a:gd name="connsiteY16" fmla="*/ 81671 h 96063"/>
                        <a:gd name="connsiteX17" fmla="*/ 29982 w 63996"/>
                        <a:gd name="connsiteY17" fmla="*/ 93994 h 960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3996" h="96063">
                          <a:moveTo>
                            <a:pt x="29982" y="84073"/>
                          </a:moveTo>
                          <a:cubicBezTo>
                            <a:pt x="23539" y="84073"/>
                            <a:pt x="18691" y="80898"/>
                            <a:pt x="15436" y="74548"/>
                          </a:cubicBezTo>
                          <a:cubicBezTo>
                            <a:pt x="12195" y="68211"/>
                            <a:pt x="10574" y="58672"/>
                            <a:pt x="10574" y="45933"/>
                          </a:cubicBezTo>
                          <a:cubicBezTo>
                            <a:pt x="10574" y="33246"/>
                            <a:pt x="12195" y="23728"/>
                            <a:pt x="15436" y="17378"/>
                          </a:cubicBezTo>
                          <a:cubicBezTo>
                            <a:pt x="18691" y="11028"/>
                            <a:pt x="23539" y="7853"/>
                            <a:pt x="29982" y="7853"/>
                          </a:cubicBezTo>
                          <a:cubicBezTo>
                            <a:pt x="36477" y="7853"/>
                            <a:pt x="41346" y="11028"/>
                            <a:pt x="44587" y="17378"/>
                          </a:cubicBezTo>
                          <a:cubicBezTo>
                            <a:pt x="47841" y="23728"/>
                            <a:pt x="49468" y="33246"/>
                            <a:pt x="49468" y="45933"/>
                          </a:cubicBezTo>
                          <a:cubicBezTo>
                            <a:pt x="49468" y="58672"/>
                            <a:pt x="47841" y="68211"/>
                            <a:pt x="44587" y="74548"/>
                          </a:cubicBezTo>
                          <a:cubicBezTo>
                            <a:pt x="41346" y="80898"/>
                            <a:pt x="36477" y="84073"/>
                            <a:pt x="29982" y="84073"/>
                          </a:cubicBezTo>
                          <a:close/>
                          <a:moveTo>
                            <a:pt x="29982" y="93994"/>
                          </a:moveTo>
                          <a:cubicBezTo>
                            <a:pt x="40366" y="93994"/>
                            <a:pt x="48297" y="89887"/>
                            <a:pt x="53774" y="81671"/>
                          </a:cubicBezTo>
                          <a:cubicBezTo>
                            <a:pt x="59251" y="73469"/>
                            <a:pt x="61990" y="61556"/>
                            <a:pt x="61990" y="45933"/>
                          </a:cubicBezTo>
                          <a:cubicBezTo>
                            <a:pt x="61990" y="30349"/>
                            <a:pt x="59251" y="18449"/>
                            <a:pt x="53774" y="10234"/>
                          </a:cubicBezTo>
                          <a:cubicBezTo>
                            <a:pt x="48297" y="2032"/>
                            <a:pt x="40366" y="-2069"/>
                            <a:pt x="29982" y="-2069"/>
                          </a:cubicBezTo>
                          <a:cubicBezTo>
                            <a:pt x="19610" y="-2069"/>
                            <a:pt x="11686" y="2032"/>
                            <a:pt x="6209" y="10234"/>
                          </a:cubicBezTo>
                          <a:cubicBezTo>
                            <a:pt x="732" y="18449"/>
                            <a:pt x="-2007" y="30349"/>
                            <a:pt x="-2007" y="45933"/>
                          </a:cubicBezTo>
                          <a:cubicBezTo>
                            <a:pt x="-2007" y="61556"/>
                            <a:pt x="732" y="73469"/>
                            <a:pt x="6209" y="81671"/>
                          </a:cubicBezTo>
                          <a:cubicBezTo>
                            <a:pt x="11686" y="89887"/>
                            <a:pt x="19610" y="93994"/>
                            <a:pt x="29982" y="93994"/>
                          </a:cubicBezTo>
                          <a:close/>
                        </a:path>
                      </a:pathLst>
                    </a:custGeom>
                    <a:solidFill>
                      <a:srgbClr val="000000"/>
                    </a:solidFill>
                    <a:ln w="20" cap="flat">
                      <a:noFill/>
                      <a:prstDash val="solid"/>
                      <a:round/>
                    </a:ln>
                  </p:spPr>
                  <p:txBody>
                    <a:bodyPr rtlCol="0" anchor="ctr"/>
                    <a:lstStyle/>
                    <a:p>
                      <a:endParaRPr lang="en-US"/>
                    </a:p>
                  </p:txBody>
                </p:sp>
                <p:sp>
                  <p:nvSpPr>
                    <p:cNvPr id="103" name="フリーフォーム: 図形 102">
                      <a:extLst>
                        <a:ext uri="{FF2B5EF4-FFF2-40B4-BE49-F238E27FC236}">
                          <a16:creationId xmlns:a16="http://schemas.microsoft.com/office/drawing/2014/main" id="{FE4B1337-513D-6921-9B07-CBBF5EA1DFC8}"/>
                        </a:ext>
                      </a:extLst>
                    </p:cNvPr>
                    <p:cNvSpPr/>
                    <p:nvPr/>
                  </p:nvSpPr>
                  <p:spPr>
                    <a:xfrm flipV="1">
                      <a:off x="-8353451" y="4936215"/>
                      <a:ext cx="13096" cy="15755"/>
                    </a:xfrm>
                    <a:custGeom>
                      <a:avLst/>
                      <a:gdLst>
                        <a:gd name="connsiteX0" fmla="*/ -981 w 13096"/>
                        <a:gd name="connsiteY0" fmla="*/ 15622 h 15755"/>
                        <a:gd name="connsiteX1" fmla="*/ 12116 w 13096"/>
                        <a:gd name="connsiteY1" fmla="*/ 15622 h 15755"/>
                        <a:gd name="connsiteX2" fmla="*/ 12116 w 13096"/>
                        <a:gd name="connsiteY2" fmla="*/ -134 h 15755"/>
                        <a:gd name="connsiteX3" fmla="*/ -981 w 13096"/>
                        <a:gd name="connsiteY3" fmla="*/ -134 h 15755"/>
                        <a:gd name="connsiteX4" fmla="*/ -981 w 13096"/>
                        <a:gd name="connsiteY4" fmla="*/ 15622 h 157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096" h="15755">
                          <a:moveTo>
                            <a:pt x="-981" y="15622"/>
                          </a:moveTo>
                          <a:lnTo>
                            <a:pt x="12116" y="15622"/>
                          </a:lnTo>
                          <a:lnTo>
                            <a:pt x="12116" y="-134"/>
                          </a:lnTo>
                          <a:lnTo>
                            <a:pt x="-981" y="-134"/>
                          </a:lnTo>
                          <a:lnTo>
                            <a:pt x="-981" y="15622"/>
                          </a:lnTo>
                          <a:close/>
                        </a:path>
                      </a:pathLst>
                    </a:custGeom>
                    <a:solidFill>
                      <a:srgbClr val="000000"/>
                    </a:solidFill>
                    <a:ln w="20" cap="flat">
                      <a:noFill/>
                      <a:prstDash val="solid"/>
                      <a:round/>
                    </a:ln>
                  </p:spPr>
                  <p:txBody>
                    <a:bodyPr rtlCol="0" anchor="ctr"/>
                    <a:lstStyle/>
                    <a:p>
                      <a:endParaRPr lang="en-US"/>
                    </a:p>
                  </p:txBody>
                </p:sp>
                <p:sp>
                  <p:nvSpPr>
                    <p:cNvPr id="104" name="フリーフォーム: 図形 103">
                      <a:extLst>
                        <a:ext uri="{FF2B5EF4-FFF2-40B4-BE49-F238E27FC236}">
                          <a16:creationId xmlns:a16="http://schemas.microsoft.com/office/drawing/2014/main" id="{BBC27D40-F6DB-58D1-7E8D-E326A2BFC636}"/>
                        </a:ext>
                      </a:extLst>
                    </p:cNvPr>
                    <p:cNvSpPr/>
                    <p:nvPr/>
                  </p:nvSpPr>
                  <p:spPr>
                    <a:xfrm flipV="1">
                      <a:off x="-8318280" y="4857713"/>
                      <a:ext cx="63996" cy="96063"/>
                    </a:xfrm>
                    <a:custGeom>
                      <a:avLst/>
                      <a:gdLst>
                        <a:gd name="connsiteX0" fmla="*/ 29991 w 63996"/>
                        <a:gd name="connsiteY0" fmla="*/ 84073 h 96063"/>
                        <a:gd name="connsiteX1" fmla="*/ 15446 w 63996"/>
                        <a:gd name="connsiteY1" fmla="*/ 74548 h 96063"/>
                        <a:gd name="connsiteX2" fmla="*/ 10584 w 63996"/>
                        <a:gd name="connsiteY2" fmla="*/ 45933 h 96063"/>
                        <a:gd name="connsiteX3" fmla="*/ 15446 w 63996"/>
                        <a:gd name="connsiteY3" fmla="*/ 17378 h 96063"/>
                        <a:gd name="connsiteX4" fmla="*/ 29991 w 63996"/>
                        <a:gd name="connsiteY4" fmla="*/ 7853 h 96063"/>
                        <a:gd name="connsiteX5" fmla="*/ 44596 w 63996"/>
                        <a:gd name="connsiteY5" fmla="*/ 17378 h 96063"/>
                        <a:gd name="connsiteX6" fmla="*/ 49478 w 63996"/>
                        <a:gd name="connsiteY6" fmla="*/ 45933 h 96063"/>
                        <a:gd name="connsiteX7" fmla="*/ 44596 w 63996"/>
                        <a:gd name="connsiteY7" fmla="*/ 74548 h 96063"/>
                        <a:gd name="connsiteX8" fmla="*/ 29991 w 63996"/>
                        <a:gd name="connsiteY8" fmla="*/ 84073 h 96063"/>
                        <a:gd name="connsiteX9" fmla="*/ 29991 w 63996"/>
                        <a:gd name="connsiteY9" fmla="*/ 93994 h 96063"/>
                        <a:gd name="connsiteX10" fmla="*/ 53784 w 63996"/>
                        <a:gd name="connsiteY10" fmla="*/ 81671 h 96063"/>
                        <a:gd name="connsiteX11" fmla="*/ 61999 w 63996"/>
                        <a:gd name="connsiteY11" fmla="*/ 45933 h 96063"/>
                        <a:gd name="connsiteX12" fmla="*/ 53784 w 63996"/>
                        <a:gd name="connsiteY12" fmla="*/ 10234 h 96063"/>
                        <a:gd name="connsiteX13" fmla="*/ 29991 w 63996"/>
                        <a:gd name="connsiteY13" fmla="*/ -2069 h 96063"/>
                        <a:gd name="connsiteX14" fmla="*/ 6218 w 63996"/>
                        <a:gd name="connsiteY14" fmla="*/ 10234 h 96063"/>
                        <a:gd name="connsiteX15" fmla="*/ -1997 w 63996"/>
                        <a:gd name="connsiteY15" fmla="*/ 45933 h 96063"/>
                        <a:gd name="connsiteX16" fmla="*/ 6218 w 63996"/>
                        <a:gd name="connsiteY16" fmla="*/ 81671 h 96063"/>
                        <a:gd name="connsiteX17" fmla="*/ 29991 w 63996"/>
                        <a:gd name="connsiteY17" fmla="*/ 93994 h 960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3996" h="96063">
                          <a:moveTo>
                            <a:pt x="29991" y="84073"/>
                          </a:moveTo>
                          <a:cubicBezTo>
                            <a:pt x="23548" y="84073"/>
                            <a:pt x="18700" y="80898"/>
                            <a:pt x="15446" y="74548"/>
                          </a:cubicBezTo>
                          <a:cubicBezTo>
                            <a:pt x="12205" y="68211"/>
                            <a:pt x="10584" y="58672"/>
                            <a:pt x="10584" y="45933"/>
                          </a:cubicBezTo>
                          <a:cubicBezTo>
                            <a:pt x="10584" y="33246"/>
                            <a:pt x="12205" y="23728"/>
                            <a:pt x="15446" y="17378"/>
                          </a:cubicBezTo>
                          <a:cubicBezTo>
                            <a:pt x="18700" y="11028"/>
                            <a:pt x="23548" y="7853"/>
                            <a:pt x="29991" y="7853"/>
                          </a:cubicBezTo>
                          <a:cubicBezTo>
                            <a:pt x="36487" y="7853"/>
                            <a:pt x="41355" y="11028"/>
                            <a:pt x="44596" y="17378"/>
                          </a:cubicBezTo>
                          <a:cubicBezTo>
                            <a:pt x="47851" y="23728"/>
                            <a:pt x="49478" y="33246"/>
                            <a:pt x="49478" y="45933"/>
                          </a:cubicBezTo>
                          <a:cubicBezTo>
                            <a:pt x="49478" y="58672"/>
                            <a:pt x="47851" y="68211"/>
                            <a:pt x="44596" y="74548"/>
                          </a:cubicBezTo>
                          <a:cubicBezTo>
                            <a:pt x="41355" y="80898"/>
                            <a:pt x="36487" y="84073"/>
                            <a:pt x="29991" y="84073"/>
                          </a:cubicBezTo>
                          <a:close/>
                          <a:moveTo>
                            <a:pt x="29991" y="93994"/>
                          </a:moveTo>
                          <a:cubicBezTo>
                            <a:pt x="40376" y="93994"/>
                            <a:pt x="48307" y="89887"/>
                            <a:pt x="53784" y="81671"/>
                          </a:cubicBezTo>
                          <a:cubicBezTo>
                            <a:pt x="59261" y="73469"/>
                            <a:pt x="61999" y="61556"/>
                            <a:pt x="61999" y="45933"/>
                          </a:cubicBezTo>
                          <a:cubicBezTo>
                            <a:pt x="61999" y="30349"/>
                            <a:pt x="59261" y="18449"/>
                            <a:pt x="53784" y="10234"/>
                          </a:cubicBezTo>
                          <a:cubicBezTo>
                            <a:pt x="48307" y="2032"/>
                            <a:pt x="40376" y="-2069"/>
                            <a:pt x="29991" y="-2069"/>
                          </a:cubicBezTo>
                          <a:cubicBezTo>
                            <a:pt x="19619" y="-2069"/>
                            <a:pt x="11695" y="2032"/>
                            <a:pt x="6218" y="10234"/>
                          </a:cubicBezTo>
                          <a:cubicBezTo>
                            <a:pt x="741" y="18449"/>
                            <a:pt x="-1997" y="30349"/>
                            <a:pt x="-1997" y="45933"/>
                          </a:cubicBezTo>
                          <a:cubicBezTo>
                            <a:pt x="-1997" y="61556"/>
                            <a:pt x="741" y="73469"/>
                            <a:pt x="6218" y="81671"/>
                          </a:cubicBezTo>
                          <a:cubicBezTo>
                            <a:pt x="11695" y="89887"/>
                            <a:pt x="19619" y="93994"/>
                            <a:pt x="29991" y="93994"/>
                          </a:cubicBezTo>
                          <a:close/>
                        </a:path>
                      </a:pathLst>
                    </a:custGeom>
                    <a:solidFill>
                      <a:srgbClr val="000000"/>
                    </a:solidFill>
                    <a:ln w="20" cap="flat">
                      <a:noFill/>
                      <a:prstDash val="solid"/>
                      <a:round/>
                    </a:ln>
                  </p:spPr>
                  <p:txBody>
                    <a:bodyPr rtlCol="0" anchor="ctr"/>
                    <a:lstStyle/>
                    <a:p>
                      <a:endParaRPr lang="en-US"/>
                    </a:p>
                  </p:txBody>
                </p:sp>
              </p:grpSp>
            </p:grpSp>
            <p:grpSp>
              <p:nvGrpSpPr>
                <p:cNvPr id="105" name="グラフィックス 6">
                  <a:extLst>
                    <a:ext uri="{FF2B5EF4-FFF2-40B4-BE49-F238E27FC236}">
                      <a16:creationId xmlns:a16="http://schemas.microsoft.com/office/drawing/2014/main" id="{53F23007-FBDD-EA79-1091-E3CD1EF12B0E}"/>
                    </a:ext>
                  </a:extLst>
                </p:cNvPr>
                <p:cNvGrpSpPr/>
                <p:nvPr/>
              </p:nvGrpSpPr>
              <p:grpSpPr>
                <a:xfrm>
                  <a:off x="-8439451" y="4265283"/>
                  <a:ext cx="8683291" cy="96063"/>
                  <a:chOff x="-8439451" y="4265283"/>
                  <a:chExt cx="8683291" cy="96063"/>
                </a:xfrm>
              </p:grpSpPr>
              <p:sp>
                <p:nvSpPr>
                  <p:cNvPr id="106" name="フリーフォーム: 図形 105">
                    <a:extLst>
                      <a:ext uri="{FF2B5EF4-FFF2-40B4-BE49-F238E27FC236}">
                        <a16:creationId xmlns:a16="http://schemas.microsoft.com/office/drawing/2014/main" id="{7500E9D9-8D58-1EAA-6B35-B1AD1263102F}"/>
                      </a:ext>
                    </a:extLst>
                  </p:cNvPr>
                  <p:cNvSpPr/>
                  <p:nvPr/>
                </p:nvSpPr>
                <p:spPr>
                  <a:xfrm>
                    <a:off x="-8156955" y="4311294"/>
                    <a:ext cx="8400796" cy="12700"/>
                  </a:xfrm>
                  <a:custGeom>
                    <a:avLst/>
                    <a:gdLst>
                      <a:gd name="connsiteX0" fmla="*/ 0 w 8400796"/>
                      <a:gd name="connsiteY0" fmla="*/ 0 h 12700"/>
                      <a:gd name="connsiteX1" fmla="*/ 8400796 w 8400796"/>
                      <a:gd name="connsiteY1" fmla="*/ 0 h 12700"/>
                    </a:gdLst>
                    <a:ahLst/>
                    <a:cxnLst>
                      <a:cxn ang="0">
                        <a:pos x="connsiteX0" y="connsiteY0"/>
                      </a:cxn>
                      <a:cxn ang="0">
                        <a:pos x="connsiteX1" y="connsiteY1"/>
                      </a:cxn>
                    </a:cxnLst>
                    <a:rect l="l" t="t" r="r" b="b"/>
                    <a:pathLst>
                      <a:path w="8400796" h="12700">
                        <a:moveTo>
                          <a:pt x="0" y="0"/>
                        </a:moveTo>
                        <a:lnTo>
                          <a:pt x="8400796" y="0"/>
                        </a:lnTo>
                      </a:path>
                    </a:pathLst>
                  </a:custGeom>
                  <a:noFill/>
                  <a:ln w="10160" cap="sq">
                    <a:solidFill>
                      <a:srgbClr val="B0B0B0"/>
                    </a:solidFill>
                    <a:prstDash val="solid"/>
                    <a:round/>
                  </a:ln>
                </p:spPr>
                <p:txBody>
                  <a:bodyPr rtlCol="0" anchor="ctr"/>
                  <a:lstStyle/>
                  <a:p>
                    <a:endParaRPr lang="en-US"/>
                  </a:p>
                </p:txBody>
              </p:sp>
              <p:sp>
                <p:nvSpPr>
                  <p:cNvPr id="107" name="フリーフォーム: 図形 106">
                    <a:extLst>
                      <a:ext uri="{FF2B5EF4-FFF2-40B4-BE49-F238E27FC236}">
                        <a16:creationId xmlns:a16="http://schemas.microsoft.com/office/drawing/2014/main" id="{0B677ADC-7276-33D2-B339-6F2FAF4943D9}"/>
                      </a:ext>
                    </a:extLst>
                  </p:cNvPr>
                  <p:cNvSpPr/>
                  <p:nvPr/>
                </p:nvSpPr>
                <p:spPr>
                  <a:xfrm>
                    <a:off x="-8201406" y="4311294"/>
                    <a:ext cx="44450" cy="12700"/>
                  </a:xfrm>
                  <a:custGeom>
                    <a:avLst/>
                    <a:gdLst>
                      <a:gd name="connsiteX0" fmla="*/ 44498 w 44450"/>
                      <a:gd name="connsiteY0" fmla="*/ 213 h 12700"/>
                      <a:gd name="connsiteX1" fmla="*/ 48 w 44450"/>
                      <a:gd name="connsiteY1" fmla="*/ 213 h 12700"/>
                    </a:gdLst>
                    <a:ahLst/>
                    <a:cxnLst>
                      <a:cxn ang="0">
                        <a:pos x="connsiteX0" y="connsiteY0"/>
                      </a:cxn>
                      <a:cxn ang="0">
                        <a:pos x="connsiteX1" y="connsiteY1"/>
                      </a:cxn>
                    </a:cxnLst>
                    <a:rect l="l" t="t" r="r" b="b"/>
                    <a:pathLst>
                      <a:path w="44450" h="12700">
                        <a:moveTo>
                          <a:pt x="44498" y="213"/>
                        </a:moveTo>
                        <a:lnTo>
                          <a:pt x="48" y="213"/>
                        </a:lnTo>
                      </a:path>
                    </a:pathLst>
                  </a:custGeom>
                  <a:solidFill>
                    <a:srgbClr val="000000"/>
                  </a:solidFill>
                  <a:ln w="10160" cap="flat">
                    <a:solidFill>
                      <a:srgbClr val="000000"/>
                    </a:solidFill>
                    <a:prstDash val="solid"/>
                    <a:round/>
                  </a:ln>
                </p:spPr>
                <p:txBody>
                  <a:bodyPr rtlCol="0" anchor="ctr"/>
                  <a:lstStyle/>
                  <a:p>
                    <a:endParaRPr lang="en-US"/>
                  </a:p>
                </p:txBody>
              </p:sp>
              <p:grpSp>
                <p:nvGrpSpPr>
                  <p:cNvPr id="108" name="グラフィックス 6">
                    <a:extLst>
                      <a:ext uri="{FF2B5EF4-FFF2-40B4-BE49-F238E27FC236}">
                        <a16:creationId xmlns:a16="http://schemas.microsoft.com/office/drawing/2014/main" id="{68247190-1004-6494-4E1B-C9B4C91A8BFA}"/>
                      </a:ext>
                    </a:extLst>
                  </p:cNvPr>
                  <p:cNvGrpSpPr/>
                  <p:nvPr/>
                </p:nvGrpSpPr>
                <p:grpSpPr>
                  <a:xfrm>
                    <a:off x="-8439451" y="4265283"/>
                    <a:ext cx="180880" cy="96063"/>
                    <a:chOff x="-8439451" y="4265283"/>
                    <a:chExt cx="180880" cy="96063"/>
                  </a:xfrm>
                  <a:solidFill>
                    <a:srgbClr val="000000"/>
                  </a:solidFill>
                </p:grpSpPr>
                <p:sp>
                  <p:nvSpPr>
                    <p:cNvPr id="109" name="フリーフォーム: 図形 108">
                      <a:extLst>
                        <a:ext uri="{FF2B5EF4-FFF2-40B4-BE49-F238E27FC236}">
                          <a16:creationId xmlns:a16="http://schemas.microsoft.com/office/drawing/2014/main" id="{DF036482-09CC-51D3-3403-091E8BA6F93B}"/>
                        </a:ext>
                      </a:extLst>
                    </p:cNvPr>
                    <p:cNvSpPr/>
                    <p:nvPr/>
                  </p:nvSpPr>
                  <p:spPr>
                    <a:xfrm flipV="1">
                      <a:off x="-8439451" y="4265283"/>
                      <a:ext cx="63996" cy="96063"/>
                    </a:xfrm>
                    <a:custGeom>
                      <a:avLst/>
                      <a:gdLst>
                        <a:gd name="connsiteX0" fmla="*/ 29982 w 63996"/>
                        <a:gd name="connsiteY0" fmla="*/ 84026 h 96063"/>
                        <a:gd name="connsiteX1" fmla="*/ 15436 w 63996"/>
                        <a:gd name="connsiteY1" fmla="*/ 74501 h 96063"/>
                        <a:gd name="connsiteX2" fmla="*/ 10574 w 63996"/>
                        <a:gd name="connsiteY2" fmla="*/ 45886 h 96063"/>
                        <a:gd name="connsiteX3" fmla="*/ 15436 w 63996"/>
                        <a:gd name="connsiteY3" fmla="*/ 17331 h 96063"/>
                        <a:gd name="connsiteX4" fmla="*/ 29982 w 63996"/>
                        <a:gd name="connsiteY4" fmla="*/ 7806 h 96063"/>
                        <a:gd name="connsiteX5" fmla="*/ 44587 w 63996"/>
                        <a:gd name="connsiteY5" fmla="*/ 17331 h 96063"/>
                        <a:gd name="connsiteX6" fmla="*/ 49468 w 63996"/>
                        <a:gd name="connsiteY6" fmla="*/ 45886 h 96063"/>
                        <a:gd name="connsiteX7" fmla="*/ 44587 w 63996"/>
                        <a:gd name="connsiteY7" fmla="*/ 74501 h 96063"/>
                        <a:gd name="connsiteX8" fmla="*/ 29982 w 63996"/>
                        <a:gd name="connsiteY8" fmla="*/ 84026 h 96063"/>
                        <a:gd name="connsiteX9" fmla="*/ 29982 w 63996"/>
                        <a:gd name="connsiteY9" fmla="*/ 93948 h 96063"/>
                        <a:gd name="connsiteX10" fmla="*/ 53774 w 63996"/>
                        <a:gd name="connsiteY10" fmla="*/ 81625 h 96063"/>
                        <a:gd name="connsiteX11" fmla="*/ 61990 w 63996"/>
                        <a:gd name="connsiteY11" fmla="*/ 45886 h 96063"/>
                        <a:gd name="connsiteX12" fmla="*/ 53774 w 63996"/>
                        <a:gd name="connsiteY12" fmla="*/ 10187 h 96063"/>
                        <a:gd name="connsiteX13" fmla="*/ 29982 w 63996"/>
                        <a:gd name="connsiteY13" fmla="*/ -2116 h 96063"/>
                        <a:gd name="connsiteX14" fmla="*/ 6209 w 63996"/>
                        <a:gd name="connsiteY14" fmla="*/ 10187 h 96063"/>
                        <a:gd name="connsiteX15" fmla="*/ -2007 w 63996"/>
                        <a:gd name="connsiteY15" fmla="*/ 45886 h 96063"/>
                        <a:gd name="connsiteX16" fmla="*/ 6209 w 63996"/>
                        <a:gd name="connsiteY16" fmla="*/ 81625 h 96063"/>
                        <a:gd name="connsiteX17" fmla="*/ 29982 w 63996"/>
                        <a:gd name="connsiteY17" fmla="*/ 93948 h 960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3996" h="96063">
                          <a:moveTo>
                            <a:pt x="29982" y="84026"/>
                          </a:moveTo>
                          <a:cubicBezTo>
                            <a:pt x="23539" y="84026"/>
                            <a:pt x="18691" y="80851"/>
                            <a:pt x="15436" y="74501"/>
                          </a:cubicBezTo>
                          <a:cubicBezTo>
                            <a:pt x="12195" y="68164"/>
                            <a:pt x="10574" y="58626"/>
                            <a:pt x="10574" y="45886"/>
                          </a:cubicBezTo>
                          <a:cubicBezTo>
                            <a:pt x="10574" y="33199"/>
                            <a:pt x="12195" y="23681"/>
                            <a:pt x="15436" y="17331"/>
                          </a:cubicBezTo>
                          <a:cubicBezTo>
                            <a:pt x="18691" y="10981"/>
                            <a:pt x="23539" y="7806"/>
                            <a:pt x="29982" y="7806"/>
                          </a:cubicBezTo>
                          <a:cubicBezTo>
                            <a:pt x="36477" y="7806"/>
                            <a:pt x="41346" y="10981"/>
                            <a:pt x="44587" y="17331"/>
                          </a:cubicBezTo>
                          <a:cubicBezTo>
                            <a:pt x="47841" y="23681"/>
                            <a:pt x="49468" y="33199"/>
                            <a:pt x="49468" y="45886"/>
                          </a:cubicBezTo>
                          <a:cubicBezTo>
                            <a:pt x="49468" y="58626"/>
                            <a:pt x="47841" y="68164"/>
                            <a:pt x="44587" y="74501"/>
                          </a:cubicBezTo>
                          <a:cubicBezTo>
                            <a:pt x="41346" y="80851"/>
                            <a:pt x="36477" y="84026"/>
                            <a:pt x="29982" y="84026"/>
                          </a:cubicBezTo>
                          <a:close/>
                          <a:moveTo>
                            <a:pt x="29982" y="93948"/>
                          </a:moveTo>
                          <a:cubicBezTo>
                            <a:pt x="40366" y="93948"/>
                            <a:pt x="48297" y="89840"/>
                            <a:pt x="53774" y="81625"/>
                          </a:cubicBezTo>
                          <a:cubicBezTo>
                            <a:pt x="59251" y="73423"/>
                            <a:pt x="61990" y="61510"/>
                            <a:pt x="61990" y="45886"/>
                          </a:cubicBezTo>
                          <a:cubicBezTo>
                            <a:pt x="61990" y="30302"/>
                            <a:pt x="59251" y="18403"/>
                            <a:pt x="53774" y="10187"/>
                          </a:cubicBezTo>
                          <a:cubicBezTo>
                            <a:pt x="48297" y="1985"/>
                            <a:pt x="40366" y="-2116"/>
                            <a:pt x="29982" y="-2116"/>
                          </a:cubicBezTo>
                          <a:cubicBezTo>
                            <a:pt x="19610" y="-2116"/>
                            <a:pt x="11686" y="1985"/>
                            <a:pt x="6209" y="10187"/>
                          </a:cubicBezTo>
                          <a:cubicBezTo>
                            <a:pt x="732" y="18403"/>
                            <a:pt x="-2007" y="30302"/>
                            <a:pt x="-2007" y="45886"/>
                          </a:cubicBezTo>
                          <a:cubicBezTo>
                            <a:pt x="-2007" y="61510"/>
                            <a:pt x="732" y="73423"/>
                            <a:pt x="6209" y="81625"/>
                          </a:cubicBezTo>
                          <a:cubicBezTo>
                            <a:pt x="11686" y="89840"/>
                            <a:pt x="19610" y="93948"/>
                            <a:pt x="29982" y="93948"/>
                          </a:cubicBezTo>
                          <a:close/>
                        </a:path>
                      </a:pathLst>
                    </a:custGeom>
                    <a:solidFill>
                      <a:srgbClr val="000000"/>
                    </a:solidFill>
                    <a:ln w="20" cap="flat">
                      <a:noFill/>
                      <a:prstDash val="solid"/>
                      <a:round/>
                    </a:ln>
                  </p:spPr>
                  <p:txBody>
                    <a:bodyPr rtlCol="0" anchor="ctr"/>
                    <a:lstStyle/>
                    <a:p>
                      <a:endParaRPr lang="en-US"/>
                    </a:p>
                  </p:txBody>
                </p:sp>
                <p:sp>
                  <p:nvSpPr>
                    <p:cNvPr id="110" name="フリーフォーム: 図形 109">
                      <a:extLst>
                        <a:ext uri="{FF2B5EF4-FFF2-40B4-BE49-F238E27FC236}">
                          <a16:creationId xmlns:a16="http://schemas.microsoft.com/office/drawing/2014/main" id="{48B94915-23D2-2975-B5C9-2DE0B504D6A9}"/>
                        </a:ext>
                      </a:extLst>
                    </p:cNvPr>
                    <p:cNvSpPr/>
                    <p:nvPr/>
                  </p:nvSpPr>
                  <p:spPr>
                    <a:xfrm flipV="1">
                      <a:off x="-8353451" y="4343785"/>
                      <a:ext cx="13096" cy="15755"/>
                    </a:xfrm>
                    <a:custGeom>
                      <a:avLst/>
                      <a:gdLst>
                        <a:gd name="connsiteX0" fmla="*/ -981 w 13096"/>
                        <a:gd name="connsiteY0" fmla="*/ 15576 h 15755"/>
                        <a:gd name="connsiteX1" fmla="*/ 12116 w 13096"/>
                        <a:gd name="connsiteY1" fmla="*/ 15576 h 15755"/>
                        <a:gd name="connsiteX2" fmla="*/ 12116 w 13096"/>
                        <a:gd name="connsiteY2" fmla="*/ -180 h 15755"/>
                        <a:gd name="connsiteX3" fmla="*/ -981 w 13096"/>
                        <a:gd name="connsiteY3" fmla="*/ -180 h 15755"/>
                        <a:gd name="connsiteX4" fmla="*/ -981 w 13096"/>
                        <a:gd name="connsiteY4" fmla="*/ 15576 h 157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096" h="15755">
                          <a:moveTo>
                            <a:pt x="-981" y="15576"/>
                          </a:moveTo>
                          <a:lnTo>
                            <a:pt x="12116" y="15576"/>
                          </a:lnTo>
                          <a:lnTo>
                            <a:pt x="12116" y="-180"/>
                          </a:lnTo>
                          <a:lnTo>
                            <a:pt x="-981" y="-180"/>
                          </a:lnTo>
                          <a:lnTo>
                            <a:pt x="-981" y="15576"/>
                          </a:lnTo>
                          <a:close/>
                        </a:path>
                      </a:pathLst>
                    </a:custGeom>
                    <a:solidFill>
                      <a:srgbClr val="000000"/>
                    </a:solidFill>
                    <a:ln w="20" cap="flat">
                      <a:noFill/>
                      <a:prstDash val="solid"/>
                      <a:round/>
                    </a:ln>
                  </p:spPr>
                  <p:txBody>
                    <a:bodyPr rtlCol="0" anchor="ctr"/>
                    <a:lstStyle/>
                    <a:p>
                      <a:endParaRPr lang="en-US"/>
                    </a:p>
                  </p:txBody>
                </p:sp>
                <p:sp>
                  <p:nvSpPr>
                    <p:cNvPr id="111" name="フリーフォーム: 図形 110">
                      <a:extLst>
                        <a:ext uri="{FF2B5EF4-FFF2-40B4-BE49-F238E27FC236}">
                          <a16:creationId xmlns:a16="http://schemas.microsoft.com/office/drawing/2014/main" id="{12A43AD8-3015-1718-1D5D-EC26B5F4F2F8}"/>
                        </a:ext>
                      </a:extLst>
                    </p:cNvPr>
                    <p:cNvSpPr/>
                    <p:nvPr/>
                  </p:nvSpPr>
                  <p:spPr>
                    <a:xfrm flipV="1">
                      <a:off x="-8317347" y="4265283"/>
                      <a:ext cx="58777" cy="94257"/>
                    </a:xfrm>
                    <a:custGeom>
                      <a:avLst/>
                      <a:gdLst>
                        <a:gd name="connsiteX0" fmla="*/ 13149 w 58777"/>
                        <a:gd name="connsiteY0" fmla="*/ 8376 h 94257"/>
                        <a:gd name="connsiteX1" fmla="*/ 56865 w 58777"/>
                        <a:gd name="connsiteY1" fmla="*/ 8376 h 94257"/>
                        <a:gd name="connsiteX2" fmla="*/ 56865 w 58777"/>
                        <a:gd name="connsiteY2" fmla="*/ -2161 h 94257"/>
                        <a:gd name="connsiteX3" fmla="*/ -1913 w 58777"/>
                        <a:gd name="connsiteY3" fmla="*/ -2161 h 94257"/>
                        <a:gd name="connsiteX4" fmla="*/ -1913 w 58777"/>
                        <a:gd name="connsiteY4" fmla="*/ 8376 h 94257"/>
                        <a:gd name="connsiteX5" fmla="*/ 17514 w 58777"/>
                        <a:gd name="connsiteY5" fmla="*/ 28180 h 94257"/>
                        <a:gd name="connsiteX6" fmla="*/ 32993 w 58777"/>
                        <a:gd name="connsiteY6" fmla="*/ 44233 h 94257"/>
                        <a:gd name="connsiteX7" fmla="*/ 41386 w 58777"/>
                        <a:gd name="connsiteY7" fmla="*/ 55663 h 94257"/>
                        <a:gd name="connsiteX8" fmla="*/ 43788 w 58777"/>
                        <a:gd name="connsiteY8" fmla="*/ 64871 h 94257"/>
                        <a:gd name="connsiteX9" fmla="*/ 38608 w 58777"/>
                        <a:gd name="connsiteY9" fmla="*/ 76896 h 94257"/>
                        <a:gd name="connsiteX10" fmla="*/ 25115 w 58777"/>
                        <a:gd name="connsiteY10" fmla="*/ 81559 h 94257"/>
                        <a:gd name="connsiteX11" fmla="*/ 12673 w 58777"/>
                        <a:gd name="connsiteY11" fmla="*/ 79515 h 94257"/>
                        <a:gd name="connsiteX12" fmla="*/ -1297 w 58777"/>
                        <a:gd name="connsiteY12" fmla="*/ 73304 h 94257"/>
                        <a:gd name="connsiteX13" fmla="*/ -1297 w 58777"/>
                        <a:gd name="connsiteY13" fmla="*/ 85965 h 94257"/>
                        <a:gd name="connsiteX14" fmla="*/ 12831 w 58777"/>
                        <a:gd name="connsiteY14" fmla="*/ 90549 h 94257"/>
                        <a:gd name="connsiteX15" fmla="*/ 24876 w 58777"/>
                        <a:gd name="connsiteY15" fmla="*/ 92096 h 94257"/>
                        <a:gd name="connsiteX16" fmla="*/ 47816 w 58777"/>
                        <a:gd name="connsiteY16" fmla="*/ 84893 h 94257"/>
                        <a:gd name="connsiteX17" fmla="*/ 56369 w 58777"/>
                        <a:gd name="connsiteY17" fmla="*/ 65684 h 94257"/>
                        <a:gd name="connsiteX18" fmla="*/ 54225 w 58777"/>
                        <a:gd name="connsiteY18" fmla="*/ 54850 h 94257"/>
                        <a:gd name="connsiteX19" fmla="*/ 46447 w 58777"/>
                        <a:gd name="connsiteY19" fmla="*/ 42804 h 94257"/>
                        <a:gd name="connsiteX20" fmla="*/ 36584 w 58777"/>
                        <a:gd name="connsiteY20" fmla="*/ 32406 h 94257"/>
                        <a:gd name="connsiteX21" fmla="*/ 13149 w 58777"/>
                        <a:gd name="connsiteY21" fmla="*/ 8376 h 942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8777" h="94257">
                          <a:moveTo>
                            <a:pt x="13149" y="8376"/>
                          </a:moveTo>
                          <a:lnTo>
                            <a:pt x="56865" y="8376"/>
                          </a:lnTo>
                          <a:lnTo>
                            <a:pt x="56865" y="-2161"/>
                          </a:lnTo>
                          <a:lnTo>
                            <a:pt x="-1913" y="-2161"/>
                          </a:lnTo>
                          <a:lnTo>
                            <a:pt x="-1913" y="8376"/>
                          </a:lnTo>
                          <a:cubicBezTo>
                            <a:pt x="2837" y="13297"/>
                            <a:pt x="9312" y="19898"/>
                            <a:pt x="17514" y="28180"/>
                          </a:cubicBezTo>
                          <a:cubicBezTo>
                            <a:pt x="25730" y="36474"/>
                            <a:pt x="30889" y="41826"/>
                            <a:pt x="32993" y="44233"/>
                          </a:cubicBezTo>
                          <a:cubicBezTo>
                            <a:pt x="37001" y="48731"/>
                            <a:pt x="39799" y="52541"/>
                            <a:pt x="41386" y="55663"/>
                          </a:cubicBezTo>
                          <a:cubicBezTo>
                            <a:pt x="42987" y="58785"/>
                            <a:pt x="43788" y="61854"/>
                            <a:pt x="43788" y="64871"/>
                          </a:cubicBezTo>
                          <a:cubicBezTo>
                            <a:pt x="43788" y="69792"/>
                            <a:pt x="42061" y="73800"/>
                            <a:pt x="38608" y="76896"/>
                          </a:cubicBezTo>
                          <a:cubicBezTo>
                            <a:pt x="35156" y="80005"/>
                            <a:pt x="30658" y="81559"/>
                            <a:pt x="25115" y="81559"/>
                          </a:cubicBezTo>
                          <a:cubicBezTo>
                            <a:pt x="21186" y="81559"/>
                            <a:pt x="17038" y="80878"/>
                            <a:pt x="12673" y="79515"/>
                          </a:cubicBezTo>
                          <a:cubicBezTo>
                            <a:pt x="8320" y="78153"/>
                            <a:pt x="3663" y="76082"/>
                            <a:pt x="-1297" y="73304"/>
                          </a:cubicBezTo>
                          <a:lnTo>
                            <a:pt x="-1297" y="85965"/>
                          </a:lnTo>
                          <a:cubicBezTo>
                            <a:pt x="3743" y="87989"/>
                            <a:pt x="8452" y="89517"/>
                            <a:pt x="12831" y="90549"/>
                          </a:cubicBezTo>
                          <a:cubicBezTo>
                            <a:pt x="17223" y="91580"/>
                            <a:pt x="21239" y="92096"/>
                            <a:pt x="24876" y="92096"/>
                          </a:cubicBezTo>
                          <a:cubicBezTo>
                            <a:pt x="34468" y="92096"/>
                            <a:pt x="42114" y="89695"/>
                            <a:pt x="47816" y="84893"/>
                          </a:cubicBezTo>
                          <a:cubicBezTo>
                            <a:pt x="53518" y="80104"/>
                            <a:pt x="56369" y="73701"/>
                            <a:pt x="56369" y="65684"/>
                          </a:cubicBezTo>
                          <a:cubicBezTo>
                            <a:pt x="56369" y="61874"/>
                            <a:pt x="55654" y="58263"/>
                            <a:pt x="54225" y="54850"/>
                          </a:cubicBezTo>
                          <a:cubicBezTo>
                            <a:pt x="52810" y="51450"/>
                            <a:pt x="50217" y="47435"/>
                            <a:pt x="46447" y="42804"/>
                          </a:cubicBezTo>
                          <a:cubicBezTo>
                            <a:pt x="45415" y="41601"/>
                            <a:pt x="42127" y="38135"/>
                            <a:pt x="36584" y="32406"/>
                          </a:cubicBezTo>
                          <a:cubicBezTo>
                            <a:pt x="31054" y="26678"/>
                            <a:pt x="23243" y="18668"/>
                            <a:pt x="13149" y="8376"/>
                          </a:cubicBezTo>
                          <a:close/>
                        </a:path>
                      </a:pathLst>
                    </a:custGeom>
                    <a:solidFill>
                      <a:srgbClr val="000000"/>
                    </a:solidFill>
                    <a:ln w="20" cap="flat">
                      <a:noFill/>
                      <a:prstDash val="solid"/>
                      <a:round/>
                    </a:ln>
                  </p:spPr>
                  <p:txBody>
                    <a:bodyPr rtlCol="0" anchor="ctr"/>
                    <a:lstStyle/>
                    <a:p>
                      <a:endParaRPr lang="en-US"/>
                    </a:p>
                  </p:txBody>
                </p:sp>
              </p:grpSp>
            </p:grpSp>
            <p:grpSp>
              <p:nvGrpSpPr>
                <p:cNvPr id="112" name="グラフィックス 6">
                  <a:extLst>
                    <a:ext uri="{FF2B5EF4-FFF2-40B4-BE49-F238E27FC236}">
                      <a16:creationId xmlns:a16="http://schemas.microsoft.com/office/drawing/2014/main" id="{1A4E756A-5288-3701-4F21-32C39670DBAC}"/>
                    </a:ext>
                  </a:extLst>
                </p:cNvPr>
                <p:cNvGrpSpPr/>
                <p:nvPr/>
              </p:nvGrpSpPr>
              <p:grpSpPr>
                <a:xfrm>
                  <a:off x="-8439451" y="3672854"/>
                  <a:ext cx="8683291" cy="96063"/>
                  <a:chOff x="-8439451" y="3672854"/>
                  <a:chExt cx="8683291" cy="96063"/>
                </a:xfrm>
              </p:grpSpPr>
              <p:sp>
                <p:nvSpPr>
                  <p:cNvPr id="113" name="フリーフォーム: 図形 112">
                    <a:extLst>
                      <a:ext uri="{FF2B5EF4-FFF2-40B4-BE49-F238E27FC236}">
                        <a16:creationId xmlns:a16="http://schemas.microsoft.com/office/drawing/2014/main" id="{2DF110EC-B5EC-3402-1A10-9DBA1095CB9C}"/>
                      </a:ext>
                    </a:extLst>
                  </p:cNvPr>
                  <p:cNvSpPr/>
                  <p:nvPr/>
                </p:nvSpPr>
                <p:spPr>
                  <a:xfrm>
                    <a:off x="-8156955" y="3718864"/>
                    <a:ext cx="8400796" cy="12700"/>
                  </a:xfrm>
                  <a:custGeom>
                    <a:avLst/>
                    <a:gdLst>
                      <a:gd name="connsiteX0" fmla="*/ 0 w 8400796"/>
                      <a:gd name="connsiteY0" fmla="*/ 0 h 12700"/>
                      <a:gd name="connsiteX1" fmla="*/ 8400796 w 8400796"/>
                      <a:gd name="connsiteY1" fmla="*/ 0 h 12700"/>
                    </a:gdLst>
                    <a:ahLst/>
                    <a:cxnLst>
                      <a:cxn ang="0">
                        <a:pos x="connsiteX0" y="connsiteY0"/>
                      </a:cxn>
                      <a:cxn ang="0">
                        <a:pos x="connsiteX1" y="connsiteY1"/>
                      </a:cxn>
                    </a:cxnLst>
                    <a:rect l="l" t="t" r="r" b="b"/>
                    <a:pathLst>
                      <a:path w="8400796" h="12700">
                        <a:moveTo>
                          <a:pt x="0" y="0"/>
                        </a:moveTo>
                        <a:lnTo>
                          <a:pt x="8400796" y="0"/>
                        </a:lnTo>
                      </a:path>
                    </a:pathLst>
                  </a:custGeom>
                  <a:noFill/>
                  <a:ln w="10160" cap="sq">
                    <a:solidFill>
                      <a:srgbClr val="B0B0B0"/>
                    </a:solidFill>
                    <a:prstDash val="solid"/>
                    <a:round/>
                  </a:ln>
                </p:spPr>
                <p:txBody>
                  <a:bodyPr rtlCol="0" anchor="ctr"/>
                  <a:lstStyle/>
                  <a:p>
                    <a:endParaRPr lang="en-US"/>
                  </a:p>
                </p:txBody>
              </p:sp>
              <p:sp>
                <p:nvSpPr>
                  <p:cNvPr id="114" name="フリーフォーム: 図形 113">
                    <a:extLst>
                      <a:ext uri="{FF2B5EF4-FFF2-40B4-BE49-F238E27FC236}">
                        <a16:creationId xmlns:a16="http://schemas.microsoft.com/office/drawing/2014/main" id="{EE94B668-D8A7-357A-E2FA-F47949B11304}"/>
                      </a:ext>
                    </a:extLst>
                  </p:cNvPr>
                  <p:cNvSpPr/>
                  <p:nvPr/>
                </p:nvSpPr>
                <p:spPr>
                  <a:xfrm>
                    <a:off x="-8201406" y="3718864"/>
                    <a:ext cx="44450" cy="12700"/>
                  </a:xfrm>
                  <a:custGeom>
                    <a:avLst/>
                    <a:gdLst>
                      <a:gd name="connsiteX0" fmla="*/ 44498 w 44450"/>
                      <a:gd name="connsiteY0" fmla="*/ 167 h 12700"/>
                      <a:gd name="connsiteX1" fmla="*/ 48 w 44450"/>
                      <a:gd name="connsiteY1" fmla="*/ 167 h 12700"/>
                    </a:gdLst>
                    <a:ahLst/>
                    <a:cxnLst>
                      <a:cxn ang="0">
                        <a:pos x="connsiteX0" y="connsiteY0"/>
                      </a:cxn>
                      <a:cxn ang="0">
                        <a:pos x="connsiteX1" y="connsiteY1"/>
                      </a:cxn>
                    </a:cxnLst>
                    <a:rect l="l" t="t" r="r" b="b"/>
                    <a:pathLst>
                      <a:path w="44450" h="12700">
                        <a:moveTo>
                          <a:pt x="44498" y="167"/>
                        </a:moveTo>
                        <a:lnTo>
                          <a:pt x="48" y="167"/>
                        </a:lnTo>
                      </a:path>
                    </a:pathLst>
                  </a:custGeom>
                  <a:solidFill>
                    <a:srgbClr val="000000"/>
                  </a:solidFill>
                  <a:ln w="10160" cap="flat">
                    <a:solidFill>
                      <a:srgbClr val="000000"/>
                    </a:solidFill>
                    <a:prstDash val="solid"/>
                    <a:round/>
                  </a:ln>
                </p:spPr>
                <p:txBody>
                  <a:bodyPr rtlCol="0" anchor="ctr"/>
                  <a:lstStyle/>
                  <a:p>
                    <a:endParaRPr lang="en-US"/>
                  </a:p>
                </p:txBody>
              </p:sp>
              <p:grpSp>
                <p:nvGrpSpPr>
                  <p:cNvPr id="115" name="グラフィックス 6">
                    <a:extLst>
                      <a:ext uri="{FF2B5EF4-FFF2-40B4-BE49-F238E27FC236}">
                        <a16:creationId xmlns:a16="http://schemas.microsoft.com/office/drawing/2014/main" id="{76C2EF08-8447-30CC-9693-A9FCD79CE477}"/>
                      </a:ext>
                    </a:extLst>
                  </p:cNvPr>
                  <p:cNvGrpSpPr/>
                  <p:nvPr/>
                </p:nvGrpSpPr>
                <p:grpSpPr>
                  <a:xfrm>
                    <a:off x="-8439451" y="3672854"/>
                    <a:ext cx="186476" cy="96063"/>
                    <a:chOff x="-8439451" y="3672854"/>
                    <a:chExt cx="186476" cy="96063"/>
                  </a:xfrm>
                  <a:solidFill>
                    <a:srgbClr val="000000"/>
                  </a:solidFill>
                </p:grpSpPr>
                <p:sp>
                  <p:nvSpPr>
                    <p:cNvPr id="116" name="フリーフォーム: 図形 115">
                      <a:extLst>
                        <a:ext uri="{FF2B5EF4-FFF2-40B4-BE49-F238E27FC236}">
                          <a16:creationId xmlns:a16="http://schemas.microsoft.com/office/drawing/2014/main" id="{B00CE80F-1259-4887-7F5E-C4CECC26A059}"/>
                        </a:ext>
                      </a:extLst>
                    </p:cNvPr>
                    <p:cNvSpPr/>
                    <p:nvPr/>
                  </p:nvSpPr>
                  <p:spPr>
                    <a:xfrm flipV="1">
                      <a:off x="-8439451" y="3672854"/>
                      <a:ext cx="63996" cy="96063"/>
                    </a:xfrm>
                    <a:custGeom>
                      <a:avLst/>
                      <a:gdLst>
                        <a:gd name="connsiteX0" fmla="*/ 29982 w 63996"/>
                        <a:gd name="connsiteY0" fmla="*/ 83979 h 96063"/>
                        <a:gd name="connsiteX1" fmla="*/ 15436 w 63996"/>
                        <a:gd name="connsiteY1" fmla="*/ 74454 h 96063"/>
                        <a:gd name="connsiteX2" fmla="*/ 10574 w 63996"/>
                        <a:gd name="connsiteY2" fmla="*/ 45840 h 96063"/>
                        <a:gd name="connsiteX3" fmla="*/ 15436 w 63996"/>
                        <a:gd name="connsiteY3" fmla="*/ 17284 h 96063"/>
                        <a:gd name="connsiteX4" fmla="*/ 29982 w 63996"/>
                        <a:gd name="connsiteY4" fmla="*/ 7759 h 96063"/>
                        <a:gd name="connsiteX5" fmla="*/ 44587 w 63996"/>
                        <a:gd name="connsiteY5" fmla="*/ 17284 h 96063"/>
                        <a:gd name="connsiteX6" fmla="*/ 49468 w 63996"/>
                        <a:gd name="connsiteY6" fmla="*/ 45840 h 96063"/>
                        <a:gd name="connsiteX7" fmla="*/ 44587 w 63996"/>
                        <a:gd name="connsiteY7" fmla="*/ 74454 h 96063"/>
                        <a:gd name="connsiteX8" fmla="*/ 29982 w 63996"/>
                        <a:gd name="connsiteY8" fmla="*/ 83979 h 96063"/>
                        <a:gd name="connsiteX9" fmla="*/ 29982 w 63996"/>
                        <a:gd name="connsiteY9" fmla="*/ 93901 h 96063"/>
                        <a:gd name="connsiteX10" fmla="*/ 53774 w 63996"/>
                        <a:gd name="connsiteY10" fmla="*/ 81578 h 96063"/>
                        <a:gd name="connsiteX11" fmla="*/ 61990 w 63996"/>
                        <a:gd name="connsiteY11" fmla="*/ 45840 h 96063"/>
                        <a:gd name="connsiteX12" fmla="*/ 53774 w 63996"/>
                        <a:gd name="connsiteY12" fmla="*/ 10141 h 96063"/>
                        <a:gd name="connsiteX13" fmla="*/ 29982 w 63996"/>
                        <a:gd name="connsiteY13" fmla="*/ -2163 h 96063"/>
                        <a:gd name="connsiteX14" fmla="*/ 6209 w 63996"/>
                        <a:gd name="connsiteY14" fmla="*/ 10141 h 96063"/>
                        <a:gd name="connsiteX15" fmla="*/ -2007 w 63996"/>
                        <a:gd name="connsiteY15" fmla="*/ 45840 h 96063"/>
                        <a:gd name="connsiteX16" fmla="*/ 6209 w 63996"/>
                        <a:gd name="connsiteY16" fmla="*/ 81578 h 96063"/>
                        <a:gd name="connsiteX17" fmla="*/ 29982 w 63996"/>
                        <a:gd name="connsiteY17" fmla="*/ 93901 h 960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3996" h="96063">
                          <a:moveTo>
                            <a:pt x="29982" y="83979"/>
                          </a:moveTo>
                          <a:cubicBezTo>
                            <a:pt x="23539" y="83979"/>
                            <a:pt x="18691" y="80804"/>
                            <a:pt x="15436" y="74454"/>
                          </a:cubicBezTo>
                          <a:cubicBezTo>
                            <a:pt x="12195" y="68117"/>
                            <a:pt x="10574" y="58579"/>
                            <a:pt x="10574" y="45840"/>
                          </a:cubicBezTo>
                          <a:cubicBezTo>
                            <a:pt x="10574" y="33153"/>
                            <a:pt x="12195" y="23634"/>
                            <a:pt x="15436" y="17284"/>
                          </a:cubicBezTo>
                          <a:cubicBezTo>
                            <a:pt x="18691" y="10934"/>
                            <a:pt x="23539" y="7759"/>
                            <a:pt x="29982" y="7759"/>
                          </a:cubicBezTo>
                          <a:cubicBezTo>
                            <a:pt x="36477" y="7759"/>
                            <a:pt x="41346" y="10934"/>
                            <a:pt x="44587" y="17284"/>
                          </a:cubicBezTo>
                          <a:cubicBezTo>
                            <a:pt x="47841" y="23634"/>
                            <a:pt x="49468" y="33153"/>
                            <a:pt x="49468" y="45840"/>
                          </a:cubicBezTo>
                          <a:cubicBezTo>
                            <a:pt x="49468" y="58579"/>
                            <a:pt x="47841" y="68117"/>
                            <a:pt x="44587" y="74454"/>
                          </a:cubicBezTo>
                          <a:cubicBezTo>
                            <a:pt x="41346" y="80804"/>
                            <a:pt x="36477" y="83979"/>
                            <a:pt x="29982" y="83979"/>
                          </a:cubicBezTo>
                          <a:close/>
                          <a:moveTo>
                            <a:pt x="29982" y="93901"/>
                          </a:moveTo>
                          <a:cubicBezTo>
                            <a:pt x="40366" y="93901"/>
                            <a:pt x="48297" y="89793"/>
                            <a:pt x="53774" y="81578"/>
                          </a:cubicBezTo>
                          <a:cubicBezTo>
                            <a:pt x="59251" y="73376"/>
                            <a:pt x="61990" y="61463"/>
                            <a:pt x="61990" y="45840"/>
                          </a:cubicBezTo>
                          <a:cubicBezTo>
                            <a:pt x="61990" y="30256"/>
                            <a:pt x="59251" y="18356"/>
                            <a:pt x="53774" y="10141"/>
                          </a:cubicBezTo>
                          <a:cubicBezTo>
                            <a:pt x="48297" y="1939"/>
                            <a:pt x="40366" y="-2163"/>
                            <a:pt x="29982" y="-2163"/>
                          </a:cubicBezTo>
                          <a:cubicBezTo>
                            <a:pt x="19610" y="-2163"/>
                            <a:pt x="11686" y="1939"/>
                            <a:pt x="6209" y="10141"/>
                          </a:cubicBezTo>
                          <a:cubicBezTo>
                            <a:pt x="732" y="18356"/>
                            <a:pt x="-2007" y="30256"/>
                            <a:pt x="-2007" y="45840"/>
                          </a:cubicBezTo>
                          <a:cubicBezTo>
                            <a:pt x="-2007" y="61463"/>
                            <a:pt x="732" y="73376"/>
                            <a:pt x="6209" y="81578"/>
                          </a:cubicBezTo>
                          <a:cubicBezTo>
                            <a:pt x="11686" y="89793"/>
                            <a:pt x="19610" y="93901"/>
                            <a:pt x="29982" y="93901"/>
                          </a:cubicBezTo>
                          <a:close/>
                        </a:path>
                      </a:pathLst>
                    </a:custGeom>
                    <a:solidFill>
                      <a:srgbClr val="000000"/>
                    </a:solidFill>
                    <a:ln w="20" cap="flat">
                      <a:noFill/>
                      <a:prstDash val="solid"/>
                      <a:round/>
                    </a:ln>
                  </p:spPr>
                  <p:txBody>
                    <a:bodyPr rtlCol="0" anchor="ctr"/>
                    <a:lstStyle/>
                    <a:p>
                      <a:endParaRPr lang="en-US"/>
                    </a:p>
                  </p:txBody>
                </p:sp>
                <p:sp>
                  <p:nvSpPr>
                    <p:cNvPr id="117" name="フリーフォーム: 図形 116">
                      <a:extLst>
                        <a:ext uri="{FF2B5EF4-FFF2-40B4-BE49-F238E27FC236}">
                          <a16:creationId xmlns:a16="http://schemas.microsoft.com/office/drawing/2014/main" id="{F780DB5B-CDB5-71CD-A047-AB48568F6E88}"/>
                        </a:ext>
                      </a:extLst>
                    </p:cNvPr>
                    <p:cNvSpPr/>
                    <p:nvPr/>
                  </p:nvSpPr>
                  <p:spPr>
                    <a:xfrm flipV="1">
                      <a:off x="-8353451" y="3751356"/>
                      <a:ext cx="13096" cy="15755"/>
                    </a:xfrm>
                    <a:custGeom>
                      <a:avLst/>
                      <a:gdLst>
                        <a:gd name="connsiteX0" fmla="*/ -981 w 13096"/>
                        <a:gd name="connsiteY0" fmla="*/ 15529 h 15755"/>
                        <a:gd name="connsiteX1" fmla="*/ 12116 w 13096"/>
                        <a:gd name="connsiteY1" fmla="*/ 15529 h 15755"/>
                        <a:gd name="connsiteX2" fmla="*/ 12116 w 13096"/>
                        <a:gd name="connsiteY2" fmla="*/ -227 h 15755"/>
                        <a:gd name="connsiteX3" fmla="*/ -981 w 13096"/>
                        <a:gd name="connsiteY3" fmla="*/ -227 h 15755"/>
                        <a:gd name="connsiteX4" fmla="*/ -981 w 13096"/>
                        <a:gd name="connsiteY4" fmla="*/ 15529 h 157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096" h="15755">
                          <a:moveTo>
                            <a:pt x="-981" y="15529"/>
                          </a:moveTo>
                          <a:lnTo>
                            <a:pt x="12116" y="15529"/>
                          </a:lnTo>
                          <a:lnTo>
                            <a:pt x="12116" y="-227"/>
                          </a:lnTo>
                          <a:lnTo>
                            <a:pt x="-981" y="-227"/>
                          </a:lnTo>
                          <a:lnTo>
                            <a:pt x="-981" y="15529"/>
                          </a:lnTo>
                          <a:close/>
                        </a:path>
                      </a:pathLst>
                    </a:custGeom>
                    <a:solidFill>
                      <a:srgbClr val="000000"/>
                    </a:solidFill>
                    <a:ln w="20" cap="flat">
                      <a:noFill/>
                      <a:prstDash val="solid"/>
                      <a:round/>
                    </a:ln>
                  </p:spPr>
                  <p:txBody>
                    <a:bodyPr rtlCol="0" anchor="ctr"/>
                    <a:lstStyle/>
                    <a:p>
                      <a:endParaRPr lang="en-US"/>
                    </a:p>
                  </p:txBody>
                </p:sp>
                <p:sp>
                  <p:nvSpPr>
                    <p:cNvPr id="118" name="フリーフォーム: 図形 117">
                      <a:extLst>
                        <a:ext uri="{FF2B5EF4-FFF2-40B4-BE49-F238E27FC236}">
                          <a16:creationId xmlns:a16="http://schemas.microsoft.com/office/drawing/2014/main" id="{362685FA-AC39-6FAD-45BF-4AFF58072483}"/>
                        </a:ext>
                      </a:extLst>
                    </p:cNvPr>
                    <p:cNvSpPr/>
                    <p:nvPr/>
                  </p:nvSpPr>
                  <p:spPr>
                    <a:xfrm flipV="1">
                      <a:off x="-8320443" y="3674521"/>
                      <a:ext cx="67468" cy="92590"/>
                    </a:xfrm>
                    <a:custGeom>
                      <a:avLst/>
                      <a:gdLst>
                        <a:gd name="connsiteX0" fmla="*/ 39815 w 67468"/>
                        <a:gd name="connsiteY0" fmla="*/ 79511 h 92590"/>
                        <a:gd name="connsiteX1" fmla="*/ 8185 w 67468"/>
                        <a:gd name="connsiteY1" fmla="*/ 30080 h 92590"/>
                        <a:gd name="connsiteX2" fmla="*/ 39815 w 67468"/>
                        <a:gd name="connsiteY2" fmla="*/ 30080 h 92590"/>
                        <a:gd name="connsiteX3" fmla="*/ 39815 w 67468"/>
                        <a:gd name="connsiteY3" fmla="*/ 79511 h 92590"/>
                        <a:gd name="connsiteX4" fmla="*/ 36521 w 67468"/>
                        <a:gd name="connsiteY4" fmla="*/ 90425 h 92590"/>
                        <a:gd name="connsiteX5" fmla="*/ 52277 w 67468"/>
                        <a:gd name="connsiteY5" fmla="*/ 90425 h 92590"/>
                        <a:gd name="connsiteX6" fmla="*/ 52277 w 67468"/>
                        <a:gd name="connsiteY6" fmla="*/ 30080 h 92590"/>
                        <a:gd name="connsiteX7" fmla="*/ 65493 w 67468"/>
                        <a:gd name="connsiteY7" fmla="*/ 30080 h 92590"/>
                        <a:gd name="connsiteX8" fmla="*/ 65493 w 67468"/>
                        <a:gd name="connsiteY8" fmla="*/ 19662 h 92590"/>
                        <a:gd name="connsiteX9" fmla="*/ 52277 w 67468"/>
                        <a:gd name="connsiteY9" fmla="*/ 19662 h 92590"/>
                        <a:gd name="connsiteX10" fmla="*/ 52277 w 67468"/>
                        <a:gd name="connsiteY10" fmla="*/ -2166 h 92590"/>
                        <a:gd name="connsiteX11" fmla="*/ 39815 w 67468"/>
                        <a:gd name="connsiteY11" fmla="*/ -2166 h 92590"/>
                        <a:gd name="connsiteX12" fmla="*/ 39815 w 67468"/>
                        <a:gd name="connsiteY12" fmla="*/ 19662 h 92590"/>
                        <a:gd name="connsiteX13" fmla="*/ -1975 w 67468"/>
                        <a:gd name="connsiteY13" fmla="*/ 19662 h 92590"/>
                        <a:gd name="connsiteX14" fmla="*/ -1975 w 67468"/>
                        <a:gd name="connsiteY14" fmla="*/ 31747 h 92590"/>
                        <a:gd name="connsiteX15" fmla="*/ 36521 w 67468"/>
                        <a:gd name="connsiteY15" fmla="*/ 90425 h 92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67468" h="92590">
                          <a:moveTo>
                            <a:pt x="39815" y="79511"/>
                          </a:moveTo>
                          <a:lnTo>
                            <a:pt x="8185" y="30080"/>
                          </a:lnTo>
                          <a:lnTo>
                            <a:pt x="39815" y="30080"/>
                          </a:lnTo>
                          <a:lnTo>
                            <a:pt x="39815" y="79511"/>
                          </a:lnTo>
                          <a:close/>
                          <a:moveTo>
                            <a:pt x="36521" y="90425"/>
                          </a:moveTo>
                          <a:lnTo>
                            <a:pt x="52277" y="90425"/>
                          </a:lnTo>
                          <a:lnTo>
                            <a:pt x="52277" y="30080"/>
                          </a:lnTo>
                          <a:lnTo>
                            <a:pt x="65493" y="30080"/>
                          </a:lnTo>
                          <a:lnTo>
                            <a:pt x="65493" y="19662"/>
                          </a:lnTo>
                          <a:lnTo>
                            <a:pt x="52277" y="19662"/>
                          </a:lnTo>
                          <a:lnTo>
                            <a:pt x="52277" y="-2166"/>
                          </a:lnTo>
                          <a:lnTo>
                            <a:pt x="39815" y="-2166"/>
                          </a:lnTo>
                          <a:lnTo>
                            <a:pt x="39815" y="19662"/>
                          </a:lnTo>
                          <a:lnTo>
                            <a:pt x="-1975" y="19662"/>
                          </a:lnTo>
                          <a:lnTo>
                            <a:pt x="-1975" y="31747"/>
                          </a:lnTo>
                          <a:lnTo>
                            <a:pt x="36521" y="90425"/>
                          </a:lnTo>
                          <a:close/>
                        </a:path>
                      </a:pathLst>
                    </a:custGeom>
                    <a:solidFill>
                      <a:srgbClr val="000000"/>
                    </a:solidFill>
                    <a:ln w="20" cap="flat">
                      <a:noFill/>
                      <a:prstDash val="solid"/>
                      <a:round/>
                    </a:ln>
                  </p:spPr>
                  <p:txBody>
                    <a:bodyPr rtlCol="0" anchor="ctr"/>
                    <a:lstStyle/>
                    <a:p>
                      <a:endParaRPr lang="en-US"/>
                    </a:p>
                  </p:txBody>
                </p:sp>
              </p:grpSp>
            </p:grpSp>
            <p:grpSp>
              <p:nvGrpSpPr>
                <p:cNvPr id="119" name="グラフィックス 6">
                  <a:extLst>
                    <a:ext uri="{FF2B5EF4-FFF2-40B4-BE49-F238E27FC236}">
                      <a16:creationId xmlns:a16="http://schemas.microsoft.com/office/drawing/2014/main" id="{F3359E9D-5A3F-1FD5-DCA2-EE69E80D3F7E}"/>
                    </a:ext>
                  </a:extLst>
                </p:cNvPr>
                <p:cNvGrpSpPr/>
                <p:nvPr/>
              </p:nvGrpSpPr>
              <p:grpSpPr>
                <a:xfrm>
                  <a:off x="-8439451" y="3080424"/>
                  <a:ext cx="8683291" cy="96063"/>
                  <a:chOff x="-8439451" y="3080424"/>
                  <a:chExt cx="8683291" cy="96063"/>
                </a:xfrm>
              </p:grpSpPr>
              <p:sp>
                <p:nvSpPr>
                  <p:cNvPr id="120" name="フリーフォーム: 図形 119">
                    <a:extLst>
                      <a:ext uri="{FF2B5EF4-FFF2-40B4-BE49-F238E27FC236}">
                        <a16:creationId xmlns:a16="http://schemas.microsoft.com/office/drawing/2014/main" id="{12ECC1EA-93BD-706D-702E-C2316A3A8DAF}"/>
                      </a:ext>
                    </a:extLst>
                  </p:cNvPr>
                  <p:cNvSpPr/>
                  <p:nvPr/>
                </p:nvSpPr>
                <p:spPr>
                  <a:xfrm>
                    <a:off x="-8156955" y="3126435"/>
                    <a:ext cx="8400796" cy="12700"/>
                  </a:xfrm>
                  <a:custGeom>
                    <a:avLst/>
                    <a:gdLst>
                      <a:gd name="connsiteX0" fmla="*/ 0 w 8400796"/>
                      <a:gd name="connsiteY0" fmla="*/ 0 h 12700"/>
                      <a:gd name="connsiteX1" fmla="*/ 8400796 w 8400796"/>
                      <a:gd name="connsiteY1" fmla="*/ 0 h 12700"/>
                    </a:gdLst>
                    <a:ahLst/>
                    <a:cxnLst>
                      <a:cxn ang="0">
                        <a:pos x="connsiteX0" y="connsiteY0"/>
                      </a:cxn>
                      <a:cxn ang="0">
                        <a:pos x="connsiteX1" y="connsiteY1"/>
                      </a:cxn>
                    </a:cxnLst>
                    <a:rect l="l" t="t" r="r" b="b"/>
                    <a:pathLst>
                      <a:path w="8400796" h="12700">
                        <a:moveTo>
                          <a:pt x="0" y="0"/>
                        </a:moveTo>
                        <a:lnTo>
                          <a:pt x="8400796" y="0"/>
                        </a:lnTo>
                      </a:path>
                    </a:pathLst>
                  </a:custGeom>
                  <a:noFill/>
                  <a:ln w="10160" cap="sq">
                    <a:solidFill>
                      <a:srgbClr val="B0B0B0"/>
                    </a:solidFill>
                    <a:prstDash val="solid"/>
                    <a:round/>
                  </a:ln>
                </p:spPr>
                <p:txBody>
                  <a:bodyPr rtlCol="0" anchor="ctr"/>
                  <a:lstStyle/>
                  <a:p>
                    <a:endParaRPr lang="en-US"/>
                  </a:p>
                </p:txBody>
              </p:sp>
              <p:sp>
                <p:nvSpPr>
                  <p:cNvPr id="121" name="フリーフォーム: 図形 120">
                    <a:extLst>
                      <a:ext uri="{FF2B5EF4-FFF2-40B4-BE49-F238E27FC236}">
                        <a16:creationId xmlns:a16="http://schemas.microsoft.com/office/drawing/2014/main" id="{1B66122B-8E7A-B74E-AB66-62B4790CCED3}"/>
                      </a:ext>
                    </a:extLst>
                  </p:cNvPr>
                  <p:cNvSpPr/>
                  <p:nvPr/>
                </p:nvSpPr>
                <p:spPr>
                  <a:xfrm>
                    <a:off x="-8201406" y="3126435"/>
                    <a:ext cx="44450" cy="12700"/>
                  </a:xfrm>
                  <a:custGeom>
                    <a:avLst/>
                    <a:gdLst>
                      <a:gd name="connsiteX0" fmla="*/ 44498 w 44450"/>
                      <a:gd name="connsiteY0" fmla="*/ 120 h 12700"/>
                      <a:gd name="connsiteX1" fmla="*/ 48 w 44450"/>
                      <a:gd name="connsiteY1" fmla="*/ 120 h 12700"/>
                    </a:gdLst>
                    <a:ahLst/>
                    <a:cxnLst>
                      <a:cxn ang="0">
                        <a:pos x="connsiteX0" y="connsiteY0"/>
                      </a:cxn>
                      <a:cxn ang="0">
                        <a:pos x="connsiteX1" y="connsiteY1"/>
                      </a:cxn>
                    </a:cxnLst>
                    <a:rect l="l" t="t" r="r" b="b"/>
                    <a:pathLst>
                      <a:path w="44450" h="12700">
                        <a:moveTo>
                          <a:pt x="44498" y="120"/>
                        </a:moveTo>
                        <a:lnTo>
                          <a:pt x="48" y="120"/>
                        </a:lnTo>
                      </a:path>
                    </a:pathLst>
                  </a:custGeom>
                  <a:solidFill>
                    <a:srgbClr val="000000"/>
                  </a:solidFill>
                  <a:ln w="10160" cap="flat">
                    <a:solidFill>
                      <a:srgbClr val="000000"/>
                    </a:solidFill>
                    <a:prstDash val="solid"/>
                    <a:round/>
                  </a:ln>
                </p:spPr>
                <p:txBody>
                  <a:bodyPr rtlCol="0" anchor="ctr"/>
                  <a:lstStyle/>
                  <a:p>
                    <a:endParaRPr lang="en-US"/>
                  </a:p>
                </p:txBody>
              </p:sp>
              <p:grpSp>
                <p:nvGrpSpPr>
                  <p:cNvPr id="122" name="グラフィックス 6">
                    <a:extLst>
                      <a:ext uri="{FF2B5EF4-FFF2-40B4-BE49-F238E27FC236}">
                        <a16:creationId xmlns:a16="http://schemas.microsoft.com/office/drawing/2014/main" id="{FF355B40-0083-CF60-E262-60D55751F20C}"/>
                      </a:ext>
                    </a:extLst>
                  </p:cNvPr>
                  <p:cNvGrpSpPr/>
                  <p:nvPr/>
                </p:nvGrpSpPr>
                <p:grpSpPr>
                  <a:xfrm>
                    <a:off x="-8439451" y="3080424"/>
                    <a:ext cx="185603" cy="96063"/>
                    <a:chOff x="-8439451" y="3080424"/>
                    <a:chExt cx="185603" cy="96063"/>
                  </a:xfrm>
                  <a:solidFill>
                    <a:srgbClr val="000000"/>
                  </a:solidFill>
                </p:grpSpPr>
                <p:sp>
                  <p:nvSpPr>
                    <p:cNvPr id="123" name="フリーフォーム: 図形 122">
                      <a:extLst>
                        <a:ext uri="{FF2B5EF4-FFF2-40B4-BE49-F238E27FC236}">
                          <a16:creationId xmlns:a16="http://schemas.microsoft.com/office/drawing/2014/main" id="{975BE390-926E-62BF-A501-7ADFDD4CE710}"/>
                        </a:ext>
                      </a:extLst>
                    </p:cNvPr>
                    <p:cNvSpPr/>
                    <p:nvPr/>
                  </p:nvSpPr>
                  <p:spPr>
                    <a:xfrm flipV="1">
                      <a:off x="-8439451" y="3080424"/>
                      <a:ext cx="63996" cy="96063"/>
                    </a:xfrm>
                    <a:custGeom>
                      <a:avLst/>
                      <a:gdLst>
                        <a:gd name="connsiteX0" fmla="*/ 29982 w 63996"/>
                        <a:gd name="connsiteY0" fmla="*/ 83933 h 96063"/>
                        <a:gd name="connsiteX1" fmla="*/ 15436 w 63996"/>
                        <a:gd name="connsiteY1" fmla="*/ 74408 h 96063"/>
                        <a:gd name="connsiteX2" fmla="*/ 10574 w 63996"/>
                        <a:gd name="connsiteY2" fmla="*/ 45793 h 96063"/>
                        <a:gd name="connsiteX3" fmla="*/ 15436 w 63996"/>
                        <a:gd name="connsiteY3" fmla="*/ 17238 h 96063"/>
                        <a:gd name="connsiteX4" fmla="*/ 29982 w 63996"/>
                        <a:gd name="connsiteY4" fmla="*/ 7713 h 96063"/>
                        <a:gd name="connsiteX5" fmla="*/ 44587 w 63996"/>
                        <a:gd name="connsiteY5" fmla="*/ 17238 h 96063"/>
                        <a:gd name="connsiteX6" fmla="*/ 49468 w 63996"/>
                        <a:gd name="connsiteY6" fmla="*/ 45793 h 96063"/>
                        <a:gd name="connsiteX7" fmla="*/ 44587 w 63996"/>
                        <a:gd name="connsiteY7" fmla="*/ 74408 h 96063"/>
                        <a:gd name="connsiteX8" fmla="*/ 29982 w 63996"/>
                        <a:gd name="connsiteY8" fmla="*/ 83933 h 96063"/>
                        <a:gd name="connsiteX9" fmla="*/ 29982 w 63996"/>
                        <a:gd name="connsiteY9" fmla="*/ 93854 h 96063"/>
                        <a:gd name="connsiteX10" fmla="*/ 53774 w 63996"/>
                        <a:gd name="connsiteY10" fmla="*/ 81531 h 96063"/>
                        <a:gd name="connsiteX11" fmla="*/ 61990 w 63996"/>
                        <a:gd name="connsiteY11" fmla="*/ 45793 h 96063"/>
                        <a:gd name="connsiteX12" fmla="*/ 53774 w 63996"/>
                        <a:gd name="connsiteY12" fmla="*/ 10094 h 96063"/>
                        <a:gd name="connsiteX13" fmla="*/ 29982 w 63996"/>
                        <a:gd name="connsiteY13" fmla="*/ -2209 h 96063"/>
                        <a:gd name="connsiteX14" fmla="*/ 6209 w 63996"/>
                        <a:gd name="connsiteY14" fmla="*/ 10094 h 96063"/>
                        <a:gd name="connsiteX15" fmla="*/ -2007 w 63996"/>
                        <a:gd name="connsiteY15" fmla="*/ 45793 h 96063"/>
                        <a:gd name="connsiteX16" fmla="*/ 6209 w 63996"/>
                        <a:gd name="connsiteY16" fmla="*/ 81531 h 96063"/>
                        <a:gd name="connsiteX17" fmla="*/ 29982 w 63996"/>
                        <a:gd name="connsiteY17" fmla="*/ 93854 h 960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3996" h="96063">
                          <a:moveTo>
                            <a:pt x="29982" y="83933"/>
                          </a:moveTo>
                          <a:cubicBezTo>
                            <a:pt x="23539" y="83933"/>
                            <a:pt x="18691" y="80758"/>
                            <a:pt x="15436" y="74408"/>
                          </a:cubicBezTo>
                          <a:cubicBezTo>
                            <a:pt x="12195" y="68071"/>
                            <a:pt x="10574" y="58533"/>
                            <a:pt x="10574" y="45793"/>
                          </a:cubicBezTo>
                          <a:cubicBezTo>
                            <a:pt x="10574" y="33106"/>
                            <a:pt x="12195" y="23588"/>
                            <a:pt x="15436" y="17238"/>
                          </a:cubicBezTo>
                          <a:cubicBezTo>
                            <a:pt x="18691" y="10888"/>
                            <a:pt x="23539" y="7713"/>
                            <a:pt x="29982" y="7713"/>
                          </a:cubicBezTo>
                          <a:cubicBezTo>
                            <a:pt x="36477" y="7713"/>
                            <a:pt x="41346" y="10888"/>
                            <a:pt x="44587" y="17238"/>
                          </a:cubicBezTo>
                          <a:cubicBezTo>
                            <a:pt x="47841" y="23588"/>
                            <a:pt x="49468" y="33106"/>
                            <a:pt x="49468" y="45793"/>
                          </a:cubicBezTo>
                          <a:cubicBezTo>
                            <a:pt x="49468" y="58533"/>
                            <a:pt x="47841" y="68071"/>
                            <a:pt x="44587" y="74408"/>
                          </a:cubicBezTo>
                          <a:cubicBezTo>
                            <a:pt x="41346" y="80758"/>
                            <a:pt x="36477" y="83933"/>
                            <a:pt x="29982" y="83933"/>
                          </a:cubicBezTo>
                          <a:close/>
                          <a:moveTo>
                            <a:pt x="29982" y="93854"/>
                          </a:moveTo>
                          <a:cubicBezTo>
                            <a:pt x="40366" y="93854"/>
                            <a:pt x="48297" y="89747"/>
                            <a:pt x="53774" y="81531"/>
                          </a:cubicBezTo>
                          <a:cubicBezTo>
                            <a:pt x="59251" y="73329"/>
                            <a:pt x="61990" y="61416"/>
                            <a:pt x="61990" y="45793"/>
                          </a:cubicBezTo>
                          <a:cubicBezTo>
                            <a:pt x="61990" y="30209"/>
                            <a:pt x="59251" y="18309"/>
                            <a:pt x="53774" y="10094"/>
                          </a:cubicBezTo>
                          <a:cubicBezTo>
                            <a:pt x="48297" y="1892"/>
                            <a:pt x="40366" y="-2209"/>
                            <a:pt x="29982" y="-2209"/>
                          </a:cubicBezTo>
                          <a:cubicBezTo>
                            <a:pt x="19610" y="-2209"/>
                            <a:pt x="11686" y="1892"/>
                            <a:pt x="6209" y="10094"/>
                          </a:cubicBezTo>
                          <a:cubicBezTo>
                            <a:pt x="732" y="18309"/>
                            <a:pt x="-2007" y="30209"/>
                            <a:pt x="-2007" y="45793"/>
                          </a:cubicBezTo>
                          <a:cubicBezTo>
                            <a:pt x="-2007" y="61416"/>
                            <a:pt x="732" y="73329"/>
                            <a:pt x="6209" y="81531"/>
                          </a:cubicBezTo>
                          <a:cubicBezTo>
                            <a:pt x="11686" y="89747"/>
                            <a:pt x="19610" y="93854"/>
                            <a:pt x="29982" y="93854"/>
                          </a:cubicBezTo>
                          <a:close/>
                        </a:path>
                      </a:pathLst>
                    </a:custGeom>
                    <a:solidFill>
                      <a:srgbClr val="000000"/>
                    </a:solidFill>
                    <a:ln w="20" cap="flat">
                      <a:noFill/>
                      <a:prstDash val="solid"/>
                      <a:round/>
                    </a:ln>
                  </p:spPr>
                  <p:txBody>
                    <a:bodyPr rtlCol="0" anchor="ctr"/>
                    <a:lstStyle/>
                    <a:p>
                      <a:endParaRPr lang="en-US"/>
                    </a:p>
                  </p:txBody>
                </p:sp>
                <p:sp>
                  <p:nvSpPr>
                    <p:cNvPr id="124" name="フリーフォーム: 図形 123">
                      <a:extLst>
                        <a:ext uri="{FF2B5EF4-FFF2-40B4-BE49-F238E27FC236}">
                          <a16:creationId xmlns:a16="http://schemas.microsoft.com/office/drawing/2014/main" id="{A25A8E5B-2A62-2CF7-D2EF-3100526AB257}"/>
                        </a:ext>
                      </a:extLst>
                    </p:cNvPr>
                    <p:cNvSpPr/>
                    <p:nvPr/>
                  </p:nvSpPr>
                  <p:spPr>
                    <a:xfrm flipV="1">
                      <a:off x="-8353451" y="3158926"/>
                      <a:ext cx="13096" cy="15755"/>
                    </a:xfrm>
                    <a:custGeom>
                      <a:avLst/>
                      <a:gdLst>
                        <a:gd name="connsiteX0" fmla="*/ -981 w 13096"/>
                        <a:gd name="connsiteY0" fmla="*/ 15482 h 15755"/>
                        <a:gd name="connsiteX1" fmla="*/ 12116 w 13096"/>
                        <a:gd name="connsiteY1" fmla="*/ 15482 h 15755"/>
                        <a:gd name="connsiteX2" fmla="*/ 12116 w 13096"/>
                        <a:gd name="connsiteY2" fmla="*/ -274 h 15755"/>
                        <a:gd name="connsiteX3" fmla="*/ -981 w 13096"/>
                        <a:gd name="connsiteY3" fmla="*/ -274 h 15755"/>
                        <a:gd name="connsiteX4" fmla="*/ -981 w 13096"/>
                        <a:gd name="connsiteY4" fmla="*/ 15482 h 157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096" h="15755">
                          <a:moveTo>
                            <a:pt x="-981" y="15482"/>
                          </a:moveTo>
                          <a:lnTo>
                            <a:pt x="12116" y="15482"/>
                          </a:lnTo>
                          <a:lnTo>
                            <a:pt x="12116" y="-274"/>
                          </a:lnTo>
                          <a:lnTo>
                            <a:pt x="-981" y="-274"/>
                          </a:lnTo>
                          <a:lnTo>
                            <a:pt x="-981" y="15482"/>
                          </a:lnTo>
                          <a:close/>
                        </a:path>
                      </a:pathLst>
                    </a:custGeom>
                    <a:solidFill>
                      <a:srgbClr val="000000"/>
                    </a:solidFill>
                    <a:ln w="20" cap="flat">
                      <a:noFill/>
                      <a:prstDash val="solid"/>
                      <a:round/>
                    </a:ln>
                  </p:spPr>
                  <p:txBody>
                    <a:bodyPr rtlCol="0" anchor="ctr"/>
                    <a:lstStyle/>
                    <a:p>
                      <a:endParaRPr lang="en-US"/>
                    </a:p>
                  </p:txBody>
                </p:sp>
                <p:sp>
                  <p:nvSpPr>
                    <p:cNvPr id="125" name="フリーフォーム: 図形 124">
                      <a:extLst>
                        <a:ext uri="{FF2B5EF4-FFF2-40B4-BE49-F238E27FC236}">
                          <a16:creationId xmlns:a16="http://schemas.microsoft.com/office/drawing/2014/main" id="{0E9429CD-8604-216F-F7E9-BD7D6406608D}"/>
                        </a:ext>
                      </a:extLst>
                    </p:cNvPr>
                    <p:cNvSpPr/>
                    <p:nvPr/>
                  </p:nvSpPr>
                  <p:spPr>
                    <a:xfrm flipV="1">
                      <a:off x="-8317784" y="3080424"/>
                      <a:ext cx="63936" cy="96063"/>
                    </a:xfrm>
                    <a:custGeom>
                      <a:avLst/>
                      <a:gdLst>
                        <a:gd name="connsiteX0" fmla="*/ 31039 w 63936"/>
                        <a:gd name="connsiteY0" fmla="*/ 50873 h 96063"/>
                        <a:gd name="connsiteX1" fmla="*/ 17665 w 63936"/>
                        <a:gd name="connsiteY1" fmla="*/ 45098 h 96063"/>
                        <a:gd name="connsiteX2" fmla="*/ 12743 w 63936"/>
                        <a:gd name="connsiteY2" fmla="*/ 29303 h 96063"/>
                        <a:gd name="connsiteX3" fmla="*/ 17665 w 63936"/>
                        <a:gd name="connsiteY3" fmla="*/ 13507 h 96063"/>
                        <a:gd name="connsiteX4" fmla="*/ 31039 w 63936"/>
                        <a:gd name="connsiteY4" fmla="*/ 7713 h 96063"/>
                        <a:gd name="connsiteX5" fmla="*/ 44394 w 63936"/>
                        <a:gd name="connsiteY5" fmla="*/ 13507 h 96063"/>
                        <a:gd name="connsiteX6" fmla="*/ 49315 w 63936"/>
                        <a:gd name="connsiteY6" fmla="*/ 29303 h 96063"/>
                        <a:gd name="connsiteX7" fmla="*/ 44394 w 63936"/>
                        <a:gd name="connsiteY7" fmla="*/ 45098 h 96063"/>
                        <a:gd name="connsiteX8" fmla="*/ 31039 w 63936"/>
                        <a:gd name="connsiteY8" fmla="*/ 50873 h 96063"/>
                        <a:gd name="connsiteX9" fmla="*/ 55903 w 63936"/>
                        <a:gd name="connsiteY9" fmla="*/ 90144 h 96063"/>
                        <a:gd name="connsiteX10" fmla="*/ 55903 w 63936"/>
                        <a:gd name="connsiteY10" fmla="*/ 78733 h 96063"/>
                        <a:gd name="connsiteX11" fmla="*/ 46378 w 63936"/>
                        <a:gd name="connsiteY11" fmla="*/ 82127 h 96063"/>
                        <a:gd name="connsiteX12" fmla="*/ 36853 w 63936"/>
                        <a:gd name="connsiteY12" fmla="*/ 83317 h 96063"/>
                        <a:gd name="connsiteX13" fmla="*/ 17903 w 63936"/>
                        <a:gd name="connsiteY13" fmla="*/ 74943 h 96063"/>
                        <a:gd name="connsiteX14" fmla="*/ 10441 w 63936"/>
                        <a:gd name="connsiteY14" fmla="*/ 49643 h 96063"/>
                        <a:gd name="connsiteX15" fmla="*/ 19609 w 63936"/>
                        <a:gd name="connsiteY15" fmla="*/ 57917 h 96063"/>
                        <a:gd name="connsiteX16" fmla="*/ 31773 w 63936"/>
                        <a:gd name="connsiteY16" fmla="*/ 60795 h 96063"/>
                        <a:gd name="connsiteX17" fmla="*/ 53820 w 63936"/>
                        <a:gd name="connsiteY17" fmla="*/ 52321 h 96063"/>
                        <a:gd name="connsiteX18" fmla="*/ 61916 w 63936"/>
                        <a:gd name="connsiteY18" fmla="*/ 29303 h 96063"/>
                        <a:gd name="connsiteX19" fmla="*/ 53483 w 63936"/>
                        <a:gd name="connsiteY19" fmla="*/ 6403 h 96063"/>
                        <a:gd name="connsiteX20" fmla="*/ 31039 w 63936"/>
                        <a:gd name="connsiteY20" fmla="*/ -2209 h 96063"/>
                        <a:gd name="connsiteX21" fmla="*/ 6473 w 63936"/>
                        <a:gd name="connsiteY21" fmla="*/ 10094 h 96063"/>
                        <a:gd name="connsiteX22" fmla="*/ -2020 w 63936"/>
                        <a:gd name="connsiteY22" fmla="*/ 45793 h 96063"/>
                        <a:gd name="connsiteX23" fmla="*/ 8398 w 63936"/>
                        <a:gd name="connsiteY23" fmla="*/ 80797 h 96063"/>
                        <a:gd name="connsiteX24" fmla="*/ 36357 w 63936"/>
                        <a:gd name="connsiteY24" fmla="*/ 93854 h 96063"/>
                        <a:gd name="connsiteX25" fmla="*/ 45882 w 63936"/>
                        <a:gd name="connsiteY25" fmla="*/ 92922 h 96063"/>
                        <a:gd name="connsiteX26" fmla="*/ 55903 w 63936"/>
                        <a:gd name="connsiteY26" fmla="*/ 90144 h 960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63936" h="96063">
                          <a:moveTo>
                            <a:pt x="31039" y="50873"/>
                          </a:moveTo>
                          <a:cubicBezTo>
                            <a:pt x="25417" y="50873"/>
                            <a:pt x="20959" y="48948"/>
                            <a:pt x="17665" y="45098"/>
                          </a:cubicBezTo>
                          <a:cubicBezTo>
                            <a:pt x="14384" y="41262"/>
                            <a:pt x="12743" y="35997"/>
                            <a:pt x="12743" y="29303"/>
                          </a:cubicBezTo>
                          <a:cubicBezTo>
                            <a:pt x="12743" y="22649"/>
                            <a:pt x="14384" y="17383"/>
                            <a:pt x="17665" y="13507"/>
                          </a:cubicBezTo>
                          <a:cubicBezTo>
                            <a:pt x="20959" y="9644"/>
                            <a:pt x="25417" y="7713"/>
                            <a:pt x="31039" y="7713"/>
                          </a:cubicBezTo>
                          <a:cubicBezTo>
                            <a:pt x="36662" y="7713"/>
                            <a:pt x="41113" y="9644"/>
                            <a:pt x="44394" y="13507"/>
                          </a:cubicBezTo>
                          <a:cubicBezTo>
                            <a:pt x="47675" y="17383"/>
                            <a:pt x="49315" y="22649"/>
                            <a:pt x="49315" y="29303"/>
                          </a:cubicBezTo>
                          <a:cubicBezTo>
                            <a:pt x="49315" y="35997"/>
                            <a:pt x="47675" y="41262"/>
                            <a:pt x="44394" y="45098"/>
                          </a:cubicBezTo>
                          <a:cubicBezTo>
                            <a:pt x="41113" y="48948"/>
                            <a:pt x="36662" y="50873"/>
                            <a:pt x="31039" y="50873"/>
                          </a:cubicBezTo>
                          <a:close/>
                          <a:moveTo>
                            <a:pt x="55903" y="90144"/>
                          </a:moveTo>
                          <a:lnTo>
                            <a:pt x="55903" y="78733"/>
                          </a:lnTo>
                          <a:cubicBezTo>
                            <a:pt x="52755" y="80215"/>
                            <a:pt x="49580" y="81346"/>
                            <a:pt x="46378" y="82127"/>
                          </a:cubicBezTo>
                          <a:cubicBezTo>
                            <a:pt x="43177" y="82921"/>
                            <a:pt x="40002" y="83317"/>
                            <a:pt x="36853" y="83317"/>
                          </a:cubicBezTo>
                          <a:cubicBezTo>
                            <a:pt x="28585" y="83317"/>
                            <a:pt x="22268" y="80526"/>
                            <a:pt x="17903" y="74943"/>
                          </a:cubicBezTo>
                          <a:cubicBezTo>
                            <a:pt x="13550" y="69361"/>
                            <a:pt x="11063" y="60927"/>
                            <a:pt x="10441" y="49643"/>
                          </a:cubicBezTo>
                          <a:cubicBezTo>
                            <a:pt x="12876" y="53241"/>
                            <a:pt x="15932" y="55999"/>
                            <a:pt x="19609" y="57917"/>
                          </a:cubicBezTo>
                          <a:cubicBezTo>
                            <a:pt x="23300" y="59836"/>
                            <a:pt x="27355" y="60795"/>
                            <a:pt x="31773" y="60795"/>
                          </a:cubicBezTo>
                          <a:cubicBezTo>
                            <a:pt x="41074" y="60795"/>
                            <a:pt x="48422" y="57970"/>
                            <a:pt x="53820" y="52321"/>
                          </a:cubicBezTo>
                          <a:cubicBezTo>
                            <a:pt x="59217" y="46686"/>
                            <a:pt x="61916" y="39013"/>
                            <a:pt x="61916" y="29303"/>
                          </a:cubicBezTo>
                          <a:cubicBezTo>
                            <a:pt x="61916" y="19791"/>
                            <a:pt x="59105" y="12158"/>
                            <a:pt x="53483" y="6403"/>
                          </a:cubicBezTo>
                          <a:cubicBezTo>
                            <a:pt x="47860" y="662"/>
                            <a:pt x="40379" y="-2209"/>
                            <a:pt x="31039" y="-2209"/>
                          </a:cubicBezTo>
                          <a:cubicBezTo>
                            <a:pt x="20324" y="-2209"/>
                            <a:pt x="12135" y="1892"/>
                            <a:pt x="6473" y="10094"/>
                          </a:cubicBezTo>
                          <a:cubicBezTo>
                            <a:pt x="811" y="18309"/>
                            <a:pt x="-2020" y="30209"/>
                            <a:pt x="-2020" y="45793"/>
                          </a:cubicBezTo>
                          <a:cubicBezTo>
                            <a:pt x="-2020" y="60424"/>
                            <a:pt x="1452" y="72092"/>
                            <a:pt x="8398" y="80797"/>
                          </a:cubicBezTo>
                          <a:cubicBezTo>
                            <a:pt x="15343" y="89502"/>
                            <a:pt x="24663" y="93854"/>
                            <a:pt x="36357" y="93854"/>
                          </a:cubicBezTo>
                          <a:cubicBezTo>
                            <a:pt x="39506" y="93854"/>
                            <a:pt x="42681" y="93543"/>
                            <a:pt x="45882" y="92922"/>
                          </a:cubicBezTo>
                          <a:cubicBezTo>
                            <a:pt x="49084" y="92300"/>
                            <a:pt x="52424" y="91374"/>
                            <a:pt x="55903" y="90144"/>
                          </a:cubicBezTo>
                          <a:close/>
                        </a:path>
                      </a:pathLst>
                    </a:custGeom>
                    <a:solidFill>
                      <a:srgbClr val="000000"/>
                    </a:solidFill>
                    <a:ln w="20" cap="flat">
                      <a:noFill/>
                      <a:prstDash val="solid"/>
                      <a:round/>
                    </a:ln>
                  </p:spPr>
                  <p:txBody>
                    <a:bodyPr rtlCol="0" anchor="ctr"/>
                    <a:lstStyle/>
                    <a:p>
                      <a:endParaRPr lang="en-US"/>
                    </a:p>
                  </p:txBody>
                </p:sp>
              </p:grpSp>
            </p:grpSp>
            <p:grpSp>
              <p:nvGrpSpPr>
                <p:cNvPr id="126" name="グラフィックス 6">
                  <a:extLst>
                    <a:ext uri="{FF2B5EF4-FFF2-40B4-BE49-F238E27FC236}">
                      <a16:creationId xmlns:a16="http://schemas.microsoft.com/office/drawing/2014/main" id="{A14A8474-9B97-1CAB-09CE-920900CC62E1}"/>
                    </a:ext>
                  </a:extLst>
                </p:cNvPr>
                <p:cNvGrpSpPr/>
                <p:nvPr/>
              </p:nvGrpSpPr>
              <p:grpSpPr>
                <a:xfrm>
                  <a:off x="-8439451" y="2487997"/>
                  <a:ext cx="8683291" cy="96063"/>
                  <a:chOff x="-8439451" y="2487997"/>
                  <a:chExt cx="8683291" cy="96063"/>
                </a:xfrm>
              </p:grpSpPr>
              <p:sp>
                <p:nvSpPr>
                  <p:cNvPr id="127" name="フリーフォーム: 図形 126">
                    <a:extLst>
                      <a:ext uri="{FF2B5EF4-FFF2-40B4-BE49-F238E27FC236}">
                        <a16:creationId xmlns:a16="http://schemas.microsoft.com/office/drawing/2014/main" id="{67802D87-D691-C1B5-03F6-AA285BC76B7D}"/>
                      </a:ext>
                    </a:extLst>
                  </p:cNvPr>
                  <p:cNvSpPr/>
                  <p:nvPr/>
                </p:nvSpPr>
                <p:spPr>
                  <a:xfrm>
                    <a:off x="-8156955" y="2534005"/>
                    <a:ext cx="8400796" cy="12700"/>
                  </a:xfrm>
                  <a:custGeom>
                    <a:avLst/>
                    <a:gdLst>
                      <a:gd name="connsiteX0" fmla="*/ 0 w 8400796"/>
                      <a:gd name="connsiteY0" fmla="*/ 0 h 12700"/>
                      <a:gd name="connsiteX1" fmla="*/ 8400796 w 8400796"/>
                      <a:gd name="connsiteY1" fmla="*/ 0 h 12700"/>
                    </a:gdLst>
                    <a:ahLst/>
                    <a:cxnLst>
                      <a:cxn ang="0">
                        <a:pos x="connsiteX0" y="connsiteY0"/>
                      </a:cxn>
                      <a:cxn ang="0">
                        <a:pos x="connsiteX1" y="connsiteY1"/>
                      </a:cxn>
                    </a:cxnLst>
                    <a:rect l="l" t="t" r="r" b="b"/>
                    <a:pathLst>
                      <a:path w="8400796" h="12700">
                        <a:moveTo>
                          <a:pt x="0" y="0"/>
                        </a:moveTo>
                        <a:lnTo>
                          <a:pt x="8400796" y="0"/>
                        </a:lnTo>
                      </a:path>
                    </a:pathLst>
                  </a:custGeom>
                  <a:noFill/>
                  <a:ln w="10160" cap="sq">
                    <a:solidFill>
                      <a:srgbClr val="B0B0B0"/>
                    </a:solidFill>
                    <a:prstDash val="solid"/>
                    <a:round/>
                  </a:ln>
                </p:spPr>
                <p:txBody>
                  <a:bodyPr rtlCol="0" anchor="ctr"/>
                  <a:lstStyle/>
                  <a:p>
                    <a:endParaRPr lang="en-US"/>
                  </a:p>
                </p:txBody>
              </p:sp>
              <p:sp>
                <p:nvSpPr>
                  <p:cNvPr id="128" name="フリーフォーム: 図形 127">
                    <a:extLst>
                      <a:ext uri="{FF2B5EF4-FFF2-40B4-BE49-F238E27FC236}">
                        <a16:creationId xmlns:a16="http://schemas.microsoft.com/office/drawing/2014/main" id="{C575B37E-A3DE-8F2B-ED68-3AC5EADEF7F1}"/>
                      </a:ext>
                    </a:extLst>
                  </p:cNvPr>
                  <p:cNvSpPr/>
                  <p:nvPr/>
                </p:nvSpPr>
                <p:spPr>
                  <a:xfrm>
                    <a:off x="-8201406" y="2534005"/>
                    <a:ext cx="44450" cy="12700"/>
                  </a:xfrm>
                  <a:custGeom>
                    <a:avLst/>
                    <a:gdLst>
                      <a:gd name="connsiteX0" fmla="*/ 44498 w 44450"/>
                      <a:gd name="connsiteY0" fmla="*/ 74 h 12700"/>
                      <a:gd name="connsiteX1" fmla="*/ 48 w 44450"/>
                      <a:gd name="connsiteY1" fmla="*/ 74 h 12700"/>
                    </a:gdLst>
                    <a:ahLst/>
                    <a:cxnLst>
                      <a:cxn ang="0">
                        <a:pos x="connsiteX0" y="connsiteY0"/>
                      </a:cxn>
                      <a:cxn ang="0">
                        <a:pos x="connsiteX1" y="connsiteY1"/>
                      </a:cxn>
                    </a:cxnLst>
                    <a:rect l="l" t="t" r="r" b="b"/>
                    <a:pathLst>
                      <a:path w="44450" h="12700">
                        <a:moveTo>
                          <a:pt x="44498" y="74"/>
                        </a:moveTo>
                        <a:lnTo>
                          <a:pt x="48" y="74"/>
                        </a:lnTo>
                      </a:path>
                    </a:pathLst>
                  </a:custGeom>
                  <a:solidFill>
                    <a:srgbClr val="000000"/>
                  </a:solidFill>
                  <a:ln w="10160" cap="flat">
                    <a:solidFill>
                      <a:srgbClr val="000000"/>
                    </a:solidFill>
                    <a:prstDash val="solid"/>
                    <a:round/>
                  </a:ln>
                </p:spPr>
                <p:txBody>
                  <a:bodyPr rtlCol="0" anchor="ctr"/>
                  <a:lstStyle/>
                  <a:p>
                    <a:endParaRPr lang="en-US"/>
                  </a:p>
                </p:txBody>
              </p:sp>
              <p:grpSp>
                <p:nvGrpSpPr>
                  <p:cNvPr id="129" name="グラフィックス 6">
                    <a:extLst>
                      <a:ext uri="{FF2B5EF4-FFF2-40B4-BE49-F238E27FC236}">
                        <a16:creationId xmlns:a16="http://schemas.microsoft.com/office/drawing/2014/main" id="{0AFA5FF8-9C20-4FC1-6597-8CE7569B1900}"/>
                      </a:ext>
                    </a:extLst>
                  </p:cNvPr>
                  <p:cNvGrpSpPr/>
                  <p:nvPr/>
                </p:nvGrpSpPr>
                <p:grpSpPr>
                  <a:xfrm>
                    <a:off x="-8439451" y="2487997"/>
                    <a:ext cx="184909" cy="96063"/>
                    <a:chOff x="-8439451" y="2487997"/>
                    <a:chExt cx="184909" cy="96063"/>
                  </a:xfrm>
                  <a:solidFill>
                    <a:srgbClr val="000000"/>
                  </a:solidFill>
                </p:grpSpPr>
                <p:sp>
                  <p:nvSpPr>
                    <p:cNvPr id="130" name="フリーフォーム: 図形 129">
                      <a:extLst>
                        <a:ext uri="{FF2B5EF4-FFF2-40B4-BE49-F238E27FC236}">
                          <a16:creationId xmlns:a16="http://schemas.microsoft.com/office/drawing/2014/main" id="{BA66B75E-21E0-29F5-FA2C-91819B04FCCF}"/>
                        </a:ext>
                      </a:extLst>
                    </p:cNvPr>
                    <p:cNvSpPr/>
                    <p:nvPr/>
                  </p:nvSpPr>
                  <p:spPr>
                    <a:xfrm flipV="1">
                      <a:off x="-8439451" y="2487997"/>
                      <a:ext cx="63996" cy="96063"/>
                    </a:xfrm>
                    <a:custGeom>
                      <a:avLst/>
                      <a:gdLst>
                        <a:gd name="connsiteX0" fmla="*/ 29982 w 63996"/>
                        <a:gd name="connsiteY0" fmla="*/ 83886 h 96063"/>
                        <a:gd name="connsiteX1" fmla="*/ 15436 w 63996"/>
                        <a:gd name="connsiteY1" fmla="*/ 74361 h 96063"/>
                        <a:gd name="connsiteX2" fmla="*/ 10574 w 63996"/>
                        <a:gd name="connsiteY2" fmla="*/ 45746 h 96063"/>
                        <a:gd name="connsiteX3" fmla="*/ 15436 w 63996"/>
                        <a:gd name="connsiteY3" fmla="*/ 17191 h 96063"/>
                        <a:gd name="connsiteX4" fmla="*/ 29982 w 63996"/>
                        <a:gd name="connsiteY4" fmla="*/ 7666 h 96063"/>
                        <a:gd name="connsiteX5" fmla="*/ 44587 w 63996"/>
                        <a:gd name="connsiteY5" fmla="*/ 17191 h 96063"/>
                        <a:gd name="connsiteX6" fmla="*/ 49468 w 63996"/>
                        <a:gd name="connsiteY6" fmla="*/ 45746 h 96063"/>
                        <a:gd name="connsiteX7" fmla="*/ 44587 w 63996"/>
                        <a:gd name="connsiteY7" fmla="*/ 74361 h 96063"/>
                        <a:gd name="connsiteX8" fmla="*/ 29982 w 63996"/>
                        <a:gd name="connsiteY8" fmla="*/ 83886 h 96063"/>
                        <a:gd name="connsiteX9" fmla="*/ 29982 w 63996"/>
                        <a:gd name="connsiteY9" fmla="*/ 93808 h 96063"/>
                        <a:gd name="connsiteX10" fmla="*/ 53774 w 63996"/>
                        <a:gd name="connsiteY10" fmla="*/ 81485 h 96063"/>
                        <a:gd name="connsiteX11" fmla="*/ 61990 w 63996"/>
                        <a:gd name="connsiteY11" fmla="*/ 45746 h 96063"/>
                        <a:gd name="connsiteX12" fmla="*/ 53774 w 63996"/>
                        <a:gd name="connsiteY12" fmla="*/ 10047 h 96063"/>
                        <a:gd name="connsiteX13" fmla="*/ 29982 w 63996"/>
                        <a:gd name="connsiteY13" fmla="*/ -2256 h 96063"/>
                        <a:gd name="connsiteX14" fmla="*/ 6209 w 63996"/>
                        <a:gd name="connsiteY14" fmla="*/ 10047 h 96063"/>
                        <a:gd name="connsiteX15" fmla="*/ -2007 w 63996"/>
                        <a:gd name="connsiteY15" fmla="*/ 45746 h 96063"/>
                        <a:gd name="connsiteX16" fmla="*/ 6209 w 63996"/>
                        <a:gd name="connsiteY16" fmla="*/ 81485 h 96063"/>
                        <a:gd name="connsiteX17" fmla="*/ 29982 w 63996"/>
                        <a:gd name="connsiteY17" fmla="*/ 93808 h 960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3996" h="96063">
                          <a:moveTo>
                            <a:pt x="29982" y="83886"/>
                          </a:moveTo>
                          <a:cubicBezTo>
                            <a:pt x="23539" y="83886"/>
                            <a:pt x="18691" y="80711"/>
                            <a:pt x="15436" y="74361"/>
                          </a:cubicBezTo>
                          <a:cubicBezTo>
                            <a:pt x="12195" y="68024"/>
                            <a:pt x="10574" y="58486"/>
                            <a:pt x="10574" y="45746"/>
                          </a:cubicBezTo>
                          <a:cubicBezTo>
                            <a:pt x="10574" y="33060"/>
                            <a:pt x="12195" y="23541"/>
                            <a:pt x="15436" y="17191"/>
                          </a:cubicBezTo>
                          <a:cubicBezTo>
                            <a:pt x="18691" y="10841"/>
                            <a:pt x="23539" y="7666"/>
                            <a:pt x="29982" y="7666"/>
                          </a:cubicBezTo>
                          <a:cubicBezTo>
                            <a:pt x="36477" y="7666"/>
                            <a:pt x="41346" y="10841"/>
                            <a:pt x="44587" y="17191"/>
                          </a:cubicBezTo>
                          <a:cubicBezTo>
                            <a:pt x="47841" y="23541"/>
                            <a:pt x="49468" y="33060"/>
                            <a:pt x="49468" y="45746"/>
                          </a:cubicBezTo>
                          <a:cubicBezTo>
                            <a:pt x="49468" y="58486"/>
                            <a:pt x="47841" y="68024"/>
                            <a:pt x="44587" y="74361"/>
                          </a:cubicBezTo>
                          <a:cubicBezTo>
                            <a:pt x="41346" y="80711"/>
                            <a:pt x="36477" y="83886"/>
                            <a:pt x="29982" y="83886"/>
                          </a:cubicBezTo>
                          <a:close/>
                          <a:moveTo>
                            <a:pt x="29982" y="93808"/>
                          </a:moveTo>
                          <a:cubicBezTo>
                            <a:pt x="40366" y="93808"/>
                            <a:pt x="48297" y="89700"/>
                            <a:pt x="53774" y="81485"/>
                          </a:cubicBezTo>
                          <a:cubicBezTo>
                            <a:pt x="59251" y="73283"/>
                            <a:pt x="61990" y="61370"/>
                            <a:pt x="61990" y="45746"/>
                          </a:cubicBezTo>
                          <a:cubicBezTo>
                            <a:pt x="61990" y="30162"/>
                            <a:pt x="59251" y="18263"/>
                            <a:pt x="53774" y="10047"/>
                          </a:cubicBezTo>
                          <a:cubicBezTo>
                            <a:pt x="48297" y="1845"/>
                            <a:pt x="40366" y="-2256"/>
                            <a:pt x="29982" y="-2256"/>
                          </a:cubicBezTo>
                          <a:cubicBezTo>
                            <a:pt x="19610" y="-2256"/>
                            <a:pt x="11686" y="1845"/>
                            <a:pt x="6209" y="10047"/>
                          </a:cubicBezTo>
                          <a:cubicBezTo>
                            <a:pt x="732" y="18263"/>
                            <a:pt x="-2007" y="30162"/>
                            <a:pt x="-2007" y="45746"/>
                          </a:cubicBezTo>
                          <a:cubicBezTo>
                            <a:pt x="-2007" y="61370"/>
                            <a:pt x="732" y="73283"/>
                            <a:pt x="6209" y="81485"/>
                          </a:cubicBezTo>
                          <a:cubicBezTo>
                            <a:pt x="11686" y="89700"/>
                            <a:pt x="19610" y="93808"/>
                            <a:pt x="29982" y="93808"/>
                          </a:cubicBezTo>
                          <a:close/>
                        </a:path>
                      </a:pathLst>
                    </a:custGeom>
                    <a:solidFill>
                      <a:srgbClr val="000000"/>
                    </a:solidFill>
                    <a:ln w="20" cap="flat">
                      <a:noFill/>
                      <a:prstDash val="solid"/>
                      <a:round/>
                    </a:ln>
                  </p:spPr>
                  <p:txBody>
                    <a:bodyPr rtlCol="0" anchor="ctr"/>
                    <a:lstStyle/>
                    <a:p>
                      <a:endParaRPr lang="en-US"/>
                    </a:p>
                  </p:txBody>
                </p:sp>
                <p:sp>
                  <p:nvSpPr>
                    <p:cNvPr id="131" name="フリーフォーム: 図形 130">
                      <a:extLst>
                        <a:ext uri="{FF2B5EF4-FFF2-40B4-BE49-F238E27FC236}">
                          <a16:creationId xmlns:a16="http://schemas.microsoft.com/office/drawing/2014/main" id="{FC033081-78D2-19AE-E084-F2DE75AF4428}"/>
                        </a:ext>
                      </a:extLst>
                    </p:cNvPr>
                    <p:cNvSpPr/>
                    <p:nvPr/>
                  </p:nvSpPr>
                  <p:spPr>
                    <a:xfrm flipV="1">
                      <a:off x="-8353451" y="2566499"/>
                      <a:ext cx="13096" cy="15755"/>
                    </a:xfrm>
                    <a:custGeom>
                      <a:avLst/>
                      <a:gdLst>
                        <a:gd name="connsiteX0" fmla="*/ -981 w 13096"/>
                        <a:gd name="connsiteY0" fmla="*/ 15436 h 15755"/>
                        <a:gd name="connsiteX1" fmla="*/ 12116 w 13096"/>
                        <a:gd name="connsiteY1" fmla="*/ 15436 h 15755"/>
                        <a:gd name="connsiteX2" fmla="*/ 12116 w 13096"/>
                        <a:gd name="connsiteY2" fmla="*/ -320 h 15755"/>
                        <a:gd name="connsiteX3" fmla="*/ -981 w 13096"/>
                        <a:gd name="connsiteY3" fmla="*/ -320 h 15755"/>
                        <a:gd name="connsiteX4" fmla="*/ -981 w 13096"/>
                        <a:gd name="connsiteY4" fmla="*/ 15436 h 157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096" h="15755">
                          <a:moveTo>
                            <a:pt x="-981" y="15436"/>
                          </a:moveTo>
                          <a:lnTo>
                            <a:pt x="12116" y="15436"/>
                          </a:lnTo>
                          <a:lnTo>
                            <a:pt x="12116" y="-320"/>
                          </a:lnTo>
                          <a:lnTo>
                            <a:pt x="-981" y="-320"/>
                          </a:lnTo>
                          <a:lnTo>
                            <a:pt x="-981" y="15436"/>
                          </a:lnTo>
                          <a:close/>
                        </a:path>
                      </a:pathLst>
                    </a:custGeom>
                    <a:solidFill>
                      <a:srgbClr val="000000"/>
                    </a:solidFill>
                    <a:ln w="20" cap="flat">
                      <a:noFill/>
                      <a:prstDash val="solid"/>
                      <a:round/>
                    </a:ln>
                  </p:spPr>
                  <p:txBody>
                    <a:bodyPr rtlCol="0" anchor="ctr"/>
                    <a:lstStyle/>
                    <a:p>
                      <a:endParaRPr lang="en-US"/>
                    </a:p>
                  </p:txBody>
                </p:sp>
                <p:sp>
                  <p:nvSpPr>
                    <p:cNvPr id="132" name="フリーフォーム: 図形 131">
                      <a:extLst>
                        <a:ext uri="{FF2B5EF4-FFF2-40B4-BE49-F238E27FC236}">
                          <a16:creationId xmlns:a16="http://schemas.microsoft.com/office/drawing/2014/main" id="{1C7028B6-121C-C607-EEA7-04DB493CD206}"/>
                        </a:ext>
                      </a:extLst>
                    </p:cNvPr>
                    <p:cNvSpPr/>
                    <p:nvPr/>
                  </p:nvSpPr>
                  <p:spPr>
                    <a:xfrm flipV="1">
                      <a:off x="-8318042" y="2487997"/>
                      <a:ext cx="63500" cy="96063"/>
                    </a:xfrm>
                    <a:custGeom>
                      <a:avLst/>
                      <a:gdLst>
                        <a:gd name="connsiteX0" fmla="*/ 29754 w 63500"/>
                        <a:gd name="connsiteY0" fmla="*/ 43524 h 96063"/>
                        <a:gd name="connsiteX1" fmla="*/ 15704 w 63500"/>
                        <a:gd name="connsiteY1" fmla="*/ 38741 h 96063"/>
                        <a:gd name="connsiteX2" fmla="*/ 10604 w 63500"/>
                        <a:gd name="connsiteY2" fmla="*/ 25605 h 96063"/>
                        <a:gd name="connsiteX3" fmla="*/ 15704 w 63500"/>
                        <a:gd name="connsiteY3" fmla="*/ 12448 h 96063"/>
                        <a:gd name="connsiteX4" fmla="*/ 29754 w 63500"/>
                        <a:gd name="connsiteY4" fmla="*/ 7666 h 96063"/>
                        <a:gd name="connsiteX5" fmla="*/ 43823 w 63500"/>
                        <a:gd name="connsiteY5" fmla="*/ 12468 h 96063"/>
                        <a:gd name="connsiteX6" fmla="*/ 48982 w 63500"/>
                        <a:gd name="connsiteY6" fmla="*/ 25605 h 96063"/>
                        <a:gd name="connsiteX7" fmla="*/ 43862 w 63500"/>
                        <a:gd name="connsiteY7" fmla="*/ 38741 h 96063"/>
                        <a:gd name="connsiteX8" fmla="*/ 29754 w 63500"/>
                        <a:gd name="connsiteY8" fmla="*/ 43524 h 96063"/>
                        <a:gd name="connsiteX9" fmla="*/ 17232 w 63500"/>
                        <a:gd name="connsiteY9" fmla="*/ 48842 h 96063"/>
                        <a:gd name="connsiteX10" fmla="*/ 4671 w 63500"/>
                        <a:gd name="connsiteY10" fmla="*/ 56343 h 96063"/>
                        <a:gd name="connsiteX11" fmla="*/ 186 w 63500"/>
                        <a:gd name="connsiteY11" fmla="*/ 69817 h 96063"/>
                        <a:gd name="connsiteX12" fmla="*/ 8084 w 63500"/>
                        <a:gd name="connsiteY12" fmla="*/ 87359 h 96063"/>
                        <a:gd name="connsiteX13" fmla="*/ 29754 w 63500"/>
                        <a:gd name="connsiteY13" fmla="*/ 93808 h 96063"/>
                        <a:gd name="connsiteX14" fmla="*/ 51463 w 63500"/>
                        <a:gd name="connsiteY14" fmla="*/ 87359 h 96063"/>
                        <a:gd name="connsiteX15" fmla="*/ 59341 w 63500"/>
                        <a:gd name="connsiteY15" fmla="*/ 69817 h 96063"/>
                        <a:gd name="connsiteX16" fmla="*/ 54836 w 63500"/>
                        <a:gd name="connsiteY16" fmla="*/ 56343 h 96063"/>
                        <a:gd name="connsiteX17" fmla="*/ 42354 w 63500"/>
                        <a:gd name="connsiteY17" fmla="*/ 48842 h 96063"/>
                        <a:gd name="connsiteX18" fmla="*/ 56443 w 63500"/>
                        <a:gd name="connsiteY18" fmla="*/ 40587 h 96063"/>
                        <a:gd name="connsiteX19" fmla="*/ 61504 w 63500"/>
                        <a:gd name="connsiteY19" fmla="*/ 25605 h 96063"/>
                        <a:gd name="connsiteX20" fmla="*/ 53288 w 63500"/>
                        <a:gd name="connsiteY20" fmla="*/ 4928 h 96063"/>
                        <a:gd name="connsiteX21" fmla="*/ 29754 w 63500"/>
                        <a:gd name="connsiteY21" fmla="*/ -2256 h 96063"/>
                        <a:gd name="connsiteX22" fmla="*/ 6219 w 63500"/>
                        <a:gd name="connsiteY22" fmla="*/ 4928 h 96063"/>
                        <a:gd name="connsiteX23" fmla="*/ -1996 w 63500"/>
                        <a:gd name="connsiteY23" fmla="*/ 25605 h 96063"/>
                        <a:gd name="connsiteX24" fmla="*/ 3084 w 63500"/>
                        <a:gd name="connsiteY24" fmla="*/ 40587 h 96063"/>
                        <a:gd name="connsiteX25" fmla="*/ 17232 w 63500"/>
                        <a:gd name="connsiteY25" fmla="*/ 48842 h 96063"/>
                        <a:gd name="connsiteX26" fmla="*/ 12648 w 63500"/>
                        <a:gd name="connsiteY26" fmla="*/ 68626 h 96063"/>
                        <a:gd name="connsiteX27" fmla="*/ 17133 w 63500"/>
                        <a:gd name="connsiteY27" fmla="*/ 57414 h 96063"/>
                        <a:gd name="connsiteX28" fmla="*/ 29754 w 63500"/>
                        <a:gd name="connsiteY28" fmla="*/ 53386 h 96063"/>
                        <a:gd name="connsiteX29" fmla="*/ 42374 w 63500"/>
                        <a:gd name="connsiteY29" fmla="*/ 57414 h 96063"/>
                        <a:gd name="connsiteX30" fmla="*/ 46938 w 63500"/>
                        <a:gd name="connsiteY30" fmla="*/ 68626 h 96063"/>
                        <a:gd name="connsiteX31" fmla="*/ 42374 w 63500"/>
                        <a:gd name="connsiteY31" fmla="*/ 79858 h 96063"/>
                        <a:gd name="connsiteX32" fmla="*/ 29754 w 63500"/>
                        <a:gd name="connsiteY32" fmla="*/ 83886 h 96063"/>
                        <a:gd name="connsiteX33" fmla="*/ 17133 w 63500"/>
                        <a:gd name="connsiteY33" fmla="*/ 79858 h 96063"/>
                        <a:gd name="connsiteX34" fmla="*/ 12648 w 63500"/>
                        <a:gd name="connsiteY34" fmla="*/ 68626 h 960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63500" h="96063">
                          <a:moveTo>
                            <a:pt x="29754" y="43524"/>
                          </a:moveTo>
                          <a:cubicBezTo>
                            <a:pt x="23800" y="43524"/>
                            <a:pt x="19117" y="41930"/>
                            <a:pt x="15704" y="38741"/>
                          </a:cubicBezTo>
                          <a:cubicBezTo>
                            <a:pt x="12304" y="35553"/>
                            <a:pt x="10604" y="31174"/>
                            <a:pt x="10604" y="25605"/>
                          </a:cubicBezTo>
                          <a:cubicBezTo>
                            <a:pt x="10604" y="20022"/>
                            <a:pt x="12304" y="15637"/>
                            <a:pt x="15704" y="12448"/>
                          </a:cubicBezTo>
                          <a:cubicBezTo>
                            <a:pt x="19117" y="9260"/>
                            <a:pt x="23800" y="7666"/>
                            <a:pt x="29754" y="7666"/>
                          </a:cubicBezTo>
                          <a:cubicBezTo>
                            <a:pt x="35707" y="7666"/>
                            <a:pt x="40396" y="9267"/>
                            <a:pt x="43823" y="12468"/>
                          </a:cubicBezTo>
                          <a:cubicBezTo>
                            <a:pt x="47262" y="15683"/>
                            <a:pt x="48982" y="20062"/>
                            <a:pt x="48982" y="25605"/>
                          </a:cubicBezTo>
                          <a:cubicBezTo>
                            <a:pt x="48982" y="31174"/>
                            <a:pt x="47276" y="35553"/>
                            <a:pt x="43862" y="38741"/>
                          </a:cubicBezTo>
                          <a:cubicBezTo>
                            <a:pt x="40463" y="41930"/>
                            <a:pt x="35760" y="43524"/>
                            <a:pt x="29754" y="43524"/>
                          </a:cubicBezTo>
                          <a:close/>
                          <a:moveTo>
                            <a:pt x="17232" y="48842"/>
                          </a:moveTo>
                          <a:cubicBezTo>
                            <a:pt x="11861" y="50165"/>
                            <a:pt x="7674" y="52665"/>
                            <a:pt x="4671" y="56343"/>
                          </a:cubicBezTo>
                          <a:cubicBezTo>
                            <a:pt x="1681" y="60034"/>
                            <a:pt x="186" y="64525"/>
                            <a:pt x="186" y="69817"/>
                          </a:cubicBezTo>
                          <a:cubicBezTo>
                            <a:pt x="186" y="77212"/>
                            <a:pt x="2819" y="83059"/>
                            <a:pt x="8084" y="87359"/>
                          </a:cubicBezTo>
                          <a:cubicBezTo>
                            <a:pt x="13363" y="91658"/>
                            <a:pt x="20586" y="93808"/>
                            <a:pt x="29754" y="93808"/>
                          </a:cubicBezTo>
                          <a:cubicBezTo>
                            <a:pt x="38974" y="93808"/>
                            <a:pt x="46211" y="91658"/>
                            <a:pt x="51463" y="87359"/>
                          </a:cubicBezTo>
                          <a:cubicBezTo>
                            <a:pt x="56715" y="83059"/>
                            <a:pt x="59341" y="77212"/>
                            <a:pt x="59341" y="69817"/>
                          </a:cubicBezTo>
                          <a:cubicBezTo>
                            <a:pt x="59341" y="64525"/>
                            <a:pt x="57839" y="60034"/>
                            <a:pt x="54836" y="56343"/>
                          </a:cubicBezTo>
                          <a:cubicBezTo>
                            <a:pt x="51846" y="52665"/>
                            <a:pt x="47686" y="50165"/>
                            <a:pt x="42354" y="48842"/>
                          </a:cubicBezTo>
                          <a:cubicBezTo>
                            <a:pt x="48387" y="47439"/>
                            <a:pt x="53083" y="44688"/>
                            <a:pt x="56443" y="40587"/>
                          </a:cubicBezTo>
                          <a:cubicBezTo>
                            <a:pt x="59817" y="36499"/>
                            <a:pt x="61504" y="31505"/>
                            <a:pt x="61504" y="25605"/>
                          </a:cubicBezTo>
                          <a:cubicBezTo>
                            <a:pt x="61504" y="16622"/>
                            <a:pt x="58765" y="9730"/>
                            <a:pt x="53288" y="4928"/>
                          </a:cubicBezTo>
                          <a:cubicBezTo>
                            <a:pt x="47811" y="139"/>
                            <a:pt x="39967" y="-2256"/>
                            <a:pt x="29754" y="-2256"/>
                          </a:cubicBezTo>
                          <a:cubicBezTo>
                            <a:pt x="19554" y="-2256"/>
                            <a:pt x="11709" y="139"/>
                            <a:pt x="6219" y="4928"/>
                          </a:cubicBezTo>
                          <a:cubicBezTo>
                            <a:pt x="742" y="9730"/>
                            <a:pt x="-1996" y="16622"/>
                            <a:pt x="-1996" y="25605"/>
                          </a:cubicBezTo>
                          <a:cubicBezTo>
                            <a:pt x="-1996" y="31505"/>
                            <a:pt x="-303" y="36499"/>
                            <a:pt x="3084" y="40587"/>
                          </a:cubicBezTo>
                          <a:cubicBezTo>
                            <a:pt x="6483" y="44688"/>
                            <a:pt x="11200" y="47439"/>
                            <a:pt x="17232" y="48842"/>
                          </a:cubicBezTo>
                          <a:close/>
                          <a:moveTo>
                            <a:pt x="12648" y="68626"/>
                          </a:moveTo>
                          <a:cubicBezTo>
                            <a:pt x="12648" y="63837"/>
                            <a:pt x="14143" y="60100"/>
                            <a:pt x="17133" y="57414"/>
                          </a:cubicBezTo>
                          <a:cubicBezTo>
                            <a:pt x="20136" y="54729"/>
                            <a:pt x="24343" y="53386"/>
                            <a:pt x="29754" y="53386"/>
                          </a:cubicBezTo>
                          <a:cubicBezTo>
                            <a:pt x="35138" y="53386"/>
                            <a:pt x="39345" y="54729"/>
                            <a:pt x="42374" y="57414"/>
                          </a:cubicBezTo>
                          <a:cubicBezTo>
                            <a:pt x="45417" y="60100"/>
                            <a:pt x="46938" y="63837"/>
                            <a:pt x="46938" y="68626"/>
                          </a:cubicBezTo>
                          <a:cubicBezTo>
                            <a:pt x="46938" y="73428"/>
                            <a:pt x="45417" y="77172"/>
                            <a:pt x="42374" y="79858"/>
                          </a:cubicBezTo>
                          <a:cubicBezTo>
                            <a:pt x="39345" y="82543"/>
                            <a:pt x="35138" y="83886"/>
                            <a:pt x="29754" y="83886"/>
                          </a:cubicBezTo>
                          <a:cubicBezTo>
                            <a:pt x="24343" y="83886"/>
                            <a:pt x="20136" y="82543"/>
                            <a:pt x="17133" y="79858"/>
                          </a:cubicBezTo>
                          <a:cubicBezTo>
                            <a:pt x="14143" y="77172"/>
                            <a:pt x="12648" y="73428"/>
                            <a:pt x="12648" y="68626"/>
                          </a:cubicBezTo>
                          <a:close/>
                        </a:path>
                      </a:pathLst>
                    </a:custGeom>
                    <a:solidFill>
                      <a:srgbClr val="000000"/>
                    </a:solidFill>
                    <a:ln w="20" cap="flat">
                      <a:noFill/>
                      <a:prstDash val="solid"/>
                      <a:round/>
                    </a:ln>
                  </p:spPr>
                  <p:txBody>
                    <a:bodyPr rtlCol="0" anchor="ctr"/>
                    <a:lstStyle/>
                    <a:p>
                      <a:endParaRPr lang="en-US"/>
                    </a:p>
                  </p:txBody>
                </p:sp>
              </p:grpSp>
            </p:grpSp>
            <p:grpSp>
              <p:nvGrpSpPr>
                <p:cNvPr id="133" name="グラフィックス 6">
                  <a:extLst>
                    <a:ext uri="{FF2B5EF4-FFF2-40B4-BE49-F238E27FC236}">
                      <a16:creationId xmlns:a16="http://schemas.microsoft.com/office/drawing/2014/main" id="{2F0B422C-A0ED-94C0-1401-DB8567044CB9}"/>
                    </a:ext>
                  </a:extLst>
                </p:cNvPr>
                <p:cNvGrpSpPr/>
                <p:nvPr/>
              </p:nvGrpSpPr>
              <p:grpSpPr>
                <a:xfrm>
                  <a:off x="-8433875" y="1895568"/>
                  <a:ext cx="8677715" cy="96063"/>
                  <a:chOff x="-8433875" y="1895568"/>
                  <a:chExt cx="8677715" cy="96063"/>
                </a:xfrm>
              </p:grpSpPr>
              <p:sp>
                <p:nvSpPr>
                  <p:cNvPr id="134" name="フリーフォーム: 図形 133">
                    <a:extLst>
                      <a:ext uri="{FF2B5EF4-FFF2-40B4-BE49-F238E27FC236}">
                        <a16:creationId xmlns:a16="http://schemas.microsoft.com/office/drawing/2014/main" id="{8A7FD0E4-8DCC-3257-2D52-17138245D4F0}"/>
                      </a:ext>
                    </a:extLst>
                  </p:cNvPr>
                  <p:cNvSpPr/>
                  <p:nvPr/>
                </p:nvSpPr>
                <p:spPr>
                  <a:xfrm>
                    <a:off x="-8156955" y="1941575"/>
                    <a:ext cx="8400796" cy="12700"/>
                  </a:xfrm>
                  <a:custGeom>
                    <a:avLst/>
                    <a:gdLst>
                      <a:gd name="connsiteX0" fmla="*/ 0 w 8400796"/>
                      <a:gd name="connsiteY0" fmla="*/ 0 h 12700"/>
                      <a:gd name="connsiteX1" fmla="*/ 8400796 w 8400796"/>
                      <a:gd name="connsiteY1" fmla="*/ 0 h 12700"/>
                    </a:gdLst>
                    <a:ahLst/>
                    <a:cxnLst>
                      <a:cxn ang="0">
                        <a:pos x="connsiteX0" y="connsiteY0"/>
                      </a:cxn>
                      <a:cxn ang="0">
                        <a:pos x="connsiteX1" y="connsiteY1"/>
                      </a:cxn>
                    </a:cxnLst>
                    <a:rect l="l" t="t" r="r" b="b"/>
                    <a:pathLst>
                      <a:path w="8400796" h="12700">
                        <a:moveTo>
                          <a:pt x="0" y="0"/>
                        </a:moveTo>
                        <a:lnTo>
                          <a:pt x="8400796" y="0"/>
                        </a:lnTo>
                      </a:path>
                    </a:pathLst>
                  </a:custGeom>
                  <a:noFill/>
                  <a:ln w="10160" cap="sq">
                    <a:solidFill>
                      <a:srgbClr val="B0B0B0"/>
                    </a:solidFill>
                    <a:prstDash val="solid"/>
                    <a:round/>
                  </a:ln>
                </p:spPr>
                <p:txBody>
                  <a:bodyPr rtlCol="0" anchor="ctr"/>
                  <a:lstStyle/>
                  <a:p>
                    <a:endParaRPr lang="en-US"/>
                  </a:p>
                </p:txBody>
              </p:sp>
              <p:sp>
                <p:nvSpPr>
                  <p:cNvPr id="135" name="フリーフォーム: 図形 134">
                    <a:extLst>
                      <a:ext uri="{FF2B5EF4-FFF2-40B4-BE49-F238E27FC236}">
                        <a16:creationId xmlns:a16="http://schemas.microsoft.com/office/drawing/2014/main" id="{988D10EE-C24C-1F65-EF2D-279E43598D3A}"/>
                      </a:ext>
                    </a:extLst>
                  </p:cNvPr>
                  <p:cNvSpPr/>
                  <p:nvPr/>
                </p:nvSpPr>
                <p:spPr>
                  <a:xfrm>
                    <a:off x="-8201406" y="1941576"/>
                    <a:ext cx="44450" cy="12700"/>
                  </a:xfrm>
                  <a:custGeom>
                    <a:avLst/>
                    <a:gdLst>
                      <a:gd name="connsiteX0" fmla="*/ 44498 w 44450"/>
                      <a:gd name="connsiteY0" fmla="*/ 27 h 12700"/>
                      <a:gd name="connsiteX1" fmla="*/ 48 w 44450"/>
                      <a:gd name="connsiteY1" fmla="*/ 27 h 12700"/>
                    </a:gdLst>
                    <a:ahLst/>
                    <a:cxnLst>
                      <a:cxn ang="0">
                        <a:pos x="connsiteX0" y="connsiteY0"/>
                      </a:cxn>
                      <a:cxn ang="0">
                        <a:pos x="connsiteX1" y="connsiteY1"/>
                      </a:cxn>
                    </a:cxnLst>
                    <a:rect l="l" t="t" r="r" b="b"/>
                    <a:pathLst>
                      <a:path w="44450" h="12700">
                        <a:moveTo>
                          <a:pt x="44498" y="27"/>
                        </a:moveTo>
                        <a:lnTo>
                          <a:pt x="48" y="27"/>
                        </a:lnTo>
                      </a:path>
                    </a:pathLst>
                  </a:custGeom>
                  <a:solidFill>
                    <a:srgbClr val="000000"/>
                  </a:solidFill>
                  <a:ln w="10160" cap="flat">
                    <a:solidFill>
                      <a:srgbClr val="000000"/>
                    </a:solidFill>
                    <a:prstDash val="solid"/>
                    <a:round/>
                  </a:ln>
                </p:spPr>
                <p:txBody>
                  <a:bodyPr rtlCol="0" anchor="ctr"/>
                  <a:lstStyle/>
                  <a:p>
                    <a:endParaRPr lang="en-US"/>
                  </a:p>
                </p:txBody>
              </p:sp>
              <p:grpSp>
                <p:nvGrpSpPr>
                  <p:cNvPr id="136" name="グラフィックス 6">
                    <a:extLst>
                      <a:ext uri="{FF2B5EF4-FFF2-40B4-BE49-F238E27FC236}">
                        <a16:creationId xmlns:a16="http://schemas.microsoft.com/office/drawing/2014/main" id="{B616E9C3-716C-FD5D-1023-ADC0FA7AEC9E}"/>
                      </a:ext>
                    </a:extLst>
                  </p:cNvPr>
                  <p:cNvGrpSpPr/>
                  <p:nvPr/>
                </p:nvGrpSpPr>
                <p:grpSpPr>
                  <a:xfrm>
                    <a:off x="-8433875" y="1895568"/>
                    <a:ext cx="179590" cy="96063"/>
                    <a:chOff x="-8433875" y="1895568"/>
                    <a:chExt cx="179590" cy="96063"/>
                  </a:xfrm>
                  <a:solidFill>
                    <a:srgbClr val="000000"/>
                  </a:solidFill>
                </p:grpSpPr>
                <p:sp>
                  <p:nvSpPr>
                    <p:cNvPr id="137" name="フリーフォーム: 図形 136">
                      <a:extLst>
                        <a:ext uri="{FF2B5EF4-FFF2-40B4-BE49-F238E27FC236}">
                          <a16:creationId xmlns:a16="http://schemas.microsoft.com/office/drawing/2014/main" id="{3BF3D6C0-2A5E-897E-E4C0-F07583DF6B48}"/>
                        </a:ext>
                      </a:extLst>
                    </p:cNvPr>
                    <p:cNvSpPr/>
                    <p:nvPr/>
                  </p:nvSpPr>
                  <p:spPr>
                    <a:xfrm flipV="1">
                      <a:off x="-8433875" y="1897234"/>
                      <a:ext cx="55125" cy="92590"/>
                    </a:xfrm>
                    <a:custGeom>
                      <a:avLst/>
                      <a:gdLst>
                        <a:gd name="connsiteX0" fmla="*/ -258 w 55125"/>
                        <a:gd name="connsiteY0" fmla="*/ 8231 h 92590"/>
                        <a:gd name="connsiteX1" fmla="*/ 20201 w 55125"/>
                        <a:gd name="connsiteY1" fmla="*/ 8231 h 92590"/>
                        <a:gd name="connsiteX2" fmla="*/ 20201 w 55125"/>
                        <a:gd name="connsiteY2" fmla="*/ 78875 h 92590"/>
                        <a:gd name="connsiteX3" fmla="*/ -2064 w 55125"/>
                        <a:gd name="connsiteY3" fmla="*/ 74410 h 92590"/>
                        <a:gd name="connsiteX4" fmla="*/ -2064 w 55125"/>
                        <a:gd name="connsiteY4" fmla="*/ 85820 h 92590"/>
                        <a:gd name="connsiteX5" fmla="*/ 20082 w 55125"/>
                        <a:gd name="connsiteY5" fmla="*/ 90285 h 92590"/>
                        <a:gd name="connsiteX6" fmla="*/ 32603 w 55125"/>
                        <a:gd name="connsiteY6" fmla="*/ 90285 h 92590"/>
                        <a:gd name="connsiteX7" fmla="*/ 32603 w 55125"/>
                        <a:gd name="connsiteY7" fmla="*/ 8231 h 92590"/>
                        <a:gd name="connsiteX8" fmla="*/ 53062 w 55125"/>
                        <a:gd name="connsiteY8" fmla="*/ 8231 h 92590"/>
                        <a:gd name="connsiteX9" fmla="*/ 53062 w 55125"/>
                        <a:gd name="connsiteY9" fmla="*/ -2306 h 92590"/>
                        <a:gd name="connsiteX10" fmla="*/ -258 w 55125"/>
                        <a:gd name="connsiteY10" fmla="*/ -2306 h 92590"/>
                        <a:gd name="connsiteX11" fmla="*/ -258 w 55125"/>
                        <a:gd name="connsiteY11" fmla="*/ 8231 h 92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125" h="92590">
                          <a:moveTo>
                            <a:pt x="-258" y="8231"/>
                          </a:moveTo>
                          <a:lnTo>
                            <a:pt x="20201" y="8231"/>
                          </a:lnTo>
                          <a:lnTo>
                            <a:pt x="20201" y="78875"/>
                          </a:lnTo>
                          <a:lnTo>
                            <a:pt x="-2064" y="74410"/>
                          </a:lnTo>
                          <a:lnTo>
                            <a:pt x="-2064" y="85820"/>
                          </a:lnTo>
                          <a:lnTo>
                            <a:pt x="20082" y="90285"/>
                          </a:lnTo>
                          <a:lnTo>
                            <a:pt x="32603" y="90285"/>
                          </a:lnTo>
                          <a:lnTo>
                            <a:pt x="32603" y="8231"/>
                          </a:lnTo>
                          <a:lnTo>
                            <a:pt x="53062" y="8231"/>
                          </a:lnTo>
                          <a:lnTo>
                            <a:pt x="53062" y="-2306"/>
                          </a:lnTo>
                          <a:lnTo>
                            <a:pt x="-258" y="-2306"/>
                          </a:lnTo>
                          <a:lnTo>
                            <a:pt x="-258" y="8231"/>
                          </a:lnTo>
                          <a:close/>
                        </a:path>
                      </a:pathLst>
                    </a:custGeom>
                    <a:solidFill>
                      <a:srgbClr val="000000"/>
                    </a:solidFill>
                    <a:ln w="20" cap="flat">
                      <a:noFill/>
                      <a:prstDash val="solid"/>
                      <a:round/>
                    </a:ln>
                  </p:spPr>
                  <p:txBody>
                    <a:bodyPr rtlCol="0" anchor="ctr"/>
                    <a:lstStyle/>
                    <a:p>
                      <a:endParaRPr lang="en-US"/>
                    </a:p>
                  </p:txBody>
                </p:sp>
                <p:sp>
                  <p:nvSpPr>
                    <p:cNvPr id="138" name="フリーフォーム: 図形 137">
                      <a:extLst>
                        <a:ext uri="{FF2B5EF4-FFF2-40B4-BE49-F238E27FC236}">
                          <a16:creationId xmlns:a16="http://schemas.microsoft.com/office/drawing/2014/main" id="{AA366AE0-0C62-52EB-B454-307D3D90106C}"/>
                        </a:ext>
                      </a:extLst>
                    </p:cNvPr>
                    <p:cNvSpPr/>
                    <p:nvPr/>
                  </p:nvSpPr>
                  <p:spPr>
                    <a:xfrm flipV="1">
                      <a:off x="-8353451" y="1974069"/>
                      <a:ext cx="13096" cy="15755"/>
                    </a:xfrm>
                    <a:custGeom>
                      <a:avLst/>
                      <a:gdLst>
                        <a:gd name="connsiteX0" fmla="*/ -981 w 13096"/>
                        <a:gd name="connsiteY0" fmla="*/ 15389 h 15755"/>
                        <a:gd name="connsiteX1" fmla="*/ 12116 w 13096"/>
                        <a:gd name="connsiteY1" fmla="*/ 15389 h 15755"/>
                        <a:gd name="connsiteX2" fmla="*/ 12116 w 13096"/>
                        <a:gd name="connsiteY2" fmla="*/ -367 h 15755"/>
                        <a:gd name="connsiteX3" fmla="*/ -981 w 13096"/>
                        <a:gd name="connsiteY3" fmla="*/ -367 h 15755"/>
                        <a:gd name="connsiteX4" fmla="*/ -981 w 13096"/>
                        <a:gd name="connsiteY4" fmla="*/ 15389 h 157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096" h="15755">
                          <a:moveTo>
                            <a:pt x="-981" y="15389"/>
                          </a:moveTo>
                          <a:lnTo>
                            <a:pt x="12116" y="15389"/>
                          </a:lnTo>
                          <a:lnTo>
                            <a:pt x="12116" y="-367"/>
                          </a:lnTo>
                          <a:lnTo>
                            <a:pt x="-981" y="-367"/>
                          </a:lnTo>
                          <a:lnTo>
                            <a:pt x="-981" y="15389"/>
                          </a:lnTo>
                          <a:close/>
                        </a:path>
                      </a:pathLst>
                    </a:custGeom>
                    <a:solidFill>
                      <a:srgbClr val="000000"/>
                    </a:solidFill>
                    <a:ln w="20" cap="flat">
                      <a:noFill/>
                      <a:prstDash val="solid"/>
                      <a:round/>
                    </a:ln>
                  </p:spPr>
                  <p:txBody>
                    <a:bodyPr rtlCol="0" anchor="ctr"/>
                    <a:lstStyle/>
                    <a:p>
                      <a:endParaRPr lang="en-US"/>
                    </a:p>
                  </p:txBody>
                </p:sp>
                <p:sp>
                  <p:nvSpPr>
                    <p:cNvPr id="139" name="フリーフォーム: 図形 138">
                      <a:extLst>
                        <a:ext uri="{FF2B5EF4-FFF2-40B4-BE49-F238E27FC236}">
                          <a16:creationId xmlns:a16="http://schemas.microsoft.com/office/drawing/2014/main" id="{1F23B210-1C8E-EAB3-86F2-1C57796F4C82}"/>
                        </a:ext>
                      </a:extLst>
                    </p:cNvPr>
                    <p:cNvSpPr/>
                    <p:nvPr/>
                  </p:nvSpPr>
                  <p:spPr>
                    <a:xfrm flipV="1">
                      <a:off x="-8318280" y="1895568"/>
                      <a:ext cx="63996" cy="96063"/>
                    </a:xfrm>
                    <a:custGeom>
                      <a:avLst/>
                      <a:gdLst>
                        <a:gd name="connsiteX0" fmla="*/ 29991 w 63996"/>
                        <a:gd name="connsiteY0" fmla="*/ 83839 h 96063"/>
                        <a:gd name="connsiteX1" fmla="*/ 15446 w 63996"/>
                        <a:gd name="connsiteY1" fmla="*/ 74314 h 96063"/>
                        <a:gd name="connsiteX2" fmla="*/ 10584 w 63996"/>
                        <a:gd name="connsiteY2" fmla="*/ 45700 h 96063"/>
                        <a:gd name="connsiteX3" fmla="*/ 15446 w 63996"/>
                        <a:gd name="connsiteY3" fmla="*/ 17144 h 96063"/>
                        <a:gd name="connsiteX4" fmla="*/ 29991 w 63996"/>
                        <a:gd name="connsiteY4" fmla="*/ 7619 h 96063"/>
                        <a:gd name="connsiteX5" fmla="*/ 44596 w 63996"/>
                        <a:gd name="connsiteY5" fmla="*/ 17144 h 96063"/>
                        <a:gd name="connsiteX6" fmla="*/ 49478 w 63996"/>
                        <a:gd name="connsiteY6" fmla="*/ 45700 h 96063"/>
                        <a:gd name="connsiteX7" fmla="*/ 44596 w 63996"/>
                        <a:gd name="connsiteY7" fmla="*/ 74314 h 96063"/>
                        <a:gd name="connsiteX8" fmla="*/ 29991 w 63996"/>
                        <a:gd name="connsiteY8" fmla="*/ 83839 h 96063"/>
                        <a:gd name="connsiteX9" fmla="*/ 29991 w 63996"/>
                        <a:gd name="connsiteY9" fmla="*/ 93761 h 96063"/>
                        <a:gd name="connsiteX10" fmla="*/ 53784 w 63996"/>
                        <a:gd name="connsiteY10" fmla="*/ 81438 h 96063"/>
                        <a:gd name="connsiteX11" fmla="*/ 61999 w 63996"/>
                        <a:gd name="connsiteY11" fmla="*/ 45700 h 96063"/>
                        <a:gd name="connsiteX12" fmla="*/ 53784 w 63996"/>
                        <a:gd name="connsiteY12" fmla="*/ 10001 h 96063"/>
                        <a:gd name="connsiteX13" fmla="*/ 29991 w 63996"/>
                        <a:gd name="connsiteY13" fmla="*/ -2302 h 96063"/>
                        <a:gd name="connsiteX14" fmla="*/ 6218 w 63996"/>
                        <a:gd name="connsiteY14" fmla="*/ 10001 h 96063"/>
                        <a:gd name="connsiteX15" fmla="*/ -1997 w 63996"/>
                        <a:gd name="connsiteY15" fmla="*/ 45700 h 96063"/>
                        <a:gd name="connsiteX16" fmla="*/ 6218 w 63996"/>
                        <a:gd name="connsiteY16" fmla="*/ 81438 h 96063"/>
                        <a:gd name="connsiteX17" fmla="*/ 29991 w 63996"/>
                        <a:gd name="connsiteY17" fmla="*/ 93761 h 960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3996" h="96063">
                          <a:moveTo>
                            <a:pt x="29991" y="83839"/>
                          </a:moveTo>
                          <a:cubicBezTo>
                            <a:pt x="23548" y="83839"/>
                            <a:pt x="18700" y="80664"/>
                            <a:pt x="15446" y="74314"/>
                          </a:cubicBezTo>
                          <a:cubicBezTo>
                            <a:pt x="12205" y="67978"/>
                            <a:pt x="10584" y="58439"/>
                            <a:pt x="10584" y="45700"/>
                          </a:cubicBezTo>
                          <a:cubicBezTo>
                            <a:pt x="10584" y="33013"/>
                            <a:pt x="12205" y="23494"/>
                            <a:pt x="15446" y="17144"/>
                          </a:cubicBezTo>
                          <a:cubicBezTo>
                            <a:pt x="18700" y="10794"/>
                            <a:pt x="23548" y="7619"/>
                            <a:pt x="29991" y="7619"/>
                          </a:cubicBezTo>
                          <a:cubicBezTo>
                            <a:pt x="36487" y="7619"/>
                            <a:pt x="41355" y="10794"/>
                            <a:pt x="44596" y="17144"/>
                          </a:cubicBezTo>
                          <a:cubicBezTo>
                            <a:pt x="47851" y="23494"/>
                            <a:pt x="49478" y="33013"/>
                            <a:pt x="49478" y="45700"/>
                          </a:cubicBezTo>
                          <a:cubicBezTo>
                            <a:pt x="49478" y="58439"/>
                            <a:pt x="47851" y="67978"/>
                            <a:pt x="44596" y="74314"/>
                          </a:cubicBezTo>
                          <a:cubicBezTo>
                            <a:pt x="41355" y="80664"/>
                            <a:pt x="36487" y="83839"/>
                            <a:pt x="29991" y="83839"/>
                          </a:cubicBezTo>
                          <a:close/>
                          <a:moveTo>
                            <a:pt x="29991" y="93761"/>
                          </a:moveTo>
                          <a:cubicBezTo>
                            <a:pt x="40376" y="93761"/>
                            <a:pt x="48307" y="89653"/>
                            <a:pt x="53784" y="81438"/>
                          </a:cubicBezTo>
                          <a:cubicBezTo>
                            <a:pt x="59261" y="73236"/>
                            <a:pt x="61999" y="61323"/>
                            <a:pt x="61999" y="45700"/>
                          </a:cubicBezTo>
                          <a:cubicBezTo>
                            <a:pt x="61999" y="30116"/>
                            <a:pt x="59261" y="18216"/>
                            <a:pt x="53784" y="10001"/>
                          </a:cubicBezTo>
                          <a:cubicBezTo>
                            <a:pt x="48307" y="1799"/>
                            <a:pt x="40376" y="-2302"/>
                            <a:pt x="29991" y="-2302"/>
                          </a:cubicBezTo>
                          <a:cubicBezTo>
                            <a:pt x="19619" y="-2302"/>
                            <a:pt x="11695" y="1799"/>
                            <a:pt x="6218" y="10001"/>
                          </a:cubicBezTo>
                          <a:cubicBezTo>
                            <a:pt x="741" y="18216"/>
                            <a:pt x="-1997" y="30116"/>
                            <a:pt x="-1997" y="45700"/>
                          </a:cubicBezTo>
                          <a:cubicBezTo>
                            <a:pt x="-1997" y="61323"/>
                            <a:pt x="741" y="73236"/>
                            <a:pt x="6218" y="81438"/>
                          </a:cubicBezTo>
                          <a:cubicBezTo>
                            <a:pt x="11695" y="89653"/>
                            <a:pt x="19619" y="93761"/>
                            <a:pt x="29991" y="93761"/>
                          </a:cubicBezTo>
                          <a:close/>
                        </a:path>
                      </a:pathLst>
                    </a:custGeom>
                    <a:solidFill>
                      <a:srgbClr val="000000"/>
                    </a:solidFill>
                    <a:ln w="20" cap="flat">
                      <a:noFill/>
                      <a:prstDash val="solid"/>
                      <a:round/>
                    </a:ln>
                  </p:spPr>
                  <p:txBody>
                    <a:bodyPr rtlCol="0" anchor="ctr"/>
                    <a:lstStyle/>
                    <a:p>
                      <a:endParaRPr lang="en-US"/>
                    </a:p>
                  </p:txBody>
                </p:sp>
              </p:grpSp>
            </p:grpSp>
            <p:grpSp>
              <p:nvGrpSpPr>
                <p:cNvPr id="140" name="グラフィックス 6">
                  <a:extLst>
                    <a:ext uri="{FF2B5EF4-FFF2-40B4-BE49-F238E27FC236}">
                      <a16:creationId xmlns:a16="http://schemas.microsoft.com/office/drawing/2014/main" id="{D919F123-1827-21BB-5CE1-096AAFBDC334}"/>
                    </a:ext>
                  </a:extLst>
                </p:cNvPr>
                <p:cNvGrpSpPr/>
                <p:nvPr/>
              </p:nvGrpSpPr>
              <p:grpSpPr>
                <a:xfrm>
                  <a:off x="-8621537" y="2670921"/>
                  <a:ext cx="122912" cy="1506014"/>
                  <a:chOff x="-8621537" y="2670921"/>
                  <a:chExt cx="122912" cy="1506014"/>
                </a:xfrm>
                <a:solidFill>
                  <a:srgbClr val="000000"/>
                </a:solidFill>
              </p:grpSpPr>
              <p:sp>
                <p:nvSpPr>
                  <p:cNvPr id="141" name="フリーフォーム: 図形 140">
                    <a:extLst>
                      <a:ext uri="{FF2B5EF4-FFF2-40B4-BE49-F238E27FC236}">
                        <a16:creationId xmlns:a16="http://schemas.microsoft.com/office/drawing/2014/main" id="{18AE06BC-83CD-1C36-A687-60A9EC3FCFEF}"/>
                      </a:ext>
                    </a:extLst>
                  </p:cNvPr>
                  <p:cNvSpPr/>
                  <p:nvPr/>
                </p:nvSpPr>
                <p:spPr>
                  <a:xfrm rot="-5400000" flipV="1">
                    <a:off x="-8603847" y="4096321"/>
                    <a:ext cx="65166" cy="96063"/>
                  </a:xfrm>
                  <a:custGeom>
                    <a:avLst/>
                    <a:gdLst>
                      <a:gd name="connsiteX0" fmla="*/ 57542 w 65166"/>
                      <a:gd name="connsiteY0" fmla="*/ 89231 h 96063"/>
                      <a:gd name="connsiteX1" fmla="*/ 57542 w 65166"/>
                      <a:gd name="connsiteY1" fmla="*/ 77008 h 96063"/>
                      <a:gd name="connsiteX2" fmla="*/ 44088 w 65166"/>
                      <a:gd name="connsiteY2" fmla="*/ 82088 h 96063"/>
                      <a:gd name="connsiteX3" fmla="*/ 31864 w 65166"/>
                      <a:gd name="connsiteY3" fmla="*/ 83774 h 96063"/>
                      <a:gd name="connsiteX4" fmla="*/ 16088 w 65166"/>
                      <a:gd name="connsiteY4" fmla="*/ 79806 h 96063"/>
                      <a:gd name="connsiteX5" fmla="*/ 10532 w 65166"/>
                      <a:gd name="connsiteY5" fmla="*/ 68515 h 96063"/>
                      <a:gd name="connsiteX6" fmla="*/ 14223 w 65166"/>
                      <a:gd name="connsiteY6" fmla="*/ 59228 h 96063"/>
                      <a:gd name="connsiteX7" fmla="*/ 28213 w 65166"/>
                      <a:gd name="connsiteY7" fmla="*/ 54187 h 96063"/>
                      <a:gd name="connsiteX8" fmla="*/ 35773 w 65166"/>
                      <a:gd name="connsiteY8" fmla="*/ 52640 h 96063"/>
                      <a:gd name="connsiteX9" fmla="*/ 56450 w 65166"/>
                      <a:gd name="connsiteY9" fmla="*/ 43234 h 96063"/>
                      <a:gd name="connsiteX10" fmla="*/ 63118 w 65166"/>
                      <a:gd name="connsiteY10" fmla="*/ 25235 h 96063"/>
                      <a:gd name="connsiteX11" fmla="*/ 54089 w 65166"/>
                      <a:gd name="connsiteY11" fmla="*/ 4816 h 96063"/>
                      <a:gd name="connsiteX12" fmla="*/ 27657 w 65166"/>
                      <a:gd name="connsiteY12" fmla="*/ -2129 h 96063"/>
                      <a:gd name="connsiteX13" fmla="*/ 13667 w 65166"/>
                      <a:gd name="connsiteY13" fmla="*/ -641 h 96063"/>
                      <a:gd name="connsiteX14" fmla="*/ -1672 w 65166"/>
                      <a:gd name="connsiteY14" fmla="*/ 3764 h 96063"/>
                      <a:gd name="connsiteX15" fmla="*/ -1672 w 65166"/>
                      <a:gd name="connsiteY15" fmla="*/ 16663 h 96063"/>
                      <a:gd name="connsiteX16" fmla="*/ 13270 w 65166"/>
                      <a:gd name="connsiteY16" fmla="*/ 10214 h 96063"/>
                      <a:gd name="connsiteX17" fmla="*/ 27657 w 65166"/>
                      <a:gd name="connsiteY17" fmla="*/ 8051 h 96063"/>
                      <a:gd name="connsiteX18" fmla="*/ 44207 w 65166"/>
                      <a:gd name="connsiteY18" fmla="*/ 12258 h 96063"/>
                      <a:gd name="connsiteX19" fmla="*/ 50041 w 65166"/>
                      <a:gd name="connsiteY19" fmla="*/ 24303 h 96063"/>
                      <a:gd name="connsiteX20" fmla="*/ 45854 w 65166"/>
                      <a:gd name="connsiteY20" fmla="*/ 34959 h 96063"/>
                      <a:gd name="connsiteX21" fmla="*/ 32122 w 65166"/>
                      <a:gd name="connsiteY21" fmla="*/ 40733 h 96063"/>
                      <a:gd name="connsiteX22" fmla="*/ 24482 w 65166"/>
                      <a:gd name="connsiteY22" fmla="*/ 42222 h 96063"/>
                      <a:gd name="connsiteX23" fmla="*/ 4202 w 65166"/>
                      <a:gd name="connsiteY23" fmla="*/ 50953 h 96063"/>
                      <a:gd name="connsiteX24" fmla="*/ -2049 w 65166"/>
                      <a:gd name="connsiteY24" fmla="*/ 67522 h 96063"/>
                      <a:gd name="connsiteX25" fmla="*/ 6603 w 65166"/>
                      <a:gd name="connsiteY25" fmla="*/ 86870 h 96063"/>
                      <a:gd name="connsiteX26" fmla="*/ 30435 w 65166"/>
                      <a:gd name="connsiteY26" fmla="*/ 93934 h 96063"/>
                      <a:gd name="connsiteX27" fmla="*/ 43711 w 65166"/>
                      <a:gd name="connsiteY27" fmla="*/ 92744 h 96063"/>
                      <a:gd name="connsiteX28" fmla="*/ 57542 w 65166"/>
                      <a:gd name="connsiteY28" fmla="*/ 89231 h 960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65166" h="96063">
                        <a:moveTo>
                          <a:pt x="57542" y="89231"/>
                        </a:moveTo>
                        <a:lnTo>
                          <a:pt x="57542" y="77008"/>
                        </a:lnTo>
                        <a:cubicBezTo>
                          <a:pt x="52793" y="79283"/>
                          <a:pt x="48308" y="80976"/>
                          <a:pt x="44088" y="82088"/>
                        </a:cubicBezTo>
                        <a:cubicBezTo>
                          <a:pt x="39868" y="83212"/>
                          <a:pt x="35793" y="83774"/>
                          <a:pt x="31864" y="83774"/>
                        </a:cubicBezTo>
                        <a:cubicBezTo>
                          <a:pt x="25051" y="83774"/>
                          <a:pt x="19793" y="82451"/>
                          <a:pt x="16088" y="79806"/>
                        </a:cubicBezTo>
                        <a:cubicBezTo>
                          <a:pt x="12384" y="77160"/>
                          <a:pt x="10532" y="73396"/>
                          <a:pt x="10532" y="68515"/>
                        </a:cubicBezTo>
                        <a:cubicBezTo>
                          <a:pt x="10532" y="64413"/>
                          <a:pt x="11762" y="61318"/>
                          <a:pt x="14223" y="59228"/>
                        </a:cubicBezTo>
                        <a:cubicBezTo>
                          <a:pt x="16684" y="57151"/>
                          <a:pt x="21347" y="55471"/>
                          <a:pt x="28213" y="54187"/>
                        </a:cubicBezTo>
                        <a:lnTo>
                          <a:pt x="35773" y="52640"/>
                        </a:lnTo>
                        <a:cubicBezTo>
                          <a:pt x="45113" y="50854"/>
                          <a:pt x="52005" y="47718"/>
                          <a:pt x="56450" y="43234"/>
                        </a:cubicBezTo>
                        <a:cubicBezTo>
                          <a:pt x="60895" y="38749"/>
                          <a:pt x="63118" y="32750"/>
                          <a:pt x="63118" y="25235"/>
                        </a:cubicBezTo>
                        <a:cubicBezTo>
                          <a:pt x="63118" y="16253"/>
                          <a:pt x="60108" y="9446"/>
                          <a:pt x="54089" y="4816"/>
                        </a:cubicBezTo>
                        <a:cubicBezTo>
                          <a:pt x="48083" y="186"/>
                          <a:pt x="39272" y="-2129"/>
                          <a:pt x="27657" y="-2129"/>
                        </a:cubicBezTo>
                        <a:cubicBezTo>
                          <a:pt x="23278" y="-2129"/>
                          <a:pt x="18615" y="-1633"/>
                          <a:pt x="13667" y="-641"/>
                        </a:cubicBezTo>
                        <a:cubicBezTo>
                          <a:pt x="8733" y="351"/>
                          <a:pt x="3620" y="1820"/>
                          <a:pt x="-1672" y="3764"/>
                        </a:cubicBezTo>
                        <a:lnTo>
                          <a:pt x="-1672" y="16663"/>
                        </a:lnTo>
                        <a:cubicBezTo>
                          <a:pt x="3408" y="13819"/>
                          <a:pt x="8389" y="11669"/>
                          <a:pt x="13270" y="10214"/>
                        </a:cubicBezTo>
                        <a:cubicBezTo>
                          <a:pt x="18152" y="8772"/>
                          <a:pt x="22948" y="8051"/>
                          <a:pt x="27657" y="8051"/>
                        </a:cubicBezTo>
                        <a:cubicBezTo>
                          <a:pt x="34801" y="8051"/>
                          <a:pt x="40318" y="9453"/>
                          <a:pt x="44207" y="12258"/>
                        </a:cubicBezTo>
                        <a:cubicBezTo>
                          <a:pt x="48096" y="15075"/>
                          <a:pt x="50041" y="19090"/>
                          <a:pt x="50041" y="24303"/>
                        </a:cubicBezTo>
                        <a:cubicBezTo>
                          <a:pt x="50041" y="28840"/>
                          <a:pt x="48645" y="32392"/>
                          <a:pt x="45854" y="34959"/>
                        </a:cubicBezTo>
                        <a:cubicBezTo>
                          <a:pt x="43062" y="37525"/>
                          <a:pt x="38485" y="39450"/>
                          <a:pt x="32122" y="40733"/>
                        </a:cubicBezTo>
                        <a:lnTo>
                          <a:pt x="24482" y="42222"/>
                        </a:lnTo>
                        <a:cubicBezTo>
                          <a:pt x="15142" y="44074"/>
                          <a:pt x="8382" y="46984"/>
                          <a:pt x="4202" y="50953"/>
                        </a:cubicBezTo>
                        <a:cubicBezTo>
                          <a:pt x="35" y="54922"/>
                          <a:pt x="-2049" y="60445"/>
                          <a:pt x="-2049" y="67522"/>
                        </a:cubicBezTo>
                        <a:cubicBezTo>
                          <a:pt x="-2049" y="75711"/>
                          <a:pt x="835" y="82161"/>
                          <a:pt x="6603" y="86870"/>
                        </a:cubicBezTo>
                        <a:cubicBezTo>
                          <a:pt x="12371" y="91580"/>
                          <a:pt x="20315" y="93934"/>
                          <a:pt x="30435" y="93934"/>
                        </a:cubicBezTo>
                        <a:cubicBezTo>
                          <a:pt x="34788" y="93934"/>
                          <a:pt x="39213" y="93538"/>
                          <a:pt x="43711" y="92744"/>
                        </a:cubicBezTo>
                        <a:cubicBezTo>
                          <a:pt x="48222" y="91963"/>
                          <a:pt x="52832" y="90793"/>
                          <a:pt x="57542" y="89231"/>
                        </a:cubicBezTo>
                        <a:close/>
                      </a:path>
                    </a:pathLst>
                  </a:custGeom>
                  <a:solidFill>
                    <a:srgbClr val="000000"/>
                  </a:solidFill>
                  <a:ln w="20" cap="flat">
                    <a:noFill/>
                    <a:prstDash val="solid"/>
                    <a:round/>
                  </a:ln>
                </p:spPr>
                <p:txBody>
                  <a:bodyPr rtlCol="0" anchor="ctr"/>
                  <a:lstStyle/>
                  <a:p>
                    <a:endParaRPr lang="en-US"/>
                  </a:p>
                </p:txBody>
              </p:sp>
              <p:sp>
                <p:nvSpPr>
                  <p:cNvPr id="142" name="フリーフォーム: 図形 141">
                    <a:extLst>
                      <a:ext uri="{FF2B5EF4-FFF2-40B4-BE49-F238E27FC236}">
                        <a16:creationId xmlns:a16="http://schemas.microsoft.com/office/drawing/2014/main" id="{67DAFD2E-5D9F-761D-2A73-09DD9CA27709}"/>
                      </a:ext>
                    </a:extLst>
                  </p:cNvPr>
                  <p:cNvSpPr/>
                  <p:nvPr/>
                </p:nvSpPr>
                <p:spPr>
                  <a:xfrm rot="-5400000" flipV="1">
                    <a:off x="-8591881" y="4029040"/>
                    <a:ext cx="64373" cy="72925"/>
                  </a:xfrm>
                  <a:custGeom>
                    <a:avLst/>
                    <a:gdLst>
                      <a:gd name="connsiteX0" fmla="*/ 62414 w 64373"/>
                      <a:gd name="connsiteY0" fmla="*/ 37837 h 72925"/>
                      <a:gd name="connsiteX1" fmla="*/ 62414 w 64373"/>
                      <a:gd name="connsiteY1" fmla="*/ 32261 h 72925"/>
                      <a:gd name="connsiteX2" fmla="*/ 9947 w 64373"/>
                      <a:gd name="connsiteY2" fmla="*/ 32261 h 72925"/>
                      <a:gd name="connsiteX3" fmla="*/ 17051 w 64373"/>
                      <a:gd name="connsiteY3" fmla="*/ 14303 h 72925"/>
                      <a:gd name="connsiteX4" fmla="*/ 34752 w 64373"/>
                      <a:gd name="connsiteY4" fmla="*/ 8131 h 72925"/>
                      <a:gd name="connsiteX5" fmla="*/ 47492 w 64373"/>
                      <a:gd name="connsiteY5" fmla="*/ 9739 h 72925"/>
                      <a:gd name="connsiteX6" fmla="*/ 59755 w 64373"/>
                      <a:gd name="connsiteY6" fmla="*/ 14581 h 72925"/>
                      <a:gd name="connsiteX7" fmla="*/ 59755 w 64373"/>
                      <a:gd name="connsiteY7" fmla="*/ 3786 h 72925"/>
                      <a:gd name="connsiteX8" fmla="*/ 47154 w 64373"/>
                      <a:gd name="connsiteY8" fmla="*/ -183 h 72925"/>
                      <a:gd name="connsiteX9" fmla="*/ 34077 w 64373"/>
                      <a:gd name="connsiteY9" fmla="*/ -1552 h 72925"/>
                      <a:gd name="connsiteX10" fmla="*/ 7745 w 64373"/>
                      <a:gd name="connsiteY10" fmla="*/ 8112 h 72925"/>
                      <a:gd name="connsiteX11" fmla="*/ -1959 w 64373"/>
                      <a:gd name="connsiteY11" fmla="*/ 34305 h 72925"/>
                      <a:gd name="connsiteX12" fmla="*/ 7249 w 64373"/>
                      <a:gd name="connsiteY12" fmla="*/ 61352 h 72925"/>
                      <a:gd name="connsiteX13" fmla="*/ 32093 w 64373"/>
                      <a:gd name="connsiteY13" fmla="*/ 71373 h 72925"/>
                      <a:gd name="connsiteX14" fmla="*/ 54258 w 64373"/>
                      <a:gd name="connsiteY14" fmla="*/ 62344 h 72925"/>
                      <a:gd name="connsiteX15" fmla="*/ 62414 w 64373"/>
                      <a:gd name="connsiteY15" fmla="*/ 37837 h 72925"/>
                      <a:gd name="connsiteX16" fmla="*/ 51004 w 64373"/>
                      <a:gd name="connsiteY16" fmla="*/ 41191 h 72925"/>
                      <a:gd name="connsiteX17" fmla="*/ 45765 w 64373"/>
                      <a:gd name="connsiteY17" fmla="*/ 56114 h 72925"/>
                      <a:gd name="connsiteX18" fmla="*/ 32212 w 64373"/>
                      <a:gd name="connsiteY18" fmla="*/ 61709 h 72925"/>
                      <a:gd name="connsiteX19" fmla="*/ 16932 w 64373"/>
                      <a:gd name="connsiteY19" fmla="*/ 56312 h 72925"/>
                      <a:gd name="connsiteX20" fmla="*/ 10324 w 64373"/>
                      <a:gd name="connsiteY20" fmla="*/ 41112 h 72925"/>
                      <a:gd name="connsiteX21" fmla="*/ 51004 w 64373"/>
                      <a:gd name="connsiteY21" fmla="*/ 41191 h 7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64373" h="72925">
                        <a:moveTo>
                          <a:pt x="62414" y="37837"/>
                        </a:moveTo>
                        <a:lnTo>
                          <a:pt x="62414" y="32261"/>
                        </a:lnTo>
                        <a:lnTo>
                          <a:pt x="9947" y="32261"/>
                        </a:lnTo>
                        <a:cubicBezTo>
                          <a:pt x="10450" y="24403"/>
                          <a:pt x="12818" y="18417"/>
                          <a:pt x="17051" y="14303"/>
                        </a:cubicBezTo>
                        <a:cubicBezTo>
                          <a:pt x="21285" y="10189"/>
                          <a:pt x="27185" y="8131"/>
                          <a:pt x="34752" y="8131"/>
                        </a:cubicBezTo>
                        <a:cubicBezTo>
                          <a:pt x="39131" y="8131"/>
                          <a:pt x="43377" y="8667"/>
                          <a:pt x="47492" y="9739"/>
                        </a:cubicBezTo>
                        <a:cubicBezTo>
                          <a:pt x="51606" y="10810"/>
                          <a:pt x="55694" y="12424"/>
                          <a:pt x="59755" y="14581"/>
                        </a:cubicBezTo>
                        <a:lnTo>
                          <a:pt x="59755" y="3786"/>
                        </a:lnTo>
                        <a:cubicBezTo>
                          <a:pt x="55654" y="2053"/>
                          <a:pt x="51454" y="730"/>
                          <a:pt x="47154" y="-183"/>
                        </a:cubicBezTo>
                        <a:cubicBezTo>
                          <a:pt x="42855" y="-1096"/>
                          <a:pt x="38496" y="-1552"/>
                          <a:pt x="34077" y="-1552"/>
                        </a:cubicBezTo>
                        <a:cubicBezTo>
                          <a:pt x="22991" y="-1552"/>
                          <a:pt x="14214" y="1669"/>
                          <a:pt x="7745" y="8112"/>
                        </a:cubicBezTo>
                        <a:cubicBezTo>
                          <a:pt x="1276" y="14567"/>
                          <a:pt x="-1959" y="23299"/>
                          <a:pt x="-1959" y="34305"/>
                        </a:cubicBezTo>
                        <a:cubicBezTo>
                          <a:pt x="-1959" y="45669"/>
                          <a:pt x="1110" y="54685"/>
                          <a:pt x="7249" y="61352"/>
                        </a:cubicBezTo>
                        <a:cubicBezTo>
                          <a:pt x="13387" y="68033"/>
                          <a:pt x="21668" y="71373"/>
                          <a:pt x="32093" y="71373"/>
                        </a:cubicBezTo>
                        <a:cubicBezTo>
                          <a:pt x="41433" y="71373"/>
                          <a:pt x="48821" y="68364"/>
                          <a:pt x="54258" y="62344"/>
                        </a:cubicBezTo>
                        <a:cubicBezTo>
                          <a:pt x="59696" y="56338"/>
                          <a:pt x="62414" y="48170"/>
                          <a:pt x="62414" y="37837"/>
                        </a:cubicBezTo>
                        <a:close/>
                        <a:moveTo>
                          <a:pt x="51004" y="41191"/>
                        </a:moveTo>
                        <a:cubicBezTo>
                          <a:pt x="50925" y="47422"/>
                          <a:pt x="49178" y="52396"/>
                          <a:pt x="45765" y="56114"/>
                        </a:cubicBezTo>
                        <a:cubicBezTo>
                          <a:pt x="42352" y="59844"/>
                          <a:pt x="37834" y="61709"/>
                          <a:pt x="32212" y="61709"/>
                        </a:cubicBezTo>
                        <a:cubicBezTo>
                          <a:pt x="25849" y="61709"/>
                          <a:pt x="20756" y="59910"/>
                          <a:pt x="16932" y="56312"/>
                        </a:cubicBezTo>
                        <a:cubicBezTo>
                          <a:pt x="13109" y="52714"/>
                          <a:pt x="10906" y="47647"/>
                          <a:pt x="10324" y="41112"/>
                        </a:cubicBezTo>
                        <a:lnTo>
                          <a:pt x="51004" y="41191"/>
                        </a:lnTo>
                        <a:close/>
                      </a:path>
                    </a:pathLst>
                  </a:custGeom>
                  <a:solidFill>
                    <a:srgbClr val="000000"/>
                  </a:solidFill>
                  <a:ln w="20" cap="flat">
                    <a:noFill/>
                    <a:prstDash val="solid"/>
                    <a:round/>
                  </a:ln>
                </p:spPr>
                <p:txBody>
                  <a:bodyPr rtlCol="0" anchor="ctr"/>
                  <a:lstStyle/>
                  <a:p>
                    <a:endParaRPr lang="en-US"/>
                  </a:p>
                </p:txBody>
              </p:sp>
              <p:sp>
                <p:nvSpPr>
                  <p:cNvPr id="143" name="フリーフォーム: 図形 142">
                    <a:extLst>
                      <a:ext uri="{FF2B5EF4-FFF2-40B4-BE49-F238E27FC236}">
                        <a16:creationId xmlns:a16="http://schemas.microsoft.com/office/drawing/2014/main" id="{CAB418F8-474F-0DE6-BE8A-0234FA1C707B}"/>
                      </a:ext>
                    </a:extLst>
                  </p:cNvPr>
                  <p:cNvSpPr/>
                  <p:nvPr/>
                </p:nvSpPr>
                <p:spPr>
                  <a:xfrm rot="-5400000" flipV="1">
                    <a:off x="-8578992" y="3960639"/>
                    <a:ext cx="11410" cy="96500"/>
                  </a:xfrm>
                  <a:custGeom>
                    <a:avLst/>
                    <a:gdLst>
                      <a:gd name="connsiteX0" fmla="*/ -876 w 11410"/>
                      <a:gd name="connsiteY0" fmla="*/ 94258 h 96500"/>
                      <a:gd name="connsiteX1" fmla="*/ 10535 w 11410"/>
                      <a:gd name="connsiteY1" fmla="*/ 94258 h 96500"/>
                      <a:gd name="connsiteX2" fmla="*/ 10535 w 11410"/>
                      <a:gd name="connsiteY2" fmla="*/ -2242 h 96500"/>
                      <a:gd name="connsiteX3" fmla="*/ -876 w 11410"/>
                      <a:gd name="connsiteY3" fmla="*/ -2242 h 96500"/>
                      <a:gd name="connsiteX4" fmla="*/ -876 w 11410"/>
                      <a:gd name="connsiteY4" fmla="*/ 94258 h 965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10" h="96500">
                        <a:moveTo>
                          <a:pt x="-876" y="94258"/>
                        </a:moveTo>
                        <a:lnTo>
                          <a:pt x="10535" y="94258"/>
                        </a:lnTo>
                        <a:lnTo>
                          <a:pt x="10535" y="-2242"/>
                        </a:lnTo>
                        <a:lnTo>
                          <a:pt x="-876" y="-2242"/>
                        </a:lnTo>
                        <a:lnTo>
                          <a:pt x="-876" y="94258"/>
                        </a:lnTo>
                        <a:close/>
                      </a:path>
                    </a:pathLst>
                  </a:custGeom>
                  <a:solidFill>
                    <a:srgbClr val="000000"/>
                  </a:solidFill>
                  <a:ln w="20" cap="flat">
                    <a:noFill/>
                    <a:prstDash val="solid"/>
                    <a:round/>
                  </a:ln>
                </p:spPr>
                <p:txBody>
                  <a:bodyPr rtlCol="0" anchor="ctr"/>
                  <a:lstStyle/>
                  <a:p>
                    <a:endParaRPr lang="en-US"/>
                  </a:p>
                </p:txBody>
              </p:sp>
              <p:sp>
                <p:nvSpPr>
                  <p:cNvPr id="144" name="フリーフォーム: 図形 143">
                    <a:extLst>
                      <a:ext uri="{FF2B5EF4-FFF2-40B4-BE49-F238E27FC236}">
                        <a16:creationId xmlns:a16="http://schemas.microsoft.com/office/drawing/2014/main" id="{041C8C93-D207-344A-23C2-DDA7FF9D8B2C}"/>
                      </a:ext>
                    </a:extLst>
                  </p:cNvPr>
                  <p:cNvSpPr/>
                  <p:nvPr/>
                </p:nvSpPr>
                <p:spPr>
                  <a:xfrm rot="-5400000" flipV="1">
                    <a:off x="-8595393" y="3918002"/>
                    <a:ext cx="44211" cy="96500"/>
                  </a:xfrm>
                  <a:custGeom>
                    <a:avLst/>
                    <a:gdLst>
                      <a:gd name="connsiteX0" fmla="*/ 42966 w 44211"/>
                      <a:gd name="connsiteY0" fmla="*/ 94255 h 96500"/>
                      <a:gd name="connsiteX1" fmla="*/ 42966 w 44211"/>
                      <a:gd name="connsiteY1" fmla="*/ 84750 h 96500"/>
                      <a:gd name="connsiteX2" fmla="*/ 32052 w 44211"/>
                      <a:gd name="connsiteY2" fmla="*/ 84750 h 96500"/>
                      <a:gd name="connsiteX3" fmla="*/ 23519 w 44211"/>
                      <a:gd name="connsiteY3" fmla="*/ 82269 h 96500"/>
                      <a:gd name="connsiteX4" fmla="*/ 21138 w 44211"/>
                      <a:gd name="connsiteY4" fmla="*/ 73340 h 96500"/>
                      <a:gd name="connsiteX5" fmla="*/ 21138 w 44211"/>
                      <a:gd name="connsiteY5" fmla="*/ 67208 h 96500"/>
                      <a:gd name="connsiteX6" fmla="*/ 39930 w 44211"/>
                      <a:gd name="connsiteY6" fmla="*/ 67208 h 96500"/>
                      <a:gd name="connsiteX7" fmla="*/ 39930 w 44211"/>
                      <a:gd name="connsiteY7" fmla="*/ 58338 h 96500"/>
                      <a:gd name="connsiteX8" fmla="*/ 21138 w 44211"/>
                      <a:gd name="connsiteY8" fmla="*/ 58338 h 96500"/>
                      <a:gd name="connsiteX9" fmla="*/ 21138 w 44211"/>
                      <a:gd name="connsiteY9" fmla="*/ -2245 h 96500"/>
                      <a:gd name="connsiteX10" fmla="*/ 9668 w 44211"/>
                      <a:gd name="connsiteY10" fmla="*/ -2245 h 96500"/>
                      <a:gd name="connsiteX11" fmla="*/ 9668 w 44211"/>
                      <a:gd name="connsiteY11" fmla="*/ 58338 h 96500"/>
                      <a:gd name="connsiteX12" fmla="*/ -1246 w 44211"/>
                      <a:gd name="connsiteY12" fmla="*/ 58338 h 96500"/>
                      <a:gd name="connsiteX13" fmla="*/ -1246 w 44211"/>
                      <a:gd name="connsiteY13" fmla="*/ 67208 h 96500"/>
                      <a:gd name="connsiteX14" fmla="*/ 9668 w 44211"/>
                      <a:gd name="connsiteY14" fmla="*/ 67208 h 96500"/>
                      <a:gd name="connsiteX15" fmla="*/ 9668 w 44211"/>
                      <a:gd name="connsiteY15" fmla="*/ 72050 h 96500"/>
                      <a:gd name="connsiteX16" fmla="*/ 15066 w 44211"/>
                      <a:gd name="connsiteY16" fmla="*/ 88937 h 96500"/>
                      <a:gd name="connsiteX17" fmla="*/ 32171 w 44211"/>
                      <a:gd name="connsiteY17" fmla="*/ 94255 h 96500"/>
                      <a:gd name="connsiteX18" fmla="*/ 42966 w 44211"/>
                      <a:gd name="connsiteY18" fmla="*/ 94255 h 96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4211" h="96500">
                        <a:moveTo>
                          <a:pt x="42966" y="94255"/>
                        </a:moveTo>
                        <a:lnTo>
                          <a:pt x="42966" y="84750"/>
                        </a:lnTo>
                        <a:lnTo>
                          <a:pt x="32052" y="84750"/>
                        </a:lnTo>
                        <a:cubicBezTo>
                          <a:pt x="27964" y="84750"/>
                          <a:pt x="25120" y="83923"/>
                          <a:pt x="23519" y="82269"/>
                        </a:cubicBezTo>
                        <a:cubicBezTo>
                          <a:pt x="21931" y="80616"/>
                          <a:pt x="21138" y="77639"/>
                          <a:pt x="21138" y="73340"/>
                        </a:cubicBezTo>
                        <a:lnTo>
                          <a:pt x="21138" y="67208"/>
                        </a:lnTo>
                        <a:lnTo>
                          <a:pt x="39930" y="67208"/>
                        </a:lnTo>
                        <a:lnTo>
                          <a:pt x="39930" y="58338"/>
                        </a:lnTo>
                        <a:lnTo>
                          <a:pt x="21138" y="58338"/>
                        </a:lnTo>
                        <a:lnTo>
                          <a:pt x="21138" y="-2245"/>
                        </a:lnTo>
                        <a:lnTo>
                          <a:pt x="9668" y="-2245"/>
                        </a:lnTo>
                        <a:lnTo>
                          <a:pt x="9668" y="58338"/>
                        </a:lnTo>
                        <a:lnTo>
                          <a:pt x="-1246" y="58338"/>
                        </a:lnTo>
                        <a:lnTo>
                          <a:pt x="-1246" y="67208"/>
                        </a:lnTo>
                        <a:lnTo>
                          <a:pt x="9668" y="67208"/>
                        </a:lnTo>
                        <a:lnTo>
                          <a:pt x="9668" y="72050"/>
                        </a:lnTo>
                        <a:cubicBezTo>
                          <a:pt x="9668" y="79776"/>
                          <a:pt x="11467" y="85405"/>
                          <a:pt x="15066" y="88937"/>
                        </a:cubicBezTo>
                        <a:cubicBezTo>
                          <a:pt x="18664" y="92482"/>
                          <a:pt x="24366" y="94255"/>
                          <a:pt x="32171" y="94255"/>
                        </a:cubicBezTo>
                        <a:lnTo>
                          <a:pt x="42966" y="94255"/>
                        </a:lnTo>
                        <a:close/>
                      </a:path>
                    </a:pathLst>
                  </a:custGeom>
                  <a:solidFill>
                    <a:srgbClr val="000000"/>
                  </a:solidFill>
                  <a:ln w="20" cap="flat">
                    <a:noFill/>
                    <a:prstDash val="solid"/>
                    <a:round/>
                  </a:ln>
                </p:spPr>
                <p:txBody>
                  <a:bodyPr rtlCol="0" anchor="ctr"/>
                  <a:lstStyle/>
                  <a:p>
                    <a:endParaRPr lang="en-US"/>
                  </a:p>
                </p:txBody>
              </p:sp>
              <p:sp>
                <p:nvSpPr>
                  <p:cNvPr id="145" name="フリーフォーム: 図形 144">
                    <a:extLst>
                      <a:ext uri="{FF2B5EF4-FFF2-40B4-BE49-F238E27FC236}">
                        <a16:creationId xmlns:a16="http://schemas.microsoft.com/office/drawing/2014/main" id="{576A9D8D-D62D-90F4-7F2F-4435F81D38C4}"/>
                      </a:ext>
                    </a:extLst>
                  </p:cNvPr>
                  <p:cNvSpPr/>
                  <p:nvPr/>
                </p:nvSpPr>
                <p:spPr>
                  <a:xfrm rot="-5400000" flipV="1">
                    <a:off x="-8525037" y="3946565"/>
                    <a:ext cx="12700" cy="12700"/>
                  </a:xfrm>
                  <a:custGeom>
                    <a:avLst/>
                    <a:gdLst/>
                    <a:ahLst/>
                    <a:cxnLst/>
                    <a:rect l="l" t="t" r="r" b="b"/>
                    <a:pathLst>
                      <a:path w="12700" h="12700"/>
                    </a:pathLst>
                  </a:custGeom>
                  <a:solidFill>
                    <a:srgbClr val="000000"/>
                  </a:solidFill>
                  <a:ln w="20" cap="flat">
                    <a:noFill/>
                    <a:prstDash val="solid"/>
                    <a:round/>
                  </a:ln>
                </p:spPr>
                <p:txBody>
                  <a:bodyPr rtlCol="0" anchor="ctr"/>
                  <a:lstStyle/>
                  <a:p>
                    <a:endParaRPr lang="en-US"/>
                  </a:p>
                </p:txBody>
              </p:sp>
              <p:sp>
                <p:nvSpPr>
                  <p:cNvPr id="146" name="フリーフォーム: 図形 145">
                    <a:extLst>
                      <a:ext uri="{FF2B5EF4-FFF2-40B4-BE49-F238E27FC236}">
                        <a16:creationId xmlns:a16="http://schemas.microsoft.com/office/drawing/2014/main" id="{F7F015B1-F983-1EEC-8FBD-335D41C8C6D6}"/>
                      </a:ext>
                    </a:extLst>
                  </p:cNvPr>
                  <p:cNvSpPr/>
                  <p:nvPr/>
                </p:nvSpPr>
                <p:spPr>
                  <a:xfrm rot="-5400000" flipV="1">
                    <a:off x="-8603847" y="3817206"/>
                    <a:ext cx="65166" cy="96063"/>
                  </a:xfrm>
                  <a:custGeom>
                    <a:avLst/>
                    <a:gdLst>
                      <a:gd name="connsiteX0" fmla="*/ 57542 w 65166"/>
                      <a:gd name="connsiteY0" fmla="*/ 89209 h 96063"/>
                      <a:gd name="connsiteX1" fmla="*/ 57542 w 65166"/>
                      <a:gd name="connsiteY1" fmla="*/ 76986 h 96063"/>
                      <a:gd name="connsiteX2" fmla="*/ 44088 w 65166"/>
                      <a:gd name="connsiteY2" fmla="*/ 82066 h 96063"/>
                      <a:gd name="connsiteX3" fmla="*/ 31864 w 65166"/>
                      <a:gd name="connsiteY3" fmla="*/ 83752 h 96063"/>
                      <a:gd name="connsiteX4" fmla="*/ 16088 w 65166"/>
                      <a:gd name="connsiteY4" fmla="*/ 79784 h 96063"/>
                      <a:gd name="connsiteX5" fmla="*/ 10532 w 65166"/>
                      <a:gd name="connsiteY5" fmla="*/ 68493 h 96063"/>
                      <a:gd name="connsiteX6" fmla="*/ 14223 w 65166"/>
                      <a:gd name="connsiteY6" fmla="*/ 59206 h 96063"/>
                      <a:gd name="connsiteX7" fmla="*/ 28213 w 65166"/>
                      <a:gd name="connsiteY7" fmla="*/ 54165 h 96063"/>
                      <a:gd name="connsiteX8" fmla="*/ 35773 w 65166"/>
                      <a:gd name="connsiteY8" fmla="*/ 52618 h 96063"/>
                      <a:gd name="connsiteX9" fmla="*/ 56450 w 65166"/>
                      <a:gd name="connsiteY9" fmla="*/ 43212 h 96063"/>
                      <a:gd name="connsiteX10" fmla="*/ 63118 w 65166"/>
                      <a:gd name="connsiteY10" fmla="*/ 25213 h 96063"/>
                      <a:gd name="connsiteX11" fmla="*/ 54089 w 65166"/>
                      <a:gd name="connsiteY11" fmla="*/ 4794 h 96063"/>
                      <a:gd name="connsiteX12" fmla="*/ 27657 w 65166"/>
                      <a:gd name="connsiteY12" fmla="*/ -2151 h 96063"/>
                      <a:gd name="connsiteX13" fmla="*/ 13667 w 65166"/>
                      <a:gd name="connsiteY13" fmla="*/ -663 h 96063"/>
                      <a:gd name="connsiteX14" fmla="*/ -1672 w 65166"/>
                      <a:gd name="connsiteY14" fmla="*/ 3742 h 96063"/>
                      <a:gd name="connsiteX15" fmla="*/ -1672 w 65166"/>
                      <a:gd name="connsiteY15" fmla="*/ 16641 h 96063"/>
                      <a:gd name="connsiteX16" fmla="*/ 13270 w 65166"/>
                      <a:gd name="connsiteY16" fmla="*/ 10192 h 96063"/>
                      <a:gd name="connsiteX17" fmla="*/ 27657 w 65166"/>
                      <a:gd name="connsiteY17" fmla="*/ 8029 h 96063"/>
                      <a:gd name="connsiteX18" fmla="*/ 44207 w 65166"/>
                      <a:gd name="connsiteY18" fmla="*/ 12236 h 96063"/>
                      <a:gd name="connsiteX19" fmla="*/ 50041 w 65166"/>
                      <a:gd name="connsiteY19" fmla="*/ 24281 h 96063"/>
                      <a:gd name="connsiteX20" fmla="*/ 45854 w 65166"/>
                      <a:gd name="connsiteY20" fmla="*/ 34937 h 96063"/>
                      <a:gd name="connsiteX21" fmla="*/ 32122 w 65166"/>
                      <a:gd name="connsiteY21" fmla="*/ 40711 h 96063"/>
                      <a:gd name="connsiteX22" fmla="*/ 24482 w 65166"/>
                      <a:gd name="connsiteY22" fmla="*/ 42200 h 96063"/>
                      <a:gd name="connsiteX23" fmla="*/ 4202 w 65166"/>
                      <a:gd name="connsiteY23" fmla="*/ 50931 h 96063"/>
                      <a:gd name="connsiteX24" fmla="*/ -2049 w 65166"/>
                      <a:gd name="connsiteY24" fmla="*/ 67500 h 96063"/>
                      <a:gd name="connsiteX25" fmla="*/ 6603 w 65166"/>
                      <a:gd name="connsiteY25" fmla="*/ 86848 h 96063"/>
                      <a:gd name="connsiteX26" fmla="*/ 30435 w 65166"/>
                      <a:gd name="connsiteY26" fmla="*/ 93912 h 96063"/>
                      <a:gd name="connsiteX27" fmla="*/ 43711 w 65166"/>
                      <a:gd name="connsiteY27" fmla="*/ 92722 h 96063"/>
                      <a:gd name="connsiteX28" fmla="*/ 57542 w 65166"/>
                      <a:gd name="connsiteY28" fmla="*/ 89209 h 960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65166" h="96063">
                        <a:moveTo>
                          <a:pt x="57542" y="89209"/>
                        </a:moveTo>
                        <a:lnTo>
                          <a:pt x="57542" y="76986"/>
                        </a:lnTo>
                        <a:cubicBezTo>
                          <a:pt x="52793" y="79261"/>
                          <a:pt x="48308" y="80954"/>
                          <a:pt x="44088" y="82066"/>
                        </a:cubicBezTo>
                        <a:cubicBezTo>
                          <a:pt x="39868" y="83190"/>
                          <a:pt x="35793" y="83752"/>
                          <a:pt x="31864" y="83752"/>
                        </a:cubicBezTo>
                        <a:cubicBezTo>
                          <a:pt x="25051" y="83752"/>
                          <a:pt x="19793" y="82429"/>
                          <a:pt x="16088" y="79784"/>
                        </a:cubicBezTo>
                        <a:cubicBezTo>
                          <a:pt x="12384" y="77138"/>
                          <a:pt x="10532" y="73374"/>
                          <a:pt x="10532" y="68493"/>
                        </a:cubicBezTo>
                        <a:cubicBezTo>
                          <a:pt x="10532" y="64391"/>
                          <a:pt x="11762" y="61296"/>
                          <a:pt x="14223" y="59206"/>
                        </a:cubicBezTo>
                        <a:cubicBezTo>
                          <a:pt x="16684" y="57129"/>
                          <a:pt x="21347" y="55449"/>
                          <a:pt x="28213" y="54165"/>
                        </a:cubicBezTo>
                        <a:lnTo>
                          <a:pt x="35773" y="52618"/>
                        </a:lnTo>
                        <a:cubicBezTo>
                          <a:pt x="45113" y="50832"/>
                          <a:pt x="52005" y="47696"/>
                          <a:pt x="56450" y="43212"/>
                        </a:cubicBezTo>
                        <a:cubicBezTo>
                          <a:pt x="60895" y="38727"/>
                          <a:pt x="63118" y="32728"/>
                          <a:pt x="63118" y="25213"/>
                        </a:cubicBezTo>
                        <a:cubicBezTo>
                          <a:pt x="63118" y="16231"/>
                          <a:pt x="60108" y="9424"/>
                          <a:pt x="54089" y="4794"/>
                        </a:cubicBezTo>
                        <a:cubicBezTo>
                          <a:pt x="48083" y="164"/>
                          <a:pt x="39272" y="-2151"/>
                          <a:pt x="27657" y="-2151"/>
                        </a:cubicBezTo>
                        <a:cubicBezTo>
                          <a:pt x="23278" y="-2151"/>
                          <a:pt x="18615" y="-1655"/>
                          <a:pt x="13667" y="-663"/>
                        </a:cubicBezTo>
                        <a:cubicBezTo>
                          <a:pt x="8733" y="329"/>
                          <a:pt x="3620" y="1798"/>
                          <a:pt x="-1672" y="3742"/>
                        </a:cubicBezTo>
                        <a:lnTo>
                          <a:pt x="-1672" y="16641"/>
                        </a:lnTo>
                        <a:cubicBezTo>
                          <a:pt x="3408" y="13797"/>
                          <a:pt x="8389" y="11647"/>
                          <a:pt x="13270" y="10192"/>
                        </a:cubicBezTo>
                        <a:cubicBezTo>
                          <a:pt x="18152" y="8750"/>
                          <a:pt x="22948" y="8029"/>
                          <a:pt x="27657" y="8029"/>
                        </a:cubicBezTo>
                        <a:cubicBezTo>
                          <a:pt x="34801" y="8029"/>
                          <a:pt x="40318" y="9431"/>
                          <a:pt x="44207" y="12236"/>
                        </a:cubicBezTo>
                        <a:cubicBezTo>
                          <a:pt x="48096" y="15053"/>
                          <a:pt x="50041" y="19068"/>
                          <a:pt x="50041" y="24281"/>
                        </a:cubicBezTo>
                        <a:cubicBezTo>
                          <a:pt x="50041" y="28818"/>
                          <a:pt x="48645" y="32370"/>
                          <a:pt x="45854" y="34937"/>
                        </a:cubicBezTo>
                        <a:cubicBezTo>
                          <a:pt x="43062" y="37503"/>
                          <a:pt x="38485" y="39428"/>
                          <a:pt x="32122" y="40711"/>
                        </a:cubicBezTo>
                        <a:lnTo>
                          <a:pt x="24482" y="42200"/>
                        </a:lnTo>
                        <a:cubicBezTo>
                          <a:pt x="15142" y="44052"/>
                          <a:pt x="8382" y="46962"/>
                          <a:pt x="4202" y="50931"/>
                        </a:cubicBezTo>
                        <a:cubicBezTo>
                          <a:pt x="35" y="54900"/>
                          <a:pt x="-2049" y="60423"/>
                          <a:pt x="-2049" y="67500"/>
                        </a:cubicBezTo>
                        <a:cubicBezTo>
                          <a:pt x="-2049" y="75689"/>
                          <a:pt x="835" y="82139"/>
                          <a:pt x="6603" y="86848"/>
                        </a:cubicBezTo>
                        <a:cubicBezTo>
                          <a:pt x="12371" y="91558"/>
                          <a:pt x="20315" y="93912"/>
                          <a:pt x="30435" y="93912"/>
                        </a:cubicBezTo>
                        <a:cubicBezTo>
                          <a:pt x="34788" y="93912"/>
                          <a:pt x="39213" y="93516"/>
                          <a:pt x="43711" y="92722"/>
                        </a:cubicBezTo>
                        <a:cubicBezTo>
                          <a:pt x="48222" y="91941"/>
                          <a:pt x="52832" y="90771"/>
                          <a:pt x="57542" y="89209"/>
                        </a:cubicBezTo>
                        <a:close/>
                      </a:path>
                    </a:pathLst>
                  </a:custGeom>
                  <a:solidFill>
                    <a:srgbClr val="000000"/>
                  </a:solidFill>
                  <a:ln w="20" cap="flat">
                    <a:noFill/>
                    <a:prstDash val="solid"/>
                    <a:round/>
                  </a:ln>
                </p:spPr>
                <p:txBody>
                  <a:bodyPr rtlCol="0" anchor="ctr"/>
                  <a:lstStyle/>
                  <a:p>
                    <a:endParaRPr lang="en-US"/>
                  </a:p>
                </p:txBody>
              </p:sp>
              <p:sp>
                <p:nvSpPr>
                  <p:cNvPr id="147" name="フリーフォーム: 図形 146">
                    <a:extLst>
                      <a:ext uri="{FF2B5EF4-FFF2-40B4-BE49-F238E27FC236}">
                        <a16:creationId xmlns:a16="http://schemas.microsoft.com/office/drawing/2014/main" id="{63032E8C-F6B0-29E6-0F00-6D329C220137}"/>
                      </a:ext>
                    </a:extLst>
                  </p:cNvPr>
                  <p:cNvSpPr/>
                  <p:nvPr/>
                </p:nvSpPr>
                <p:spPr>
                  <a:xfrm rot="-5400000" flipV="1">
                    <a:off x="-8588775" y="3749241"/>
                    <a:ext cx="58162" cy="72925"/>
                  </a:xfrm>
                  <a:custGeom>
                    <a:avLst/>
                    <a:gdLst>
                      <a:gd name="connsiteX0" fmla="*/ -1993 w 58162"/>
                      <a:gd name="connsiteY0" fmla="*/ 27636 h 72925"/>
                      <a:gd name="connsiteX1" fmla="*/ -1993 w 58162"/>
                      <a:gd name="connsiteY1" fmla="*/ 69684 h 72925"/>
                      <a:gd name="connsiteX2" fmla="*/ 9417 w 58162"/>
                      <a:gd name="connsiteY2" fmla="*/ 69684 h 72925"/>
                      <a:gd name="connsiteX3" fmla="*/ 9417 w 58162"/>
                      <a:gd name="connsiteY3" fmla="*/ 28072 h 72925"/>
                      <a:gd name="connsiteX4" fmla="*/ 13247 w 58162"/>
                      <a:gd name="connsiteY4" fmla="*/ 13269 h 72925"/>
                      <a:gd name="connsiteX5" fmla="*/ 24796 w 58162"/>
                      <a:gd name="connsiteY5" fmla="*/ 8347 h 72925"/>
                      <a:gd name="connsiteX6" fmla="*/ 39381 w 58162"/>
                      <a:gd name="connsiteY6" fmla="*/ 14241 h 72925"/>
                      <a:gd name="connsiteX7" fmla="*/ 44758 w 58162"/>
                      <a:gd name="connsiteY7" fmla="*/ 30314 h 72925"/>
                      <a:gd name="connsiteX8" fmla="*/ 44758 w 58162"/>
                      <a:gd name="connsiteY8" fmla="*/ 69684 h 72925"/>
                      <a:gd name="connsiteX9" fmla="*/ 56169 w 58162"/>
                      <a:gd name="connsiteY9" fmla="*/ 69684 h 72925"/>
                      <a:gd name="connsiteX10" fmla="*/ 56169 w 58162"/>
                      <a:gd name="connsiteY10" fmla="*/ 231 h 72925"/>
                      <a:gd name="connsiteX11" fmla="*/ 44758 w 58162"/>
                      <a:gd name="connsiteY11" fmla="*/ 231 h 72925"/>
                      <a:gd name="connsiteX12" fmla="*/ 44758 w 58162"/>
                      <a:gd name="connsiteY12" fmla="*/ 10907 h 72925"/>
                      <a:gd name="connsiteX13" fmla="*/ 35114 w 58162"/>
                      <a:gd name="connsiteY13" fmla="*/ 1501 h 72925"/>
                      <a:gd name="connsiteX14" fmla="*/ 22375 w 58162"/>
                      <a:gd name="connsiteY14" fmla="*/ -1574 h 72925"/>
                      <a:gd name="connsiteX15" fmla="*/ 4198 w 58162"/>
                      <a:gd name="connsiteY15" fmla="*/ 5867 h 72925"/>
                      <a:gd name="connsiteX16" fmla="*/ -1993 w 58162"/>
                      <a:gd name="connsiteY16" fmla="*/ 27636 h 72925"/>
                      <a:gd name="connsiteX17" fmla="*/ 26720 w 58162"/>
                      <a:gd name="connsiteY17" fmla="*/ 71351 h 72925"/>
                      <a:gd name="connsiteX18" fmla="*/ 26720 w 58162"/>
                      <a:gd name="connsiteY18" fmla="*/ 71351 h 7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8162" h="72925">
                        <a:moveTo>
                          <a:pt x="-1993" y="27636"/>
                        </a:moveTo>
                        <a:lnTo>
                          <a:pt x="-1993" y="69684"/>
                        </a:lnTo>
                        <a:lnTo>
                          <a:pt x="9417" y="69684"/>
                        </a:lnTo>
                        <a:lnTo>
                          <a:pt x="9417" y="28072"/>
                        </a:lnTo>
                        <a:cubicBezTo>
                          <a:pt x="9417" y="21497"/>
                          <a:pt x="10693" y="16563"/>
                          <a:pt x="13247" y="13269"/>
                        </a:cubicBezTo>
                        <a:cubicBezTo>
                          <a:pt x="15813" y="9988"/>
                          <a:pt x="19663" y="8347"/>
                          <a:pt x="24796" y="8347"/>
                        </a:cubicBezTo>
                        <a:cubicBezTo>
                          <a:pt x="30947" y="8347"/>
                          <a:pt x="35809" y="10312"/>
                          <a:pt x="39381" y="14241"/>
                        </a:cubicBezTo>
                        <a:cubicBezTo>
                          <a:pt x="42966" y="18170"/>
                          <a:pt x="44758" y="23528"/>
                          <a:pt x="44758" y="30314"/>
                        </a:cubicBezTo>
                        <a:lnTo>
                          <a:pt x="44758" y="69684"/>
                        </a:lnTo>
                        <a:lnTo>
                          <a:pt x="56169" y="69684"/>
                        </a:lnTo>
                        <a:lnTo>
                          <a:pt x="56169" y="231"/>
                        </a:lnTo>
                        <a:lnTo>
                          <a:pt x="44758" y="231"/>
                        </a:lnTo>
                        <a:lnTo>
                          <a:pt x="44758" y="10907"/>
                        </a:lnTo>
                        <a:cubicBezTo>
                          <a:pt x="41994" y="6687"/>
                          <a:pt x="38779" y="3552"/>
                          <a:pt x="35114" y="1501"/>
                        </a:cubicBezTo>
                        <a:cubicBezTo>
                          <a:pt x="31463" y="-549"/>
                          <a:pt x="27217" y="-1574"/>
                          <a:pt x="22375" y="-1574"/>
                        </a:cubicBezTo>
                        <a:cubicBezTo>
                          <a:pt x="14397" y="-1574"/>
                          <a:pt x="8339" y="906"/>
                          <a:pt x="4198" y="5867"/>
                        </a:cubicBezTo>
                        <a:cubicBezTo>
                          <a:pt x="70" y="10828"/>
                          <a:pt x="-1993" y="18084"/>
                          <a:pt x="-1993" y="27636"/>
                        </a:cubicBezTo>
                        <a:close/>
                        <a:moveTo>
                          <a:pt x="26720" y="71351"/>
                        </a:moveTo>
                        <a:lnTo>
                          <a:pt x="26720" y="71351"/>
                        </a:lnTo>
                        <a:close/>
                      </a:path>
                    </a:pathLst>
                  </a:custGeom>
                  <a:solidFill>
                    <a:srgbClr val="000000"/>
                  </a:solidFill>
                  <a:ln w="20" cap="flat">
                    <a:noFill/>
                    <a:prstDash val="solid"/>
                    <a:round/>
                  </a:ln>
                </p:spPr>
                <p:txBody>
                  <a:bodyPr rtlCol="0" anchor="ctr"/>
                  <a:lstStyle/>
                  <a:p>
                    <a:endParaRPr lang="en-US"/>
                  </a:p>
                </p:txBody>
              </p:sp>
              <p:sp>
                <p:nvSpPr>
                  <p:cNvPr id="148" name="フリーフォーム: 図形 147">
                    <a:extLst>
                      <a:ext uri="{FF2B5EF4-FFF2-40B4-BE49-F238E27FC236}">
                        <a16:creationId xmlns:a16="http://schemas.microsoft.com/office/drawing/2014/main" id="{F701DA0C-C669-E1EE-5A81-E5F38051BE3F}"/>
                      </a:ext>
                    </a:extLst>
                  </p:cNvPr>
                  <p:cNvSpPr/>
                  <p:nvPr/>
                </p:nvSpPr>
                <p:spPr>
                  <a:xfrm rot="-5400000" flipV="1">
                    <a:off x="-8595393" y="3671815"/>
                    <a:ext cx="44211" cy="96500"/>
                  </a:xfrm>
                  <a:custGeom>
                    <a:avLst/>
                    <a:gdLst>
                      <a:gd name="connsiteX0" fmla="*/ 42966 w 44211"/>
                      <a:gd name="connsiteY0" fmla="*/ 94236 h 96500"/>
                      <a:gd name="connsiteX1" fmla="*/ 42966 w 44211"/>
                      <a:gd name="connsiteY1" fmla="*/ 84730 h 96500"/>
                      <a:gd name="connsiteX2" fmla="*/ 32052 w 44211"/>
                      <a:gd name="connsiteY2" fmla="*/ 84730 h 96500"/>
                      <a:gd name="connsiteX3" fmla="*/ 23519 w 44211"/>
                      <a:gd name="connsiteY3" fmla="*/ 82250 h 96500"/>
                      <a:gd name="connsiteX4" fmla="*/ 21138 w 44211"/>
                      <a:gd name="connsiteY4" fmla="*/ 73320 h 96500"/>
                      <a:gd name="connsiteX5" fmla="*/ 21138 w 44211"/>
                      <a:gd name="connsiteY5" fmla="*/ 67189 h 96500"/>
                      <a:gd name="connsiteX6" fmla="*/ 39930 w 44211"/>
                      <a:gd name="connsiteY6" fmla="*/ 67189 h 96500"/>
                      <a:gd name="connsiteX7" fmla="*/ 39930 w 44211"/>
                      <a:gd name="connsiteY7" fmla="*/ 58318 h 96500"/>
                      <a:gd name="connsiteX8" fmla="*/ 21138 w 44211"/>
                      <a:gd name="connsiteY8" fmla="*/ 58318 h 96500"/>
                      <a:gd name="connsiteX9" fmla="*/ 21138 w 44211"/>
                      <a:gd name="connsiteY9" fmla="*/ -2265 h 96500"/>
                      <a:gd name="connsiteX10" fmla="*/ 9668 w 44211"/>
                      <a:gd name="connsiteY10" fmla="*/ -2265 h 96500"/>
                      <a:gd name="connsiteX11" fmla="*/ 9668 w 44211"/>
                      <a:gd name="connsiteY11" fmla="*/ 58318 h 96500"/>
                      <a:gd name="connsiteX12" fmla="*/ -1246 w 44211"/>
                      <a:gd name="connsiteY12" fmla="*/ 58318 h 96500"/>
                      <a:gd name="connsiteX13" fmla="*/ -1246 w 44211"/>
                      <a:gd name="connsiteY13" fmla="*/ 67189 h 96500"/>
                      <a:gd name="connsiteX14" fmla="*/ 9668 w 44211"/>
                      <a:gd name="connsiteY14" fmla="*/ 67189 h 96500"/>
                      <a:gd name="connsiteX15" fmla="*/ 9668 w 44211"/>
                      <a:gd name="connsiteY15" fmla="*/ 72030 h 96500"/>
                      <a:gd name="connsiteX16" fmla="*/ 15066 w 44211"/>
                      <a:gd name="connsiteY16" fmla="*/ 88917 h 96500"/>
                      <a:gd name="connsiteX17" fmla="*/ 32171 w 44211"/>
                      <a:gd name="connsiteY17" fmla="*/ 94236 h 96500"/>
                      <a:gd name="connsiteX18" fmla="*/ 42966 w 44211"/>
                      <a:gd name="connsiteY18" fmla="*/ 94236 h 96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4211" h="96500">
                        <a:moveTo>
                          <a:pt x="42966" y="94236"/>
                        </a:moveTo>
                        <a:lnTo>
                          <a:pt x="42966" y="84730"/>
                        </a:lnTo>
                        <a:lnTo>
                          <a:pt x="32052" y="84730"/>
                        </a:lnTo>
                        <a:cubicBezTo>
                          <a:pt x="27964" y="84730"/>
                          <a:pt x="25120" y="83904"/>
                          <a:pt x="23519" y="82250"/>
                        </a:cubicBezTo>
                        <a:cubicBezTo>
                          <a:pt x="21931" y="80596"/>
                          <a:pt x="21138" y="77620"/>
                          <a:pt x="21138" y="73320"/>
                        </a:cubicBezTo>
                        <a:lnTo>
                          <a:pt x="21138" y="67189"/>
                        </a:lnTo>
                        <a:lnTo>
                          <a:pt x="39930" y="67189"/>
                        </a:lnTo>
                        <a:lnTo>
                          <a:pt x="39930" y="58318"/>
                        </a:lnTo>
                        <a:lnTo>
                          <a:pt x="21138" y="58318"/>
                        </a:lnTo>
                        <a:lnTo>
                          <a:pt x="21138" y="-2265"/>
                        </a:lnTo>
                        <a:lnTo>
                          <a:pt x="9668" y="-2265"/>
                        </a:lnTo>
                        <a:lnTo>
                          <a:pt x="9668" y="58318"/>
                        </a:lnTo>
                        <a:lnTo>
                          <a:pt x="-1246" y="58318"/>
                        </a:lnTo>
                        <a:lnTo>
                          <a:pt x="-1246" y="67189"/>
                        </a:lnTo>
                        <a:lnTo>
                          <a:pt x="9668" y="67189"/>
                        </a:lnTo>
                        <a:lnTo>
                          <a:pt x="9668" y="72030"/>
                        </a:lnTo>
                        <a:cubicBezTo>
                          <a:pt x="9668" y="79756"/>
                          <a:pt x="11467" y="85385"/>
                          <a:pt x="15066" y="88917"/>
                        </a:cubicBezTo>
                        <a:cubicBezTo>
                          <a:pt x="18664" y="92463"/>
                          <a:pt x="24366" y="94236"/>
                          <a:pt x="32171" y="94236"/>
                        </a:cubicBezTo>
                        <a:lnTo>
                          <a:pt x="42966" y="94236"/>
                        </a:lnTo>
                        <a:close/>
                      </a:path>
                    </a:pathLst>
                  </a:custGeom>
                  <a:solidFill>
                    <a:srgbClr val="000000"/>
                  </a:solidFill>
                  <a:ln w="20" cap="flat">
                    <a:noFill/>
                    <a:prstDash val="solid"/>
                    <a:round/>
                  </a:ln>
                </p:spPr>
                <p:txBody>
                  <a:bodyPr rtlCol="0" anchor="ctr"/>
                  <a:lstStyle/>
                  <a:p>
                    <a:endParaRPr lang="en-US"/>
                  </a:p>
                </p:txBody>
              </p:sp>
              <p:sp>
                <p:nvSpPr>
                  <p:cNvPr id="149" name="フリーフォーム: 図形 148">
                    <a:extLst>
                      <a:ext uri="{FF2B5EF4-FFF2-40B4-BE49-F238E27FC236}">
                        <a16:creationId xmlns:a16="http://schemas.microsoft.com/office/drawing/2014/main" id="{404E5B81-4B6A-13FA-CE49-132073055448}"/>
                      </a:ext>
                    </a:extLst>
                  </p:cNvPr>
                  <p:cNvSpPr/>
                  <p:nvPr/>
                </p:nvSpPr>
                <p:spPr>
                  <a:xfrm rot="-5400000" flipV="1">
                    <a:off x="-8595393" y="3627105"/>
                    <a:ext cx="44211" cy="96500"/>
                  </a:xfrm>
                  <a:custGeom>
                    <a:avLst/>
                    <a:gdLst>
                      <a:gd name="connsiteX0" fmla="*/ 42966 w 44211"/>
                      <a:gd name="connsiteY0" fmla="*/ 94232 h 96500"/>
                      <a:gd name="connsiteX1" fmla="*/ 42966 w 44211"/>
                      <a:gd name="connsiteY1" fmla="*/ 84727 h 96500"/>
                      <a:gd name="connsiteX2" fmla="*/ 32052 w 44211"/>
                      <a:gd name="connsiteY2" fmla="*/ 84727 h 96500"/>
                      <a:gd name="connsiteX3" fmla="*/ 23519 w 44211"/>
                      <a:gd name="connsiteY3" fmla="*/ 82246 h 96500"/>
                      <a:gd name="connsiteX4" fmla="*/ 21138 w 44211"/>
                      <a:gd name="connsiteY4" fmla="*/ 73317 h 96500"/>
                      <a:gd name="connsiteX5" fmla="*/ 21138 w 44211"/>
                      <a:gd name="connsiteY5" fmla="*/ 67185 h 96500"/>
                      <a:gd name="connsiteX6" fmla="*/ 39930 w 44211"/>
                      <a:gd name="connsiteY6" fmla="*/ 67185 h 96500"/>
                      <a:gd name="connsiteX7" fmla="*/ 39930 w 44211"/>
                      <a:gd name="connsiteY7" fmla="*/ 58315 h 96500"/>
                      <a:gd name="connsiteX8" fmla="*/ 21138 w 44211"/>
                      <a:gd name="connsiteY8" fmla="*/ 58315 h 96500"/>
                      <a:gd name="connsiteX9" fmla="*/ 21138 w 44211"/>
                      <a:gd name="connsiteY9" fmla="*/ -2268 h 96500"/>
                      <a:gd name="connsiteX10" fmla="*/ 9668 w 44211"/>
                      <a:gd name="connsiteY10" fmla="*/ -2268 h 96500"/>
                      <a:gd name="connsiteX11" fmla="*/ 9668 w 44211"/>
                      <a:gd name="connsiteY11" fmla="*/ 58315 h 96500"/>
                      <a:gd name="connsiteX12" fmla="*/ -1246 w 44211"/>
                      <a:gd name="connsiteY12" fmla="*/ 58315 h 96500"/>
                      <a:gd name="connsiteX13" fmla="*/ -1246 w 44211"/>
                      <a:gd name="connsiteY13" fmla="*/ 67185 h 96500"/>
                      <a:gd name="connsiteX14" fmla="*/ 9668 w 44211"/>
                      <a:gd name="connsiteY14" fmla="*/ 67185 h 96500"/>
                      <a:gd name="connsiteX15" fmla="*/ 9668 w 44211"/>
                      <a:gd name="connsiteY15" fmla="*/ 72027 h 96500"/>
                      <a:gd name="connsiteX16" fmla="*/ 15066 w 44211"/>
                      <a:gd name="connsiteY16" fmla="*/ 88914 h 96500"/>
                      <a:gd name="connsiteX17" fmla="*/ 32171 w 44211"/>
                      <a:gd name="connsiteY17" fmla="*/ 94232 h 96500"/>
                      <a:gd name="connsiteX18" fmla="*/ 42966 w 44211"/>
                      <a:gd name="connsiteY18" fmla="*/ 94232 h 96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4211" h="96500">
                        <a:moveTo>
                          <a:pt x="42966" y="94232"/>
                        </a:moveTo>
                        <a:lnTo>
                          <a:pt x="42966" y="84727"/>
                        </a:lnTo>
                        <a:lnTo>
                          <a:pt x="32052" y="84727"/>
                        </a:lnTo>
                        <a:cubicBezTo>
                          <a:pt x="27964" y="84727"/>
                          <a:pt x="25120" y="83900"/>
                          <a:pt x="23519" y="82246"/>
                        </a:cubicBezTo>
                        <a:cubicBezTo>
                          <a:pt x="21931" y="80593"/>
                          <a:pt x="21138" y="77616"/>
                          <a:pt x="21138" y="73317"/>
                        </a:cubicBezTo>
                        <a:lnTo>
                          <a:pt x="21138" y="67185"/>
                        </a:lnTo>
                        <a:lnTo>
                          <a:pt x="39930" y="67185"/>
                        </a:lnTo>
                        <a:lnTo>
                          <a:pt x="39930" y="58315"/>
                        </a:lnTo>
                        <a:lnTo>
                          <a:pt x="21138" y="58315"/>
                        </a:lnTo>
                        <a:lnTo>
                          <a:pt x="21138" y="-2268"/>
                        </a:lnTo>
                        <a:lnTo>
                          <a:pt x="9668" y="-2268"/>
                        </a:lnTo>
                        <a:lnTo>
                          <a:pt x="9668" y="58315"/>
                        </a:lnTo>
                        <a:lnTo>
                          <a:pt x="-1246" y="58315"/>
                        </a:lnTo>
                        <a:lnTo>
                          <a:pt x="-1246" y="67185"/>
                        </a:lnTo>
                        <a:lnTo>
                          <a:pt x="9668" y="67185"/>
                        </a:lnTo>
                        <a:lnTo>
                          <a:pt x="9668" y="72027"/>
                        </a:lnTo>
                        <a:cubicBezTo>
                          <a:pt x="9668" y="79753"/>
                          <a:pt x="11467" y="85382"/>
                          <a:pt x="15066" y="88914"/>
                        </a:cubicBezTo>
                        <a:cubicBezTo>
                          <a:pt x="18664" y="92459"/>
                          <a:pt x="24366" y="94232"/>
                          <a:pt x="32171" y="94232"/>
                        </a:cubicBezTo>
                        <a:lnTo>
                          <a:pt x="42966" y="94232"/>
                        </a:lnTo>
                        <a:close/>
                      </a:path>
                    </a:pathLst>
                  </a:custGeom>
                  <a:solidFill>
                    <a:srgbClr val="000000"/>
                  </a:solidFill>
                  <a:ln w="20" cap="flat">
                    <a:noFill/>
                    <a:prstDash val="solid"/>
                    <a:round/>
                  </a:ln>
                </p:spPr>
                <p:txBody>
                  <a:bodyPr rtlCol="0" anchor="ctr"/>
                  <a:lstStyle/>
                  <a:p>
                    <a:endParaRPr lang="en-US"/>
                  </a:p>
                </p:txBody>
              </p:sp>
              <p:sp>
                <p:nvSpPr>
                  <p:cNvPr id="150" name="フリーフォーム: 図形 149">
                    <a:extLst>
                      <a:ext uri="{FF2B5EF4-FFF2-40B4-BE49-F238E27FC236}">
                        <a16:creationId xmlns:a16="http://schemas.microsoft.com/office/drawing/2014/main" id="{39BDF5B7-FC03-182B-6550-34127171B7C6}"/>
                      </a:ext>
                    </a:extLst>
                  </p:cNvPr>
                  <p:cNvSpPr/>
                  <p:nvPr/>
                </p:nvSpPr>
                <p:spPr>
                  <a:xfrm rot="-5400000" flipV="1">
                    <a:off x="-8578992" y="3589747"/>
                    <a:ext cx="11410" cy="96500"/>
                  </a:xfrm>
                  <a:custGeom>
                    <a:avLst/>
                    <a:gdLst>
                      <a:gd name="connsiteX0" fmla="*/ -876 w 11410"/>
                      <a:gd name="connsiteY0" fmla="*/ 67182 h 96500"/>
                      <a:gd name="connsiteX1" fmla="*/ 10535 w 11410"/>
                      <a:gd name="connsiteY1" fmla="*/ 67182 h 96500"/>
                      <a:gd name="connsiteX2" fmla="*/ 10535 w 11410"/>
                      <a:gd name="connsiteY2" fmla="*/ -2271 h 96500"/>
                      <a:gd name="connsiteX3" fmla="*/ -876 w 11410"/>
                      <a:gd name="connsiteY3" fmla="*/ -2271 h 96500"/>
                      <a:gd name="connsiteX4" fmla="*/ -876 w 11410"/>
                      <a:gd name="connsiteY4" fmla="*/ 67182 h 96500"/>
                      <a:gd name="connsiteX5" fmla="*/ -876 w 11410"/>
                      <a:gd name="connsiteY5" fmla="*/ 94229 h 96500"/>
                      <a:gd name="connsiteX6" fmla="*/ 10535 w 11410"/>
                      <a:gd name="connsiteY6" fmla="*/ 94229 h 96500"/>
                      <a:gd name="connsiteX7" fmla="*/ 10535 w 11410"/>
                      <a:gd name="connsiteY7" fmla="*/ 79763 h 96500"/>
                      <a:gd name="connsiteX8" fmla="*/ -876 w 11410"/>
                      <a:gd name="connsiteY8" fmla="*/ 79763 h 96500"/>
                      <a:gd name="connsiteX9" fmla="*/ -876 w 11410"/>
                      <a:gd name="connsiteY9" fmla="*/ 94229 h 96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410" h="96500">
                        <a:moveTo>
                          <a:pt x="-876" y="67182"/>
                        </a:moveTo>
                        <a:lnTo>
                          <a:pt x="10535" y="67182"/>
                        </a:lnTo>
                        <a:lnTo>
                          <a:pt x="10535" y="-2271"/>
                        </a:lnTo>
                        <a:lnTo>
                          <a:pt x="-876" y="-2271"/>
                        </a:lnTo>
                        <a:lnTo>
                          <a:pt x="-876" y="67182"/>
                        </a:lnTo>
                        <a:close/>
                        <a:moveTo>
                          <a:pt x="-876" y="94229"/>
                        </a:moveTo>
                        <a:lnTo>
                          <a:pt x="10535" y="94229"/>
                        </a:lnTo>
                        <a:lnTo>
                          <a:pt x="10535" y="79763"/>
                        </a:lnTo>
                        <a:lnTo>
                          <a:pt x="-876" y="79763"/>
                        </a:lnTo>
                        <a:lnTo>
                          <a:pt x="-876" y="94229"/>
                        </a:lnTo>
                        <a:close/>
                      </a:path>
                    </a:pathLst>
                  </a:custGeom>
                  <a:solidFill>
                    <a:srgbClr val="000000"/>
                  </a:solidFill>
                  <a:ln w="20" cap="flat">
                    <a:noFill/>
                    <a:prstDash val="solid"/>
                    <a:round/>
                  </a:ln>
                </p:spPr>
                <p:txBody>
                  <a:bodyPr rtlCol="0" anchor="ctr"/>
                  <a:lstStyle/>
                  <a:p>
                    <a:endParaRPr lang="en-US"/>
                  </a:p>
                </p:txBody>
              </p:sp>
              <p:sp>
                <p:nvSpPr>
                  <p:cNvPr id="151" name="フリーフォーム: 図形 150">
                    <a:extLst>
                      <a:ext uri="{FF2B5EF4-FFF2-40B4-BE49-F238E27FC236}">
                        <a16:creationId xmlns:a16="http://schemas.microsoft.com/office/drawing/2014/main" id="{901EDBE6-1CB7-DE93-5DF7-3BD8AD0A26BF}"/>
                      </a:ext>
                    </a:extLst>
                  </p:cNvPr>
                  <p:cNvSpPr/>
                  <p:nvPr/>
                </p:nvSpPr>
                <p:spPr>
                  <a:xfrm rot="-5400000" flipV="1">
                    <a:off x="-8587168" y="3549442"/>
                    <a:ext cx="54947" cy="72925"/>
                  </a:xfrm>
                  <a:custGeom>
                    <a:avLst/>
                    <a:gdLst>
                      <a:gd name="connsiteX0" fmla="*/ 53226 w 54947"/>
                      <a:gd name="connsiteY0" fmla="*/ 67010 h 72925"/>
                      <a:gd name="connsiteX1" fmla="*/ 53226 w 54947"/>
                      <a:gd name="connsiteY1" fmla="*/ 56334 h 72925"/>
                      <a:gd name="connsiteX2" fmla="*/ 43522 w 54947"/>
                      <a:gd name="connsiteY2" fmla="*/ 60342 h 72925"/>
                      <a:gd name="connsiteX3" fmla="*/ 33700 w 54947"/>
                      <a:gd name="connsiteY3" fmla="*/ 61672 h 72925"/>
                      <a:gd name="connsiteX4" fmla="*/ 16436 w 54947"/>
                      <a:gd name="connsiteY4" fmla="*/ 54627 h 72925"/>
                      <a:gd name="connsiteX5" fmla="*/ 10304 w 54947"/>
                      <a:gd name="connsiteY5" fmla="*/ 34883 h 72925"/>
                      <a:gd name="connsiteX6" fmla="*/ 16436 w 54947"/>
                      <a:gd name="connsiteY6" fmla="*/ 15118 h 72925"/>
                      <a:gd name="connsiteX7" fmla="*/ 33700 w 54947"/>
                      <a:gd name="connsiteY7" fmla="*/ 8094 h 72925"/>
                      <a:gd name="connsiteX8" fmla="*/ 43522 w 54947"/>
                      <a:gd name="connsiteY8" fmla="*/ 9423 h 72925"/>
                      <a:gd name="connsiteX9" fmla="*/ 53226 w 54947"/>
                      <a:gd name="connsiteY9" fmla="*/ 13432 h 72925"/>
                      <a:gd name="connsiteX10" fmla="*/ 53226 w 54947"/>
                      <a:gd name="connsiteY10" fmla="*/ 2875 h 72925"/>
                      <a:gd name="connsiteX11" fmla="*/ 43324 w 54947"/>
                      <a:gd name="connsiteY11" fmla="*/ -459 h 72925"/>
                      <a:gd name="connsiteX12" fmla="*/ 32449 w 54947"/>
                      <a:gd name="connsiteY12" fmla="*/ -1590 h 72925"/>
                      <a:gd name="connsiteX13" fmla="*/ 7506 w 54947"/>
                      <a:gd name="connsiteY13" fmla="*/ 8272 h 72925"/>
                      <a:gd name="connsiteX14" fmla="*/ -1721 w 54947"/>
                      <a:gd name="connsiteY14" fmla="*/ 34883 h 72925"/>
                      <a:gd name="connsiteX15" fmla="*/ 7605 w 54947"/>
                      <a:gd name="connsiteY15" fmla="*/ 61592 h 72925"/>
                      <a:gd name="connsiteX16" fmla="*/ 33204 w 54947"/>
                      <a:gd name="connsiteY16" fmla="*/ 71336 h 72925"/>
                      <a:gd name="connsiteX17" fmla="*/ 43483 w 54947"/>
                      <a:gd name="connsiteY17" fmla="*/ 70244 h 72925"/>
                      <a:gd name="connsiteX18" fmla="*/ 53226 w 54947"/>
                      <a:gd name="connsiteY18" fmla="*/ 67010 h 7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947" h="72925">
                        <a:moveTo>
                          <a:pt x="53226" y="67010"/>
                        </a:moveTo>
                        <a:lnTo>
                          <a:pt x="53226" y="56334"/>
                        </a:lnTo>
                        <a:cubicBezTo>
                          <a:pt x="49998" y="58120"/>
                          <a:pt x="46763" y="59456"/>
                          <a:pt x="43522" y="60342"/>
                        </a:cubicBezTo>
                        <a:cubicBezTo>
                          <a:pt x="40281" y="61229"/>
                          <a:pt x="37007" y="61672"/>
                          <a:pt x="33700" y="61672"/>
                        </a:cubicBezTo>
                        <a:cubicBezTo>
                          <a:pt x="26291" y="61672"/>
                          <a:pt x="20537" y="59324"/>
                          <a:pt x="16436" y="54627"/>
                        </a:cubicBezTo>
                        <a:cubicBezTo>
                          <a:pt x="12348" y="49944"/>
                          <a:pt x="10304" y="43363"/>
                          <a:pt x="10304" y="34883"/>
                        </a:cubicBezTo>
                        <a:cubicBezTo>
                          <a:pt x="10304" y="26403"/>
                          <a:pt x="12348" y="19815"/>
                          <a:pt x="16436" y="15118"/>
                        </a:cubicBezTo>
                        <a:cubicBezTo>
                          <a:pt x="20537" y="10435"/>
                          <a:pt x="26291" y="8094"/>
                          <a:pt x="33700" y="8094"/>
                        </a:cubicBezTo>
                        <a:cubicBezTo>
                          <a:pt x="37007" y="8094"/>
                          <a:pt x="40281" y="8537"/>
                          <a:pt x="43522" y="9423"/>
                        </a:cubicBezTo>
                        <a:cubicBezTo>
                          <a:pt x="46763" y="10309"/>
                          <a:pt x="49998" y="11646"/>
                          <a:pt x="53226" y="13432"/>
                        </a:cubicBezTo>
                        <a:lnTo>
                          <a:pt x="53226" y="2875"/>
                        </a:lnTo>
                        <a:cubicBezTo>
                          <a:pt x="50038" y="1393"/>
                          <a:pt x="46737" y="282"/>
                          <a:pt x="43324" y="-459"/>
                        </a:cubicBezTo>
                        <a:cubicBezTo>
                          <a:pt x="39924" y="-1213"/>
                          <a:pt x="36299" y="-1590"/>
                          <a:pt x="32449" y="-1590"/>
                        </a:cubicBezTo>
                        <a:cubicBezTo>
                          <a:pt x="21985" y="-1590"/>
                          <a:pt x="13671" y="1697"/>
                          <a:pt x="7506" y="8272"/>
                        </a:cubicBezTo>
                        <a:cubicBezTo>
                          <a:pt x="1354" y="14847"/>
                          <a:pt x="-1721" y="23717"/>
                          <a:pt x="-1721" y="34883"/>
                        </a:cubicBezTo>
                        <a:cubicBezTo>
                          <a:pt x="-1721" y="46207"/>
                          <a:pt x="1387" y="55110"/>
                          <a:pt x="7605" y="61592"/>
                        </a:cubicBezTo>
                        <a:cubicBezTo>
                          <a:pt x="13836" y="68088"/>
                          <a:pt x="22369" y="71336"/>
                          <a:pt x="33204" y="71336"/>
                        </a:cubicBezTo>
                        <a:cubicBezTo>
                          <a:pt x="36709" y="71336"/>
                          <a:pt x="40136" y="70972"/>
                          <a:pt x="43483" y="70244"/>
                        </a:cubicBezTo>
                        <a:cubicBezTo>
                          <a:pt x="46830" y="69530"/>
                          <a:pt x="50077" y="68452"/>
                          <a:pt x="53226" y="67010"/>
                        </a:cubicBezTo>
                        <a:close/>
                      </a:path>
                    </a:pathLst>
                  </a:custGeom>
                  <a:solidFill>
                    <a:srgbClr val="000000"/>
                  </a:solidFill>
                  <a:ln w="20" cap="flat">
                    <a:noFill/>
                    <a:prstDash val="solid"/>
                    <a:round/>
                  </a:ln>
                </p:spPr>
                <p:txBody>
                  <a:bodyPr rtlCol="0" anchor="ctr"/>
                  <a:lstStyle/>
                  <a:p>
                    <a:endParaRPr lang="en-US"/>
                  </a:p>
                </p:txBody>
              </p:sp>
              <p:sp>
                <p:nvSpPr>
                  <p:cNvPr id="152" name="フリーフォーム: 図形 151">
                    <a:extLst>
                      <a:ext uri="{FF2B5EF4-FFF2-40B4-BE49-F238E27FC236}">
                        <a16:creationId xmlns:a16="http://schemas.microsoft.com/office/drawing/2014/main" id="{FB84F0E1-8F96-3C44-F871-0AEEF090FA45}"/>
                      </a:ext>
                    </a:extLst>
                  </p:cNvPr>
                  <p:cNvSpPr/>
                  <p:nvPr/>
                </p:nvSpPr>
                <p:spPr>
                  <a:xfrm rot="-5400000" flipV="1">
                    <a:off x="-8578992" y="3484637"/>
                    <a:ext cx="11410" cy="96500"/>
                  </a:xfrm>
                  <a:custGeom>
                    <a:avLst/>
                    <a:gdLst>
                      <a:gd name="connsiteX0" fmla="*/ -876 w 11410"/>
                      <a:gd name="connsiteY0" fmla="*/ 67174 h 96500"/>
                      <a:gd name="connsiteX1" fmla="*/ 10535 w 11410"/>
                      <a:gd name="connsiteY1" fmla="*/ 67174 h 96500"/>
                      <a:gd name="connsiteX2" fmla="*/ 10535 w 11410"/>
                      <a:gd name="connsiteY2" fmla="*/ -2279 h 96500"/>
                      <a:gd name="connsiteX3" fmla="*/ -876 w 11410"/>
                      <a:gd name="connsiteY3" fmla="*/ -2279 h 96500"/>
                      <a:gd name="connsiteX4" fmla="*/ -876 w 11410"/>
                      <a:gd name="connsiteY4" fmla="*/ 67174 h 96500"/>
                      <a:gd name="connsiteX5" fmla="*/ -876 w 11410"/>
                      <a:gd name="connsiteY5" fmla="*/ 94221 h 96500"/>
                      <a:gd name="connsiteX6" fmla="*/ 10535 w 11410"/>
                      <a:gd name="connsiteY6" fmla="*/ 94221 h 96500"/>
                      <a:gd name="connsiteX7" fmla="*/ 10535 w 11410"/>
                      <a:gd name="connsiteY7" fmla="*/ 79755 h 96500"/>
                      <a:gd name="connsiteX8" fmla="*/ -876 w 11410"/>
                      <a:gd name="connsiteY8" fmla="*/ 79755 h 96500"/>
                      <a:gd name="connsiteX9" fmla="*/ -876 w 11410"/>
                      <a:gd name="connsiteY9" fmla="*/ 94221 h 96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410" h="96500">
                        <a:moveTo>
                          <a:pt x="-876" y="67174"/>
                        </a:moveTo>
                        <a:lnTo>
                          <a:pt x="10535" y="67174"/>
                        </a:lnTo>
                        <a:lnTo>
                          <a:pt x="10535" y="-2279"/>
                        </a:lnTo>
                        <a:lnTo>
                          <a:pt x="-876" y="-2279"/>
                        </a:lnTo>
                        <a:lnTo>
                          <a:pt x="-876" y="67174"/>
                        </a:lnTo>
                        <a:close/>
                        <a:moveTo>
                          <a:pt x="-876" y="94221"/>
                        </a:moveTo>
                        <a:lnTo>
                          <a:pt x="10535" y="94221"/>
                        </a:lnTo>
                        <a:lnTo>
                          <a:pt x="10535" y="79755"/>
                        </a:lnTo>
                        <a:lnTo>
                          <a:pt x="-876" y="79755"/>
                        </a:lnTo>
                        <a:lnTo>
                          <a:pt x="-876" y="94221"/>
                        </a:lnTo>
                        <a:close/>
                      </a:path>
                    </a:pathLst>
                  </a:custGeom>
                  <a:solidFill>
                    <a:srgbClr val="000000"/>
                  </a:solidFill>
                  <a:ln w="20" cap="flat">
                    <a:noFill/>
                    <a:prstDash val="solid"/>
                    <a:round/>
                  </a:ln>
                </p:spPr>
                <p:txBody>
                  <a:bodyPr rtlCol="0" anchor="ctr"/>
                  <a:lstStyle/>
                  <a:p>
                    <a:endParaRPr lang="en-US"/>
                  </a:p>
                </p:txBody>
              </p:sp>
              <p:sp>
                <p:nvSpPr>
                  <p:cNvPr id="153" name="フリーフォーム: 図形 152">
                    <a:extLst>
                      <a:ext uri="{FF2B5EF4-FFF2-40B4-BE49-F238E27FC236}">
                        <a16:creationId xmlns:a16="http://schemas.microsoft.com/office/drawing/2014/main" id="{060625A3-2D17-228D-2F6E-F6226DCE88D7}"/>
                      </a:ext>
                    </a:extLst>
                  </p:cNvPr>
                  <p:cNvSpPr/>
                  <p:nvPr/>
                </p:nvSpPr>
                <p:spPr>
                  <a:xfrm rot="-5400000" flipV="1">
                    <a:off x="-8591881" y="3439619"/>
                    <a:ext cx="64373" cy="72925"/>
                  </a:xfrm>
                  <a:custGeom>
                    <a:avLst/>
                    <a:gdLst>
                      <a:gd name="connsiteX0" fmla="*/ 62414 w 64373"/>
                      <a:gd name="connsiteY0" fmla="*/ 37791 h 72925"/>
                      <a:gd name="connsiteX1" fmla="*/ 62414 w 64373"/>
                      <a:gd name="connsiteY1" fmla="*/ 32215 h 72925"/>
                      <a:gd name="connsiteX2" fmla="*/ 9947 w 64373"/>
                      <a:gd name="connsiteY2" fmla="*/ 32215 h 72925"/>
                      <a:gd name="connsiteX3" fmla="*/ 17051 w 64373"/>
                      <a:gd name="connsiteY3" fmla="*/ 14256 h 72925"/>
                      <a:gd name="connsiteX4" fmla="*/ 34752 w 64373"/>
                      <a:gd name="connsiteY4" fmla="*/ 8085 h 72925"/>
                      <a:gd name="connsiteX5" fmla="*/ 47492 w 64373"/>
                      <a:gd name="connsiteY5" fmla="*/ 9692 h 72925"/>
                      <a:gd name="connsiteX6" fmla="*/ 59755 w 64373"/>
                      <a:gd name="connsiteY6" fmla="*/ 14534 h 72925"/>
                      <a:gd name="connsiteX7" fmla="*/ 59755 w 64373"/>
                      <a:gd name="connsiteY7" fmla="*/ 3739 h 72925"/>
                      <a:gd name="connsiteX8" fmla="*/ 47154 w 64373"/>
                      <a:gd name="connsiteY8" fmla="*/ -230 h 72925"/>
                      <a:gd name="connsiteX9" fmla="*/ 34077 w 64373"/>
                      <a:gd name="connsiteY9" fmla="*/ -1599 h 72925"/>
                      <a:gd name="connsiteX10" fmla="*/ 7745 w 64373"/>
                      <a:gd name="connsiteY10" fmla="*/ 8065 h 72925"/>
                      <a:gd name="connsiteX11" fmla="*/ -1959 w 64373"/>
                      <a:gd name="connsiteY11" fmla="*/ 34259 h 72925"/>
                      <a:gd name="connsiteX12" fmla="*/ 7249 w 64373"/>
                      <a:gd name="connsiteY12" fmla="*/ 61306 h 72925"/>
                      <a:gd name="connsiteX13" fmla="*/ 32093 w 64373"/>
                      <a:gd name="connsiteY13" fmla="*/ 71327 h 72925"/>
                      <a:gd name="connsiteX14" fmla="*/ 54258 w 64373"/>
                      <a:gd name="connsiteY14" fmla="*/ 62298 h 72925"/>
                      <a:gd name="connsiteX15" fmla="*/ 62414 w 64373"/>
                      <a:gd name="connsiteY15" fmla="*/ 37791 h 72925"/>
                      <a:gd name="connsiteX16" fmla="*/ 51004 w 64373"/>
                      <a:gd name="connsiteY16" fmla="*/ 41145 h 72925"/>
                      <a:gd name="connsiteX17" fmla="*/ 45765 w 64373"/>
                      <a:gd name="connsiteY17" fmla="*/ 56067 h 72925"/>
                      <a:gd name="connsiteX18" fmla="*/ 32212 w 64373"/>
                      <a:gd name="connsiteY18" fmla="*/ 61663 h 72925"/>
                      <a:gd name="connsiteX19" fmla="*/ 16932 w 64373"/>
                      <a:gd name="connsiteY19" fmla="*/ 56266 h 72925"/>
                      <a:gd name="connsiteX20" fmla="*/ 10324 w 64373"/>
                      <a:gd name="connsiteY20" fmla="*/ 41065 h 72925"/>
                      <a:gd name="connsiteX21" fmla="*/ 51004 w 64373"/>
                      <a:gd name="connsiteY21" fmla="*/ 41145 h 7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64373" h="72925">
                        <a:moveTo>
                          <a:pt x="62414" y="37791"/>
                        </a:moveTo>
                        <a:lnTo>
                          <a:pt x="62414" y="32215"/>
                        </a:lnTo>
                        <a:lnTo>
                          <a:pt x="9947" y="32215"/>
                        </a:lnTo>
                        <a:cubicBezTo>
                          <a:pt x="10450" y="24357"/>
                          <a:pt x="12818" y="18371"/>
                          <a:pt x="17051" y="14256"/>
                        </a:cubicBezTo>
                        <a:cubicBezTo>
                          <a:pt x="21285" y="10142"/>
                          <a:pt x="27185" y="8085"/>
                          <a:pt x="34752" y="8085"/>
                        </a:cubicBezTo>
                        <a:cubicBezTo>
                          <a:pt x="39131" y="8085"/>
                          <a:pt x="43377" y="8621"/>
                          <a:pt x="47492" y="9692"/>
                        </a:cubicBezTo>
                        <a:cubicBezTo>
                          <a:pt x="51606" y="10764"/>
                          <a:pt x="55694" y="12378"/>
                          <a:pt x="59755" y="14534"/>
                        </a:cubicBezTo>
                        <a:lnTo>
                          <a:pt x="59755" y="3739"/>
                        </a:lnTo>
                        <a:cubicBezTo>
                          <a:pt x="55654" y="2006"/>
                          <a:pt x="51454" y="683"/>
                          <a:pt x="47154" y="-230"/>
                        </a:cubicBezTo>
                        <a:cubicBezTo>
                          <a:pt x="42855" y="-1142"/>
                          <a:pt x="38496" y="-1599"/>
                          <a:pt x="34077" y="-1599"/>
                        </a:cubicBezTo>
                        <a:cubicBezTo>
                          <a:pt x="22991" y="-1599"/>
                          <a:pt x="14214" y="1623"/>
                          <a:pt x="7745" y="8065"/>
                        </a:cubicBezTo>
                        <a:cubicBezTo>
                          <a:pt x="1276" y="14521"/>
                          <a:pt x="-1959" y="23252"/>
                          <a:pt x="-1959" y="34259"/>
                        </a:cubicBezTo>
                        <a:cubicBezTo>
                          <a:pt x="-1959" y="45623"/>
                          <a:pt x="1110" y="54638"/>
                          <a:pt x="7249" y="61306"/>
                        </a:cubicBezTo>
                        <a:cubicBezTo>
                          <a:pt x="13387" y="67987"/>
                          <a:pt x="21668" y="71327"/>
                          <a:pt x="32093" y="71327"/>
                        </a:cubicBezTo>
                        <a:cubicBezTo>
                          <a:pt x="41433" y="71327"/>
                          <a:pt x="48821" y="68317"/>
                          <a:pt x="54258" y="62298"/>
                        </a:cubicBezTo>
                        <a:cubicBezTo>
                          <a:pt x="59696" y="56292"/>
                          <a:pt x="62414" y="48123"/>
                          <a:pt x="62414" y="37791"/>
                        </a:cubicBezTo>
                        <a:close/>
                        <a:moveTo>
                          <a:pt x="51004" y="41145"/>
                        </a:moveTo>
                        <a:cubicBezTo>
                          <a:pt x="50925" y="47376"/>
                          <a:pt x="49178" y="52350"/>
                          <a:pt x="45765" y="56067"/>
                        </a:cubicBezTo>
                        <a:cubicBezTo>
                          <a:pt x="42352" y="59798"/>
                          <a:pt x="37834" y="61663"/>
                          <a:pt x="32212" y="61663"/>
                        </a:cubicBezTo>
                        <a:cubicBezTo>
                          <a:pt x="25849" y="61663"/>
                          <a:pt x="20756" y="59864"/>
                          <a:pt x="16932" y="56266"/>
                        </a:cubicBezTo>
                        <a:cubicBezTo>
                          <a:pt x="13109" y="52667"/>
                          <a:pt x="10906" y="47600"/>
                          <a:pt x="10324" y="41065"/>
                        </a:cubicBezTo>
                        <a:lnTo>
                          <a:pt x="51004" y="41145"/>
                        </a:lnTo>
                        <a:close/>
                      </a:path>
                    </a:pathLst>
                  </a:custGeom>
                  <a:solidFill>
                    <a:srgbClr val="000000"/>
                  </a:solidFill>
                  <a:ln w="20" cap="flat">
                    <a:noFill/>
                    <a:prstDash val="solid"/>
                    <a:round/>
                  </a:ln>
                </p:spPr>
                <p:txBody>
                  <a:bodyPr rtlCol="0" anchor="ctr"/>
                  <a:lstStyle/>
                  <a:p>
                    <a:endParaRPr lang="en-US"/>
                  </a:p>
                </p:txBody>
              </p:sp>
              <p:sp>
                <p:nvSpPr>
                  <p:cNvPr id="154" name="フリーフォーム: 図形 153">
                    <a:extLst>
                      <a:ext uri="{FF2B5EF4-FFF2-40B4-BE49-F238E27FC236}">
                        <a16:creationId xmlns:a16="http://schemas.microsoft.com/office/drawing/2014/main" id="{8FDE138B-C788-7969-3785-0C253D90CC59}"/>
                      </a:ext>
                    </a:extLst>
                  </p:cNvPr>
                  <p:cNvSpPr/>
                  <p:nvPr/>
                </p:nvSpPr>
                <p:spPr>
                  <a:xfrm rot="-5400000" flipV="1">
                    <a:off x="-8589688" y="3360959"/>
                    <a:ext cx="58181" cy="71119"/>
                  </a:xfrm>
                  <a:custGeom>
                    <a:avLst/>
                    <a:gdLst>
                      <a:gd name="connsiteX0" fmla="*/ 56151 w 58181"/>
                      <a:gd name="connsiteY0" fmla="*/ 40279 h 71119"/>
                      <a:gd name="connsiteX1" fmla="*/ 56151 w 58181"/>
                      <a:gd name="connsiteY1" fmla="*/ -1651 h 71119"/>
                      <a:gd name="connsiteX2" fmla="*/ 44741 w 58181"/>
                      <a:gd name="connsiteY2" fmla="*/ -1651 h 71119"/>
                      <a:gd name="connsiteX3" fmla="*/ 44741 w 58181"/>
                      <a:gd name="connsiteY3" fmla="*/ 39902 h 71119"/>
                      <a:gd name="connsiteX4" fmla="*/ 40891 w 58181"/>
                      <a:gd name="connsiteY4" fmla="*/ 54646 h 71119"/>
                      <a:gd name="connsiteX5" fmla="*/ 29362 w 58181"/>
                      <a:gd name="connsiteY5" fmla="*/ 59548 h 71119"/>
                      <a:gd name="connsiteX6" fmla="*/ 14777 w 58181"/>
                      <a:gd name="connsiteY6" fmla="*/ 53654 h 71119"/>
                      <a:gd name="connsiteX7" fmla="*/ 9439 w 58181"/>
                      <a:gd name="connsiteY7" fmla="*/ 37600 h 71119"/>
                      <a:gd name="connsiteX8" fmla="*/ 9439 w 58181"/>
                      <a:gd name="connsiteY8" fmla="*/ -1651 h 71119"/>
                      <a:gd name="connsiteX9" fmla="*/ -2031 w 58181"/>
                      <a:gd name="connsiteY9" fmla="*/ -1651 h 71119"/>
                      <a:gd name="connsiteX10" fmla="*/ -2031 w 58181"/>
                      <a:gd name="connsiteY10" fmla="*/ 67803 h 71119"/>
                      <a:gd name="connsiteX11" fmla="*/ 9439 w 58181"/>
                      <a:gd name="connsiteY11" fmla="*/ 67803 h 71119"/>
                      <a:gd name="connsiteX12" fmla="*/ 9439 w 58181"/>
                      <a:gd name="connsiteY12" fmla="*/ 57008 h 71119"/>
                      <a:gd name="connsiteX13" fmla="*/ 19083 w 58181"/>
                      <a:gd name="connsiteY13" fmla="*/ 66374 h 71119"/>
                      <a:gd name="connsiteX14" fmla="*/ 31902 w 58181"/>
                      <a:gd name="connsiteY14" fmla="*/ 69469 h 71119"/>
                      <a:gd name="connsiteX15" fmla="*/ 49999 w 58181"/>
                      <a:gd name="connsiteY15" fmla="*/ 62068 h 71119"/>
                      <a:gd name="connsiteX16" fmla="*/ 56151 w 58181"/>
                      <a:gd name="connsiteY16" fmla="*/ 40279 h 711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58181" h="71119">
                        <a:moveTo>
                          <a:pt x="56151" y="40279"/>
                        </a:moveTo>
                        <a:lnTo>
                          <a:pt x="56151" y="-1651"/>
                        </a:lnTo>
                        <a:lnTo>
                          <a:pt x="44741" y="-1651"/>
                        </a:lnTo>
                        <a:lnTo>
                          <a:pt x="44741" y="39902"/>
                        </a:lnTo>
                        <a:cubicBezTo>
                          <a:pt x="44741" y="46477"/>
                          <a:pt x="43457" y="51392"/>
                          <a:pt x="40891" y="54646"/>
                        </a:cubicBezTo>
                        <a:cubicBezTo>
                          <a:pt x="38325" y="57914"/>
                          <a:pt x="34481" y="59548"/>
                          <a:pt x="29362" y="59548"/>
                        </a:cubicBezTo>
                        <a:cubicBezTo>
                          <a:pt x="23197" y="59548"/>
                          <a:pt x="18335" y="57583"/>
                          <a:pt x="14777" y="53654"/>
                        </a:cubicBezTo>
                        <a:cubicBezTo>
                          <a:pt x="11218" y="49738"/>
                          <a:pt x="9439" y="44387"/>
                          <a:pt x="9439" y="37600"/>
                        </a:cubicBezTo>
                        <a:lnTo>
                          <a:pt x="9439" y="-1651"/>
                        </a:lnTo>
                        <a:lnTo>
                          <a:pt x="-2031" y="-1651"/>
                        </a:lnTo>
                        <a:lnTo>
                          <a:pt x="-2031" y="67803"/>
                        </a:lnTo>
                        <a:lnTo>
                          <a:pt x="9439" y="67803"/>
                        </a:lnTo>
                        <a:lnTo>
                          <a:pt x="9439" y="57008"/>
                        </a:lnTo>
                        <a:cubicBezTo>
                          <a:pt x="12177" y="61188"/>
                          <a:pt x="15392" y="64310"/>
                          <a:pt x="19083" y="66374"/>
                        </a:cubicBezTo>
                        <a:cubicBezTo>
                          <a:pt x="22787" y="68438"/>
                          <a:pt x="27060" y="69469"/>
                          <a:pt x="31902" y="69469"/>
                        </a:cubicBezTo>
                        <a:cubicBezTo>
                          <a:pt x="39879" y="69469"/>
                          <a:pt x="45911" y="67002"/>
                          <a:pt x="49999" y="62068"/>
                        </a:cubicBezTo>
                        <a:cubicBezTo>
                          <a:pt x="54100" y="57133"/>
                          <a:pt x="56151" y="49870"/>
                          <a:pt x="56151" y="40279"/>
                        </a:cubicBezTo>
                        <a:close/>
                      </a:path>
                    </a:pathLst>
                  </a:custGeom>
                  <a:solidFill>
                    <a:srgbClr val="000000"/>
                  </a:solidFill>
                  <a:ln w="20" cap="flat">
                    <a:noFill/>
                    <a:prstDash val="solid"/>
                    <a:round/>
                  </a:ln>
                </p:spPr>
                <p:txBody>
                  <a:bodyPr rtlCol="0" anchor="ctr"/>
                  <a:lstStyle/>
                  <a:p>
                    <a:endParaRPr lang="en-US"/>
                  </a:p>
                </p:txBody>
              </p:sp>
              <p:sp>
                <p:nvSpPr>
                  <p:cNvPr id="155" name="フリーフォーム: 図形 154">
                    <a:extLst>
                      <a:ext uri="{FF2B5EF4-FFF2-40B4-BE49-F238E27FC236}">
                        <a16:creationId xmlns:a16="http://schemas.microsoft.com/office/drawing/2014/main" id="{9F0EFBB2-BB1C-F3A6-C882-91E9B02CD815}"/>
                      </a:ext>
                    </a:extLst>
                  </p:cNvPr>
                  <p:cNvSpPr/>
                  <p:nvPr/>
                </p:nvSpPr>
                <p:spPr>
                  <a:xfrm rot="-5400000" flipV="1">
                    <a:off x="-8587168" y="3285706"/>
                    <a:ext cx="54947" cy="72925"/>
                  </a:xfrm>
                  <a:custGeom>
                    <a:avLst/>
                    <a:gdLst>
                      <a:gd name="connsiteX0" fmla="*/ 53226 w 54947"/>
                      <a:gd name="connsiteY0" fmla="*/ 66989 h 72925"/>
                      <a:gd name="connsiteX1" fmla="*/ 53226 w 54947"/>
                      <a:gd name="connsiteY1" fmla="*/ 56313 h 72925"/>
                      <a:gd name="connsiteX2" fmla="*/ 43522 w 54947"/>
                      <a:gd name="connsiteY2" fmla="*/ 60321 h 72925"/>
                      <a:gd name="connsiteX3" fmla="*/ 33700 w 54947"/>
                      <a:gd name="connsiteY3" fmla="*/ 61651 h 72925"/>
                      <a:gd name="connsiteX4" fmla="*/ 16436 w 54947"/>
                      <a:gd name="connsiteY4" fmla="*/ 54606 h 72925"/>
                      <a:gd name="connsiteX5" fmla="*/ 10304 w 54947"/>
                      <a:gd name="connsiteY5" fmla="*/ 34862 h 72925"/>
                      <a:gd name="connsiteX6" fmla="*/ 16436 w 54947"/>
                      <a:gd name="connsiteY6" fmla="*/ 15098 h 72925"/>
                      <a:gd name="connsiteX7" fmla="*/ 33700 w 54947"/>
                      <a:gd name="connsiteY7" fmla="*/ 8073 h 72925"/>
                      <a:gd name="connsiteX8" fmla="*/ 43522 w 54947"/>
                      <a:gd name="connsiteY8" fmla="*/ 9402 h 72925"/>
                      <a:gd name="connsiteX9" fmla="*/ 53226 w 54947"/>
                      <a:gd name="connsiteY9" fmla="*/ 13411 h 72925"/>
                      <a:gd name="connsiteX10" fmla="*/ 53226 w 54947"/>
                      <a:gd name="connsiteY10" fmla="*/ 2854 h 72925"/>
                      <a:gd name="connsiteX11" fmla="*/ 43324 w 54947"/>
                      <a:gd name="connsiteY11" fmla="*/ -480 h 72925"/>
                      <a:gd name="connsiteX12" fmla="*/ 32449 w 54947"/>
                      <a:gd name="connsiteY12" fmla="*/ -1611 h 72925"/>
                      <a:gd name="connsiteX13" fmla="*/ 7506 w 54947"/>
                      <a:gd name="connsiteY13" fmla="*/ 8251 h 72925"/>
                      <a:gd name="connsiteX14" fmla="*/ -1721 w 54947"/>
                      <a:gd name="connsiteY14" fmla="*/ 34862 h 72925"/>
                      <a:gd name="connsiteX15" fmla="*/ 7605 w 54947"/>
                      <a:gd name="connsiteY15" fmla="*/ 61572 h 72925"/>
                      <a:gd name="connsiteX16" fmla="*/ 33204 w 54947"/>
                      <a:gd name="connsiteY16" fmla="*/ 71315 h 72925"/>
                      <a:gd name="connsiteX17" fmla="*/ 43483 w 54947"/>
                      <a:gd name="connsiteY17" fmla="*/ 70223 h 72925"/>
                      <a:gd name="connsiteX18" fmla="*/ 53226 w 54947"/>
                      <a:gd name="connsiteY18" fmla="*/ 66989 h 7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947" h="72925">
                        <a:moveTo>
                          <a:pt x="53226" y="66989"/>
                        </a:moveTo>
                        <a:lnTo>
                          <a:pt x="53226" y="56313"/>
                        </a:lnTo>
                        <a:cubicBezTo>
                          <a:pt x="49998" y="58099"/>
                          <a:pt x="46763" y="59435"/>
                          <a:pt x="43522" y="60321"/>
                        </a:cubicBezTo>
                        <a:cubicBezTo>
                          <a:pt x="40281" y="61208"/>
                          <a:pt x="37007" y="61651"/>
                          <a:pt x="33700" y="61651"/>
                        </a:cubicBezTo>
                        <a:cubicBezTo>
                          <a:pt x="26291" y="61651"/>
                          <a:pt x="20537" y="59303"/>
                          <a:pt x="16436" y="54606"/>
                        </a:cubicBezTo>
                        <a:cubicBezTo>
                          <a:pt x="12348" y="49923"/>
                          <a:pt x="10304" y="43342"/>
                          <a:pt x="10304" y="34862"/>
                        </a:cubicBezTo>
                        <a:cubicBezTo>
                          <a:pt x="10304" y="26382"/>
                          <a:pt x="12348" y="19794"/>
                          <a:pt x="16436" y="15098"/>
                        </a:cubicBezTo>
                        <a:cubicBezTo>
                          <a:pt x="20537" y="10414"/>
                          <a:pt x="26291" y="8073"/>
                          <a:pt x="33700" y="8073"/>
                        </a:cubicBezTo>
                        <a:cubicBezTo>
                          <a:pt x="37007" y="8073"/>
                          <a:pt x="40281" y="8516"/>
                          <a:pt x="43522" y="9402"/>
                        </a:cubicBezTo>
                        <a:cubicBezTo>
                          <a:pt x="46763" y="10289"/>
                          <a:pt x="49998" y="11625"/>
                          <a:pt x="53226" y="13411"/>
                        </a:cubicBezTo>
                        <a:lnTo>
                          <a:pt x="53226" y="2854"/>
                        </a:lnTo>
                        <a:cubicBezTo>
                          <a:pt x="50038" y="1372"/>
                          <a:pt x="46737" y="261"/>
                          <a:pt x="43324" y="-480"/>
                        </a:cubicBezTo>
                        <a:cubicBezTo>
                          <a:pt x="39924" y="-1234"/>
                          <a:pt x="36299" y="-1611"/>
                          <a:pt x="32449" y="-1611"/>
                        </a:cubicBezTo>
                        <a:cubicBezTo>
                          <a:pt x="21985" y="-1611"/>
                          <a:pt x="13671" y="1677"/>
                          <a:pt x="7506" y="8251"/>
                        </a:cubicBezTo>
                        <a:cubicBezTo>
                          <a:pt x="1354" y="14826"/>
                          <a:pt x="-1721" y="23696"/>
                          <a:pt x="-1721" y="34862"/>
                        </a:cubicBezTo>
                        <a:cubicBezTo>
                          <a:pt x="-1721" y="46186"/>
                          <a:pt x="1387" y="55089"/>
                          <a:pt x="7605" y="61572"/>
                        </a:cubicBezTo>
                        <a:cubicBezTo>
                          <a:pt x="13836" y="68067"/>
                          <a:pt x="22369" y="71315"/>
                          <a:pt x="33204" y="71315"/>
                        </a:cubicBezTo>
                        <a:cubicBezTo>
                          <a:pt x="36709" y="71315"/>
                          <a:pt x="40136" y="70951"/>
                          <a:pt x="43483" y="70223"/>
                        </a:cubicBezTo>
                        <a:cubicBezTo>
                          <a:pt x="46830" y="69509"/>
                          <a:pt x="50077" y="68431"/>
                          <a:pt x="53226" y="66989"/>
                        </a:cubicBezTo>
                        <a:close/>
                      </a:path>
                    </a:pathLst>
                  </a:custGeom>
                  <a:solidFill>
                    <a:srgbClr val="000000"/>
                  </a:solidFill>
                  <a:ln w="20" cap="flat">
                    <a:noFill/>
                    <a:prstDash val="solid"/>
                    <a:round/>
                  </a:ln>
                </p:spPr>
                <p:txBody>
                  <a:bodyPr rtlCol="0" anchor="ctr"/>
                  <a:lstStyle/>
                  <a:p>
                    <a:endParaRPr lang="en-US"/>
                  </a:p>
                </p:txBody>
              </p:sp>
              <p:sp>
                <p:nvSpPr>
                  <p:cNvPr id="156" name="フリーフォーム: 図形 155">
                    <a:extLst>
                      <a:ext uri="{FF2B5EF4-FFF2-40B4-BE49-F238E27FC236}">
                        <a16:creationId xmlns:a16="http://schemas.microsoft.com/office/drawing/2014/main" id="{F02160E7-BBF3-2D28-48BD-07570915E6BF}"/>
                      </a:ext>
                    </a:extLst>
                  </p:cNvPr>
                  <p:cNvSpPr/>
                  <p:nvPr/>
                </p:nvSpPr>
                <p:spPr>
                  <a:xfrm rot="-5400000" flipV="1">
                    <a:off x="-8580352" y="3201305"/>
                    <a:ext cx="67587" cy="95865"/>
                  </a:xfrm>
                  <a:custGeom>
                    <a:avLst/>
                    <a:gdLst>
                      <a:gd name="connsiteX0" fmla="*/ 35191 w 67587"/>
                      <a:gd name="connsiteY0" fmla="*/ 19008 h 95865"/>
                      <a:gd name="connsiteX1" fmla="*/ 25765 w 67587"/>
                      <a:gd name="connsiteY1" fmla="*/ 2836 h 95865"/>
                      <a:gd name="connsiteX2" fmla="*/ 13502 w 67587"/>
                      <a:gd name="connsiteY2" fmla="*/ -955 h 95865"/>
                      <a:gd name="connsiteX3" fmla="*/ 4374 w 67587"/>
                      <a:gd name="connsiteY3" fmla="*/ -955 h 95865"/>
                      <a:gd name="connsiteX4" fmla="*/ 4374 w 67587"/>
                      <a:gd name="connsiteY4" fmla="*/ 8590 h 95865"/>
                      <a:gd name="connsiteX5" fmla="*/ 11081 w 67587"/>
                      <a:gd name="connsiteY5" fmla="*/ 8590 h 95865"/>
                      <a:gd name="connsiteX6" fmla="*/ 18384 w 67587"/>
                      <a:gd name="connsiteY6" fmla="*/ 10833 h 95865"/>
                      <a:gd name="connsiteX7" fmla="*/ 24158 w 67587"/>
                      <a:gd name="connsiteY7" fmla="*/ 21370 h 95865"/>
                      <a:gd name="connsiteX8" fmla="*/ 26202 w 67587"/>
                      <a:gd name="connsiteY8" fmla="*/ 26569 h 95865"/>
                      <a:gd name="connsiteX9" fmla="*/ -1877 w 67587"/>
                      <a:gd name="connsiteY9" fmla="*/ 94911 h 95865"/>
                      <a:gd name="connsiteX10" fmla="*/ 10208 w 67587"/>
                      <a:gd name="connsiteY10" fmla="*/ 94911 h 95865"/>
                      <a:gd name="connsiteX11" fmla="*/ 31917 w 67587"/>
                      <a:gd name="connsiteY11" fmla="*/ 40598 h 95865"/>
                      <a:gd name="connsiteX12" fmla="*/ 53626 w 67587"/>
                      <a:gd name="connsiteY12" fmla="*/ 94911 h 95865"/>
                      <a:gd name="connsiteX13" fmla="*/ 65711 w 67587"/>
                      <a:gd name="connsiteY13" fmla="*/ 94911 h 95865"/>
                      <a:gd name="connsiteX14" fmla="*/ 35191 w 67587"/>
                      <a:gd name="connsiteY14" fmla="*/ 19008 h 958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7587" h="95865">
                        <a:moveTo>
                          <a:pt x="35191" y="19008"/>
                        </a:moveTo>
                        <a:cubicBezTo>
                          <a:pt x="31976" y="10740"/>
                          <a:pt x="28835" y="5349"/>
                          <a:pt x="25765" y="2836"/>
                        </a:cubicBezTo>
                        <a:cubicBezTo>
                          <a:pt x="22709" y="309"/>
                          <a:pt x="18622" y="-955"/>
                          <a:pt x="13502" y="-955"/>
                        </a:cubicBezTo>
                        <a:lnTo>
                          <a:pt x="4374" y="-955"/>
                        </a:lnTo>
                        <a:lnTo>
                          <a:pt x="4374" y="8590"/>
                        </a:lnTo>
                        <a:lnTo>
                          <a:pt x="11081" y="8590"/>
                        </a:lnTo>
                        <a:cubicBezTo>
                          <a:pt x="14216" y="8590"/>
                          <a:pt x="16651" y="9338"/>
                          <a:pt x="18384" y="10833"/>
                        </a:cubicBezTo>
                        <a:cubicBezTo>
                          <a:pt x="20130" y="12314"/>
                          <a:pt x="22055" y="15827"/>
                          <a:pt x="24158" y="21370"/>
                        </a:cubicBezTo>
                        <a:lnTo>
                          <a:pt x="26202" y="26569"/>
                        </a:lnTo>
                        <a:lnTo>
                          <a:pt x="-1877" y="94911"/>
                        </a:lnTo>
                        <a:lnTo>
                          <a:pt x="10208" y="94911"/>
                        </a:lnTo>
                        <a:lnTo>
                          <a:pt x="31917" y="40598"/>
                        </a:lnTo>
                        <a:lnTo>
                          <a:pt x="53626" y="94911"/>
                        </a:lnTo>
                        <a:lnTo>
                          <a:pt x="65711" y="94911"/>
                        </a:lnTo>
                        <a:lnTo>
                          <a:pt x="35191" y="19008"/>
                        </a:lnTo>
                        <a:close/>
                      </a:path>
                    </a:pathLst>
                  </a:custGeom>
                  <a:solidFill>
                    <a:srgbClr val="000000"/>
                  </a:solidFill>
                  <a:ln w="20" cap="flat">
                    <a:noFill/>
                    <a:prstDash val="solid"/>
                    <a:round/>
                  </a:ln>
                </p:spPr>
                <p:txBody>
                  <a:bodyPr rtlCol="0" anchor="ctr"/>
                  <a:lstStyle/>
                  <a:p>
                    <a:endParaRPr lang="en-US"/>
                  </a:p>
                </p:txBody>
              </p:sp>
              <p:sp>
                <p:nvSpPr>
                  <p:cNvPr id="157" name="フリーフォーム: 図形 156">
                    <a:extLst>
                      <a:ext uri="{FF2B5EF4-FFF2-40B4-BE49-F238E27FC236}">
                        <a16:creationId xmlns:a16="http://schemas.microsoft.com/office/drawing/2014/main" id="{F1DB38D1-9E80-7EBF-996E-CDC241CEBB46}"/>
                      </a:ext>
                    </a:extLst>
                  </p:cNvPr>
                  <p:cNvSpPr/>
                  <p:nvPr/>
                </p:nvSpPr>
                <p:spPr>
                  <a:xfrm rot="-5400000" flipV="1">
                    <a:off x="-8525037" y="3211664"/>
                    <a:ext cx="12700" cy="12700"/>
                  </a:xfrm>
                  <a:custGeom>
                    <a:avLst/>
                    <a:gdLst/>
                    <a:ahLst/>
                    <a:cxnLst/>
                    <a:rect l="l" t="t" r="r" b="b"/>
                    <a:pathLst>
                      <a:path w="12700" h="12700"/>
                    </a:pathLst>
                  </a:custGeom>
                  <a:solidFill>
                    <a:srgbClr val="000000"/>
                  </a:solidFill>
                  <a:ln w="20" cap="flat">
                    <a:noFill/>
                    <a:prstDash val="solid"/>
                    <a:round/>
                  </a:ln>
                </p:spPr>
                <p:txBody>
                  <a:bodyPr rtlCol="0" anchor="ctr"/>
                  <a:lstStyle/>
                  <a:p>
                    <a:endParaRPr lang="en-US"/>
                  </a:p>
                </p:txBody>
              </p:sp>
              <p:sp>
                <p:nvSpPr>
                  <p:cNvPr id="158" name="フリーフォーム: 図形 157">
                    <a:extLst>
                      <a:ext uri="{FF2B5EF4-FFF2-40B4-BE49-F238E27FC236}">
                        <a16:creationId xmlns:a16="http://schemas.microsoft.com/office/drawing/2014/main" id="{C9264DE4-E144-BE2F-D7FC-02E16D88CE63}"/>
                      </a:ext>
                    </a:extLst>
                  </p:cNvPr>
                  <p:cNvSpPr/>
                  <p:nvPr/>
                </p:nvSpPr>
                <p:spPr>
                  <a:xfrm rot="-5400000" flipV="1">
                    <a:off x="-8607399" y="3076470"/>
                    <a:ext cx="72132" cy="92590"/>
                  </a:xfrm>
                  <a:custGeom>
                    <a:avLst/>
                    <a:gdLst>
                      <a:gd name="connsiteX0" fmla="*/ 41484 w 72132"/>
                      <a:gd name="connsiteY0" fmla="*/ 41205 h 92590"/>
                      <a:gd name="connsiteX1" fmla="*/ 49322 w 72132"/>
                      <a:gd name="connsiteY1" fmla="*/ 35371 h 92590"/>
                      <a:gd name="connsiteX2" fmla="*/ 56982 w 72132"/>
                      <a:gd name="connsiteY2" fmla="*/ 23088 h 92590"/>
                      <a:gd name="connsiteX3" fmla="*/ 69702 w 72132"/>
                      <a:gd name="connsiteY3" fmla="*/ -2213 h 92590"/>
                      <a:gd name="connsiteX4" fmla="*/ 56228 w 72132"/>
                      <a:gd name="connsiteY4" fmla="*/ -2213 h 92590"/>
                      <a:gd name="connsiteX5" fmla="*/ 44401 w 72132"/>
                      <a:gd name="connsiteY5" fmla="*/ 21540 h 92590"/>
                      <a:gd name="connsiteX6" fmla="*/ 35491 w 72132"/>
                      <a:gd name="connsiteY6" fmla="*/ 33883 h 92590"/>
                      <a:gd name="connsiteX7" fmla="*/ 23743 w 72132"/>
                      <a:gd name="connsiteY7" fmla="*/ 36919 h 92590"/>
                      <a:gd name="connsiteX8" fmla="*/ 10091 w 72132"/>
                      <a:gd name="connsiteY8" fmla="*/ 36919 h 92590"/>
                      <a:gd name="connsiteX9" fmla="*/ 10091 w 72132"/>
                      <a:gd name="connsiteY9" fmla="*/ -2213 h 92590"/>
                      <a:gd name="connsiteX10" fmla="*/ -2430 w 72132"/>
                      <a:gd name="connsiteY10" fmla="*/ -2213 h 92590"/>
                      <a:gd name="connsiteX11" fmla="*/ -2430 w 72132"/>
                      <a:gd name="connsiteY11" fmla="*/ 90378 h 92590"/>
                      <a:gd name="connsiteX12" fmla="*/ 25847 w 72132"/>
                      <a:gd name="connsiteY12" fmla="*/ 90378 h 92590"/>
                      <a:gd name="connsiteX13" fmla="*/ 49540 w 72132"/>
                      <a:gd name="connsiteY13" fmla="*/ 83730 h 92590"/>
                      <a:gd name="connsiteX14" fmla="*/ 57359 w 72132"/>
                      <a:gd name="connsiteY14" fmla="*/ 63708 h 92590"/>
                      <a:gd name="connsiteX15" fmla="*/ 53291 w 72132"/>
                      <a:gd name="connsiteY15" fmla="*/ 49182 h 92590"/>
                      <a:gd name="connsiteX16" fmla="*/ 41484 w 72132"/>
                      <a:gd name="connsiteY16" fmla="*/ 41205 h 92590"/>
                      <a:gd name="connsiteX17" fmla="*/ 10091 w 72132"/>
                      <a:gd name="connsiteY17" fmla="*/ 80079 h 92590"/>
                      <a:gd name="connsiteX18" fmla="*/ 10091 w 72132"/>
                      <a:gd name="connsiteY18" fmla="*/ 47218 h 92590"/>
                      <a:gd name="connsiteX19" fmla="*/ 25847 w 72132"/>
                      <a:gd name="connsiteY19" fmla="*/ 47218 h 92590"/>
                      <a:gd name="connsiteX20" fmla="*/ 39519 w 72132"/>
                      <a:gd name="connsiteY20" fmla="*/ 51405 h 92590"/>
                      <a:gd name="connsiteX21" fmla="*/ 44143 w 72132"/>
                      <a:gd name="connsiteY21" fmla="*/ 63708 h 92590"/>
                      <a:gd name="connsiteX22" fmla="*/ 39519 w 72132"/>
                      <a:gd name="connsiteY22" fmla="*/ 75951 h 92590"/>
                      <a:gd name="connsiteX23" fmla="*/ 25847 w 72132"/>
                      <a:gd name="connsiteY23" fmla="*/ 80079 h 92590"/>
                      <a:gd name="connsiteX24" fmla="*/ 10091 w 72132"/>
                      <a:gd name="connsiteY24" fmla="*/ 80079 h 92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2132" h="92590">
                        <a:moveTo>
                          <a:pt x="41484" y="41205"/>
                        </a:moveTo>
                        <a:cubicBezTo>
                          <a:pt x="44169" y="40292"/>
                          <a:pt x="46782" y="38348"/>
                          <a:pt x="49322" y="35371"/>
                        </a:cubicBezTo>
                        <a:cubicBezTo>
                          <a:pt x="51862" y="32394"/>
                          <a:pt x="54415" y="28300"/>
                          <a:pt x="56982" y="23088"/>
                        </a:cubicBezTo>
                        <a:lnTo>
                          <a:pt x="69702" y="-2213"/>
                        </a:lnTo>
                        <a:lnTo>
                          <a:pt x="56228" y="-2213"/>
                        </a:lnTo>
                        <a:lnTo>
                          <a:pt x="44401" y="21540"/>
                        </a:lnTo>
                        <a:cubicBezTo>
                          <a:pt x="41332" y="27744"/>
                          <a:pt x="38362" y="31859"/>
                          <a:pt x="35491" y="33883"/>
                        </a:cubicBezTo>
                        <a:cubicBezTo>
                          <a:pt x="32620" y="35907"/>
                          <a:pt x="28704" y="36919"/>
                          <a:pt x="23743" y="36919"/>
                        </a:cubicBezTo>
                        <a:lnTo>
                          <a:pt x="10091" y="36919"/>
                        </a:lnTo>
                        <a:lnTo>
                          <a:pt x="10091" y="-2213"/>
                        </a:lnTo>
                        <a:lnTo>
                          <a:pt x="-2430" y="-2213"/>
                        </a:lnTo>
                        <a:lnTo>
                          <a:pt x="-2430" y="90378"/>
                        </a:lnTo>
                        <a:lnTo>
                          <a:pt x="25847" y="90378"/>
                        </a:lnTo>
                        <a:cubicBezTo>
                          <a:pt x="36430" y="90378"/>
                          <a:pt x="44328" y="88162"/>
                          <a:pt x="49540" y="83730"/>
                        </a:cubicBezTo>
                        <a:cubicBezTo>
                          <a:pt x="54753" y="79312"/>
                          <a:pt x="57359" y="72638"/>
                          <a:pt x="57359" y="63708"/>
                        </a:cubicBezTo>
                        <a:cubicBezTo>
                          <a:pt x="57359" y="57874"/>
                          <a:pt x="56003" y="53032"/>
                          <a:pt x="53291" y="49182"/>
                        </a:cubicBezTo>
                        <a:cubicBezTo>
                          <a:pt x="50579" y="45346"/>
                          <a:pt x="46643" y="42687"/>
                          <a:pt x="41484" y="41205"/>
                        </a:cubicBezTo>
                        <a:close/>
                        <a:moveTo>
                          <a:pt x="10091" y="80079"/>
                        </a:moveTo>
                        <a:lnTo>
                          <a:pt x="10091" y="47218"/>
                        </a:lnTo>
                        <a:lnTo>
                          <a:pt x="25847" y="47218"/>
                        </a:lnTo>
                        <a:cubicBezTo>
                          <a:pt x="31879" y="47218"/>
                          <a:pt x="36437" y="48613"/>
                          <a:pt x="39519" y="51405"/>
                        </a:cubicBezTo>
                        <a:cubicBezTo>
                          <a:pt x="42602" y="54196"/>
                          <a:pt x="44143" y="58297"/>
                          <a:pt x="44143" y="63708"/>
                        </a:cubicBezTo>
                        <a:cubicBezTo>
                          <a:pt x="44143" y="69119"/>
                          <a:pt x="42602" y="73200"/>
                          <a:pt x="39519" y="75951"/>
                        </a:cubicBezTo>
                        <a:cubicBezTo>
                          <a:pt x="36437" y="78703"/>
                          <a:pt x="31879" y="80079"/>
                          <a:pt x="25847" y="80079"/>
                        </a:cubicBezTo>
                        <a:lnTo>
                          <a:pt x="10091" y="80079"/>
                        </a:lnTo>
                        <a:close/>
                      </a:path>
                    </a:pathLst>
                  </a:custGeom>
                  <a:solidFill>
                    <a:srgbClr val="000000"/>
                  </a:solidFill>
                  <a:ln w="20" cap="flat">
                    <a:noFill/>
                    <a:prstDash val="solid"/>
                    <a:round/>
                  </a:ln>
                </p:spPr>
                <p:txBody>
                  <a:bodyPr rtlCol="0" anchor="ctr"/>
                  <a:lstStyle/>
                  <a:p>
                    <a:endParaRPr lang="en-US"/>
                  </a:p>
                </p:txBody>
              </p:sp>
              <p:sp>
                <p:nvSpPr>
                  <p:cNvPr id="159" name="フリーフォーム: 図形 158">
                    <a:extLst>
                      <a:ext uri="{FF2B5EF4-FFF2-40B4-BE49-F238E27FC236}">
                        <a16:creationId xmlns:a16="http://schemas.microsoft.com/office/drawing/2014/main" id="{BB933D6E-078A-077F-34DF-781A6C0B9B2A}"/>
                      </a:ext>
                    </a:extLst>
                  </p:cNvPr>
                  <p:cNvSpPr/>
                  <p:nvPr/>
                </p:nvSpPr>
                <p:spPr>
                  <a:xfrm rot="-5400000" flipV="1">
                    <a:off x="-8589033" y="3012487"/>
                    <a:ext cx="58677" cy="72925"/>
                  </a:xfrm>
                  <a:custGeom>
                    <a:avLst/>
                    <a:gdLst>
                      <a:gd name="connsiteX0" fmla="*/ 34071 w 58677"/>
                      <a:gd name="connsiteY0" fmla="*/ 35079 h 72925"/>
                      <a:gd name="connsiteX1" fmla="*/ 14902 w 58677"/>
                      <a:gd name="connsiteY1" fmla="*/ 31923 h 72925"/>
                      <a:gd name="connsiteX2" fmla="*/ 9564 w 58677"/>
                      <a:gd name="connsiteY2" fmla="*/ 21128 h 72925"/>
                      <a:gd name="connsiteX3" fmla="*/ 13572 w 58677"/>
                      <a:gd name="connsiteY3" fmla="*/ 11484 h 72925"/>
                      <a:gd name="connsiteX4" fmla="*/ 24446 w 58677"/>
                      <a:gd name="connsiteY4" fmla="*/ 7932 h 72925"/>
                      <a:gd name="connsiteX5" fmla="*/ 39686 w 58677"/>
                      <a:gd name="connsiteY5" fmla="*/ 14659 h 72925"/>
                      <a:gd name="connsiteX6" fmla="*/ 45421 w 58677"/>
                      <a:gd name="connsiteY6" fmla="*/ 32539 h 72925"/>
                      <a:gd name="connsiteX7" fmla="*/ 45421 w 58677"/>
                      <a:gd name="connsiteY7" fmla="*/ 35079 h 72925"/>
                      <a:gd name="connsiteX8" fmla="*/ 34071 w 58677"/>
                      <a:gd name="connsiteY8" fmla="*/ 35079 h 72925"/>
                      <a:gd name="connsiteX9" fmla="*/ 56831 w 58677"/>
                      <a:gd name="connsiteY9" fmla="*/ 39801 h 72925"/>
                      <a:gd name="connsiteX10" fmla="*/ 56831 w 58677"/>
                      <a:gd name="connsiteY10" fmla="*/ 173 h 72925"/>
                      <a:gd name="connsiteX11" fmla="*/ 45421 w 58677"/>
                      <a:gd name="connsiteY11" fmla="*/ 173 h 72925"/>
                      <a:gd name="connsiteX12" fmla="*/ 45421 w 58677"/>
                      <a:gd name="connsiteY12" fmla="*/ 10710 h 72925"/>
                      <a:gd name="connsiteX13" fmla="*/ 35678 w 58677"/>
                      <a:gd name="connsiteY13" fmla="*/ 1384 h 72925"/>
                      <a:gd name="connsiteX14" fmla="*/ 21410 w 58677"/>
                      <a:gd name="connsiteY14" fmla="*/ -1632 h 72925"/>
                      <a:gd name="connsiteX15" fmla="*/ 4444 w 58677"/>
                      <a:gd name="connsiteY15" fmla="*/ 4360 h 72925"/>
                      <a:gd name="connsiteX16" fmla="*/ -1846 w 58677"/>
                      <a:gd name="connsiteY16" fmla="*/ 20394 h 72925"/>
                      <a:gd name="connsiteX17" fmla="*/ 5992 w 58677"/>
                      <a:gd name="connsiteY17" fmla="*/ 38055 h 72925"/>
                      <a:gd name="connsiteX18" fmla="*/ 29407 w 58677"/>
                      <a:gd name="connsiteY18" fmla="*/ 44008 h 72925"/>
                      <a:gd name="connsiteX19" fmla="*/ 45421 w 58677"/>
                      <a:gd name="connsiteY19" fmla="*/ 44008 h 72925"/>
                      <a:gd name="connsiteX20" fmla="*/ 45421 w 58677"/>
                      <a:gd name="connsiteY20" fmla="*/ 45139 h 72925"/>
                      <a:gd name="connsiteX21" fmla="*/ 40242 w 58677"/>
                      <a:gd name="connsiteY21" fmla="*/ 57323 h 72925"/>
                      <a:gd name="connsiteX22" fmla="*/ 25697 w 58677"/>
                      <a:gd name="connsiteY22" fmla="*/ 61629 h 72925"/>
                      <a:gd name="connsiteX23" fmla="*/ 14088 w 58677"/>
                      <a:gd name="connsiteY23" fmla="*/ 60201 h 72925"/>
                      <a:gd name="connsiteX24" fmla="*/ 3253 w 58677"/>
                      <a:gd name="connsiteY24" fmla="*/ 55914 h 72925"/>
                      <a:gd name="connsiteX25" fmla="*/ 3253 w 58677"/>
                      <a:gd name="connsiteY25" fmla="*/ 66471 h 72925"/>
                      <a:gd name="connsiteX26" fmla="*/ 15398 w 58677"/>
                      <a:gd name="connsiteY26" fmla="*/ 70083 h 72925"/>
                      <a:gd name="connsiteX27" fmla="*/ 26867 w 58677"/>
                      <a:gd name="connsiteY27" fmla="*/ 71293 h 72925"/>
                      <a:gd name="connsiteX28" fmla="*/ 49390 w 58677"/>
                      <a:gd name="connsiteY28" fmla="*/ 63475 h 72925"/>
                      <a:gd name="connsiteX29" fmla="*/ 56831 w 58677"/>
                      <a:gd name="connsiteY29" fmla="*/ 39801 h 7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8677" h="72925">
                        <a:moveTo>
                          <a:pt x="34071" y="35079"/>
                        </a:moveTo>
                        <a:cubicBezTo>
                          <a:pt x="24850" y="35079"/>
                          <a:pt x="18460" y="34027"/>
                          <a:pt x="14902" y="31923"/>
                        </a:cubicBezTo>
                        <a:cubicBezTo>
                          <a:pt x="11343" y="29820"/>
                          <a:pt x="9564" y="26222"/>
                          <a:pt x="9564" y="21128"/>
                        </a:cubicBezTo>
                        <a:cubicBezTo>
                          <a:pt x="9564" y="17080"/>
                          <a:pt x="10900" y="13866"/>
                          <a:pt x="13572" y="11484"/>
                        </a:cubicBezTo>
                        <a:cubicBezTo>
                          <a:pt x="16244" y="9116"/>
                          <a:pt x="19869" y="7932"/>
                          <a:pt x="24446" y="7932"/>
                        </a:cubicBezTo>
                        <a:cubicBezTo>
                          <a:pt x="30783" y="7932"/>
                          <a:pt x="35863" y="10175"/>
                          <a:pt x="39686" y="14659"/>
                        </a:cubicBezTo>
                        <a:cubicBezTo>
                          <a:pt x="43510" y="19144"/>
                          <a:pt x="45421" y="25104"/>
                          <a:pt x="45421" y="32539"/>
                        </a:cubicBezTo>
                        <a:lnTo>
                          <a:pt x="45421" y="35079"/>
                        </a:lnTo>
                        <a:lnTo>
                          <a:pt x="34071" y="35079"/>
                        </a:lnTo>
                        <a:close/>
                        <a:moveTo>
                          <a:pt x="56831" y="39801"/>
                        </a:moveTo>
                        <a:lnTo>
                          <a:pt x="56831" y="173"/>
                        </a:lnTo>
                        <a:lnTo>
                          <a:pt x="45421" y="173"/>
                        </a:lnTo>
                        <a:lnTo>
                          <a:pt x="45421" y="10710"/>
                        </a:lnTo>
                        <a:cubicBezTo>
                          <a:pt x="42815" y="6504"/>
                          <a:pt x="39567" y="3395"/>
                          <a:pt x="35678" y="1384"/>
                        </a:cubicBezTo>
                        <a:cubicBezTo>
                          <a:pt x="31789" y="-627"/>
                          <a:pt x="27033" y="-1632"/>
                          <a:pt x="21410" y="-1632"/>
                        </a:cubicBezTo>
                        <a:cubicBezTo>
                          <a:pt x="14306" y="-1632"/>
                          <a:pt x="8651" y="365"/>
                          <a:pt x="4444" y="4360"/>
                        </a:cubicBezTo>
                        <a:cubicBezTo>
                          <a:pt x="250" y="8356"/>
                          <a:pt x="-1846" y="13700"/>
                          <a:pt x="-1846" y="20394"/>
                        </a:cubicBezTo>
                        <a:cubicBezTo>
                          <a:pt x="-1846" y="28199"/>
                          <a:pt x="766" y="34086"/>
                          <a:pt x="5992" y="38055"/>
                        </a:cubicBezTo>
                        <a:cubicBezTo>
                          <a:pt x="11231" y="42024"/>
                          <a:pt x="19036" y="44008"/>
                          <a:pt x="29407" y="44008"/>
                        </a:cubicBezTo>
                        <a:lnTo>
                          <a:pt x="45421" y="44008"/>
                        </a:lnTo>
                        <a:lnTo>
                          <a:pt x="45421" y="45139"/>
                        </a:lnTo>
                        <a:cubicBezTo>
                          <a:pt x="45421" y="50391"/>
                          <a:pt x="43695" y="54453"/>
                          <a:pt x="40242" y="57323"/>
                        </a:cubicBezTo>
                        <a:cubicBezTo>
                          <a:pt x="36789" y="60194"/>
                          <a:pt x="31941" y="61629"/>
                          <a:pt x="25697" y="61629"/>
                        </a:cubicBezTo>
                        <a:cubicBezTo>
                          <a:pt x="21728" y="61629"/>
                          <a:pt x="17858" y="61153"/>
                          <a:pt x="14088" y="60201"/>
                        </a:cubicBezTo>
                        <a:cubicBezTo>
                          <a:pt x="10331" y="59248"/>
                          <a:pt x="6719" y="57819"/>
                          <a:pt x="3253" y="55914"/>
                        </a:cubicBezTo>
                        <a:lnTo>
                          <a:pt x="3253" y="66471"/>
                        </a:lnTo>
                        <a:cubicBezTo>
                          <a:pt x="7421" y="68085"/>
                          <a:pt x="11469" y="69289"/>
                          <a:pt x="15398" y="70083"/>
                        </a:cubicBezTo>
                        <a:cubicBezTo>
                          <a:pt x="19327" y="70890"/>
                          <a:pt x="23150" y="71293"/>
                          <a:pt x="26867" y="71293"/>
                        </a:cubicBezTo>
                        <a:cubicBezTo>
                          <a:pt x="36922" y="71293"/>
                          <a:pt x="44429" y="68687"/>
                          <a:pt x="49390" y="63475"/>
                        </a:cubicBezTo>
                        <a:cubicBezTo>
                          <a:pt x="54351" y="58276"/>
                          <a:pt x="56831" y="50385"/>
                          <a:pt x="56831" y="39801"/>
                        </a:cubicBezTo>
                        <a:close/>
                      </a:path>
                    </a:pathLst>
                  </a:custGeom>
                  <a:solidFill>
                    <a:srgbClr val="000000"/>
                  </a:solidFill>
                  <a:ln w="20" cap="flat">
                    <a:noFill/>
                    <a:prstDash val="solid"/>
                    <a:round/>
                  </a:ln>
                </p:spPr>
                <p:txBody>
                  <a:bodyPr rtlCol="0" anchor="ctr"/>
                  <a:lstStyle/>
                  <a:p>
                    <a:endParaRPr lang="en-US"/>
                  </a:p>
                </p:txBody>
              </p:sp>
              <p:sp>
                <p:nvSpPr>
                  <p:cNvPr id="160" name="フリーフォーム: 図形 159">
                    <a:extLst>
                      <a:ext uri="{FF2B5EF4-FFF2-40B4-BE49-F238E27FC236}">
                        <a16:creationId xmlns:a16="http://schemas.microsoft.com/office/drawing/2014/main" id="{E5087E20-D823-6C99-8E8A-58D02E001280}"/>
                      </a:ext>
                    </a:extLst>
                  </p:cNvPr>
                  <p:cNvSpPr/>
                  <p:nvPr/>
                </p:nvSpPr>
                <p:spPr>
                  <a:xfrm rot="-5400000" flipV="1">
                    <a:off x="-8591295" y="2938413"/>
                    <a:ext cx="43338" cy="89177"/>
                  </a:xfrm>
                  <a:custGeom>
                    <a:avLst/>
                    <a:gdLst>
                      <a:gd name="connsiteX0" fmla="*/ 18595 w 43338"/>
                      <a:gd name="connsiteY0" fmla="*/ 87040 h 89177"/>
                      <a:gd name="connsiteX1" fmla="*/ 18595 w 43338"/>
                      <a:gd name="connsiteY1" fmla="*/ 67315 h 89177"/>
                      <a:gd name="connsiteX2" fmla="*/ 42090 w 43338"/>
                      <a:gd name="connsiteY2" fmla="*/ 67315 h 89177"/>
                      <a:gd name="connsiteX3" fmla="*/ 42090 w 43338"/>
                      <a:gd name="connsiteY3" fmla="*/ 58445 h 89177"/>
                      <a:gd name="connsiteX4" fmla="*/ 18595 w 43338"/>
                      <a:gd name="connsiteY4" fmla="*/ 58445 h 89177"/>
                      <a:gd name="connsiteX5" fmla="*/ 18595 w 43338"/>
                      <a:gd name="connsiteY5" fmla="*/ 20742 h 89177"/>
                      <a:gd name="connsiteX6" fmla="*/ 20917 w 43338"/>
                      <a:gd name="connsiteY6" fmla="*/ 9828 h 89177"/>
                      <a:gd name="connsiteX7" fmla="*/ 30382 w 43338"/>
                      <a:gd name="connsiteY7" fmla="*/ 7407 h 89177"/>
                      <a:gd name="connsiteX8" fmla="*/ 42090 w 43338"/>
                      <a:gd name="connsiteY8" fmla="*/ 7407 h 89177"/>
                      <a:gd name="connsiteX9" fmla="*/ 42090 w 43338"/>
                      <a:gd name="connsiteY9" fmla="*/ -2138 h 89177"/>
                      <a:gd name="connsiteX10" fmla="*/ 30382 w 43338"/>
                      <a:gd name="connsiteY10" fmla="*/ -2138 h 89177"/>
                      <a:gd name="connsiteX11" fmla="*/ 12146 w 43338"/>
                      <a:gd name="connsiteY11" fmla="*/ 2783 h 89177"/>
                      <a:gd name="connsiteX12" fmla="*/ 7125 w 43338"/>
                      <a:gd name="connsiteY12" fmla="*/ 20742 h 89177"/>
                      <a:gd name="connsiteX13" fmla="*/ 7125 w 43338"/>
                      <a:gd name="connsiteY13" fmla="*/ 58445 h 89177"/>
                      <a:gd name="connsiteX14" fmla="*/ -1249 w 43338"/>
                      <a:gd name="connsiteY14" fmla="*/ 58445 h 89177"/>
                      <a:gd name="connsiteX15" fmla="*/ -1249 w 43338"/>
                      <a:gd name="connsiteY15" fmla="*/ 67315 h 89177"/>
                      <a:gd name="connsiteX16" fmla="*/ 7125 w 43338"/>
                      <a:gd name="connsiteY16" fmla="*/ 67315 h 89177"/>
                      <a:gd name="connsiteX17" fmla="*/ 7125 w 43338"/>
                      <a:gd name="connsiteY17" fmla="*/ 87040 h 89177"/>
                      <a:gd name="connsiteX18" fmla="*/ 18595 w 43338"/>
                      <a:gd name="connsiteY18" fmla="*/ 87040 h 89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3338" h="89177">
                        <a:moveTo>
                          <a:pt x="18595" y="87040"/>
                        </a:moveTo>
                        <a:lnTo>
                          <a:pt x="18595" y="67315"/>
                        </a:lnTo>
                        <a:lnTo>
                          <a:pt x="42090" y="67315"/>
                        </a:lnTo>
                        <a:lnTo>
                          <a:pt x="42090" y="58445"/>
                        </a:lnTo>
                        <a:lnTo>
                          <a:pt x="18595" y="58445"/>
                        </a:lnTo>
                        <a:lnTo>
                          <a:pt x="18595" y="20742"/>
                        </a:lnTo>
                        <a:cubicBezTo>
                          <a:pt x="18595" y="15080"/>
                          <a:pt x="19369" y="11442"/>
                          <a:pt x="20917" y="9828"/>
                        </a:cubicBezTo>
                        <a:cubicBezTo>
                          <a:pt x="22465" y="8214"/>
                          <a:pt x="25620" y="7407"/>
                          <a:pt x="30382" y="7407"/>
                        </a:cubicBezTo>
                        <a:lnTo>
                          <a:pt x="42090" y="7407"/>
                        </a:lnTo>
                        <a:lnTo>
                          <a:pt x="42090" y="-2138"/>
                        </a:lnTo>
                        <a:lnTo>
                          <a:pt x="30382" y="-2138"/>
                        </a:lnTo>
                        <a:cubicBezTo>
                          <a:pt x="21572" y="-2138"/>
                          <a:pt x="15493" y="-498"/>
                          <a:pt x="12146" y="2783"/>
                        </a:cubicBezTo>
                        <a:cubicBezTo>
                          <a:pt x="8799" y="6077"/>
                          <a:pt x="7125" y="12063"/>
                          <a:pt x="7125" y="20742"/>
                        </a:cubicBezTo>
                        <a:lnTo>
                          <a:pt x="7125" y="58445"/>
                        </a:lnTo>
                        <a:lnTo>
                          <a:pt x="-1249" y="58445"/>
                        </a:lnTo>
                        <a:lnTo>
                          <a:pt x="-1249" y="67315"/>
                        </a:lnTo>
                        <a:lnTo>
                          <a:pt x="7125" y="67315"/>
                        </a:lnTo>
                        <a:lnTo>
                          <a:pt x="7125" y="87040"/>
                        </a:lnTo>
                        <a:lnTo>
                          <a:pt x="18595" y="87040"/>
                        </a:lnTo>
                        <a:close/>
                      </a:path>
                    </a:pathLst>
                  </a:custGeom>
                  <a:solidFill>
                    <a:srgbClr val="000000"/>
                  </a:solidFill>
                  <a:ln w="20" cap="flat">
                    <a:noFill/>
                    <a:prstDash val="solid"/>
                    <a:round/>
                  </a:ln>
                </p:spPr>
                <p:txBody>
                  <a:bodyPr rtlCol="0" anchor="ctr"/>
                  <a:lstStyle/>
                  <a:p>
                    <a:endParaRPr lang="en-US"/>
                  </a:p>
                </p:txBody>
              </p:sp>
              <p:sp>
                <p:nvSpPr>
                  <p:cNvPr id="161" name="フリーフォーム: 図形 160">
                    <a:extLst>
                      <a:ext uri="{FF2B5EF4-FFF2-40B4-BE49-F238E27FC236}">
                        <a16:creationId xmlns:a16="http://schemas.microsoft.com/office/drawing/2014/main" id="{40A71770-5925-2B47-98D8-717D79FF4FC9}"/>
                      </a:ext>
                    </a:extLst>
                  </p:cNvPr>
                  <p:cNvSpPr/>
                  <p:nvPr/>
                </p:nvSpPr>
                <p:spPr>
                  <a:xfrm rot="-5400000" flipV="1">
                    <a:off x="-8578992" y="2892368"/>
                    <a:ext cx="11410" cy="96500"/>
                  </a:xfrm>
                  <a:custGeom>
                    <a:avLst/>
                    <a:gdLst>
                      <a:gd name="connsiteX0" fmla="*/ -876 w 11410"/>
                      <a:gd name="connsiteY0" fmla="*/ 67127 h 96500"/>
                      <a:gd name="connsiteX1" fmla="*/ 10535 w 11410"/>
                      <a:gd name="connsiteY1" fmla="*/ 67127 h 96500"/>
                      <a:gd name="connsiteX2" fmla="*/ 10535 w 11410"/>
                      <a:gd name="connsiteY2" fmla="*/ -2326 h 96500"/>
                      <a:gd name="connsiteX3" fmla="*/ -876 w 11410"/>
                      <a:gd name="connsiteY3" fmla="*/ -2326 h 96500"/>
                      <a:gd name="connsiteX4" fmla="*/ -876 w 11410"/>
                      <a:gd name="connsiteY4" fmla="*/ 67127 h 96500"/>
                      <a:gd name="connsiteX5" fmla="*/ -876 w 11410"/>
                      <a:gd name="connsiteY5" fmla="*/ 94174 h 96500"/>
                      <a:gd name="connsiteX6" fmla="*/ 10535 w 11410"/>
                      <a:gd name="connsiteY6" fmla="*/ 94174 h 96500"/>
                      <a:gd name="connsiteX7" fmla="*/ 10535 w 11410"/>
                      <a:gd name="connsiteY7" fmla="*/ 79708 h 96500"/>
                      <a:gd name="connsiteX8" fmla="*/ -876 w 11410"/>
                      <a:gd name="connsiteY8" fmla="*/ 79708 h 96500"/>
                      <a:gd name="connsiteX9" fmla="*/ -876 w 11410"/>
                      <a:gd name="connsiteY9" fmla="*/ 94174 h 96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410" h="96500">
                        <a:moveTo>
                          <a:pt x="-876" y="67127"/>
                        </a:moveTo>
                        <a:lnTo>
                          <a:pt x="10535" y="67127"/>
                        </a:lnTo>
                        <a:lnTo>
                          <a:pt x="10535" y="-2326"/>
                        </a:lnTo>
                        <a:lnTo>
                          <a:pt x="-876" y="-2326"/>
                        </a:lnTo>
                        <a:lnTo>
                          <a:pt x="-876" y="67127"/>
                        </a:lnTo>
                        <a:close/>
                        <a:moveTo>
                          <a:pt x="-876" y="94174"/>
                        </a:moveTo>
                        <a:lnTo>
                          <a:pt x="10535" y="94174"/>
                        </a:lnTo>
                        <a:lnTo>
                          <a:pt x="10535" y="79708"/>
                        </a:lnTo>
                        <a:lnTo>
                          <a:pt x="-876" y="79708"/>
                        </a:lnTo>
                        <a:lnTo>
                          <a:pt x="-876" y="94174"/>
                        </a:lnTo>
                        <a:close/>
                      </a:path>
                    </a:pathLst>
                  </a:custGeom>
                  <a:solidFill>
                    <a:srgbClr val="000000"/>
                  </a:solidFill>
                  <a:ln w="20" cap="flat">
                    <a:noFill/>
                    <a:prstDash val="solid"/>
                    <a:round/>
                  </a:ln>
                </p:spPr>
                <p:txBody>
                  <a:bodyPr rtlCol="0" anchor="ctr"/>
                  <a:lstStyle/>
                  <a:p>
                    <a:endParaRPr lang="en-US"/>
                  </a:p>
                </p:txBody>
              </p:sp>
              <p:sp>
                <p:nvSpPr>
                  <p:cNvPr id="162" name="フリーフォーム: 図形 161">
                    <a:extLst>
                      <a:ext uri="{FF2B5EF4-FFF2-40B4-BE49-F238E27FC236}">
                        <a16:creationId xmlns:a16="http://schemas.microsoft.com/office/drawing/2014/main" id="{A5292312-A711-44BA-D7C6-DC8C83146281}"/>
                      </a:ext>
                    </a:extLst>
                  </p:cNvPr>
                  <p:cNvSpPr/>
                  <p:nvPr/>
                </p:nvSpPr>
                <p:spPr>
                  <a:xfrm rot="-5400000" flipV="1">
                    <a:off x="-8591573" y="2847658"/>
                    <a:ext cx="63757" cy="72925"/>
                  </a:xfrm>
                  <a:custGeom>
                    <a:avLst/>
                    <a:gdLst>
                      <a:gd name="connsiteX0" fmla="*/ 29926 w 63757"/>
                      <a:gd name="connsiteY0" fmla="*/ 61616 h 72925"/>
                      <a:gd name="connsiteX1" fmla="*/ 15420 w 63757"/>
                      <a:gd name="connsiteY1" fmla="*/ 54453 h 72925"/>
                      <a:gd name="connsiteX2" fmla="*/ 10082 w 63757"/>
                      <a:gd name="connsiteY2" fmla="*/ 34827 h 72925"/>
                      <a:gd name="connsiteX3" fmla="*/ 15380 w 63757"/>
                      <a:gd name="connsiteY3" fmla="*/ 15202 h 72925"/>
                      <a:gd name="connsiteX4" fmla="*/ 29926 w 63757"/>
                      <a:gd name="connsiteY4" fmla="*/ 8038 h 72925"/>
                      <a:gd name="connsiteX5" fmla="*/ 44372 w 63757"/>
                      <a:gd name="connsiteY5" fmla="*/ 15222 h 72925"/>
                      <a:gd name="connsiteX6" fmla="*/ 49710 w 63757"/>
                      <a:gd name="connsiteY6" fmla="*/ 34827 h 72925"/>
                      <a:gd name="connsiteX7" fmla="*/ 44372 w 63757"/>
                      <a:gd name="connsiteY7" fmla="*/ 54393 h 72925"/>
                      <a:gd name="connsiteX8" fmla="*/ 29926 w 63757"/>
                      <a:gd name="connsiteY8" fmla="*/ 61616 h 72925"/>
                      <a:gd name="connsiteX9" fmla="*/ 29926 w 63757"/>
                      <a:gd name="connsiteY9" fmla="*/ 71280 h 72925"/>
                      <a:gd name="connsiteX10" fmla="*/ 53302 w 63757"/>
                      <a:gd name="connsiteY10" fmla="*/ 61597 h 72925"/>
                      <a:gd name="connsiteX11" fmla="*/ 61814 w 63757"/>
                      <a:gd name="connsiteY11" fmla="*/ 34827 h 72925"/>
                      <a:gd name="connsiteX12" fmla="*/ 53302 w 63757"/>
                      <a:gd name="connsiteY12" fmla="*/ 8058 h 72925"/>
                      <a:gd name="connsiteX13" fmla="*/ 29926 w 63757"/>
                      <a:gd name="connsiteY13" fmla="*/ -1645 h 72925"/>
                      <a:gd name="connsiteX14" fmla="*/ 6510 w 63757"/>
                      <a:gd name="connsiteY14" fmla="*/ 8058 h 72925"/>
                      <a:gd name="connsiteX15" fmla="*/ -1943 w 63757"/>
                      <a:gd name="connsiteY15" fmla="*/ 34827 h 72925"/>
                      <a:gd name="connsiteX16" fmla="*/ 6510 w 63757"/>
                      <a:gd name="connsiteY16" fmla="*/ 61597 h 72925"/>
                      <a:gd name="connsiteX17" fmla="*/ 29926 w 63757"/>
                      <a:gd name="connsiteY17" fmla="*/ 71280 h 7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3757" h="72925">
                        <a:moveTo>
                          <a:pt x="29926" y="61616"/>
                        </a:moveTo>
                        <a:cubicBezTo>
                          <a:pt x="23814" y="61616"/>
                          <a:pt x="18978" y="59229"/>
                          <a:pt x="15420" y="54453"/>
                        </a:cubicBezTo>
                        <a:cubicBezTo>
                          <a:pt x="11861" y="49677"/>
                          <a:pt x="10082" y="43135"/>
                          <a:pt x="10082" y="34827"/>
                        </a:cubicBezTo>
                        <a:cubicBezTo>
                          <a:pt x="10082" y="26519"/>
                          <a:pt x="11848" y="19978"/>
                          <a:pt x="15380" y="15202"/>
                        </a:cubicBezTo>
                        <a:cubicBezTo>
                          <a:pt x="18926" y="10426"/>
                          <a:pt x="23774" y="8038"/>
                          <a:pt x="29926" y="8038"/>
                        </a:cubicBezTo>
                        <a:cubicBezTo>
                          <a:pt x="36011" y="8038"/>
                          <a:pt x="40826" y="10433"/>
                          <a:pt x="44372" y="15222"/>
                        </a:cubicBezTo>
                        <a:cubicBezTo>
                          <a:pt x="47930" y="20024"/>
                          <a:pt x="49710" y="26559"/>
                          <a:pt x="49710" y="34827"/>
                        </a:cubicBezTo>
                        <a:cubicBezTo>
                          <a:pt x="49710" y="43056"/>
                          <a:pt x="47930" y="49578"/>
                          <a:pt x="44372" y="54393"/>
                        </a:cubicBezTo>
                        <a:cubicBezTo>
                          <a:pt x="40826" y="59209"/>
                          <a:pt x="36011" y="61616"/>
                          <a:pt x="29926" y="61616"/>
                        </a:cubicBezTo>
                        <a:close/>
                        <a:moveTo>
                          <a:pt x="29926" y="71280"/>
                        </a:moveTo>
                        <a:cubicBezTo>
                          <a:pt x="39847" y="71280"/>
                          <a:pt x="47639" y="68052"/>
                          <a:pt x="53302" y="61597"/>
                        </a:cubicBezTo>
                        <a:cubicBezTo>
                          <a:pt x="58977" y="55154"/>
                          <a:pt x="61814" y="46231"/>
                          <a:pt x="61814" y="34827"/>
                        </a:cubicBezTo>
                        <a:cubicBezTo>
                          <a:pt x="61814" y="23463"/>
                          <a:pt x="58977" y="14540"/>
                          <a:pt x="53302" y="8058"/>
                        </a:cubicBezTo>
                        <a:cubicBezTo>
                          <a:pt x="47639" y="1589"/>
                          <a:pt x="39847" y="-1645"/>
                          <a:pt x="29926" y="-1645"/>
                        </a:cubicBezTo>
                        <a:cubicBezTo>
                          <a:pt x="19964" y="-1645"/>
                          <a:pt x="12159" y="1589"/>
                          <a:pt x="6510" y="8058"/>
                        </a:cubicBezTo>
                        <a:cubicBezTo>
                          <a:pt x="874" y="14540"/>
                          <a:pt x="-1943" y="23463"/>
                          <a:pt x="-1943" y="34827"/>
                        </a:cubicBezTo>
                        <a:cubicBezTo>
                          <a:pt x="-1943" y="46231"/>
                          <a:pt x="874" y="55154"/>
                          <a:pt x="6510" y="61597"/>
                        </a:cubicBezTo>
                        <a:cubicBezTo>
                          <a:pt x="12159" y="68052"/>
                          <a:pt x="19964" y="71280"/>
                          <a:pt x="29926" y="71280"/>
                        </a:cubicBezTo>
                        <a:close/>
                      </a:path>
                    </a:pathLst>
                  </a:custGeom>
                  <a:solidFill>
                    <a:srgbClr val="000000"/>
                  </a:solidFill>
                  <a:ln w="20" cap="flat">
                    <a:noFill/>
                    <a:prstDash val="solid"/>
                    <a:round/>
                  </a:ln>
                </p:spPr>
                <p:txBody>
                  <a:bodyPr rtlCol="0" anchor="ctr"/>
                  <a:lstStyle/>
                  <a:p>
                    <a:endParaRPr lang="en-US"/>
                  </a:p>
                </p:txBody>
              </p:sp>
              <p:sp>
                <p:nvSpPr>
                  <p:cNvPr id="163" name="フリーフォーム: 図形 162">
                    <a:extLst>
                      <a:ext uri="{FF2B5EF4-FFF2-40B4-BE49-F238E27FC236}">
                        <a16:creationId xmlns:a16="http://schemas.microsoft.com/office/drawing/2014/main" id="{3D67D30D-FD23-80A1-BD4C-C74ED8FD7C23}"/>
                      </a:ext>
                    </a:extLst>
                  </p:cNvPr>
                  <p:cNvSpPr/>
                  <p:nvPr/>
                </p:nvSpPr>
                <p:spPr>
                  <a:xfrm rot="-5400000" flipV="1">
                    <a:off x="-8525037" y="2845308"/>
                    <a:ext cx="12700" cy="12700"/>
                  </a:xfrm>
                  <a:custGeom>
                    <a:avLst/>
                    <a:gdLst/>
                    <a:ahLst/>
                    <a:cxnLst/>
                    <a:rect l="l" t="t" r="r" b="b"/>
                    <a:pathLst>
                      <a:path w="12700" h="12700"/>
                    </a:pathLst>
                  </a:custGeom>
                  <a:solidFill>
                    <a:srgbClr val="000000"/>
                  </a:solidFill>
                  <a:ln w="20" cap="flat">
                    <a:noFill/>
                    <a:prstDash val="solid"/>
                    <a:round/>
                  </a:ln>
                </p:spPr>
                <p:txBody>
                  <a:bodyPr rtlCol="0" anchor="ctr"/>
                  <a:lstStyle/>
                  <a:p>
                    <a:endParaRPr lang="en-US"/>
                  </a:p>
                </p:txBody>
              </p:sp>
              <p:sp>
                <p:nvSpPr>
                  <p:cNvPr id="164" name="フリーフォーム: 図形 163">
                    <a:extLst>
                      <a:ext uri="{FF2B5EF4-FFF2-40B4-BE49-F238E27FC236}">
                        <a16:creationId xmlns:a16="http://schemas.microsoft.com/office/drawing/2014/main" id="{EC580775-95C0-C4C9-6061-DB04ECBA7E99}"/>
                      </a:ext>
                    </a:extLst>
                  </p:cNvPr>
                  <p:cNvSpPr/>
                  <p:nvPr/>
                </p:nvSpPr>
                <p:spPr>
                  <a:xfrm rot="-5400000" flipV="1">
                    <a:off x="-8578060" y="2724250"/>
                    <a:ext cx="26292" cy="113248"/>
                  </a:xfrm>
                  <a:custGeom>
                    <a:avLst/>
                    <a:gdLst>
                      <a:gd name="connsiteX0" fmla="*/ -1197 w 26292"/>
                      <a:gd name="connsiteY0" fmla="*/ 111332 h 113248"/>
                      <a:gd name="connsiteX1" fmla="*/ 25096 w 26292"/>
                      <a:gd name="connsiteY1" fmla="*/ 111332 h 113248"/>
                      <a:gd name="connsiteX2" fmla="*/ 25096 w 26292"/>
                      <a:gd name="connsiteY2" fmla="*/ 102462 h 113248"/>
                      <a:gd name="connsiteX3" fmla="*/ 10213 w 26292"/>
                      <a:gd name="connsiteY3" fmla="*/ 102462 h 113248"/>
                      <a:gd name="connsiteX4" fmla="*/ 10213 w 26292"/>
                      <a:gd name="connsiteY4" fmla="*/ 6954 h 113248"/>
                      <a:gd name="connsiteX5" fmla="*/ 25096 w 26292"/>
                      <a:gd name="connsiteY5" fmla="*/ 6954 h 113248"/>
                      <a:gd name="connsiteX6" fmla="*/ 25096 w 26292"/>
                      <a:gd name="connsiteY6" fmla="*/ -1917 h 113248"/>
                      <a:gd name="connsiteX7" fmla="*/ -1197 w 26292"/>
                      <a:gd name="connsiteY7" fmla="*/ -1917 h 113248"/>
                      <a:gd name="connsiteX8" fmla="*/ -1197 w 26292"/>
                      <a:gd name="connsiteY8" fmla="*/ 111332 h 11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292" h="113248">
                        <a:moveTo>
                          <a:pt x="-1197" y="111332"/>
                        </a:moveTo>
                        <a:lnTo>
                          <a:pt x="25096" y="111332"/>
                        </a:lnTo>
                        <a:lnTo>
                          <a:pt x="25096" y="102462"/>
                        </a:lnTo>
                        <a:lnTo>
                          <a:pt x="10213" y="102462"/>
                        </a:lnTo>
                        <a:lnTo>
                          <a:pt x="10213" y="6954"/>
                        </a:lnTo>
                        <a:lnTo>
                          <a:pt x="25096" y="6954"/>
                        </a:lnTo>
                        <a:lnTo>
                          <a:pt x="25096" y="-1917"/>
                        </a:lnTo>
                        <a:lnTo>
                          <a:pt x="-1197" y="-1917"/>
                        </a:lnTo>
                        <a:lnTo>
                          <a:pt x="-1197" y="111332"/>
                        </a:lnTo>
                        <a:close/>
                      </a:path>
                    </a:pathLst>
                  </a:custGeom>
                  <a:solidFill>
                    <a:srgbClr val="000000"/>
                  </a:solidFill>
                  <a:ln w="20" cap="flat">
                    <a:noFill/>
                    <a:prstDash val="solid"/>
                    <a:round/>
                  </a:ln>
                </p:spPr>
                <p:txBody>
                  <a:bodyPr rtlCol="0" anchor="ctr"/>
                  <a:lstStyle/>
                  <a:p>
                    <a:endParaRPr lang="en-US"/>
                  </a:p>
                </p:txBody>
              </p:sp>
              <p:sp>
                <p:nvSpPr>
                  <p:cNvPr id="165" name="フリーフォーム: 図形 164">
                    <a:extLst>
                      <a:ext uri="{FF2B5EF4-FFF2-40B4-BE49-F238E27FC236}">
                        <a16:creationId xmlns:a16="http://schemas.microsoft.com/office/drawing/2014/main" id="{F034BC29-C92C-44BB-6FED-C30CECAB4A61}"/>
                      </a:ext>
                    </a:extLst>
                  </p:cNvPr>
                  <p:cNvSpPr/>
                  <p:nvPr/>
                </p:nvSpPr>
                <p:spPr>
                  <a:xfrm rot="-5400000" flipV="1">
                    <a:off x="-8576532" y="2727392"/>
                    <a:ext cx="33416" cy="10160"/>
                  </a:xfrm>
                  <a:custGeom>
                    <a:avLst/>
                    <a:gdLst>
                      <a:gd name="connsiteX0" fmla="*/ -1139 w 33416"/>
                      <a:gd name="connsiteY0" fmla="*/ 8496 h 10160"/>
                      <a:gd name="connsiteX1" fmla="*/ 32278 w 33416"/>
                      <a:gd name="connsiteY1" fmla="*/ 8496 h 10160"/>
                      <a:gd name="connsiteX2" fmla="*/ 32278 w 33416"/>
                      <a:gd name="connsiteY2" fmla="*/ -1664 h 10160"/>
                      <a:gd name="connsiteX3" fmla="*/ -1139 w 33416"/>
                      <a:gd name="connsiteY3" fmla="*/ -1664 h 10160"/>
                      <a:gd name="connsiteX4" fmla="*/ -1139 w 33416"/>
                      <a:gd name="connsiteY4" fmla="*/ 8496 h 101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416" h="10160">
                        <a:moveTo>
                          <a:pt x="-1139" y="8496"/>
                        </a:moveTo>
                        <a:lnTo>
                          <a:pt x="32278" y="8496"/>
                        </a:lnTo>
                        <a:lnTo>
                          <a:pt x="32278" y="-1664"/>
                        </a:lnTo>
                        <a:lnTo>
                          <a:pt x="-1139" y="-1664"/>
                        </a:lnTo>
                        <a:lnTo>
                          <a:pt x="-1139" y="8496"/>
                        </a:lnTo>
                        <a:close/>
                      </a:path>
                    </a:pathLst>
                  </a:custGeom>
                  <a:solidFill>
                    <a:srgbClr val="000000"/>
                  </a:solidFill>
                  <a:ln w="20" cap="flat">
                    <a:noFill/>
                    <a:prstDash val="solid"/>
                    <a:round/>
                  </a:ln>
                </p:spPr>
                <p:txBody>
                  <a:bodyPr rtlCol="0" anchor="ctr"/>
                  <a:lstStyle/>
                  <a:p>
                    <a:endParaRPr lang="en-US"/>
                  </a:p>
                </p:txBody>
              </p:sp>
              <p:sp>
                <p:nvSpPr>
                  <p:cNvPr id="166" name="フリーフォーム: 図形 165">
                    <a:extLst>
                      <a:ext uri="{FF2B5EF4-FFF2-40B4-BE49-F238E27FC236}">
                        <a16:creationId xmlns:a16="http://schemas.microsoft.com/office/drawing/2014/main" id="{2F2304AC-4A78-B508-158C-8E20ED2BE8CC}"/>
                      </a:ext>
                    </a:extLst>
                  </p:cNvPr>
                  <p:cNvSpPr/>
                  <p:nvPr/>
                </p:nvSpPr>
                <p:spPr>
                  <a:xfrm rot="-5400000" flipV="1">
                    <a:off x="-8578060" y="2627444"/>
                    <a:ext cx="26292" cy="113248"/>
                  </a:xfrm>
                  <a:custGeom>
                    <a:avLst/>
                    <a:gdLst>
                      <a:gd name="connsiteX0" fmla="*/ 25024 w 26292"/>
                      <a:gd name="connsiteY0" fmla="*/ 111324 h 113248"/>
                      <a:gd name="connsiteX1" fmla="*/ 25024 w 26292"/>
                      <a:gd name="connsiteY1" fmla="*/ -1924 h 113248"/>
                      <a:gd name="connsiteX2" fmla="*/ -1269 w 26292"/>
                      <a:gd name="connsiteY2" fmla="*/ -1924 h 113248"/>
                      <a:gd name="connsiteX3" fmla="*/ -1269 w 26292"/>
                      <a:gd name="connsiteY3" fmla="*/ 6946 h 113248"/>
                      <a:gd name="connsiteX4" fmla="*/ 13554 w 26292"/>
                      <a:gd name="connsiteY4" fmla="*/ 6946 h 113248"/>
                      <a:gd name="connsiteX5" fmla="*/ 13554 w 26292"/>
                      <a:gd name="connsiteY5" fmla="*/ 102454 h 113248"/>
                      <a:gd name="connsiteX6" fmla="*/ -1269 w 26292"/>
                      <a:gd name="connsiteY6" fmla="*/ 102454 h 113248"/>
                      <a:gd name="connsiteX7" fmla="*/ -1269 w 26292"/>
                      <a:gd name="connsiteY7" fmla="*/ 111324 h 113248"/>
                      <a:gd name="connsiteX8" fmla="*/ 25024 w 26292"/>
                      <a:gd name="connsiteY8" fmla="*/ 111324 h 11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292" h="113248">
                        <a:moveTo>
                          <a:pt x="25024" y="111324"/>
                        </a:moveTo>
                        <a:lnTo>
                          <a:pt x="25024" y="-1924"/>
                        </a:lnTo>
                        <a:lnTo>
                          <a:pt x="-1269" y="-1924"/>
                        </a:lnTo>
                        <a:lnTo>
                          <a:pt x="-1269" y="6946"/>
                        </a:lnTo>
                        <a:lnTo>
                          <a:pt x="13554" y="6946"/>
                        </a:lnTo>
                        <a:lnTo>
                          <a:pt x="13554" y="102454"/>
                        </a:lnTo>
                        <a:lnTo>
                          <a:pt x="-1269" y="102454"/>
                        </a:lnTo>
                        <a:lnTo>
                          <a:pt x="-1269" y="111324"/>
                        </a:lnTo>
                        <a:lnTo>
                          <a:pt x="25024" y="111324"/>
                        </a:lnTo>
                        <a:close/>
                      </a:path>
                    </a:pathLst>
                  </a:custGeom>
                  <a:solidFill>
                    <a:srgbClr val="000000"/>
                  </a:solidFill>
                  <a:ln w="20" cap="flat">
                    <a:noFill/>
                    <a:prstDash val="solid"/>
                    <a:round/>
                  </a:ln>
                </p:spPr>
                <p:txBody>
                  <a:bodyPr rtlCol="0" anchor="ctr"/>
                  <a:lstStyle/>
                  <a:p>
                    <a:endParaRPr lang="en-US"/>
                  </a:p>
                </p:txBody>
              </p:sp>
            </p:grpSp>
          </p:grpSp>
          <p:grpSp>
            <p:nvGrpSpPr>
              <p:cNvPr id="167" name="グラフィックス 6">
                <a:extLst>
                  <a:ext uri="{FF2B5EF4-FFF2-40B4-BE49-F238E27FC236}">
                    <a16:creationId xmlns:a16="http://schemas.microsoft.com/office/drawing/2014/main" id="{F4D25E73-516B-7540-F54E-06AFEDFE668B}"/>
                  </a:ext>
                </a:extLst>
              </p:cNvPr>
              <p:cNvGrpSpPr/>
              <p:nvPr/>
            </p:nvGrpSpPr>
            <p:grpSpPr>
              <a:xfrm>
                <a:off x="1368899" y="3428339"/>
                <a:ext cx="7649791" cy="569417"/>
                <a:chOff x="1368899" y="3428339"/>
                <a:chExt cx="7649791" cy="569417"/>
              </a:xfrm>
              <a:noFill/>
            </p:grpSpPr>
            <p:sp>
              <p:nvSpPr>
                <p:cNvPr id="168" name="フリーフォーム: 図形 167">
                  <a:extLst>
                    <a:ext uri="{FF2B5EF4-FFF2-40B4-BE49-F238E27FC236}">
                      <a16:creationId xmlns:a16="http://schemas.microsoft.com/office/drawing/2014/main" id="{D698E94D-01D5-071F-72BB-5C02B2950EF4}"/>
                    </a:ext>
                  </a:extLst>
                </p:cNvPr>
                <p:cNvSpPr/>
                <p:nvPr/>
              </p:nvSpPr>
              <p:spPr>
                <a:xfrm>
                  <a:off x="1368899" y="3883190"/>
                  <a:ext cx="12700" cy="114566"/>
                </a:xfrm>
                <a:custGeom>
                  <a:avLst/>
                  <a:gdLst>
                    <a:gd name="connsiteX0" fmla="*/ 0 w 12700"/>
                    <a:gd name="connsiteY0" fmla="*/ 114567 h 114566"/>
                    <a:gd name="connsiteX1" fmla="*/ 0 w 12700"/>
                    <a:gd name="connsiteY1" fmla="*/ 0 h 114566"/>
                  </a:gdLst>
                  <a:ahLst/>
                  <a:cxnLst>
                    <a:cxn ang="0">
                      <a:pos x="connsiteX0" y="connsiteY0"/>
                    </a:cxn>
                    <a:cxn ang="0">
                      <a:pos x="connsiteX1" y="connsiteY1"/>
                    </a:cxn>
                  </a:cxnLst>
                  <a:rect l="l" t="t" r="r" b="b"/>
                  <a:pathLst>
                    <a:path w="12700" h="114566">
                      <a:moveTo>
                        <a:pt x="0" y="114567"/>
                      </a:moveTo>
                      <a:lnTo>
                        <a:pt x="0" y="0"/>
                      </a:lnTo>
                    </a:path>
                  </a:pathLst>
                </a:custGeom>
                <a:noFill/>
                <a:ln w="12700" cap="flat">
                  <a:solidFill>
                    <a:srgbClr val="FF0000"/>
                  </a:solidFill>
                  <a:prstDash val="solid"/>
                  <a:round/>
                </a:ln>
              </p:spPr>
              <p:txBody>
                <a:bodyPr rtlCol="0" anchor="ctr"/>
                <a:lstStyle/>
                <a:p>
                  <a:endParaRPr lang="en-US"/>
                </a:p>
              </p:txBody>
            </p:sp>
            <p:sp>
              <p:nvSpPr>
                <p:cNvPr id="169" name="フリーフォーム: 図形 168">
                  <a:extLst>
                    <a:ext uri="{FF2B5EF4-FFF2-40B4-BE49-F238E27FC236}">
                      <a16:creationId xmlns:a16="http://schemas.microsoft.com/office/drawing/2014/main" id="{35EA362F-6F55-1F0B-4802-8B673B4BC45C}"/>
                    </a:ext>
                  </a:extLst>
                </p:cNvPr>
                <p:cNvSpPr/>
                <p:nvPr/>
              </p:nvSpPr>
              <p:spPr>
                <a:xfrm>
                  <a:off x="2063179" y="3747897"/>
                  <a:ext cx="12700" cy="119278"/>
                </a:xfrm>
                <a:custGeom>
                  <a:avLst/>
                  <a:gdLst>
                    <a:gd name="connsiteX0" fmla="*/ 0 w 12700"/>
                    <a:gd name="connsiteY0" fmla="*/ 119278 h 119278"/>
                    <a:gd name="connsiteX1" fmla="*/ 0 w 12700"/>
                    <a:gd name="connsiteY1" fmla="*/ 0 h 119278"/>
                  </a:gdLst>
                  <a:ahLst/>
                  <a:cxnLst>
                    <a:cxn ang="0">
                      <a:pos x="connsiteX0" y="connsiteY0"/>
                    </a:cxn>
                    <a:cxn ang="0">
                      <a:pos x="connsiteX1" y="connsiteY1"/>
                    </a:cxn>
                  </a:cxnLst>
                  <a:rect l="l" t="t" r="r" b="b"/>
                  <a:pathLst>
                    <a:path w="12700" h="119278">
                      <a:moveTo>
                        <a:pt x="0" y="119278"/>
                      </a:moveTo>
                      <a:lnTo>
                        <a:pt x="0" y="0"/>
                      </a:lnTo>
                    </a:path>
                  </a:pathLst>
                </a:custGeom>
                <a:noFill/>
                <a:ln w="12700" cap="flat">
                  <a:solidFill>
                    <a:srgbClr val="FF0000"/>
                  </a:solidFill>
                  <a:prstDash val="solid"/>
                  <a:round/>
                </a:ln>
              </p:spPr>
              <p:txBody>
                <a:bodyPr rtlCol="0" anchor="ctr"/>
                <a:lstStyle/>
                <a:p>
                  <a:endParaRPr lang="en-US"/>
                </a:p>
              </p:txBody>
            </p:sp>
            <p:sp>
              <p:nvSpPr>
                <p:cNvPr id="170" name="フリーフォーム: 図形 169">
                  <a:extLst>
                    <a:ext uri="{FF2B5EF4-FFF2-40B4-BE49-F238E27FC236}">
                      <a16:creationId xmlns:a16="http://schemas.microsoft.com/office/drawing/2014/main" id="{7440C408-3A78-6AB9-49BF-3C5AE6407F27}"/>
                    </a:ext>
                  </a:extLst>
                </p:cNvPr>
                <p:cNvSpPr/>
                <p:nvPr/>
              </p:nvSpPr>
              <p:spPr>
                <a:xfrm>
                  <a:off x="2757463" y="3723284"/>
                  <a:ext cx="12700" cy="101879"/>
                </a:xfrm>
                <a:custGeom>
                  <a:avLst/>
                  <a:gdLst>
                    <a:gd name="connsiteX0" fmla="*/ 0 w 12700"/>
                    <a:gd name="connsiteY0" fmla="*/ 101879 h 101879"/>
                    <a:gd name="connsiteX1" fmla="*/ 0 w 12700"/>
                    <a:gd name="connsiteY1" fmla="*/ 0 h 101879"/>
                  </a:gdLst>
                  <a:ahLst/>
                  <a:cxnLst>
                    <a:cxn ang="0">
                      <a:pos x="connsiteX0" y="connsiteY0"/>
                    </a:cxn>
                    <a:cxn ang="0">
                      <a:pos x="connsiteX1" y="connsiteY1"/>
                    </a:cxn>
                  </a:cxnLst>
                  <a:rect l="l" t="t" r="r" b="b"/>
                  <a:pathLst>
                    <a:path w="12700" h="101879">
                      <a:moveTo>
                        <a:pt x="0" y="101879"/>
                      </a:moveTo>
                      <a:lnTo>
                        <a:pt x="0" y="0"/>
                      </a:lnTo>
                    </a:path>
                  </a:pathLst>
                </a:custGeom>
                <a:noFill/>
                <a:ln w="12700" cap="flat">
                  <a:solidFill>
                    <a:srgbClr val="FF0000"/>
                  </a:solidFill>
                  <a:prstDash val="solid"/>
                  <a:round/>
                </a:ln>
              </p:spPr>
              <p:txBody>
                <a:bodyPr rtlCol="0" anchor="ctr"/>
                <a:lstStyle/>
                <a:p>
                  <a:endParaRPr lang="en-US"/>
                </a:p>
              </p:txBody>
            </p:sp>
            <p:sp>
              <p:nvSpPr>
                <p:cNvPr id="171" name="フリーフォーム: 図形 170">
                  <a:extLst>
                    <a:ext uri="{FF2B5EF4-FFF2-40B4-BE49-F238E27FC236}">
                      <a16:creationId xmlns:a16="http://schemas.microsoft.com/office/drawing/2014/main" id="{3F3996FA-B327-84EA-B4C2-F2BC1DBC56A4}"/>
                    </a:ext>
                  </a:extLst>
                </p:cNvPr>
                <p:cNvSpPr/>
                <p:nvPr/>
              </p:nvSpPr>
              <p:spPr>
                <a:xfrm>
                  <a:off x="3451746" y="3606253"/>
                  <a:ext cx="12700" cy="103720"/>
                </a:xfrm>
                <a:custGeom>
                  <a:avLst/>
                  <a:gdLst>
                    <a:gd name="connsiteX0" fmla="*/ 0 w 12700"/>
                    <a:gd name="connsiteY0" fmla="*/ 103721 h 103720"/>
                    <a:gd name="connsiteX1" fmla="*/ 0 w 12700"/>
                    <a:gd name="connsiteY1" fmla="*/ 0 h 103720"/>
                  </a:gdLst>
                  <a:ahLst/>
                  <a:cxnLst>
                    <a:cxn ang="0">
                      <a:pos x="connsiteX0" y="connsiteY0"/>
                    </a:cxn>
                    <a:cxn ang="0">
                      <a:pos x="connsiteX1" y="connsiteY1"/>
                    </a:cxn>
                  </a:cxnLst>
                  <a:rect l="l" t="t" r="r" b="b"/>
                  <a:pathLst>
                    <a:path w="12700" h="103720">
                      <a:moveTo>
                        <a:pt x="0" y="103721"/>
                      </a:moveTo>
                      <a:lnTo>
                        <a:pt x="0" y="0"/>
                      </a:lnTo>
                    </a:path>
                  </a:pathLst>
                </a:custGeom>
                <a:noFill/>
                <a:ln w="12700" cap="flat">
                  <a:solidFill>
                    <a:srgbClr val="FF0000"/>
                  </a:solidFill>
                  <a:prstDash val="solid"/>
                  <a:round/>
                </a:ln>
              </p:spPr>
              <p:txBody>
                <a:bodyPr rtlCol="0" anchor="ctr"/>
                <a:lstStyle/>
                <a:p>
                  <a:endParaRPr lang="en-US"/>
                </a:p>
              </p:txBody>
            </p:sp>
            <p:sp>
              <p:nvSpPr>
                <p:cNvPr id="172" name="フリーフォーム: 図形 171">
                  <a:extLst>
                    <a:ext uri="{FF2B5EF4-FFF2-40B4-BE49-F238E27FC236}">
                      <a16:creationId xmlns:a16="http://schemas.microsoft.com/office/drawing/2014/main" id="{E49A8A2D-5A1B-C3B6-5C0E-40EB4C28F3D7}"/>
                    </a:ext>
                  </a:extLst>
                </p:cNvPr>
                <p:cNvSpPr/>
                <p:nvPr/>
              </p:nvSpPr>
              <p:spPr>
                <a:xfrm>
                  <a:off x="4146017" y="3554044"/>
                  <a:ext cx="12700" cy="106680"/>
                </a:xfrm>
                <a:custGeom>
                  <a:avLst/>
                  <a:gdLst>
                    <a:gd name="connsiteX0" fmla="*/ 0 w 12700"/>
                    <a:gd name="connsiteY0" fmla="*/ 106680 h 106680"/>
                    <a:gd name="connsiteX1" fmla="*/ 0 w 12700"/>
                    <a:gd name="connsiteY1" fmla="*/ 0 h 106680"/>
                  </a:gdLst>
                  <a:ahLst/>
                  <a:cxnLst>
                    <a:cxn ang="0">
                      <a:pos x="connsiteX0" y="connsiteY0"/>
                    </a:cxn>
                    <a:cxn ang="0">
                      <a:pos x="connsiteX1" y="connsiteY1"/>
                    </a:cxn>
                  </a:cxnLst>
                  <a:rect l="l" t="t" r="r" b="b"/>
                  <a:pathLst>
                    <a:path w="12700" h="106680">
                      <a:moveTo>
                        <a:pt x="0" y="106680"/>
                      </a:moveTo>
                      <a:lnTo>
                        <a:pt x="0" y="0"/>
                      </a:lnTo>
                    </a:path>
                  </a:pathLst>
                </a:custGeom>
                <a:noFill/>
                <a:ln w="12700" cap="flat">
                  <a:solidFill>
                    <a:srgbClr val="FF0000"/>
                  </a:solidFill>
                  <a:prstDash val="solid"/>
                  <a:round/>
                </a:ln>
              </p:spPr>
              <p:txBody>
                <a:bodyPr rtlCol="0" anchor="ctr"/>
                <a:lstStyle/>
                <a:p>
                  <a:endParaRPr lang="en-US"/>
                </a:p>
              </p:txBody>
            </p:sp>
            <p:sp>
              <p:nvSpPr>
                <p:cNvPr id="173" name="フリーフォーム: 図形 172">
                  <a:extLst>
                    <a:ext uri="{FF2B5EF4-FFF2-40B4-BE49-F238E27FC236}">
                      <a16:creationId xmlns:a16="http://schemas.microsoft.com/office/drawing/2014/main" id="{20CD1F04-3556-109E-DB91-522788B88AA0}"/>
                    </a:ext>
                  </a:extLst>
                </p:cNvPr>
                <p:cNvSpPr/>
                <p:nvPr/>
              </p:nvSpPr>
              <p:spPr>
                <a:xfrm>
                  <a:off x="4840301" y="3452037"/>
                  <a:ext cx="12700" cy="110566"/>
                </a:xfrm>
                <a:custGeom>
                  <a:avLst/>
                  <a:gdLst>
                    <a:gd name="connsiteX0" fmla="*/ 0 w 12700"/>
                    <a:gd name="connsiteY0" fmla="*/ 110566 h 110566"/>
                    <a:gd name="connsiteX1" fmla="*/ 0 w 12700"/>
                    <a:gd name="connsiteY1" fmla="*/ 0 h 110566"/>
                  </a:gdLst>
                  <a:ahLst/>
                  <a:cxnLst>
                    <a:cxn ang="0">
                      <a:pos x="connsiteX0" y="connsiteY0"/>
                    </a:cxn>
                    <a:cxn ang="0">
                      <a:pos x="connsiteX1" y="connsiteY1"/>
                    </a:cxn>
                  </a:cxnLst>
                  <a:rect l="l" t="t" r="r" b="b"/>
                  <a:pathLst>
                    <a:path w="12700" h="110566">
                      <a:moveTo>
                        <a:pt x="0" y="110566"/>
                      </a:moveTo>
                      <a:lnTo>
                        <a:pt x="0" y="0"/>
                      </a:lnTo>
                    </a:path>
                  </a:pathLst>
                </a:custGeom>
                <a:noFill/>
                <a:ln w="12700" cap="flat">
                  <a:solidFill>
                    <a:srgbClr val="FF0000"/>
                  </a:solidFill>
                  <a:prstDash val="solid"/>
                  <a:round/>
                </a:ln>
              </p:spPr>
              <p:txBody>
                <a:bodyPr rtlCol="0" anchor="ctr"/>
                <a:lstStyle/>
                <a:p>
                  <a:endParaRPr lang="en-US"/>
                </a:p>
              </p:txBody>
            </p:sp>
            <p:sp>
              <p:nvSpPr>
                <p:cNvPr id="174" name="フリーフォーム: 図形 173">
                  <a:extLst>
                    <a:ext uri="{FF2B5EF4-FFF2-40B4-BE49-F238E27FC236}">
                      <a16:creationId xmlns:a16="http://schemas.microsoft.com/office/drawing/2014/main" id="{EE4A029A-E85C-263C-4935-3D021C731216}"/>
                    </a:ext>
                  </a:extLst>
                </p:cNvPr>
                <p:cNvSpPr/>
                <p:nvPr/>
              </p:nvSpPr>
              <p:spPr>
                <a:xfrm>
                  <a:off x="5534584" y="3428339"/>
                  <a:ext cx="12700" cy="111163"/>
                </a:xfrm>
                <a:custGeom>
                  <a:avLst/>
                  <a:gdLst>
                    <a:gd name="connsiteX0" fmla="*/ 0 w 12700"/>
                    <a:gd name="connsiteY0" fmla="*/ 111163 h 111163"/>
                    <a:gd name="connsiteX1" fmla="*/ 0 w 12700"/>
                    <a:gd name="connsiteY1" fmla="*/ 0 h 111163"/>
                  </a:gdLst>
                  <a:ahLst/>
                  <a:cxnLst>
                    <a:cxn ang="0">
                      <a:pos x="connsiteX0" y="connsiteY0"/>
                    </a:cxn>
                    <a:cxn ang="0">
                      <a:pos x="connsiteX1" y="connsiteY1"/>
                    </a:cxn>
                  </a:cxnLst>
                  <a:rect l="l" t="t" r="r" b="b"/>
                  <a:pathLst>
                    <a:path w="12700" h="111163">
                      <a:moveTo>
                        <a:pt x="0" y="111163"/>
                      </a:moveTo>
                      <a:lnTo>
                        <a:pt x="0" y="0"/>
                      </a:lnTo>
                    </a:path>
                  </a:pathLst>
                </a:custGeom>
                <a:noFill/>
                <a:ln w="12700" cap="flat">
                  <a:solidFill>
                    <a:srgbClr val="FF0000"/>
                  </a:solidFill>
                  <a:prstDash val="solid"/>
                  <a:round/>
                </a:ln>
              </p:spPr>
              <p:txBody>
                <a:bodyPr rtlCol="0" anchor="ctr"/>
                <a:lstStyle/>
                <a:p>
                  <a:endParaRPr lang="en-US"/>
                </a:p>
              </p:txBody>
            </p:sp>
            <p:sp>
              <p:nvSpPr>
                <p:cNvPr id="175" name="フリーフォーム: 図形 174">
                  <a:extLst>
                    <a:ext uri="{FF2B5EF4-FFF2-40B4-BE49-F238E27FC236}">
                      <a16:creationId xmlns:a16="http://schemas.microsoft.com/office/drawing/2014/main" id="{40840E16-99FA-5CD7-7BE3-225B3BEFFC92}"/>
                    </a:ext>
                  </a:extLst>
                </p:cNvPr>
                <p:cNvSpPr/>
                <p:nvPr/>
              </p:nvSpPr>
              <p:spPr>
                <a:xfrm>
                  <a:off x="6228868" y="3489134"/>
                  <a:ext cx="12700" cy="120586"/>
                </a:xfrm>
                <a:custGeom>
                  <a:avLst/>
                  <a:gdLst>
                    <a:gd name="connsiteX0" fmla="*/ 0 w 12700"/>
                    <a:gd name="connsiteY0" fmla="*/ 120586 h 120586"/>
                    <a:gd name="connsiteX1" fmla="*/ 0 w 12700"/>
                    <a:gd name="connsiteY1" fmla="*/ 0 h 120586"/>
                  </a:gdLst>
                  <a:ahLst/>
                  <a:cxnLst>
                    <a:cxn ang="0">
                      <a:pos x="connsiteX0" y="connsiteY0"/>
                    </a:cxn>
                    <a:cxn ang="0">
                      <a:pos x="connsiteX1" y="connsiteY1"/>
                    </a:cxn>
                  </a:cxnLst>
                  <a:rect l="l" t="t" r="r" b="b"/>
                  <a:pathLst>
                    <a:path w="12700" h="120586">
                      <a:moveTo>
                        <a:pt x="0" y="120586"/>
                      </a:moveTo>
                      <a:lnTo>
                        <a:pt x="0" y="0"/>
                      </a:lnTo>
                    </a:path>
                  </a:pathLst>
                </a:custGeom>
                <a:noFill/>
                <a:ln w="12700" cap="flat">
                  <a:solidFill>
                    <a:srgbClr val="FF0000"/>
                  </a:solidFill>
                  <a:prstDash val="solid"/>
                  <a:round/>
                </a:ln>
              </p:spPr>
              <p:txBody>
                <a:bodyPr rtlCol="0" anchor="ctr"/>
                <a:lstStyle/>
                <a:p>
                  <a:endParaRPr lang="en-US"/>
                </a:p>
              </p:txBody>
            </p:sp>
            <p:sp>
              <p:nvSpPr>
                <p:cNvPr id="176" name="フリーフォーム: 図形 175">
                  <a:extLst>
                    <a:ext uri="{FF2B5EF4-FFF2-40B4-BE49-F238E27FC236}">
                      <a16:creationId xmlns:a16="http://schemas.microsoft.com/office/drawing/2014/main" id="{9EFC111A-E093-364D-1656-CCA98B363C8B}"/>
                    </a:ext>
                  </a:extLst>
                </p:cNvPr>
                <p:cNvSpPr/>
                <p:nvPr/>
              </p:nvSpPr>
              <p:spPr>
                <a:xfrm>
                  <a:off x="6923139" y="3579507"/>
                  <a:ext cx="12700" cy="122390"/>
                </a:xfrm>
                <a:custGeom>
                  <a:avLst/>
                  <a:gdLst>
                    <a:gd name="connsiteX0" fmla="*/ 0 w 12700"/>
                    <a:gd name="connsiteY0" fmla="*/ 122390 h 122390"/>
                    <a:gd name="connsiteX1" fmla="*/ 0 w 12700"/>
                    <a:gd name="connsiteY1" fmla="*/ 0 h 122390"/>
                  </a:gdLst>
                  <a:ahLst/>
                  <a:cxnLst>
                    <a:cxn ang="0">
                      <a:pos x="connsiteX0" y="connsiteY0"/>
                    </a:cxn>
                    <a:cxn ang="0">
                      <a:pos x="connsiteX1" y="connsiteY1"/>
                    </a:cxn>
                  </a:cxnLst>
                  <a:rect l="l" t="t" r="r" b="b"/>
                  <a:pathLst>
                    <a:path w="12700" h="122390">
                      <a:moveTo>
                        <a:pt x="0" y="122390"/>
                      </a:moveTo>
                      <a:lnTo>
                        <a:pt x="0" y="0"/>
                      </a:lnTo>
                    </a:path>
                  </a:pathLst>
                </a:custGeom>
                <a:noFill/>
                <a:ln w="12700" cap="flat">
                  <a:solidFill>
                    <a:srgbClr val="FF0000"/>
                  </a:solidFill>
                  <a:prstDash val="solid"/>
                  <a:round/>
                </a:ln>
              </p:spPr>
              <p:txBody>
                <a:bodyPr rtlCol="0" anchor="ctr"/>
                <a:lstStyle/>
                <a:p>
                  <a:endParaRPr lang="en-US"/>
                </a:p>
              </p:txBody>
            </p:sp>
            <p:sp>
              <p:nvSpPr>
                <p:cNvPr id="177" name="フリーフォーム: 図形 176">
                  <a:extLst>
                    <a:ext uri="{FF2B5EF4-FFF2-40B4-BE49-F238E27FC236}">
                      <a16:creationId xmlns:a16="http://schemas.microsoft.com/office/drawing/2014/main" id="{5C87B1E6-C574-938E-4CF1-6B82EDFF5978}"/>
                    </a:ext>
                  </a:extLst>
                </p:cNvPr>
                <p:cNvSpPr/>
                <p:nvPr/>
              </p:nvSpPr>
              <p:spPr>
                <a:xfrm>
                  <a:off x="7617422" y="3695788"/>
                  <a:ext cx="12700" cy="110426"/>
                </a:xfrm>
                <a:custGeom>
                  <a:avLst/>
                  <a:gdLst>
                    <a:gd name="connsiteX0" fmla="*/ 0 w 12700"/>
                    <a:gd name="connsiteY0" fmla="*/ 110426 h 110426"/>
                    <a:gd name="connsiteX1" fmla="*/ 0 w 12700"/>
                    <a:gd name="connsiteY1" fmla="*/ 0 h 110426"/>
                  </a:gdLst>
                  <a:ahLst/>
                  <a:cxnLst>
                    <a:cxn ang="0">
                      <a:pos x="connsiteX0" y="connsiteY0"/>
                    </a:cxn>
                    <a:cxn ang="0">
                      <a:pos x="connsiteX1" y="connsiteY1"/>
                    </a:cxn>
                  </a:cxnLst>
                  <a:rect l="l" t="t" r="r" b="b"/>
                  <a:pathLst>
                    <a:path w="12700" h="110426">
                      <a:moveTo>
                        <a:pt x="0" y="110426"/>
                      </a:moveTo>
                      <a:lnTo>
                        <a:pt x="0" y="0"/>
                      </a:lnTo>
                    </a:path>
                  </a:pathLst>
                </a:custGeom>
                <a:noFill/>
                <a:ln w="12700" cap="flat">
                  <a:solidFill>
                    <a:srgbClr val="FF0000"/>
                  </a:solidFill>
                  <a:prstDash val="solid"/>
                  <a:round/>
                </a:ln>
              </p:spPr>
              <p:txBody>
                <a:bodyPr rtlCol="0" anchor="ctr"/>
                <a:lstStyle/>
                <a:p>
                  <a:endParaRPr lang="en-US"/>
                </a:p>
              </p:txBody>
            </p:sp>
            <p:sp>
              <p:nvSpPr>
                <p:cNvPr id="178" name="フリーフォーム: 図形 177">
                  <a:extLst>
                    <a:ext uri="{FF2B5EF4-FFF2-40B4-BE49-F238E27FC236}">
                      <a16:creationId xmlns:a16="http://schemas.microsoft.com/office/drawing/2014/main" id="{090610CC-251A-C1C6-B825-14BAF47B84DC}"/>
                    </a:ext>
                  </a:extLst>
                </p:cNvPr>
                <p:cNvSpPr/>
                <p:nvPr/>
              </p:nvSpPr>
              <p:spPr>
                <a:xfrm>
                  <a:off x="8311706" y="3801529"/>
                  <a:ext cx="12700" cy="114731"/>
                </a:xfrm>
                <a:custGeom>
                  <a:avLst/>
                  <a:gdLst>
                    <a:gd name="connsiteX0" fmla="*/ 0 w 12700"/>
                    <a:gd name="connsiteY0" fmla="*/ 114732 h 114731"/>
                    <a:gd name="connsiteX1" fmla="*/ 0 w 12700"/>
                    <a:gd name="connsiteY1" fmla="*/ 0 h 114731"/>
                  </a:gdLst>
                  <a:ahLst/>
                  <a:cxnLst>
                    <a:cxn ang="0">
                      <a:pos x="connsiteX0" y="connsiteY0"/>
                    </a:cxn>
                    <a:cxn ang="0">
                      <a:pos x="connsiteX1" y="connsiteY1"/>
                    </a:cxn>
                  </a:cxnLst>
                  <a:rect l="l" t="t" r="r" b="b"/>
                  <a:pathLst>
                    <a:path w="12700" h="114731">
                      <a:moveTo>
                        <a:pt x="0" y="114732"/>
                      </a:moveTo>
                      <a:lnTo>
                        <a:pt x="0" y="0"/>
                      </a:lnTo>
                    </a:path>
                  </a:pathLst>
                </a:custGeom>
                <a:noFill/>
                <a:ln w="12700" cap="flat">
                  <a:solidFill>
                    <a:srgbClr val="FF0000"/>
                  </a:solidFill>
                  <a:prstDash val="solid"/>
                  <a:round/>
                </a:ln>
              </p:spPr>
              <p:txBody>
                <a:bodyPr rtlCol="0" anchor="ctr"/>
                <a:lstStyle/>
                <a:p>
                  <a:endParaRPr lang="en-US"/>
                </a:p>
              </p:txBody>
            </p:sp>
            <p:sp>
              <p:nvSpPr>
                <p:cNvPr id="179" name="フリーフォーム: 図形 178">
                  <a:extLst>
                    <a:ext uri="{FF2B5EF4-FFF2-40B4-BE49-F238E27FC236}">
                      <a16:creationId xmlns:a16="http://schemas.microsoft.com/office/drawing/2014/main" id="{0D8866F3-A4D8-B13E-F108-AAC6A2716665}"/>
                    </a:ext>
                  </a:extLst>
                </p:cNvPr>
                <p:cNvSpPr/>
                <p:nvPr/>
              </p:nvSpPr>
              <p:spPr>
                <a:xfrm>
                  <a:off x="9005990" y="3828262"/>
                  <a:ext cx="12700" cy="133261"/>
                </a:xfrm>
                <a:custGeom>
                  <a:avLst/>
                  <a:gdLst>
                    <a:gd name="connsiteX0" fmla="*/ 0 w 12700"/>
                    <a:gd name="connsiteY0" fmla="*/ 133261 h 133261"/>
                    <a:gd name="connsiteX1" fmla="*/ 0 w 12700"/>
                    <a:gd name="connsiteY1" fmla="*/ 0 h 133261"/>
                  </a:gdLst>
                  <a:ahLst/>
                  <a:cxnLst>
                    <a:cxn ang="0">
                      <a:pos x="connsiteX0" y="connsiteY0"/>
                    </a:cxn>
                    <a:cxn ang="0">
                      <a:pos x="connsiteX1" y="connsiteY1"/>
                    </a:cxn>
                  </a:cxnLst>
                  <a:rect l="l" t="t" r="r" b="b"/>
                  <a:pathLst>
                    <a:path w="12700" h="133261">
                      <a:moveTo>
                        <a:pt x="0" y="133261"/>
                      </a:moveTo>
                      <a:lnTo>
                        <a:pt x="0" y="0"/>
                      </a:lnTo>
                    </a:path>
                  </a:pathLst>
                </a:custGeom>
                <a:noFill/>
                <a:ln w="12700" cap="flat">
                  <a:solidFill>
                    <a:srgbClr val="FF0000"/>
                  </a:solidFill>
                  <a:prstDash val="solid"/>
                  <a:round/>
                </a:ln>
              </p:spPr>
              <p:txBody>
                <a:bodyPr rtlCol="0" anchor="ctr"/>
                <a:lstStyle/>
                <a:p>
                  <a:endParaRPr lang="en-US"/>
                </a:p>
              </p:txBody>
            </p:sp>
          </p:grpSp>
          <p:grpSp>
            <p:nvGrpSpPr>
              <p:cNvPr id="180" name="グラフィックス 6">
                <a:extLst>
                  <a:ext uri="{FF2B5EF4-FFF2-40B4-BE49-F238E27FC236}">
                    <a16:creationId xmlns:a16="http://schemas.microsoft.com/office/drawing/2014/main" id="{B190A649-6837-AF59-AC0C-3C12CDE1EB38}"/>
                  </a:ext>
                </a:extLst>
              </p:cNvPr>
              <p:cNvGrpSpPr/>
              <p:nvPr/>
            </p:nvGrpSpPr>
            <p:grpSpPr>
              <a:xfrm>
                <a:off x="1324449" y="3539502"/>
                <a:ext cx="7738691" cy="470954"/>
                <a:chOff x="1324449" y="3539502"/>
                <a:chExt cx="7738691" cy="470954"/>
              </a:xfrm>
            </p:grpSpPr>
            <p:sp>
              <p:nvSpPr>
                <p:cNvPr id="181" name="フリーフォーム: 図形 180">
                  <a:extLst>
                    <a:ext uri="{FF2B5EF4-FFF2-40B4-BE49-F238E27FC236}">
                      <a16:creationId xmlns:a16="http://schemas.microsoft.com/office/drawing/2014/main" id="{1D170332-0DCE-1E5C-5326-FF4BAA36EF40}"/>
                    </a:ext>
                  </a:extLst>
                </p:cNvPr>
                <p:cNvSpPr/>
                <p:nvPr/>
              </p:nvSpPr>
              <p:spPr>
                <a:xfrm>
                  <a:off x="1324449" y="3997756"/>
                  <a:ext cx="101600" cy="12700"/>
                </a:xfrm>
                <a:custGeom>
                  <a:avLst/>
                  <a:gdLst>
                    <a:gd name="connsiteX0" fmla="*/ 101678 w 101600"/>
                    <a:gd name="connsiteY0" fmla="*/ 189 h 12700"/>
                    <a:gd name="connsiteX1" fmla="*/ 78 w 101600"/>
                    <a:gd name="connsiteY1" fmla="*/ 189 h 12700"/>
                  </a:gdLst>
                  <a:ahLst/>
                  <a:cxnLst>
                    <a:cxn ang="0">
                      <a:pos x="connsiteX0" y="connsiteY0"/>
                    </a:cxn>
                    <a:cxn ang="0">
                      <a:pos x="connsiteX1" y="connsiteY1"/>
                    </a:cxn>
                  </a:cxnLst>
                  <a:rect l="l" t="t" r="r" b="b"/>
                  <a:pathLst>
                    <a:path w="101600" h="12700">
                      <a:moveTo>
                        <a:pt x="101678" y="189"/>
                      </a:moveTo>
                      <a:lnTo>
                        <a:pt x="78" y="189"/>
                      </a:lnTo>
                    </a:path>
                  </a:pathLst>
                </a:custGeom>
                <a:solidFill>
                  <a:srgbClr val="FF0000"/>
                </a:solidFill>
                <a:ln w="12700" cap="flat">
                  <a:solidFill>
                    <a:srgbClr val="FF0000"/>
                  </a:solidFill>
                  <a:prstDash val="solid"/>
                  <a:round/>
                </a:ln>
              </p:spPr>
              <p:txBody>
                <a:bodyPr rtlCol="0" anchor="ctr"/>
                <a:lstStyle/>
                <a:p>
                  <a:endParaRPr lang="en-US"/>
                </a:p>
              </p:txBody>
            </p:sp>
            <p:sp>
              <p:nvSpPr>
                <p:cNvPr id="182" name="フリーフォーム: 図形 181">
                  <a:extLst>
                    <a:ext uri="{FF2B5EF4-FFF2-40B4-BE49-F238E27FC236}">
                      <a16:creationId xmlns:a16="http://schemas.microsoft.com/office/drawing/2014/main" id="{18CEDFE6-55C6-DCED-9E26-423D2BE77296}"/>
                    </a:ext>
                  </a:extLst>
                </p:cNvPr>
                <p:cNvSpPr/>
                <p:nvPr/>
              </p:nvSpPr>
              <p:spPr>
                <a:xfrm>
                  <a:off x="2018729" y="3867175"/>
                  <a:ext cx="101600" cy="12700"/>
                </a:xfrm>
                <a:custGeom>
                  <a:avLst/>
                  <a:gdLst>
                    <a:gd name="connsiteX0" fmla="*/ 101732 w 101600"/>
                    <a:gd name="connsiteY0" fmla="*/ 179 h 12700"/>
                    <a:gd name="connsiteX1" fmla="*/ 132 w 101600"/>
                    <a:gd name="connsiteY1" fmla="*/ 179 h 12700"/>
                  </a:gdLst>
                  <a:ahLst/>
                  <a:cxnLst>
                    <a:cxn ang="0">
                      <a:pos x="connsiteX0" y="connsiteY0"/>
                    </a:cxn>
                    <a:cxn ang="0">
                      <a:pos x="connsiteX1" y="connsiteY1"/>
                    </a:cxn>
                  </a:cxnLst>
                  <a:rect l="l" t="t" r="r" b="b"/>
                  <a:pathLst>
                    <a:path w="101600" h="12700">
                      <a:moveTo>
                        <a:pt x="101732" y="179"/>
                      </a:moveTo>
                      <a:lnTo>
                        <a:pt x="132" y="179"/>
                      </a:lnTo>
                    </a:path>
                  </a:pathLst>
                </a:custGeom>
                <a:solidFill>
                  <a:srgbClr val="FF0000"/>
                </a:solidFill>
                <a:ln w="12700" cap="flat">
                  <a:solidFill>
                    <a:srgbClr val="FF0000"/>
                  </a:solidFill>
                  <a:prstDash val="solid"/>
                  <a:round/>
                </a:ln>
              </p:spPr>
              <p:txBody>
                <a:bodyPr rtlCol="0" anchor="ctr"/>
                <a:lstStyle/>
                <a:p>
                  <a:endParaRPr lang="en-US"/>
                </a:p>
              </p:txBody>
            </p:sp>
            <p:sp>
              <p:nvSpPr>
                <p:cNvPr id="183" name="フリーフォーム: 図形 182">
                  <a:extLst>
                    <a:ext uri="{FF2B5EF4-FFF2-40B4-BE49-F238E27FC236}">
                      <a16:creationId xmlns:a16="http://schemas.microsoft.com/office/drawing/2014/main" id="{8940411A-2FAB-3321-2E27-7490BA9916A6}"/>
                    </a:ext>
                  </a:extLst>
                </p:cNvPr>
                <p:cNvSpPr/>
                <p:nvPr/>
              </p:nvSpPr>
              <p:spPr>
                <a:xfrm>
                  <a:off x="2713013" y="3825163"/>
                  <a:ext cx="101600" cy="12700"/>
                </a:xfrm>
                <a:custGeom>
                  <a:avLst/>
                  <a:gdLst>
                    <a:gd name="connsiteX0" fmla="*/ 101787 w 101600"/>
                    <a:gd name="connsiteY0" fmla="*/ 175 h 12700"/>
                    <a:gd name="connsiteX1" fmla="*/ 187 w 101600"/>
                    <a:gd name="connsiteY1" fmla="*/ 175 h 12700"/>
                  </a:gdLst>
                  <a:ahLst/>
                  <a:cxnLst>
                    <a:cxn ang="0">
                      <a:pos x="connsiteX0" y="connsiteY0"/>
                    </a:cxn>
                    <a:cxn ang="0">
                      <a:pos x="connsiteX1" y="connsiteY1"/>
                    </a:cxn>
                  </a:cxnLst>
                  <a:rect l="l" t="t" r="r" b="b"/>
                  <a:pathLst>
                    <a:path w="101600" h="12700">
                      <a:moveTo>
                        <a:pt x="101787" y="175"/>
                      </a:moveTo>
                      <a:lnTo>
                        <a:pt x="187" y="175"/>
                      </a:lnTo>
                    </a:path>
                  </a:pathLst>
                </a:custGeom>
                <a:solidFill>
                  <a:srgbClr val="FF0000"/>
                </a:solidFill>
                <a:ln w="12700" cap="flat">
                  <a:solidFill>
                    <a:srgbClr val="FF0000"/>
                  </a:solidFill>
                  <a:prstDash val="solid"/>
                  <a:round/>
                </a:ln>
              </p:spPr>
              <p:txBody>
                <a:bodyPr rtlCol="0" anchor="ctr"/>
                <a:lstStyle/>
                <a:p>
                  <a:endParaRPr lang="en-US"/>
                </a:p>
              </p:txBody>
            </p:sp>
            <p:sp>
              <p:nvSpPr>
                <p:cNvPr id="184" name="フリーフォーム: 図形 183">
                  <a:extLst>
                    <a:ext uri="{FF2B5EF4-FFF2-40B4-BE49-F238E27FC236}">
                      <a16:creationId xmlns:a16="http://schemas.microsoft.com/office/drawing/2014/main" id="{AC24A12C-0A3B-5651-DC3B-97D941868D97}"/>
                    </a:ext>
                  </a:extLst>
                </p:cNvPr>
                <p:cNvSpPr/>
                <p:nvPr/>
              </p:nvSpPr>
              <p:spPr>
                <a:xfrm>
                  <a:off x="3407296" y="3709974"/>
                  <a:ext cx="101600" cy="12700"/>
                </a:xfrm>
                <a:custGeom>
                  <a:avLst/>
                  <a:gdLst>
                    <a:gd name="connsiteX0" fmla="*/ 101842 w 101600"/>
                    <a:gd name="connsiteY0" fmla="*/ 166 h 12700"/>
                    <a:gd name="connsiteX1" fmla="*/ 242 w 101600"/>
                    <a:gd name="connsiteY1" fmla="*/ 166 h 12700"/>
                  </a:gdLst>
                  <a:ahLst/>
                  <a:cxnLst>
                    <a:cxn ang="0">
                      <a:pos x="connsiteX0" y="connsiteY0"/>
                    </a:cxn>
                    <a:cxn ang="0">
                      <a:pos x="connsiteX1" y="connsiteY1"/>
                    </a:cxn>
                  </a:cxnLst>
                  <a:rect l="l" t="t" r="r" b="b"/>
                  <a:pathLst>
                    <a:path w="101600" h="12700">
                      <a:moveTo>
                        <a:pt x="101842" y="166"/>
                      </a:moveTo>
                      <a:lnTo>
                        <a:pt x="242" y="166"/>
                      </a:lnTo>
                    </a:path>
                  </a:pathLst>
                </a:custGeom>
                <a:solidFill>
                  <a:srgbClr val="FF0000"/>
                </a:solidFill>
                <a:ln w="12700" cap="flat">
                  <a:solidFill>
                    <a:srgbClr val="FF0000"/>
                  </a:solidFill>
                  <a:prstDash val="solid"/>
                  <a:round/>
                </a:ln>
              </p:spPr>
              <p:txBody>
                <a:bodyPr rtlCol="0" anchor="ctr"/>
                <a:lstStyle/>
                <a:p>
                  <a:endParaRPr lang="en-US"/>
                </a:p>
              </p:txBody>
            </p:sp>
            <p:sp>
              <p:nvSpPr>
                <p:cNvPr id="185" name="フリーフォーム: 図形 184">
                  <a:extLst>
                    <a:ext uri="{FF2B5EF4-FFF2-40B4-BE49-F238E27FC236}">
                      <a16:creationId xmlns:a16="http://schemas.microsoft.com/office/drawing/2014/main" id="{D0C6A0E4-7CF0-4668-69F7-762122659511}"/>
                    </a:ext>
                  </a:extLst>
                </p:cNvPr>
                <p:cNvSpPr/>
                <p:nvPr/>
              </p:nvSpPr>
              <p:spPr>
                <a:xfrm>
                  <a:off x="4101567" y="3660724"/>
                  <a:ext cx="101600" cy="12700"/>
                </a:xfrm>
                <a:custGeom>
                  <a:avLst/>
                  <a:gdLst>
                    <a:gd name="connsiteX0" fmla="*/ 101896 w 101600"/>
                    <a:gd name="connsiteY0" fmla="*/ 162 h 12700"/>
                    <a:gd name="connsiteX1" fmla="*/ 296 w 101600"/>
                    <a:gd name="connsiteY1" fmla="*/ 162 h 12700"/>
                  </a:gdLst>
                  <a:ahLst/>
                  <a:cxnLst>
                    <a:cxn ang="0">
                      <a:pos x="connsiteX0" y="connsiteY0"/>
                    </a:cxn>
                    <a:cxn ang="0">
                      <a:pos x="connsiteX1" y="connsiteY1"/>
                    </a:cxn>
                  </a:cxnLst>
                  <a:rect l="l" t="t" r="r" b="b"/>
                  <a:pathLst>
                    <a:path w="101600" h="12700">
                      <a:moveTo>
                        <a:pt x="101896" y="162"/>
                      </a:moveTo>
                      <a:lnTo>
                        <a:pt x="296" y="162"/>
                      </a:lnTo>
                    </a:path>
                  </a:pathLst>
                </a:custGeom>
                <a:solidFill>
                  <a:srgbClr val="FF0000"/>
                </a:solidFill>
                <a:ln w="12700" cap="flat">
                  <a:solidFill>
                    <a:srgbClr val="FF0000"/>
                  </a:solidFill>
                  <a:prstDash val="solid"/>
                  <a:round/>
                </a:ln>
              </p:spPr>
              <p:txBody>
                <a:bodyPr rtlCol="0" anchor="ctr"/>
                <a:lstStyle/>
                <a:p>
                  <a:endParaRPr lang="en-US"/>
                </a:p>
              </p:txBody>
            </p:sp>
            <p:sp>
              <p:nvSpPr>
                <p:cNvPr id="186" name="フリーフォーム: 図形 185">
                  <a:extLst>
                    <a:ext uri="{FF2B5EF4-FFF2-40B4-BE49-F238E27FC236}">
                      <a16:creationId xmlns:a16="http://schemas.microsoft.com/office/drawing/2014/main" id="{77C33844-E339-D5A8-C55E-83923A59902A}"/>
                    </a:ext>
                  </a:extLst>
                </p:cNvPr>
                <p:cNvSpPr/>
                <p:nvPr/>
              </p:nvSpPr>
              <p:spPr>
                <a:xfrm>
                  <a:off x="4795851" y="3562604"/>
                  <a:ext cx="101600" cy="12700"/>
                </a:xfrm>
                <a:custGeom>
                  <a:avLst/>
                  <a:gdLst>
                    <a:gd name="connsiteX0" fmla="*/ 101951 w 101600"/>
                    <a:gd name="connsiteY0" fmla="*/ 155 h 12700"/>
                    <a:gd name="connsiteX1" fmla="*/ 351 w 101600"/>
                    <a:gd name="connsiteY1" fmla="*/ 155 h 12700"/>
                  </a:gdLst>
                  <a:ahLst/>
                  <a:cxnLst>
                    <a:cxn ang="0">
                      <a:pos x="connsiteX0" y="connsiteY0"/>
                    </a:cxn>
                    <a:cxn ang="0">
                      <a:pos x="connsiteX1" y="connsiteY1"/>
                    </a:cxn>
                  </a:cxnLst>
                  <a:rect l="l" t="t" r="r" b="b"/>
                  <a:pathLst>
                    <a:path w="101600" h="12700">
                      <a:moveTo>
                        <a:pt x="101951" y="155"/>
                      </a:moveTo>
                      <a:lnTo>
                        <a:pt x="351" y="155"/>
                      </a:lnTo>
                    </a:path>
                  </a:pathLst>
                </a:custGeom>
                <a:solidFill>
                  <a:srgbClr val="FF0000"/>
                </a:solidFill>
                <a:ln w="12700" cap="flat">
                  <a:solidFill>
                    <a:srgbClr val="FF0000"/>
                  </a:solidFill>
                  <a:prstDash val="solid"/>
                  <a:round/>
                </a:ln>
              </p:spPr>
              <p:txBody>
                <a:bodyPr rtlCol="0" anchor="ctr"/>
                <a:lstStyle/>
                <a:p>
                  <a:endParaRPr lang="en-US"/>
                </a:p>
              </p:txBody>
            </p:sp>
            <p:sp>
              <p:nvSpPr>
                <p:cNvPr id="187" name="フリーフォーム: 図形 186">
                  <a:extLst>
                    <a:ext uri="{FF2B5EF4-FFF2-40B4-BE49-F238E27FC236}">
                      <a16:creationId xmlns:a16="http://schemas.microsoft.com/office/drawing/2014/main" id="{CA488316-E302-3185-B375-7323FEBC653F}"/>
                    </a:ext>
                  </a:extLst>
                </p:cNvPr>
                <p:cNvSpPr/>
                <p:nvPr/>
              </p:nvSpPr>
              <p:spPr>
                <a:xfrm>
                  <a:off x="5490134" y="3539502"/>
                  <a:ext cx="101600" cy="12700"/>
                </a:xfrm>
                <a:custGeom>
                  <a:avLst/>
                  <a:gdLst>
                    <a:gd name="connsiteX0" fmla="*/ 102006 w 101600"/>
                    <a:gd name="connsiteY0" fmla="*/ 153 h 12700"/>
                    <a:gd name="connsiteX1" fmla="*/ 406 w 101600"/>
                    <a:gd name="connsiteY1" fmla="*/ 153 h 12700"/>
                  </a:gdLst>
                  <a:ahLst/>
                  <a:cxnLst>
                    <a:cxn ang="0">
                      <a:pos x="connsiteX0" y="connsiteY0"/>
                    </a:cxn>
                    <a:cxn ang="0">
                      <a:pos x="connsiteX1" y="connsiteY1"/>
                    </a:cxn>
                  </a:cxnLst>
                  <a:rect l="l" t="t" r="r" b="b"/>
                  <a:pathLst>
                    <a:path w="101600" h="12700">
                      <a:moveTo>
                        <a:pt x="102006" y="153"/>
                      </a:moveTo>
                      <a:lnTo>
                        <a:pt x="406" y="153"/>
                      </a:lnTo>
                    </a:path>
                  </a:pathLst>
                </a:custGeom>
                <a:solidFill>
                  <a:srgbClr val="FF0000"/>
                </a:solidFill>
                <a:ln w="12700" cap="flat">
                  <a:solidFill>
                    <a:srgbClr val="FF0000"/>
                  </a:solidFill>
                  <a:prstDash val="solid"/>
                  <a:round/>
                </a:ln>
              </p:spPr>
              <p:txBody>
                <a:bodyPr rtlCol="0" anchor="ctr"/>
                <a:lstStyle/>
                <a:p>
                  <a:endParaRPr lang="en-US"/>
                </a:p>
              </p:txBody>
            </p:sp>
            <p:sp>
              <p:nvSpPr>
                <p:cNvPr id="188" name="フリーフォーム: 図形 187">
                  <a:extLst>
                    <a:ext uri="{FF2B5EF4-FFF2-40B4-BE49-F238E27FC236}">
                      <a16:creationId xmlns:a16="http://schemas.microsoft.com/office/drawing/2014/main" id="{DEB7CB70-1718-2629-6CA1-C0D4E7C884F8}"/>
                    </a:ext>
                  </a:extLst>
                </p:cNvPr>
                <p:cNvSpPr/>
                <p:nvPr/>
              </p:nvSpPr>
              <p:spPr>
                <a:xfrm>
                  <a:off x="6184418" y="3609721"/>
                  <a:ext cx="101600" cy="12700"/>
                </a:xfrm>
                <a:custGeom>
                  <a:avLst/>
                  <a:gdLst>
                    <a:gd name="connsiteX0" fmla="*/ 102060 w 101600"/>
                    <a:gd name="connsiteY0" fmla="*/ 158 h 12700"/>
                    <a:gd name="connsiteX1" fmla="*/ 460 w 101600"/>
                    <a:gd name="connsiteY1" fmla="*/ 158 h 12700"/>
                  </a:gdLst>
                  <a:ahLst/>
                  <a:cxnLst>
                    <a:cxn ang="0">
                      <a:pos x="connsiteX0" y="connsiteY0"/>
                    </a:cxn>
                    <a:cxn ang="0">
                      <a:pos x="connsiteX1" y="connsiteY1"/>
                    </a:cxn>
                  </a:cxnLst>
                  <a:rect l="l" t="t" r="r" b="b"/>
                  <a:pathLst>
                    <a:path w="101600" h="12700">
                      <a:moveTo>
                        <a:pt x="102060" y="158"/>
                      </a:moveTo>
                      <a:lnTo>
                        <a:pt x="460" y="158"/>
                      </a:lnTo>
                    </a:path>
                  </a:pathLst>
                </a:custGeom>
                <a:solidFill>
                  <a:srgbClr val="FF0000"/>
                </a:solidFill>
                <a:ln w="12700" cap="flat">
                  <a:solidFill>
                    <a:srgbClr val="FF0000"/>
                  </a:solidFill>
                  <a:prstDash val="solid"/>
                  <a:round/>
                </a:ln>
              </p:spPr>
              <p:txBody>
                <a:bodyPr rtlCol="0" anchor="ctr"/>
                <a:lstStyle/>
                <a:p>
                  <a:endParaRPr lang="en-US"/>
                </a:p>
              </p:txBody>
            </p:sp>
            <p:sp>
              <p:nvSpPr>
                <p:cNvPr id="189" name="フリーフォーム: 図形 188">
                  <a:extLst>
                    <a:ext uri="{FF2B5EF4-FFF2-40B4-BE49-F238E27FC236}">
                      <a16:creationId xmlns:a16="http://schemas.microsoft.com/office/drawing/2014/main" id="{28827D15-CF52-12A0-8C03-B5F248A5FF91}"/>
                    </a:ext>
                  </a:extLst>
                </p:cNvPr>
                <p:cNvSpPr/>
                <p:nvPr/>
              </p:nvSpPr>
              <p:spPr>
                <a:xfrm>
                  <a:off x="6878689" y="3701897"/>
                  <a:ext cx="101600" cy="12700"/>
                </a:xfrm>
                <a:custGeom>
                  <a:avLst/>
                  <a:gdLst>
                    <a:gd name="connsiteX0" fmla="*/ 102115 w 101600"/>
                    <a:gd name="connsiteY0" fmla="*/ 165 h 12700"/>
                    <a:gd name="connsiteX1" fmla="*/ 515 w 101600"/>
                    <a:gd name="connsiteY1" fmla="*/ 165 h 12700"/>
                  </a:gdLst>
                  <a:ahLst/>
                  <a:cxnLst>
                    <a:cxn ang="0">
                      <a:pos x="connsiteX0" y="connsiteY0"/>
                    </a:cxn>
                    <a:cxn ang="0">
                      <a:pos x="connsiteX1" y="connsiteY1"/>
                    </a:cxn>
                  </a:cxnLst>
                  <a:rect l="l" t="t" r="r" b="b"/>
                  <a:pathLst>
                    <a:path w="101600" h="12700">
                      <a:moveTo>
                        <a:pt x="102115" y="165"/>
                      </a:moveTo>
                      <a:lnTo>
                        <a:pt x="515" y="165"/>
                      </a:lnTo>
                    </a:path>
                  </a:pathLst>
                </a:custGeom>
                <a:solidFill>
                  <a:srgbClr val="FF0000"/>
                </a:solidFill>
                <a:ln w="12700" cap="flat">
                  <a:solidFill>
                    <a:srgbClr val="FF0000"/>
                  </a:solidFill>
                  <a:prstDash val="solid"/>
                  <a:round/>
                </a:ln>
              </p:spPr>
              <p:txBody>
                <a:bodyPr rtlCol="0" anchor="ctr"/>
                <a:lstStyle/>
                <a:p>
                  <a:endParaRPr lang="en-US"/>
                </a:p>
              </p:txBody>
            </p:sp>
            <p:sp>
              <p:nvSpPr>
                <p:cNvPr id="190" name="フリーフォーム: 図形 189">
                  <a:extLst>
                    <a:ext uri="{FF2B5EF4-FFF2-40B4-BE49-F238E27FC236}">
                      <a16:creationId xmlns:a16="http://schemas.microsoft.com/office/drawing/2014/main" id="{C26480D6-A93F-8135-EBEE-9B1ABD4EFE1F}"/>
                    </a:ext>
                  </a:extLst>
                </p:cNvPr>
                <p:cNvSpPr/>
                <p:nvPr/>
              </p:nvSpPr>
              <p:spPr>
                <a:xfrm>
                  <a:off x="7572972" y="3806215"/>
                  <a:ext cx="101600" cy="12700"/>
                </a:xfrm>
                <a:custGeom>
                  <a:avLst/>
                  <a:gdLst>
                    <a:gd name="connsiteX0" fmla="*/ 102170 w 101600"/>
                    <a:gd name="connsiteY0" fmla="*/ 174 h 12700"/>
                    <a:gd name="connsiteX1" fmla="*/ 570 w 101600"/>
                    <a:gd name="connsiteY1" fmla="*/ 174 h 12700"/>
                  </a:gdLst>
                  <a:ahLst/>
                  <a:cxnLst>
                    <a:cxn ang="0">
                      <a:pos x="connsiteX0" y="connsiteY0"/>
                    </a:cxn>
                    <a:cxn ang="0">
                      <a:pos x="connsiteX1" y="connsiteY1"/>
                    </a:cxn>
                  </a:cxnLst>
                  <a:rect l="l" t="t" r="r" b="b"/>
                  <a:pathLst>
                    <a:path w="101600" h="12700">
                      <a:moveTo>
                        <a:pt x="102170" y="174"/>
                      </a:moveTo>
                      <a:lnTo>
                        <a:pt x="570" y="174"/>
                      </a:lnTo>
                    </a:path>
                  </a:pathLst>
                </a:custGeom>
                <a:solidFill>
                  <a:srgbClr val="FF0000"/>
                </a:solidFill>
                <a:ln w="12700" cap="flat">
                  <a:solidFill>
                    <a:srgbClr val="FF0000"/>
                  </a:solidFill>
                  <a:prstDash val="solid"/>
                  <a:round/>
                </a:ln>
              </p:spPr>
              <p:txBody>
                <a:bodyPr rtlCol="0" anchor="ctr"/>
                <a:lstStyle/>
                <a:p>
                  <a:endParaRPr lang="en-US"/>
                </a:p>
              </p:txBody>
            </p:sp>
            <p:sp>
              <p:nvSpPr>
                <p:cNvPr id="191" name="フリーフォーム: 図形 190">
                  <a:extLst>
                    <a:ext uri="{FF2B5EF4-FFF2-40B4-BE49-F238E27FC236}">
                      <a16:creationId xmlns:a16="http://schemas.microsoft.com/office/drawing/2014/main" id="{B6E97FDC-B4A2-BFB8-4D0E-E4B952F660CD}"/>
                    </a:ext>
                  </a:extLst>
                </p:cNvPr>
                <p:cNvSpPr/>
                <p:nvPr/>
              </p:nvSpPr>
              <p:spPr>
                <a:xfrm>
                  <a:off x="8267256" y="3916260"/>
                  <a:ext cx="101600" cy="12700"/>
                </a:xfrm>
                <a:custGeom>
                  <a:avLst/>
                  <a:gdLst>
                    <a:gd name="connsiteX0" fmla="*/ 102224 w 101600"/>
                    <a:gd name="connsiteY0" fmla="*/ 182 h 12700"/>
                    <a:gd name="connsiteX1" fmla="*/ 624 w 101600"/>
                    <a:gd name="connsiteY1" fmla="*/ 182 h 12700"/>
                  </a:gdLst>
                  <a:ahLst/>
                  <a:cxnLst>
                    <a:cxn ang="0">
                      <a:pos x="connsiteX0" y="connsiteY0"/>
                    </a:cxn>
                    <a:cxn ang="0">
                      <a:pos x="connsiteX1" y="connsiteY1"/>
                    </a:cxn>
                  </a:cxnLst>
                  <a:rect l="l" t="t" r="r" b="b"/>
                  <a:pathLst>
                    <a:path w="101600" h="12700">
                      <a:moveTo>
                        <a:pt x="102224" y="182"/>
                      </a:moveTo>
                      <a:lnTo>
                        <a:pt x="624" y="182"/>
                      </a:lnTo>
                    </a:path>
                  </a:pathLst>
                </a:custGeom>
                <a:solidFill>
                  <a:srgbClr val="FF0000"/>
                </a:solidFill>
                <a:ln w="12700" cap="flat">
                  <a:solidFill>
                    <a:srgbClr val="FF0000"/>
                  </a:solidFill>
                  <a:prstDash val="solid"/>
                  <a:round/>
                </a:ln>
              </p:spPr>
              <p:txBody>
                <a:bodyPr rtlCol="0" anchor="ctr"/>
                <a:lstStyle/>
                <a:p>
                  <a:endParaRPr lang="en-US"/>
                </a:p>
              </p:txBody>
            </p:sp>
            <p:sp>
              <p:nvSpPr>
                <p:cNvPr id="192" name="フリーフォーム: 図形 191">
                  <a:extLst>
                    <a:ext uri="{FF2B5EF4-FFF2-40B4-BE49-F238E27FC236}">
                      <a16:creationId xmlns:a16="http://schemas.microsoft.com/office/drawing/2014/main" id="{F659787C-9C62-E925-F91B-2BD659C2D8EE}"/>
                    </a:ext>
                  </a:extLst>
                </p:cNvPr>
                <p:cNvSpPr/>
                <p:nvPr/>
              </p:nvSpPr>
              <p:spPr>
                <a:xfrm>
                  <a:off x="8961540" y="3961523"/>
                  <a:ext cx="101600" cy="12700"/>
                </a:xfrm>
                <a:custGeom>
                  <a:avLst/>
                  <a:gdLst>
                    <a:gd name="connsiteX0" fmla="*/ 102279 w 101600"/>
                    <a:gd name="connsiteY0" fmla="*/ 186 h 12700"/>
                    <a:gd name="connsiteX1" fmla="*/ 679 w 101600"/>
                    <a:gd name="connsiteY1" fmla="*/ 186 h 12700"/>
                  </a:gdLst>
                  <a:ahLst/>
                  <a:cxnLst>
                    <a:cxn ang="0">
                      <a:pos x="connsiteX0" y="connsiteY0"/>
                    </a:cxn>
                    <a:cxn ang="0">
                      <a:pos x="connsiteX1" y="connsiteY1"/>
                    </a:cxn>
                  </a:cxnLst>
                  <a:rect l="l" t="t" r="r" b="b"/>
                  <a:pathLst>
                    <a:path w="101600" h="12700">
                      <a:moveTo>
                        <a:pt x="102279" y="186"/>
                      </a:moveTo>
                      <a:lnTo>
                        <a:pt x="679" y="186"/>
                      </a:lnTo>
                    </a:path>
                  </a:pathLst>
                </a:custGeom>
                <a:solidFill>
                  <a:srgbClr val="FF0000"/>
                </a:solidFill>
                <a:ln w="12700" cap="flat">
                  <a:solidFill>
                    <a:srgbClr val="FF0000"/>
                  </a:solidFill>
                  <a:prstDash val="solid"/>
                  <a:round/>
                </a:ln>
              </p:spPr>
              <p:txBody>
                <a:bodyPr rtlCol="0" anchor="ctr"/>
                <a:lstStyle/>
                <a:p>
                  <a:endParaRPr lang="en-US"/>
                </a:p>
              </p:txBody>
            </p:sp>
          </p:grpSp>
          <p:grpSp>
            <p:nvGrpSpPr>
              <p:cNvPr id="193" name="グラフィックス 6">
                <a:extLst>
                  <a:ext uri="{FF2B5EF4-FFF2-40B4-BE49-F238E27FC236}">
                    <a16:creationId xmlns:a16="http://schemas.microsoft.com/office/drawing/2014/main" id="{C33673B9-5481-82A4-1E66-EF6750A6DC9C}"/>
                  </a:ext>
                </a:extLst>
              </p:cNvPr>
              <p:cNvGrpSpPr/>
              <p:nvPr/>
            </p:nvGrpSpPr>
            <p:grpSpPr>
              <a:xfrm>
                <a:off x="1324449" y="3428339"/>
                <a:ext cx="7738691" cy="467551"/>
                <a:chOff x="1324449" y="3428339"/>
                <a:chExt cx="7738691" cy="467551"/>
              </a:xfrm>
            </p:grpSpPr>
            <p:sp>
              <p:nvSpPr>
                <p:cNvPr id="194" name="フリーフォーム: 図形 193">
                  <a:extLst>
                    <a:ext uri="{FF2B5EF4-FFF2-40B4-BE49-F238E27FC236}">
                      <a16:creationId xmlns:a16="http://schemas.microsoft.com/office/drawing/2014/main" id="{AB805080-CE69-221B-A923-29BC1A16EF61}"/>
                    </a:ext>
                  </a:extLst>
                </p:cNvPr>
                <p:cNvSpPr/>
                <p:nvPr/>
              </p:nvSpPr>
              <p:spPr>
                <a:xfrm>
                  <a:off x="1324449" y="3883190"/>
                  <a:ext cx="101600" cy="12700"/>
                </a:xfrm>
                <a:custGeom>
                  <a:avLst/>
                  <a:gdLst>
                    <a:gd name="connsiteX0" fmla="*/ 101678 w 101600"/>
                    <a:gd name="connsiteY0" fmla="*/ 180 h 12700"/>
                    <a:gd name="connsiteX1" fmla="*/ 78 w 101600"/>
                    <a:gd name="connsiteY1" fmla="*/ 180 h 12700"/>
                  </a:gdLst>
                  <a:ahLst/>
                  <a:cxnLst>
                    <a:cxn ang="0">
                      <a:pos x="connsiteX0" y="connsiteY0"/>
                    </a:cxn>
                    <a:cxn ang="0">
                      <a:pos x="connsiteX1" y="connsiteY1"/>
                    </a:cxn>
                  </a:cxnLst>
                  <a:rect l="l" t="t" r="r" b="b"/>
                  <a:pathLst>
                    <a:path w="101600" h="12700">
                      <a:moveTo>
                        <a:pt x="101678" y="180"/>
                      </a:moveTo>
                      <a:lnTo>
                        <a:pt x="78" y="180"/>
                      </a:lnTo>
                    </a:path>
                  </a:pathLst>
                </a:custGeom>
                <a:solidFill>
                  <a:srgbClr val="FF0000"/>
                </a:solidFill>
                <a:ln w="12700" cap="flat">
                  <a:solidFill>
                    <a:srgbClr val="FF0000"/>
                  </a:solidFill>
                  <a:prstDash val="solid"/>
                  <a:round/>
                </a:ln>
              </p:spPr>
              <p:txBody>
                <a:bodyPr rtlCol="0" anchor="ctr"/>
                <a:lstStyle/>
                <a:p>
                  <a:endParaRPr lang="en-US"/>
                </a:p>
              </p:txBody>
            </p:sp>
            <p:sp>
              <p:nvSpPr>
                <p:cNvPr id="195" name="フリーフォーム: 図形 194">
                  <a:extLst>
                    <a:ext uri="{FF2B5EF4-FFF2-40B4-BE49-F238E27FC236}">
                      <a16:creationId xmlns:a16="http://schemas.microsoft.com/office/drawing/2014/main" id="{F7C7E747-12CF-B7E5-7C37-4B34F8DDB028}"/>
                    </a:ext>
                  </a:extLst>
                </p:cNvPr>
                <p:cNvSpPr/>
                <p:nvPr/>
              </p:nvSpPr>
              <p:spPr>
                <a:xfrm>
                  <a:off x="2018729" y="3747897"/>
                  <a:ext cx="101600" cy="12700"/>
                </a:xfrm>
                <a:custGeom>
                  <a:avLst/>
                  <a:gdLst>
                    <a:gd name="connsiteX0" fmla="*/ 101732 w 101600"/>
                    <a:gd name="connsiteY0" fmla="*/ 169 h 12700"/>
                    <a:gd name="connsiteX1" fmla="*/ 132 w 101600"/>
                    <a:gd name="connsiteY1" fmla="*/ 169 h 12700"/>
                  </a:gdLst>
                  <a:ahLst/>
                  <a:cxnLst>
                    <a:cxn ang="0">
                      <a:pos x="connsiteX0" y="connsiteY0"/>
                    </a:cxn>
                    <a:cxn ang="0">
                      <a:pos x="connsiteX1" y="connsiteY1"/>
                    </a:cxn>
                  </a:cxnLst>
                  <a:rect l="l" t="t" r="r" b="b"/>
                  <a:pathLst>
                    <a:path w="101600" h="12700">
                      <a:moveTo>
                        <a:pt x="101732" y="169"/>
                      </a:moveTo>
                      <a:lnTo>
                        <a:pt x="132" y="169"/>
                      </a:lnTo>
                    </a:path>
                  </a:pathLst>
                </a:custGeom>
                <a:solidFill>
                  <a:srgbClr val="FF0000"/>
                </a:solidFill>
                <a:ln w="12700" cap="flat">
                  <a:solidFill>
                    <a:srgbClr val="FF0000"/>
                  </a:solidFill>
                  <a:prstDash val="solid"/>
                  <a:round/>
                </a:ln>
              </p:spPr>
              <p:txBody>
                <a:bodyPr rtlCol="0" anchor="ctr"/>
                <a:lstStyle/>
                <a:p>
                  <a:endParaRPr lang="en-US"/>
                </a:p>
              </p:txBody>
            </p:sp>
            <p:sp>
              <p:nvSpPr>
                <p:cNvPr id="196" name="フリーフォーム: 図形 195">
                  <a:extLst>
                    <a:ext uri="{FF2B5EF4-FFF2-40B4-BE49-F238E27FC236}">
                      <a16:creationId xmlns:a16="http://schemas.microsoft.com/office/drawing/2014/main" id="{57F3C876-18A1-E505-466F-E822F6CE5BA7}"/>
                    </a:ext>
                  </a:extLst>
                </p:cNvPr>
                <p:cNvSpPr/>
                <p:nvPr/>
              </p:nvSpPr>
              <p:spPr>
                <a:xfrm>
                  <a:off x="2713013" y="3723284"/>
                  <a:ext cx="101600" cy="12700"/>
                </a:xfrm>
                <a:custGeom>
                  <a:avLst/>
                  <a:gdLst>
                    <a:gd name="connsiteX0" fmla="*/ 101787 w 101600"/>
                    <a:gd name="connsiteY0" fmla="*/ 167 h 12700"/>
                    <a:gd name="connsiteX1" fmla="*/ 187 w 101600"/>
                    <a:gd name="connsiteY1" fmla="*/ 167 h 12700"/>
                  </a:gdLst>
                  <a:ahLst/>
                  <a:cxnLst>
                    <a:cxn ang="0">
                      <a:pos x="connsiteX0" y="connsiteY0"/>
                    </a:cxn>
                    <a:cxn ang="0">
                      <a:pos x="connsiteX1" y="connsiteY1"/>
                    </a:cxn>
                  </a:cxnLst>
                  <a:rect l="l" t="t" r="r" b="b"/>
                  <a:pathLst>
                    <a:path w="101600" h="12700">
                      <a:moveTo>
                        <a:pt x="101787" y="167"/>
                      </a:moveTo>
                      <a:lnTo>
                        <a:pt x="187" y="167"/>
                      </a:lnTo>
                    </a:path>
                  </a:pathLst>
                </a:custGeom>
                <a:solidFill>
                  <a:srgbClr val="FF0000"/>
                </a:solidFill>
                <a:ln w="12700" cap="flat">
                  <a:solidFill>
                    <a:srgbClr val="FF0000"/>
                  </a:solidFill>
                  <a:prstDash val="solid"/>
                  <a:round/>
                </a:ln>
              </p:spPr>
              <p:txBody>
                <a:bodyPr rtlCol="0" anchor="ctr"/>
                <a:lstStyle/>
                <a:p>
                  <a:endParaRPr lang="en-US"/>
                </a:p>
              </p:txBody>
            </p:sp>
            <p:sp>
              <p:nvSpPr>
                <p:cNvPr id="197" name="フリーフォーム: 図形 196">
                  <a:extLst>
                    <a:ext uri="{FF2B5EF4-FFF2-40B4-BE49-F238E27FC236}">
                      <a16:creationId xmlns:a16="http://schemas.microsoft.com/office/drawing/2014/main" id="{A6B95988-672F-7E6C-1BEE-EA0D4EB6C523}"/>
                    </a:ext>
                  </a:extLst>
                </p:cNvPr>
                <p:cNvSpPr/>
                <p:nvPr/>
              </p:nvSpPr>
              <p:spPr>
                <a:xfrm>
                  <a:off x="3407296" y="3606253"/>
                  <a:ext cx="101600" cy="12700"/>
                </a:xfrm>
                <a:custGeom>
                  <a:avLst/>
                  <a:gdLst>
                    <a:gd name="connsiteX0" fmla="*/ 101842 w 101600"/>
                    <a:gd name="connsiteY0" fmla="*/ 158 h 12700"/>
                    <a:gd name="connsiteX1" fmla="*/ 242 w 101600"/>
                    <a:gd name="connsiteY1" fmla="*/ 158 h 12700"/>
                  </a:gdLst>
                  <a:ahLst/>
                  <a:cxnLst>
                    <a:cxn ang="0">
                      <a:pos x="connsiteX0" y="connsiteY0"/>
                    </a:cxn>
                    <a:cxn ang="0">
                      <a:pos x="connsiteX1" y="connsiteY1"/>
                    </a:cxn>
                  </a:cxnLst>
                  <a:rect l="l" t="t" r="r" b="b"/>
                  <a:pathLst>
                    <a:path w="101600" h="12700">
                      <a:moveTo>
                        <a:pt x="101842" y="158"/>
                      </a:moveTo>
                      <a:lnTo>
                        <a:pt x="242" y="158"/>
                      </a:lnTo>
                    </a:path>
                  </a:pathLst>
                </a:custGeom>
                <a:solidFill>
                  <a:srgbClr val="FF0000"/>
                </a:solidFill>
                <a:ln w="12700" cap="flat">
                  <a:solidFill>
                    <a:srgbClr val="FF0000"/>
                  </a:solidFill>
                  <a:prstDash val="solid"/>
                  <a:round/>
                </a:ln>
              </p:spPr>
              <p:txBody>
                <a:bodyPr rtlCol="0" anchor="ctr"/>
                <a:lstStyle/>
                <a:p>
                  <a:endParaRPr lang="en-US"/>
                </a:p>
              </p:txBody>
            </p:sp>
            <p:sp>
              <p:nvSpPr>
                <p:cNvPr id="198" name="フリーフォーム: 図形 197">
                  <a:extLst>
                    <a:ext uri="{FF2B5EF4-FFF2-40B4-BE49-F238E27FC236}">
                      <a16:creationId xmlns:a16="http://schemas.microsoft.com/office/drawing/2014/main" id="{725EA48B-5ED0-4B57-75B4-D420ADFCA428}"/>
                    </a:ext>
                  </a:extLst>
                </p:cNvPr>
                <p:cNvSpPr/>
                <p:nvPr/>
              </p:nvSpPr>
              <p:spPr>
                <a:xfrm>
                  <a:off x="4101567" y="3554044"/>
                  <a:ext cx="101600" cy="12700"/>
                </a:xfrm>
                <a:custGeom>
                  <a:avLst/>
                  <a:gdLst>
                    <a:gd name="connsiteX0" fmla="*/ 101896 w 101600"/>
                    <a:gd name="connsiteY0" fmla="*/ 154 h 12700"/>
                    <a:gd name="connsiteX1" fmla="*/ 296 w 101600"/>
                    <a:gd name="connsiteY1" fmla="*/ 154 h 12700"/>
                  </a:gdLst>
                  <a:ahLst/>
                  <a:cxnLst>
                    <a:cxn ang="0">
                      <a:pos x="connsiteX0" y="connsiteY0"/>
                    </a:cxn>
                    <a:cxn ang="0">
                      <a:pos x="connsiteX1" y="connsiteY1"/>
                    </a:cxn>
                  </a:cxnLst>
                  <a:rect l="l" t="t" r="r" b="b"/>
                  <a:pathLst>
                    <a:path w="101600" h="12700">
                      <a:moveTo>
                        <a:pt x="101896" y="154"/>
                      </a:moveTo>
                      <a:lnTo>
                        <a:pt x="296" y="154"/>
                      </a:lnTo>
                    </a:path>
                  </a:pathLst>
                </a:custGeom>
                <a:solidFill>
                  <a:srgbClr val="FF0000"/>
                </a:solidFill>
                <a:ln w="12700" cap="flat">
                  <a:solidFill>
                    <a:srgbClr val="FF0000"/>
                  </a:solidFill>
                  <a:prstDash val="solid"/>
                  <a:round/>
                </a:ln>
              </p:spPr>
              <p:txBody>
                <a:bodyPr rtlCol="0" anchor="ctr"/>
                <a:lstStyle/>
                <a:p>
                  <a:endParaRPr lang="en-US"/>
                </a:p>
              </p:txBody>
            </p:sp>
            <p:sp>
              <p:nvSpPr>
                <p:cNvPr id="199" name="フリーフォーム: 図形 198">
                  <a:extLst>
                    <a:ext uri="{FF2B5EF4-FFF2-40B4-BE49-F238E27FC236}">
                      <a16:creationId xmlns:a16="http://schemas.microsoft.com/office/drawing/2014/main" id="{E59F43A3-72B3-BE96-4B8F-639EA5ADED7B}"/>
                    </a:ext>
                  </a:extLst>
                </p:cNvPr>
                <p:cNvSpPr/>
                <p:nvPr/>
              </p:nvSpPr>
              <p:spPr>
                <a:xfrm>
                  <a:off x="4795851" y="3452037"/>
                  <a:ext cx="101600" cy="12700"/>
                </a:xfrm>
                <a:custGeom>
                  <a:avLst/>
                  <a:gdLst>
                    <a:gd name="connsiteX0" fmla="*/ 101951 w 101600"/>
                    <a:gd name="connsiteY0" fmla="*/ 146 h 12700"/>
                    <a:gd name="connsiteX1" fmla="*/ 351 w 101600"/>
                    <a:gd name="connsiteY1" fmla="*/ 146 h 12700"/>
                  </a:gdLst>
                  <a:ahLst/>
                  <a:cxnLst>
                    <a:cxn ang="0">
                      <a:pos x="connsiteX0" y="connsiteY0"/>
                    </a:cxn>
                    <a:cxn ang="0">
                      <a:pos x="connsiteX1" y="connsiteY1"/>
                    </a:cxn>
                  </a:cxnLst>
                  <a:rect l="l" t="t" r="r" b="b"/>
                  <a:pathLst>
                    <a:path w="101600" h="12700">
                      <a:moveTo>
                        <a:pt x="101951" y="146"/>
                      </a:moveTo>
                      <a:lnTo>
                        <a:pt x="351" y="146"/>
                      </a:lnTo>
                    </a:path>
                  </a:pathLst>
                </a:custGeom>
                <a:solidFill>
                  <a:srgbClr val="FF0000"/>
                </a:solidFill>
                <a:ln w="12700" cap="flat">
                  <a:solidFill>
                    <a:srgbClr val="FF0000"/>
                  </a:solidFill>
                  <a:prstDash val="solid"/>
                  <a:round/>
                </a:ln>
              </p:spPr>
              <p:txBody>
                <a:bodyPr rtlCol="0" anchor="ctr"/>
                <a:lstStyle/>
                <a:p>
                  <a:endParaRPr lang="en-US"/>
                </a:p>
              </p:txBody>
            </p:sp>
            <p:sp>
              <p:nvSpPr>
                <p:cNvPr id="200" name="フリーフォーム: 図形 199">
                  <a:extLst>
                    <a:ext uri="{FF2B5EF4-FFF2-40B4-BE49-F238E27FC236}">
                      <a16:creationId xmlns:a16="http://schemas.microsoft.com/office/drawing/2014/main" id="{16574239-C767-3702-D035-1F19960A7B72}"/>
                    </a:ext>
                  </a:extLst>
                </p:cNvPr>
                <p:cNvSpPr/>
                <p:nvPr/>
              </p:nvSpPr>
              <p:spPr>
                <a:xfrm>
                  <a:off x="5490134" y="3428339"/>
                  <a:ext cx="101600" cy="12700"/>
                </a:xfrm>
                <a:custGeom>
                  <a:avLst/>
                  <a:gdLst>
                    <a:gd name="connsiteX0" fmla="*/ 102006 w 101600"/>
                    <a:gd name="connsiteY0" fmla="*/ 144 h 12700"/>
                    <a:gd name="connsiteX1" fmla="*/ 406 w 101600"/>
                    <a:gd name="connsiteY1" fmla="*/ 144 h 12700"/>
                  </a:gdLst>
                  <a:ahLst/>
                  <a:cxnLst>
                    <a:cxn ang="0">
                      <a:pos x="connsiteX0" y="connsiteY0"/>
                    </a:cxn>
                    <a:cxn ang="0">
                      <a:pos x="connsiteX1" y="connsiteY1"/>
                    </a:cxn>
                  </a:cxnLst>
                  <a:rect l="l" t="t" r="r" b="b"/>
                  <a:pathLst>
                    <a:path w="101600" h="12700">
                      <a:moveTo>
                        <a:pt x="102006" y="144"/>
                      </a:moveTo>
                      <a:lnTo>
                        <a:pt x="406" y="144"/>
                      </a:lnTo>
                    </a:path>
                  </a:pathLst>
                </a:custGeom>
                <a:solidFill>
                  <a:srgbClr val="FF0000"/>
                </a:solidFill>
                <a:ln w="12700" cap="flat">
                  <a:solidFill>
                    <a:srgbClr val="FF0000"/>
                  </a:solidFill>
                  <a:prstDash val="solid"/>
                  <a:round/>
                </a:ln>
              </p:spPr>
              <p:txBody>
                <a:bodyPr rtlCol="0" anchor="ctr"/>
                <a:lstStyle/>
                <a:p>
                  <a:endParaRPr lang="en-US"/>
                </a:p>
              </p:txBody>
            </p:sp>
            <p:sp>
              <p:nvSpPr>
                <p:cNvPr id="201" name="フリーフォーム: 図形 200">
                  <a:extLst>
                    <a:ext uri="{FF2B5EF4-FFF2-40B4-BE49-F238E27FC236}">
                      <a16:creationId xmlns:a16="http://schemas.microsoft.com/office/drawing/2014/main" id="{91F5073F-0B6F-B7E4-F608-1DA83D44B750}"/>
                    </a:ext>
                  </a:extLst>
                </p:cNvPr>
                <p:cNvSpPr/>
                <p:nvPr/>
              </p:nvSpPr>
              <p:spPr>
                <a:xfrm>
                  <a:off x="6184418" y="3489134"/>
                  <a:ext cx="101600" cy="12700"/>
                </a:xfrm>
                <a:custGeom>
                  <a:avLst/>
                  <a:gdLst>
                    <a:gd name="connsiteX0" fmla="*/ 102060 w 101600"/>
                    <a:gd name="connsiteY0" fmla="*/ 149 h 12700"/>
                    <a:gd name="connsiteX1" fmla="*/ 460 w 101600"/>
                    <a:gd name="connsiteY1" fmla="*/ 149 h 12700"/>
                  </a:gdLst>
                  <a:ahLst/>
                  <a:cxnLst>
                    <a:cxn ang="0">
                      <a:pos x="connsiteX0" y="connsiteY0"/>
                    </a:cxn>
                    <a:cxn ang="0">
                      <a:pos x="connsiteX1" y="connsiteY1"/>
                    </a:cxn>
                  </a:cxnLst>
                  <a:rect l="l" t="t" r="r" b="b"/>
                  <a:pathLst>
                    <a:path w="101600" h="12700">
                      <a:moveTo>
                        <a:pt x="102060" y="149"/>
                      </a:moveTo>
                      <a:lnTo>
                        <a:pt x="460" y="149"/>
                      </a:lnTo>
                    </a:path>
                  </a:pathLst>
                </a:custGeom>
                <a:solidFill>
                  <a:srgbClr val="FF0000"/>
                </a:solidFill>
                <a:ln w="12700" cap="flat">
                  <a:solidFill>
                    <a:srgbClr val="FF0000"/>
                  </a:solidFill>
                  <a:prstDash val="solid"/>
                  <a:round/>
                </a:ln>
              </p:spPr>
              <p:txBody>
                <a:bodyPr rtlCol="0" anchor="ctr"/>
                <a:lstStyle/>
                <a:p>
                  <a:endParaRPr lang="en-US"/>
                </a:p>
              </p:txBody>
            </p:sp>
            <p:sp>
              <p:nvSpPr>
                <p:cNvPr id="202" name="フリーフォーム: 図形 201">
                  <a:extLst>
                    <a:ext uri="{FF2B5EF4-FFF2-40B4-BE49-F238E27FC236}">
                      <a16:creationId xmlns:a16="http://schemas.microsoft.com/office/drawing/2014/main" id="{00814DBD-6EF2-D646-1546-5D0205510ED5}"/>
                    </a:ext>
                  </a:extLst>
                </p:cNvPr>
                <p:cNvSpPr/>
                <p:nvPr/>
              </p:nvSpPr>
              <p:spPr>
                <a:xfrm>
                  <a:off x="6878689" y="3579507"/>
                  <a:ext cx="101600" cy="12700"/>
                </a:xfrm>
                <a:custGeom>
                  <a:avLst/>
                  <a:gdLst>
                    <a:gd name="connsiteX0" fmla="*/ 102115 w 101600"/>
                    <a:gd name="connsiteY0" fmla="*/ 156 h 12700"/>
                    <a:gd name="connsiteX1" fmla="*/ 515 w 101600"/>
                    <a:gd name="connsiteY1" fmla="*/ 156 h 12700"/>
                  </a:gdLst>
                  <a:ahLst/>
                  <a:cxnLst>
                    <a:cxn ang="0">
                      <a:pos x="connsiteX0" y="connsiteY0"/>
                    </a:cxn>
                    <a:cxn ang="0">
                      <a:pos x="connsiteX1" y="connsiteY1"/>
                    </a:cxn>
                  </a:cxnLst>
                  <a:rect l="l" t="t" r="r" b="b"/>
                  <a:pathLst>
                    <a:path w="101600" h="12700">
                      <a:moveTo>
                        <a:pt x="102115" y="156"/>
                      </a:moveTo>
                      <a:lnTo>
                        <a:pt x="515" y="156"/>
                      </a:lnTo>
                    </a:path>
                  </a:pathLst>
                </a:custGeom>
                <a:solidFill>
                  <a:srgbClr val="FF0000"/>
                </a:solidFill>
                <a:ln w="12700" cap="flat">
                  <a:solidFill>
                    <a:srgbClr val="FF0000"/>
                  </a:solidFill>
                  <a:prstDash val="solid"/>
                  <a:round/>
                </a:ln>
              </p:spPr>
              <p:txBody>
                <a:bodyPr rtlCol="0" anchor="ctr"/>
                <a:lstStyle/>
                <a:p>
                  <a:endParaRPr lang="en-US"/>
                </a:p>
              </p:txBody>
            </p:sp>
            <p:sp>
              <p:nvSpPr>
                <p:cNvPr id="203" name="フリーフォーム: 図形 202">
                  <a:extLst>
                    <a:ext uri="{FF2B5EF4-FFF2-40B4-BE49-F238E27FC236}">
                      <a16:creationId xmlns:a16="http://schemas.microsoft.com/office/drawing/2014/main" id="{7176AE16-B9E7-9AF6-546C-862BD440CA3A}"/>
                    </a:ext>
                  </a:extLst>
                </p:cNvPr>
                <p:cNvSpPr/>
                <p:nvPr/>
              </p:nvSpPr>
              <p:spPr>
                <a:xfrm>
                  <a:off x="7572972" y="3695788"/>
                  <a:ext cx="101600" cy="12700"/>
                </a:xfrm>
                <a:custGeom>
                  <a:avLst/>
                  <a:gdLst>
                    <a:gd name="connsiteX0" fmla="*/ 102170 w 101600"/>
                    <a:gd name="connsiteY0" fmla="*/ 165 h 12700"/>
                    <a:gd name="connsiteX1" fmla="*/ 570 w 101600"/>
                    <a:gd name="connsiteY1" fmla="*/ 165 h 12700"/>
                  </a:gdLst>
                  <a:ahLst/>
                  <a:cxnLst>
                    <a:cxn ang="0">
                      <a:pos x="connsiteX0" y="connsiteY0"/>
                    </a:cxn>
                    <a:cxn ang="0">
                      <a:pos x="connsiteX1" y="connsiteY1"/>
                    </a:cxn>
                  </a:cxnLst>
                  <a:rect l="l" t="t" r="r" b="b"/>
                  <a:pathLst>
                    <a:path w="101600" h="12700">
                      <a:moveTo>
                        <a:pt x="102170" y="165"/>
                      </a:moveTo>
                      <a:lnTo>
                        <a:pt x="570" y="165"/>
                      </a:lnTo>
                    </a:path>
                  </a:pathLst>
                </a:custGeom>
                <a:solidFill>
                  <a:srgbClr val="FF0000"/>
                </a:solidFill>
                <a:ln w="12700" cap="flat">
                  <a:solidFill>
                    <a:srgbClr val="FF0000"/>
                  </a:solidFill>
                  <a:prstDash val="solid"/>
                  <a:round/>
                </a:ln>
              </p:spPr>
              <p:txBody>
                <a:bodyPr rtlCol="0" anchor="ctr"/>
                <a:lstStyle/>
                <a:p>
                  <a:endParaRPr lang="en-US"/>
                </a:p>
              </p:txBody>
            </p:sp>
            <p:sp>
              <p:nvSpPr>
                <p:cNvPr id="204" name="フリーフォーム: 図形 203">
                  <a:extLst>
                    <a:ext uri="{FF2B5EF4-FFF2-40B4-BE49-F238E27FC236}">
                      <a16:creationId xmlns:a16="http://schemas.microsoft.com/office/drawing/2014/main" id="{E6044A43-88B3-50ED-E163-03370C24FFEB}"/>
                    </a:ext>
                  </a:extLst>
                </p:cNvPr>
                <p:cNvSpPr/>
                <p:nvPr/>
              </p:nvSpPr>
              <p:spPr>
                <a:xfrm>
                  <a:off x="8267256" y="3801529"/>
                  <a:ext cx="101600" cy="12700"/>
                </a:xfrm>
                <a:custGeom>
                  <a:avLst/>
                  <a:gdLst>
                    <a:gd name="connsiteX0" fmla="*/ 102224 w 101600"/>
                    <a:gd name="connsiteY0" fmla="*/ 173 h 12700"/>
                    <a:gd name="connsiteX1" fmla="*/ 624 w 101600"/>
                    <a:gd name="connsiteY1" fmla="*/ 173 h 12700"/>
                  </a:gdLst>
                  <a:ahLst/>
                  <a:cxnLst>
                    <a:cxn ang="0">
                      <a:pos x="connsiteX0" y="connsiteY0"/>
                    </a:cxn>
                    <a:cxn ang="0">
                      <a:pos x="connsiteX1" y="connsiteY1"/>
                    </a:cxn>
                  </a:cxnLst>
                  <a:rect l="l" t="t" r="r" b="b"/>
                  <a:pathLst>
                    <a:path w="101600" h="12700">
                      <a:moveTo>
                        <a:pt x="102224" y="173"/>
                      </a:moveTo>
                      <a:lnTo>
                        <a:pt x="624" y="173"/>
                      </a:lnTo>
                    </a:path>
                  </a:pathLst>
                </a:custGeom>
                <a:solidFill>
                  <a:srgbClr val="FF0000"/>
                </a:solidFill>
                <a:ln w="12700" cap="flat">
                  <a:solidFill>
                    <a:srgbClr val="FF0000"/>
                  </a:solidFill>
                  <a:prstDash val="solid"/>
                  <a:round/>
                </a:ln>
              </p:spPr>
              <p:txBody>
                <a:bodyPr rtlCol="0" anchor="ctr"/>
                <a:lstStyle/>
                <a:p>
                  <a:endParaRPr lang="en-US"/>
                </a:p>
              </p:txBody>
            </p:sp>
            <p:sp>
              <p:nvSpPr>
                <p:cNvPr id="205" name="フリーフォーム: 図形 204">
                  <a:extLst>
                    <a:ext uri="{FF2B5EF4-FFF2-40B4-BE49-F238E27FC236}">
                      <a16:creationId xmlns:a16="http://schemas.microsoft.com/office/drawing/2014/main" id="{1D943E7B-3563-C3FA-5013-582B55C5B238}"/>
                    </a:ext>
                  </a:extLst>
                </p:cNvPr>
                <p:cNvSpPr/>
                <p:nvPr/>
              </p:nvSpPr>
              <p:spPr>
                <a:xfrm>
                  <a:off x="8961540" y="3828262"/>
                  <a:ext cx="101600" cy="12700"/>
                </a:xfrm>
                <a:custGeom>
                  <a:avLst/>
                  <a:gdLst>
                    <a:gd name="connsiteX0" fmla="*/ 102279 w 101600"/>
                    <a:gd name="connsiteY0" fmla="*/ 175 h 12700"/>
                    <a:gd name="connsiteX1" fmla="*/ 679 w 101600"/>
                    <a:gd name="connsiteY1" fmla="*/ 175 h 12700"/>
                  </a:gdLst>
                  <a:ahLst/>
                  <a:cxnLst>
                    <a:cxn ang="0">
                      <a:pos x="connsiteX0" y="connsiteY0"/>
                    </a:cxn>
                    <a:cxn ang="0">
                      <a:pos x="connsiteX1" y="connsiteY1"/>
                    </a:cxn>
                  </a:cxnLst>
                  <a:rect l="l" t="t" r="r" b="b"/>
                  <a:pathLst>
                    <a:path w="101600" h="12700">
                      <a:moveTo>
                        <a:pt x="102279" y="175"/>
                      </a:moveTo>
                      <a:lnTo>
                        <a:pt x="679" y="175"/>
                      </a:lnTo>
                    </a:path>
                  </a:pathLst>
                </a:custGeom>
                <a:solidFill>
                  <a:srgbClr val="FF0000"/>
                </a:solidFill>
                <a:ln w="12700" cap="flat">
                  <a:solidFill>
                    <a:srgbClr val="FF0000"/>
                  </a:solidFill>
                  <a:prstDash val="solid"/>
                  <a:round/>
                </a:ln>
              </p:spPr>
              <p:txBody>
                <a:bodyPr rtlCol="0" anchor="ctr"/>
                <a:lstStyle/>
                <a:p>
                  <a:endParaRPr lang="en-US"/>
                </a:p>
              </p:txBody>
            </p:sp>
          </p:grpSp>
          <p:grpSp>
            <p:nvGrpSpPr>
              <p:cNvPr id="206" name="グラフィックス 6">
                <a:extLst>
                  <a:ext uri="{FF2B5EF4-FFF2-40B4-BE49-F238E27FC236}">
                    <a16:creationId xmlns:a16="http://schemas.microsoft.com/office/drawing/2014/main" id="{45940F18-EF48-BC43-D7BF-A4822024D5C0}"/>
                  </a:ext>
                </a:extLst>
              </p:cNvPr>
              <p:cNvGrpSpPr/>
              <p:nvPr/>
            </p:nvGrpSpPr>
            <p:grpSpPr>
              <a:xfrm>
                <a:off x="1318099" y="3433127"/>
                <a:ext cx="7738691" cy="558140"/>
                <a:chOff x="1318099" y="3433127"/>
                <a:chExt cx="7738691" cy="558140"/>
              </a:xfrm>
            </p:grpSpPr>
            <p:sp>
              <p:nvSpPr>
                <p:cNvPr id="207" name="フリーフォーム: 図形 206">
                  <a:extLst>
                    <a:ext uri="{FF2B5EF4-FFF2-40B4-BE49-F238E27FC236}">
                      <a16:creationId xmlns:a16="http://schemas.microsoft.com/office/drawing/2014/main" id="{49D8CB0B-AA2C-0469-13D0-A758447EBFAE}"/>
                    </a:ext>
                  </a:extLst>
                </p:cNvPr>
                <p:cNvSpPr/>
                <p:nvPr/>
              </p:nvSpPr>
              <p:spPr>
                <a:xfrm>
                  <a:off x="1368899" y="3483927"/>
                  <a:ext cx="7637090" cy="456539"/>
                </a:xfrm>
                <a:custGeom>
                  <a:avLst/>
                  <a:gdLst>
                    <a:gd name="connsiteX0" fmla="*/ 0 w 7637090"/>
                    <a:gd name="connsiteY0" fmla="*/ 456540 h 456539"/>
                    <a:gd name="connsiteX1" fmla="*/ 694280 w 7637090"/>
                    <a:gd name="connsiteY1" fmla="*/ 323609 h 456539"/>
                    <a:gd name="connsiteX2" fmla="*/ 1388563 w 7637090"/>
                    <a:gd name="connsiteY2" fmla="*/ 290297 h 456539"/>
                    <a:gd name="connsiteX3" fmla="*/ 2082847 w 7637090"/>
                    <a:gd name="connsiteY3" fmla="*/ 174193 h 456539"/>
                    <a:gd name="connsiteX4" fmla="*/ 2777118 w 7637090"/>
                    <a:gd name="connsiteY4" fmla="*/ 123457 h 456539"/>
                    <a:gd name="connsiteX5" fmla="*/ 3471402 w 7637090"/>
                    <a:gd name="connsiteY5" fmla="*/ 23394 h 456539"/>
                    <a:gd name="connsiteX6" fmla="*/ 4165685 w 7637090"/>
                    <a:gd name="connsiteY6" fmla="*/ 0 h 456539"/>
                    <a:gd name="connsiteX7" fmla="*/ 4859969 w 7637090"/>
                    <a:gd name="connsiteY7" fmla="*/ 65494 h 456539"/>
                    <a:gd name="connsiteX8" fmla="*/ 5554240 w 7637090"/>
                    <a:gd name="connsiteY8" fmla="*/ 156769 h 456539"/>
                    <a:gd name="connsiteX9" fmla="*/ 6248523 w 7637090"/>
                    <a:gd name="connsiteY9" fmla="*/ 267081 h 456539"/>
                    <a:gd name="connsiteX10" fmla="*/ 6942807 w 7637090"/>
                    <a:gd name="connsiteY10" fmla="*/ 374968 h 456539"/>
                    <a:gd name="connsiteX11" fmla="*/ 7637091 w 7637090"/>
                    <a:gd name="connsiteY11" fmla="*/ 410972 h 456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637090" h="456539">
                      <a:moveTo>
                        <a:pt x="0" y="456540"/>
                      </a:moveTo>
                      <a:lnTo>
                        <a:pt x="694280" y="323609"/>
                      </a:lnTo>
                      <a:lnTo>
                        <a:pt x="1388563" y="290297"/>
                      </a:lnTo>
                      <a:lnTo>
                        <a:pt x="2082847" y="174193"/>
                      </a:lnTo>
                      <a:lnTo>
                        <a:pt x="2777118" y="123457"/>
                      </a:lnTo>
                      <a:lnTo>
                        <a:pt x="3471402" y="23394"/>
                      </a:lnTo>
                      <a:lnTo>
                        <a:pt x="4165685" y="0"/>
                      </a:lnTo>
                      <a:lnTo>
                        <a:pt x="4859969" y="65494"/>
                      </a:lnTo>
                      <a:lnTo>
                        <a:pt x="5554240" y="156769"/>
                      </a:lnTo>
                      <a:lnTo>
                        <a:pt x="6248523" y="267081"/>
                      </a:lnTo>
                      <a:lnTo>
                        <a:pt x="6942807" y="374968"/>
                      </a:lnTo>
                      <a:lnTo>
                        <a:pt x="7637091" y="410972"/>
                      </a:lnTo>
                    </a:path>
                  </a:pathLst>
                </a:custGeom>
                <a:noFill/>
                <a:ln w="12700" cap="sq">
                  <a:solidFill>
                    <a:schemeClr val="accent1"/>
                  </a:solidFill>
                  <a:prstDash val="dash"/>
                  <a:round/>
                </a:ln>
              </p:spPr>
              <p:txBody>
                <a:bodyPr rtlCol="0" anchor="ctr"/>
                <a:lstStyle/>
                <a:p>
                  <a:endParaRPr lang="en-US"/>
                </a:p>
              </p:txBody>
            </p:sp>
            <p:grpSp>
              <p:nvGrpSpPr>
                <p:cNvPr id="208" name="グラフィックス 6">
                  <a:extLst>
                    <a:ext uri="{FF2B5EF4-FFF2-40B4-BE49-F238E27FC236}">
                      <a16:creationId xmlns:a16="http://schemas.microsoft.com/office/drawing/2014/main" id="{EF78963E-4C11-82ED-5253-29B49C70C60E}"/>
                    </a:ext>
                  </a:extLst>
                </p:cNvPr>
                <p:cNvGrpSpPr/>
                <p:nvPr/>
              </p:nvGrpSpPr>
              <p:grpSpPr>
                <a:xfrm>
                  <a:off x="1318099" y="3433127"/>
                  <a:ext cx="7738691" cy="558140"/>
                  <a:chOff x="1318099" y="3433127"/>
                  <a:chExt cx="7738691" cy="558140"/>
                </a:xfrm>
              </p:grpSpPr>
              <p:sp>
                <p:nvSpPr>
                  <p:cNvPr id="209" name="フリーフォーム: 図形 208">
                    <a:extLst>
                      <a:ext uri="{FF2B5EF4-FFF2-40B4-BE49-F238E27FC236}">
                        <a16:creationId xmlns:a16="http://schemas.microsoft.com/office/drawing/2014/main" id="{D279E425-4FAC-8D39-ACE6-CA1AD8712B23}"/>
                      </a:ext>
                    </a:extLst>
                  </p:cNvPr>
                  <p:cNvSpPr/>
                  <p:nvPr/>
                </p:nvSpPr>
                <p:spPr>
                  <a:xfrm>
                    <a:off x="1318099" y="3889667"/>
                    <a:ext cx="101600" cy="101600"/>
                  </a:xfrm>
                  <a:custGeom>
                    <a:avLst/>
                    <a:gdLst>
                      <a:gd name="connsiteX0" fmla="*/ 50878 w 101600"/>
                      <a:gd name="connsiteY0" fmla="*/ 101784 h 101600"/>
                      <a:gd name="connsiteX1" fmla="*/ 86799 w 101600"/>
                      <a:gd name="connsiteY1" fmla="*/ 86905 h 101600"/>
                      <a:gd name="connsiteX2" fmla="*/ 101678 w 101600"/>
                      <a:gd name="connsiteY2" fmla="*/ 50984 h 101600"/>
                      <a:gd name="connsiteX3" fmla="*/ 86799 w 101600"/>
                      <a:gd name="connsiteY3" fmla="*/ 15063 h 101600"/>
                      <a:gd name="connsiteX4" fmla="*/ 50878 w 101600"/>
                      <a:gd name="connsiteY4" fmla="*/ 184 h 101600"/>
                      <a:gd name="connsiteX5" fmla="*/ 14957 w 101600"/>
                      <a:gd name="connsiteY5" fmla="*/ 15063 h 101600"/>
                      <a:gd name="connsiteX6" fmla="*/ 78 w 101600"/>
                      <a:gd name="connsiteY6" fmla="*/ 50984 h 101600"/>
                      <a:gd name="connsiteX7" fmla="*/ 14957 w 101600"/>
                      <a:gd name="connsiteY7" fmla="*/ 86905 h 101600"/>
                      <a:gd name="connsiteX8" fmla="*/ 50878 w 101600"/>
                      <a:gd name="connsiteY8" fmla="*/ 101784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1600" h="101600">
                        <a:moveTo>
                          <a:pt x="50878" y="101784"/>
                        </a:moveTo>
                        <a:cubicBezTo>
                          <a:pt x="64350" y="101784"/>
                          <a:pt x="77272" y="96432"/>
                          <a:pt x="86799" y="86905"/>
                        </a:cubicBezTo>
                        <a:cubicBezTo>
                          <a:pt x="96325" y="77379"/>
                          <a:pt x="101678" y="64457"/>
                          <a:pt x="101678" y="50984"/>
                        </a:cubicBezTo>
                        <a:cubicBezTo>
                          <a:pt x="101678" y="37512"/>
                          <a:pt x="96325" y="24590"/>
                          <a:pt x="86799" y="15063"/>
                        </a:cubicBezTo>
                        <a:cubicBezTo>
                          <a:pt x="77272" y="5537"/>
                          <a:pt x="64350" y="184"/>
                          <a:pt x="50878" y="184"/>
                        </a:cubicBezTo>
                        <a:cubicBezTo>
                          <a:pt x="37406" y="184"/>
                          <a:pt x="24483" y="5537"/>
                          <a:pt x="14957" y="15063"/>
                        </a:cubicBezTo>
                        <a:cubicBezTo>
                          <a:pt x="5430" y="24590"/>
                          <a:pt x="78" y="37512"/>
                          <a:pt x="78" y="50984"/>
                        </a:cubicBezTo>
                        <a:cubicBezTo>
                          <a:pt x="78" y="64457"/>
                          <a:pt x="5430" y="77379"/>
                          <a:pt x="14957" y="86905"/>
                        </a:cubicBezTo>
                        <a:cubicBezTo>
                          <a:pt x="24483" y="96432"/>
                          <a:pt x="37406" y="101784"/>
                          <a:pt x="50878" y="101784"/>
                        </a:cubicBezTo>
                        <a:close/>
                      </a:path>
                    </a:pathLst>
                  </a:custGeom>
                  <a:noFill/>
                  <a:ln w="12700" cap="flat">
                    <a:solidFill>
                      <a:srgbClr val="1F77B4"/>
                    </a:solidFill>
                    <a:prstDash val="solid"/>
                    <a:round/>
                  </a:ln>
                </p:spPr>
                <p:txBody>
                  <a:bodyPr rtlCol="0" anchor="ctr"/>
                  <a:lstStyle/>
                  <a:p>
                    <a:endParaRPr lang="en-US"/>
                  </a:p>
                </p:txBody>
              </p:sp>
              <p:sp>
                <p:nvSpPr>
                  <p:cNvPr id="210" name="フリーフォーム: 図形 209">
                    <a:extLst>
                      <a:ext uri="{FF2B5EF4-FFF2-40B4-BE49-F238E27FC236}">
                        <a16:creationId xmlns:a16="http://schemas.microsoft.com/office/drawing/2014/main" id="{0055472E-61C2-4873-B945-F2BB2BE171EB}"/>
                      </a:ext>
                    </a:extLst>
                  </p:cNvPr>
                  <p:cNvSpPr/>
                  <p:nvPr/>
                </p:nvSpPr>
                <p:spPr>
                  <a:xfrm>
                    <a:off x="2012379" y="3756736"/>
                    <a:ext cx="101600" cy="101600"/>
                  </a:xfrm>
                  <a:custGeom>
                    <a:avLst/>
                    <a:gdLst>
                      <a:gd name="connsiteX0" fmla="*/ 50932 w 101600"/>
                      <a:gd name="connsiteY0" fmla="*/ 101774 h 101600"/>
                      <a:gd name="connsiteX1" fmla="*/ 86854 w 101600"/>
                      <a:gd name="connsiteY1" fmla="*/ 86895 h 101600"/>
                      <a:gd name="connsiteX2" fmla="*/ 101732 w 101600"/>
                      <a:gd name="connsiteY2" fmla="*/ 50974 h 101600"/>
                      <a:gd name="connsiteX3" fmla="*/ 86854 w 101600"/>
                      <a:gd name="connsiteY3" fmla="*/ 15053 h 101600"/>
                      <a:gd name="connsiteX4" fmla="*/ 50932 w 101600"/>
                      <a:gd name="connsiteY4" fmla="*/ 174 h 101600"/>
                      <a:gd name="connsiteX5" fmla="*/ 15011 w 101600"/>
                      <a:gd name="connsiteY5" fmla="*/ 15053 h 101600"/>
                      <a:gd name="connsiteX6" fmla="*/ 132 w 101600"/>
                      <a:gd name="connsiteY6" fmla="*/ 50974 h 101600"/>
                      <a:gd name="connsiteX7" fmla="*/ 15011 w 101600"/>
                      <a:gd name="connsiteY7" fmla="*/ 86895 h 101600"/>
                      <a:gd name="connsiteX8" fmla="*/ 50932 w 101600"/>
                      <a:gd name="connsiteY8" fmla="*/ 101774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1600" h="101600">
                        <a:moveTo>
                          <a:pt x="50932" y="101774"/>
                        </a:moveTo>
                        <a:cubicBezTo>
                          <a:pt x="64405" y="101774"/>
                          <a:pt x="77327" y="96421"/>
                          <a:pt x="86854" y="86895"/>
                        </a:cubicBezTo>
                        <a:cubicBezTo>
                          <a:pt x="96380" y="77368"/>
                          <a:pt x="101732" y="64446"/>
                          <a:pt x="101732" y="50974"/>
                        </a:cubicBezTo>
                        <a:cubicBezTo>
                          <a:pt x="101732" y="37502"/>
                          <a:pt x="96380" y="24579"/>
                          <a:pt x="86854" y="15053"/>
                        </a:cubicBezTo>
                        <a:cubicBezTo>
                          <a:pt x="77327" y="5526"/>
                          <a:pt x="64405" y="174"/>
                          <a:pt x="50932" y="174"/>
                        </a:cubicBezTo>
                        <a:cubicBezTo>
                          <a:pt x="37460" y="174"/>
                          <a:pt x="24538" y="5526"/>
                          <a:pt x="15011" y="15053"/>
                        </a:cubicBezTo>
                        <a:cubicBezTo>
                          <a:pt x="5485" y="24579"/>
                          <a:pt x="132" y="37502"/>
                          <a:pt x="132" y="50974"/>
                        </a:cubicBezTo>
                        <a:cubicBezTo>
                          <a:pt x="132" y="64446"/>
                          <a:pt x="5485" y="77368"/>
                          <a:pt x="15011" y="86895"/>
                        </a:cubicBezTo>
                        <a:cubicBezTo>
                          <a:pt x="24538" y="96421"/>
                          <a:pt x="37460" y="101774"/>
                          <a:pt x="50932" y="101774"/>
                        </a:cubicBezTo>
                        <a:close/>
                      </a:path>
                    </a:pathLst>
                  </a:custGeom>
                  <a:noFill/>
                  <a:ln w="12700" cap="flat">
                    <a:solidFill>
                      <a:srgbClr val="1F77B4"/>
                    </a:solidFill>
                    <a:prstDash val="solid"/>
                    <a:round/>
                  </a:ln>
                </p:spPr>
                <p:txBody>
                  <a:bodyPr rtlCol="0" anchor="ctr"/>
                  <a:lstStyle/>
                  <a:p>
                    <a:endParaRPr lang="en-US"/>
                  </a:p>
                </p:txBody>
              </p:sp>
              <p:sp>
                <p:nvSpPr>
                  <p:cNvPr id="211" name="フリーフォーム: 図形 210">
                    <a:extLst>
                      <a:ext uri="{FF2B5EF4-FFF2-40B4-BE49-F238E27FC236}">
                        <a16:creationId xmlns:a16="http://schemas.microsoft.com/office/drawing/2014/main" id="{98B5659C-90B8-221D-1E0B-C4EF4A29D520}"/>
                      </a:ext>
                    </a:extLst>
                  </p:cNvPr>
                  <p:cNvSpPr/>
                  <p:nvPr/>
                </p:nvSpPr>
                <p:spPr>
                  <a:xfrm>
                    <a:off x="2706663" y="3723424"/>
                    <a:ext cx="101600" cy="101600"/>
                  </a:xfrm>
                  <a:custGeom>
                    <a:avLst/>
                    <a:gdLst>
                      <a:gd name="connsiteX0" fmla="*/ 50987 w 101600"/>
                      <a:gd name="connsiteY0" fmla="*/ 101771 h 101600"/>
                      <a:gd name="connsiteX1" fmla="*/ 86908 w 101600"/>
                      <a:gd name="connsiteY1" fmla="*/ 86892 h 101600"/>
                      <a:gd name="connsiteX2" fmla="*/ 101787 w 101600"/>
                      <a:gd name="connsiteY2" fmla="*/ 50971 h 101600"/>
                      <a:gd name="connsiteX3" fmla="*/ 86908 w 101600"/>
                      <a:gd name="connsiteY3" fmla="*/ 15050 h 101600"/>
                      <a:gd name="connsiteX4" fmla="*/ 50987 w 101600"/>
                      <a:gd name="connsiteY4" fmla="*/ 171 h 101600"/>
                      <a:gd name="connsiteX5" fmla="*/ 15066 w 101600"/>
                      <a:gd name="connsiteY5" fmla="*/ 15050 h 101600"/>
                      <a:gd name="connsiteX6" fmla="*/ 187 w 101600"/>
                      <a:gd name="connsiteY6" fmla="*/ 50971 h 101600"/>
                      <a:gd name="connsiteX7" fmla="*/ 15066 w 101600"/>
                      <a:gd name="connsiteY7" fmla="*/ 86892 h 101600"/>
                      <a:gd name="connsiteX8" fmla="*/ 50987 w 101600"/>
                      <a:gd name="connsiteY8" fmla="*/ 101771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1600" h="101600">
                        <a:moveTo>
                          <a:pt x="50987" y="101771"/>
                        </a:moveTo>
                        <a:cubicBezTo>
                          <a:pt x="64459" y="101771"/>
                          <a:pt x="77382" y="96419"/>
                          <a:pt x="86908" y="86892"/>
                        </a:cubicBezTo>
                        <a:cubicBezTo>
                          <a:pt x="96435" y="77366"/>
                          <a:pt x="101787" y="64443"/>
                          <a:pt x="101787" y="50971"/>
                        </a:cubicBezTo>
                        <a:cubicBezTo>
                          <a:pt x="101787" y="37499"/>
                          <a:pt x="96435" y="24577"/>
                          <a:pt x="86908" y="15050"/>
                        </a:cubicBezTo>
                        <a:cubicBezTo>
                          <a:pt x="77382" y="5524"/>
                          <a:pt x="64459" y="171"/>
                          <a:pt x="50987" y="171"/>
                        </a:cubicBezTo>
                        <a:cubicBezTo>
                          <a:pt x="37515" y="171"/>
                          <a:pt x="24592" y="5524"/>
                          <a:pt x="15066" y="15050"/>
                        </a:cubicBezTo>
                        <a:cubicBezTo>
                          <a:pt x="5540" y="24577"/>
                          <a:pt x="187" y="37499"/>
                          <a:pt x="187" y="50971"/>
                        </a:cubicBezTo>
                        <a:cubicBezTo>
                          <a:pt x="187" y="64443"/>
                          <a:pt x="5540" y="77366"/>
                          <a:pt x="15066" y="86892"/>
                        </a:cubicBezTo>
                        <a:cubicBezTo>
                          <a:pt x="24592" y="96419"/>
                          <a:pt x="37515" y="101771"/>
                          <a:pt x="50987" y="101771"/>
                        </a:cubicBezTo>
                        <a:close/>
                      </a:path>
                    </a:pathLst>
                  </a:custGeom>
                  <a:noFill/>
                  <a:ln w="12700" cap="flat">
                    <a:solidFill>
                      <a:srgbClr val="1F77B4"/>
                    </a:solidFill>
                    <a:prstDash val="solid"/>
                    <a:round/>
                  </a:ln>
                </p:spPr>
                <p:txBody>
                  <a:bodyPr rtlCol="0" anchor="ctr"/>
                  <a:lstStyle/>
                  <a:p>
                    <a:endParaRPr lang="en-US"/>
                  </a:p>
                </p:txBody>
              </p:sp>
              <p:sp>
                <p:nvSpPr>
                  <p:cNvPr id="212" name="フリーフォーム: 図形 211">
                    <a:extLst>
                      <a:ext uri="{FF2B5EF4-FFF2-40B4-BE49-F238E27FC236}">
                        <a16:creationId xmlns:a16="http://schemas.microsoft.com/office/drawing/2014/main" id="{CD2C3B84-2117-31B1-99C3-EEF8D15576D4}"/>
                      </a:ext>
                    </a:extLst>
                  </p:cNvPr>
                  <p:cNvSpPr/>
                  <p:nvPr/>
                </p:nvSpPr>
                <p:spPr>
                  <a:xfrm>
                    <a:off x="3400946" y="3607320"/>
                    <a:ext cx="101600" cy="101600"/>
                  </a:xfrm>
                  <a:custGeom>
                    <a:avLst/>
                    <a:gdLst>
                      <a:gd name="connsiteX0" fmla="*/ 51042 w 101600"/>
                      <a:gd name="connsiteY0" fmla="*/ 101762 h 101600"/>
                      <a:gd name="connsiteX1" fmla="*/ 86963 w 101600"/>
                      <a:gd name="connsiteY1" fmla="*/ 86883 h 101600"/>
                      <a:gd name="connsiteX2" fmla="*/ 101842 w 101600"/>
                      <a:gd name="connsiteY2" fmla="*/ 50962 h 101600"/>
                      <a:gd name="connsiteX3" fmla="*/ 86963 w 101600"/>
                      <a:gd name="connsiteY3" fmla="*/ 15041 h 101600"/>
                      <a:gd name="connsiteX4" fmla="*/ 51042 w 101600"/>
                      <a:gd name="connsiteY4" fmla="*/ 162 h 101600"/>
                      <a:gd name="connsiteX5" fmla="*/ 15121 w 101600"/>
                      <a:gd name="connsiteY5" fmla="*/ 15041 h 101600"/>
                      <a:gd name="connsiteX6" fmla="*/ 242 w 101600"/>
                      <a:gd name="connsiteY6" fmla="*/ 50962 h 101600"/>
                      <a:gd name="connsiteX7" fmla="*/ 15121 w 101600"/>
                      <a:gd name="connsiteY7" fmla="*/ 86883 h 101600"/>
                      <a:gd name="connsiteX8" fmla="*/ 51042 w 101600"/>
                      <a:gd name="connsiteY8" fmla="*/ 101762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1600" h="101600">
                        <a:moveTo>
                          <a:pt x="51042" y="101762"/>
                        </a:moveTo>
                        <a:cubicBezTo>
                          <a:pt x="64514" y="101762"/>
                          <a:pt x="77436" y="96410"/>
                          <a:pt x="86963" y="86883"/>
                        </a:cubicBezTo>
                        <a:cubicBezTo>
                          <a:pt x="96489" y="77357"/>
                          <a:pt x="101842" y="64434"/>
                          <a:pt x="101842" y="50962"/>
                        </a:cubicBezTo>
                        <a:cubicBezTo>
                          <a:pt x="101842" y="37490"/>
                          <a:pt x="96489" y="24567"/>
                          <a:pt x="86963" y="15041"/>
                        </a:cubicBezTo>
                        <a:cubicBezTo>
                          <a:pt x="77436" y="5515"/>
                          <a:pt x="64514" y="162"/>
                          <a:pt x="51042" y="162"/>
                        </a:cubicBezTo>
                        <a:cubicBezTo>
                          <a:pt x="37570" y="162"/>
                          <a:pt x="24647" y="5515"/>
                          <a:pt x="15121" y="15041"/>
                        </a:cubicBezTo>
                        <a:cubicBezTo>
                          <a:pt x="5594" y="24567"/>
                          <a:pt x="242" y="37490"/>
                          <a:pt x="242" y="50962"/>
                        </a:cubicBezTo>
                        <a:cubicBezTo>
                          <a:pt x="242" y="64434"/>
                          <a:pt x="5594" y="77357"/>
                          <a:pt x="15121" y="86883"/>
                        </a:cubicBezTo>
                        <a:cubicBezTo>
                          <a:pt x="24647" y="96410"/>
                          <a:pt x="37570" y="101762"/>
                          <a:pt x="51042" y="101762"/>
                        </a:cubicBezTo>
                        <a:close/>
                      </a:path>
                    </a:pathLst>
                  </a:custGeom>
                  <a:noFill/>
                  <a:ln w="12700" cap="flat">
                    <a:solidFill>
                      <a:srgbClr val="1F77B4"/>
                    </a:solidFill>
                    <a:prstDash val="solid"/>
                    <a:round/>
                  </a:ln>
                </p:spPr>
                <p:txBody>
                  <a:bodyPr rtlCol="0" anchor="ctr"/>
                  <a:lstStyle/>
                  <a:p>
                    <a:endParaRPr lang="en-US"/>
                  </a:p>
                </p:txBody>
              </p:sp>
              <p:sp>
                <p:nvSpPr>
                  <p:cNvPr id="213" name="フリーフォーム: 図形 212">
                    <a:extLst>
                      <a:ext uri="{FF2B5EF4-FFF2-40B4-BE49-F238E27FC236}">
                        <a16:creationId xmlns:a16="http://schemas.microsoft.com/office/drawing/2014/main" id="{AE3381A1-8D2B-8690-843A-6A8DB2864750}"/>
                      </a:ext>
                    </a:extLst>
                  </p:cNvPr>
                  <p:cNvSpPr/>
                  <p:nvPr/>
                </p:nvSpPr>
                <p:spPr>
                  <a:xfrm>
                    <a:off x="4095217" y="3556584"/>
                    <a:ext cx="101600" cy="101600"/>
                  </a:xfrm>
                  <a:custGeom>
                    <a:avLst/>
                    <a:gdLst>
                      <a:gd name="connsiteX0" fmla="*/ 51096 w 101600"/>
                      <a:gd name="connsiteY0" fmla="*/ 101758 h 101600"/>
                      <a:gd name="connsiteX1" fmla="*/ 87018 w 101600"/>
                      <a:gd name="connsiteY1" fmla="*/ 86879 h 101600"/>
                      <a:gd name="connsiteX2" fmla="*/ 101896 w 101600"/>
                      <a:gd name="connsiteY2" fmla="*/ 50958 h 101600"/>
                      <a:gd name="connsiteX3" fmla="*/ 87018 w 101600"/>
                      <a:gd name="connsiteY3" fmla="*/ 15037 h 101600"/>
                      <a:gd name="connsiteX4" fmla="*/ 51096 w 101600"/>
                      <a:gd name="connsiteY4" fmla="*/ 158 h 101600"/>
                      <a:gd name="connsiteX5" fmla="*/ 15175 w 101600"/>
                      <a:gd name="connsiteY5" fmla="*/ 15037 h 101600"/>
                      <a:gd name="connsiteX6" fmla="*/ 296 w 101600"/>
                      <a:gd name="connsiteY6" fmla="*/ 50958 h 101600"/>
                      <a:gd name="connsiteX7" fmla="*/ 15175 w 101600"/>
                      <a:gd name="connsiteY7" fmla="*/ 86879 h 101600"/>
                      <a:gd name="connsiteX8" fmla="*/ 51096 w 101600"/>
                      <a:gd name="connsiteY8" fmla="*/ 101758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1600" h="101600">
                        <a:moveTo>
                          <a:pt x="51096" y="101758"/>
                        </a:moveTo>
                        <a:cubicBezTo>
                          <a:pt x="64569" y="101758"/>
                          <a:pt x="77491" y="96406"/>
                          <a:pt x="87018" y="86879"/>
                        </a:cubicBezTo>
                        <a:cubicBezTo>
                          <a:pt x="96544" y="77353"/>
                          <a:pt x="101896" y="64430"/>
                          <a:pt x="101896" y="50958"/>
                        </a:cubicBezTo>
                        <a:cubicBezTo>
                          <a:pt x="101896" y="37486"/>
                          <a:pt x="96544" y="24563"/>
                          <a:pt x="87018" y="15037"/>
                        </a:cubicBezTo>
                        <a:cubicBezTo>
                          <a:pt x="77491" y="5511"/>
                          <a:pt x="64569" y="158"/>
                          <a:pt x="51096" y="158"/>
                        </a:cubicBezTo>
                        <a:cubicBezTo>
                          <a:pt x="37624" y="158"/>
                          <a:pt x="24702" y="5511"/>
                          <a:pt x="15175" y="15037"/>
                        </a:cubicBezTo>
                        <a:cubicBezTo>
                          <a:pt x="5649" y="24563"/>
                          <a:pt x="296" y="37486"/>
                          <a:pt x="296" y="50958"/>
                        </a:cubicBezTo>
                        <a:cubicBezTo>
                          <a:pt x="296" y="64430"/>
                          <a:pt x="5649" y="77353"/>
                          <a:pt x="15175" y="86879"/>
                        </a:cubicBezTo>
                        <a:cubicBezTo>
                          <a:pt x="24702" y="96406"/>
                          <a:pt x="37624" y="101758"/>
                          <a:pt x="51096" y="101758"/>
                        </a:cubicBezTo>
                        <a:close/>
                      </a:path>
                    </a:pathLst>
                  </a:custGeom>
                  <a:noFill/>
                  <a:ln w="12700" cap="flat">
                    <a:solidFill>
                      <a:srgbClr val="1F77B4"/>
                    </a:solidFill>
                    <a:prstDash val="solid"/>
                    <a:round/>
                  </a:ln>
                </p:spPr>
                <p:txBody>
                  <a:bodyPr rtlCol="0" anchor="ctr"/>
                  <a:lstStyle/>
                  <a:p>
                    <a:endParaRPr lang="en-US"/>
                  </a:p>
                </p:txBody>
              </p:sp>
              <p:sp>
                <p:nvSpPr>
                  <p:cNvPr id="214" name="フリーフォーム: 図形 213">
                    <a:extLst>
                      <a:ext uri="{FF2B5EF4-FFF2-40B4-BE49-F238E27FC236}">
                        <a16:creationId xmlns:a16="http://schemas.microsoft.com/office/drawing/2014/main" id="{01D67ADC-EF68-105A-B4DA-649582682277}"/>
                      </a:ext>
                    </a:extLst>
                  </p:cNvPr>
                  <p:cNvSpPr/>
                  <p:nvPr/>
                </p:nvSpPr>
                <p:spPr>
                  <a:xfrm>
                    <a:off x="4789501" y="3456520"/>
                    <a:ext cx="101600" cy="101600"/>
                  </a:xfrm>
                  <a:custGeom>
                    <a:avLst/>
                    <a:gdLst>
                      <a:gd name="connsiteX0" fmla="*/ 51151 w 101600"/>
                      <a:gd name="connsiteY0" fmla="*/ 101750 h 101600"/>
                      <a:gd name="connsiteX1" fmla="*/ 87072 w 101600"/>
                      <a:gd name="connsiteY1" fmla="*/ 86871 h 101600"/>
                      <a:gd name="connsiteX2" fmla="*/ 101951 w 101600"/>
                      <a:gd name="connsiteY2" fmla="*/ 50950 h 101600"/>
                      <a:gd name="connsiteX3" fmla="*/ 87072 w 101600"/>
                      <a:gd name="connsiteY3" fmla="*/ 15029 h 101600"/>
                      <a:gd name="connsiteX4" fmla="*/ 51151 w 101600"/>
                      <a:gd name="connsiteY4" fmla="*/ 150 h 101600"/>
                      <a:gd name="connsiteX5" fmla="*/ 15230 w 101600"/>
                      <a:gd name="connsiteY5" fmla="*/ 15029 h 101600"/>
                      <a:gd name="connsiteX6" fmla="*/ 351 w 101600"/>
                      <a:gd name="connsiteY6" fmla="*/ 50950 h 101600"/>
                      <a:gd name="connsiteX7" fmla="*/ 15230 w 101600"/>
                      <a:gd name="connsiteY7" fmla="*/ 86871 h 101600"/>
                      <a:gd name="connsiteX8" fmla="*/ 51151 w 101600"/>
                      <a:gd name="connsiteY8" fmla="*/ 10175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1600" h="101600">
                        <a:moveTo>
                          <a:pt x="51151" y="101750"/>
                        </a:moveTo>
                        <a:cubicBezTo>
                          <a:pt x="64623" y="101750"/>
                          <a:pt x="77546" y="96398"/>
                          <a:pt x="87072" y="86871"/>
                        </a:cubicBezTo>
                        <a:cubicBezTo>
                          <a:pt x="96599" y="77345"/>
                          <a:pt x="101951" y="64422"/>
                          <a:pt x="101951" y="50950"/>
                        </a:cubicBezTo>
                        <a:cubicBezTo>
                          <a:pt x="101951" y="37478"/>
                          <a:pt x="96599" y="24556"/>
                          <a:pt x="87072" y="15029"/>
                        </a:cubicBezTo>
                        <a:cubicBezTo>
                          <a:pt x="77546" y="5503"/>
                          <a:pt x="64623" y="150"/>
                          <a:pt x="51151" y="150"/>
                        </a:cubicBezTo>
                        <a:cubicBezTo>
                          <a:pt x="37679" y="150"/>
                          <a:pt x="24756" y="5503"/>
                          <a:pt x="15230" y="15029"/>
                        </a:cubicBezTo>
                        <a:cubicBezTo>
                          <a:pt x="5704" y="24556"/>
                          <a:pt x="351" y="37478"/>
                          <a:pt x="351" y="50950"/>
                        </a:cubicBezTo>
                        <a:cubicBezTo>
                          <a:pt x="351" y="64422"/>
                          <a:pt x="5704" y="77345"/>
                          <a:pt x="15230" y="86871"/>
                        </a:cubicBezTo>
                        <a:cubicBezTo>
                          <a:pt x="24756" y="96398"/>
                          <a:pt x="37679" y="101750"/>
                          <a:pt x="51151" y="101750"/>
                        </a:cubicBezTo>
                        <a:close/>
                      </a:path>
                    </a:pathLst>
                  </a:custGeom>
                  <a:noFill/>
                  <a:ln w="12700" cap="flat">
                    <a:solidFill>
                      <a:srgbClr val="1F77B4"/>
                    </a:solidFill>
                    <a:prstDash val="solid"/>
                    <a:round/>
                  </a:ln>
                </p:spPr>
                <p:txBody>
                  <a:bodyPr rtlCol="0" anchor="ctr"/>
                  <a:lstStyle/>
                  <a:p>
                    <a:endParaRPr lang="en-US"/>
                  </a:p>
                </p:txBody>
              </p:sp>
              <p:sp>
                <p:nvSpPr>
                  <p:cNvPr id="215" name="フリーフォーム: 図形 214">
                    <a:extLst>
                      <a:ext uri="{FF2B5EF4-FFF2-40B4-BE49-F238E27FC236}">
                        <a16:creationId xmlns:a16="http://schemas.microsoft.com/office/drawing/2014/main" id="{E3423A39-BE19-08BD-69C8-F3E8FE9251E5}"/>
                      </a:ext>
                    </a:extLst>
                  </p:cNvPr>
                  <p:cNvSpPr/>
                  <p:nvPr/>
                </p:nvSpPr>
                <p:spPr>
                  <a:xfrm>
                    <a:off x="5483784" y="3433127"/>
                    <a:ext cx="101600" cy="101600"/>
                  </a:xfrm>
                  <a:custGeom>
                    <a:avLst/>
                    <a:gdLst>
                      <a:gd name="connsiteX0" fmla="*/ 51206 w 101600"/>
                      <a:gd name="connsiteY0" fmla="*/ 101748 h 101600"/>
                      <a:gd name="connsiteX1" fmla="*/ 87127 w 101600"/>
                      <a:gd name="connsiteY1" fmla="*/ 86869 h 101600"/>
                      <a:gd name="connsiteX2" fmla="*/ 102006 w 101600"/>
                      <a:gd name="connsiteY2" fmla="*/ 50948 h 101600"/>
                      <a:gd name="connsiteX3" fmla="*/ 87127 w 101600"/>
                      <a:gd name="connsiteY3" fmla="*/ 15027 h 101600"/>
                      <a:gd name="connsiteX4" fmla="*/ 51206 w 101600"/>
                      <a:gd name="connsiteY4" fmla="*/ 148 h 101600"/>
                      <a:gd name="connsiteX5" fmla="*/ 15285 w 101600"/>
                      <a:gd name="connsiteY5" fmla="*/ 15027 h 101600"/>
                      <a:gd name="connsiteX6" fmla="*/ 406 w 101600"/>
                      <a:gd name="connsiteY6" fmla="*/ 50948 h 101600"/>
                      <a:gd name="connsiteX7" fmla="*/ 15285 w 101600"/>
                      <a:gd name="connsiteY7" fmla="*/ 86869 h 101600"/>
                      <a:gd name="connsiteX8" fmla="*/ 51206 w 101600"/>
                      <a:gd name="connsiteY8" fmla="*/ 101748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1600" h="101600">
                        <a:moveTo>
                          <a:pt x="51206" y="101748"/>
                        </a:moveTo>
                        <a:cubicBezTo>
                          <a:pt x="64678" y="101748"/>
                          <a:pt x="77600" y="96396"/>
                          <a:pt x="87127" y="86869"/>
                        </a:cubicBezTo>
                        <a:cubicBezTo>
                          <a:pt x="96653" y="77343"/>
                          <a:pt x="102006" y="64421"/>
                          <a:pt x="102006" y="50948"/>
                        </a:cubicBezTo>
                        <a:cubicBezTo>
                          <a:pt x="102006" y="37476"/>
                          <a:pt x="96653" y="24554"/>
                          <a:pt x="87127" y="15027"/>
                        </a:cubicBezTo>
                        <a:cubicBezTo>
                          <a:pt x="77600" y="5501"/>
                          <a:pt x="64678" y="148"/>
                          <a:pt x="51206" y="148"/>
                        </a:cubicBezTo>
                        <a:cubicBezTo>
                          <a:pt x="37734" y="148"/>
                          <a:pt x="24811" y="5501"/>
                          <a:pt x="15285" y="15027"/>
                        </a:cubicBezTo>
                        <a:cubicBezTo>
                          <a:pt x="5758" y="24554"/>
                          <a:pt x="406" y="37476"/>
                          <a:pt x="406" y="50948"/>
                        </a:cubicBezTo>
                        <a:cubicBezTo>
                          <a:pt x="406" y="64421"/>
                          <a:pt x="5758" y="77343"/>
                          <a:pt x="15285" y="86869"/>
                        </a:cubicBezTo>
                        <a:cubicBezTo>
                          <a:pt x="24811" y="96396"/>
                          <a:pt x="37734" y="101748"/>
                          <a:pt x="51206" y="101748"/>
                        </a:cubicBezTo>
                        <a:close/>
                      </a:path>
                    </a:pathLst>
                  </a:custGeom>
                  <a:noFill/>
                  <a:ln w="12700" cap="flat">
                    <a:solidFill>
                      <a:srgbClr val="1F77B4"/>
                    </a:solidFill>
                    <a:prstDash val="solid"/>
                    <a:round/>
                  </a:ln>
                </p:spPr>
                <p:txBody>
                  <a:bodyPr rtlCol="0" anchor="ctr"/>
                  <a:lstStyle/>
                  <a:p>
                    <a:endParaRPr lang="en-US"/>
                  </a:p>
                </p:txBody>
              </p:sp>
              <p:sp>
                <p:nvSpPr>
                  <p:cNvPr id="216" name="フリーフォーム: 図形 215">
                    <a:extLst>
                      <a:ext uri="{FF2B5EF4-FFF2-40B4-BE49-F238E27FC236}">
                        <a16:creationId xmlns:a16="http://schemas.microsoft.com/office/drawing/2014/main" id="{392C1F5B-880E-44EB-4EF1-F0536B0108C2}"/>
                      </a:ext>
                    </a:extLst>
                  </p:cNvPr>
                  <p:cNvSpPr/>
                  <p:nvPr/>
                </p:nvSpPr>
                <p:spPr>
                  <a:xfrm>
                    <a:off x="6178068" y="3498621"/>
                    <a:ext cx="101600" cy="101600"/>
                  </a:xfrm>
                  <a:custGeom>
                    <a:avLst/>
                    <a:gdLst>
                      <a:gd name="connsiteX0" fmla="*/ 51260 w 101600"/>
                      <a:gd name="connsiteY0" fmla="*/ 101753 h 101600"/>
                      <a:gd name="connsiteX1" fmla="*/ 87182 w 101600"/>
                      <a:gd name="connsiteY1" fmla="*/ 86875 h 101600"/>
                      <a:gd name="connsiteX2" fmla="*/ 102060 w 101600"/>
                      <a:gd name="connsiteY2" fmla="*/ 50953 h 101600"/>
                      <a:gd name="connsiteX3" fmla="*/ 87182 w 101600"/>
                      <a:gd name="connsiteY3" fmla="*/ 15032 h 101600"/>
                      <a:gd name="connsiteX4" fmla="*/ 51260 w 101600"/>
                      <a:gd name="connsiteY4" fmla="*/ 153 h 101600"/>
                      <a:gd name="connsiteX5" fmla="*/ 15339 w 101600"/>
                      <a:gd name="connsiteY5" fmla="*/ 15032 h 101600"/>
                      <a:gd name="connsiteX6" fmla="*/ 460 w 101600"/>
                      <a:gd name="connsiteY6" fmla="*/ 50953 h 101600"/>
                      <a:gd name="connsiteX7" fmla="*/ 15339 w 101600"/>
                      <a:gd name="connsiteY7" fmla="*/ 86875 h 101600"/>
                      <a:gd name="connsiteX8" fmla="*/ 51260 w 101600"/>
                      <a:gd name="connsiteY8" fmla="*/ 101753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1600" h="101600">
                        <a:moveTo>
                          <a:pt x="51260" y="101753"/>
                        </a:moveTo>
                        <a:cubicBezTo>
                          <a:pt x="64733" y="101753"/>
                          <a:pt x="77655" y="96401"/>
                          <a:pt x="87182" y="86875"/>
                        </a:cubicBezTo>
                        <a:cubicBezTo>
                          <a:pt x="96708" y="77348"/>
                          <a:pt x="102060" y="64426"/>
                          <a:pt x="102060" y="50953"/>
                        </a:cubicBezTo>
                        <a:cubicBezTo>
                          <a:pt x="102060" y="37481"/>
                          <a:pt x="96708" y="24559"/>
                          <a:pt x="87182" y="15032"/>
                        </a:cubicBezTo>
                        <a:cubicBezTo>
                          <a:pt x="77655" y="5506"/>
                          <a:pt x="64733" y="153"/>
                          <a:pt x="51260" y="153"/>
                        </a:cubicBezTo>
                        <a:cubicBezTo>
                          <a:pt x="37788" y="153"/>
                          <a:pt x="24866" y="5506"/>
                          <a:pt x="15339" y="15032"/>
                        </a:cubicBezTo>
                        <a:cubicBezTo>
                          <a:pt x="5813" y="24559"/>
                          <a:pt x="460" y="37481"/>
                          <a:pt x="460" y="50953"/>
                        </a:cubicBezTo>
                        <a:cubicBezTo>
                          <a:pt x="460" y="64426"/>
                          <a:pt x="5813" y="77348"/>
                          <a:pt x="15339" y="86875"/>
                        </a:cubicBezTo>
                        <a:cubicBezTo>
                          <a:pt x="24866" y="96401"/>
                          <a:pt x="37788" y="101753"/>
                          <a:pt x="51260" y="101753"/>
                        </a:cubicBezTo>
                        <a:close/>
                      </a:path>
                    </a:pathLst>
                  </a:custGeom>
                  <a:noFill/>
                  <a:ln w="12700" cap="flat">
                    <a:solidFill>
                      <a:srgbClr val="1F77B4"/>
                    </a:solidFill>
                    <a:prstDash val="solid"/>
                    <a:round/>
                  </a:ln>
                </p:spPr>
                <p:txBody>
                  <a:bodyPr rtlCol="0" anchor="ctr"/>
                  <a:lstStyle/>
                  <a:p>
                    <a:endParaRPr lang="en-US"/>
                  </a:p>
                </p:txBody>
              </p:sp>
              <p:sp>
                <p:nvSpPr>
                  <p:cNvPr id="217" name="フリーフォーム: 図形 216">
                    <a:extLst>
                      <a:ext uri="{FF2B5EF4-FFF2-40B4-BE49-F238E27FC236}">
                        <a16:creationId xmlns:a16="http://schemas.microsoft.com/office/drawing/2014/main" id="{9EABE62B-6DEA-064C-183E-3B11AB9F48C5}"/>
                      </a:ext>
                    </a:extLst>
                  </p:cNvPr>
                  <p:cNvSpPr/>
                  <p:nvPr/>
                </p:nvSpPr>
                <p:spPr>
                  <a:xfrm>
                    <a:off x="6872339" y="3589896"/>
                    <a:ext cx="101600" cy="101600"/>
                  </a:xfrm>
                  <a:custGeom>
                    <a:avLst/>
                    <a:gdLst>
                      <a:gd name="connsiteX0" fmla="*/ 51315 w 101600"/>
                      <a:gd name="connsiteY0" fmla="*/ 101761 h 101600"/>
                      <a:gd name="connsiteX1" fmla="*/ 87236 w 101600"/>
                      <a:gd name="connsiteY1" fmla="*/ 86882 h 101600"/>
                      <a:gd name="connsiteX2" fmla="*/ 102115 w 101600"/>
                      <a:gd name="connsiteY2" fmla="*/ 50961 h 101600"/>
                      <a:gd name="connsiteX3" fmla="*/ 87236 w 101600"/>
                      <a:gd name="connsiteY3" fmla="*/ 15040 h 101600"/>
                      <a:gd name="connsiteX4" fmla="*/ 51315 w 101600"/>
                      <a:gd name="connsiteY4" fmla="*/ 161 h 101600"/>
                      <a:gd name="connsiteX5" fmla="*/ 15394 w 101600"/>
                      <a:gd name="connsiteY5" fmla="*/ 15040 h 101600"/>
                      <a:gd name="connsiteX6" fmla="*/ 515 w 101600"/>
                      <a:gd name="connsiteY6" fmla="*/ 50961 h 101600"/>
                      <a:gd name="connsiteX7" fmla="*/ 15394 w 101600"/>
                      <a:gd name="connsiteY7" fmla="*/ 86882 h 101600"/>
                      <a:gd name="connsiteX8" fmla="*/ 51315 w 101600"/>
                      <a:gd name="connsiteY8" fmla="*/ 101761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1600" h="101600">
                        <a:moveTo>
                          <a:pt x="51315" y="101761"/>
                        </a:moveTo>
                        <a:cubicBezTo>
                          <a:pt x="64787" y="101761"/>
                          <a:pt x="77710" y="96408"/>
                          <a:pt x="87236" y="86882"/>
                        </a:cubicBezTo>
                        <a:cubicBezTo>
                          <a:pt x="96763" y="77355"/>
                          <a:pt x="102115" y="64433"/>
                          <a:pt x="102115" y="50961"/>
                        </a:cubicBezTo>
                        <a:cubicBezTo>
                          <a:pt x="102115" y="37488"/>
                          <a:pt x="96763" y="24566"/>
                          <a:pt x="87236" y="15040"/>
                        </a:cubicBezTo>
                        <a:cubicBezTo>
                          <a:pt x="77710" y="5513"/>
                          <a:pt x="64787" y="161"/>
                          <a:pt x="51315" y="161"/>
                        </a:cubicBezTo>
                        <a:cubicBezTo>
                          <a:pt x="37843" y="161"/>
                          <a:pt x="24920" y="5513"/>
                          <a:pt x="15394" y="15040"/>
                        </a:cubicBezTo>
                        <a:cubicBezTo>
                          <a:pt x="5868" y="24566"/>
                          <a:pt x="515" y="37488"/>
                          <a:pt x="515" y="50961"/>
                        </a:cubicBezTo>
                        <a:cubicBezTo>
                          <a:pt x="515" y="64433"/>
                          <a:pt x="5868" y="77355"/>
                          <a:pt x="15394" y="86882"/>
                        </a:cubicBezTo>
                        <a:cubicBezTo>
                          <a:pt x="24920" y="96408"/>
                          <a:pt x="37843" y="101761"/>
                          <a:pt x="51315" y="101761"/>
                        </a:cubicBezTo>
                        <a:close/>
                      </a:path>
                    </a:pathLst>
                  </a:custGeom>
                  <a:noFill/>
                  <a:ln w="12700" cap="flat">
                    <a:solidFill>
                      <a:srgbClr val="1F77B4"/>
                    </a:solidFill>
                    <a:prstDash val="solid"/>
                    <a:round/>
                  </a:ln>
                </p:spPr>
                <p:txBody>
                  <a:bodyPr rtlCol="0" anchor="ctr"/>
                  <a:lstStyle/>
                  <a:p>
                    <a:endParaRPr lang="en-US"/>
                  </a:p>
                </p:txBody>
              </p:sp>
              <p:sp>
                <p:nvSpPr>
                  <p:cNvPr id="218" name="フリーフォーム: 図形 217">
                    <a:extLst>
                      <a:ext uri="{FF2B5EF4-FFF2-40B4-BE49-F238E27FC236}">
                        <a16:creationId xmlns:a16="http://schemas.microsoft.com/office/drawing/2014/main" id="{D32722F8-4309-3CD1-CB15-A95E10C762DA}"/>
                      </a:ext>
                    </a:extLst>
                  </p:cNvPr>
                  <p:cNvSpPr/>
                  <p:nvPr/>
                </p:nvSpPr>
                <p:spPr>
                  <a:xfrm>
                    <a:off x="7566622" y="3700208"/>
                    <a:ext cx="101600" cy="101600"/>
                  </a:xfrm>
                  <a:custGeom>
                    <a:avLst/>
                    <a:gdLst>
                      <a:gd name="connsiteX0" fmla="*/ 51370 w 101600"/>
                      <a:gd name="connsiteY0" fmla="*/ 101769 h 101600"/>
                      <a:gd name="connsiteX1" fmla="*/ 87291 w 101600"/>
                      <a:gd name="connsiteY1" fmla="*/ 86890 h 101600"/>
                      <a:gd name="connsiteX2" fmla="*/ 102170 w 101600"/>
                      <a:gd name="connsiteY2" fmla="*/ 50969 h 101600"/>
                      <a:gd name="connsiteX3" fmla="*/ 87291 w 101600"/>
                      <a:gd name="connsiteY3" fmla="*/ 15048 h 101600"/>
                      <a:gd name="connsiteX4" fmla="*/ 51370 w 101600"/>
                      <a:gd name="connsiteY4" fmla="*/ 169 h 101600"/>
                      <a:gd name="connsiteX5" fmla="*/ 15449 w 101600"/>
                      <a:gd name="connsiteY5" fmla="*/ 15048 h 101600"/>
                      <a:gd name="connsiteX6" fmla="*/ 570 w 101600"/>
                      <a:gd name="connsiteY6" fmla="*/ 50969 h 101600"/>
                      <a:gd name="connsiteX7" fmla="*/ 15449 w 101600"/>
                      <a:gd name="connsiteY7" fmla="*/ 86890 h 101600"/>
                      <a:gd name="connsiteX8" fmla="*/ 51370 w 101600"/>
                      <a:gd name="connsiteY8" fmla="*/ 101769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1600" h="101600">
                        <a:moveTo>
                          <a:pt x="51370" y="101769"/>
                        </a:moveTo>
                        <a:cubicBezTo>
                          <a:pt x="64842" y="101769"/>
                          <a:pt x="77764" y="96417"/>
                          <a:pt x="87291" y="86890"/>
                        </a:cubicBezTo>
                        <a:cubicBezTo>
                          <a:pt x="96817" y="77364"/>
                          <a:pt x="102170" y="64442"/>
                          <a:pt x="102170" y="50969"/>
                        </a:cubicBezTo>
                        <a:cubicBezTo>
                          <a:pt x="102170" y="37497"/>
                          <a:pt x="96817" y="24575"/>
                          <a:pt x="87291" y="15048"/>
                        </a:cubicBezTo>
                        <a:cubicBezTo>
                          <a:pt x="77764" y="5522"/>
                          <a:pt x="64842" y="169"/>
                          <a:pt x="51370" y="169"/>
                        </a:cubicBezTo>
                        <a:cubicBezTo>
                          <a:pt x="37898" y="169"/>
                          <a:pt x="24975" y="5522"/>
                          <a:pt x="15449" y="15048"/>
                        </a:cubicBezTo>
                        <a:cubicBezTo>
                          <a:pt x="5922" y="24575"/>
                          <a:pt x="570" y="37497"/>
                          <a:pt x="570" y="50969"/>
                        </a:cubicBezTo>
                        <a:cubicBezTo>
                          <a:pt x="570" y="64442"/>
                          <a:pt x="5922" y="77364"/>
                          <a:pt x="15449" y="86890"/>
                        </a:cubicBezTo>
                        <a:cubicBezTo>
                          <a:pt x="24975" y="96417"/>
                          <a:pt x="37898" y="101769"/>
                          <a:pt x="51370" y="101769"/>
                        </a:cubicBezTo>
                        <a:close/>
                      </a:path>
                    </a:pathLst>
                  </a:custGeom>
                  <a:noFill/>
                  <a:ln w="12700" cap="flat">
                    <a:solidFill>
                      <a:srgbClr val="1F77B4"/>
                    </a:solidFill>
                    <a:prstDash val="solid"/>
                    <a:round/>
                  </a:ln>
                </p:spPr>
                <p:txBody>
                  <a:bodyPr rtlCol="0" anchor="ctr"/>
                  <a:lstStyle/>
                  <a:p>
                    <a:endParaRPr lang="en-US"/>
                  </a:p>
                </p:txBody>
              </p:sp>
              <p:sp>
                <p:nvSpPr>
                  <p:cNvPr id="219" name="フリーフォーム: 図形 218">
                    <a:extLst>
                      <a:ext uri="{FF2B5EF4-FFF2-40B4-BE49-F238E27FC236}">
                        <a16:creationId xmlns:a16="http://schemas.microsoft.com/office/drawing/2014/main" id="{26329A02-7057-9FD3-3085-7C632023EDC5}"/>
                      </a:ext>
                    </a:extLst>
                  </p:cNvPr>
                  <p:cNvSpPr/>
                  <p:nvPr/>
                </p:nvSpPr>
                <p:spPr>
                  <a:xfrm>
                    <a:off x="8260906" y="3808095"/>
                    <a:ext cx="101600" cy="101600"/>
                  </a:xfrm>
                  <a:custGeom>
                    <a:avLst/>
                    <a:gdLst>
                      <a:gd name="connsiteX0" fmla="*/ 51424 w 101600"/>
                      <a:gd name="connsiteY0" fmla="*/ 101778 h 101600"/>
                      <a:gd name="connsiteX1" fmla="*/ 87346 w 101600"/>
                      <a:gd name="connsiteY1" fmla="*/ 86899 h 101600"/>
                      <a:gd name="connsiteX2" fmla="*/ 102224 w 101600"/>
                      <a:gd name="connsiteY2" fmla="*/ 50978 h 101600"/>
                      <a:gd name="connsiteX3" fmla="*/ 87346 w 101600"/>
                      <a:gd name="connsiteY3" fmla="*/ 15057 h 101600"/>
                      <a:gd name="connsiteX4" fmla="*/ 51424 w 101600"/>
                      <a:gd name="connsiteY4" fmla="*/ 178 h 101600"/>
                      <a:gd name="connsiteX5" fmla="*/ 15503 w 101600"/>
                      <a:gd name="connsiteY5" fmla="*/ 15057 h 101600"/>
                      <a:gd name="connsiteX6" fmla="*/ 624 w 101600"/>
                      <a:gd name="connsiteY6" fmla="*/ 50978 h 101600"/>
                      <a:gd name="connsiteX7" fmla="*/ 15503 w 101600"/>
                      <a:gd name="connsiteY7" fmla="*/ 86899 h 101600"/>
                      <a:gd name="connsiteX8" fmla="*/ 51424 w 101600"/>
                      <a:gd name="connsiteY8" fmla="*/ 101778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1600" h="101600">
                        <a:moveTo>
                          <a:pt x="51424" y="101778"/>
                        </a:moveTo>
                        <a:cubicBezTo>
                          <a:pt x="64897" y="101778"/>
                          <a:pt x="77819" y="96425"/>
                          <a:pt x="87346" y="86899"/>
                        </a:cubicBezTo>
                        <a:cubicBezTo>
                          <a:pt x="96872" y="77373"/>
                          <a:pt x="102224" y="64450"/>
                          <a:pt x="102224" y="50978"/>
                        </a:cubicBezTo>
                        <a:cubicBezTo>
                          <a:pt x="102224" y="37506"/>
                          <a:pt x="96872" y="24583"/>
                          <a:pt x="87346" y="15057"/>
                        </a:cubicBezTo>
                        <a:cubicBezTo>
                          <a:pt x="77819" y="5530"/>
                          <a:pt x="64897" y="178"/>
                          <a:pt x="51424" y="178"/>
                        </a:cubicBezTo>
                        <a:cubicBezTo>
                          <a:pt x="37952" y="178"/>
                          <a:pt x="25030" y="5530"/>
                          <a:pt x="15503" y="15057"/>
                        </a:cubicBezTo>
                        <a:cubicBezTo>
                          <a:pt x="5977" y="24583"/>
                          <a:pt x="624" y="37506"/>
                          <a:pt x="624" y="50978"/>
                        </a:cubicBezTo>
                        <a:cubicBezTo>
                          <a:pt x="624" y="64450"/>
                          <a:pt x="5977" y="77373"/>
                          <a:pt x="15503" y="86899"/>
                        </a:cubicBezTo>
                        <a:cubicBezTo>
                          <a:pt x="25030" y="96425"/>
                          <a:pt x="37952" y="101778"/>
                          <a:pt x="51424" y="101778"/>
                        </a:cubicBezTo>
                        <a:close/>
                      </a:path>
                    </a:pathLst>
                  </a:custGeom>
                  <a:noFill/>
                  <a:ln w="12700" cap="flat">
                    <a:solidFill>
                      <a:srgbClr val="1F77B4"/>
                    </a:solidFill>
                    <a:prstDash val="solid"/>
                    <a:round/>
                  </a:ln>
                </p:spPr>
                <p:txBody>
                  <a:bodyPr rtlCol="0" anchor="ctr"/>
                  <a:lstStyle/>
                  <a:p>
                    <a:endParaRPr lang="en-US"/>
                  </a:p>
                </p:txBody>
              </p:sp>
              <p:sp>
                <p:nvSpPr>
                  <p:cNvPr id="220" name="フリーフォーム: 図形 219">
                    <a:extLst>
                      <a:ext uri="{FF2B5EF4-FFF2-40B4-BE49-F238E27FC236}">
                        <a16:creationId xmlns:a16="http://schemas.microsoft.com/office/drawing/2014/main" id="{A7ABB153-177C-8EA0-32AB-9E9ED5F914E2}"/>
                      </a:ext>
                    </a:extLst>
                  </p:cNvPr>
                  <p:cNvSpPr/>
                  <p:nvPr/>
                </p:nvSpPr>
                <p:spPr>
                  <a:xfrm>
                    <a:off x="8955190" y="3844099"/>
                    <a:ext cx="101600" cy="101600"/>
                  </a:xfrm>
                  <a:custGeom>
                    <a:avLst/>
                    <a:gdLst>
                      <a:gd name="connsiteX0" fmla="*/ 51479 w 101600"/>
                      <a:gd name="connsiteY0" fmla="*/ 101781 h 101600"/>
                      <a:gd name="connsiteX1" fmla="*/ 87400 w 101600"/>
                      <a:gd name="connsiteY1" fmla="*/ 86902 h 101600"/>
                      <a:gd name="connsiteX2" fmla="*/ 102279 w 101600"/>
                      <a:gd name="connsiteY2" fmla="*/ 50981 h 101600"/>
                      <a:gd name="connsiteX3" fmla="*/ 87400 w 101600"/>
                      <a:gd name="connsiteY3" fmla="*/ 15060 h 101600"/>
                      <a:gd name="connsiteX4" fmla="*/ 51479 w 101600"/>
                      <a:gd name="connsiteY4" fmla="*/ 181 h 101600"/>
                      <a:gd name="connsiteX5" fmla="*/ 15558 w 101600"/>
                      <a:gd name="connsiteY5" fmla="*/ 15060 h 101600"/>
                      <a:gd name="connsiteX6" fmla="*/ 679 w 101600"/>
                      <a:gd name="connsiteY6" fmla="*/ 50981 h 101600"/>
                      <a:gd name="connsiteX7" fmla="*/ 15558 w 101600"/>
                      <a:gd name="connsiteY7" fmla="*/ 86902 h 101600"/>
                      <a:gd name="connsiteX8" fmla="*/ 51479 w 101600"/>
                      <a:gd name="connsiteY8" fmla="*/ 101781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1600" h="101600">
                        <a:moveTo>
                          <a:pt x="51479" y="101781"/>
                        </a:moveTo>
                        <a:cubicBezTo>
                          <a:pt x="64951" y="101781"/>
                          <a:pt x="77874" y="96428"/>
                          <a:pt x="87400" y="86902"/>
                        </a:cubicBezTo>
                        <a:cubicBezTo>
                          <a:pt x="96927" y="77375"/>
                          <a:pt x="102279" y="64453"/>
                          <a:pt x="102279" y="50981"/>
                        </a:cubicBezTo>
                        <a:cubicBezTo>
                          <a:pt x="102279" y="37508"/>
                          <a:pt x="96927" y="24586"/>
                          <a:pt x="87400" y="15060"/>
                        </a:cubicBezTo>
                        <a:cubicBezTo>
                          <a:pt x="77874" y="5533"/>
                          <a:pt x="64951" y="181"/>
                          <a:pt x="51479" y="181"/>
                        </a:cubicBezTo>
                        <a:cubicBezTo>
                          <a:pt x="38007" y="181"/>
                          <a:pt x="25084" y="5533"/>
                          <a:pt x="15558" y="15060"/>
                        </a:cubicBezTo>
                        <a:cubicBezTo>
                          <a:pt x="6032" y="24586"/>
                          <a:pt x="679" y="37508"/>
                          <a:pt x="679" y="50981"/>
                        </a:cubicBezTo>
                        <a:cubicBezTo>
                          <a:pt x="679" y="64453"/>
                          <a:pt x="6032" y="77375"/>
                          <a:pt x="15558" y="86902"/>
                        </a:cubicBezTo>
                        <a:cubicBezTo>
                          <a:pt x="25084" y="96428"/>
                          <a:pt x="38007" y="101781"/>
                          <a:pt x="51479" y="101781"/>
                        </a:cubicBezTo>
                        <a:close/>
                      </a:path>
                    </a:pathLst>
                  </a:custGeom>
                  <a:noFill/>
                  <a:ln w="12700" cap="flat">
                    <a:solidFill>
                      <a:srgbClr val="1F77B4"/>
                    </a:solidFill>
                    <a:prstDash val="solid"/>
                    <a:round/>
                  </a:ln>
                </p:spPr>
                <p:txBody>
                  <a:bodyPr rtlCol="0" anchor="ctr"/>
                  <a:lstStyle/>
                  <a:p>
                    <a:endParaRPr lang="en-US"/>
                  </a:p>
                </p:txBody>
              </p:sp>
            </p:grpSp>
          </p:grpSp>
          <p:sp>
            <p:nvSpPr>
              <p:cNvPr id="221" name="フリーフォーム: 図形 220">
                <a:extLst>
                  <a:ext uri="{FF2B5EF4-FFF2-40B4-BE49-F238E27FC236}">
                    <a16:creationId xmlns:a16="http://schemas.microsoft.com/office/drawing/2014/main" id="{06DD5C9C-BF74-AA34-A04E-BA4403B0C5BF}"/>
                  </a:ext>
                </a:extLst>
              </p:cNvPr>
              <p:cNvSpPr/>
              <p:nvPr/>
            </p:nvSpPr>
            <p:spPr>
              <a:xfrm>
                <a:off x="-8156955" y="1941575"/>
                <a:ext cx="12700" cy="2962147"/>
              </a:xfrm>
              <a:custGeom>
                <a:avLst/>
                <a:gdLst>
                  <a:gd name="connsiteX0" fmla="*/ 0 w 12700"/>
                  <a:gd name="connsiteY0" fmla="*/ 2962148 h 2962147"/>
                  <a:gd name="connsiteX1" fmla="*/ 0 w 12700"/>
                  <a:gd name="connsiteY1" fmla="*/ 0 h 2962147"/>
                </a:gdLst>
                <a:ahLst/>
                <a:cxnLst>
                  <a:cxn ang="0">
                    <a:pos x="connsiteX0" y="connsiteY0"/>
                  </a:cxn>
                  <a:cxn ang="0">
                    <a:pos x="connsiteX1" y="connsiteY1"/>
                  </a:cxn>
                </a:cxnLst>
                <a:rect l="l" t="t" r="r" b="b"/>
                <a:pathLst>
                  <a:path w="12700" h="2962147">
                    <a:moveTo>
                      <a:pt x="0" y="2962148"/>
                    </a:moveTo>
                    <a:lnTo>
                      <a:pt x="0" y="0"/>
                    </a:lnTo>
                  </a:path>
                </a:pathLst>
              </a:custGeom>
              <a:noFill/>
              <a:ln w="10160" cap="sq">
                <a:solidFill>
                  <a:srgbClr val="000000"/>
                </a:solidFill>
                <a:prstDash val="solid"/>
                <a:miter/>
              </a:ln>
            </p:spPr>
            <p:txBody>
              <a:bodyPr rtlCol="0" anchor="ctr"/>
              <a:lstStyle/>
              <a:p>
                <a:endParaRPr lang="en-US"/>
              </a:p>
            </p:txBody>
          </p:sp>
          <p:sp>
            <p:nvSpPr>
              <p:cNvPr id="222" name="フリーフォーム: 図形 221">
                <a:extLst>
                  <a:ext uri="{FF2B5EF4-FFF2-40B4-BE49-F238E27FC236}">
                    <a16:creationId xmlns:a16="http://schemas.microsoft.com/office/drawing/2014/main" id="{68DB297E-3B33-A9D2-C256-1E107C412235}"/>
                  </a:ext>
                </a:extLst>
              </p:cNvPr>
              <p:cNvSpPr/>
              <p:nvPr/>
            </p:nvSpPr>
            <p:spPr>
              <a:xfrm>
                <a:off x="243840" y="1941575"/>
                <a:ext cx="12700" cy="2962147"/>
              </a:xfrm>
              <a:custGeom>
                <a:avLst/>
                <a:gdLst>
                  <a:gd name="connsiteX0" fmla="*/ 0 w 12700"/>
                  <a:gd name="connsiteY0" fmla="*/ 2962148 h 2962147"/>
                  <a:gd name="connsiteX1" fmla="*/ 0 w 12700"/>
                  <a:gd name="connsiteY1" fmla="*/ 0 h 2962147"/>
                </a:gdLst>
                <a:ahLst/>
                <a:cxnLst>
                  <a:cxn ang="0">
                    <a:pos x="connsiteX0" y="connsiteY0"/>
                  </a:cxn>
                  <a:cxn ang="0">
                    <a:pos x="connsiteX1" y="connsiteY1"/>
                  </a:cxn>
                </a:cxnLst>
                <a:rect l="l" t="t" r="r" b="b"/>
                <a:pathLst>
                  <a:path w="12700" h="2962147">
                    <a:moveTo>
                      <a:pt x="0" y="2962148"/>
                    </a:moveTo>
                    <a:lnTo>
                      <a:pt x="0" y="0"/>
                    </a:lnTo>
                  </a:path>
                </a:pathLst>
              </a:custGeom>
              <a:noFill/>
              <a:ln w="10160" cap="sq">
                <a:solidFill>
                  <a:srgbClr val="000000"/>
                </a:solidFill>
                <a:prstDash val="solid"/>
                <a:miter/>
              </a:ln>
            </p:spPr>
            <p:txBody>
              <a:bodyPr rtlCol="0" anchor="ctr"/>
              <a:lstStyle/>
              <a:p>
                <a:endParaRPr lang="en-US"/>
              </a:p>
            </p:txBody>
          </p:sp>
          <p:sp>
            <p:nvSpPr>
              <p:cNvPr id="223" name="フリーフォーム: 図形 222">
                <a:extLst>
                  <a:ext uri="{FF2B5EF4-FFF2-40B4-BE49-F238E27FC236}">
                    <a16:creationId xmlns:a16="http://schemas.microsoft.com/office/drawing/2014/main" id="{44E8C004-F6B4-6266-F73F-3B23F1E9AF66}"/>
                  </a:ext>
                </a:extLst>
              </p:cNvPr>
              <p:cNvSpPr/>
              <p:nvPr/>
            </p:nvSpPr>
            <p:spPr>
              <a:xfrm>
                <a:off x="-8156955" y="4903723"/>
                <a:ext cx="8400796" cy="12700"/>
              </a:xfrm>
              <a:custGeom>
                <a:avLst/>
                <a:gdLst>
                  <a:gd name="connsiteX0" fmla="*/ 0 w 8400796"/>
                  <a:gd name="connsiteY0" fmla="*/ 0 h 12700"/>
                  <a:gd name="connsiteX1" fmla="*/ 8400796 w 8400796"/>
                  <a:gd name="connsiteY1" fmla="*/ 0 h 12700"/>
                </a:gdLst>
                <a:ahLst/>
                <a:cxnLst>
                  <a:cxn ang="0">
                    <a:pos x="connsiteX0" y="connsiteY0"/>
                  </a:cxn>
                  <a:cxn ang="0">
                    <a:pos x="connsiteX1" y="connsiteY1"/>
                  </a:cxn>
                </a:cxnLst>
                <a:rect l="l" t="t" r="r" b="b"/>
                <a:pathLst>
                  <a:path w="8400796" h="12700">
                    <a:moveTo>
                      <a:pt x="0" y="0"/>
                    </a:moveTo>
                    <a:lnTo>
                      <a:pt x="8400796" y="0"/>
                    </a:lnTo>
                  </a:path>
                </a:pathLst>
              </a:custGeom>
              <a:noFill/>
              <a:ln w="10160" cap="sq">
                <a:solidFill>
                  <a:srgbClr val="000000"/>
                </a:solidFill>
                <a:prstDash val="solid"/>
                <a:miter/>
              </a:ln>
            </p:spPr>
            <p:txBody>
              <a:bodyPr rtlCol="0" anchor="ctr"/>
              <a:lstStyle/>
              <a:p>
                <a:endParaRPr lang="en-US"/>
              </a:p>
            </p:txBody>
          </p:sp>
          <p:sp>
            <p:nvSpPr>
              <p:cNvPr id="224" name="フリーフォーム: 図形 223">
                <a:extLst>
                  <a:ext uri="{FF2B5EF4-FFF2-40B4-BE49-F238E27FC236}">
                    <a16:creationId xmlns:a16="http://schemas.microsoft.com/office/drawing/2014/main" id="{9CE2A924-1323-72FA-0B19-9E1E298528A9}"/>
                  </a:ext>
                </a:extLst>
              </p:cNvPr>
              <p:cNvSpPr/>
              <p:nvPr/>
            </p:nvSpPr>
            <p:spPr>
              <a:xfrm>
                <a:off x="-8156955" y="1941575"/>
                <a:ext cx="8400796" cy="12700"/>
              </a:xfrm>
              <a:custGeom>
                <a:avLst/>
                <a:gdLst>
                  <a:gd name="connsiteX0" fmla="*/ 0 w 8400796"/>
                  <a:gd name="connsiteY0" fmla="*/ 0 h 12700"/>
                  <a:gd name="connsiteX1" fmla="*/ 8400796 w 8400796"/>
                  <a:gd name="connsiteY1" fmla="*/ 0 h 12700"/>
                </a:gdLst>
                <a:ahLst/>
                <a:cxnLst>
                  <a:cxn ang="0">
                    <a:pos x="connsiteX0" y="connsiteY0"/>
                  </a:cxn>
                  <a:cxn ang="0">
                    <a:pos x="connsiteX1" y="connsiteY1"/>
                  </a:cxn>
                </a:cxnLst>
                <a:rect l="l" t="t" r="r" b="b"/>
                <a:pathLst>
                  <a:path w="8400796" h="12700">
                    <a:moveTo>
                      <a:pt x="0" y="0"/>
                    </a:moveTo>
                    <a:lnTo>
                      <a:pt x="8400796" y="0"/>
                    </a:lnTo>
                  </a:path>
                </a:pathLst>
              </a:custGeom>
              <a:noFill/>
              <a:ln w="10160" cap="sq">
                <a:solidFill>
                  <a:srgbClr val="000000"/>
                </a:solidFill>
                <a:prstDash val="solid"/>
                <a:miter/>
              </a:ln>
            </p:spPr>
            <p:txBody>
              <a:bodyPr rtlCol="0" anchor="ctr"/>
              <a:lstStyle/>
              <a:p>
                <a:endParaRPr lang="en-US"/>
              </a:p>
            </p:txBody>
          </p:sp>
          <p:grpSp>
            <p:nvGrpSpPr>
              <p:cNvPr id="225" name="グラフィックス 6">
                <a:extLst>
                  <a:ext uri="{FF2B5EF4-FFF2-40B4-BE49-F238E27FC236}">
                    <a16:creationId xmlns:a16="http://schemas.microsoft.com/office/drawing/2014/main" id="{DFA1036A-65F4-119C-653E-51F6F48B6037}"/>
                  </a:ext>
                </a:extLst>
              </p:cNvPr>
              <p:cNvGrpSpPr/>
              <p:nvPr/>
            </p:nvGrpSpPr>
            <p:grpSpPr>
              <a:xfrm>
                <a:off x="-5164375" y="1749575"/>
                <a:ext cx="2412731" cy="147494"/>
                <a:chOff x="-5164375" y="1749575"/>
                <a:chExt cx="2412731" cy="147494"/>
              </a:xfrm>
              <a:solidFill>
                <a:srgbClr val="000000"/>
              </a:solidFill>
            </p:grpSpPr>
            <p:sp>
              <p:nvSpPr>
                <p:cNvPr id="226" name="フリーフォーム: 図形 225">
                  <a:extLst>
                    <a:ext uri="{FF2B5EF4-FFF2-40B4-BE49-F238E27FC236}">
                      <a16:creationId xmlns:a16="http://schemas.microsoft.com/office/drawing/2014/main" id="{C416DBD1-CFA4-D1CC-8EA2-436D80580CB6}"/>
                    </a:ext>
                  </a:extLst>
                </p:cNvPr>
                <p:cNvSpPr/>
                <p:nvPr/>
              </p:nvSpPr>
              <p:spPr>
                <a:xfrm flipV="1">
                  <a:off x="-5164375" y="1752266"/>
                  <a:ext cx="78200" cy="115276"/>
                </a:xfrm>
                <a:custGeom>
                  <a:avLst/>
                  <a:gdLst>
                    <a:gd name="connsiteX0" fmla="*/ 69731 w 78200"/>
                    <a:gd name="connsiteY0" fmla="*/ 107320 h 115276"/>
                    <a:gd name="connsiteX1" fmla="*/ 69731 w 78200"/>
                    <a:gd name="connsiteY1" fmla="*/ 92651 h 115276"/>
                    <a:gd name="connsiteX2" fmla="*/ 53586 w 78200"/>
                    <a:gd name="connsiteY2" fmla="*/ 98747 h 115276"/>
                    <a:gd name="connsiteX3" fmla="*/ 38918 w 78200"/>
                    <a:gd name="connsiteY3" fmla="*/ 100771 h 115276"/>
                    <a:gd name="connsiteX4" fmla="*/ 19987 w 78200"/>
                    <a:gd name="connsiteY4" fmla="*/ 96009 h 115276"/>
                    <a:gd name="connsiteX5" fmla="*/ 13320 w 78200"/>
                    <a:gd name="connsiteY5" fmla="*/ 82460 h 115276"/>
                    <a:gd name="connsiteX6" fmla="*/ 17749 w 78200"/>
                    <a:gd name="connsiteY6" fmla="*/ 71315 h 115276"/>
                    <a:gd name="connsiteX7" fmla="*/ 34536 w 78200"/>
                    <a:gd name="connsiteY7" fmla="*/ 65267 h 115276"/>
                    <a:gd name="connsiteX8" fmla="*/ 43609 w 78200"/>
                    <a:gd name="connsiteY8" fmla="*/ 63410 h 115276"/>
                    <a:gd name="connsiteX9" fmla="*/ 68422 w 78200"/>
                    <a:gd name="connsiteY9" fmla="*/ 52122 h 115276"/>
                    <a:gd name="connsiteX10" fmla="*/ 76423 w 78200"/>
                    <a:gd name="connsiteY10" fmla="*/ 30524 h 115276"/>
                    <a:gd name="connsiteX11" fmla="*/ 65588 w 78200"/>
                    <a:gd name="connsiteY11" fmla="*/ 6021 h 115276"/>
                    <a:gd name="connsiteX12" fmla="*/ 33870 w 78200"/>
                    <a:gd name="connsiteY12" fmla="*/ -2313 h 115276"/>
                    <a:gd name="connsiteX13" fmla="*/ 17082 w 78200"/>
                    <a:gd name="connsiteY13" fmla="*/ -527 h 115276"/>
                    <a:gd name="connsiteX14" fmla="*/ -1325 w 78200"/>
                    <a:gd name="connsiteY14" fmla="*/ 4759 h 115276"/>
                    <a:gd name="connsiteX15" fmla="*/ -1325 w 78200"/>
                    <a:gd name="connsiteY15" fmla="*/ 20237 h 115276"/>
                    <a:gd name="connsiteX16" fmla="*/ 16606 w 78200"/>
                    <a:gd name="connsiteY16" fmla="*/ 12498 h 115276"/>
                    <a:gd name="connsiteX17" fmla="*/ 33870 w 78200"/>
                    <a:gd name="connsiteY17" fmla="*/ 9903 h 115276"/>
                    <a:gd name="connsiteX18" fmla="*/ 53729 w 78200"/>
                    <a:gd name="connsiteY18" fmla="*/ 14951 h 115276"/>
                    <a:gd name="connsiteX19" fmla="*/ 60730 w 78200"/>
                    <a:gd name="connsiteY19" fmla="*/ 29405 h 115276"/>
                    <a:gd name="connsiteX20" fmla="*/ 55706 w 78200"/>
                    <a:gd name="connsiteY20" fmla="*/ 42193 h 115276"/>
                    <a:gd name="connsiteX21" fmla="*/ 39228 w 78200"/>
                    <a:gd name="connsiteY21" fmla="*/ 49122 h 115276"/>
                    <a:gd name="connsiteX22" fmla="*/ 30060 w 78200"/>
                    <a:gd name="connsiteY22" fmla="*/ 50908 h 115276"/>
                    <a:gd name="connsiteX23" fmla="*/ 5723 w 78200"/>
                    <a:gd name="connsiteY23" fmla="*/ 61385 h 115276"/>
                    <a:gd name="connsiteX24" fmla="*/ -1778 w 78200"/>
                    <a:gd name="connsiteY24" fmla="*/ 81269 h 115276"/>
                    <a:gd name="connsiteX25" fmla="*/ 8605 w 78200"/>
                    <a:gd name="connsiteY25" fmla="*/ 104486 h 115276"/>
                    <a:gd name="connsiteX26" fmla="*/ 37203 w 78200"/>
                    <a:gd name="connsiteY26" fmla="*/ 112963 h 115276"/>
                    <a:gd name="connsiteX27" fmla="*/ 53134 w 78200"/>
                    <a:gd name="connsiteY27" fmla="*/ 111535 h 115276"/>
                    <a:gd name="connsiteX28" fmla="*/ 69731 w 78200"/>
                    <a:gd name="connsiteY28" fmla="*/ 107320 h 115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78200" h="115276">
                      <a:moveTo>
                        <a:pt x="69731" y="107320"/>
                      </a:moveTo>
                      <a:lnTo>
                        <a:pt x="69731" y="92651"/>
                      </a:lnTo>
                      <a:cubicBezTo>
                        <a:pt x="64032" y="95382"/>
                        <a:pt x="58651" y="97414"/>
                        <a:pt x="53586" y="98747"/>
                      </a:cubicBezTo>
                      <a:cubicBezTo>
                        <a:pt x="48522" y="100097"/>
                        <a:pt x="43633" y="100771"/>
                        <a:pt x="38918" y="100771"/>
                      </a:cubicBezTo>
                      <a:cubicBezTo>
                        <a:pt x="30742" y="100771"/>
                        <a:pt x="24432" y="99184"/>
                        <a:pt x="19987" y="96009"/>
                      </a:cubicBezTo>
                      <a:cubicBezTo>
                        <a:pt x="15542" y="92834"/>
                        <a:pt x="13320" y="88317"/>
                        <a:pt x="13320" y="82460"/>
                      </a:cubicBezTo>
                      <a:cubicBezTo>
                        <a:pt x="13320" y="77538"/>
                        <a:pt x="14796" y="73823"/>
                        <a:pt x="17749" y="71315"/>
                      </a:cubicBezTo>
                      <a:cubicBezTo>
                        <a:pt x="20701" y="68823"/>
                        <a:pt x="26297" y="66807"/>
                        <a:pt x="34536" y="65267"/>
                      </a:cubicBezTo>
                      <a:lnTo>
                        <a:pt x="43609" y="63410"/>
                      </a:lnTo>
                      <a:cubicBezTo>
                        <a:pt x="54817" y="61266"/>
                        <a:pt x="63088" y="57504"/>
                        <a:pt x="68422" y="52122"/>
                      </a:cubicBezTo>
                      <a:cubicBezTo>
                        <a:pt x="73756" y="46741"/>
                        <a:pt x="76423" y="39542"/>
                        <a:pt x="76423" y="30524"/>
                      </a:cubicBezTo>
                      <a:cubicBezTo>
                        <a:pt x="76423" y="19745"/>
                        <a:pt x="72811" y="11578"/>
                        <a:pt x="65588" y="6021"/>
                      </a:cubicBezTo>
                      <a:cubicBezTo>
                        <a:pt x="58381" y="465"/>
                        <a:pt x="47808" y="-2313"/>
                        <a:pt x="33870" y="-2313"/>
                      </a:cubicBezTo>
                      <a:cubicBezTo>
                        <a:pt x="28615" y="-2313"/>
                        <a:pt x="23019" y="-1718"/>
                        <a:pt x="17082" y="-527"/>
                      </a:cubicBezTo>
                      <a:cubicBezTo>
                        <a:pt x="11161" y="664"/>
                        <a:pt x="5025" y="2426"/>
                        <a:pt x="-1325" y="4759"/>
                      </a:cubicBezTo>
                      <a:lnTo>
                        <a:pt x="-1325" y="20237"/>
                      </a:lnTo>
                      <a:cubicBezTo>
                        <a:pt x="4771" y="16824"/>
                        <a:pt x="10748" y="14245"/>
                        <a:pt x="16606" y="12498"/>
                      </a:cubicBezTo>
                      <a:cubicBezTo>
                        <a:pt x="22464" y="10768"/>
                        <a:pt x="28218" y="9903"/>
                        <a:pt x="33870" y="9903"/>
                      </a:cubicBezTo>
                      <a:cubicBezTo>
                        <a:pt x="42442" y="9903"/>
                        <a:pt x="49062" y="11586"/>
                        <a:pt x="53729" y="14951"/>
                      </a:cubicBezTo>
                      <a:cubicBezTo>
                        <a:pt x="58397" y="18332"/>
                        <a:pt x="60730" y="23151"/>
                        <a:pt x="60730" y="29405"/>
                      </a:cubicBezTo>
                      <a:cubicBezTo>
                        <a:pt x="60730" y="34850"/>
                        <a:pt x="59056" y="39113"/>
                        <a:pt x="55706" y="42193"/>
                      </a:cubicBezTo>
                      <a:cubicBezTo>
                        <a:pt x="52356" y="45272"/>
                        <a:pt x="46864" y="47582"/>
                        <a:pt x="39228" y="49122"/>
                      </a:cubicBezTo>
                      <a:lnTo>
                        <a:pt x="30060" y="50908"/>
                      </a:lnTo>
                      <a:cubicBezTo>
                        <a:pt x="18852" y="53130"/>
                        <a:pt x="10740" y="56623"/>
                        <a:pt x="5723" y="61385"/>
                      </a:cubicBezTo>
                      <a:cubicBezTo>
                        <a:pt x="723" y="66148"/>
                        <a:pt x="-1778" y="72776"/>
                        <a:pt x="-1778" y="81269"/>
                      </a:cubicBezTo>
                      <a:cubicBezTo>
                        <a:pt x="-1778" y="91096"/>
                        <a:pt x="1683" y="98835"/>
                        <a:pt x="8605" y="104486"/>
                      </a:cubicBezTo>
                      <a:cubicBezTo>
                        <a:pt x="15526" y="110138"/>
                        <a:pt x="25059" y="112963"/>
                        <a:pt x="37203" y="112963"/>
                      </a:cubicBezTo>
                      <a:cubicBezTo>
                        <a:pt x="42426" y="112963"/>
                        <a:pt x="47736" y="112487"/>
                        <a:pt x="53134" y="111535"/>
                      </a:cubicBezTo>
                      <a:cubicBezTo>
                        <a:pt x="58547" y="110598"/>
                        <a:pt x="64080" y="109193"/>
                        <a:pt x="69731" y="107320"/>
                      </a:cubicBezTo>
                      <a:close/>
                    </a:path>
                  </a:pathLst>
                </a:custGeom>
                <a:solidFill>
                  <a:srgbClr val="000000"/>
                </a:solidFill>
                <a:ln w="24" cap="flat">
                  <a:noFill/>
                  <a:prstDash val="solid"/>
                  <a:round/>
                </a:ln>
              </p:spPr>
              <p:txBody>
                <a:bodyPr rtlCol="0" anchor="ctr"/>
                <a:lstStyle/>
                <a:p>
                  <a:endParaRPr lang="en-US"/>
                </a:p>
              </p:txBody>
            </p:sp>
            <p:sp>
              <p:nvSpPr>
                <p:cNvPr id="227" name="フリーフォーム: 図形 226">
                  <a:extLst>
                    <a:ext uri="{FF2B5EF4-FFF2-40B4-BE49-F238E27FC236}">
                      <a16:creationId xmlns:a16="http://schemas.microsoft.com/office/drawing/2014/main" id="{4457139A-C141-C6B0-150F-8F1C8DBE7E28}"/>
                    </a:ext>
                  </a:extLst>
                </p:cNvPr>
                <p:cNvSpPr/>
                <p:nvPr/>
              </p:nvSpPr>
              <p:spPr>
                <a:xfrm flipV="1">
                  <a:off x="-5069280" y="1780032"/>
                  <a:ext cx="77247" cy="87510"/>
                </a:xfrm>
                <a:custGeom>
                  <a:avLst/>
                  <a:gdLst>
                    <a:gd name="connsiteX0" fmla="*/ 75567 w 77247"/>
                    <a:gd name="connsiteY0" fmla="*/ 45539 h 87510"/>
                    <a:gd name="connsiteX1" fmla="*/ 75567 w 77247"/>
                    <a:gd name="connsiteY1" fmla="*/ 38848 h 87510"/>
                    <a:gd name="connsiteX2" fmla="*/ 12606 w 77247"/>
                    <a:gd name="connsiteY2" fmla="*/ 38848 h 87510"/>
                    <a:gd name="connsiteX3" fmla="*/ 21131 w 77247"/>
                    <a:gd name="connsiteY3" fmla="*/ 17297 h 87510"/>
                    <a:gd name="connsiteX4" fmla="*/ 42372 w 77247"/>
                    <a:gd name="connsiteY4" fmla="*/ 9892 h 87510"/>
                    <a:gd name="connsiteX5" fmla="*/ 57660 w 77247"/>
                    <a:gd name="connsiteY5" fmla="*/ 11820 h 87510"/>
                    <a:gd name="connsiteX6" fmla="*/ 72376 w 77247"/>
                    <a:gd name="connsiteY6" fmla="*/ 17631 h 87510"/>
                    <a:gd name="connsiteX7" fmla="*/ 72376 w 77247"/>
                    <a:gd name="connsiteY7" fmla="*/ 4677 h 87510"/>
                    <a:gd name="connsiteX8" fmla="*/ 57255 w 77247"/>
                    <a:gd name="connsiteY8" fmla="*/ -86 h 87510"/>
                    <a:gd name="connsiteX9" fmla="*/ 41562 w 77247"/>
                    <a:gd name="connsiteY9" fmla="*/ -1729 h 87510"/>
                    <a:gd name="connsiteX10" fmla="*/ 9963 w 77247"/>
                    <a:gd name="connsiteY10" fmla="*/ 9868 h 87510"/>
                    <a:gd name="connsiteX11" fmla="*/ -1681 w 77247"/>
                    <a:gd name="connsiteY11" fmla="*/ 41300 h 87510"/>
                    <a:gd name="connsiteX12" fmla="*/ 9368 w 77247"/>
                    <a:gd name="connsiteY12" fmla="*/ 73757 h 87510"/>
                    <a:gd name="connsiteX13" fmla="*/ 39181 w 77247"/>
                    <a:gd name="connsiteY13" fmla="*/ 85782 h 87510"/>
                    <a:gd name="connsiteX14" fmla="*/ 65780 w 77247"/>
                    <a:gd name="connsiteY14" fmla="*/ 74947 h 87510"/>
                    <a:gd name="connsiteX15" fmla="*/ 75567 w 77247"/>
                    <a:gd name="connsiteY15" fmla="*/ 45539 h 87510"/>
                    <a:gd name="connsiteX16" fmla="*/ 61874 w 77247"/>
                    <a:gd name="connsiteY16" fmla="*/ 49563 h 87510"/>
                    <a:gd name="connsiteX17" fmla="*/ 55588 w 77247"/>
                    <a:gd name="connsiteY17" fmla="*/ 67470 h 87510"/>
                    <a:gd name="connsiteX18" fmla="*/ 39324 w 77247"/>
                    <a:gd name="connsiteY18" fmla="*/ 74185 h 87510"/>
                    <a:gd name="connsiteX19" fmla="*/ 20988 w 77247"/>
                    <a:gd name="connsiteY19" fmla="*/ 67708 h 87510"/>
                    <a:gd name="connsiteX20" fmla="*/ 13059 w 77247"/>
                    <a:gd name="connsiteY20" fmla="*/ 49468 h 87510"/>
                    <a:gd name="connsiteX21" fmla="*/ 61874 w 77247"/>
                    <a:gd name="connsiteY21" fmla="*/ 49563 h 875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77247" h="87510">
                      <a:moveTo>
                        <a:pt x="75567" y="45539"/>
                      </a:moveTo>
                      <a:lnTo>
                        <a:pt x="75567" y="38848"/>
                      </a:lnTo>
                      <a:lnTo>
                        <a:pt x="12606" y="38848"/>
                      </a:lnTo>
                      <a:cubicBezTo>
                        <a:pt x="13210" y="29418"/>
                        <a:pt x="16051" y="22234"/>
                        <a:pt x="21131" y="17297"/>
                      </a:cubicBezTo>
                      <a:cubicBezTo>
                        <a:pt x="26211" y="12360"/>
                        <a:pt x="33292" y="9892"/>
                        <a:pt x="42372" y="9892"/>
                      </a:cubicBezTo>
                      <a:cubicBezTo>
                        <a:pt x="47627" y="9892"/>
                        <a:pt x="52723" y="10535"/>
                        <a:pt x="57660" y="11820"/>
                      </a:cubicBezTo>
                      <a:cubicBezTo>
                        <a:pt x="62597" y="13106"/>
                        <a:pt x="67502" y="15043"/>
                        <a:pt x="72376" y="17631"/>
                      </a:cubicBezTo>
                      <a:lnTo>
                        <a:pt x="72376" y="4677"/>
                      </a:lnTo>
                      <a:cubicBezTo>
                        <a:pt x="67454" y="2597"/>
                        <a:pt x="62414" y="1010"/>
                        <a:pt x="57255" y="-86"/>
                      </a:cubicBezTo>
                      <a:cubicBezTo>
                        <a:pt x="52095" y="-1181"/>
                        <a:pt x="46865" y="-1729"/>
                        <a:pt x="41562" y="-1729"/>
                      </a:cubicBezTo>
                      <a:cubicBezTo>
                        <a:pt x="28259" y="-1729"/>
                        <a:pt x="17726" y="2137"/>
                        <a:pt x="9963" y="9868"/>
                      </a:cubicBezTo>
                      <a:cubicBezTo>
                        <a:pt x="2200" y="17615"/>
                        <a:pt x="-1681" y="28092"/>
                        <a:pt x="-1681" y="41300"/>
                      </a:cubicBezTo>
                      <a:cubicBezTo>
                        <a:pt x="-1681" y="54937"/>
                        <a:pt x="2002" y="65756"/>
                        <a:pt x="9368" y="73757"/>
                      </a:cubicBezTo>
                      <a:cubicBezTo>
                        <a:pt x="16734" y="81774"/>
                        <a:pt x="26672" y="85782"/>
                        <a:pt x="39181" y="85782"/>
                      </a:cubicBezTo>
                      <a:cubicBezTo>
                        <a:pt x="50389" y="85782"/>
                        <a:pt x="59255" y="82170"/>
                        <a:pt x="65780" y="74947"/>
                      </a:cubicBezTo>
                      <a:cubicBezTo>
                        <a:pt x="72304" y="67740"/>
                        <a:pt x="75567" y="57937"/>
                        <a:pt x="75567" y="45539"/>
                      </a:cubicBezTo>
                      <a:close/>
                      <a:moveTo>
                        <a:pt x="61874" y="49563"/>
                      </a:moveTo>
                      <a:cubicBezTo>
                        <a:pt x="61779" y="57040"/>
                        <a:pt x="59684" y="63009"/>
                        <a:pt x="55588" y="67470"/>
                      </a:cubicBezTo>
                      <a:cubicBezTo>
                        <a:pt x="51492" y="71947"/>
                        <a:pt x="46071" y="74185"/>
                        <a:pt x="39324" y="74185"/>
                      </a:cubicBezTo>
                      <a:cubicBezTo>
                        <a:pt x="31688" y="74185"/>
                        <a:pt x="25576" y="72026"/>
                        <a:pt x="20988" y="67708"/>
                      </a:cubicBezTo>
                      <a:cubicBezTo>
                        <a:pt x="16400" y="63390"/>
                        <a:pt x="13757" y="57310"/>
                        <a:pt x="13059" y="49468"/>
                      </a:cubicBezTo>
                      <a:lnTo>
                        <a:pt x="61874" y="49563"/>
                      </a:lnTo>
                      <a:close/>
                    </a:path>
                  </a:pathLst>
                </a:custGeom>
                <a:solidFill>
                  <a:srgbClr val="000000"/>
                </a:solidFill>
                <a:ln w="24" cap="flat">
                  <a:noFill/>
                  <a:prstDash val="solid"/>
                  <a:round/>
                </a:ln>
              </p:spPr>
              <p:txBody>
                <a:bodyPr rtlCol="0" anchor="ctr"/>
                <a:lstStyle/>
                <a:p>
                  <a:endParaRPr lang="en-US"/>
                </a:p>
              </p:txBody>
            </p:sp>
            <p:sp>
              <p:nvSpPr>
                <p:cNvPr id="228" name="フリーフォーム: 図形 227">
                  <a:extLst>
                    <a:ext uri="{FF2B5EF4-FFF2-40B4-BE49-F238E27FC236}">
                      <a16:creationId xmlns:a16="http://schemas.microsoft.com/office/drawing/2014/main" id="{BC5142B7-E893-E799-28C9-9549DEBA84D0}"/>
                    </a:ext>
                  </a:extLst>
                </p:cNvPr>
                <p:cNvSpPr/>
                <p:nvPr/>
              </p:nvSpPr>
              <p:spPr>
                <a:xfrm flipV="1">
                  <a:off x="-4969565" y="1749575"/>
                  <a:ext cx="13692" cy="115800"/>
                </a:xfrm>
                <a:custGeom>
                  <a:avLst/>
                  <a:gdLst>
                    <a:gd name="connsiteX0" fmla="*/ -591 w 13692"/>
                    <a:gd name="connsiteY0" fmla="*/ 113385 h 115800"/>
                    <a:gd name="connsiteX1" fmla="*/ 13101 w 13692"/>
                    <a:gd name="connsiteY1" fmla="*/ 113385 h 115800"/>
                    <a:gd name="connsiteX2" fmla="*/ 13101 w 13692"/>
                    <a:gd name="connsiteY2" fmla="*/ -2415 h 115800"/>
                    <a:gd name="connsiteX3" fmla="*/ -591 w 13692"/>
                    <a:gd name="connsiteY3" fmla="*/ -2415 h 115800"/>
                    <a:gd name="connsiteX4" fmla="*/ -591 w 13692"/>
                    <a:gd name="connsiteY4" fmla="*/ 113385 h 115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92" h="115800">
                      <a:moveTo>
                        <a:pt x="-591" y="113385"/>
                      </a:moveTo>
                      <a:lnTo>
                        <a:pt x="13101" y="113385"/>
                      </a:lnTo>
                      <a:lnTo>
                        <a:pt x="13101" y="-2415"/>
                      </a:lnTo>
                      <a:lnTo>
                        <a:pt x="-591" y="-2415"/>
                      </a:lnTo>
                      <a:lnTo>
                        <a:pt x="-591" y="113385"/>
                      </a:lnTo>
                      <a:close/>
                    </a:path>
                  </a:pathLst>
                </a:custGeom>
                <a:solidFill>
                  <a:srgbClr val="000000"/>
                </a:solidFill>
                <a:ln w="24" cap="flat">
                  <a:noFill/>
                  <a:prstDash val="solid"/>
                  <a:round/>
                </a:ln>
              </p:spPr>
              <p:txBody>
                <a:bodyPr rtlCol="0" anchor="ctr"/>
                <a:lstStyle/>
                <a:p>
                  <a:endParaRPr lang="en-US"/>
                </a:p>
              </p:txBody>
            </p:sp>
            <p:sp>
              <p:nvSpPr>
                <p:cNvPr id="229" name="フリーフォーム: 図形 228">
                  <a:extLst>
                    <a:ext uri="{FF2B5EF4-FFF2-40B4-BE49-F238E27FC236}">
                      <a16:creationId xmlns:a16="http://schemas.microsoft.com/office/drawing/2014/main" id="{EC40762D-D714-87B5-AC1C-1CB22688BE57}"/>
                    </a:ext>
                  </a:extLst>
                </p:cNvPr>
                <p:cNvSpPr/>
                <p:nvPr/>
              </p:nvSpPr>
              <p:spPr>
                <a:xfrm flipV="1">
                  <a:off x="-4938082" y="1749575"/>
                  <a:ext cx="53054" cy="115800"/>
                </a:xfrm>
                <a:custGeom>
                  <a:avLst/>
                  <a:gdLst>
                    <a:gd name="connsiteX0" fmla="*/ 52097 w 53054"/>
                    <a:gd name="connsiteY0" fmla="*/ 113385 h 115800"/>
                    <a:gd name="connsiteX1" fmla="*/ 52097 w 53054"/>
                    <a:gd name="connsiteY1" fmla="*/ 101979 h 115800"/>
                    <a:gd name="connsiteX2" fmla="*/ 39000 w 53054"/>
                    <a:gd name="connsiteY2" fmla="*/ 101979 h 115800"/>
                    <a:gd name="connsiteX3" fmla="*/ 28760 w 53054"/>
                    <a:gd name="connsiteY3" fmla="*/ 99002 h 115800"/>
                    <a:gd name="connsiteX4" fmla="*/ 25903 w 53054"/>
                    <a:gd name="connsiteY4" fmla="*/ 88287 h 115800"/>
                    <a:gd name="connsiteX5" fmla="*/ 25903 w 53054"/>
                    <a:gd name="connsiteY5" fmla="*/ 80929 h 115800"/>
                    <a:gd name="connsiteX6" fmla="*/ 48453 w 53054"/>
                    <a:gd name="connsiteY6" fmla="*/ 80929 h 115800"/>
                    <a:gd name="connsiteX7" fmla="*/ 48453 w 53054"/>
                    <a:gd name="connsiteY7" fmla="*/ 70284 h 115800"/>
                    <a:gd name="connsiteX8" fmla="*/ 25903 w 53054"/>
                    <a:gd name="connsiteY8" fmla="*/ 70284 h 115800"/>
                    <a:gd name="connsiteX9" fmla="*/ 25903 w 53054"/>
                    <a:gd name="connsiteY9" fmla="*/ -2415 h 115800"/>
                    <a:gd name="connsiteX10" fmla="*/ 12139 w 53054"/>
                    <a:gd name="connsiteY10" fmla="*/ -2415 h 115800"/>
                    <a:gd name="connsiteX11" fmla="*/ 12139 w 53054"/>
                    <a:gd name="connsiteY11" fmla="*/ 70284 h 115800"/>
                    <a:gd name="connsiteX12" fmla="*/ -958 w 53054"/>
                    <a:gd name="connsiteY12" fmla="*/ 70284 h 115800"/>
                    <a:gd name="connsiteX13" fmla="*/ -958 w 53054"/>
                    <a:gd name="connsiteY13" fmla="*/ 80929 h 115800"/>
                    <a:gd name="connsiteX14" fmla="*/ 12139 w 53054"/>
                    <a:gd name="connsiteY14" fmla="*/ 80929 h 115800"/>
                    <a:gd name="connsiteX15" fmla="*/ 12139 w 53054"/>
                    <a:gd name="connsiteY15" fmla="*/ 86739 h 115800"/>
                    <a:gd name="connsiteX16" fmla="*/ 18616 w 53054"/>
                    <a:gd name="connsiteY16" fmla="*/ 107003 h 115800"/>
                    <a:gd name="connsiteX17" fmla="*/ 39143 w 53054"/>
                    <a:gd name="connsiteY17" fmla="*/ 113385 h 115800"/>
                    <a:gd name="connsiteX18" fmla="*/ 52097 w 53054"/>
                    <a:gd name="connsiteY18" fmla="*/ 113385 h 115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3054" h="115800">
                      <a:moveTo>
                        <a:pt x="52097" y="113385"/>
                      </a:moveTo>
                      <a:lnTo>
                        <a:pt x="52097" y="101979"/>
                      </a:lnTo>
                      <a:lnTo>
                        <a:pt x="39000" y="101979"/>
                      </a:lnTo>
                      <a:cubicBezTo>
                        <a:pt x="34094" y="101979"/>
                        <a:pt x="30681" y="100987"/>
                        <a:pt x="28760" y="99002"/>
                      </a:cubicBezTo>
                      <a:cubicBezTo>
                        <a:pt x="26855" y="97018"/>
                        <a:pt x="25903" y="93446"/>
                        <a:pt x="25903" y="88287"/>
                      </a:cubicBezTo>
                      <a:lnTo>
                        <a:pt x="25903" y="80929"/>
                      </a:lnTo>
                      <a:lnTo>
                        <a:pt x="48453" y="80929"/>
                      </a:lnTo>
                      <a:lnTo>
                        <a:pt x="48453" y="70284"/>
                      </a:lnTo>
                      <a:lnTo>
                        <a:pt x="25903" y="70284"/>
                      </a:lnTo>
                      <a:lnTo>
                        <a:pt x="25903" y="-2415"/>
                      </a:lnTo>
                      <a:lnTo>
                        <a:pt x="12139" y="-2415"/>
                      </a:lnTo>
                      <a:lnTo>
                        <a:pt x="12139" y="70284"/>
                      </a:lnTo>
                      <a:lnTo>
                        <a:pt x="-958" y="70284"/>
                      </a:lnTo>
                      <a:lnTo>
                        <a:pt x="-958" y="80929"/>
                      </a:lnTo>
                      <a:lnTo>
                        <a:pt x="12139" y="80929"/>
                      </a:lnTo>
                      <a:lnTo>
                        <a:pt x="12139" y="86739"/>
                      </a:lnTo>
                      <a:cubicBezTo>
                        <a:pt x="12139" y="96010"/>
                        <a:pt x="14298" y="102765"/>
                        <a:pt x="18616" y="107003"/>
                      </a:cubicBezTo>
                      <a:cubicBezTo>
                        <a:pt x="22934" y="111258"/>
                        <a:pt x="29776" y="113385"/>
                        <a:pt x="39143" y="113385"/>
                      </a:cubicBezTo>
                      <a:lnTo>
                        <a:pt x="52097" y="113385"/>
                      </a:lnTo>
                      <a:close/>
                    </a:path>
                  </a:pathLst>
                </a:custGeom>
                <a:solidFill>
                  <a:srgbClr val="000000"/>
                </a:solidFill>
                <a:ln w="24" cap="flat">
                  <a:noFill/>
                  <a:prstDash val="solid"/>
                  <a:round/>
                </a:ln>
              </p:spPr>
              <p:txBody>
                <a:bodyPr rtlCol="0" anchor="ctr"/>
                <a:lstStyle/>
                <a:p>
                  <a:endParaRPr lang="en-US"/>
                </a:p>
              </p:txBody>
            </p:sp>
            <p:sp>
              <p:nvSpPr>
                <p:cNvPr id="230" name="フリーフォーム: 図形 229">
                  <a:extLst>
                    <a:ext uri="{FF2B5EF4-FFF2-40B4-BE49-F238E27FC236}">
                      <a16:creationId xmlns:a16="http://schemas.microsoft.com/office/drawing/2014/main" id="{ECA5527B-352C-9707-BE80-631ABF8CD504}"/>
                    </a:ext>
                  </a:extLst>
                </p:cNvPr>
                <p:cNvSpPr/>
                <p:nvPr/>
              </p:nvSpPr>
              <p:spPr>
                <a:xfrm flipV="1">
                  <a:off x="-4887930" y="1865376"/>
                  <a:ext cx="12700" cy="12700"/>
                </a:xfrm>
                <a:custGeom>
                  <a:avLst/>
                  <a:gdLst/>
                  <a:ahLst/>
                  <a:cxnLst/>
                  <a:rect l="l" t="t" r="r" b="b"/>
                  <a:pathLst>
                    <a:path w="12700" h="12700"/>
                  </a:pathLst>
                </a:custGeom>
                <a:solidFill>
                  <a:srgbClr val="000000"/>
                </a:solidFill>
                <a:ln w="24" cap="flat">
                  <a:noFill/>
                  <a:prstDash val="solid"/>
                  <a:round/>
                </a:ln>
              </p:spPr>
              <p:txBody>
                <a:bodyPr rtlCol="0" anchor="ctr"/>
                <a:lstStyle/>
                <a:p>
                  <a:endParaRPr lang="en-US"/>
                </a:p>
              </p:txBody>
            </p:sp>
            <p:sp>
              <p:nvSpPr>
                <p:cNvPr id="231" name="フリーフォーム: 図形 230">
                  <a:extLst>
                    <a:ext uri="{FF2B5EF4-FFF2-40B4-BE49-F238E27FC236}">
                      <a16:creationId xmlns:a16="http://schemas.microsoft.com/office/drawing/2014/main" id="{2031B50F-C5BE-7D95-A3B6-B225B7B8F932}"/>
                    </a:ext>
                  </a:extLst>
                </p:cNvPr>
                <p:cNvSpPr/>
                <p:nvPr/>
              </p:nvSpPr>
              <p:spPr>
                <a:xfrm flipV="1">
                  <a:off x="-4829438" y="1752266"/>
                  <a:ext cx="78200" cy="115276"/>
                </a:xfrm>
                <a:custGeom>
                  <a:avLst/>
                  <a:gdLst>
                    <a:gd name="connsiteX0" fmla="*/ 69758 w 78200"/>
                    <a:gd name="connsiteY0" fmla="*/ 107320 h 115276"/>
                    <a:gd name="connsiteX1" fmla="*/ 69758 w 78200"/>
                    <a:gd name="connsiteY1" fmla="*/ 92651 h 115276"/>
                    <a:gd name="connsiteX2" fmla="*/ 53613 w 78200"/>
                    <a:gd name="connsiteY2" fmla="*/ 98747 h 115276"/>
                    <a:gd name="connsiteX3" fmla="*/ 38944 w 78200"/>
                    <a:gd name="connsiteY3" fmla="*/ 100771 h 115276"/>
                    <a:gd name="connsiteX4" fmla="*/ 20013 w 78200"/>
                    <a:gd name="connsiteY4" fmla="*/ 96009 h 115276"/>
                    <a:gd name="connsiteX5" fmla="*/ 13346 w 78200"/>
                    <a:gd name="connsiteY5" fmla="*/ 82460 h 115276"/>
                    <a:gd name="connsiteX6" fmla="*/ 17775 w 78200"/>
                    <a:gd name="connsiteY6" fmla="*/ 71315 h 115276"/>
                    <a:gd name="connsiteX7" fmla="*/ 34563 w 78200"/>
                    <a:gd name="connsiteY7" fmla="*/ 65267 h 115276"/>
                    <a:gd name="connsiteX8" fmla="*/ 43635 w 78200"/>
                    <a:gd name="connsiteY8" fmla="*/ 63410 h 115276"/>
                    <a:gd name="connsiteX9" fmla="*/ 68448 w 78200"/>
                    <a:gd name="connsiteY9" fmla="*/ 52122 h 115276"/>
                    <a:gd name="connsiteX10" fmla="*/ 76449 w 78200"/>
                    <a:gd name="connsiteY10" fmla="*/ 30524 h 115276"/>
                    <a:gd name="connsiteX11" fmla="*/ 65614 w 78200"/>
                    <a:gd name="connsiteY11" fmla="*/ 6021 h 115276"/>
                    <a:gd name="connsiteX12" fmla="*/ 33896 w 78200"/>
                    <a:gd name="connsiteY12" fmla="*/ -2313 h 115276"/>
                    <a:gd name="connsiteX13" fmla="*/ 17108 w 78200"/>
                    <a:gd name="connsiteY13" fmla="*/ -527 h 115276"/>
                    <a:gd name="connsiteX14" fmla="*/ -1299 w 78200"/>
                    <a:gd name="connsiteY14" fmla="*/ 4759 h 115276"/>
                    <a:gd name="connsiteX15" fmla="*/ -1299 w 78200"/>
                    <a:gd name="connsiteY15" fmla="*/ 20237 h 115276"/>
                    <a:gd name="connsiteX16" fmla="*/ 16632 w 78200"/>
                    <a:gd name="connsiteY16" fmla="*/ 12498 h 115276"/>
                    <a:gd name="connsiteX17" fmla="*/ 33896 w 78200"/>
                    <a:gd name="connsiteY17" fmla="*/ 9903 h 115276"/>
                    <a:gd name="connsiteX18" fmla="*/ 53756 w 78200"/>
                    <a:gd name="connsiteY18" fmla="*/ 14951 h 115276"/>
                    <a:gd name="connsiteX19" fmla="*/ 60757 w 78200"/>
                    <a:gd name="connsiteY19" fmla="*/ 29405 h 115276"/>
                    <a:gd name="connsiteX20" fmla="*/ 55732 w 78200"/>
                    <a:gd name="connsiteY20" fmla="*/ 42193 h 115276"/>
                    <a:gd name="connsiteX21" fmla="*/ 39254 w 78200"/>
                    <a:gd name="connsiteY21" fmla="*/ 49122 h 115276"/>
                    <a:gd name="connsiteX22" fmla="*/ 30086 w 78200"/>
                    <a:gd name="connsiteY22" fmla="*/ 50908 h 115276"/>
                    <a:gd name="connsiteX23" fmla="*/ 5750 w 78200"/>
                    <a:gd name="connsiteY23" fmla="*/ 61385 h 115276"/>
                    <a:gd name="connsiteX24" fmla="*/ -1751 w 78200"/>
                    <a:gd name="connsiteY24" fmla="*/ 81269 h 115276"/>
                    <a:gd name="connsiteX25" fmla="*/ 8631 w 78200"/>
                    <a:gd name="connsiteY25" fmla="*/ 104486 h 115276"/>
                    <a:gd name="connsiteX26" fmla="*/ 37230 w 78200"/>
                    <a:gd name="connsiteY26" fmla="*/ 112963 h 115276"/>
                    <a:gd name="connsiteX27" fmla="*/ 53160 w 78200"/>
                    <a:gd name="connsiteY27" fmla="*/ 111535 h 115276"/>
                    <a:gd name="connsiteX28" fmla="*/ 69758 w 78200"/>
                    <a:gd name="connsiteY28" fmla="*/ 107320 h 115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78200" h="115276">
                      <a:moveTo>
                        <a:pt x="69758" y="107320"/>
                      </a:moveTo>
                      <a:lnTo>
                        <a:pt x="69758" y="92651"/>
                      </a:lnTo>
                      <a:cubicBezTo>
                        <a:pt x="64059" y="95382"/>
                        <a:pt x="58677" y="97414"/>
                        <a:pt x="53613" y="98747"/>
                      </a:cubicBezTo>
                      <a:cubicBezTo>
                        <a:pt x="48549" y="100097"/>
                        <a:pt x="43659" y="100771"/>
                        <a:pt x="38944" y="100771"/>
                      </a:cubicBezTo>
                      <a:cubicBezTo>
                        <a:pt x="30769" y="100771"/>
                        <a:pt x="24459" y="99184"/>
                        <a:pt x="20013" y="96009"/>
                      </a:cubicBezTo>
                      <a:cubicBezTo>
                        <a:pt x="15568" y="92834"/>
                        <a:pt x="13346" y="88317"/>
                        <a:pt x="13346" y="82460"/>
                      </a:cubicBezTo>
                      <a:cubicBezTo>
                        <a:pt x="13346" y="77538"/>
                        <a:pt x="14822" y="73823"/>
                        <a:pt x="17775" y="71315"/>
                      </a:cubicBezTo>
                      <a:cubicBezTo>
                        <a:pt x="20728" y="68823"/>
                        <a:pt x="26324" y="66807"/>
                        <a:pt x="34563" y="65267"/>
                      </a:cubicBezTo>
                      <a:lnTo>
                        <a:pt x="43635" y="63410"/>
                      </a:lnTo>
                      <a:cubicBezTo>
                        <a:pt x="54843" y="61266"/>
                        <a:pt x="63114" y="57504"/>
                        <a:pt x="68448" y="52122"/>
                      </a:cubicBezTo>
                      <a:cubicBezTo>
                        <a:pt x="73782" y="46741"/>
                        <a:pt x="76449" y="39542"/>
                        <a:pt x="76449" y="30524"/>
                      </a:cubicBezTo>
                      <a:cubicBezTo>
                        <a:pt x="76449" y="19745"/>
                        <a:pt x="72837" y="11578"/>
                        <a:pt x="65614" y="6021"/>
                      </a:cubicBezTo>
                      <a:cubicBezTo>
                        <a:pt x="58407" y="465"/>
                        <a:pt x="47834" y="-2313"/>
                        <a:pt x="33896" y="-2313"/>
                      </a:cubicBezTo>
                      <a:cubicBezTo>
                        <a:pt x="28641" y="-2313"/>
                        <a:pt x="23045" y="-1718"/>
                        <a:pt x="17108" y="-527"/>
                      </a:cubicBezTo>
                      <a:cubicBezTo>
                        <a:pt x="11187" y="664"/>
                        <a:pt x="5051" y="2426"/>
                        <a:pt x="-1299" y="4759"/>
                      </a:cubicBezTo>
                      <a:lnTo>
                        <a:pt x="-1299" y="20237"/>
                      </a:lnTo>
                      <a:cubicBezTo>
                        <a:pt x="4797" y="16824"/>
                        <a:pt x="10774" y="14245"/>
                        <a:pt x="16632" y="12498"/>
                      </a:cubicBezTo>
                      <a:cubicBezTo>
                        <a:pt x="22490" y="10768"/>
                        <a:pt x="28245" y="9903"/>
                        <a:pt x="33896" y="9903"/>
                      </a:cubicBezTo>
                      <a:cubicBezTo>
                        <a:pt x="42469" y="9903"/>
                        <a:pt x="49088" y="11586"/>
                        <a:pt x="53756" y="14951"/>
                      </a:cubicBezTo>
                      <a:cubicBezTo>
                        <a:pt x="58423" y="18332"/>
                        <a:pt x="60757" y="23151"/>
                        <a:pt x="60757" y="29405"/>
                      </a:cubicBezTo>
                      <a:cubicBezTo>
                        <a:pt x="60757" y="34850"/>
                        <a:pt x="59082" y="39113"/>
                        <a:pt x="55732" y="42193"/>
                      </a:cubicBezTo>
                      <a:cubicBezTo>
                        <a:pt x="52382" y="45272"/>
                        <a:pt x="46890" y="47582"/>
                        <a:pt x="39254" y="49122"/>
                      </a:cubicBezTo>
                      <a:lnTo>
                        <a:pt x="30086" y="50908"/>
                      </a:lnTo>
                      <a:cubicBezTo>
                        <a:pt x="18878" y="53130"/>
                        <a:pt x="10766" y="56623"/>
                        <a:pt x="5750" y="61385"/>
                      </a:cubicBezTo>
                      <a:cubicBezTo>
                        <a:pt x="749" y="66148"/>
                        <a:pt x="-1751" y="72776"/>
                        <a:pt x="-1751" y="81269"/>
                      </a:cubicBezTo>
                      <a:cubicBezTo>
                        <a:pt x="-1751" y="91096"/>
                        <a:pt x="1710" y="98835"/>
                        <a:pt x="8631" y="104486"/>
                      </a:cubicBezTo>
                      <a:cubicBezTo>
                        <a:pt x="15553" y="110138"/>
                        <a:pt x="25085" y="112963"/>
                        <a:pt x="37230" y="112963"/>
                      </a:cubicBezTo>
                      <a:cubicBezTo>
                        <a:pt x="42453" y="112963"/>
                        <a:pt x="47763" y="112487"/>
                        <a:pt x="53160" y="111535"/>
                      </a:cubicBezTo>
                      <a:cubicBezTo>
                        <a:pt x="58574" y="110598"/>
                        <a:pt x="64106" y="109193"/>
                        <a:pt x="69758" y="107320"/>
                      </a:cubicBezTo>
                      <a:close/>
                    </a:path>
                  </a:pathLst>
                </a:custGeom>
                <a:solidFill>
                  <a:srgbClr val="000000"/>
                </a:solidFill>
                <a:ln w="24" cap="flat">
                  <a:noFill/>
                  <a:prstDash val="solid"/>
                  <a:round/>
                </a:ln>
              </p:spPr>
              <p:txBody>
                <a:bodyPr rtlCol="0" anchor="ctr"/>
                <a:lstStyle/>
                <a:p>
                  <a:endParaRPr lang="en-US"/>
                </a:p>
              </p:txBody>
            </p:sp>
            <p:sp>
              <p:nvSpPr>
                <p:cNvPr id="232" name="フリーフォーム: 図形 231">
                  <a:extLst>
                    <a:ext uri="{FF2B5EF4-FFF2-40B4-BE49-F238E27FC236}">
                      <a16:creationId xmlns:a16="http://schemas.microsoft.com/office/drawing/2014/main" id="{3059F2D4-18FE-5184-2DD7-E09365D5635E}"/>
                    </a:ext>
                  </a:extLst>
                </p:cNvPr>
                <p:cNvSpPr/>
                <p:nvPr/>
              </p:nvSpPr>
              <p:spPr>
                <a:xfrm flipV="1">
                  <a:off x="-4729794" y="1780032"/>
                  <a:ext cx="69794" cy="87510"/>
                </a:xfrm>
                <a:custGeom>
                  <a:avLst/>
                  <a:gdLst>
                    <a:gd name="connsiteX0" fmla="*/ -1689 w 69794"/>
                    <a:gd name="connsiteY0" fmla="*/ 33323 h 87510"/>
                    <a:gd name="connsiteX1" fmla="*/ -1689 w 69794"/>
                    <a:gd name="connsiteY1" fmla="*/ 83782 h 87510"/>
                    <a:gd name="connsiteX2" fmla="*/ 12003 w 69794"/>
                    <a:gd name="connsiteY2" fmla="*/ 83782 h 87510"/>
                    <a:gd name="connsiteX3" fmla="*/ 12003 w 69794"/>
                    <a:gd name="connsiteY3" fmla="*/ 33847 h 87510"/>
                    <a:gd name="connsiteX4" fmla="*/ 16599 w 69794"/>
                    <a:gd name="connsiteY4" fmla="*/ 16083 h 87510"/>
                    <a:gd name="connsiteX5" fmla="*/ 30458 w 69794"/>
                    <a:gd name="connsiteY5" fmla="*/ 10177 h 87510"/>
                    <a:gd name="connsiteX6" fmla="*/ 47960 w 69794"/>
                    <a:gd name="connsiteY6" fmla="*/ 17250 h 87510"/>
                    <a:gd name="connsiteX7" fmla="*/ 54413 w 69794"/>
                    <a:gd name="connsiteY7" fmla="*/ 36538 h 87510"/>
                    <a:gd name="connsiteX8" fmla="*/ 54413 w 69794"/>
                    <a:gd name="connsiteY8" fmla="*/ 83782 h 87510"/>
                    <a:gd name="connsiteX9" fmla="*/ 68105 w 69794"/>
                    <a:gd name="connsiteY9" fmla="*/ 83782 h 87510"/>
                    <a:gd name="connsiteX10" fmla="*/ 68105 w 69794"/>
                    <a:gd name="connsiteY10" fmla="*/ 438 h 87510"/>
                    <a:gd name="connsiteX11" fmla="*/ 54413 w 69794"/>
                    <a:gd name="connsiteY11" fmla="*/ 438 h 87510"/>
                    <a:gd name="connsiteX12" fmla="*/ 54413 w 69794"/>
                    <a:gd name="connsiteY12" fmla="*/ 13249 h 87510"/>
                    <a:gd name="connsiteX13" fmla="*/ 42840 w 69794"/>
                    <a:gd name="connsiteY13" fmla="*/ 1962 h 87510"/>
                    <a:gd name="connsiteX14" fmla="*/ 27553 w 69794"/>
                    <a:gd name="connsiteY14" fmla="*/ -1729 h 87510"/>
                    <a:gd name="connsiteX15" fmla="*/ 5740 w 69794"/>
                    <a:gd name="connsiteY15" fmla="*/ 7201 h 87510"/>
                    <a:gd name="connsiteX16" fmla="*/ -1689 w 69794"/>
                    <a:gd name="connsiteY16" fmla="*/ 33323 h 87510"/>
                    <a:gd name="connsiteX17" fmla="*/ 32768 w 69794"/>
                    <a:gd name="connsiteY17" fmla="*/ 85782 h 87510"/>
                    <a:gd name="connsiteX18" fmla="*/ 32768 w 69794"/>
                    <a:gd name="connsiteY18" fmla="*/ 85782 h 875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9794" h="87510">
                      <a:moveTo>
                        <a:pt x="-1689" y="33323"/>
                      </a:moveTo>
                      <a:lnTo>
                        <a:pt x="-1689" y="83782"/>
                      </a:lnTo>
                      <a:lnTo>
                        <a:pt x="12003" y="83782"/>
                      </a:lnTo>
                      <a:lnTo>
                        <a:pt x="12003" y="33847"/>
                      </a:lnTo>
                      <a:cubicBezTo>
                        <a:pt x="12003" y="25957"/>
                        <a:pt x="13535" y="20036"/>
                        <a:pt x="16599" y="16083"/>
                      </a:cubicBezTo>
                      <a:cubicBezTo>
                        <a:pt x="19678" y="12146"/>
                        <a:pt x="24298" y="10177"/>
                        <a:pt x="30458" y="10177"/>
                      </a:cubicBezTo>
                      <a:cubicBezTo>
                        <a:pt x="37840" y="10177"/>
                        <a:pt x="43674" y="12535"/>
                        <a:pt x="47960" y="17250"/>
                      </a:cubicBezTo>
                      <a:cubicBezTo>
                        <a:pt x="52262" y="21965"/>
                        <a:pt x="54413" y="28394"/>
                        <a:pt x="54413" y="36538"/>
                      </a:cubicBezTo>
                      <a:lnTo>
                        <a:pt x="54413" y="83782"/>
                      </a:lnTo>
                      <a:lnTo>
                        <a:pt x="68105" y="83782"/>
                      </a:lnTo>
                      <a:lnTo>
                        <a:pt x="68105" y="438"/>
                      </a:lnTo>
                      <a:lnTo>
                        <a:pt x="54413" y="438"/>
                      </a:lnTo>
                      <a:lnTo>
                        <a:pt x="54413" y="13249"/>
                      </a:lnTo>
                      <a:cubicBezTo>
                        <a:pt x="51095" y="8185"/>
                        <a:pt x="47238" y="4423"/>
                        <a:pt x="42840" y="1962"/>
                      </a:cubicBezTo>
                      <a:cubicBezTo>
                        <a:pt x="38459" y="-499"/>
                        <a:pt x="33363" y="-1729"/>
                        <a:pt x="27553" y="-1729"/>
                      </a:cubicBezTo>
                      <a:cubicBezTo>
                        <a:pt x="17980" y="-1729"/>
                        <a:pt x="10709" y="1248"/>
                        <a:pt x="5740" y="7201"/>
                      </a:cubicBezTo>
                      <a:cubicBezTo>
                        <a:pt x="787" y="13154"/>
                        <a:pt x="-1689" y="21861"/>
                        <a:pt x="-1689" y="33323"/>
                      </a:cubicBezTo>
                      <a:close/>
                      <a:moveTo>
                        <a:pt x="32768" y="85782"/>
                      </a:moveTo>
                      <a:lnTo>
                        <a:pt x="32768" y="85782"/>
                      </a:lnTo>
                      <a:close/>
                    </a:path>
                  </a:pathLst>
                </a:custGeom>
                <a:solidFill>
                  <a:srgbClr val="000000"/>
                </a:solidFill>
                <a:ln w="24" cap="flat">
                  <a:noFill/>
                  <a:prstDash val="solid"/>
                  <a:round/>
                </a:ln>
              </p:spPr>
              <p:txBody>
                <a:bodyPr rtlCol="0" anchor="ctr"/>
                <a:lstStyle/>
                <a:p>
                  <a:endParaRPr lang="en-US"/>
                </a:p>
              </p:txBody>
            </p:sp>
            <p:sp>
              <p:nvSpPr>
                <p:cNvPr id="233" name="フリーフォーム: 図形 232">
                  <a:extLst>
                    <a:ext uri="{FF2B5EF4-FFF2-40B4-BE49-F238E27FC236}">
                      <a16:creationId xmlns:a16="http://schemas.microsoft.com/office/drawing/2014/main" id="{B220F8D3-C557-BAA4-BD2C-25C4736D3716}"/>
                    </a:ext>
                  </a:extLst>
                </p:cNvPr>
                <p:cNvSpPr/>
                <p:nvPr/>
              </p:nvSpPr>
              <p:spPr>
                <a:xfrm flipV="1">
                  <a:off x="-4642658" y="1749575"/>
                  <a:ext cx="53054" cy="115800"/>
                </a:xfrm>
                <a:custGeom>
                  <a:avLst/>
                  <a:gdLst>
                    <a:gd name="connsiteX0" fmla="*/ 52120 w 53054"/>
                    <a:gd name="connsiteY0" fmla="*/ 113385 h 115800"/>
                    <a:gd name="connsiteX1" fmla="*/ 52120 w 53054"/>
                    <a:gd name="connsiteY1" fmla="*/ 101979 h 115800"/>
                    <a:gd name="connsiteX2" fmla="*/ 39023 w 53054"/>
                    <a:gd name="connsiteY2" fmla="*/ 101979 h 115800"/>
                    <a:gd name="connsiteX3" fmla="*/ 28784 w 53054"/>
                    <a:gd name="connsiteY3" fmla="*/ 99002 h 115800"/>
                    <a:gd name="connsiteX4" fmla="*/ 25926 w 53054"/>
                    <a:gd name="connsiteY4" fmla="*/ 88287 h 115800"/>
                    <a:gd name="connsiteX5" fmla="*/ 25926 w 53054"/>
                    <a:gd name="connsiteY5" fmla="*/ 80929 h 115800"/>
                    <a:gd name="connsiteX6" fmla="*/ 48476 w 53054"/>
                    <a:gd name="connsiteY6" fmla="*/ 80929 h 115800"/>
                    <a:gd name="connsiteX7" fmla="*/ 48476 w 53054"/>
                    <a:gd name="connsiteY7" fmla="*/ 70284 h 115800"/>
                    <a:gd name="connsiteX8" fmla="*/ 25926 w 53054"/>
                    <a:gd name="connsiteY8" fmla="*/ 70284 h 115800"/>
                    <a:gd name="connsiteX9" fmla="*/ 25926 w 53054"/>
                    <a:gd name="connsiteY9" fmla="*/ -2415 h 115800"/>
                    <a:gd name="connsiteX10" fmla="*/ 12162 w 53054"/>
                    <a:gd name="connsiteY10" fmla="*/ -2415 h 115800"/>
                    <a:gd name="connsiteX11" fmla="*/ 12162 w 53054"/>
                    <a:gd name="connsiteY11" fmla="*/ 70284 h 115800"/>
                    <a:gd name="connsiteX12" fmla="*/ -934 w 53054"/>
                    <a:gd name="connsiteY12" fmla="*/ 70284 h 115800"/>
                    <a:gd name="connsiteX13" fmla="*/ -934 w 53054"/>
                    <a:gd name="connsiteY13" fmla="*/ 80929 h 115800"/>
                    <a:gd name="connsiteX14" fmla="*/ 12162 w 53054"/>
                    <a:gd name="connsiteY14" fmla="*/ 80929 h 115800"/>
                    <a:gd name="connsiteX15" fmla="*/ 12162 w 53054"/>
                    <a:gd name="connsiteY15" fmla="*/ 86739 h 115800"/>
                    <a:gd name="connsiteX16" fmla="*/ 18639 w 53054"/>
                    <a:gd name="connsiteY16" fmla="*/ 107003 h 115800"/>
                    <a:gd name="connsiteX17" fmla="*/ 39166 w 53054"/>
                    <a:gd name="connsiteY17" fmla="*/ 113385 h 115800"/>
                    <a:gd name="connsiteX18" fmla="*/ 52120 w 53054"/>
                    <a:gd name="connsiteY18" fmla="*/ 113385 h 115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3054" h="115800">
                      <a:moveTo>
                        <a:pt x="52120" y="113385"/>
                      </a:moveTo>
                      <a:lnTo>
                        <a:pt x="52120" y="101979"/>
                      </a:lnTo>
                      <a:lnTo>
                        <a:pt x="39023" y="101979"/>
                      </a:lnTo>
                      <a:cubicBezTo>
                        <a:pt x="34118" y="101979"/>
                        <a:pt x="30704" y="100987"/>
                        <a:pt x="28784" y="99002"/>
                      </a:cubicBezTo>
                      <a:cubicBezTo>
                        <a:pt x="26879" y="97018"/>
                        <a:pt x="25926" y="93446"/>
                        <a:pt x="25926" y="88287"/>
                      </a:cubicBezTo>
                      <a:lnTo>
                        <a:pt x="25926" y="80929"/>
                      </a:lnTo>
                      <a:lnTo>
                        <a:pt x="48476" y="80929"/>
                      </a:lnTo>
                      <a:lnTo>
                        <a:pt x="48476" y="70284"/>
                      </a:lnTo>
                      <a:lnTo>
                        <a:pt x="25926" y="70284"/>
                      </a:lnTo>
                      <a:lnTo>
                        <a:pt x="25926" y="-2415"/>
                      </a:lnTo>
                      <a:lnTo>
                        <a:pt x="12162" y="-2415"/>
                      </a:lnTo>
                      <a:lnTo>
                        <a:pt x="12162" y="70284"/>
                      </a:lnTo>
                      <a:lnTo>
                        <a:pt x="-934" y="70284"/>
                      </a:lnTo>
                      <a:lnTo>
                        <a:pt x="-934" y="80929"/>
                      </a:lnTo>
                      <a:lnTo>
                        <a:pt x="12162" y="80929"/>
                      </a:lnTo>
                      <a:lnTo>
                        <a:pt x="12162" y="86739"/>
                      </a:lnTo>
                      <a:cubicBezTo>
                        <a:pt x="12162" y="96010"/>
                        <a:pt x="14321" y="102765"/>
                        <a:pt x="18639" y="107003"/>
                      </a:cubicBezTo>
                      <a:cubicBezTo>
                        <a:pt x="22957" y="111258"/>
                        <a:pt x="29800" y="113385"/>
                        <a:pt x="39166" y="113385"/>
                      </a:cubicBezTo>
                      <a:lnTo>
                        <a:pt x="52120" y="113385"/>
                      </a:lnTo>
                      <a:close/>
                    </a:path>
                  </a:pathLst>
                </a:custGeom>
                <a:solidFill>
                  <a:srgbClr val="000000"/>
                </a:solidFill>
                <a:ln w="24" cap="flat">
                  <a:noFill/>
                  <a:prstDash val="solid"/>
                  <a:round/>
                </a:ln>
              </p:spPr>
              <p:txBody>
                <a:bodyPr rtlCol="0" anchor="ctr"/>
                <a:lstStyle/>
                <a:p>
                  <a:endParaRPr lang="en-US"/>
                </a:p>
              </p:txBody>
            </p:sp>
            <p:sp>
              <p:nvSpPr>
                <p:cNvPr id="234" name="フリーフォーム: 図形 233">
                  <a:extLst>
                    <a:ext uri="{FF2B5EF4-FFF2-40B4-BE49-F238E27FC236}">
                      <a16:creationId xmlns:a16="http://schemas.microsoft.com/office/drawing/2014/main" id="{33BE528F-C682-5DFC-4781-C7AEA30E18A6}"/>
                    </a:ext>
                  </a:extLst>
                </p:cNvPr>
                <p:cNvSpPr/>
                <p:nvPr/>
              </p:nvSpPr>
              <p:spPr>
                <a:xfrm flipV="1">
                  <a:off x="-4589005" y="1749575"/>
                  <a:ext cx="53054" cy="115800"/>
                </a:xfrm>
                <a:custGeom>
                  <a:avLst/>
                  <a:gdLst>
                    <a:gd name="connsiteX0" fmla="*/ 52124 w 53054"/>
                    <a:gd name="connsiteY0" fmla="*/ 113385 h 115800"/>
                    <a:gd name="connsiteX1" fmla="*/ 52124 w 53054"/>
                    <a:gd name="connsiteY1" fmla="*/ 101979 h 115800"/>
                    <a:gd name="connsiteX2" fmla="*/ 39027 w 53054"/>
                    <a:gd name="connsiteY2" fmla="*/ 101979 h 115800"/>
                    <a:gd name="connsiteX3" fmla="*/ 28788 w 53054"/>
                    <a:gd name="connsiteY3" fmla="*/ 99002 h 115800"/>
                    <a:gd name="connsiteX4" fmla="*/ 25930 w 53054"/>
                    <a:gd name="connsiteY4" fmla="*/ 88287 h 115800"/>
                    <a:gd name="connsiteX5" fmla="*/ 25930 w 53054"/>
                    <a:gd name="connsiteY5" fmla="*/ 80929 h 115800"/>
                    <a:gd name="connsiteX6" fmla="*/ 48481 w 53054"/>
                    <a:gd name="connsiteY6" fmla="*/ 80929 h 115800"/>
                    <a:gd name="connsiteX7" fmla="*/ 48481 w 53054"/>
                    <a:gd name="connsiteY7" fmla="*/ 70284 h 115800"/>
                    <a:gd name="connsiteX8" fmla="*/ 25930 w 53054"/>
                    <a:gd name="connsiteY8" fmla="*/ 70284 h 115800"/>
                    <a:gd name="connsiteX9" fmla="*/ 25930 w 53054"/>
                    <a:gd name="connsiteY9" fmla="*/ -2415 h 115800"/>
                    <a:gd name="connsiteX10" fmla="*/ 12167 w 53054"/>
                    <a:gd name="connsiteY10" fmla="*/ -2415 h 115800"/>
                    <a:gd name="connsiteX11" fmla="*/ 12167 w 53054"/>
                    <a:gd name="connsiteY11" fmla="*/ 70284 h 115800"/>
                    <a:gd name="connsiteX12" fmla="*/ -930 w 53054"/>
                    <a:gd name="connsiteY12" fmla="*/ 70284 h 115800"/>
                    <a:gd name="connsiteX13" fmla="*/ -930 w 53054"/>
                    <a:gd name="connsiteY13" fmla="*/ 80929 h 115800"/>
                    <a:gd name="connsiteX14" fmla="*/ 12167 w 53054"/>
                    <a:gd name="connsiteY14" fmla="*/ 80929 h 115800"/>
                    <a:gd name="connsiteX15" fmla="*/ 12167 w 53054"/>
                    <a:gd name="connsiteY15" fmla="*/ 86739 h 115800"/>
                    <a:gd name="connsiteX16" fmla="*/ 18644 w 53054"/>
                    <a:gd name="connsiteY16" fmla="*/ 107003 h 115800"/>
                    <a:gd name="connsiteX17" fmla="*/ 39170 w 53054"/>
                    <a:gd name="connsiteY17" fmla="*/ 113385 h 115800"/>
                    <a:gd name="connsiteX18" fmla="*/ 52124 w 53054"/>
                    <a:gd name="connsiteY18" fmla="*/ 113385 h 115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3054" h="115800">
                      <a:moveTo>
                        <a:pt x="52124" y="113385"/>
                      </a:moveTo>
                      <a:lnTo>
                        <a:pt x="52124" y="101979"/>
                      </a:lnTo>
                      <a:lnTo>
                        <a:pt x="39027" y="101979"/>
                      </a:lnTo>
                      <a:cubicBezTo>
                        <a:pt x="34122" y="101979"/>
                        <a:pt x="30709" y="100987"/>
                        <a:pt x="28788" y="99002"/>
                      </a:cubicBezTo>
                      <a:cubicBezTo>
                        <a:pt x="26883" y="97018"/>
                        <a:pt x="25930" y="93446"/>
                        <a:pt x="25930" y="88287"/>
                      </a:cubicBezTo>
                      <a:lnTo>
                        <a:pt x="25930" y="80929"/>
                      </a:lnTo>
                      <a:lnTo>
                        <a:pt x="48481" y="80929"/>
                      </a:lnTo>
                      <a:lnTo>
                        <a:pt x="48481" y="70284"/>
                      </a:lnTo>
                      <a:lnTo>
                        <a:pt x="25930" y="70284"/>
                      </a:lnTo>
                      <a:lnTo>
                        <a:pt x="25930" y="-2415"/>
                      </a:lnTo>
                      <a:lnTo>
                        <a:pt x="12167" y="-2415"/>
                      </a:lnTo>
                      <a:lnTo>
                        <a:pt x="12167" y="70284"/>
                      </a:lnTo>
                      <a:lnTo>
                        <a:pt x="-930" y="70284"/>
                      </a:lnTo>
                      <a:lnTo>
                        <a:pt x="-930" y="80929"/>
                      </a:lnTo>
                      <a:lnTo>
                        <a:pt x="12167" y="80929"/>
                      </a:lnTo>
                      <a:lnTo>
                        <a:pt x="12167" y="86739"/>
                      </a:lnTo>
                      <a:cubicBezTo>
                        <a:pt x="12167" y="96010"/>
                        <a:pt x="14326" y="102765"/>
                        <a:pt x="18644" y="107003"/>
                      </a:cubicBezTo>
                      <a:cubicBezTo>
                        <a:pt x="22962" y="111258"/>
                        <a:pt x="29804" y="113385"/>
                        <a:pt x="39170" y="113385"/>
                      </a:cubicBezTo>
                      <a:lnTo>
                        <a:pt x="52124" y="113385"/>
                      </a:lnTo>
                      <a:close/>
                    </a:path>
                  </a:pathLst>
                </a:custGeom>
                <a:solidFill>
                  <a:srgbClr val="000000"/>
                </a:solidFill>
                <a:ln w="24" cap="flat">
                  <a:noFill/>
                  <a:prstDash val="solid"/>
                  <a:round/>
                </a:ln>
              </p:spPr>
              <p:txBody>
                <a:bodyPr rtlCol="0" anchor="ctr"/>
                <a:lstStyle/>
                <a:p>
                  <a:endParaRPr lang="en-US"/>
                </a:p>
              </p:txBody>
            </p:sp>
            <p:sp>
              <p:nvSpPr>
                <p:cNvPr id="235" name="フリーフォーム: 図形 234">
                  <a:extLst>
                    <a:ext uri="{FF2B5EF4-FFF2-40B4-BE49-F238E27FC236}">
                      <a16:creationId xmlns:a16="http://schemas.microsoft.com/office/drawing/2014/main" id="{F69143B8-3ED1-58A2-AB06-3F9E8F0BB1BE}"/>
                    </a:ext>
                  </a:extLst>
                </p:cNvPr>
                <p:cNvSpPr/>
                <p:nvPr/>
              </p:nvSpPr>
              <p:spPr>
                <a:xfrm flipV="1">
                  <a:off x="-4524495" y="1749575"/>
                  <a:ext cx="13692" cy="115800"/>
                </a:xfrm>
                <a:custGeom>
                  <a:avLst/>
                  <a:gdLst>
                    <a:gd name="connsiteX0" fmla="*/ -556 w 13692"/>
                    <a:gd name="connsiteY0" fmla="*/ 80929 h 115800"/>
                    <a:gd name="connsiteX1" fmla="*/ 13136 w 13692"/>
                    <a:gd name="connsiteY1" fmla="*/ 80929 h 115800"/>
                    <a:gd name="connsiteX2" fmla="*/ 13136 w 13692"/>
                    <a:gd name="connsiteY2" fmla="*/ -2415 h 115800"/>
                    <a:gd name="connsiteX3" fmla="*/ -556 w 13692"/>
                    <a:gd name="connsiteY3" fmla="*/ -2415 h 115800"/>
                    <a:gd name="connsiteX4" fmla="*/ -556 w 13692"/>
                    <a:gd name="connsiteY4" fmla="*/ 80929 h 115800"/>
                    <a:gd name="connsiteX5" fmla="*/ -556 w 13692"/>
                    <a:gd name="connsiteY5" fmla="*/ 113385 h 115800"/>
                    <a:gd name="connsiteX6" fmla="*/ 13136 w 13692"/>
                    <a:gd name="connsiteY6" fmla="*/ 113385 h 115800"/>
                    <a:gd name="connsiteX7" fmla="*/ 13136 w 13692"/>
                    <a:gd name="connsiteY7" fmla="*/ 96026 h 115800"/>
                    <a:gd name="connsiteX8" fmla="*/ -556 w 13692"/>
                    <a:gd name="connsiteY8" fmla="*/ 96026 h 115800"/>
                    <a:gd name="connsiteX9" fmla="*/ -556 w 13692"/>
                    <a:gd name="connsiteY9" fmla="*/ 113385 h 115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3692" h="115800">
                      <a:moveTo>
                        <a:pt x="-556" y="80929"/>
                      </a:moveTo>
                      <a:lnTo>
                        <a:pt x="13136" y="80929"/>
                      </a:lnTo>
                      <a:lnTo>
                        <a:pt x="13136" y="-2415"/>
                      </a:lnTo>
                      <a:lnTo>
                        <a:pt x="-556" y="-2415"/>
                      </a:lnTo>
                      <a:lnTo>
                        <a:pt x="-556" y="80929"/>
                      </a:lnTo>
                      <a:close/>
                      <a:moveTo>
                        <a:pt x="-556" y="113385"/>
                      </a:moveTo>
                      <a:lnTo>
                        <a:pt x="13136" y="113385"/>
                      </a:lnTo>
                      <a:lnTo>
                        <a:pt x="13136" y="96026"/>
                      </a:lnTo>
                      <a:lnTo>
                        <a:pt x="-556" y="96026"/>
                      </a:lnTo>
                      <a:lnTo>
                        <a:pt x="-556" y="113385"/>
                      </a:lnTo>
                      <a:close/>
                    </a:path>
                  </a:pathLst>
                </a:custGeom>
                <a:solidFill>
                  <a:srgbClr val="000000"/>
                </a:solidFill>
                <a:ln w="24" cap="flat">
                  <a:noFill/>
                  <a:prstDash val="solid"/>
                  <a:round/>
                </a:ln>
              </p:spPr>
              <p:txBody>
                <a:bodyPr rtlCol="0" anchor="ctr"/>
                <a:lstStyle/>
                <a:p>
                  <a:endParaRPr lang="en-US"/>
                </a:p>
              </p:txBody>
            </p:sp>
            <p:sp>
              <p:nvSpPr>
                <p:cNvPr id="236" name="フリーフォーム: 図形 235">
                  <a:extLst>
                    <a:ext uri="{FF2B5EF4-FFF2-40B4-BE49-F238E27FC236}">
                      <a16:creationId xmlns:a16="http://schemas.microsoft.com/office/drawing/2014/main" id="{FF3D2B68-90D6-6C15-940D-F7BEC0819CB2}"/>
                    </a:ext>
                  </a:extLst>
                </p:cNvPr>
                <p:cNvSpPr/>
                <p:nvPr/>
              </p:nvSpPr>
              <p:spPr>
                <a:xfrm flipV="1">
                  <a:off x="-4488106" y="1780032"/>
                  <a:ext cx="65936" cy="87510"/>
                </a:xfrm>
                <a:custGeom>
                  <a:avLst/>
                  <a:gdLst>
                    <a:gd name="connsiteX0" fmla="*/ 64539 w 65936"/>
                    <a:gd name="connsiteY0" fmla="*/ 80591 h 87510"/>
                    <a:gd name="connsiteX1" fmla="*/ 64539 w 65936"/>
                    <a:gd name="connsiteY1" fmla="*/ 67780 h 87510"/>
                    <a:gd name="connsiteX2" fmla="*/ 52894 w 65936"/>
                    <a:gd name="connsiteY2" fmla="*/ 72590 h 87510"/>
                    <a:gd name="connsiteX3" fmla="*/ 41107 w 65936"/>
                    <a:gd name="connsiteY3" fmla="*/ 74185 h 87510"/>
                    <a:gd name="connsiteX4" fmla="*/ 20390 w 65936"/>
                    <a:gd name="connsiteY4" fmla="*/ 65732 h 87510"/>
                    <a:gd name="connsiteX5" fmla="*/ 13032 w 65936"/>
                    <a:gd name="connsiteY5" fmla="*/ 42038 h 87510"/>
                    <a:gd name="connsiteX6" fmla="*/ 20390 w 65936"/>
                    <a:gd name="connsiteY6" fmla="*/ 18321 h 87510"/>
                    <a:gd name="connsiteX7" fmla="*/ 41107 w 65936"/>
                    <a:gd name="connsiteY7" fmla="*/ 9892 h 87510"/>
                    <a:gd name="connsiteX8" fmla="*/ 52894 w 65936"/>
                    <a:gd name="connsiteY8" fmla="*/ 11487 h 87510"/>
                    <a:gd name="connsiteX9" fmla="*/ 64539 w 65936"/>
                    <a:gd name="connsiteY9" fmla="*/ 16297 h 87510"/>
                    <a:gd name="connsiteX10" fmla="*/ 64539 w 65936"/>
                    <a:gd name="connsiteY10" fmla="*/ 3629 h 87510"/>
                    <a:gd name="connsiteX11" fmla="*/ 52656 w 65936"/>
                    <a:gd name="connsiteY11" fmla="*/ -372 h 87510"/>
                    <a:gd name="connsiteX12" fmla="*/ 39607 w 65936"/>
                    <a:gd name="connsiteY12" fmla="*/ -1729 h 87510"/>
                    <a:gd name="connsiteX13" fmla="*/ 9675 w 65936"/>
                    <a:gd name="connsiteY13" fmla="*/ 10106 h 87510"/>
                    <a:gd name="connsiteX14" fmla="*/ -1398 w 65936"/>
                    <a:gd name="connsiteY14" fmla="*/ 42038 h 87510"/>
                    <a:gd name="connsiteX15" fmla="*/ 9794 w 65936"/>
                    <a:gd name="connsiteY15" fmla="*/ 74090 h 87510"/>
                    <a:gd name="connsiteX16" fmla="*/ 40512 w 65936"/>
                    <a:gd name="connsiteY16" fmla="*/ 85782 h 87510"/>
                    <a:gd name="connsiteX17" fmla="*/ 52847 w 65936"/>
                    <a:gd name="connsiteY17" fmla="*/ 84472 h 87510"/>
                    <a:gd name="connsiteX18" fmla="*/ 64539 w 65936"/>
                    <a:gd name="connsiteY18" fmla="*/ 80591 h 875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5936" h="87510">
                      <a:moveTo>
                        <a:pt x="64539" y="80591"/>
                      </a:moveTo>
                      <a:lnTo>
                        <a:pt x="64539" y="67780"/>
                      </a:lnTo>
                      <a:cubicBezTo>
                        <a:pt x="60665" y="69923"/>
                        <a:pt x="56784" y="71526"/>
                        <a:pt x="52894" y="72590"/>
                      </a:cubicBezTo>
                      <a:cubicBezTo>
                        <a:pt x="49005" y="73654"/>
                        <a:pt x="45076" y="74185"/>
                        <a:pt x="41107" y="74185"/>
                      </a:cubicBezTo>
                      <a:cubicBezTo>
                        <a:pt x="32217" y="74185"/>
                        <a:pt x="25311" y="71368"/>
                        <a:pt x="20390" y="65732"/>
                      </a:cubicBezTo>
                      <a:cubicBezTo>
                        <a:pt x="15485" y="60112"/>
                        <a:pt x="13032" y="52214"/>
                        <a:pt x="13032" y="42038"/>
                      </a:cubicBezTo>
                      <a:cubicBezTo>
                        <a:pt x="13032" y="31863"/>
                        <a:pt x="15485" y="23957"/>
                        <a:pt x="20390" y="18321"/>
                      </a:cubicBezTo>
                      <a:cubicBezTo>
                        <a:pt x="25311" y="12701"/>
                        <a:pt x="32217" y="9892"/>
                        <a:pt x="41107" y="9892"/>
                      </a:cubicBezTo>
                      <a:cubicBezTo>
                        <a:pt x="45076" y="9892"/>
                        <a:pt x="49005" y="10423"/>
                        <a:pt x="52894" y="11487"/>
                      </a:cubicBezTo>
                      <a:cubicBezTo>
                        <a:pt x="56784" y="12551"/>
                        <a:pt x="60665" y="14154"/>
                        <a:pt x="64539" y="16297"/>
                      </a:cubicBezTo>
                      <a:lnTo>
                        <a:pt x="64539" y="3629"/>
                      </a:lnTo>
                      <a:cubicBezTo>
                        <a:pt x="60713" y="1851"/>
                        <a:pt x="56752" y="517"/>
                        <a:pt x="52656" y="-372"/>
                      </a:cubicBezTo>
                      <a:cubicBezTo>
                        <a:pt x="48576" y="-1276"/>
                        <a:pt x="44226" y="-1729"/>
                        <a:pt x="39607" y="-1729"/>
                      </a:cubicBezTo>
                      <a:cubicBezTo>
                        <a:pt x="27050" y="-1729"/>
                        <a:pt x="17072" y="2216"/>
                        <a:pt x="9675" y="10106"/>
                      </a:cubicBezTo>
                      <a:cubicBezTo>
                        <a:pt x="2293" y="17996"/>
                        <a:pt x="-1398" y="28640"/>
                        <a:pt x="-1398" y="42038"/>
                      </a:cubicBezTo>
                      <a:cubicBezTo>
                        <a:pt x="-1398" y="55628"/>
                        <a:pt x="2332" y="66311"/>
                        <a:pt x="9794" y="74090"/>
                      </a:cubicBezTo>
                      <a:cubicBezTo>
                        <a:pt x="17271" y="81885"/>
                        <a:pt x="27510" y="85782"/>
                        <a:pt x="40512" y="85782"/>
                      </a:cubicBezTo>
                      <a:cubicBezTo>
                        <a:pt x="44719" y="85782"/>
                        <a:pt x="48830" y="85346"/>
                        <a:pt x="52847" y="84472"/>
                      </a:cubicBezTo>
                      <a:cubicBezTo>
                        <a:pt x="56863" y="83615"/>
                        <a:pt x="60760" y="82321"/>
                        <a:pt x="64539" y="80591"/>
                      </a:cubicBezTo>
                      <a:close/>
                    </a:path>
                  </a:pathLst>
                </a:custGeom>
                <a:solidFill>
                  <a:srgbClr val="000000"/>
                </a:solidFill>
                <a:ln w="24" cap="flat">
                  <a:noFill/>
                  <a:prstDash val="solid"/>
                  <a:round/>
                </a:ln>
              </p:spPr>
              <p:txBody>
                <a:bodyPr rtlCol="0" anchor="ctr"/>
                <a:lstStyle/>
                <a:p>
                  <a:endParaRPr lang="en-US"/>
                </a:p>
              </p:txBody>
            </p:sp>
            <p:sp>
              <p:nvSpPr>
                <p:cNvPr id="237" name="フリーフォーム: 図形 236">
                  <a:extLst>
                    <a:ext uri="{FF2B5EF4-FFF2-40B4-BE49-F238E27FC236}">
                      <a16:creationId xmlns:a16="http://schemas.microsoft.com/office/drawing/2014/main" id="{C3BF27D5-B2AB-42F5-A73A-F7FCCE5B06EF}"/>
                    </a:ext>
                  </a:extLst>
                </p:cNvPr>
                <p:cNvSpPr/>
                <p:nvPr/>
              </p:nvSpPr>
              <p:spPr>
                <a:xfrm flipV="1">
                  <a:off x="-4398362" y="1749575"/>
                  <a:ext cx="13692" cy="115800"/>
                </a:xfrm>
                <a:custGeom>
                  <a:avLst/>
                  <a:gdLst>
                    <a:gd name="connsiteX0" fmla="*/ -546 w 13692"/>
                    <a:gd name="connsiteY0" fmla="*/ 80929 h 115800"/>
                    <a:gd name="connsiteX1" fmla="*/ 13146 w 13692"/>
                    <a:gd name="connsiteY1" fmla="*/ 80929 h 115800"/>
                    <a:gd name="connsiteX2" fmla="*/ 13146 w 13692"/>
                    <a:gd name="connsiteY2" fmla="*/ -2415 h 115800"/>
                    <a:gd name="connsiteX3" fmla="*/ -546 w 13692"/>
                    <a:gd name="connsiteY3" fmla="*/ -2415 h 115800"/>
                    <a:gd name="connsiteX4" fmla="*/ -546 w 13692"/>
                    <a:gd name="connsiteY4" fmla="*/ 80929 h 115800"/>
                    <a:gd name="connsiteX5" fmla="*/ -546 w 13692"/>
                    <a:gd name="connsiteY5" fmla="*/ 113385 h 115800"/>
                    <a:gd name="connsiteX6" fmla="*/ 13146 w 13692"/>
                    <a:gd name="connsiteY6" fmla="*/ 113385 h 115800"/>
                    <a:gd name="connsiteX7" fmla="*/ 13146 w 13692"/>
                    <a:gd name="connsiteY7" fmla="*/ 96026 h 115800"/>
                    <a:gd name="connsiteX8" fmla="*/ -546 w 13692"/>
                    <a:gd name="connsiteY8" fmla="*/ 96026 h 115800"/>
                    <a:gd name="connsiteX9" fmla="*/ -546 w 13692"/>
                    <a:gd name="connsiteY9" fmla="*/ 113385 h 115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3692" h="115800">
                      <a:moveTo>
                        <a:pt x="-546" y="80929"/>
                      </a:moveTo>
                      <a:lnTo>
                        <a:pt x="13146" y="80929"/>
                      </a:lnTo>
                      <a:lnTo>
                        <a:pt x="13146" y="-2415"/>
                      </a:lnTo>
                      <a:lnTo>
                        <a:pt x="-546" y="-2415"/>
                      </a:lnTo>
                      <a:lnTo>
                        <a:pt x="-546" y="80929"/>
                      </a:lnTo>
                      <a:close/>
                      <a:moveTo>
                        <a:pt x="-546" y="113385"/>
                      </a:moveTo>
                      <a:lnTo>
                        <a:pt x="13146" y="113385"/>
                      </a:lnTo>
                      <a:lnTo>
                        <a:pt x="13146" y="96026"/>
                      </a:lnTo>
                      <a:lnTo>
                        <a:pt x="-546" y="96026"/>
                      </a:lnTo>
                      <a:lnTo>
                        <a:pt x="-546" y="113385"/>
                      </a:lnTo>
                      <a:close/>
                    </a:path>
                  </a:pathLst>
                </a:custGeom>
                <a:solidFill>
                  <a:srgbClr val="000000"/>
                </a:solidFill>
                <a:ln w="24" cap="flat">
                  <a:noFill/>
                  <a:prstDash val="solid"/>
                  <a:round/>
                </a:ln>
              </p:spPr>
              <p:txBody>
                <a:bodyPr rtlCol="0" anchor="ctr"/>
                <a:lstStyle/>
                <a:p>
                  <a:endParaRPr lang="en-US"/>
                </a:p>
              </p:txBody>
            </p:sp>
            <p:sp>
              <p:nvSpPr>
                <p:cNvPr id="238" name="フリーフォーム: 図形 237">
                  <a:extLst>
                    <a:ext uri="{FF2B5EF4-FFF2-40B4-BE49-F238E27FC236}">
                      <a16:creationId xmlns:a16="http://schemas.microsoft.com/office/drawing/2014/main" id="{765E8D1F-1670-6E78-0D80-9D59E311A681}"/>
                    </a:ext>
                  </a:extLst>
                </p:cNvPr>
                <p:cNvSpPr/>
                <p:nvPr/>
              </p:nvSpPr>
              <p:spPr>
                <a:xfrm flipV="1">
                  <a:off x="-4361974" y="1780032"/>
                  <a:ext cx="77247" cy="87510"/>
                </a:xfrm>
                <a:custGeom>
                  <a:avLst/>
                  <a:gdLst>
                    <a:gd name="connsiteX0" fmla="*/ 75622 w 77247"/>
                    <a:gd name="connsiteY0" fmla="*/ 45539 h 87510"/>
                    <a:gd name="connsiteX1" fmla="*/ 75622 w 77247"/>
                    <a:gd name="connsiteY1" fmla="*/ 38848 h 87510"/>
                    <a:gd name="connsiteX2" fmla="*/ 12662 w 77247"/>
                    <a:gd name="connsiteY2" fmla="*/ 38848 h 87510"/>
                    <a:gd name="connsiteX3" fmla="*/ 21187 w 77247"/>
                    <a:gd name="connsiteY3" fmla="*/ 17297 h 87510"/>
                    <a:gd name="connsiteX4" fmla="*/ 42428 w 77247"/>
                    <a:gd name="connsiteY4" fmla="*/ 9892 h 87510"/>
                    <a:gd name="connsiteX5" fmla="*/ 57715 w 77247"/>
                    <a:gd name="connsiteY5" fmla="*/ 11820 h 87510"/>
                    <a:gd name="connsiteX6" fmla="*/ 72431 w 77247"/>
                    <a:gd name="connsiteY6" fmla="*/ 17631 h 87510"/>
                    <a:gd name="connsiteX7" fmla="*/ 72431 w 77247"/>
                    <a:gd name="connsiteY7" fmla="*/ 4677 h 87510"/>
                    <a:gd name="connsiteX8" fmla="*/ 57311 w 77247"/>
                    <a:gd name="connsiteY8" fmla="*/ -86 h 87510"/>
                    <a:gd name="connsiteX9" fmla="*/ 41618 w 77247"/>
                    <a:gd name="connsiteY9" fmla="*/ -1729 h 87510"/>
                    <a:gd name="connsiteX10" fmla="*/ 10019 w 77247"/>
                    <a:gd name="connsiteY10" fmla="*/ 9868 h 87510"/>
                    <a:gd name="connsiteX11" fmla="*/ -1625 w 77247"/>
                    <a:gd name="connsiteY11" fmla="*/ 41300 h 87510"/>
                    <a:gd name="connsiteX12" fmla="*/ 9424 w 77247"/>
                    <a:gd name="connsiteY12" fmla="*/ 73757 h 87510"/>
                    <a:gd name="connsiteX13" fmla="*/ 39237 w 77247"/>
                    <a:gd name="connsiteY13" fmla="*/ 85782 h 87510"/>
                    <a:gd name="connsiteX14" fmla="*/ 65835 w 77247"/>
                    <a:gd name="connsiteY14" fmla="*/ 74947 h 87510"/>
                    <a:gd name="connsiteX15" fmla="*/ 75622 w 77247"/>
                    <a:gd name="connsiteY15" fmla="*/ 45539 h 87510"/>
                    <a:gd name="connsiteX16" fmla="*/ 61930 w 77247"/>
                    <a:gd name="connsiteY16" fmla="*/ 49563 h 87510"/>
                    <a:gd name="connsiteX17" fmla="*/ 55644 w 77247"/>
                    <a:gd name="connsiteY17" fmla="*/ 67470 h 87510"/>
                    <a:gd name="connsiteX18" fmla="*/ 39380 w 77247"/>
                    <a:gd name="connsiteY18" fmla="*/ 74185 h 87510"/>
                    <a:gd name="connsiteX19" fmla="*/ 21044 w 77247"/>
                    <a:gd name="connsiteY19" fmla="*/ 67708 h 87510"/>
                    <a:gd name="connsiteX20" fmla="*/ 13115 w 77247"/>
                    <a:gd name="connsiteY20" fmla="*/ 49468 h 87510"/>
                    <a:gd name="connsiteX21" fmla="*/ 61930 w 77247"/>
                    <a:gd name="connsiteY21" fmla="*/ 49563 h 875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77247" h="87510">
                      <a:moveTo>
                        <a:pt x="75622" y="45539"/>
                      </a:moveTo>
                      <a:lnTo>
                        <a:pt x="75622" y="38848"/>
                      </a:lnTo>
                      <a:lnTo>
                        <a:pt x="12662" y="38848"/>
                      </a:lnTo>
                      <a:cubicBezTo>
                        <a:pt x="13265" y="29418"/>
                        <a:pt x="16107" y="22234"/>
                        <a:pt x="21187" y="17297"/>
                      </a:cubicBezTo>
                      <a:cubicBezTo>
                        <a:pt x="26267" y="12360"/>
                        <a:pt x="33347" y="9892"/>
                        <a:pt x="42428" y="9892"/>
                      </a:cubicBezTo>
                      <a:cubicBezTo>
                        <a:pt x="47682" y="9892"/>
                        <a:pt x="52778" y="10535"/>
                        <a:pt x="57715" y="11820"/>
                      </a:cubicBezTo>
                      <a:cubicBezTo>
                        <a:pt x="62652" y="13106"/>
                        <a:pt x="67558" y="15043"/>
                        <a:pt x="72431" y="17631"/>
                      </a:cubicBezTo>
                      <a:lnTo>
                        <a:pt x="72431" y="4677"/>
                      </a:lnTo>
                      <a:cubicBezTo>
                        <a:pt x="67510" y="2597"/>
                        <a:pt x="62470" y="1010"/>
                        <a:pt x="57311" y="-86"/>
                      </a:cubicBezTo>
                      <a:cubicBezTo>
                        <a:pt x="52151" y="-1181"/>
                        <a:pt x="46920" y="-1729"/>
                        <a:pt x="41618" y="-1729"/>
                      </a:cubicBezTo>
                      <a:cubicBezTo>
                        <a:pt x="28315" y="-1729"/>
                        <a:pt x="17782" y="2137"/>
                        <a:pt x="10019" y="9868"/>
                      </a:cubicBezTo>
                      <a:cubicBezTo>
                        <a:pt x="2256" y="17615"/>
                        <a:pt x="-1625" y="28092"/>
                        <a:pt x="-1625" y="41300"/>
                      </a:cubicBezTo>
                      <a:cubicBezTo>
                        <a:pt x="-1625" y="54937"/>
                        <a:pt x="2058" y="65756"/>
                        <a:pt x="9424" y="73757"/>
                      </a:cubicBezTo>
                      <a:cubicBezTo>
                        <a:pt x="16789" y="81774"/>
                        <a:pt x="26727" y="85782"/>
                        <a:pt x="39237" y="85782"/>
                      </a:cubicBezTo>
                      <a:cubicBezTo>
                        <a:pt x="50445" y="85782"/>
                        <a:pt x="59311" y="82170"/>
                        <a:pt x="65835" y="74947"/>
                      </a:cubicBezTo>
                      <a:cubicBezTo>
                        <a:pt x="72360" y="67740"/>
                        <a:pt x="75622" y="57937"/>
                        <a:pt x="75622" y="45539"/>
                      </a:cubicBezTo>
                      <a:close/>
                      <a:moveTo>
                        <a:pt x="61930" y="49563"/>
                      </a:moveTo>
                      <a:cubicBezTo>
                        <a:pt x="61835" y="57040"/>
                        <a:pt x="59739" y="63009"/>
                        <a:pt x="55644" y="67470"/>
                      </a:cubicBezTo>
                      <a:cubicBezTo>
                        <a:pt x="51548" y="71947"/>
                        <a:pt x="46127" y="74185"/>
                        <a:pt x="39380" y="74185"/>
                      </a:cubicBezTo>
                      <a:cubicBezTo>
                        <a:pt x="31744" y="74185"/>
                        <a:pt x="25632" y="72026"/>
                        <a:pt x="21044" y="67708"/>
                      </a:cubicBezTo>
                      <a:cubicBezTo>
                        <a:pt x="16456" y="63390"/>
                        <a:pt x="13813" y="57310"/>
                        <a:pt x="13115" y="49468"/>
                      </a:cubicBezTo>
                      <a:lnTo>
                        <a:pt x="61930" y="49563"/>
                      </a:lnTo>
                      <a:close/>
                    </a:path>
                  </a:pathLst>
                </a:custGeom>
                <a:solidFill>
                  <a:srgbClr val="000000"/>
                </a:solidFill>
                <a:ln w="24" cap="flat">
                  <a:noFill/>
                  <a:prstDash val="solid"/>
                  <a:round/>
                </a:ln>
              </p:spPr>
              <p:txBody>
                <a:bodyPr rtlCol="0" anchor="ctr"/>
                <a:lstStyle/>
                <a:p>
                  <a:endParaRPr lang="en-US"/>
                </a:p>
              </p:txBody>
            </p:sp>
            <p:sp>
              <p:nvSpPr>
                <p:cNvPr id="239" name="フリーフォーム: 図形 238">
                  <a:extLst>
                    <a:ext uri="{FF2B5EF4-FFF2-40B4-BE49-F238E27FC236}">
                      <a16:creationId xmlns:a16="http://schemas.microsoft.com/office/drawing/2014/main" id="{078D0D6B-4A94-D3C4-FF3F-E8DAA11D3262}"/>
                    </a:ext>
                  </a:extLst>
                </p:cNvPr>
                <p:cNvSpPr/>
                <p:nvPr/>
              </p:nvSpPr>
              <p:spPr>
                <a:xfrm flipV="1">
                  <a:off x="-4262784" y="1780032"/>
                  <a:ext cx="69818" cy="85343"/>
                </a:xfrm>
                <a:custGeom>
                  <a:avLst/>
                  <a:gdLst>
                    <a:gd name="connsiteX0" fmla="*/ 68128 w 69818"/>
                    <a:gd name="connsiteY0" fmla="*/ 48541 h 85343"/>
                    <a:gd name="connsiteX1" fmla="*/ 68128 w 69818"/>
                    <a:gd name="connsiteY1" fmla="*/ -1774 h 85343"/>
                    <a:gd name="connsiteX2" fmla="*/ 54436 w 69818"/>
                    <a:gd name="connsiteY2" fmla="*/ -1774 h 85343"/>
                    <a:gd name="connsiteX3" fmla="*/ 54436 w 69818"/>
                    <a:gd name="connsiteY3" fmla="*/ 48089 h 85343"/>
                    <a:gd name="connsiteX4" fmla="*/ 49817 w 69818"/>
                    <a:gd name="connsiteY4" fmla="*/ 65782 h 85343"/>
                    <a:gd name="connsiteX5" fmla="*/ 35981 w 69818"/>
                    <a:gd name="connsiteY5" fmla="*/ 71663 h 85343"/>
                    <a:gd name="connsiteX6" fmla="*/ 18479 w 69818"/>
                    <a:gd name="connsiteY6" fmla="*/ 64591 h 85343"/>
                    <a:gd name="connsiteX7" fmla="*/ 12074 w 69818"/>
                    <a:gd name="connsiteY7" fmla="*/ 45327 h 85343"/>
                    <a:gd name="connsiteX8" fmla="*/ 12074 w 69818"/>
                    <a:gd name="connsiteY8" fmla="*/ -1774 h 85343"/>
                    <a:gd name="connsiteX9" fmla="*/ -1690 w 69818"/>
                    <a:gd name="connsiteY9" fmla="*/ -1774 h 85343"/>
                    <a:gd name="connsiteX10" fmla="*/ -1690 w 69818"/>
                    <a:gd name="connsiteY10" fmla="*/ 81569 h 85343"/>
                    <a:gd name="connsiteX11" fmla="*/ 12074 w 69818"/>
                    <a:gd name="connsiteY11" fmla="*/ 81569 h 85343"/>
                    <a:gd name="connsiteX12" fmla="*/ 12074 w 69818"/>
                    <a:gd name="connsiteY12" fmla="*/ 68615 h 85343"/>
                    <a:gd name="connsiteX13" fmla="*/ 23647 w 69818"/>
                    <a:gd name="connsiteY13" fmla="*/ 79855 h 85343"/>
                    <a:gd name="connsiteX14" fmla="*/ 39029 w 69818"/>
                    <a:gd name="connsiteY14" fmla="*/ 83570 h 85343"/>
                    <a:gd name="connsiteX15" fmla="*/ 60746 w 69818"/>
                    <a:gd name="connsiteY15" fmla="*/ 74687 h 85343"/>
                    <a:gd name="connsiteX16" fmla="*/ 68128 w 69818"/>
                    <a:gd name="connsiteY16" fmla="*/ 48541 h 85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9818" h="85343">
                      <a:moveTo>
                        <a:pt x="68128" y="48541"/>
                      </a:moveTo>
                      <a:lnTo>
                        <a:pt x="68128" y="-1774"/>
                      </a:lnTo>
                      <a:lnTo>
                        <a:pt x="54436" y="-1774"/>
                      </a:lnTo>
                      <a:lnTo>
                        <a:pt x="54436" y="48089"/>
                      </a:lnTo>
                      <a:cubicBezTo>
                        <a:pt x="54436" y="55979"/>
                        <a:pt x="52896" y="61876"/>
                        <a:pt x="49817" y="65782"/>
                      </a:cubicBezTo>
                      <a:cubicBezTo>
                        <a:pt x="46737" y="69703"/>
                        <a:pt x="42125" y="71663"/>
                        <a:pt x="35981" y="71663"/>
                      </a:cubicBezTo>
                      <a:cubicBezTo>
                        <a:pt x="28584" y="71663"/>
                        <a:pt x="22750" y="69306"/>
                        <a:pt x="18479" y="64591"/>
                      </a:cubicBezTo>
                      <a:cubicBezTo>
                        <a:pt x="14209" y="59892"/>
                        <a:pt x="12074" y="53471"/>
                        <a:pt x="12074" y="45327"/>
                      </a:cubicBezTo>
                      <a:lnTo>
                        <a:pt x="12074" y="-1774"/>
                      </a:lnTo>
                      <a:lnTo>
                        <a:pt x="-1690" y="-1774"/>
                      </a:lnTo>
                      <a:lnTo>
                        <a:pt x="-1690" y="81569"/>
                      </a:lnTo>
                      <a:lnTo>
                        <a:pt x="12074" y="81569"/>
                      </a:lnTo>
                      <a:lnTo>
                        <a:pt x="12074" y="68615"/>
                      </a:lnTo>
                      <a:cubicBezTo>
                        <a:pt x="15360" y="73632"/>
                        <a:pt x="19217" y="77378"/>
                        <a:pt x="23647" y="79855"/>
                      </a:cubicBezTo>
                      <a:cubicBezTo>
                        <a:pt x="28092" y="82331"/>
                        <a:pt x="33219" y="83570"/>
                        <a:pt x="39029" y="83570"/>
                      </a:cubicBezTo>
                      <a:cubicBezTo>
                        <a:pt x="48602" y="83570"/>
                        <a:pt x="55841" y="80609"/>
                        <a:pt x="60746" y="74687"/>
                      </a:cubicBezTo>
                      <a:cubicBezTo>
                        <a:pt x="65668" y="68766"/>
                        <a:pt x="68128" y="60051"/>
                        <a:pt x="68128" y="48541"/>
                      </a:cubicBezTo>
                      <a:close/>
                    </a:path>
                  </a:pathLst>
                </a:custGeom>
                <a:solidFill>
                  <a:srgbClr val="000000"/>
                </a:solidFill>
                <a:ln w="24" cap="flat">
                  <a:noFill/>
                  <a:prstDash val="solid"/>
                  <a:round/>
                </a:ln>
              </p:spPr>
              <p:txBody>
                <a:bodyPr rtlCol="0" anchor="ctr"/>
                <a:lstStyle/>
                <a:p>
                  <a:endParaRPr lang="en-US"/>
                </a:p>
              </p:txBody>
            </p:sp>
            <p:sp>
              <p:nvSpPr>
                <p:cNvPr id="240" name="フリーフォーム: 図形 239">
                  <a:extLst>
                    <a:ext uri="{FF2B5EF4-FFF2-40B4-BE49-F238E27FC236}">
                      <a16:creationId xmlns:a16="http://schemas.microsoft.com/office/drawing/2014/main" id="{2E40BDF2-FC41-DF00-1677-8A64E0FFB91E}"/>
                    </a:ext>
                  </a:extLst>
                </p:cNvPr>
                <p:cNvSpPr/>
                <p:nvPr/>
              </p:nvSpPr>
              <p:spPr>
                <a:xfrm flipV="1">
                  <a:off x="-4171623" y="1780032"/>
                  <a:ext cx="65936" cy="87510"/>
                </a:xfrm>
                <a:custGeom>
                  <a:avLst/>
                  <a:gdLst>
                    <a:gd name="connsiteX0" fmla="*/ 64563 w 65936"/>
                    <a:gd name="connsiteY0" fmla="*/ 80591 h 87510"/>
                    <a:gd name="connsiteX1" fmla="*/ 64563 w 65936"/>
                    <a:gd name="connsiteY1" fmla="*/ 67780 h 87510"/>
                    <a:gd name="connsiteX2" fmla="*/ 52919 w 65936"/>
                    <a:gd name="connsiteY2" fmla="*/ 72590 h 87510"/>
                    <a:gd name="connsiteX3" fmla="*/ 41132 w 65936"/>
                    <a:gd name="connsiteY3" fmla="*/ 74185 h 87510"/>
                    <a:gd name="connsiteX4" fmla="*/ 20415 w 65936"/>
                    <a:gd name="connsiteY4" fmla="*/ 65732 h 87510"/>
                    <a:gd name="connsiteX5" fmla="*/ 13057 w 65936"/>
                    <a:gd name="connsiteY5" fmla="*/ 42038 h 87510"/>
                    <a:gd name="connsiteX6" fmla="*/ 20415 w 65936"/>
                    <a:gd name="connsiteY6" fmla="*/ 18321 h 87510"/>
                    <a:gd name="connsiteX7" fmla="*/ 41132 w 65936"/>
                    <a:gd name="connsiteY7" fmla="*/ 9892 h 87510"/>
                    <a:gd name="connsiteX8" fmla="*/ 52919 w 65936"/>
                    <a:gd name="connsiteY8" fmla="*/ 11487 h 87510"/>
                    <a:gd name="connsiteX9" fmla="*/ 64563 w 65936"/>
                    <a:gd name="connsiteY9" fmla="*/ 16297 h 87510"/>
                    <a:gd name="connsiteX10" fmla="*/ 64563 w 65936"/>
                    <a:gd name="connsiteY10" fmla="*/ 3629 h 87510"/>
                    <a:gd name="connsiteX11" fmla="*/ 52681 w 65936"/>
                    <a:gd name="connsiteY11" fmla="*/ -372 h 87510"/>
                    <a:gd name="connsiteX12" fmla="*/ 39632 w 65936"/>
                    <a:gd name="connsiteY12" fmla="*/ -1729 h 87510"/>
                    <a:gd name="connsiteX13" fmla="*/ 9699 w 65936"/>
                    <a:gd name="connsiteY13" fmla="*/ 10106 h 87510"/>
                    <a:gd name="connsiteX14" fmla="*/ -1373 w 65936"/>
                    <a:gd name="connsiteY14" fmla="*/ 42038 h 87510"/>
                    <a:gd name="connsiteX15" fmla="*/ 9818 w 65936"/>
                    <a:gd name="connsiteY15" fmla="*/ 74090 h 87510"/>
                    <a:gd name="connsiteX16" fmla="*/ 40537 w 65936"/>
                    <a:gd name="connsiteY16" fmla="*/ 85782 h 87510"/>
                    <a:gd name="connsiteX17" fmla="*/ 52871 w 65936"/>
                    <a:gd name="connsiteY17" fmla="*/ 84472 h 87510"/>
                    <a:gd name="connsiteX18" fmla="*/ 64563 w 65936"/>
                    <a:gd name="connsiteY18" fmla="*/ 80591 h 875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5936" h="87510">
                      <a:moveTo>
                        <a:pt x="64563" y="80591"/>
                      </a:moveTo>
                      <a:lnTo>
                        <a:pt x="64563" y="67780"/>
                      </a:lnTo>
                      <a:cubicBezTo>
                        <a:pt x="60690" y="69923"/>
                        <a:pt x="56808" y="71526"/>
                        <a:pt x="52919" y="72590"/>
                      </a:cubicBezTo>
                      <a:cubicBezTo>
                        <a:pt x="49030" y="73654"/>
                        <a:pt x="45101" y="74185"/>
                        <a:pt x="41132" y="74185"/>
                      </a:cubicBezTo>
                      <a:cubicBezTo>
                        <a:pt x="32242" y="74185"/>
                        <a:pt x="25336" y="71368"/>
                        <a:pt x="20415" y="65732"/>
                      </a:cubicBezTo>
                      <a:cubicBezTo>
                        <a:pt x="15510" y="60112"/>
                        <a:pt x="13057" y="52214"/>
                        <a:pt x="13057" y="42038"/>
                      </a:cubicBezTo>
                      <a:cubicBezTo>
                        <a:pt x="13057" y="31863"/>
                        <a:pt x="15510" y="23957"/>
                        <a:pt x="20415" y="18321"/>
                      </a:cubicBezTo>
                      <a:cubicBezTo>
                        <a:pt x="25336" y="12701"/>
                        <a:pt x="32242" y="9892"/>
                        <a:pt x="41132" y="9892"/>
                      </a:cubicBezTo>
                      <a:cubicBezTo>
                        <a:pt x="45101" y="9892"/>
                        <a:pt x="49030" y="10423"/>
                        <a:pt x="52919" y="11487"/>
                      </a:cubicBezTo>
                      <a:cubicBezTo>
                        <a:pt x="56808" y="12551"/>
                        <a:pt x="60690" y="14154"/>
                        <a:pt x="64563" y="16297"/>
                      </a:cubicBezTo>
                      <a:lnTo>
                        <a:pt x="64563" y="3629"/>
                      </a:lnTo>
                      <a:cubicBezTo>
                        <a:pt x="60737" y="1851"/>
                        <a:pt x="56777" y="517"/>
                        <a:pt x="52681" y="-372"/>
                      </a:cubicBezTo>
                      <a:cubicBezTo>
                        <a:pt x="48601" y="-1276"/>
                        <a:pt x="44251" y="-1729"/>
                        <a:pt x="39632" y="-1729"/>
                      </a:cubicBezTo>
                      <a:cubicBezTo>
                        <a:pt x="27075" y="-1729"/>
                        <a:pt x="17097" y="2216"/>
                        <a:pt x="9699" y="10106"/>
                      </a:cubicBezTo>
                      <a:cubicBezTo>
                        <a:pt x="2318" y="17996"/>
                        <a:pt x="-1373" y="28640"/>
                        <a:pt x="-1373" y="42038"/>
                      </a:cubicBezTo>
                      <a:cubicBezTo>
                        <a:pt x="-1373" y="55628"/>
                        <a:pt x="2357" y="66311"/>
                        <a:pt x="9818" y="74090"/>
                      </a:cubicBezTo>
                      <a:cubicBezTo>
                        <a:pt x="17296" y="81885"/>
                        <a:pt x="27535" y="85782"/>
                        <a:pt x="40537" y="85782"/>
                      </a:cubicBezTo>
                      <a:cubicBezTo>
                        <a:pt x="44744" y="85782"/>
                        <a:pt x="48855" y="85346"/>
                        <a:pt x="52871" y="84472"/>
                      </a:cubicBezTo>
                      <a:cubicBezTo>
                        <a:pt x="56888" y="83615"/>
                        <a:pt x="60785" y="82321"/>
                        <a:pt x="64563" y="80591"/>
                      </a:cubicBezTo>
                      <a:close/>
                    </a:path>
                  </a:pathLst>
                </a:custGeom>
                <a:solidFill>
                  <a:srgbClr val="000000"/>
                </a:solidFill>
                <a:ln w="24" cap="flat">
                  <a:noFill/>
                  <a:prstDash val="solid"/>
                  <a:round/>
                </a:ln>
              </p:spPr>
              <p:txBody>
                <a:bodyPr rtlCol="0" anchor="ctr"/>
                <a:lstStyle/>
                <a:p>
                  <a:endParaRPr lang="en-US"/>
                </a:p>
              </p:txBody>
            </p:sp>
            <p:sp>
              <p:nvSpPr>
                <p:cNvPr id="241" name="フリーフォーム: 図形 240">
                  <a:extLst>
                    <a:ext uri="{FF2B5EF4-FFF2-40B4-BE49-F238E27FC236}">
                      <a16:creationId xmlns:a16="http://schemas.microsoft.com/office/drawing/2014/main" id="{8EF2EF91-9EA3-3083-C484-98D4EAAEAFC6}"/>
                    </a:ext>
                  </a:extLst>
                </p:cNvPr>
                <p:cNvSpPr/>
                <p:nvPr/>
              </p:nvSpPr>
              <p:spPr>
                <a:xfrm flipV="1">
                  <a:off x="-4091690" y="1782032"/>
                  <a:ext cx="81105" cy="115038"/>
                </a:xfrm>
                <a:custGeom>
                  <a:avLst/>
                  <a:gdLst>
                    <a:gd name="connsiteX0" fmla="*/ 42959 w 81105"/>
                    <a:gd name="connsiteY0" fmla="*/ 22890 h 115038"/>
                    <a:gd name="connsiteX1" fmla="*/ 31648 w 81105"/>
                    <a:gd name="connsiteY1" fmla="*/ 3483 h 115038"/>
                    <a:gd name="connsiteX2" fmla="*/ 16932 w 81105"/>
                    <a:gd name="connsiteY2" fmla="*/ -1066 h 115038"/>
                    <a:gd name="connsiteX3" fmla="*/ 5978 w 81105"/>
                    <a:gd name="connsiteY3" fmla="*/ -1066 h 115038"/>
                    <a:gd name="connsiteX4" fmla="*/ 5978 w 81105"/>
                    <a:gd name="connsiteY4" fmla="*/ 10388 h 115038"/>
                    <a:gd name="connsiteX5" fmla="*/ 14027 w 81105"/>
                    <a:gd name="connsiteY5" fmla="*/ 10388 h 115038"/>
                    <a:gd name="connsiteX6" fmla="*/ 22790 w 81105"/>
                    <a:gd name="connsiteY6" fmla="*/ 13079 h 115038"/>
                    <a:gd name="connsiteX7" fmla="*/ 29719 w 81105"/>
                    <a:gd name="connsiteY7" fmla="*/ 25723 h 115038"/>
                    <a:gd name="connsiteX8" fmla="*/ 32172 w 81105"/>
                    <a:gd name="connsiteY8" fmla="*/ 31962 h 115038"/>
                    <a:gd name="connsiteX9" fmla="*/ -1523 w 81105"/>
                    <a:gd name="connsiteY9" fmla="*/ 113973 h 115038"/>
                    <a:gd name="connsiteX10" fmla="*/ 12979 w 81105"/>
                    <a:gd name="connsiteY10" fmla="*/ 113973 h 115038"/>
                    <a:gd name="connsiteX11" fmla="*/ 39030 w 81105"/>
                    <a:gd name="connsiteY11" fmla="*/ 48798 h 115038"/>
                    <a:gd name="connsiteX12" fmla="*/ 65081 w 81105"/>
                    <a:gd name="connsiteY12" fmla="*/ 113973 h 115038"/>
                    <a:gd name="connsiteX13" fmla="*/ 79582 w 81105"/>
                    <a:gd name="connsiteY13" fmla="*/ 113973 h 115038"/>
                    <a:gd name="connsiteX14" fmla="*/ 42959 w 81105"/>
                    <a:gd name="connsiteY14" fmla="*/ 22890 h 1150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1105" h="115038">
                      <a:moveTo>
                        <a:pt x="42959" y="22890"/>
                      </a:moveTo>
                      <a:cubicBezTo>
                        <a:pt x="39101" y="12968"/>
                        <a:pt x="35331" y="6499"/>
                        <a:pt x="31648" y="3483"/>
                      </a:cubicBezTo>
                      <a:cubicBezTo>
                        <a:pt x="27981" y="450"/>
                        <a:pt x="23075" y="-1066"/>
                        <a:pt x="16932" y="-1066"/>
                      </a:cubicBezTo>
                      <a:lnTo>
                        <a:pt x="5978" y="-1066"/>
                      </a:lnTo>
                      <a:lnTo>
                        <a:pt x="5978" y="10388"/>
                      </a:lnTo>
                      <a:lnTo>
                        <a:pt x="14027" y="10388"/>
                      </a:lnTo>
                      <a:cubicBezTo>
                        <a:pt x="17789" y="10388"/>
                        <a:pt x="20710" y="11285"/>
                        <a:pt x="22790" y="13079"/>
                      </a:cubicBezTo>
                      <a:cubicBezTo>
                        <a:pt x="24885" y="14857"/>
                        <a:pt x="27195" y="19072"/>
                        <a:pt x="29719" y="25723"/>
                      </a:cubicBezTo>
                      <a:lnTo>
                        <a:pt x="32172" y="31962"/>
                      </a:lnTo>
                      <a:lnTo>
                        <a:pt x="-1523" y="113973"/>
                      </a:lnTo>
                      <a:lnTo>
                        <a:pt x="12979" y="113973"/>
                      </a:lnTo>
                      <a:lnTo>
                        <a:pt x="39030" y="48798"/>
                      </a:lnTo>
                      <a:lnTo>
                        <a:pt x="65081" y="113973"/>
                      </a:lnTo>
                      <a:lnTo>
                        <a:pt x="79582" y="113973"/>
                      </a:lnTo>
                      <a:lnTo>
                        <a:pt x="42959" y="22890"/>
                      </a:lnTo>
                      <a:close/>
                    </a:path>
                  </a:pathLst>
                </a:custGeom>
                <a:solidFill>
                  <a:srgbClr val="000000"/>
                </a:solidFill>
                <a:ln w="24" cap="flat">
                  <a:noFill/>
                  <a:prstDash val="solid"/>
                  <a:round/>
                </a:ln>
              </p:spPr>
              <p:txBody>
                <a:bodyPr rtlCol="0" anchor="ctr"/>
                <a:lstStyle/>
                <a:p>
                  <a:endParaRPr lang="en-US"/>
                </a:p>
              </p:txBody>
            </p:sp>
            <p:sp>
              <p:nvSpPr>
                <p:cNvPr id="242" name="フリーフォーム: 図形 241">
                  <a:extLst>
                    <a:ext uri="{FF2B5EF4-FFF2-40B4-BE49-F238E27FC236}">
                      <a16:creationId xmlns:a16="http://schemas.microsoft.com/office/drawing/2014/main" id="{2463253A-71D1-42E9-E4DB-A438BF61C047}"/>
                    </a:ext>
                  </a:extLst>
                </p:cNvPr>
                <p:cNvSpPr/>
                <p:nvPr/>
              </p:nvSpPr>
              <p:spPr>
                <a:xfrm flipV="1">
                  <a:off x="-4006049" y="1865376"/>
                  <a:ext cx="12700" cy="12700"/>
                </a:xfrm>
                <a:custGeom>
                  <a:avLst/>
                  <a:gdLst/>
                  <a:ahLst/>
                  <a:cxnLst/>
                  <a:rect l="l" t="t" r="r" b="b"/>
                  <a:pathLst>
                    <a:path w="12700" h="12700"/>
                  </a:pathLst>
                </a:custGeom>
                <a:solidFill>
                  <a:srgbClr val="000000"/>
                </a:solidFill>
                <a:ln w="24" cap="flat">
                  <a:noFill/>
                  <a:prstDash val="solid"/>
                  <a:round/>
                </a:ln>
              </p:spPr>
              <p:txBody>
                <a:bodyPr rtlCol="0" anchor="ctr"/>
                <a:lstStyle/>
                <a:p>
                  <a:endParaRPr lang="en-US"/>
                </a:p>
              </p:txBody>
            </p:sp>
            <p:sp>
              <p:nvSpPr>
                <p:cNvPr id="243" name="フリーフォーム: 図形 242">
                  <a:extLst>
                    <a:ext uri="{FF2B5EF4-FFF2-40B4-BE49-F238E27FC236}">
                      <a16:creationId xmlns:a16="http://schemas.microsoft.com/office/drawing/2014/main" id="{CD7C5B8A-8356-3189-66F4-075A932EBAEF}"/>
                    </a:ext>
                  </a:extLst>
                </p:cNvPr>
                <p:cNvSpPr/>
                <p:nvPr/>
              </p:nvSpPr>
              <p:spPr>
                <a:xfrm flipV="1">
                  <a:off x="-3942650" y="1754266"/>
                  <a:ext cx="86558" cy="111109"/>
                </a:xfrm>
                <a:custGeom>
                  <a:avLst/>
                  <a:gdLst>
                    <a:gd name="connsiteX0" fmla="*/ 50635 w 86558"/>
                    <a:gd name="connsiteY0" fmla="*/ 49785 h 111109"/>
                    <a:gd name="connsiteX1" fmla="*/ 60040 w 86558"/>
                    <a:gd name="connsiteY1" fmla="*/ 42784 h 111109"/>
                    <a:gd name="connsiteX2" fmla="*/ 69232 w 86558"/>
                    <a:gd name="connsiteY2" fmla="*/ 28044 h 111109"/>
                    <a:gd name="connsiteX3" fmla="*/ 84496 w 86558"/>
                    <a:gd name="connsiteY3" fmla="*/ -2316 h 111109"/>
                    <a:gd name="connsiteX4" fmla="*/ 68327 w 86558"/>
                    <a:gd name="connsiteY4" fmla="*/ -2316 h 111109"/>
                    <a:gd name="connsiteX5" fmla="*/ 54135 w 86558"/>
                    <a:gd name="connsiteY5" fmla="*/ 26187 h 111109"/>
                    <a:gd name="connsiteX6" fmla="*/ 43443 w 86558"/>
                    <a:gd name="connsiteY6" fmla="*/ 40998 h 111109"/>
                    <a:gd name="connsiteX7" fmla="*/ 29346 w 86558"/>
                    <a:gd name="connsiteY7" fmla="*/ 44642 h 111109"/>
                    <a:gd name="connsiteX8" fmla="*/ 12963 w 86558"/>
                    <a:gd name="connsiteY8" fmla="*/ 44642 h 111109"/>
                    <a:gd name="connsiteX9" fmla="*/ 12963 w 86558"/>
                    <a:gd name="connsiteY9" fmla="*/ -2316 h 111109"/>
                    <a:gd name="connsiteX10" fmla="*/ -2063 w 86558"/>
                    <a:gd name="connsiteY10" fmla="*/ -2316 h 111109"/>
                    <a:gd name="connsiteX11" fmla="*/ -2063 w 86558"/>
                    <a:gd name="connsiteY11" fmla="*/ 108793 h 111109"/>
                    <a:gd name="connsiteX12" fmla="*/ 31870 w 86558"/>
                    <a:gd name="connsiteY12" fmla="*/ 108793 h 111109"/>
                    <a:gd name="connsiteX13" fmla="*/ 60302 w 86558"/>
                    <a:gd name="connsiteY13" fmla="*/ 100815 h 111109"/>
                    <a:gd name="connsiteX14" fmla="*/ 69685 w 86558"/>
                    <a:gd name="connsiteY14" fmla="*/ 76789 h 111109"/>
                    <a:gd name="connsiteX15" fmla="*/ 64803 w 86558"/>
                    <a:gd name="connsiteY15" fmla="*/ 59358 h 111109"/>
                    <a:gd name="connsiteX16" fmla="*/ 50635 w 86558"/>
                    <a:gd name="connsiteY16" fmla="*/ 49785 h 111109"/>
                    <a:gd name="connsiteX17" fmla="*/ 12963 w 86558"/>
                    <a:gd name="connsiteY17" fmla="*/ 96434 h 111109"/>
                    <a:gd name="connsiteX18" fmla="*/ 12963 w 86558"/>
                    <a:gd name="connsiteY18" fmla="*/ 57000 h 111109"/>
                    <a:gd name="connsiteX19" fmla="*/ 31870 w 86558"/>
                    <a:gd name="connsiteY19" fmla="*/ 57000 h 111109"/>
                    <a:gd name="connsiteX20" fmla="*/ 48277 w 86558"/>
                    <a:gd name="connsiteY20" fmla="*/ 62025 h 111109"/>
                    <a:gd name="connsiteX21" fmla="*/ 53825 w 86558"/>
                    <a:gd name="connsiteY21" fmla="*/ 76789 h 111109"/>
                    <a:gd name="connsiteX22" fmla="*/ 48277 w 86558"/>
                    <a:gd name="connsiteY22" fmla="*/ 91481 h 111109"/>
                    <a:gd name="connsiteX23" fmla="*/ 31870 w 86558"/>
                    <a:gd name="connsiteY23" fmla="*/ 96434 h 111109"/>
                    <a:gd name="connsiteX24" fmla="*/ 12963 w 86558"/>
                    <a:gd name="connsiteY24" fmla="*/ 96434 h 111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86558" h="111109">
                      <a:moveTo>
                        <a:pt x="50635" y="49785"/>
                      </a:moveTo>
                      <a:cubicBezTo>
                        <a:pt x="53857" y="48690"/>
                        <a:pt x="56992" y="46356"/>
                        <a:pt x="60040" y="42784"/>
                      </a:cubicBezTo>
                      <a:cubicBezTo>
                        <a:pt x="63088" y="39213"/>
                        <a:pt x="66152" y="34299"/>
                        <a:pt x="69232" y="28044"/>
                      </a:cubicBezTo>
                      <a:lnTo>
                        <a:pt x="84496" y="-2316"/>
                      </a:lnTo>
                      <a:lnTo>
                        <a:pt x="68327" y="-2316"/>
                      </a:lnTo>
                      <a:lnTo>
                        <a:pt x="54135" y="26187"/>
                      </a:lnTo>
                      <a:cubicBezTo>
                        <a:pt x="50452" y="33633"/>
                        <a:pt x="46888" y="38570"/>
                        <a:pt x="43443" y="40998"/>
                      </a:cubicBezTo>
                      <a:cubicBezTo>
                        <a:pt x="39998" y="43427"/>
                        <a:pt x="35299" y="44642"/>
                        <a:pt x="29346" y="44642"/>
                      </a:cubicBezTo>
                      <a:lnTo>
                        <a:pt x="12963" y="44642"/>
                      </a:lnTo>
                      <a:lnTo>
                        <a:pt x="12963" y="-2316"/>
                      </a:lnTo>
                      <a:lnTo>
                        <a:pt x="-2063" y="-2316"/>
                      </a:lnTo>
                      <a:lnTo>
                        <a:pt x="-2063" y="108793"/>
                      </a:lnTo>
                      <a:lnTo>
                        <a:pt x="31870" y="108793"/>
                      </a:lnTo>
                      <a:cubicBezTo>
                        <a:pt x="44570" y="108793"/>
                        <a:pt x="54048" y="106133"/>
                        <a:pt x="60302" y="100815"/>
                      </a:cubicBezTo>
                      <a:cubicBezTo>
                        <a:pt x="66557" y="95513"/>
                        <a:pt x="69685" y="87504"/>
                        <a:pt x="69685" y="76789"/>
                      </a:cubicBezTo>
                      <a:cubicBezTo>
                        <a:pt x="69685" y="69788"/>
                        <a:pt x="68057" y="63978"/>
                        <a:pt x="64803" y="59358"/>
                      </a:cubicBezTo>
                      <a:cubicBezTo>
                        <a:pt x="61549" y="54754"/>
                        <a:pt x="56826" y="51563"/>
                        <a:pt x="50635" y="49785"/>
                      </a:cubicBezTo>
                      <a:close/>
                      <a:moveTo>
                        <a:pt x="12963" y="96434"/>
                      </a:moveTo>
                      <a:lnTo>
                        <a:pt x="12963" y="57000"/>
                      </a:lnTo>
                      <a:lnTo>
                        <a:pt x="31870" y="57000"/>
                      </a:lnTo>
                      <a:cubicBezTo>
                        <a:pt x="39109" y="57000"/>
                        <a:pt x="44578" y="58675"/>
                        <a:pt x="48277" y="62025"/>
                      </a:cubicBezTo>
                      <a:cubicBezTo>
                        <a:pt x="51976" y="65375"/>
                        <a:pt x="53825" y="70296"/>
                        <a:pt x="53825" y="76789"/>
                      </a:cubicBezTo>
                      <a:cubicBezTo>
                        <a:pt x="53825" y="83282"/>
                        <a:pt x="51976" y="88179"/>
                        <a:pt x="48277" y="91481"/>
                      </a:cubicBezTo>
                      <a:cubicBezTo>
                        <a:pt x="44578" y="94783"/>
                        <a:pt x="39109" y="96434"/>
                        <a:pt x="31870" y="96434"/>
                      </a:cubicBezTo>
                      <a:lnTo>
                        <a:pt x="12963" y="96434"/>
                      </a:lnTo>
                      <a:close/>
                    </a:path>
                  </a:pathLst>
                </a:custGeom>
                <a:solidFill>
                  <a:srgbClr val="000000"/>
                </a:solidFill>
                <a:ln w="24" cap="flat">
                  <a:noFill/>
                  <a:prstDash val="solid"/>
                  <a:round/>
                </a:ln>
              </p:spPr>
              <p:txBody>
                <a:bodyPr rtlCol="0" anchor="ctr"/>
                <a:lstStyle/>
                <a:p>
                  <a:endParaRPr lang="en-US"/>
                </a:p>
              </p:txBody>
            </p:sp>
            <p:sp>
              <p:nvSpPr>
                <p:cNvPr id="244" name="フリーフォーム: 図形 243">
                  <a:extLst>
                    <a:ext uri="{FF2B5EF4-FFF2-40B4-BE49-F238E27FC236}">
                      <a16:creationId xmlns:a16="http://schemas.microsoft.com/office/drawing/2014/main" id="{3CBDCC7F-236A-7BE2-4F9E-D19B5DBFA2BE}"/>
                    </a:ext>
                  </a:extLst>
                </p:cNvPr>
                <p:cNvSpPr/>
                <p:nvPr/>
              </p:nvSpPr>
              <p:spPr>
                <a:xfrm flipV="1">
                  <a:off x="-3845999" y="1780032"/>
                  <a:ext cx="70413" cy="87510"/>
                </a:xfrm>
                <a:custGeom>
                  <a:avLst/>
                  <a:gdLst>
                    <a:gd name="connsiteX0" fmla="*/ 41628 w 70413"/>
                    <a:gd name="connsiteY0" fmla="*/ 42324 h 87510"/>
                    <a:gd name="connsiteX1" fmla="*/ 18625 w 70413"/>
                    <a:gd name="connsiteY1" fmla="*/ 38538 h 87510"/>
                    <a:gd name="connsiteX2" fmla="*/ 12220 w 70413"/>
                    <a:gd name="connsiteY2" fmla="*/ 25584 h 87510"/>
                    <a:gd name="connsiteX3" fmla="*/ 17030 w 70413"/>
                    <a:gd name="connsiteY3" fmla="*/ 14011 h 87510"/>
                    <a:gd name="connsiteX4" fmla="*/ 30079 w 70413"/>
                    <a:gd name="connsiteY4" fmla="*/ 9749 h 87510"/>
                    <a:gd name="connsiteX5" fmla="*/ 48367 w 70413"/>
                    <a:gd name="connsiteY5" fmla="*/ 17821 h 87510"/>
                    <a:gd name="connsiteX6" fmla="*/ 55249 w 70413"/>
                    <a:gd name="connsiteY6" fmla="*/ 39276 h 87510"/>
                    <a:gd name="connsiteX7" fmla="*/ 55249 w 70413"/>
                    <a:gd name="connsiteY7" fmla="*/ 42324 h 87510"/>
                    <a:gd name="connsiteX8" fmla="*/ 41628 w 70413"/>
                    <a:gd name="connsiteY8" fmla="*/ 42324 h 87510"/>
                    <a:gd name="connsiteX9" fmla="*/ 68941 w 70413"/>
                    <a:gd name="connsiteY9" fmla="*/ 47992 h 87510"/>
                    <a:gd name="connsiteX10" fmla="*/ 68941 w 70413"/>
                    <a:gd name="connsiteY10" fmla="*/ 438 h 87510"/>
                    <a:gd name="connsiteX11" fmla="*/ 55249 w 70413"/>
                    <a:gd name="connsiteY11" fmla="*/ 438 h 87510"/>
                    <a:gd name="connsiteX12" fmla="*/ 55249 w 70413"/>
                    <a:gd name="connsiteY12" fmla="*/ 13082 h 87510"/>
                    <a:gd name="connsiteX13" fmla="*/ 43557 w 70413"/>
                    <a:gd name="connsiteY13" fmla="*/ 1891 h 87510"/>
                    <a:gd name="connsiteX14" fmla="*/ 26436 w 70413"/>
                    <a:gd name="connsiteY14" fmla="*/ -1729 h 87510"/>
                    <a:gd name="connsiteX15" fmla="*/ 6076 w 70413"/>
                    <a:gd name="connsiteY15" fmla="*/ 5462 h 87510"/>
                    <a:gd name="connsiteX16" fmla="*/ -1473 w 70413"/>
                    <a:gd name="connsiteY16" fmla="*/ 24703 h 87510"/>
                    <a:gd name="connsiteX17" fmla="*/ 7933 w 70413"/>
                    <a:gd name="connsiteY17" fmla="*/ 45896 h 87510"/>
                    <a:gd name="connsiteX18" fmla="*/ 36032 w 70413"/>
                    <a:gd name="connsiteY18" fmla="*/ 53040 h 87510"/>
                    <a:gd name="connsiteX19" fmla="*/ 55249 w 70413"/>
                    <a:gd name="connsiteY19" fmla="*/ 53040 h 87510"/>
                    <a:gd name="connsiteX20" fmla="*/ 55249 w 70413"/>
                    <a:gd name="connsiteY20" fmla="*/ 54397 h 87510"/>
                    <a:gd name="connsiteX21" fmla="*/ 49034 w 70413"/>
                    <a:gd name="connsiteY21" fmla="*/ 69018 h 87510"/>
                    <a:gd name="connsiteX22" fmla="*/ 31579 w 70413"/>
                    <a:gd name="connsiteY22" fmla="*/ 74185 h 87510"/>
                    <a:gd name="connsiteX23" fmla="*/ 17649 w 70413"/>
                    <a:gd name="connsiteY23" fmla="*/ 72471 h 87510"/>
                    <a:gd name="connsiteX24" fmla="*/ 4647 w 70413"/>
                    <a:gd name="connsiteY24" fmla="*/ 67327 h 87510"/>
                    <a:gd name="connsiteX25" fmla="*/ 4647 w 70413"/>
                    <a:gd name="connsiteY25" fmla="*/ 79996 h 87510"/>
                    <a:gd name="connsiteX26" fmla="*/ 19221 w 70413"/>
                    <a:gd name="connsiteY26" fmla="*/ 84329 h 87510"/>
                    <a:gd name="connsiteX27" fmla="*/ 32984 w 70413"/>
                    <a:gd name="connsiteY27" fmla="*/ 85782 h 87510"/>
                    <a:gd name="connsiteX28" fmla="*/ 60011 w 70413"/>
                    <a:gd name="connsiteY28" fmla="*/ 76400 h 87510"/>
                    <a:gd name="connsiteX29" fmla="*/ 68941 w 70413"/>
                    <a:gd name="connsiteY29" fmla="*/ 47992 h 875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70413" h="87510">
                      <a:moveTo>
                        <a:pt x="41628" y="42324"/>
                      </a:moveTo>
                      <a:cubicBezTo>
                        <a:pt x="30563" y="42324"/>
                        <a:pt x="22895" y="41062"/>
                        <a:pt x="18625" y="38538"/>
                      </a:cubicBezTo>
                      <a:cubicBezTo>
                        <a:pt x="14355" y="36014"/>
                        <a:pt x="12220" y="31696"/>
                        <a:pt x="12220" y="25584"/>
                      </a:cubicBezTo>
                      <a:cubicBezTo>
                        <a:pt x="12220" y="20726"/>
                        <a:pt x="13823" y="16869"/>
                        <a:pt x="17030" y="14011"/>
                      </a:cubicBezTo>
                      <a:cubicBezTo>
                        <a:pt x="20237" y="11170"/>
                        <a:pt x="24586" y="9749"/>
                        <a:pt x="30079" y="9749"/>
                      </a:cubicBezTo>
                      <a:cubicBezTo>
                        <a:pt x="37683" y="9749"/>
                        <a:pt x="43779" y="12440"/>
                        <a:pt x="48367" y="17821"/>
                      </a:cubicBezTo>
                      <a:cubicBezTo>
                        <a:pt x="52955" y="23203"/>
                        <a:pt x="55249" y="30354"/>
                        <a:pt x="55249" y="39276"/>
                      </a:cubicBezTo>
                      <a:lnTo>
                        <a:pt x="55249" y="42324"/>
                      </a:lnTo>
                      <a:lnTo>
                        <a:pt x="41628" y="42324"/>
                      </a:lnTo>
                      <a:close/>
                      <a:moveTo>
                        <a:pt x="68941" y="47992"/>
                      </a:moveTo>
                      <a:lnTo>
                        <a:pt x="68941" y="438"/>
                      </a:lnTo>
                      <a:lnTo>
                        <a:pt x="55249" y="438"/>
                      </a:lnTo>
                      <a:lnTo>
                        <a:pt x="55249" y="13082"/>
                      </a:lnTo>
                      <a:cubicBezTo>
                        <a:pt x="52122" y="8034"/>
                        <a:pt x="48224" y="4304"/>
                        <a:pt x="43557" y="1891"/>
                      </a:cubicBezTo>
                      <a:cubicBezTo>
                        <a:pt x="38890" y="-522"/>
                        <a:pt x="33182" y="-1729"/>
                        <a:pt x="26436" y="-1729"/>
                      </a:cubicBezTo>
                      <a:cubicBezTo>
                        <a:pt x="17911" y="-1729"/>
                        <a:pt x="11124" y="668"/>
                        <a:pt x="6076" y="5462"/>
                      </a:cubicBezTo>
                      <a:cubicBezTo>
                        <a:pt x="1044" y="10257"/>
                        <a:pt x="-1473" y="16670"/>
                        <a:pt x="-1473" y="24703"/>
                      </a:cubicBezTo>
                      <a:cubicBezTo>
                        <a:pt x="-1473" y="34069"/>
                        <a:pt x="1663" y="41134"/>
                        <a:pt x="7933" y="45896"/>
                      </a:cubicBezTo>
                      <a:cubicBezTo>
                        <a:pt x="14220" y="50659"/>
                        <a:pt x="23586" y="53040"/>
                        <a:pt x="36032" y="53040"/>
                      </a:cubicBezTo>
                      <a:lnTo>
                        <a:pt x="55249" y="53040"/>
                      </a:lnTo>
                      <a:lnTo>
                        <a:pt x="55249" y="54397"/>
                      </a:lnTo>
                      <a:cubicBezTo>
                        <a:pt x="55249" y="60700"/>
                        <a:pt x="53177" y="65573"/>
                        <a:pt x="49034" y="69018"/>
                      </a:cubicBezTo>
                      <a:cubicBezTo>
                        <a:pt x="44890" y="72463"/>
                        <a:pt x="39072" y="74185"/>
                        <a:pt x="31579" y="74185"/>
                      </a:cubicBezTo>
                      <a:cubicBezTo>
                        <a:pt x="26817" y="74185"/>
                        <a:pt x="22173" y="73614"/>
                        <a:pt x="17649" y="72471"/>
                      </a:cubicBezTo>
                      <a:cubicBezTo>
                        <a:pt x="13140" y="71328"/>
                        <a:pt x="8807" y="69613"/>
                        <a:pt x="4647" y="67327"/>
                      </a:cubicBezTo>
                      <a:lnTo>
                        <a:pt x="4647" y="79996"/>
                      </a:lnTo>
                      <a:cubicBezTo>
                        <a:pt x="9648" y="81932"/>
                        <a:pt x="14506" y="83377"/>
                        <a:pt x="19221" y="84329"/>
                      </a:cubicBezTo>
                      <a:cubicBezTo>
                        <a:pt x="23935" y="85298"/>
                        <a:pt x="28523" y="85782"/>
                        <a:pt x="32984" y="85782"/>
                      </a:cubicBezTo>
                      <a:cubicBezTo>
                        <a:pt x="45049" y="85782"/>
                        <a:pt x="54058" y="82655"/>
                        <a:pt x="60011" y="76400"/>
                      </a:cubicBezTo>
                      <a:cubicBezTo>
                        <a:pt x="65964" y="70161"/>
                        <a:pt x="68941" y="60692"/>
                        <a:pt x="68941" y="47992"/>
                      </a:cubicBezTo>
                      <a:close/>
                    </a:path>
                  </a:pathLst>
                </a:custGeom>
                <a:solidFill>
                  <a:srgbClr val="000000"/>
                </a:solidFill>
                <a:ln w="24" cap="flat">
                  <a:noFill/>
                  <a:prstDash val="solid"/>
                  <a:round/>
                </a:ln>
              </p:spPr>
              <p:txBody>
                <a:bodyPr rtlCol="0" anchor="ctr"/>
                <a:lstStyle/>
                <a:p>
                  <a:endParaRPr lang="en-US"/>
                </a:p>
              </p:txBody>
            </p:sp>
            <p:sp>
              <p:nvSpPr>
                <p:cNvPr id="245" name="フリーフォーム: 図形 244">
                  <a:extLst>
                    <a:ext uri="{FF2B5EF4-FFF2-40B4-BE49-F238E27FC236}">
                      <a16:creationId xmlns:a16="http://schemas.microsoft.com/office/drawing/2014/main" id="{971DA072-4994-43E6-1C96-EFAEE3731F5A}"/>
                    </a:ext>
                  </a:extLst>
                </p:cNvPr>
                <p:cNvSpPr/>
                <p:nvPr/>
              </p:nvSpPr>
              <p:spPr>
                <a:xfrm flipV="1">
                  <a:off x="-3757658" y="1758362"/>
                  <a:ext cx="52006" cy="107013"/>
                </a:xfrm>
                <a:custGeom>
                  <a:avLst/>
                  <a:gdLst>
                    <a:gd name="connsiteX0" fmla="*/ 22945 w 52006"/>
                    <a:gd name="connsiteY0" fmla="*/ 104783 h 107013"/>
                    <a:gd name="connsiteX1" fmla="*/ 22945 w 52006"/>
                    <a:gd name="connsiteY1" fmla="*/ 81113 h 107013"/>
                    <a:gd name="connsiteX2" fmla="*/ 51139 w 52006"/>
                    <a:gd name="connsiteY2" fmla="*/ 81113 h 107013"/>
                    <a:gd name="connsiteX3" fmla="*/ 51139 w 52006"/>
                    <a:gd name="connsiteY3" fmla="*/ 70469 h 107013"/>
                    <a:gd name="connsiteX4" fmla="*/ 22945 w 52006"/>
                    <a:gd name="connsiteY4" fmla="*/ 70469 h 107013"/>
                    <a:gd name="connsiteX5" fmla="*/ 22945 w 52006"/>
                    <a:gd name="connsiteY5" fmla="*/ 25225 h 107013"/>
                    <a:gd name="connsiteX6" fmla="*/ 25731 w 52006"/>
                    <a:gd name="connsiteY6" fmla="*/ 12129 h 107013"/>
                    <a:gd name="connsiteX7" fmla="*/ 37089 w 52006"/>
                    <a:gd name="connsiteY7" fmla="*/ 9223 h 107013"/>
                    <a:gd name="connsiteX8" fmla="*/ 51139 w 52006"/>
                    <a:gd name="connsiteY8" fmla="*/ 9223 h 107013"/>
                    <a:gd name="connsiteX9" fmla="*/ 51139 w 52006"/>
                    <a:gd name="connsiteY9" fmla="*/ -2230 h 107013"/>
                    <a:gd name="connsiteX10" fmla="*/ 37089 w 52006"/>
                    <a:gd name="connsiteY10" fmla="*/ -2230 h 107013"/>
                    <a:gd name="connsiteX11" fmla="*/ 15206 w 52006"/>
                    <a:gd name="connsiteY11" fmla="*/ 3675 h 107013"/>
                    <a:gd name="connsiteX12" fmla="*/ 9181 w 52006"/>
                    <a:gd name="connsiteY12" fmla="*/ 25225 h 107013"/>
                    <a:gd name="connsiteX13" fmla="*/ 9181 w 52006"/>
                    <a:gd name="connsiteY13" fmla="*/ 70469 h 107013"/>
                    <a:gd name="connsiteX14" fmla="*/ -868 w 52006"/>
                    <a:gd name="connsiteY14" fmla="*/ 70469 h 107013"/>
                    <a:gd name="connsiteX15" fmla="*/ -868 w 52006"/>
                    <a:gd name="connsiteY15" fmla="*/ 81113 h 107013"/>
                    <a:gd name="connsiteX16" fmla="*/ 9181 w 52006"/>
                    <a:gd name="connsiteY16" fmla="*/ 81113 h 107013"/>
                    <a:gd name="connsiteX17" fmla="*/ 9181 w 52006"/>
                    <a:gd name="connsiteY17" fmla="*/ 104783 h 107013"/>
                    <a:gd name="connsiteX18" fmla="*/ 22945 w 52006"/>
                    <a:gd name="connsiteY18" fmla="*/ 104783 h 1070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2006" h="107013">
                      <a:moveTo>
                        <a:pt x="22945" y="104783"/>
                      </a:moveTo>
                      <a:lnTo>
                        <a:pt x="22945" y="81113"/>
                      </a:lnTo>
                      <a:lnTo>
                        <a:pt x="51139" y="81113"/>
                      </a:lnTo>
                      <a:lnTo>
                        <a:pt x="51139" y="70469"/>
                      </a:lnTo>
                      <a:lnTo>
                        <a:pt x="22945" y="70469"/>
                      </a:lnTo>
                      <a:lnTo>
                        <a:pt x="22945" y="25225"/>
                      </a:lnTo>
                      <a:cubicBezTo>
                        <a:pt x="22945" y="18431"/>
                        <a:pt x="23873" y="14065"/>
                        <a:pt x="25731" y="12129"/>
                      </a:cubicBezTo>
                      <a:cubicBezTo>
                        <a:pt x="27588" y="10192"/>
                        <a:pt x="31374" y="9223"/>
                        <a:pt x="37089" y="9223"/>
                      </a:cubicBezTo>
                      <a:lnTo>
                        <a:pt x="51139" y="9223"/>
                      </a:lnTo>
                      <a:lnTo>
                        <a:pt x="51139" y="-2230"/>
                      </a:lnTo>
                      <a:lnTo>
                        <a:pt x="37089" y="-2230"/>
                      </a:lnTo>
                      <a:cubicBezTo>
                        <a:pt x="26517" y="-2230"/>
                        <a:pt x="19222" y="-262"/>
                        <a:pt x="15206" y="3675"/>
                      </a:cubicBezTo>
                      <a:cubicBezTo>
                        <a:pt x="11189" y="7628"/>
                        <a:pt x="9181" y="14811"/>
                        <a:pt x="9181" y="25225"/>
                      </a:cubicBezTo>
                      <a:lnTo>
                        <a:pt x="9181" y="70469"/>
                      </a:lnTo>
                      <a:lnTo>
                        <a:pt x="-868" y="70469"/>
                      </a:lnTo>
                      <a:lnTo>
                        <a:pt x="-868" y="81113"/>
                      </a:lnTo>
                      <a:lnTo>
                        <a:pt x="9181" y="81113"/>
                      </a:lnTo>
                      <a:lnTo>
                        <a:pt x="9181" y="104783"/>
                      </a:lnTo>
                      <a:lnTo>
                        <a:pt x="22945" y="104783"/>
                      </a:lnTo>
                      <a:close/>
                    </a:path>
                  </a:pathLst>
                </a:custGeom>
                <a:solidFill>
                  <a:srgbClr val="000000"/>
                </a:solidFill>
                <a:ln w="24" cap="flat">
                  <a:noFill/>
                  <a:prstDash val="solid"/>
                  <a:round/>
                </a:ln>
              </p:spPr>
              <p:txBody>
                <a:bodyPr rtlCol="0" anchor="ctr"/>
                <a:lstStyle/>
                <a:p>
                  <a:endParaRPr lang="en-US"/>
                </a:p>
              </p:txBody>
            </p:sp>
            <p:sp>
              <p:nvSpPr>
                <p:cNvPr id="246" name="フリーフォーム: 図形 245">
                  <a:extLst>
                    <a:ext uri="{FF2B5EF4-FFF2-40B4-BE49-F238E27FC236}">
                      <a16:creationId xmlns:a16="http://schemas.microsoft.com/office/drawing/2014/main" id="{068F7CFB-01AD-53BE-C152-575CF4BEBC49}"/>
                    </a:ext>
                  </a:extLst>
                </p:cNvPr>
                <p:cNvSpPr/>
                <p:nvPr/>
              </p:nvSpPr>
              <p:spPr>
                <a:xfrm flipV="1">
                  <a:off x="-3687640" y="1749575"/>
                  <a:ext cx="13692" cy="115800"/>
                </a:xfrm>
                <a:custGeom>
                  <a:avLst/>
                  <a:gdLst>
                    <a:gd name="connsiteX0" fmla="*/ -490 w 13692"/>
                    <a:gd name="connsiteY0" fmla="*/ 80929 h 115800"/>
                    <a:gd name="connsiteX1" fmla="*/ 13202 w 13692"/>
                    <a:gd name="connsiteY1" fmla="*/ 80929 h 115800"/>
                    <a:gd name="connsiteX2" fmla="*/ 13202 w 13692"/>
                    <a:gd name="connsiteY2" fmla="*/ -2415 h 115800"/>
                    <a:gd name="connsiteX3" fmla="*/ -490 w 13692"/>
                    <a:gd name="connsiteY3" fmla="*/ -2415 h 115800"/>
                    <a:gd name="connsiteX4" fmla="*/ -490 w 13692"/>
                    <a:gd name="connsiteY4" fmla="*/ 80929 h 115800"/>
                    <a:gd name="connsiteX5" fmla="*/ -490 w 13692"/>
                    <a:gd name="connsiteY5" fmla="*/ 113385 h 115800"/>
                    <a:gd name="connsiteX6" fmla="*/ 13202 w 13692"/>
                    <a:gd name="connsiteY6" fmla="*/ 113385 h 115800"/>
                    <a:gd name="connsiteX7" fmla="*/ 13202 w 13692"/>
                    <a:gd name="connsiteY7" fmla="*/ 96026 h 115800"/>
                    <a:gd name="connsiteX8" fmla="*/ -490 w 13692"/>
                    <a:gd name="connsiteY8" fmla="*/ 96026 h 115800"/>
                    <a:gd name="connsiteX9" fmla="*/ -490 w 13692"/>
                    <a:gd name="connsiteY9" fmla="*/ 113385 h 115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3692" h="115800">
                      <a:moveTo>
                        <a:pt x="-490" y="80929"/>
                      </a:moveTo>
                      <a:lnTo>
                        <a:pt x="13202" y="80929"/>
                      </a:lnTo>
                      <a:lnTo>
                        <a:pt x="13202" y="-2415"/>
                      </a:lnTo>
                      <a:lnTo>
                        <a:pt x="-490" y="-2415"/>
                      </a:lnTo>
                      <a:lnTo>
                        <a:pt x="-490" y="80929"/>
                      </a:lnTo>
                      <a:close/>
                      <a:moveTo>
                        <a:pt x="-490" y="113385"/>
                      </a:moveTo>
                      <a:lnTo>
                        <a:pt x="13202" y="113385"/>
                      </a:lnTo>
                      <a:lnTo>
                        <a:pt x="13202" y="96026"/>
                      </a:lnTo>
                      <a:lnTo>
                        <a:pt x="-490" y="96026"/>
                      </a:lnTo>
                      <a:lnTo>
                        <a:pt x="-490" y="113385"/>
                      </a:lnTo>
                      <a:close/>
                    </a:path>
                  </a:pathLst>
                </a:custGeom>
                <a:solidFill>
                  <a:srgbClr val="000000"/>
                </a:solidFill>
                <a:ln w="24" cap="flat">
                  <a:noFill/>
                  <a:prstDash val="solid"/>
                  <a:round/>
                </a:ln>
              </p:spPr>
              <p:txBody>
                <a:bodyPr rtlCol="0" anchor="ctr"/>
                <a:lstStyle/>
                <a:p>
                  <a:endParaRPr lang="en-US"/>
                </a:p>
              </p:txBody>
            </p:sp>
            <p:sp>
              <p:nvSpPr>
                <p:cNvPr id="247" name="フリーフォーム: 図形 246">
                  <a:extLst>
                    <a:ext uri="{FF2B5EF4-FFF2-40B4-BE49-F238E27FC236}">
                      <a16:creationId xmlns:a16="http://schemas.microsoft.com/office/drawing/2014/main" id="{97F9F844-CA71-466F-A074-B9789AAFFAB5}"/>
                    </a:ext>
                  </a:extLst>
                </p:cNvPr>
                <p:cNvSpPr/>
                <p:nvPr/>
              </p:nvSpPr>
              <p:spPr>
                <a:xfrm flipV="1">
                  <a:off x="-3651252" y="1780032"/>
                  <a:ext cx="76509" cy="87510"/>
                </a:xfrm>
                <a:custGeom>
                  <a:avLst/>
                  <a:gdLst>
                    <a:gd name="connsiteX0" fmla="*/ 36689 w 76509"/>
                    <a:gd name="connsiteY0" fmla="*/ 74185 h 87510"/>
                    <a:gd name="connsiteX1" fmla="*/ 19282 w 76509"/>
                    <a:gd name="connsiteY1" fmla="*/ 65589 h 87510"/>
                    <a:gd name="connsiteX2" fmla="*/ 12876 w 76509"/>
                    <a:gd name="connsiteY2" fmla="*/ 42038 h 87510"/>
                    <a:gd name="connsiteX3" fmla="*/ 19234 w 76509"/>
                    <a:gd name="connsiteY3" fmla="*/ 18488 h 87510"/>
                    <a:gd name="connsiteX4" fmla="*/ 36689 w 76509"/>
                    <a:gd name="connsiteY4" fmla="*/ 9892 h 87510"/>
                    <a:gd name="connsiteX5" fmla="*/ 54024 w 76509"/>
                    <a:gd name="connsiteY5" fmla="*/ 18512 h 87510"/>
                    <a:gd name="connsiteX6" fmla="*/ 60430 w 76509"/>
                    <a:gd name="connsiteY6" fmla="*/ 42038 h 87510"/>
                    <a:gd name="connsiteX7" fmla="*/ 54024 w 76509"/>
                    <a:gd name="connsiteY7" fmla="*/ 65518 h 87510"/>
                    <a:gd name="connsiteX8" fmla="*/ 36689 w 76509"/>
                    <a:gd name="connsiteY8" fmla="*/ 74185 h 87510"/>
                    <a:gd name="connsiteX9" fmla="*/ 36689 w 76509"/>
                    <a:gd name="connsiteY9" fmla="*/ 85782 h 87510"/>
                    <a:gd name="connsiteX10" fmla="*/ 64740 w 76509"/>
                    <a:gd name="connsiteY10" fmla="*/ 74162 h 87510"/>
                    <a:gd name="connsiteX11" fmla="*/ 74956 w 76509"/>
                    <a:gd name="connsiteY11" fmla="*/ 42038 h 87510"/>
                    <a:gd name="connsiteX12" fmla="*/ 64740 w 76509"/>
                    <a:gd name="connsiteY12" fmla="*/ 9915 h 87510"/>
                    <a:gd name="connsiteX13" fmla="*/ 36689 w 76509"/>
                    <a:gd name="connsiteY13" fmla="*/ -1729 h 87510"/>
                    <a:gd name="connsiteX14" fmla="*/ 8590 w 76509"/>
                    <a:gd name="connsiteY14" fmla="*/ 9915 h 87510"/>
                    <a:gd name="connsiteX15" fmla="*/ -1554 w 76509"/>
                    <a:gd name="connsiteY15" fmla="*/ 42038 h 87510"/>
                    <a:gd name="connsiteX16" fmla="*/ 8590 w 76509"/>
                    <a:gd name="connsiteY16" fmla="*/ 74162 h 87510"/>
                    <a:gd name="connsiteX17" fmla="*/ 36689 w 76509"/>
                    <a:gd name="connsiteY17" fmla="*/ 85782 h 875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6509" h="87510">
                      <a:moveTo>
                        <a:pt x="36689" y="74185"/>
                      </a:moveTo>
                      <a:cubicBezTo>
                        <a:pt x="29355" y="74185"/>
                        <a:pt x="23552" y="71320"/>
                        <a:pt x="19282" y="65589"/>
                      </a:cubicBezTo>
                      <a:cubicBezTo>
                        <a:pt x="15012" y="59858"/>
                        <a:pt x="12876" y="52008"/>
                        <a:pt x="12876" y="42038"/>
                      </a:cubicBezTo>
                      <a:cubicBezTo>
                        <a:pt x="12876" y="32069"/>
                        <a:pt x="14996" y="24219"/>
                        <a:pt x="19234" y="18488"/>
                      </a:cubicBezTo>
                      <a:cubicBezTo>
                        <a:pt x="23489" y="12757"/>
                        <a:pt x="29307" y="9892"/>
                        <a:pt x="36689" y="9892"/>
                      </a:cubicBezTo>
                      <a:cubicBezTo>
                        <a:pt x="43991" y="9892"/>
                        <a:pt x="49770" y="12765"/>
                        <a:pt x="54024" y="18512"/>
                      </a:cubicBezTo>
                      <a:cubicBezTo>
                        <a:pt x="58295" y="24274"/>
                        <a:pt x="60430" y="32117"/>
                        <a:pt x="60430" y="42038"/>
                      </a:cubicBezTo>
                      <a:cubicBezTo>
                        <a:pt x="60430" y="51913"/>
                        <a:pt x="58295" y="59739"/>
                        <a:pt x="54024" y="65518"/>
                      </a:cubicBezTo>
                      <a:cubicBezTo>
                        <a:pt x="49770" y="71296"/>
                        <a:pt x="43991" y="74185"/>
                        <a:pt x="36689" y="74185"/>
                      </a:cubicBezTo>
                      <a:close/>
                      <a:moveTo>
                        <a:pt x="36689" y="85782"/>
                      </a:moveTo>
                      <a:cubicBezTo>
                        <a:pt x="48595" y="85782"/>
                        <a:pt x="57946" y="81908"/>
                        <a:pt x="64740" y="74162"/>
                      </a:cubicBezTo>
                      <a:cubicBezTo>
                        <a:pt x="71550" y="66430"/>
                        <a:pt x="74956" y="55723"/>
                        <a:pt x="74956" y="42038"/>
                      </a:cubicBezTo>
                      <a:cubicBezTo>
                        <a:pt x="74956" y="28402"/>
                        <a:pt x="71550" y="17694"/>
                        <a:pt x="64740" y="9915"/>
                      </a:cubicBezTo>
                      <a:cubicBezTo>
                        <a:pt x="57946" y="2153"/>
                        <a:pt x="48595" y="-1729"/>
                        <a:pt x="36689" y="-1729"/>
                      </a:cubicBezTo>
                      <a:cubicBezTo>
                        <a:pt x="24735" y="-1729"/>
                        <a:pt x="15369" y="2153"/>
                        <a:pt x="8590" y="9915"/>
                      </a:cubicBezTo>
                      <a:cubicBezTo>
                        <a:pt x="1827" y="17694"/>
                        <a:pt x="-1554" y="28402"/>
                        <a:pt x="-1554" y="42038"/>
                      </a:cubicBezTo>
                      <a:cubicBezTo>
                        <a:pt x="-1554" y="55723"/>
                        <a:pt x="1827" y="66430"/>
                        <a:pt x="8590" y="74162"/>
                      </a:cubicBezTo>
                      <a:cubicBezTo>
                        <a:pt x="15369" y="81908"/>
                        <a:pt x="24735" y="85782"/>
                        <a:pt x="36689" y="85782"/>
                      </a:cubicBezTo>
                      <a:close/>
                    </a:path>
                  </a:pathLst>
                </a:custGeom>
                <a:solidFill>
                  <a:srgbClr val="000000"/>
                </a:solidFill>
                <a:ln w="24" cap="flat">
                  <a:noFill/>
                  <a:prstDash val="solid"/>
                  <a:round/>
                </a:ln>
              </p:spPr>
              <p:txBody>
                <a:bodyPr rtlCol="0" anchor="ctr"/>
                <a:lstStyle/>
                <a:p>
                  <a:endParaRPr lang="en-US"/>
                </a:p>
              </p:txBody>
            </p:sp>
            <p:sp>
              <p:nvSpPr>
                <p:cNvPr id="248" name="フリーフォーム: 図形 247">
                  <a:extLst>
                    <a:ext uri="{FF2B5EF4-FFF2-40B4-BE49-F238E27FC236}">
                      <a16:creationId xmlns:a16="http://schemas.microsoft.com/office/drawing/2014/main" id="{2DDB3D24-B418-F2A0-61B9-9D87EF602707}"/>
                    </a:ext>
                  </a:extLst>
                </p:cNvPr>
                <p:cNvSpPr/>
                <p:nvPr/>
              </p:nvSpPr>
              <p:spPr>
                <a:xfrm flipV="1">
                  <a:off x="-3566421" y="1865376"/>
                  <a:ext cx="12700" cy="12700"/>
                </a:xfrm>
                <a:custGeom>
                  <a:avLst/>
                  <a:gdLst/>
                  <a:ahLst/>
                  <a:cxnLst/>
                  <a:rect l="l" t="t" r="r" b="b"/>
                  <a:pathLst>
                    <a:path w="12700" h="12700"/>
                  </a:pathLst>
                </a:custGeom>
                <a:solidFill>
                  <a:srgbClr val="000000"/>
                </a:solidFill>
                <a:ln w="24" cap="flat">
                  <a:noFill/>
                  <a:prstDash val="solid"/>
                  <a:round/>
                </a:ln>
              </p:spPr>
              <p:txBody>
                <a:bodyPr rtlCol="0" anchor="ctr"/>
                <a:lstStyle/>
                <a:p>
                  <a:endParaRPr lang="en-US"/>
                </a:p>
              </p:txBody>
            </p:sp>
            <p:sp>
              <p:nvSpPr>
                <p:cNvPr id="249" name="フリーフォーム: 図形 248">
                  <a:extLst>
                    <a:ext uri="{FF2B5EF4-FFF2-40B4-BE49-F238E27FC236}">
                      <a16:creationId xmlns:a16="http://schemas.microsoft.com/office/drawing/2014/main" id="{D8682B89-53DD-C63F-CD18-139D75DD954A}"/>
                    </a:ext>
                  </a:extLst>
                </p:cNvPr>
                <p:cNvSpPr/>
                <p:nvPr/>
              </p:nvSpPr>
              <p:spPr>
                <a:xfrm flipV="1">
                  <a:off x="-3504138" y="1780032"/>
                  <a:ext cx="74580" cy="117038"/>
                </a:xfrm>
                <a:custGeom>
                  <a:avLst/>
                  <a:gdLst>
                    <a:gd name="connsiteX0" fmla="*/ 12034 w 74580"/>
                    <a:gd name="connsiteY0" fmla="*/ 43088 h 117038"/>
                    <a:gd name="connsiteX1" fmla="*/ 12034 w 74580"/>
                    <a:gd name="connsiteY1" fmla="*/ -1108 h 117038"/>
                    <a:gd name="connsiteX2" fmla="*/ -1730 w 74580"/>
                    <a:gd name="connsiteY2" fmla="*/ -1108 h 117038"/>
                    <a:gd name="connsiteX3" fmla="*/ -1730 w 74580"/>
                    <a:gd name="connsiteY3" fmla="*/ 113930 h 117038"/>
                    <a:gd name="connsiteX4" fmla="*/ 12034 w 74580"/>
                    <a:gd name="connsiteY4" fmla="*/ 113930 h 117038"/>
                    <a:gd name="connsiteX5" fmla="*/ 12034 w 74580"/>
                    <a:gd name="connsiteY5" fmla="*/ 101286 h 117038"/>
                    <a:gd name="connsiteX6" fmla="*/ 22940 w 74580"/>
                    <a:gd name="connsiteY6" fmla="*/ 112311 h 117038"/>
                    <a:gd name="connsiteX7" fmla="*/ 38680 w 74580"/>
                    <a:gd name="connsiteY7" fmla="*/ 115931 h 117038"/>
                    <a:gd name="connsiteX8" fmla="*/ 63350 w 74580"/>
                    <a:gd name="connsiteY8" fmla="*/ 103882 h 117038"/>
                    <a:gd name="connsiteX9" fmla="*/ 72851 w 74580"/>
                    <a:gd name="connsiteY9" fmla="*/ 72187 h 117038"/>
                    <a:gd name="connsiteX10" fmla="*/ 63350 w 74580"/>
                    <a:gd name="connsiteY10" fmla="*/ 40469 h 117038"/>
                    <a:gd name="connsiteX11" fmla="*/ 38680 w 74580"/>
                    <a:gd name="connsiteY11" fmla="*/ 28420 h 117038"/>
                    <a:gd name="connsiteX12" fmla="*/ 22940 w 74580"/>
                    <a:gd name="connsiteY12" fmla="*/ 32039 h 117038"/>
                    <a:gd name="connsiteX13" fmla="*/ 12034 w 74580"/>
                    <a:gd name="connsiteY13" fmla="*/ 43088 h 117038"/>
                    <a:gd name="connsiteX14" fmla="*/ 58635 w 74580"/>
                    <a:gd name="connsiteY14" fmla="*/ 72187 h 117038"/>
                    <a:gd name="connsiteX15" fmla="*/ 52420 w 74580"/>
                    <a:gd name="connsiteY15" fmla="*/ 95881 h 117038"/>
                    <a:gd name="connsiteX16" fmla="*/ 35346 w 74580"/>
                    <a:gd name="connsiteY16" fmla="*/ 104477 h 117038"/>
                    <a:gd name="connsiteX17" fmla="*/ 18249 w 74580"/>
                    <a:gd name="connsiteY17" fmla="*/ 95881 h 117038"/>
                    <a:gd name="connsiteX18" fmla="*/ 12034 w 74580"/>
                    <a:gd name="connsiteY18" fmla="*/ 72187 h 117038"/>
                    <a:gd name="connsiteX19" fmla="*/ 18249 w 74580"/>
                    <a:gd name="connsiteY19" fmla="*/ 48494 h 117038"/>
                    <a:gd name="connsiteX20" fmla="*/ 35346 w 74580"/>
                    <a:gd name="connsiteY20" fmla="*/ 39897 h 117038"/>
                    <a:gd name="connsiteX21" fmla="*/ 52420 w 74580"/>
                    <a:gd name="connsiteY21" fmla="*/ 48494 h 117038"/>
                    <a:gd name="connsiteX22" fmla="*/ 58635 w 74580"/>
                    <a:gd name="connsiteY22" fmla="*/ 72187 h 1170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74580" h="117038">
                      <a:moveTo>
                        <a:pt x="12034" y="43088"/>
                      </a:moveTo>
                      <a:lnTo>
                        <a:pt x="12034" y="-1108"/>
                      </a:lnTo>
                      <a:lnTo>
                        <a:pt x="-1730" y="-1108"/>
                      </a:lnTo>
                      <a:lnTo>
                        <a:pt x="-1730" y="113930"/>
                      </a:lnTo>
                      <a:lnTo>
                        <a:pt x="12034" y="113930"/>
                      </a:lnTo>
                      <a:lnTo>
                        <a:pt x="12034" y="101286"/>
                      </a:lnTo>
                      <a:cubicBezTo>
                        <a:pt x="14923" y="106239"/>
                        <a:pt x="18558" y="109914"/>
                        <a:pt x="22940" y="112311"/>
                      </a:cubicBezTo>
                      <a:cubicBezTo>
                        <a:pt x="27337" y="114724"/>
                        <a:pt x="32584" y="115931"/>
                        <a:pt x="38680" y="115931"/>
                      </a:cubicBezTo>
                      <a:cubicBezTo>
                        <a:pt x="48808" y="115931"/>
                        <a:pt x="57031" y="111914"/>
                        <a:pt x="63350" y="103882"/>
                      </a:cubicBezTo>
                      <a:cubicBezTo>
                        <a:pt x="69684" y="95849"/>
                        <a:pt x="72851" y="85284"/>
                        <a:pt x="72851" y="72187"/>
                      </a:cubicBezTo>
                      <a:cubicBezTo>
                        <a:pt x="72851" y="59090"/>
                        <a:pt x="69684" y="48518"/>
                        <a:pt x="63350" y="40469"/>
                      </a:cubicBezTo>
                      <a:cubicBezTo>
                        <a:pt x="57031" y="32436"/>
                        <a:pt x="48808" y="28420"/>
                        <a:pt x="38680" y="28420"/>
                      </a:cubicBezTo>
                      <a:cubicBezTo>
                        <a:pt x="32584" y="28420"/>
                        <a:pt x="27337" y="29626"/>
                        <a:pt x="22940" y="32039"/>
                      </a:cubicBezTo>
                      <a:cubicBezTo>
                        <a:pt x="18558" y="34452"/>
                        <a:pt x="14923" y="38135"/>
                        <a:pt x="12034" y="43088"/>
                      </a:cubicBezTo>
                      <a:close/>
                      <a:moveTo>
                        <a:pt x="58635" y="72187"/>
                      </a:moveTo>
                      <a:cubicBezTo>
                        <a:pt x="58635" y="82252"/>
                        <a:pt x="56563" y="90150"/>
                        <a:pt x="52420" y="95881"/>
                      </a:cubicBezTo>
                      <a:cubicBezTo>
                        <a:pt x="48276" y="101612"/>
                        <a:pt x="42585" y="104477"/>
                        <a:pt x="35346" y="104477"/>
                      </a:cubicBezTo>
                      <a:cubicBezTo>
                        <a:pt x="28091" y="104477"/>
                        <a:pt x="22392" y="101612"/>
                        <a:pt x="18249" y="95881"/>
                      </a:cubicBezTo>
                      <a:cubicBezTo>
                        <a:pt x="14105" y="90150"/>
                        <a:pt x="12034" y="82252"/>
                        <a:pt x="12034" y="72187"/>
                      </a:cubicBezTo>
                      <a:cubicBezTo>
                        <a:pt x="12034" y="62122"/>
                        <a:pt x="14105" y="54225"/>
                        <a:pt x="18249" y="48494"/>
                      </a:cubicBezTo>
                      <a:cubicBezTo>
                        <a:pt x="22392" y="42763"/>
                        <a:pt x="28091" y="39897"/>
                        <a:pt x="35346" y="39897"/>
                      </a:cubicBezTo>
                      <a:cubicBezTo>
                        <a:pt x="42585" y="39897"/>
                        <a:pt x="48276" y="42763"/>
                        <a:pt x="52420" y="48494"/>
                      </a:cubicBezTo>
                      <a:cubicBezTo>
                        <a:pt x="56563" y="54225"/>
                        <a:pt x="58635" y="62122"/>
                        <a:pt x="58635" y="72187"/>
                      </a:cubicBezTo>
                      <a:close/>
                    </a:path>
                  </a:pathLst>
                </a:custGeom>
                <a:solidFill>
                  <a:srgbClr val="000000"/>
                </a:solidFill>
                <a:ln w="24" cap="flat">
                  <a:noFill/>
                  <a:prstDash val="solid"/>
                  <a:round/>
                </a:ln>
              </p:spPr>
              <p:txBody>
                <a:bodyPr rtlCol="0" anchor="ctr"/>
                <a:lstStyle/>
                <a:p>
                  <a:endParaRPr lang="en-US"/>
                </a:p>
              </p:txBody>
            </p:sp>
            <p:sp>
              <p:nvSpPr>
                <p:cNvPr id="250" name="フリーフォーム: 図形 249">
                  <a:extLst>
                    <a:ext uri="{FF2B5EF4-FFF2-40B4-BE49-F238E27FC236}">
                      <a16:creationId xmlns:a16="http://schemas.microsoft.com/office/drawing/2014/main" id="{99AC1029-4D57-16CF-5320-6FFB8F923FC8}"/>
                    </a:ext>
                  </a:extLst>
                </p:cNvPr>
                <p:cNvSpPr/>
                <p:nvPr/>
              </p:nvSpPr>
              <p:spPr>
                <a:xfrm flipV="1">
                  <a:off x="-3412824" y="1780032"/>
                  <a:ext cx="77247" cy="87510"/>
                </a:xfrm>
                <a:custGeom>
                  <a:avLst/>
                  <a:gdLst>
                    <a:gd name="connsiteX0" fmla="*/ 75697 w 77247"/>
                    <a:gd name="connsiteY0" fmla="*/ 45539 h 87510"/>
                    <a:gd name="connsiteX1" fmla="*/ 75697 w 77247"/>
                    <a:gd name="connsiteY1" fmla="*/ 38848 h 87510"/>
                    <a:gd name="connsiteX2" fmla="*/ 12737 w 77247"/>
                    <a:gd name="connsiteY2" fmla="*/ 38848 h 87510"/>
                    <a:gd name="connsiteX3" fmla="*/ 21262 w 77247"/>
                    <a:gd name="connsiteY3" fmla="*/ 17297 h 87510"/>
                    <a:gd name="connsiteX4" fmla="*/ 42502 w 77247"/>
                    <a:gd name="connsiteY4" fmla="*/ 9892 h 87510"/>
                    <a:gd name="connsiteX5" fmla="*/ 57790 w 77247"/>
                    <a:gd name="connsiteY5" fmla="*/ 11820 h 87510"/>
                    <a:gd name="connsiteX6" fmla="*/ 72506 w 77247"/>
                    <a:gd name="connsiteY6" fmla="*/ 17631 h 87510"/>
                    <a:gd name="connsiteX7" fmla="*/ 72506 w 77247"/>
                    <a:gd name="connsiteY7" fmla="*/ 4677 h 87510"/>
                    <a:gd name="connsiteX8" fmla="*/ 57385 w 77247"/>
                    <a:gd name="connsiteY8" fmla="*/ -86 h 87510"/>
                    <a:gd name="connsiteX9" fmla="*/ 41693 w 77247"/>
                    <a:gd name="connsiteY9" fmla="*/ -1729 h 87510"/>
                    <a:gd name="connsiteX10" fmla="*/ 10094 w 77247"/>
                    <a:gd name="connsiteY10" fmla="*/ 9868 h 87510"/>
                    <a:gd name="connsiteX11" fmla="*/ -1551 w 77247"/>
                    <a:gd name="connsiteY11" fmla="*/ 41300 h 87510"/>
                    <a:gd name="connsiteX12" fmla="*/ 9498 w 77247"/>
                    <a:gd name="connsiteY12" fmla="*/ 73757 h 87510"/>
                    <a:gd name="connsiteX13" fmla="*/ 39312 w 77247"/>
                    <a:gd name="connsiteY13" fmla="*/ 85782 h 87510"/>
                    <a:gd name="connsiteX14" fmla="*/ 65910 w 77247"/>
                    <a:gd name="connsiteY14" fmla="*/ 74947 h 87510"/>
                    <a:gd name="connsiteX15" fmla="*/ 75697 w 77247"/>
                    <a:gd name="connsiteY15" fmla="*/ 45539 h 87510"/>
                    <a:gd name="connsiteX16" fmla="*/ 62005 w 77247"/>
                    <a:gd name="connsiteY16" fmla="*/ 49563 h 87510"/>
                    <a:gd name="connsiteX17" fmla="*/ 55718 w 77247"/>
                    <a:gd name="connsiteY17" fmla="*/ 67470 h 87510"/>
                    <a:gd name="connsiteX18" fmla="*/ 39454 w 77247"/>
                    <a:gd name="connsiteY18" fmla="*/ 74185 h 87510"/>
                    <a:gd name="connsiteX19" fmla="*/ 21119 w 77247"/>
                    <a:gd name="connsiteY19" fmla="*/ 67708 h 87510"/>
                    <a:gd name="connsiteX20" fmla="*/ 13189 w 77247"/>
                    <a:gd name="connsiteY20" fmla="*/ 49468 h 87510"/>
                    <a:gd name="connsiteX21" fmla="*/ 62005 w 77247"/>
                    <a:gd name="connsiteY21" fmla="*/ 49563 h 875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77247" h="87510">
                      <a:moveTo>
                        <a:pt x="75697" y="45539"/>
                      </a:moveTo>
                      <a:lnTo>
                        <a:pt x="75697" y="38848"/>
                      </a:lnTo>
                      <a:lnTo>
                        <a:pt x="12737" y="38848"/>
                      </a:lnTo>
                      <a:cubicBezTo>
                        <a:pt x="13340" y="29418"/>
                        <a:pt x="16182" y="22234"/>
                        <a:pt x="21262" y="17297"/>
                      </a:cubicBezTo>
                      <a:cubicBezTo>
                        <a:pt x="26342" y="12360"/>
                        <a:pt x="33422" y="9892"/>
                        <a:pt x="42502" y="9892"/>
                      </a:cubicBezTo>
                      <a:cubicBezTo>
                        <a:pt x="47757" y="9892"/>
                        <a:pt x="52853" y="10535"/>
                        <a:pt x="57790" y="11820"/>
                      </a:cubicBezTo>
                      <a:cubicBezTo>
                        <a:pt x="62727" y="13106"/>
                        <a:pt x="67632" y="15043"/>
                        <a:pt x="72506" y="17631"/>
                      </a:cubicBezTo>
                      <a:lnTo>
                        <a:pt x="72506" y="4677"/>
                      </a:lnTo>
                      <a:cubicBezTo>
                        <a:pt x="67585" y="2597"/>
                        <a:pt x="62545" y="1010"/>
                        <a:pt x="57385" y="-86"/>
                      </a:cubicBezTo>
                      <a:cubicBezTo>
                        <a:pt x="52226" y="-1181"/>
                        <a:pt x="46995" y="-1729"/>
                        <a:pt x="41693" y="-1729"/>
                      </a:cubicBezTo>
                      <a:cubicBezTo>
                        <a:pt x="28389" y="-1729"/>
                        <a:pt x="17857" y="2137"/>
                        <a:pt x="10094" y="9868"/>
                      </a:cubicBezTo>
                      <a:cubicBezTo>
                        <a:pt x="2331" y="17615"/>
                        <a:pt x="-1551" y="28092"/>
                        <a:pt x="-1551" y="41300"/>
                      </a:cubicBezTo>
                      <a:cubicBezTo>
                        <a:pt x="-1551" y="54937"/>
                        <a:pt x="2132" y="65756"/>
                        <a:pt x="9498" y="73757"/>
                      </a:cubicBezTo>
                      <a:cubicBezTo>
                        <a:pt x="16864" y="81774"/>
                        <a:pt x="26802" y="85782"/>
                        <a:pt x="39312" y="85782"/>
                      </a:cubicBezTo>
                      <a:cubicBezTo>
                        <a:pt x="50519" y="85782"/>
                        <a:pt x="59386" y="82170"/>
                        <a:pt x="65910" y="74947"/>
                      </a:cubicBezTo>
                      <a:cubicBezTo>
                        <a:pt x="72435" y="67740"/>
                        <a:pt x="75697" y="57937"/>
                        <a:pt x="75697" y="45539"/>
                      </a:cubicBezTo>
                      <a:close/>
                      <a:moveTo>
                        <a:pt x="62005" y="49563"/>
                      </a:moveTo>
                      <a:cubicBezTo>
                        <a:pt x="61910" y="57040"/>
                        <a:pt x="59814" y="63009"/>
                        <a:pt x="55718" y="67470"/>
                      </a:cubicBezTo>
                      <a:cubicBezTo>
                        <a:pt x="51623" y="71947"/>
                        <a:pt x="46201" y="74185"/>
                        <a:pt x="39454" y="74185"/>
                      </a:cubicBezTo>
                      <a:cubicBezTo>
                        <a:pt x="31818" y="74185"/>
                        <a:pt x="25707" y="72026"/>
                        <a:pt x="21119" y="67708"/>
                      </a:cubicBezTo>
                      <a:cubicBezTo>
                        <a:pt x="16531" y="63390"/>
                        <a:pt x="13888" y="57310"/>
                        <a:pt x="13189" y="49468"/>
                      </a:cubicBezTo>
                      <a:lnTo>
                        <a:pt x="62005" y="49563"/>
                      </a:lnTo>
                      <a:close/>
                    </a:path>
                  </a:pathLst>
                </a:custGeom>
                <a:solidFill>
                  <a:srgbClr val="000000"/>
                </a:solidFill>
                <a:ln w="24" cap="flat">
                  <a:noFill/>
                  <a:prstDash val="solid"/>
                  <a:round/>
                </a:ln>
              </p:spPr>
              <p:txBody>
                <a:bodyPr rtlCol="0" anchor="ctr"/>
                <a:lstStyle/>
                <a:p>
                  <a:endParaRPr lang="en-US"/>
                </a:p>
              </p:txBody>
            </p:sp>
            <p:sp>
              <p:nvSpPr>
                <p:cNvPr id="251" name="フリーフォーム: 図形 250">
                  <a:extLst>
                    <a:ext uri="{FF2B5EF4-FFF2-40B4-BE49-F238E27FC236}">
                      <a16:creationId xmlns:a16="http://schemas.microsoft.com/office/drawing/2014/main" id="{6A666A9E-5381-4754-725C-2F0813013F48}"/>
                    </a:ext>
                  </a:extLst>
                </p:cNvPr>
                <p:cNvSpPr/>
                <p:nvPr/>
              </p:nvSpPr>
              <p:spPr>
                <a:xfrm flipV="1">
                  <a:off x="-3313638" y="1780032"/>
                  <a:ext cx="48815" cy="85343"/>
                </a:xfrm>
                <a:custGeom>
                  <a:avLst/>
                  <a:gdLst>
                    <a:gd name="connsiteX0" fmla="*/ 47641 w 48815"/>
                    <a:gd name="connsiteY0" fmla="*/ 68782 h 85343"/>
                    <a:gd name="connsiteX1" fmla="*/ 42616 w 48815"/>
                    <a:gd name="connsiteY1" fmla="*/ 70735 h 85343"/>
                    <a:gd name="connsiteX2" fmla="*/ 36639 w 48815"/>
                    <a:gd name="connsiteY2" fmla="*/ 71378 h 85343"/>
                    <a:gd name="connsiteX3" fmla="*/ 18804 w 48815"/>
                    <a:gd name="connsiteY3" fmla="*/ 63829 h 85343"/>
                    <a:gd name="connsiteX4" fmla="*/ 12589 w 48815"/>
                    <a:gd name="connsiteY4" fmla="*/ 42136 h 85343"/>
                    <a:gd name="connsiteX5" fmla="*/ 12589 w 48815"/>
                    <a:gd name="connsiteY5" fmla="*/ -1774 h 85343"/>
                    <a:gd name="connsiteX6" fmla="*/ -1175 w 48815"/>
                    <a:gd name="connsiteY6" fmla="*/ -1774 h 85343"/>
                    <a:gd name="connsiteX7" fmla="*/ -1175 w 48815"/>
                    <a:gd name="connsiteY7" fmla="*/ 81569 h 85343"/>
                    <a:gd name="connsiteX8" fmla="*/ 12589 w 48815"/>
                    <a:gd name="connsiteY8" fmla="*/ 81569 h 85343"/>
                    <a:gd name="connsiteX9" fmla="*/ 12589 w 48815"/>
                    <a:gd name="connsiteY9" fmla="*/ 68615 h 85343"/>
                    <a:gd name="connsiteX10" fmla="*/ 23828 w 48815"/>
                    <a:gd name="connsiteY10" fmla="*/ 79879 h 85343"/>
                    <a:gd name="connsiteX11" fmla="*/ 40664 w 48815"/>
                    <a:gd name="connsiteY11" fmla="*/ 83570 h 85343"/>
                    <a:gd name="connsiteX12" fmla="*/ 43783 w 48815"/>
                    <a:gd name="connsiteY12" fmla="*/ 83379 h 85343"/>
                    <a:gd name="connsiteX13" fmla="*/ 47569 w 48815"/>
                    <a:gd name="connsiteY13" fmla="*/ 82831 h 85343"/>
                    <a:gd name="connsiteX14" fmla="*/ 47641 w 48815"/>
                    <a:gd name="connsiteY14" fmla="*/ 68782 h 85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8815" h="85343">
                      <a:moveTo>
                        <a:pt x="47641" y="68782"/>
                      </a:moveTo>
                      <a:cubicBezTo>
                        <a:pt x="46101" y="69671"/>
                        <a:pt x="44426" y="70322"/>
                        <a:pt x="42616" y="70735"/>
                      </a:cubicBezTo>
                      <a:cubicBezTo>
                        <a:pt x="40806" y="71163"/>
                        <a:pt x="38814" y="71378"/>
                        <a:pt x="36639" y="71378"/>
                      </a:cubicBezTo>
                      <a:cubicBezTo>
                        <a:pt x="28892" y="71378"/>
                        <a:pt x="22947" y="68861"/>
                        <a:pt x="18804" y="63829"/>
                      </a:cubicBezTo>
                      <a:cubicBezTo>
                        <a:pt x="14660" y="58797"/>
                        <a:pt x="12589" y="51566"/>
                        <a:pt x="12589" y="42136"/>
                      </a:cubicBezTo>
                      <a:lnTo>
                        <a:pt x="12589" y="-1774"/>
                      </a:lnTo>
                      <a:lnTo>
                        <a:pt x="-1175" y="-1774"/>
                      </a:lnTo>
                      <a:lnTo>
                        <a:pt x="-1175" y="81569"/>
                      </a:lnTo>
                      <a:lnTo>
                        <a:pt x="12589" y="81569"/>
                      </a:lnTo>
                      <a:lnTo>
                        <a:pt x="12589" y="68615"/>
                      </a:lnTo>
                      <a:cubicBezTo>
                        <a:pt x="15478" y="73679"/>
                        <a:pt x="19224" y="77434"/>
                        <a:pt x="23828" y="79879"/>
                      </a:cubicBezTo>
                      <a:cubicBezTo>
                        <a:pt x="28448" y="82339"/>
                        <a:pt x="34060" y="83570"/>
                        <a:pt x="40664" y="83570"/>
                      </a:cubicBezTo>
                      <a:cubicBezTo>
                        <a:pt x="41600" y="83570"/>
                        <a:pt x="42640" y="83506"/>
                        <a:pt x="43783" y="83379"/>
                      </a:cubicBezTo>
                      <a:cubicBezTo>
                        <a:pt x="44926" y="83268"/>
                        <a:pt x="46188" y="83085"/>
                        <a:pt x="47569" y="82831"/>
                      </a:cubicBezTo>
                      <a:lnTo>
                        <a:pt x="47641" y="68782"/>
                      </a:lnTo>
                      <a:close/>
                    </a:path>
                  </a:pathLst>
                </a:custGeom>
                <a:solidFill>
                  <a:srgbClr val="000000"/>
                </a:solidFill>
                <a:ln w="24" cap="flat">
                  <a:noFill/>
                  <a:prstDash val="solid"/>
                  <a:round/>
                </a:ln>
              </p:spPr>
              <p:txBody>
                <a:bodyPr rtlCol="0" anchor="ctr"/>
                <a:lstStyle/>
                <a:p>
                  <a:endParaRPr lang="en-US"/>
                </a:p>
              </p:txBody>
            </p:sp>
            <p:sp>
              <p:nvSpPr>
                <p:cNvPr id="252" name="フリーフォーム: 図形 251">
                  <a:extLst>
                    <a:ext uri="{FF2B5EF4-FFF2-40B4-BE49-F238E27FC236}">
                      <a16:creationId xmlns:a16="http://schemas.microsoft.com/office/drawing/2014/main" id="{BDB6678C-06EB-3FA2-EBEE-F498BE1E19B0}"/>
                    </a:ext>
                  </a:extLst>
                </p:cNvPr>
                <p:cNvSpPr/>
                <p:nvPr/>
              </p:nvSpPr>
              <p:spPr>
                <a:xfrm flipV="1">
                  <a:off x="-3264822" y="1865376"/>
                  <a:ext cx="12700" cy="12700"/>
                </a:xfrm>
                <a:custGeom>
                  <a:avLst/>
                  <a:gdLst/>
                  <a:ahLst/>
                  <a:cxnLst/>
                  <a:rect l="l" t="t" r="r" b="b"/>
                  <a:pathLst>
                    <a:path w="12700" h="12700"/>
                  </a:pathLst>
                </a:custGeom>
                <a:solidFill>
                  <a:srgbClr val="000000"/>
                </a:solidFill>
                <a:ln w="24" cap="flat">
                  <a:noFill/>
                  <a:prstDash val="solid"/>
                  <a:round/>
                </a:ln>
              </p:spPr>
              <p:txBody>
                <a:bodyPr rtlCol="0" anchor="ctr"/>
                <a:lstStyle/>
                <a:p>
                  <a:endParaRPr lang="en-US"/>
                </a:p>
              </p:txBody>
            </p:sp>
            <p:sp>
              <p:nvSpPr>
                <p:cNvPr id="253" name="フリーフォーム: 図形 252">
                  <a:extLst>
                    <a:ext uri="{FF2B5EF4-FFF2-40B4-BE49-F238E27FC236}">
                      <a16:creationId xmlns:a16="http://schemas.microsoft.com/office/drawing/2014/main" id="{74B34E88-3D08-3C09-566A-42016AD6C68E}"/>
                    </a:ext>
                  </a:extLst>
                </p:cNvPr>
                <p:cNvSpPr/>
                <p:nvPr/>
              </p:nvSpPr>
              <p:spPr>
                <a:xfrm flipV="1">
                  <a:off x="-3201419" y="1754266"/>
                  <a:ext cx="101655" cy="111109"/>
                </a:xfrm>
                <a:custGeom>
                  <a:avLst/>
                  <a:gdLst>
                    <a:gd name="connsiteX0" fmla="*/ -2321 w 101655"/>
                    <a:gd name="connsiteY0" fmla="*/ 108793 h 111109"/>
                    <a:gd name="connsiteX1" fmla="*/ 20087 w 101655"/>
                    <a:gd name="connsiteY1" fmla="*/ 108793 h 111109"/>
                    <a:gd name="connsiteX2" fmla="*/ 48424 w 101655"/>
                    <a:gd name="connsiteY2" fmla="*/ 33188 h 111109"/>
                    <a:gd name="connsiteX3" fmla="*/ 76927 w 101655"/>
                    <a:gd name="connsiteY3" fmla="*/ 108793 h 111109"/>
                    <a:gd name="connsiteX4" fmla="*/ 99335 w 101655"/>
                    <a:gd name="connsiteY4" fmla="*/ 108793 h 111109"/>
                    <a:gd name="connsiteX5" fmla="*/ 99335 w 101655"/>
                    <a:gd name="connsiteY5" fmla="*/ -2316 h 111109"/>
                    <a:gd name="connsiteX6" fmla="*/ 84666 w 101655"/>
                    <a:gd name="connsiteY6" fmla="*/ -2316 h 111109"/>
                    <a:gd name="connsiteX7" fmla="*/ 84666 w 101655"/>
                    <a:gd name="connsiteY7" fmla="*/ 95243 h 111109"/>
                    <a:gd name="connsiteX8" fmla="*/ 56020 w 101655"/>
                    <a:gd name="connsiteY8" fmla="*/ 19043 h 111109"/>
                    <a:gd name="connsiteX9" fmla="*/ 40923 w 101655"/>
                    <a:gd name="connsiteY9" fmla="*/ 19043 h 111109"/>
                    <a:gd name="connsiteX10" fmla="*/ 12276 w 101655"/>
                    <a:gd name="connsiteY10" fmla="*/ 95243 h 111109"/>
                    <a:gd name="connsiteX11" fmla="*/ 12276 w 101655"/>
                    <a:gd name="connsiteY11" fmla="*/ -2316 h 111109"/>
                    <a:gd name="connsiteX12" fmla="*/ -2321 w 101655"/>
                    <a:gd name="connsiteY12" fmla="*/ -2316 h 111109"/>
                    <a:gd name="connsiteX13" fmla="*/ -2321 w 101655"/>
                    <a:gd name="connsiteY13" fmla="*/ 108793 h 111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1655" h="111109">
                      <a:moveTo>
                        <a:pt x="-2321" y="108793"/>
                      </a:moveTo>
                      <a:lnTo>
                        <a:pt x="20087" y="108793"/>
                      </a:lnTo>
                      <a:lnTo>
                        <a:pt x="48424" y="33188"/>
                      </a:lnTo>
                      <a:lnTo>
                        <a:pt x="76927" y="108793"/>
                      </a:lnTo>
                      <a:lnTo>
                        <a:pt x="99335" y="108793"/>
                      </a:lnTo>
                      <a:lnTo>
                        <a:pt x="99335" y="-2316"/>
                      </a:lnTo>
                      <a:lnTo>
                        <a:pt x="84666" y="-2316"/>
                      </a:lnTo>
                      <a:lnTo>
                        <a:pt x="84666" y="95243"/>
                      </a:lnTo>
                      <a:lnTo>
                        <a:pt x="56020" y="19043"/>
                      </a:lnTo>
                      <a:lnTo>
                        <a:pt x="40923" y="19043"/>
                      </a:lnTo>
                      <a:lnTo>
                        <a:pt x="12276" y="95243"/>
                      </a:lnTo>
                      <a:lnTo>
                        <a:pt x="12276" y="-2316"/>
                      </a:lnTo>
                      <a:lnTo>
                        <a:pt x="-2321" y="-2316"/>
                      </a:lnTo>
                      <a:lnTo>
                        <a:pt x="-2321" y="108793"/>
                      </a:lnTo>
                      <a:close/>
                    </a:path>
                  </a:pathLst>
                </a:custGeom>
                <a:solidFill>
                  <a:srgbClr val="000000"/>
                </a:solidFill>
                <a:ln w="24" cap="flat">
                  <a:noFill/>
                  <a:prstDash val="solid"/>
                  <a:round/>
                </a:ln>
              </p:spPr>
              <p:txBody>
                <a:bodyPr rtlCol="0" anchor="ctr"/>
                <a:lstStyle/>
                <a:p>
                  <a:endParaRPr lang="en-US"/>
                </a:p>
              </p:txBody>
            </p:sp>
            <p:sp>
              <p:nvSpPr>
                <p:cNvPr id="254" name="フリーフォーム: 図形 253">
                  <a:extLst>
                    <a:ext uri="{FF2B5EF4-FFF2-40B4-BE49-F238E27FC236}">
                      <a16:creationId xmlns:a16="http://schemas.microsoft.com/office/drawing/2014/main" id="{5435BD76-153B-AA13-50A4-49366AA8FFA2}"/>
                    </a:ext>
                  </a:extLst>
                </p:cNvPr>
                <p:cNvSpPr/>
                <p:nvPr/>
              </p:nvSpPr>
              <p:spPr>
                <a:xfrm flipV="1">
                  <a:off x="-3076477" y="1780032"/>
                  <a:ext cx="76509" cy="87510"/>
                </a:xfrm>
                <a:custGeom>
                  <a:avLst/>
                  <a:gdLst>
                    <a:gd name="connsiteX0" fmla="*/ 36734 w 76509"/>
                    <a:gd name="connsiteY0" fmla="*/ 74185 h 87510"/>
                    <a:gd name="connsiteX1" fmla="*/ 19327 w 76509"/>
                    <a:gd name="connsiteY1" fmla="*/ 65589 h 87510"/>
                    <a:gd name="connsiteX2" fmla="*/ 12922 w 76509"/>
                    <a:gd name="connsiteY2" fmla="*/ 42038 h 87510"/>
                    <a:gd name="connsiteX3" fmla="*/ 19280 w 76509"/>
                    <a:gd name="connsiteY3" fmla="*/ 18488 h 87510"/>
                    <a:gd name="connsiteX4" fmla="*/ 36734 w 76509"/>
                    <a:gd name="connsiteY4" fmla="*/ 9892 h 87510"/>
                    <a:gd name="connsiteX5" fmla="*/ 54070 w 76509"/>
                    <a:gd name="connsiteY5" fmla="*/ 18512 h 87510"/>
                    <a:gd name="connsiteX6" fmla="*/ 60475 w 76509"/>
                    <a:gd name="connsiteY6" fmla="*/ 42038 h 87510"/>
                    <a:gd name="connsiteX7" fmla="*/ 54070 w 76509"/>
                    <a:gd name="connsiteY7" fmla="*/ 65518 h 87510"/>
                    <a:gd name="connsiteX8" fmla="*/ 36734 w 76509"/>
                    <a:gd name="connsiteY8" fmla="*/ 74185 h 87510"/>
                    <a:gd name="connsiteX9" fmla="*/ 36734 w 76509"/>
                    <a:gd name="connsiteY9" fmla="*/ 85782 h 87510"/>
                    <a:gd name="connsiteX10" fmla="*/ 64785 w 76509"/>
                    <a:gd name="connsiteY10" fmla="*/ 74162 h 87510"/>
                    <a:gd name="connsiteX11" fmla="*/ 75001 w 76509"/>
                    <a:gd name="connsiteY11" fmla="*/ 42038 h 87510"/>
                    <a:gd name="connsiteX12" fmla="*/ 64785 w 76509"/>
                    <a:gd name="connsiteY12" fmla="*/ 9915 h 87510"/>
                    <a:gd name="connsiteX13" fmla="*/ 36734 w 76509"/>
                    <a:gd name="connsiteY13" fmla="*/ -1729 h 87510"/>
                    <a:gd name="connsiteX14" fmla="*/ 8635 w 76509"/>
                    <a:gd name="connsiteY14" fmla="*/ 9915 h 87510"/>
                    <a:gd name="connsiteX15" fmla="*/ -1509 w 76509"/>
                    <a:gd name="connsiteY15" fmla="*/ 42038 h 87510"/>
                    <a:gd name="connsiteX16" fmla="*/ 8635 w 76509"/>
                    <a:gd name="connsiteY16" fmla="*/ 74162 h 87510"/>
                    <a:gd name="connsiteX17" fmla="*/ 36734 w 76509"/>
                    <a:gd name="connsiteY17" fmla="*/ 85782 h 875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6509" h="87510">
                      <a:moveTo>
                        <a:pt x="36734" y="74185"/>
                      </a:moveTo>
                      <a:cubicBezTo>
                        <a:pt x="29400" y="74185"/>
                        <a:pt x="23598" y="71320"/>
                        <a:pt x="19327" y="65589"/>
                      </a:cubicBezTo>
                      <a:cubicBezTo>
                        <a:pt x="15057" y="59858"/>
                        <a:pt x="12922" y="52008"/>
                        <a:pt x="12922" y="42038"/>
                      </a:cubicBezTo>
                      <a:cubicBezTo>
                        <a:pt x="12922" y="32069"/>
                        <a:pt x="15041" y="24219"/>
                        <a:pt x="19280" y="18488"/>
                      </a:cubicBezTo>
                      <a:cubicBezTo>
                        <a:pt x="23534" y="12757"/>
                        <a:pt x="29352" y="9892"/>
                        <a:pt x="36734" y="9892"/>
                      </a:cubicBezTo>
                      <a:cubicBezTo>
                        <a:pt x="44037" y="9892"/>
                        <a:pt x="49815" y="12765"/>
                        <a:pt x="54070" y="18512"/>
                      </a:cubicBezTo>
                      <a:cubicBezTo>
                        <a:pt x="58340" y="24274"/>
                        <a:pt x="60475" y="32117"/>
                        <a:pt x="60475" y="42038"/>
                      </a:cubicBezTo>
                      <a:cubicBezTo>
                        <a:pt x="60475" y="51913"/>
                        <a:pt x="58340" y="59739"/>
                        <a:pt x="54070" y="65518"/>
                      </a:cubicBezTo>
                      <a:cubicBezTo>
                        <a:pt x="49815" y="71296"/>
                        <a:pt x="44037" y="74185"/>
                        <a:pt x="36734" y="74185"/>
                      </a:cubicBezTo>
                      <a:close/>
                      <a:moveTo>
                        <a:pt x="36734" y="85782"/>
                      </a:moveTo>
                      <a:cubicBezTo>
                        <a:pt x="48640" y="85782"/>
                        <a:pt x="57991" y="81908"/>
                        <a:pt x="64785" y="74162"/>
                      </a:cubicBezTo>
                      <a:cubicBezTo>
                        <a:pt x="71596" y="66430"/>
                        <a:pt x="75001" y="55723"/>
                        <a:pt x="75001" y="42038"/>
                      </a:cubicBezTo>
                      <a:cubicBezTo>
                        <a:pt x="75001" y="28402"/>
                        <a:pt x="71596" y="17694"/>
                        <a:pt x="64785" y="9915"/>
                      </a:cubicBezTo>
                      <a:cubicBezTo>
                        <a:pt x="57991" y="2153"/>
                        <a:pt x="48640" y="-1729"/>
                        <a:pt x="36734" y="-1729"/>
                      </a:cubicBezTo>
                      <a:cubicBezTo>
                        <a:pt x="24780" y="-1729"/>
                        <a:pt x="15414" y="2153"/>
                        <a:pt x="8635" y="9915"/>
                      </a:cubicBezTo>
                      <a:cubicBezTo>
                        <a:pt x="1873" y="17694"/>
                        <a:pt x="-1509" y="28402"/>
                        <a:pt x="-1509" y="42038"/>
                      </a:cubicBezTo>
                      <a:cubicBezTo>
                        <a:pt x="-1509" y="55723"/>
                        <a:pt x="1873" y="66430"/>
                        <a:pt x="8635" y="74162"/>
                      </a:cubicBezTo>
                      <a:cubicBezTo>
                        <a:pt x="15414" y="81908"/>
                        <a:pt x="24780" y="85782"/>
                        <a:pt x="36734" y="85782"/>
                      </a:cubicBezTo>
                      <a:close/>
                    </a:path>
                  </a:pathLst>
                </a:custGeom>
                <a:solidFill>
                  <a:srgbClr val="000000"/>
                </a:solidFill>
                <a:ln w="24" cap="flat">
                  <a:noFill/>
                  <a:prstDash val="solid"/>
                  <a:round/>
                </a:ln>
              </p:spPr>
              <p:txBody>
                <a:bodyPr rtlCol="0" anchor="ctr"/>
                <a:lstStyle/>
                <a:p>
                  <a:endParaRPr lang="en-US"/>
                </a:p>
              </p:txBody>
            </p:sp>
            <p:sp>
              <p:nvSpPr>
                <p:cNvPr id="255" name="フリーフォーム: 図形 254">
                  <a:extLst>
                    <a:ext uri="{FF2B5EF4-FFF2-40B4-BE49-F238E27FC236}">
                      <a16:creationId xmlns:a16="http://schemas.microsoft.com/office/drawing/2014/main" id="{8F1B3DC0-A0A6-DCBA-BF7B-782B7F32CD18}"/>
                    </a:ext>
                  </a:extLst>
                </p:cNvPr>
                <p:cNvSpPr/>
                <p:nvPr/>
              </p:nvSpPr>
              <p:spPr>
                <a:xfrm flipV="1">
                  <a:off x="-2977809" y="1780032"/>
                  <a:ext cx="69818" cy="85343"/>
                </a:xfrm>
                <a:custGeom>
                  <a:avLst/>
                  <a:gdLst>
                    <a:gd name="connsiteX0" fmla="*/ 68230 w 69818"/>
                    <a:gd name="connsiteY0" fmla="*/ 48541 h 85343"/>
                    <a:gd name="connsiteX1" fmla="*/ 68230 w 69818"/>
                    <a:gd name="connsiteY1" fmla="*/ -1774 h 85343"/>
                    <a:gd name="connsiteX2" fmla="*/ 54537 w 69818"/>
                    <a:gd name="connsiteY2" fmla="*/ -1774 h 85343"/>
                    <a:gd name="connsiteX3" fmla="*/ 54537 w 69818"/>
                    <a:gd name="connsiteY3" fmla="*/ 48089 h 85343"/>
                    <a:gd name="connsiteX4" fmla="*/ 49918 w 69818"/>
                    <a:gd name="connsiteY4" fmla="*/ 65782 h 85343"/>
                    <a:gd name="connsiteX5" fmla="*/ 36083 w 69818"/>
                    <a:gd name="connsiteY5" fmla="*/ 71663 h 85343"/>
                    <a:gd name="connsiteX6" fmla="*/ 18580 w 69818"/>
                    <a:gd name="connsiteY6" fmla="*/ 64591 h 85343"/>
                    <a:gd name="connsiteX7" fmla="*/ 12175 w 69818"/>
                    <a:gd name="connsiteY7" fmla="*/ 45327 h 85343"/>
                    <a:gd name="connsiteX8" fmla="*/ 12175 w 69818"/>
                    <a:gd name="connsiteY8" fmla="*/ -1774 h 85343"/>
                    <a:gd name="connsiteX9" fmla="*/ -1589 w 69818"/>
                    <a:gd name="connsiteY9" fmla="*/ -1774 h 85343"/>
                    <a:gd name="connsiteX10" fmla="*/ -1589 w 69818"/>
                    <a:gd name="connsiteY10" fmla="*/ 81569 h 85343"/>
                    <a:gd name="connsiteX11" fmla="*/ 12175 w 69818"/>
                    <a:gd name="connsiteY11" fmla="*/ 81569 h 85343"/>
                    <a:gd name="connsiteX12" fmla="*/ 12175 w 69818"/>
                    <a:gd name="connsiteY12" fmla="*/ 68615 h 85343"/>
                    <a:gd name="connsiteX13" fmla="*/ 23748 w 69818"/>
                    <a:gd name="connsiteY13" fmla="*/ 79855 h 85343"/>
                    <a:gd name="connsiteX14" fmla="*/ 39131 w 69818"/>
                    <a:gd name="connsiteY14" fmla="*/ 83570 h 85343"/>
                    <a:gd name="connsiteX15" fmla="*/ 60848 w 69818"/>
                    <a:gd name="connsiteY15" fmla="*/ 74687 h 85343"/>
                    <a:gd name="connsiteX16" fmla="*/ 68230 w 69818"/>
                    <a:gd name="connsiteY16" fmla="*/ 48541 h 85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9818" h="85343">
                      <a:moveTo>
                        <a:pt x="68230" y="48541"/>
                      </a:moveTo>
                      <a:lnTo>
                        <a:pt x="68230" y="-1774"/>
                      </a:lnTo>
                      <a:lnTo>
                        <a:pt x="54537" y="-1774"/>
                      </a:lnTo>
                      <a:lnTo>
                        <a:pt x="54537" y="48089"/>
                      </a:lnTo>
                      <a:cubicBezTo>
                        <a:pt x="54537" y="55979"/>
                        <a:pt x="52997" y="61876"/>
                        <a:pt x="49918" y="65782"/>
                      </a:cubicBezTo>
                      <a:cubicBezTo>
                        <a:pt x="46838" y="69703"/>
                        <a:pt x="42226" y="71663"/>
                        <a:pt x="36083" y="71663"/>
                      </a:cubicBezTo>
                      <a:cubicBezTo>
                        <a:pt x="28685" y="71663"/>
                        <a:pt x="22851" y="69306"/>
                        <a:pt x="18580" y="64591"/>
                      </a:cubicBezTo>
                      <a:cubicBezTo>
                        <a:pt x="14310" y="59892"/>
                        <a:pt x="12175" y="53471"/>
                        <a:pt x="12175" y="45327"/>
                      </a:cubicBezTo>
                      <a:lnTo>
                        <a:pt x="12175" y="-1774"/>
                      </a:lnTo>
                      <a:lnTo>
                        <a:pt x="-1589" y="-1774"/>
                      </a:lnTo>
                      <a:lnTo>
                        <a:pt x="-1589" y="81569"/>
                      </a:lnTo>
                      <a:lnTo>
                        <a:pt x="12175" y="81569"/>
                      </a:lnTo>
                      <a:lnTo>
                        <a:pt x="12175" y="68615"/>
                      </a:lnTo>
                      <a:cubicBezTo>
                        <a:pt x="15461" y="73632"/>
                        <a:pt x="19319" y="77378"/>
                        <a:pt x="23748" y="79855"/>
                      </a:cubicBezTo>
                      <a:cubicBezTo>
                        <a:pt x="28193" y="82331"/>
                        <a:pt x="33320" y="83570"/>
                        <a:pt x="39131" y="83570"/>
                      </a:cubicBezTo>
                      <a:cubicBezTo>
                        <a:pt x="48703" y="83570"/>
                        <a:pt x="55942" y="80609"/>
                        <a:pt x="60848" y="74687"/>
                      </a:cubicBezTo>
                      <a:cubicBezTo>
                        <a:pt x="65769" y="68766"/>
                        <a:pt x="68230" y="60051"/>
                        <a:pt x="68230" y="48541"/>
                      </a:cubicBezTo>
                      <a:close/>
                    </a:path>
                  </a:pathLst>
                </a:custGeom>
                <a:solidFill>
                  <a:srgbClr val="000000"/>
                </a:solidFill>
                <a:ln w="24" cap="flat">
                  <a:noFill/>
                  <a:prstDash val="solid"/>
                  <a:round/>
                </a:ln>
              </p:spPr>
              <p:txBody>
                <a:bodyPr rtlCol="0" anchor="ctr"/>
                <a:lstStyle/>
                <a:p>
                  <a:endParaRPr lang="en-US"/>
                </a:p>
              </p:txBody>
            </p:sp>
            <p:sp>
              <p:nvSpPr>
                <p:cNvPr id="256" name="フリーフォーム: 図形 255">
                  <a:extLst>
                    <a:ext uri="{FF2B5EF4-FFF2-40B4-BE49-F238E27FC236}">
                      <a16:creationId xmlns:a16="http://schemas.microsoft.com/office/drawing/2014/main" id="{0F7D03A6-0370-5369-37A1-947FEC37A633}"/>
                    </a:ext>
                  </a:extLst>
                </p:cNvPr>
                <p:cNvSpPr/>
                <p:nvPr/>
              </p:nvSpPr>
              <p:spPr>
                <a:xfrm flipV="1">
                  <a:off x="-2890958" y="1758362"/>
                  <a:ext cx="52006" cy="107013"/>
                </a:xfrm>
                <a:custGeom>
                  <a:avLst/>
                  <a:gdLst>
                    <a:gd name="connsiteX0" fmla="*/ 23013 w 52006"/>
                    <a:gd name="connsiteY0" fmla="*/ 104783 h 107013"/>
                    <a:gd name="connsiteX1" fmla="*/ 23013 w 52006"/>
                    <a:gd name="connsiteY1" fmla="*/ 81113 h 107013"/>
                    <a:gd name="connsiteX2" fmla="*/ 51207 w 52006"/>
                    <a:gd name="connsiteY2" fmla="*/ 81113 h 107013"/>
                    <a:gd name="connsiteX3" fmla="*/ 51207 w 52006"/>
                    <a:gd name="connsiteY3" fmla="*/ 70469 h 107013"/>
                    <a:gd name="connsiteX4" fmla="*/ 23013 w 52006"/>
                    <a:gd name="connsiteY4" fmla="*/ 70469 h 107013"/>
                    <a:gd name="connsiteX5" fmla="*/ 23013 w 52006"/>
                    <a:gd name="connsiteY5" fmla="*/ 25225 h 107013"/>
                    <a:gd name="connsiteX6" fmla="*/ 25799 w 52006"/>
                    <a:gd name="connsiteY6" fmla="*/ 12129 h 107013"/>
                    <a:gd name="connsiteX7" fmla="*/ 37158 w 52006"/>
                    <a:gd name="connsiteY7" fmla="*/ 9223 h 107013"/>
                    <a:gd name="connsiteX8" fmla="*/ 51207 w 52006"/>
                    <a:gd name="connsiteY8" fmla="*/ 9223 h 107013"/>
                    <a:gd name="connsiteX9" fmla="*/ 51207 w 52006"/>
                    <a:gd name="connsiteY9" fmla="*/ -2230 h 107013"/>
                    <a:gd name="connsiteX10" fmla="*/ 37158 w 52006"/>
                    <a:gd name="connsiteY10" fmla="*/ -2230 h 107013"/>
                    <a:gd name="connsiteX11" fmla="*/ 15274 w 52006"/>
                    <a:gd name="connsiteY11" fmla="*/ 3675 h 107013"/>
                    <a:gd name="connsiteX12" fmla="*/ 9249 w 52006"/>
                    <a:gd name="connsiteY12" fmla="*/ 25225 h 107013"/>
                    <a:gd name="connsiteX13" fmla="*/ 9249 w 52006"/>
                    <a:gd name="connsiteY13" fmla="*/ 70469 h 107013"/>
                    <a:gd name="connsiteX14" fmla="*/ -800 w 52006"/>
                    <a:gd name="connsiteY14" fmla="*/ 70469 h 107013"/>
                    <a:gd name="connsiteX15" fmla="*/ -800 w 52006"/>
                    <a:gd name="connsiteY15" fmla="*/ 81113 h 107013"/>
                    <a:gd name="connsiteX16" fmla="*/ 9249 w 52006"/>
                    <a:gd name="connsiteY16" fmla="*/ 81113 h 107013"/>
                    <a:gd name="connsiteX17" fmla="*/ 9249 w 52006"/>
                    <a:gd name="connsiteY17" fmla="*/ 104783 h 107013"/>
                    <a:gd name="connsiteX18" fmla="*/ 23013 w 52006"/>
                    <a:gd name="connsiteY18" fmla="*/ 104783 h 1070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2006" h="107013">
                      <a:moveTo>
                        <a:pt x="23013" y="104783"/>
                      </a:moveTo>
                      <a:lnTo>
                        <a:pt x="23013" y="81113"/>
                      </a:lnTo>
                      <a:lnTo>
                        <a:pt x="51207" y="81113"/>
                      </a:lnTo>
                      <a:lnTo>
                        <a:pt x="51207" y="70469"/>
                      </a:lnTo>
                      <a:lnTo>
                        <a:pt x="23013" y="70469"/>
                      </a:lnTo>
                      <a:lnTo>
                        <a:pt x="23013" y="25225"/>
                      </a:lnTo>
                      <a:cubicBezTo>
                        <a:pt x="23013" y="18431"/>
                        <a:pt x="23942" y="14065"/>
                        <a:pt x="25799" y="12129"/>
                      </a:cubicBezTo>
                      <a:cubicBezTo>
                        <a:pt x="27656" y="10192"/>
                        <a:pt x="31443" y="9223"/>
                        <a:pt x="37158" y="9223"/>
                      </a:cubicBezTo>
                      <a:lnTo>
                        <a:pt x="51207" y="9223"/>
                      </a:lnTo>
                      <a:lnTo>
                        <a:pt x="51207" y="-2230"/>
                      </a:lnTo>
                      <a:lnTo>
                        <a:pt x="37158" y="-2230"/>
                      </a:lnTo>
                      <a:cubicBezTo>
                        <a:pt x="26585" y="-2230"/>
                        <a:pt x="19290" y="-262"/>
                        <a:pt x="15274" y="3675"/>
                      </a:cubicBezTo>
                      <a:cubicBezTo>
                        <a:pt x="11257" y="7628"/>
                        <a:pt x="9249" y="14811"/>
                        <a:pt x="9249" y="25225"/>
                      </a:cubicBezTo>
                      <a:lnTo>
                        <a:pt x="9249" y="70469"/>
                      </a:lnTo>
                      <a:lnTo>
                        <a:pt x="-800" y="70469"/>
                      </a:lnTo>
                      <a:lnTo>
                        <a:pt x="-800" y="81113"/>
                      </a:lnTo>
                      <a:lnTo>
                        <a:pt x="9249" y="81113"/>
                      </a:lnTo>
                      <a:lnTo>
                        <a:pt x="9249" y="104783"/>
                      </a:lnTo>
                      <a:lnTo>
                        <a:pt x="23013" y="104783"/>
                      </a:lnTo>
                      <a:close/>
                    </a:path>
                  </a:pathLst>
                </a:custGeom>
                <a:solidFill>
                  <a:srgbClr val="000000"/>
                </a:solidFill>
                <a:ln w="24" cap="flat">
                  <a:noFill/>
                  <a:prstDash val="solid"/>
                  <a:round/>
                </a:ln>
              </p:spPr>
              <p:txBody>
                <a:bodyPr rtlCol="0" anchor="ctr"/>
                <a:lstStyle/>
                <a:p>
                  <a:endParaRPr lang="en-US"/>
                </a:p>
              </p:txBody>
            </p:sp>
            <p:sp>
              <p:nvSpPr>
                <p:cNvPr id="257" name="フリーフォーム: 図形 256">
                  <a:extLst>
                    <a:ext uri="{FF2B5EF4-FFF2-40B4-BE49-F238E27FC236}">
                      <a16:creationId xmlns:a16="http://schemas.microsoft.com/office/drawing/2014/main" id="{71B97632-1712-E360-E252-8E99E61840BA}"/>
                    </a:ext>
                  </a:extLst>
                </p:cNvPr>
                <p:cNvSpPr/>
                <p:nvPr/>
              </p:nvSpPr>
              <p:spPr>
                <a:xfrm flipV="1">
                  <a:off x="-2821462" y="1749575"/>
                  <a:ext cx="69818" cy="115800"/>
                </a:xfrm>
                <a:custGeom>
                  <a:avLst/>
                  <a:gdLst>
                    <a:gd name="connsiteX0" fmla="*/ 68242 w 69818"/>
                    <a:gd name="connsiteY0" fmla="*/ 47901 h 115800"/>
                    <a:gd name="connsiteX1" fmla="*/ 68242 w 69818"/>
                    <a:gd name="connsiteY1" fmla="*/ -2415 h 115800"/>
                    <a:gd name="connsiteX2" fmla="*/ 54550 w 69818"/>
                    <a:gd name="connsiteY2" fmla="*/ -2415 h 115800"/>
                    <a:gd name="connsiteX3" fmla="*/ 54550 w 69818"/>
                    <a:gd name="connsiteY3" fmla="*/ 47448 h 115800"/>
                    <a:gd name="connsiteX4" fmla="*/ 49930 w 69818"/>
                    <a:gd name="connsiteY4" fmla="*/ 65141 h 115800"/>
                    <a:gd name="connsiteX5" fmla="*/ 36095 w 69818"/>
                    <a:gd name="connsiteY5" fmla="*/ 71023 h 115800"/>
                    <a:gd name="connsiteX6" fmla="*/ 18593 w 69818"/>
                    <a:gd name="connsiteY6" fmla="*/ 63950 h 115800"/>
                    <a:gd name="connsiteX7" fmla="*/ 12187 w 69818"/>
                    <a:gd name="connsiteY7" fmla="*/ 44686 h 115800"/>
                    <a:gd name="connsiteX8" fmla="*/ 12187 w 69818"/>
                    <a:gd name="connsiteY8" fmla="*/ -2415 h 115800"/>
                    <a:gd name="connsiteX9" fmla="*/ -1576 w 69818"/>
                    <a:gd name="connsiteY9" fmla="*/ -2415 h 115800"/>
                    <a:gd name="connsiteX10" fmla="*/ -1576 w 69818"/>
                    <a:gd name="connsiteY10" fmla="*/ 113385 h 115800"/>
                    <a:gd name="connsiteX11" fmla="*/ 12187 w 69818"/>
                    <a:gd name="connsiteY11" fmla="*/ 113385 h 115800"/>
                    <a:gd name="connsiteX12" fmla="*/ 12187 w 69818"/>
                    <a:gd name="connsiteY12" fmla="*/ 67975 h 115800"/>
                    <a:gd name="connsiteX13" fmla="*/ 23760 w 69818"/>
                    <a:gd name="connsiteY13" fmla="*/ 79214 h 115800"/>
                    <a:gd name="connsiteX14" fmla="*/ 39143 w 69818"/>
                    <a:gd name="connsiteY14" fmla="*/ 82929 h 115800"/>
                    <a:gd name="connsiteX15" fmla="*/ 60860 w 69818"/>
                    <a:gd name="connsiteY15" fmla="*/ 74047 h 115800"/>
                    <a:gd name="connsiteX16" fmla="*/ 68242 w 69818"/>
                    <a:gd name="connsiteY16" fmla="*/ 47901 h 115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9818" h="115800">
                      <a:moveTo>
                        <a:pt x="68242" y="47901"/>
                      </a:moveTo>
                      <a:lnTo>
                        <a:pt x="68242" y="-2415"/>
                      </a:lnTo>
                      <a:lnTo>
                        <a:pt x="54550" y="-2415"/>
                      </a:lnTo>
                      <a:lnTo>
                        <a:pt x="54550" y="47448"/>
                      </a:lnTo>
                      <a:cubicBezTo>
                        <a:pt x="54550" y="55338"/>
                        <a:pt x="53010" y="61236"/>
                        <a:pt x="49930" y="65141"/>
                      </a:cubicBezTo>
                      <a:cubicBezTo>
                        <a:pt x="46850" y="69062"/>
                        <a:pt x="42239" y="71023"/>
                        <a:pt x="36095" y="71023"/>
                      </a:cubicBezTo>
                      <a:cubicBezTo>
                        <a:pt x="28697" y="71023"/>
                        <a:pt x="22863" y="68665"/>
                        <a:pt x="18593" y="63950"/>
                      </a:cubicBezTo>
                      <a:cubicBezTo>
                        <a:pt x="14322" y="59251"/>
                        <a:pt x="12187" y="52830"/>
                        <a:pt x="12187" y="44686"/>
                      </a:cubicBezTo>
                      <a:lnTo>
                        <a:pt x="12187" y="-2415"/>
                      </a:lnTo>
                      <a:lnTo>
                        <a:pt x="-1576" y="-2415"/>
                      </a:lnTo>
                      <a:lnTo>
                        <a:pt x="-1576" y="113385"/>
                      </a:lnTo>
                      <a:lnTo>
                        <a:pt x="12187" y="113385"/>
                      </a:lnTo>
                      <a:lnTo>
                        <a:pt x="12187" y="67975"/>
                      </a:lnTo>
                      <a:cubicBezTo>
                        <a:pt x="15473" y="72991"/>
                        <a:pt x="19331" y="76738"/>
                        <a:pt x="23760" y="79214"/>
                      </a:cubicBezTo>
                      <a:cubicBezTo>
                        <a:pt x="28205" y="81691"/>
                        <a:pt x="33333" y="82929"/>
                        <a:pt x="39143" y="82929"/>
                      </a:cubicBezTo>
                      <a:cubicBezTo>
                        <a:pt x="48716" y="82929"/>
                        <a:pt x="55955" y="79968"/>
                        <a:pt x="60860" y="74047"/>
                      </a:cubicBezTo>
                      <a:cubicBezTo>
                        <a:pt x="65781" y="68125"/>
                        <a:pt x="68242" y="59410"/>
                        <a:pt x="68242" y="47901"/>
                      </a:cubicBezTo>
                      <a:close/>
                    </a:path>
                  </a:pathLst>
                </a:custGeom>
                <a:solidFill>
                  <a:srgbClr val="000000"/>
                </a:solidFill>
                <a:ln w="24" cap="flat">
                  <a:noFill/>
                  <a:prstDash val="solid"/>
                  <a:round/>
                </a:ln>
              </p:spPr>
              <p:txBody>
                <a:bodyPr rtlCol="0" anchor="ctr"/>
                <a:lstStyle/>
                <a:p>
                  <a:endParaRPr lang="en-US"/>
                </a:p>
              </p:txBody>
            </p:sp>
          </p:grpSp>
        </p:grpSp>
      </p:grpSp>
    </p:spTree>
    <p:extLst>
      <p:ext uri="{BB962C8B-B14F-4D97-AF65-F5344CB8AC3E}">
        <p14:creationId xmlns:p14="http://schemas.microsoft.com/office/powerpoint/2010/main" val="87054556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descr="グラフ, 散布図&#10;&#10;自動的に生成された説明">
            <a:extLst>
              <a:ext uri="{FF2B5EF4-FFF2-40B4-BE49-F238E27FC236}">
                <a16:creationId xmlns:a16="http://schemas.microsoft.com/office/drawing/2014/main" id="{774A2C67-CEAE-D2F7-CB2C-1A73CCC9137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0990" y="1600196"/>
            <a:ext cx="9144019" cy="3657607"/>
          </a:xfrm>
          <a:prstGeom prst="rect">
            <a:avLst/>
          </a:prstGeom>
        </p:spPr>
      </p:pic>
      <p:grpSp>
        <p:nvGrpSpPr>
          <p:cNvPr id="6" name="グラフィックス 2">
            <a:extLst>
              <a:ext uri="{FF2B5EF4-FFF2-40B4-BE49-F238E27FC236}">
                <a16:creationId xmlns:a16="http://schemas.microsoft.com/office/drawing/2014/main" id="{C91D8F2C-5B43-2E34-AC5C-E3CEB145E2D9}"/>
              </a:ext>
            </a:extLst>
          </p:cNvPr>
          <p:cNvGrpSpPr/>
          <p:nvPr/>
        </p:nvGrpSpPr>
        <p:grpSpPr>
          <a:xfrm>
            <a:off x="-8909050" y="1600203"/>
            <a:ext cx="17965840" cy="3657600"/>
            <a:chOff x="-8909050" y="1600203"/>
            <a:chExt cx="17965840" cy="3657600"/>
          </a:xfrm>
        </p:grpSpPr>
        <p:sp>
          <p:nvSpPr>
            <p:cNvPr id="7" name="フリーフォーム: 図形 6">
              <a:extLst>
                <a:ext uri="{FF2B5EF4-FFF2-40B4-BE49-F238E27FC236}">
                  <a16:creationId xmlns:a16="http://schemas.microsoft.com/office/drawing/2014/main" id="{DA381081-3CDF-14D8-02D1-356BB453DC83}"/>
                </a:ext>
              </a:extLst>
            </p:cNvPr>
            <p:cNvSpPr/>
            <p:nvPr/>
          </p:nvSpPr>
          <p:spPr>
            <a:xfrm>
              <a:off x="-8909050" y="1600203"/>
              <a:ext cx="9144000" cy="3657600"/>
            </a:xfrm>
            <a:custGeom>
              <a:avLst/>
              <a:gdLst>
                <a:gd name="connsiteX0" fmla="*/ 0 w 9144000"/>
                <a:gd name="connsiteY0" fmla="*/ 3657600 h 3657600"/>
                <a:gd name="connsiteX1" fmla="*/ 9144000 w 9144000"/>
                <a:gd name="connsiteY1" fmla="*/ 3657600 h 3657600"/>
                <a:gd name="connsiteX2" fmla="*/ 9144000 w 9144000"/>
                <a:gd name="connsiteY2" fmla="*/ 0 h 3657600"/>
                <a:gd name="connsiteX3" fmla="*/ 0 w 9144000"/>
                <a:gd name="connsiteY3" fmla="*/ 0 h 3657600"/>
              </a:gdLst>
              <a:ahLst/>
              <a:cxnLst>
                <a:cxn ang="0">
                  <a:pos x="connsiteX0" y="connsiteY0"/>
                </a:cxn>
                <a:cxn ang="0">
                  <a:pos x="connsiteX1" y="connsiteY1"/>
                </a:cxn>
                <a:cxn ang="0">
                  <a:pos x="connsiteX2" y="connsiteY2"/>
                </a:cxn>
                <a:cxn ang="0">
                  <a:pos x="connsiteX3" y="connsiteY3"/>
                </a:cxn>
              </a:cxnLst>
              <a:rect l="l" t="t" r="r" b="b"/>
              <a:pathLst>
                <a:path w="9144000" h="3657600">
                  <a:moveTo>
                    <a:pt x="0" y="3657600"/>
                  </a:moveTo>
                  <a:lnTo>
                    <a:pt x="9144000" y="3657600"/>
                  </a:lnTo>
                  <a:lnTo>
                    <a:pt x="9144000" y="0"/>
                  </a:lnTo>
                  <a:lnTo>
                    <a:pt x="0" y="0"/>
                  </a:lnTo>
                  <a:close/>
                </a:path>
              </a:pathLst>
            </a:custGeom>
            <a:solidFill>
              <a:srgbClr val="FFFFFF"/>
            </a:solidFill>
            <a:ln w="12700" cap="flat">
              <a:noFill/>
              <a:prstDash val="solid"/>
              <a:round/>
            </a:ln>
          </p:spPr>
          <p:txBody>
            <a:bodyPr rtlCol="0" anchor="ctr"/>
            <a:lstStyle/>
            <a:p>
              <a:endParaRPr lang="en-US"/>
            </a:p>
          </p:txBody>
        </p:sp>
        <p:grpSp>
          <p:nvGrpSpPr>
            <p:cNvPr id="8" name="グラフィックス 2">
              <a:extLst>
                <a:ext uri="{FF2B5EF4-FFF2-40B4-BE49-F238E27FC236}">
                  <a16:creationId xmlns:a16="http://schemas.microsoft.com/office/drawing/2014/main" id="{6B8D7C5D-C7E6-1E03-E9B6-839A094020B6}"/>
                </a:ext>
              </a:extLst>
            </p:cNvPr>
            <p:cNvGrpSpPr/>
            <p:nvPr/>
          </p:nvGrpSpPr>
          <p:grpSpPr>
            <a:xfrm>
              <a:off x="-8767587" y="1749578"/>
              <a:ext cx="17824377" cy="3365954"/>
              <a:chOff x="-8767587" y="1749578"/>
              <a:chExt cx="17824377" cy="3365954"/>
            </a:xfrm>
          </p:grpSpPr>
          <p:sp>
            <p:nvSpPr>
              <p:cNvPr id="9" name="フリーフォーム: 図形 8">
                <a:extLst>
                  <a:ext uri="{FF2B5EF4-FFF2-40B4-BE49-F238E27FC236}">
                    <a16:creationId xmlns:a16="http://schemas.microsoft.com/office/drawing/2014/main" id="{70F3728D-5C09-6E2C-4BD4-8C37B170A977}"/>
                  </a:ext>
                </a:extLst>
              </p:cNvPr>
              <p:cNvSpPr/>
              <p:nvPr/>
            </p:nvSpPr>
            <p:spPr>
              <a:xfrm>
                <a:off x="-8303005" y="1941578"/>
                <a:ext cx="8400796" cy="2962147"/>
              </a:xfrm>
              <a:custGeom>
                <a:avLst/>
                <a:gdLst>
                  <a:gd name="connsiteX0" fmla="*/ 0 w 8400796"/>
                  <a:gd name="connsiteY0" fmla="*/ 2962148 h 2962147"/>
                  <a:gd name="connsiteX1" fmla="*/ 8400796 w 8400796"/>
                  <a:gd name="connsiteY1" fmla="*/ 2962148 h 2962147"/>
                  <a:gd name="connsiteX2" fmla="*/ 8400796 w 8400796"/>
                  <a:gd name="connsiteY2" fmla="*/ 0 h 2962147"/>
                  <a:gd name="connsiteX3" fmla="*/ 0 w 8400796"/>
                  <a:gd name="connsiteY3" fmla="*/ 0 h 2962147"/>
                </a:gdLst>
                <a:ahLst/>
                <a:cxnLst>
                  <a:cxn ang="0">
                    <a:pos x="connsiteX0" y="connsiteY0"/>
                  </a:cxn>
                  <a:cxn ang="0">
                    <a:pos x="connsiteX1" y="connsiteY1"/>
                  </a:cxn>
                  <a:cxn ang="0">
                    <a:pos x="connsiteX2" y="connsiteY2"/>
                  </a:cxn>
                  <a:cxn ang="0">
                    <a:pos x="connsiteX3" y="connsiteY3"/>
                  </a:cxn>
                </a:cxnLst>
                <a:rect l="l" t="t" r="r" b="b"/>
                <a:pathLst>
                  <a:path w="8400796" h="2962147">
                    <a:moveTo>
                      <a:pt x="0" y="2962148"/>
                    </a:moveTo>
                    <a:lnTo>
                      <a:pt x="8400796" y="2962148"/>
                    </a:lnTo>
                    <a:lnTo>
                      <a:pt x="8400796" y="0"/>
                    </a:lnTo>
                    <a:lnTo>
                      <a:pt x="0" y="0"/>
                    </a:lnTo>
                    <a:close/>
                  </a:path>
                </a:pathLst>
              </a:custGeom>
              <a:solidFill>
                <a:srgbClr val="FFFFFF"/>
              </a:solidFill>
              <a:ln w="12700" cap="flat">
                <a:noFill/>
                <a:prstDash val="solid"/>
                <a:round/>
              </a:ln>
            </p:spPr>
            <p:txBody>
              <a:bodyPr rtlCol="0" anchor="ctr"/>
              <a:lstStyle/>
              <a:p>
                <a:endParaRPr lang="en-US"/>
              </a:p>
            </p:txBody>
          </p:sp>
          <p:grpSp>
            <p:nvGrpSpPr>
              <p:cNvPr id="10" name="グラフィックス 2">
                <a:extLst>
                  <a:ext uri="{FF2B5EF4-FFF2-40B4-BE49-F238E27FC236}">
                    <a16:creationId xmlns:a16="http://schemas.microsoft.com/office/drawing/2014/main" id="{95E60AED-A494-8579-A1D6-8B74D7DB6F2D}"/>
                  </a:ext>
                </a:extLst>
              </p:cNvPr>
              <p:cNvGrpSpPr/>
              <p:nvPr/>
            </p:nvGrpSpPr>
            <p:grpSpPr>
              <a:xfrm>
                <a:off x="-8025608" y="1941578"/>
                <a:ext cx="7856541" cy="3173954"/>
                <a:chOff x="-8025608" y="1941578"/>
                <a:chExt cx="7856541" cy="3173954"/>
              </a:xfrm>
            </p:grpSpPr>
            <p:grpSp>
              <p:nvGrpSpPr>
                <p:cNvPr id="11" name="グラフィックス 2">
                  <a:extLst>
                    <a:ext uri="{FF2B5EF4-FFF2-40B4-BE49-F238E27FC236}">
                      <a16:creationId xmlns:a16="http://schemas.microsoft.com/office/drawing/2014/main" id="{2F9A4446-F4C2-91B3-FDEA-BA8D1C4C23A1}"/>
                    </a:ext>
                  </a:extLst>
                </p:cNvPr>
                <p:cNvGrpSpPr/>
                <p:nvPr/>
              </p:nvGrpSpPr>
              <p:grpSpPr>
                <a:xfrm>
                  <a:off x="-8025608" y="1941578"/>
                  <a:ext cx="191559" cy="3172962"/>
                  <a:chOff x="-8025608" y="1941578"/>
                  <a:chExt cx="191559" cy="3172962"/>
                </a:xfrm>
              </p:grpSpPr>
              <p:sp>
                <p:nvSpPr>
                  <p:cNvPr id="12" name="フリーフォーム: 図形 11">
                    <a:extLst>
                      <a:ext uri="{FF2B5EF4-FFF2-40B4-BE49-F238E27FC236}">
                        <a16:creationId xmlns:a16="http://schemas.microsoft.com/office/drawing/2014/main" id="{447F199C-399E-C50E-ADA5-48B42BDCB7EB}"/>
                      </a:ext>
                    </a:extLst>
                  </p:cNvPr>
                  <p:cNvSpPr/>
                  <p:nvPr/>
                </p:nvSpPr>
                <p:spPr>
                  <a:xfrm>
                    <a:off x="-7921151" y="1941578"/>
                    <a:ext cx="12700" cy="2962147"/>
                  </a:xfrm>
                  <a:custGeom>
                    <a:avLst/>
                    <a:gdLst>
                      <a:gd name="connsiteX0" fmla="*/ 0 w 12700"/>
                      <a:gd name="connsiteY0" fmla="*/ 2962148 h 2962147"/>
                      <a:gd name="connsiteX1" fmla="*/ 0 w 12700"/>
                      <a:gd name="connsiteY1" fmla="*/ 0 h 2962147"/>
                    </a:gdLst>
                    <a:ahLst/>
                    <a:cxnLst>
                      <a:cxn ang="0">
                        <a:pos x="connsiteX0" y="connsiteY0"/>
                      </a:cxn>
                      <a:cxn ang="0">
                        <a:pos x="connsiteX1" y="connsiteY1"/>
                      </a:cxn>
                    </a:cxnLst>
                    <a:rect l="l" t="t" r="r" b="b"/>
                    <a:pathLst>
                      <a:path w="12700" h="2962147">
                        <a:moveTo>
                          <a:pt x="0" y="2962148"/>
                        </a:moveTo>
                        <a:lnTo>
                          <a:pt x="0" y="0"/>
                        </a:lnTo>
                      </a:path>
                    </a:pathLst>
                  </a:custGeom>
                  <a:noFill/>
                  <a:ln w="10160" cap="sq">
                    <a:solidFill>
                      <a:srgbClr val="B0B0B0"/>
                    </a:solidFill>
                    <a:prstDash val="solid"/>
                    <a:round/>
                  </a:ln>
                </p:spPr>
                <p:txBody>
                  <a:bodyPr rtlCol="0" anchor="ctr"/>
                  <a:lstStyle/>
                  <a:p>
                    <a:endParaRPr lang="en-US"/>
                  </a:p>
                </p:txBody>
              </p:sp>
              <p:sp>
                <p:nvSpPr>
                  <p:cNvPr id="13" name="フリーフォーム: 図形 12">
                    <a:extLst>
                      <a:ext uri="{FF2B5EF4-FFF2-40B4-BE49-F238E27FC236}">
                        <a16:creationId xmlns:a16="http://schemas.microsoft.com/office/drawing/2014/main" id="{C10BF8D3-4D83-D166-107B-E77FE2DE137E}"/>
                      </a:ext>
                    </a:extLst>
                  </p:cNvPr>
                  <p:cNvSpPr/>
                  <p:nvPr/>
                </p:nvSpPr>
                <p:spPr>
                  <a:xfrm>
                    <a:off x="-7921151" y="4903727"/>
                    <a:ext cx="12700" cy="44450"/>
                  </a:xfrm>
                  <a:custGeom>
                    <a:avLst/>
                    <a:gdLst>
                      <a:gd name="connsiteX0" fmla="*/ 78 w 12700"/>
                      <a:gd name="connsiteY0" fmla="*/ 260 h 44450"/>
                      <a:gd name="connsiteX1" fmla="*/ 78 w 12700"/>
                      <a:gd name="connsiteY1" fmla="*/ 44710 h 44450"/>
                    </a:gdLst>
                    <a:ahLst/>
                    <a:cxnLst>
                      <a:cxn ang="0">
                        <a:pos x="connsiteX0" y="connsiteY0"/>
                      </a:cxn>
                      <a:cxn ang="0">
                        <a:pos x="connsiteX1" y="connsiteY1"/>
                      </a:cxn>
                    </a:cxnLst>
                    <a:rect l="l" t="t" r="r" b="b"/>
                    <a:pathLst>
                      <a:path w="12700" h="44450">
                        <a:moveTo>
                          <a:pt x="78" y="260"/>
                        </a:moveTo>
                        <a:lnTo>
                          <a:pt x="78" y="44710"/>
                        </a:lnTo>
                      </a:path>
                    </a:pathLst>
                  </a:custGeom>
                  <a:solidFill>
                    <a:srgbClr val="000000"/>
                  </a:solidFill>
                  <a:ln w="10160" cap="flat">
                    <a:solidFill>
                      <a:srgbClr val="000000"/>
                    </a:solidFill>
                    <a:prstDash val="solid"/>
                    <a:round/>
                  </a:ln>
                </p:spPr>
                <p:txBody>
                  <a:bodyPr rtlCol="0" anchor="ctr"/>
                  <a:lstStyle/>
                  <a:p>
                    <a:endParaRPr lang="en-US"/>
                  </a:p>
                </p:txBody>
              </p:sp>
              <p:grpSp>
                <p:nvGrpSpPr>
                  <p:cNvPr id="14" name="グラフィックス 2">
                    <a:extLst>
                      <a:ext uri="{FF2B5EF4-FFF2-40B4-BE49-F238E27FC236}">
                        <a16:creationId xmlns:a16="http://schemas.microsoft.com/office/drawing/2014/main" id="{2FAA13DD-8817-D813-46DF-D2DEF0B1D019}"/>
                      </a:ext>
                    </a:extLst>
                  </p:cNvPr>
                  <p:cNvGrpSpPr/>
                  <p:nvPr/>
                </p:nvGrpSpPr>
                <p:grpSpPr>
                  <a:xfrm>
                    <a:off x="-8025608" y="4996530"/>
                    <a:ext cx="191559" cy="118010"/>
                    <a:chOff x="-8025608" y="4996530"/>
                    <a:chExt cx="191559" cy="118010"/>
                  </a:xfrm>
                  <a:solidFill>
                    <a:srgbClr val="000000"/>
                  </a:solidFill>
                </p:grpSpPr>
                <p:sp>
                  <p:nvSpPr>
                    <p:cNvPr id="15" name="フリーフォーム: 図形 14">
                      <a:extLst>
                        <a:ext uri="{FF2B5EF4-FFF2-40B4-BE49-F238E27FC236}">
                          <a16:creationId xmlns:a16="http://schemas.microsoft.com/office/drawing/2014/main" id="{694ADFD6-8C21-507D-8367-CDDE2CCE90B4}"/>
                        </a:ext>
                      </a:extLst>
                    </p:cNvPr>
                    <p:cNvSpPr/>
                    <p:nvPr/>
                  </p:nvSpPr>
                  <p:spPr>
                    <a:xfrm flipV="1">
                      <a:off x="-8025608" y="4996530"/>
                      <a:ext cx="31551" cy="118010"/>
                    </a:xfrm>
                    <a:custGeom>
                      <a:avLst/>
                      <a:gdLst>
                        <a:gd name="connsiteX0" fmla="*/ 18637 w 31551"/>
                        <a:gd name="connsiteY0" fmla="*/ 116590 h 118010"/>
                        <a:gd name="connsiteX1" fmla="*/ 31158 w 31551"/>
                        <a:gd name="connsiteY1" fmla="*/ 116590 h 118010"/>
                        <a:gd name="connsiteX2" fmla="*/ 31158 w 31551"/>
                        <a:gd name="connsiteY2" fmla="*/ 30449 h 118010"/>
                        <a:gd name="connsiteX3" fmla="*/ 24808 w 31551"/>
                        <a:gd name="connsiteY3" fmla="*/ 6140 h 118010"/>
                        <a:gd name="connsiteX4" fmla="*/ 4369 w 31551"/>
                        <a:gd name="connsiteY4" fmla="*/ -1420 h 118010"/>
                        <a:gd name="connsiteX5" fmla="*/ -393 w 31551"/>
                        <a:gd name="connsiteY5" fmla="*/ -1420 h 118010"/>
                        <a:gd name="connsiteX6" fmla="*/ -393 w 31551"/>
                        <a:gd name="connsiteY6" fmla="*/ 9117 h 118010"/>
                        <a:gd name="connsiteX7" fmla="*/ 3516 w 31551"/>
                        <a:gd name="connsiteY7" fmla="*/ 9117 h 118010"/>
                        <a:gd name="connsiteX8" fmla="*/ 15224 w 31551"/>
                        <a:gd name="connsiteY8" fmla="*/ 13780 h 118010"/>
                        <a:gd name="connsiteX9" fmla="*/ 18637 w 31551"/>
                        <a:gd name="connsiteY9" fmla="*/ 30449 h 118010"/>
                        <a:gd name="connsiteX10" fmla="*/ 18637 w 31551"/>
                        <a:gd name="connsiteY10" fmla="*/ 116590 h 118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1551" h="118010">
                          <a:moveTo>
                            <a:pt x="18637" y="116590"/>
                          </a:moveTo>
                          <a:lnTo>
                            <a:pt x="31158" y="116590"/>
                          </a:lnTo>
                          <a:lnTo>
                            <a:pt x="31158" y="30449"/>
                          </a:lnTo>
                          <a:cubicBezTo>
                            <a:pt x="31158" y="19283"/>
                            <a:pt x="29042" y="11180"/>
                            <a:pt x="24808" y="6140"/>
                          </a:cubicBezTo>
                          <a:cubicBezTo>
                            <a:pt x="20575" y="1100"/>
                            <a:pt x="13762" y="-1420"/>
                            <a:pt x="4369" y="-1420"/>
                          </a:cubicBezTo>
                          <a:lnTo>
                            <a:pt x="-393" y="-1420"/>
                          </a:lnTo>
                          <a:lnTo>
                            <a:pt x="-393" y="9117"/>
                          </a:lnTo>
                          <a:lnTo>
                            <a:pt x="3516" y="9117"/>
                          </a:lnTo>
                          <a:cubicBezTo>
                            <a:pt x="9046" y="9117"/>
                            <a:pt x="12948" y="10671"/>
                            <a:pt x="15224" y="13780"/>
                          </a:cubicBezTo>
                          <a:cubicBezTo>
                            <a:pt x="17499" y="16876"/>
                            <a:pt x="18637" y="22432"/>
                            <a:pt x="18637" y="30449"/>
                          </a:cubicBezTo>
                          <a:lnTo>
                            <a:pt x="18637" y="116590"/>
                          </a:lnTo>
                          <a:close/>
                        </a:path>
                      </a:pathLst>
                    </a:custGeom>
                    <a:solidFill>
                      <a:srgbClr val="000000"/>
                    </a:solidFill>
                    <a:ln w="20" cap="flat">
                      <a:noFill/>
                      <a:prstDash val="solid"/>
                      <a:round/>
                    </a:ln>
                  </p:spPr>
                  <p:txBody>
                    <a:bodyPr rtlCol="0" anchor="ctr"/>
                    <a:lstStyle/>
                    <a:p>
                      <a:endParaRPr lang="en-US"/>
                    </a:p>
                  </p:txBody>
                </p:sp>
                <p:sp>
                  <p:nvSpPr>
                    <p:cNvPr id="16" name="フリーフォーム: 図形 15">
                      <a:extLst>
                        <a:ext uri="{FF2B5EF4-FFF2-40B4-BE49-F238E27FC236}">
                          <a16:creationId xmlns:a16="http://schemas.microsoft.com/office/drawing/2014/main" id="{BB27A03F-B897-5E9C-3FCC-6E18F39BA8F8}"/>
                        </a:ext>
                      </a:extLst>
                    </p:cNvPr>
                    <p:cNvSpPr/>
                    <p:nvPr/>
                  </p:nvSpPr>
                  <p:spPr>
                    <a:xfrm flipV="1">
                      <a:off x="-7973965" y="5018001"/>
                      <a:ext cx="58677" cy="72925"/>
                    </a:xfrm>
                    <a:custGeom>
                      <a:avLst/>
                      <a:gdLst>
                        <a:gd name="connsiteX0" fmla="*/ 34131 w 58677"/>
                        <a:gd name="connsiteY0" fmla="*/ 35236 h 72925"/>
                        <a:gd name="connsiteX1" fmla="*/ 14962 w 58677"/>
                        <a:gd name="connsiteY1" fmla="*/ 32081 h 72925"/>
                        <a:gd name="connsiteX2" fmla="*/ 9624 w 58677"/>
                        <a:gd name="connsiteY2" fmla="*/ 21286 h 72925"/>
                        <a:gd name="connsiteX3" fmla="*/ 13632 w 58677"/>
                        <a:gd name="connsiteY3" fmla="*/ 11642 h 72925"/>
                        <a:gd name="connsiteX4" fmla="*/ 24506 w 58677"/>
                        <a:gd name="connsiteY4" fmla="*/ 8090 h 72925"/>
                        <a:gd name="connsiteX5" fmla="*/ 39746 w 58677"/>
                        <a:gd name="connsiteY5" fmla="*/ 14817 h 72925"/>
                        <a:gd name="connsiteX6" fmla="*/ 45481 w 58677"/>
                        <a:gd name="connsiteY6" fmla="*/ 32696 h 72925"/>
                        <a:gd name="connsiteX7" fmla="*/ 45481 w 58677"/>
                        <a:gd name="connsiteY7" fmla="*/ 35236 h 72925"/>
                        <a:gd name="connsiteX8" fmla="*/ 34131 w 58677"/>
                        <a:gd name="connsiteY8" fmla="*/ 35236 h 72925"/>
                        <a:gd name="connsiteX9" fmla="*/ 56891 w 58677"/>
                        <a:gd name="connsiteY9" fmla="*/ 39959 h 72925"/>
                        <a:gd name="connsiteX10" fmla="*/ 56891 w 58677"/>
                        <a:gd name="connsiteY10" fmla="*/ 331 h 72925"/>
                        <a:gd name="connsiteX11" fmla="*/ 45481 w 58677"/>
                        <a:gd name="connsiteY11" fmla="*/ 331 h 72925"/>
                        <a:gd name="connsiteX12" fmla="*/ 45481 w 58677"/>
                        <a:gd name="connsiteY12" fmla="*/ 10868 h 72925"/>
                        <a:gd name="connsiteX13" fmla="*/ 35738 w 58677"/>
                        <a:gd name="connsiteY13" fmla="*/ 1542 h 72925"/>
                        <a:gd name="connsiteX14" fmla="*/ 21470 w 58677"/>
                        <a:gd name="connsiteY14" fmla="*/ -1475 h 72925"/>
                        <a:gd name="connsiteX15" fmla="*/ 4504 w 58677"/>
                        <a:gd name="connsiteY15" fmla="*/ 4518 h 72925"/>
                        <a:gd name="connsiteX16" fmla="*/ -1787 w 58677"/>
                        <a:gd name="connsiteY16" fmla="*/ 20552 h 72925"/>
                        <a:gd name="connsiteX17" fmla="*/ 6052 w 58677"/>
                        <a:gd name="connsiteY17" fmla="*/ 38213 h 72925"/>
                        <a:gd name="connsiteX18" fmla="*/ 29467 w 58677"/>
                        <a:gd name="connsiteY18" fmla="*/ 44166 h 72925"/>
                        <a:gd name="connsiteX19" fmla="*/ 45481 w 58677"/>
                        <a:gd name="connsiteY19" fmla="*/ 44166 h 72925"/>
                        <a:gd name="connsiteX20" fmla="*/ 45481 w 58677"/>
                        <a:gd name="connsiteY20" fmla="*/ 45297 h 72925"/>
                        <a:gd name="connsiteX21" fmla="*/ 40302 w 58677"/>
                        <a:gd name="connsiteY21" fmla="*/ 57481 h 72925"/>
                        <a:gd name="connsiteX22" fmla="*/ 25757 w 58677"/>
                        <a:gd name="connsiteY22" fmla="*/ 61787 h 72925"/>
                        <a:gd name="connsiteX23" fmla="*/ 14148 w 58677"/>
                        <a:gd name="connsiteY23" fmla="*/ 60359 h 72925"/>
                        <a:gd name="connsiteX24" fmla="*/ 3313 w 58677"/>
                        <a:gd name="connsiteY24" fmla="*/ 56072 h 72925"/>
                        <a:gd name="connsiteX25" fmla="*/ 3313 w 58677"/>
                        <a:gd name="connsiteY25" fmla="*/ 66629 h 72925"/>
                        <a:gd name="connsiteX26" fmla="*/ 15458 w 58677"/>
                        <a:gd name="connsiteY26" fmla="*/ 70241 h 72925"/>
                        <a:gd name="connsiteX27" fmla="*/ 26927 w 58677"/>
                        <a:gd name="connsiteY27" fmla="*/ 71451 h 72925"/>
                        <a:gd name="connsiteX28" fmla="*/ 49450 w 58677"/>
                        <a:gd name="connsiteY28" fmla="*/ 63633 h 72925"/>
                        <a:gd name="connsiteX29" fmla="*/ 56891 w 58677"/>
                        <a:gd name="connsiteY29" fmla="*/ 39959 h 7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8677" h="72925">
                          <a:moveTo>
                            <a:pt x="34131" y="35236"/>
                          </a:moveTo>
                          <a:cubicBezTo>
                            <a:pt x="24910" y="35236"/>
                            <a:pt x="18520" y="34185"/>
                            <a:pt x="14962" y="32081"/>
                          </a:cubicBezTo>
                          <a:cubicBezTo>
                            <a:pt x="11403" y="29978"/>
                            <a:pt x="9624" y="26380"/>
                            <a:pt x="9624" y="21286"/>
                          </a:cubicBezTo>
                          <a:cubicBezTo>
                            <a:pt x="9624" y="17238"/>
                            <a:pt x="10960" y="14023"/>
                            <a:pt x="13632" y="11642"/>
                          </a:cubicBezTo>
                          <a:cubicBezTo>
                            <a:pt x="16304" y="9274"/>
                            <a:pt x="19929" y="8090"/>
                            <a:pt x="24506" y="8090"/>
                          </a:cubicBezTo>
                          <a:cubicBezTo>
                            <a:pt x="30843" y="8090"/>
                            <a:pt x="35923" y="10333"/>
                            <a:pt x="39746" y="14817"/>
                          </a:cubicBezTo>
                          <a:cubicBezTo>
                            <a:pt x="43570" y="19302"/>
                            <a:pt x="45481" y="25262"/>
                            <a:pt x="45481" y="32696"/>
                          </a:cubicBezTo>
                          <a:lnTo>
                            <a:pt x="45481" y="35236"/>
                          </a:lnTo>
                          <a:lnTo>
                            <a:pt x="34131" y="35236"/>
                          </a:lnTo>
                          <a:close/>
                          <a:moveTo>
                            <a:pt x="56891" y="39959"/>
                          </a:moveTo>
                          <a:lnTo>
                            <a:pt x="56891" y="331"/>
                          </a:lnTo>
                          <a:lnTo>
                            <a:pt x="45481" y="331"/>
                          </a:lnTo>
                          <a:lnTo>
                            <a:pt x="45481" y="10868"/>
                          </a:lnTo>
                          <a:cubicBezTo>
                            <a:pt x="42875" y="6661"/>
                            <a:pt x="39627" y="3553"/>
                            <a:pt x="35738" y="1542"/>
                          </a:cubicBezTo>
                          <a:cubicBezTo>
                            <a:pt x="31849" y="-469"/>
                            <a:pt x="27093" y="-1475"/>
                            <a:pt x="21470" y="-1475"/>
                          </a:cubicBezTo>
                          <a:cubicBezTo>
                            <a:pt x="14366" y="-1475"/>
                            <a:pt x="8711" y="523"/>
                            <a:pt x="4504" y="4518"/>
                          </a:cubicBezTo>
                          <a:cubicBezTo>
                            <a:pt x="310" y="8514"/>
                            <a:pt x="-1787" y="13858"/>
                            <a:pt x="-1787" y="20552"/>
                          </a:cubicBezTo>
                          <a:cubicBezTo>
                            <a:pt x="-1787" y="28357"/>
                            <a:pt x="826" y="34244"/>
                            <a:pt x="6052" y="38213"/>
                          </a:cubicBezTo>
                          <a:cubicBezTo>
                            <a:pt x="11290" y="42182"/>
                            <a:pt x="19096" y="44166"/>
                            <a:pt x="29467" y="44166"/>
                          </a:cubicBezTo>
                          <a:lnTo>
                            <a:pt x="45481" y="44166"/>
                          </a:lnTo>
                          <a:lnTo>
                            <a:pt x="45481" y="45297"/>
                          </a:lnTo>
                          <a:cubicBezTo>
                            <a:pt x="45481" y="50549"/>
                            <a:pt x="43755" y="54610"/>
                            <a:pt x="40302" y="57481"/>
                          </a:cubicBezTo>
                          <a:cubicBezTo>
                            <a:pt x="36849" y="60352"/>
                            <a:pt x="32001" y="61787"/>
                            <a:pt x="25757" y="61787"/>
                          </a:cubicBezTo>
                          <a:cubicBezTo>
                            <a:pt x="21788" y="61787"/>
                            <a:pt x="17918" y="61311"/>
                            <a:pt x="14148" y="60359"/>
                          </a:cubicBezTo>
                          <a:cubicBezTo>
                            <a:pt x="10391" y="59406"/>
                            <a:pt x="6779" y="57977"/>
                            <a:pt x="3313" y="56072"/>
                          </a:cubicBezTo>
                          <a:lnTo>
                            <a:pt x="3313" y="66629"/>
                          </a:lnTo>
                          <a:cubicBezTo>
                            <a:pt x="7480" y="68243"/>
                            <a:pt x="11529" y="69447"/>
                            <a:pt x="15458" y="70241"/>
                          </a:cubicBezTo>
                          <a:cubicBezTo>
                            <a:pt x="19387" y="71048"/>
                            <a:pt x="23210" y="71451"/>
                            <a:pt x="26927" y="71451"/>
                          </a:cubicBezTo>
                          <a:cubicBezTo>
                            <a:pt x="36982" y="71451"/>
                            <a:pt x="44489" y="68845"/>
                            <a:pt x="49450" y="63633"/>
                          </a:cubicBezTo>
                          <a:cubicBezTo>
                            <a:pt x="54411" y="58434"/>
                            <a:pt x="56891" y="50543"/>
                            <a:pt x="56891" y="39959"/>
                          </a:cubicBezTo>
                          <a:close/>
                        </a:path>
                      </a:pathLst>
                    </a:custGeom>
                    <a:solidFill>
                      <a:srgbClr val="000000"/>
                    </a:solidFill>
                    <a:ln w="20" cap="flat">
                      <a:noFill/>
                      <a:prstDash val="solid"/>
                      <a:round/>
                    </a:ln>
                  </p:spPr>
                  <p:txBody>
                    <a:bodyPr rtlCol="0" anchor="ctr"/>
                    <a:lstStyle/>
                    <a:p>
                      <a:endParaRPr lang="en-US"/>
                    </a:p>
                  </p:txBody>
                </p:sp>
                <p:sp>
                  <p:nvSpPr>
                    <p:cNvPr id="17" name="フリーフォーム: 図形 16">
                      <a:extLst>
                        <a:ext uri="{FF2B5EF4-FFF2-40B4-BE49-F238E27FC236}">
                          <a16:creationId xmlns:a16="http://schemas.microsoft.com/office/drawing/2014/main" id="{1CE1BD7C-C707-5A51-81D4-791BDD965FDD}"/>
                        </a:ext>
                      </a:extLst>
                    </p:cNvPr>
                    <p:cNvSpPr/>
                    <p:nvPr/>
                  </p:nvSpPr>
                  <p:spPr>
                    <a:xfrm flipV="1">
                      <a:off x="-7892231" y="5018001"/>
                      <a:ext cx="58181" cy="71119"/>
                    </a:xfrm>
                    <a:custGeom>
                      <a:avLst/>
                      <a:gdLst>
                        <a:gd name="connsiteX0" fmla="*/ 56217 w 58181"/>
                        <a:gd name="connsiteY0" fmla="*/ 40410 h 71119"/>
                        <a:gd name="connsiteX1" fmla="*/ 56217 w 58181"/>
                        <a:gd name="connsiteY1" fmla="*/ -1520 h 71119"/>
                        <a:gd name="connsiteX2" fmla="*/ 44807 w 58181"/>
                        <a:gd name="connsiteY2" fmla="*/ -1520 h 71119"/>
                        <a:gd name="connsiteX3" fmla="*/ 44807 w 58181"/>
                        <a:gd name="connsiteY3" fmla="*/ 40033 h 71119"/>
                        <a:gd name="connsiteX4" fmla="*/ 40957 w 58181"/>
                        <a:gd name="connsiteY4" fmla="*/ 54777 h 71119"/>
                        <a:gd name="connsiteX5" fmla="*/ 29428 w 58181"/>
                        <a:gd name="connsiteY5" fmla="*/ 59678 h 71119"/>
                        <a:gd name="connsiteX6" fmla="*/ 14843 w 58181"/>
                        <a:gd name="connsiteY6" fmla="*/ 53784 h 71119"/>
                        <a:gd name="connsiteX7" fmla="*/ 9505 w 58181"/>
                        <a:gd name="connsiteY7" fmla="*/ 37731 h 71119"/>
                        <a:gd name="connsiteX8" fmla="*/ 9505 w 58181"/>
                        <a:gd name="connsiteY8" fmla="*/ -1520 h 71119"/>
                        <a:gd name="connsiteX9" fmla="*/ -1965 w 58181"/>
                        <a:gd name="connsiteY9" fmla="*/ -1520 h 71119"/>
                        <a:gd name="connsiteX10" fmla="*/ -1965 w 58181"/>
                        <a:gd name="connsiteY10" fmla="*/ 67933 h 71119"/>
                        <a:gd name="connsiteX11" fmla="*/ 9505 w 58181"/>
                        <a:gd name="connsiteY11" fmla="*/ 67933 h 71119"/>
                        <a:gd name="connsiteX12" fmla="*/ 9505 w 58181"/>
                        <a:gd name="connsiteY12" fmla="*/ 57138 h 71119"/>
                        <a:gd name="connsiteX13" fmla="*/ 19149 w 58181"/>
                        <a:gd name="connsiteY13" fmla="*/ 66504 h 71119"/>
                        <a:gd name="connsiteX14" fmla="*/ 31968 w 58181"/>
                        <a:gd name="connsiteY14" fmla="*/ 69600 h 71119"/>
                        <a:gd name="connsiteX15" fmla="*/ 50066 w 58181"/>
                        <a:gd name="connsiteY15" fmla="*/ 62198 h 71119"/>
                        <a:gd name="connsiteX16" fmla="*/ 56217 w 58181"/>
                        <a:gd name="connsiteY16" fmla="*/ 40410 h 711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58181" h="71119">
                          <a:moveTo>
                            <a:pt x="56217" y="40410"/>
                          </a:moveTo>
                          <a:lnTo>
                            <a:pt x="56217" y="-1520"/>
                          </a:lnTo>
                          <a:lnTo>
                            <a:pt x="44807" y="-1520"/>
                          </a:lnTo>
                          <a:lnTo>
                            <a:pt x="44807" y="40033"/>
                          </a:lnTo>
                          <a:cubicBezTo>
                            <a:pt x="44807" y="46608"/>
                            <a:pt x="43524" y="51522"/>
                            <a:pt x="40957" y="54777"/>
                          </a:cubicBezTo>
                          <a:cubicBezTo>
                            <a:pt x="38391" y="58044"/>
                            <a:pt x="34548" y="59678"/>
                            <a:pt x="29428" y="59678"/>
                          </a:cubicBezTo>
                          <a:cubicBezTo>
                            <a:pt x="23263" y="59678"/>
                            <a:pt x="18402" y="57714"/>
                            <a:pt x="14843" y="53784"/>
                          </a:cubicBezTo>
                          <a:cubicBezTo>
                            <a:pt x="11284" y="49869"/>
                            <a:pt x="9505" y="44517"/>
                            <a:pt x="9505" y="37731"/>
                          </a:cubicBezTo>
                          <a:lnTo>
                            <a:pt x="9505" y="-1520"/>
                          </a:lnTo>
                          <a:lnTo>
                            <a:pt x="-1965" y="-1520"/>
                          </a:lnTo>
                          <a:lnTo>
                            <a:pt x="-1965" y="67933"/>
                          </a:lnTo>
                          <a:lnTo>
                            <a:pt x="9505" y="67933"/>
                          </a:lnTo>
                          <a:lnTo>
                            <a:pt x="9505" y="57138"/>
                          </a:lnTo>
                          <a:cubicBezTo>
                            <a:pt x="12243" y="61319"/>
                            <a:pt x="15458" y="64441"/>
                            <a:pt x="19149" y="66504"/>
                          </a:cubicBezTo>
                          <a:cubicBezTo>
                            <a:pt x="22853" y="68568"/>
                            <a:pt x="27126" y="69600"/>
                            <a:pt x="31968" y="69600"/>
                          </a:cubicBezTo>
                          <a:cubicBezTo>
                            <a:pt x="39945" y="69600"/>
                            <a:pt x="45978" y="67133"/>
                            <a:pt x="50066" y="62198"/>
                          </a:cubicBezTo>
                          <a:cubicBezTo>
                            <a:pt x="54167" y="57264"/>
                            <a:pt x="56217" y="50001"/>
                            <a:pt x="56217" y="40410"/>
                          </a:cubicBezTo>
                          <a:close/>
                        </a:path>
                      </a:pathLst>
                    </a:custGeom>
                    <a:solidFill>
                      <a:srgbClr val="000000"/>
                    </a:solidFill>
                    <a:ln w="20" cap="flat">
                      <a:noFill/>
                      <a:prstDash val="solid"/>
                      <a:round/>
                    </a:ln>
                  </p:spPr>
                  <p:txBody>
                    <a:bodyPr rtlCol="0" anchor="ctr"/>
                    <a:lstStyle/>
                    <a:p>
                      <a:endParaRPr lang="en-US"/>
                    </a:p>
                  </p:txBody>
                </p:sp>
              </p:grpSp>
            </p:grpSp>
            <p:grpSp>
              <p:nvGrpSpPr>
                <p:cNvPr id="18" name="グラフィックス 2">
                  <a:extLst>
                    <a:ext uri="{FF2B5EF4-FFF2-40B4-BE49-F238E27FC236}">
                      <a16:creationId xmlns:a16="http://schemas.microsoft.com/office/drawing/2014/main" id="{7ECDC387-9273-FD0F-48DD-45C1A24869EE}"/>
                    </a:ext>
                  </a:extLst>
                </p:cNvPr>
                <p:cNvGrpSpPr/>
                <p:nvPr/>
              </p:nvGrpSpPr>
              <p:grpSpPr>
                <a:xfrm>
                  <a:off x="-7326830" y="1941578"/>
                  <a:ext cx="205417" cy="3149348"/>
                  <a:chOff x="-7326830" y="1941578"/>
                  <a:chExt cx="205417" cy="3149348"/>
                </a:xfrm>
              </p:grpSpPr>
              <p:sp>
                <p:nvSpPr>
                  <p:cNvPr id="19" name="フリーフォーム: 図形 18">
                    <a:extLst>
                      <a:ext uri="{FF2B5EF4-FFF2-40B4-BE49-F238E27FC236}">
                        <a16:creationId xmlns:a16="http://schemas.microsoft.com/office/drawing/2014/main" id="{4DBFCC2E-1409-80DF-FF7E-6DB8DCCD217D}"/>
                      </a:ext>
                    </a:extLst>
                  </p:cNvPr>
                  <p:cNvSpPr/>
                  <p:nvPr/>
                </p:nvSpPr>
                <p:spPr>
                  <a:xfrm>
                    <a:off x="-7226871" y="1941578"/>
                    <a:ext cx="12700" cy="2962147"/>
                  </a:xfrm>
                  <a:custGeom>
                    <a:avLst/>
                    <a:gdLst>
                      <a:gd name="connsiteX0" fmla="*/ 0 w 12700"/>
                      <a:gd name="connsiteY0" fmla="*/ 2962148 h 2962147"/>
                      <a:gd name="connsiteX1" fmla="*/ 0 w 12700"/>
                      <a:gd name="connsiteY1" fmla="*/ 0 h 2962147"/>
                    </a:gdLst>
                    <a:ahLst/>
                    <a:cxnLst>
                      <a:cxn ang="0">
                        <a:pos x="connsiteX0" y="connsiteY0"/>
                      </a:cxn>
                      <a:cxn ang="0">
                        <a:pos x="connsiteX1" y="connsiteY1"/>
                      </a:cxn>
                    </a:cxnLst>
                    <a:rect l="l" t="t" r="r" b="b"/>
                    <a:pathLst>
                      <a:path w="12700" h="2962147">
                        <a:moveTo>
                          <a:pt x="0" y="2962148"/>
                        </a:moveTo>
                        <a:lnTo>
                          <a:pt x="0" y="0"/>
                        </a:lnTo>
                      </a:path>
                    </a:pathLst>
                  </a:custGeom>
                  <a:noFill/>
                  <a:ln w="10160" cap="sq">
                    <a:solidFill>
                      <a:srgbClr val="B0B0B0"/>
                    </a:solidFill>
                    <a:prstDash val="solid"/>
                    <a:round/>
                  </a:ln>
                </p:spPr>
                <p:txBody>
                  <a:bodyPr rtlCol="0" anchor="ctr"/>
                  <a:lstStyle/>
                  <a:p>
                    <a:endParaRPr lang="en-US"/>
                  </a:p>
                </p:txBody>
              </p:sp>
              <p:sp>
                <p:nvSpPr>
                  <p:cNvPr id="20" name="フリーフォーム: 図形 19">
                    <a:extLst>
                      <a:ext uri="{FF2B5EF4-FFF2-40B4-BE49-F238E27FC236}">
                        <a16:creationId xmlns:a16="http://schemas.microsoft.com/office/drawing/2014/main" id="{9302F365-D306-C5D1-84BE-66F3F62636B4}"/>
                      </a:ext>
                    </a:extLst>
                  </p:cNvPr>
                  <p:cNvSpPr/>
                  <p:nvPr/>
                </p:nvSpPr>
                <p:spPr>
                  <a:xfrm>
                    <a:off x="-7226871" y="4903727"/>
                    <a:ext cx="12700" cy="44450"/>
                  </a:xfrm>
                  <a:custGeom>
                    <a:avLst/>
                    <a:gdLst>
                      <a:gd name="connsiteX0" fmla="*/ 132 w 12700"/>
                      <a:gd name="connsiteY0" fmla="*/ 260 h 44450"/>
                      <a:gd name="connsiteX1" fmla="*/ 132 w 12700"/>
                      <a:gd name="connsiteY1" fmla="*/ 44710 h 44450"/>
                    </a:gdLst>
                    <a:ahLst/>
                    <a:cxnLst>
                      <a:cxn ang="0">
                        <a:pos x="connsiteX0" y="connsiteY0"/>
                      </a:cxn>
                      <a:cxn ang="0">
                        <a:pos x="connsiteX1" y="connsiteY1"/>
                      </a:cxn>
                    </a:cxnLst>
                    <a:rect l="l" t="t" r="r" b="b"/>
                    <a:pathLst>
                      <a:path w="12700" h="44450">
                        <a:moveTo>
                          <a:pt x="132" y="260"/>
                        </a:moveTo>
                        <a:lnTo>
                          <a:pt x="132" y="44710"/>
                        </a:lnTo>
                      </a:path>
                    </a:pathLst>
                  </a:custGeom>
                  <a:solidFill>
                    <a:srgbClr val="000000"/>
                  </a:solidFill>
                  <a:ln w="10160" cap="flat">
                    <a:solidFill>
                      <a:srgbClr val="000000"/>
                    </a:solidFill>
                    <a:prstDash val="solid"/>
                    <a:round/>
                  </a:ln>
                </p:spPr>
                <p:txBody>
                  <a:bodyPr rtlCol="0" anchor="ctr"/>
                  <a:lstStyle/>
                  <a:p>
                    <a:endParaRPr lang="en-US"/>
                  </a:p>
                </p:txBody>
              </p:sp>
              <p:grpSp>
                <p:nvGrpSpPr>
                  <p:cNvPr id="21" name="グラフィックス 2">
                    <a:extLst>
                      <a:ext uri="{FF2B5EF4-FFF2-40B4-BE49-F238E27FC236}">
                        <a16:creationId xmlns:a16="http://schemas.microsoft.com/office/drawing/2014/main" id="{8880BD55-2F2A-33F3-5897-3A82EF4F1AA2}"/>
                      </a:ext>
                    </a:extLst>
                  </p:cNvPr>
                  <p:cNvGrpSpPr/>
                  <p:nvPr/>
                </p:nvGrpSpPr>
                <p:grpSpPr>
                  <a:xfrm>
                    <a:off x="-7326830" y="4992621"/>
                    <a:ext cx="205417" cy="98305"/>
                    <a:chOff x="-7326830" y="4992621"/>
                    <a:chExt cx="205417" cy="98305"/>
                  </a:xfrm>
                  <a:solidFill>
                    <a:srgbClr val="000000"/>
                  </a:solidFill>
                </p:grpSpPr>
                <p:sp>
                  <p:nvSpPr>
                    <p:cNvPr id="22" name="フリーフォーム: 図形 21">
                      <a:extLst>
                        <a:ext uri="{FF2B5EF4-FFF2-40B4-BE49-F238E27FC236}">
                          <a16:creationId xmlns:a16="http://schemas.microsoft.com/office/drawing/2014/main" id="{8BAAF0AC-712B-77A3-D626-E7404A7D3320}"/>
                        </a:ext>
                      </a:extLst>
                    </p:cNvPr>
                    <p:cNvSpPr/>
                    <p:nvPr/>
                  </p:nvSpPr>
                  <p:spPr>
                    <a:xfrm flipV="1">
                      <a:off x="-7326830" y="4996530"/>
                      <a:ext cx="53201" cy="92590"/>
                    </a:xfrm>
                    <a:custGeom>
                      <a:avLst/>
                      <a:gdLst>
                        <a:gd name="connsiteX0" fmla="*/ -1842 w 53201"/>
                        <a:gd name="connsiteY0" fmla="*/ 90529 h 92590"/>
                        <a:gd name="connsiteX1" fmla="*/ 51359 w 53201"/>
                        <a:gd name="connsiteY1" fmla="*/ 90529 h 92590"/>
                        <a:gd name="connsiteX2" fmla="*/ 51359 w 53201"/>
                        <a:gd name="connsiteY2" fmla="*/ 79972 h 92590"/>
                        <a:gd name="connsiteX3" fmla="*/ 10680 w 53201"/>
                        <a:gd name="connsiteY3" fmla="*/ 79972 h 92590"/>
                        <a:gd name="connsiteX4" fmla="*/ 10680 w 53201"/>
                        <a:gd name="connsiteY4" fmla="*/ 52687 h 92590"/>
                        <a:gd name="connsiteX5" fmla="*/ 47391 w 53201"/>
                        <a:gd name="connsiteY5" fmla="*/ 52687 h 92590"/>
                        <a:gd name="connsiteX6" fmla="*/ 47391 w 53201"/>
                        <a:gd name="connsiteY6" fmla="*/ 42150 h 92590"/>
                        <a:gd name="connsiteX7" fmla="*/ 10680 w 53201"/>
                        <a:gd name="connsiteY7" fmla="*/ 42150 h 92590"/>
                        <a:gd name="connsiteX8" fmla="*/ 10680 w 53201"/>
                        <a:gd name="connsiteY8" fmla="*/ -2062 h 92590"/>
                        <a:gd name="connsiteX9" fmla="*/ -1842 w 53201"/>
                        <a:gd name="connsiteY9" fmla="*/ -2062 h 92590"/>
                        <a:gd name="connsiteX10" fmla="*/ -1842 w 53201"/>
                        <a:gd name="connsiteY10" fmla="*/ 90529 h 92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201" h="92590">
                          <a:moveTo>
                            <a:pt x="-1842" y="90529"/>
                          </a:moveTo>
                          <a:lnTo>
                            <a:pt x="51359" y="90529"/>
                          </a:lnTo>
                          <a:lnTo>
                            <a:pt x="51359" y="79972"/>
                          </a:lnTo>
                          <a:lnTo>
                            <a:pt x="10680" y="79972"/>
                          </a:lnTo>
                          <a:lnTo>
                            <a:pt x="10680" y="52687"/>
                          </a:lnTo>
                          <a:lnTo>
                            <a:pt x="47391" y="52687"/>
                          </a:lnTo>
                          <a:lnTo>
                            <a:pt x="47391" y="42150"/>
                          </a:lnTo>
                          <a:lnTo>
                            <a:pt x="10680" y="42150"/>
                          </a:lnTo>
                          <a:lnTo>
                            <a:pt x="10680" y="-2062"/>
                          </a:lnTo>
                          <a:lnTo>
                            <a:pt x="-1842" y="-2062"/>
                          </a:lnTo>
                          <a:lnTo>
                            <a:pt x="-1842" y="90529"/>
                          </a:lnTo>
                          <a:close/>
                        </a:path>
                      </a:pathLst>
                    </a:custGeom>
                    <a:solidFill>
                      <a:srgbClr val="000000"/>
                    </a:solidFill>
                    <a:ln w="20" cap="flat">
                      <a:noFill/>
                      <a:prstDash val="solid"/>
                      <a:round/>
                    </a:ln>
                  </p:spPr>
                  <p:txBody>
                    <a:bodyPr rtlCol="0" anchor="ctr"/>
                    <a:lstStyle/>
                    <a:p>
                      <a:endParaRPr lang="en-US"/>
                    </a:p>
                  </p:txBody>
                </p:sp>
                <p:sp>
                  <p:nvSpPr>
                    <p:cNvPr id="23" name="フリーフォーム: 図形 22">
                      <a:extLst>
                        <a:ext uri="{FF2B5EF4-FFF2-40B4-BE49-F238E27FC236}">
                          <a16:creationId xmlns:a16="http://schemas.microsoft.com/office/drawing/2014/main" id="{65D97635-29AB-D643-E331-01FAB5A1A6F6}"/>
                        </a:ext>
                      </a:extLst>
                    </p:cNvPr>
                    <p:cNvSpPr/>
                    <p:nvPr/>
                  </p:nvSpPr>
                  <p:spPr>
                    <a:xfrm flipV="1">
                      <a:off x="-7266222" y="5018001"/>
                      <a:ext cx="64373" cy="72925"/>
                    </a:xfrm>
                    <a:custGeom>
                      <a:avLst/>
                      <a:gdLst>
                        <a:gd name="connsiteX0" fmla="*/ 62530 w 64373"/>
                        <a:gd name="connsiteY0" fmla="*/ 37915 h 72925"/>
                        <a:gd name="connsiteX1" fmla="*/ 62530 w 64373"/>
                        <a:gd name="connsiteY1" fmla="*/ 32339 h 72925"/>
                        <a:gd name="connsiteX2" fmla="*/ 10063 w 64373"/>
                        <a:gd name="connsiteY2" fmla="*/ 32339 h 72925"/>
                        <a:gd name="connsiteX3" fmla="*/ 17167 w 64373"/>
                        <a:gd name="connsiteY3" fmla="*/ 14381 h 72925"/>
                        <a:gd name="connsiteX4" fmla="*/ 34868 w 64373"/>
                        <a:gd name="connsiteY4" fmla="*/ 8209 h 72925"/>
                        <a:gd name="connsiteX5" fmla="*/ 47608 w 64373"/>
                        <a:gd name="connsiteY5" fmla="*/ 9817 h 72925"/>
                        <a:gd name="connsiteX6" fmla="*/ 59871 w 64373"/>
                        <a:gd name="connsiteY6" fmla="*/ 14658 h 72925"/>
                        <a:gd name="connsiteX7" fmla="*/ 59871 w 64373"/>
                        <a:gd name="connsiteY7" fmla="*/ 3863 h 72925"/>
                        <a:gd name="connsiteX8" fmla="*/ 47270 w 64373"/>
                        <a:gd name="connsiteY8" fmla="*/ -105 h 72925"/>
                        <a:gd name="connsiteX9" fmla="*/ 34193 w 64373"/>
                        <a:gd name="connsiteY9" fmla="*/ -1475 h 72925"/>
                        <a:gd name="connsiteX10" fmla="*/ 7860 w 64373"/>
                        <a:gd name="connsiteY10" fmla="*/ 8189 h 72925"/>
                        <a:gd name="connsiteX11" fmla="*/ -1843 w 64373"/>
                        <a:gd name="connsiteY11" fmla="*/ 34383 h 72925"/>
                        <a:gd name="connsiteX12" fmla="*/ 7364 w 64373"/>
                        <a:gd name="connsiteY12" fmla="*/ 61430 h 72925"/>
                        <a:gd name="connsiteX13" fmla="*/ 32209 w 64373"/>
                        <a:gd name="connsiteY13" fmla="*/ 71451 h 72925"/>
                        <a:gd name="connsiteX14" fmla="*/ 54374 w 64373"/>
                        <a:gd name="connsiteY14" fmla="*/ 62422 h 72925"/>
                        <a:gd name="connsiteX15" fmla="*/ 62530 w 64373"/>
                        <a:gd name="connsiteY15" fmla="*/ 37915 h 72925"/>
                        <a:gd name="connsiteX16" fmla="*/ 51120 w 64373"/>
                        <a:gd name="connsiteY16" fmla="*/ 41269 h 72925"/>
                        <a:gd name="connsiteX17" fmla="*/ 45881 w 64373"/>
                        <a:gd name="connsiteY17" fmla="*/ 56191 h 72925"/>
                        <a:gd name="connsiteX18" fmla="*/ 32328 w 64373"/>
                        <a:gd name="connsiteY18" fmla="*/ 61787 h 72925"/>
                        <a:gd name="connsiteX19" fmla="*/ 17048 w 64373"/>
                        <a:gd name="connsiteY19" fmla="*/ 56390 h 72925"/>
                        <a:gd name="connsiteX20" fmla="*/ 10440 w 64373"/>
                        <a:gd name="connsiteY20" fmla="*/ 41190 h 72925"/>
                        <a:gd name="connsiteX21" fmla="*/ 51120 w 64373"/>
                        <a:gd name="connsiteY21" fmla="*/ 41269 h 7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64373" h="72925">
                          <a:moveTo>
                            <a:pt x="62530" y="37915"/>
                          </a:moveTo>
                          <a:lnTo>
                            <a:pt x="62530" y="32339"/>
                          </a:lnTo>
                          <a:lnTo>
                            <a:pt x="10063" y="32339"/>
                          </a:lnTo>
                          <a:cubicBezTo>
                            <a:pt x="10566" y="24481"/>
                            <a:pt x="12934" y="18495"/>
                            <a:pt x="17167" y="14381"/>
                          </a:cubicBezTo>
                          <a:cubicBezTo>
                            <a:pt x="21400" y="10266"/>
                            <a:pt x="27301" y="8209"/>
                            <a:pt x="34868" y="8209"/>
                          </a:cubicBezTo>
                          <a:cubicBezTo>
                            <a:pt x="39247" y="8209"/>
                            <a:pt x="43493" y="8745"/>
                            <a:pt x="47608" y="9817"/>
                          </a:cubicBezTo>
                          <a:cubicBezTo>
                            <a:pt x="51722" y="10888"/>
                            <a:pt x="55810" y="12502"/>
                            <a:pt x="59871" y="14658"/>
                          </a:cubicBezTo>
                          <a:lnTo>
                            <a:pt x="59871" y="3863"/>
                          </a:lnTo>
                          <a:cubicBezTo>
                            <a:pt x="55770" y="2130"/>
                            <a:pt x="51570" y="808"/>
                            <a:pt x="47270" y="-105"/>
                          </a:cubicBezTo>
                          <a:cubicBezTo>
                            <a:pt x="42971" y="-1018"/>
                            <a:pt x="38612" y="-1475"/>
                            <a:pt x="34193" y="-1475"/>
                          </a:cubicBezTo>
                          <a:cubicBezTo>
                            <a:pt x="23107" y="-1475"/>
                            <a:pt x="14330" y="1747"/>
                            <a:pt x="7860" y="8189"/>
                          </a:cubicBezTo>
                          <a:cubicBezTo>
                            <a:pt x="1391" y="14645"/>
                            <a:pt x="-1843" y="23376"/>
                            <a:pt x="-1843" y="34383"/>
                          </a:cubicBezTo>
                          <a:cubicBezTo>
                            <a:pt x="-1843" y="45747"/>
                            <a:pt x="1226" y="54763"/>
                            <a:pt x="7364" y="61430"/>
                          </a:cubicBezTo>
                          <a:cubicBezTo>
                            <a:pt x="13503" y="68111"/>
                            <a:pt x="21784" y="71451"/>
                            <a:pt x="32209" y="71451"/>
                          </a:cubicBezTo>
                          <a:cubicBezTo>
                            <a:pt x="41549" y="71451"/>
                            <a:pt x="48937" y="68442"/>
                            <a:pt x="54374" y="62422"/>
                          </a:cubicBezTo>
                          <a:cubicBezTo>
                            <a:pt x="59811" y="56416"/>
                            <a:pt x="62530" y="48247"/>
                            <a:pt x="62530" y="37915"/>
                          </a:cubicBezTo>
                          <a:close/>
                          <a:moveTo>
                            <a:pt x="51120" y="41269"/>
                          </a:moveTo>
                          <a:cubicBezTo>
                            <a:pt x="51040" y="47500"/>
                            <a:pt x="49294" y="52474"/>
                            <a:pt x="45881" y="56191"/>
                          </a:cubicBezTo>
                          <a:cubicBezTo>
                            <a:pt x="42468" y="59922"/>
                            <a:pt x="37950" y="61787"/>
                            <a:pt x="32328" y="61787"/>
                          </a:cubicBezTo>
                          <a:cubicBezTo>
                            <a:pt x="25965" y="61787"/>
                            <a:pt x="20871" y="59988"/>
                            <a:pt x="17048" y="56390"/>
                          </a:cubicBezTo>
                          <a:cubicBezTo>
                            <a:pt x="13225" y="52792"/>
                            <a:pt x="11022" y="47725"/>
                            <a:pt x="10440" y="41190"/>
                          </a:cubicBezTo>
                          <a:lnTo>
                            <a:pt x="51120" y="41269"/>
                          </a:lnTo>
                          <a:close/>
                        </a:path>
                      </a:pathLst>
                    </a:custGeom>
                    <a:solidFill>
                      <a:srgbClr val="000000"/>
                    </a:solidFill>
                    <a:ln w="20" cap="flat">
                      <a:noFill/>
                      <a:prstDash val="solid"/>
                      <a:round/>
                    </a:ln>
                  </p:spPr>
                  <p:txBody>
                    <a:bodyPr rtlCol="0" anchor="ctr"/>
                    <a:lstStyle/>
                    <a:p>
                      <a:endParaRPr lang="en-US"/>
                    </a:p>
                  </p:txBody>
                </p:sp>
                <p:sp>
                  <p:nvSpPr>
                    <p:cNvPr id="24" name="フリーフォーム: 図形 23">
                      <a:extLst>
                        <a:ext uri="{FF2B5EF4-FFF2-40B4-BE49-F238E27FC236}">
                          <a16:creationId xmlns:a16="http://schemas.microsoft.com/office/drawing/2014/main" id="{62FE6617-E0AE-2234-2BDB-B7144BFF91D9}"/>
                        </a:ext>
                      </a:extLst>
                    </p:cNvPr>
                    <p:cNvSpPr/>
                    <p:nvPr/>
                  </p:nvSpPr>
                  <p:spPr>
                    <a:xfrm flipV="1">
                      <a:off x="-7183563" y="4992621"/>
                      <a:ext cx="62150" cy="98305"/>
                    </a:xfrm>
                    <a:custGeom>
                      <a:avLst/>
                      <a:gdLst>
                        <a:gd name="connsiteX0" fmla="*/ 48295 w 62150"/>
                        <a:gd name="connsiteY0" fmla="*/ 34358 h 98305"/>
                        <a:gd name="connsiteX1" fmla="*/ 43116 w 62150"/>
                        <a:gd name="connsiteY1" fmla="*/ 54102 h 98305"/>
                        <a:gd name="connsiteX2" fmla="*/ 28888 w 62150"/>
                        <a:gd name="connsiteY2" fmla="*/ 61266 h 98305"/>
                        <a:gd name="connsiteX3" fmla="*/ 14640 w 62150"/>
                        <a:gd name="connsiteY3" fmla="*/ 54102 h 98305"/>
                        <a:gd name="connsiteX4" fmla="*/ 9461 w 62150"/>
                        <a:gd name="connsiteY4" fmla="*/ 34358 h 98305"/>
                        <a:gd name="connsiteX5" fmla="*/ 14640 w 62150"/>
                        <a:gd name="connsiteY5" fmla="*/ 14613 h 98305"/>
                        <a:gd name="connsiteX6" fmla="*/ 28888 w 62150"/>
                        <a:gd name="connsiteY6" fmla="*/ 7450 h 98305"/>
                        <a:gd name="connsiteX7" fmla="*/ 43116 w 62150"/>
                        <a:gd name="connsiteY7" fmla="*/ 14613 h 98305"/>
                        <a:gd name="connsiteX8" fmla="*/ 48295 w 62150"/>
                        <a:gd name="connsiteY8" fmla="*/ 34358 h 98305"/>
                        <a:gd name="connsiteX9" fmla="*/ 9461 w 62150"/>
                        <a:gd name="connsiteY9" fmla="*/ 58607 h 98305"/>
                        <a:gd name="connsiteX10" fmla="*/ 18549 w 62150"/>
                        <a:gd name="connsiteY10" fmla="*/ 67795 h 98305"/>
                        <a:gd name="connsiteX11" fmla="*/ 31666 w 62150"/>
                        <a:gd name="connsiteY11" fmla="*/ 70811 h 98305"/>
                        <a:gd name="connsiteX12" fmla="*/ 52224 w 62150"/>
                        <a:gd name="connsiteY12" fmla="*/ 60770 h 98305"/>
                        <a:gd name="connsiteX13" fmla="*/ 60142 w 62150"/>
                        <a:gd name="connsiteY13" fmla="*/ 34358 h 98305"/>
                        <a:gd name="connsiteX14" fmla="*/ 52224 w 62150"/>
                        <a:gd name="connsiteY14" fmla="*/ 7926 h 98305"/>
                        <a:gd name="connsiteX15" fmla="*/ 31666 w 62150"/>
                        <a:gd name="connsiteY15" fmla="*/ -2115 h 98305"/>
                        <a:gd name="connsiteX16" fmla="*/ 18549 w 62150"/>
                        <a:gd name="connsiteY16" fmla="*/ 901 h 98305"/>
                        <a:gd name="connsiteX17" fmla="*/ 9461 w 62150"/>
                        <a:gd name="connsiteY17" fmla="*/ 10109 h 98305"/>
                        <a:gd name="connsiteX18" fmla="*/ 9461 w 62150"/>
                        <a:gd name="connsiteY18" fmla="*/ -309 h 98305"/>
                        <a:gd name="connsiteX19" fmla="*/ -2009 w 62150"/>
                        <a:gd name="connsiteY19" fmla="*/ -309 h 98305"/>
                        <a:gd name="connsiteX20" fmla="*/ -2009 w 62150"/>
                        <a:gd name="connsiteY20" fmla="*/ 96191 h 98305"/>
                        <a:gd name="connsiteX21" fmla="*/ 9461 w 62150"/>
                        <a:gd name="connsiteY21" fmla="*/ 96191 h 98305"/>
                        <a:gd name="connsiteX22" fmla="*/ 9461 w 62150"/>
                        <a:gd name="connsiteY22" fmla="*/ 58607 h 983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62150" h="98305">
                          <a:moveTo>
                            <a:pt x="48295" y="34358"/>
                          </a:moveTo>
                          <a:cubicBezTo>
                            <a:pt x="48295" y="42745"/>
                            <a:pt x="46569" y="49327"/>
                            <a:pt x="43116" y="54102"/>
                          </a:cubicBezTo>
                          <a:cubicBezTo>
                            <a:pt x="39663" y="58878"/>
                            <a:pt x="34921" y="61266"/>
                            <a:pt x="28888" y="61266"/>
                          </a:cubicBezTo>
                          <a:cubicBezTo>
                            <a:pt x="22842" y="61266"/>
                            <a:pt x="18093" y="58878"/>
                            <a:pt x="14640" y="54102"/>
                          </a:cubicBezTo>
                          <a:cubicBezTo>
                            <a:pt x="11187" y="49327"/>
                            <a:pt x="9461" y="42745"/>
                            <a:pt x="9461" y="34358"/>
                          </a:cubicBezTo>
                          <a:cubicBezTo>
                            <a:pt x="9461" y="25970"/>
                            <a:pt x="11187" y="19389"/>
                            <a:pt x="14640" y="14613"/>
                          </a:cubicBezTo>
                          <a:cubicBezTo>
                            <a:pt x="18093" y="9838"/>
                            <a:pt x="22842" y="7450"/>
                            <a:pt x="28888" y="7450"/>
                          </a:cubicBezTo>
                          <a:cubicBezTo>
                            <a:pt x="34921" y="7450"/>
                            <a:pt x="39663" y="9838"/>
                            <a:pt x="43116" y="14613"/>
                          </a:cubicBezTo>
                          <a:cubicBezTo>
                            <a:pt x="46569" y="19389"/>
                            <a:pt x="48295" y="25970"/>
                            <a:pt x="48295" y="34358"/>
                          </a:cubicBezTo>
                          <a:close/>
                          <a:moveTo>
                            <a:pt x="9461" y="58607"/>
                          </a:moveTo>
                          <a:cubicBezTo>
                            <a:pt x="11869" y="62734"/>
                            <a:pt x="14898" y="65797"/>
                            <a:pt x="18549" y="67795"/>
                          </a:cubicBezTo>
                          <a:cubicBezTo>
                            <a:pt x="22214" y="69805"/>
                            <a:pt x="26586" y="70811"/>
                            <a:pt x="31666" y="70811"/>
                          </a:cubicBezTo>
                          <a:cubicBezTo>
                            <a:pt x="40106" y="70811"/>
                            <a:pt x="46959" y="67464"/>
                            <a:pt x="52224" y="60770"/>
                          </a:cubicBezTo>
                          <a:cubicBezTo>
                            <a:pt x="57503" y="54076"/>
                            <a:pt x="60142" y="45272"/>
                            <a:pt x="60142" y="34358"/>
                          </a:cubicBezTo>
                          <a:cubicBezTo>
                            <a:pt x="60142" y="23444"/>
                            <a:pt x="57503" y="14633"/>
                            <a:pt x="52224" y="7926"/>
                          </a:cubicBezTo>
                          <a:cubicBezTo>
                            <a:pt x="46959" y="1232"/>
                            <a:pt x="40106" y="-2115"/>
                            <a:pt x="31666" y="-2115"/>
                          </a:cubicBezTo>
                          <a:cubicBezTo>
                            <a:pt x="26586" y="-2115"/>
                            <a:pt x="22214" y="-1110"/>
                            <a:pt x="18549" y="901"/>
                          </a:cubicBezTo>
                          <a:cubicBezTo>
                            <a:pt x="14898" y="2912"/>
                            <a:pt x="11869" y="5981"/>
                            <a:pt x="9461" y="10109"/>
                          </a:cubicBezTo>
                          <a:lnTo>
                            <a:pt x="9461" y="-309"/>
                          </a:lnTo>
                          <a:lnTo>
                            <a:pt x="-2009" y="-309"/>
                          </a:lnTo>
                          <a:lnTo>
                            <a:pt x="-2009" y="96191"/>
                          </a:lnTo>
                          <a:lnTo>
                            <a:pt x="9461" y="96191"/>
                          </a:lnTo>
                          <a:lnTo>
                            <a:pt x="9461" y="58607"/>
                          </a:lnTo>
                          <a:close/>
                        </a:path>
                      </a:pathLst>
                    </a:custGeom>
                    <a:solidFill>
                      <a:srgbClr val="000000"/>
                    </a:solidFill>
                    <a:ln w="20" cap="flat">
                      <a:noFill/>
                      <a:prstDash val="solid"/>
                      <a:round/>
                    </a:ln>
                  </p:spPr>
                  <p:txBody>
                    <a:bodyPr rtlCol="0" anchor="ctr"/>
                    <a:lstStyle/>
                    <a:p>
                      <a:endParaRPr lang="en-US"/>
                    </a:p>
                  </p:txBody>
                </p:sp>
              </p:grpSp>
            </p:grpSp>
            <p:grpSp>
              <p:nvGrpSpPr>
                <p:cNvPr id="25" name="グラフィックス 2">
                  <a:extLst>
                    <a:ext uri="{FF2B5EF4-FFF2-40B4-BE49-F238E27FC236}">
                      <a16:creationId xmlns:a16="http://schemas.microsoft.com/office/drawing/2014/main" id="{83F39876-B481-BBF8-CEFC-049F8C17C57C}"/>
                    </a:ext>
                  </a:extLst>
                </p:cNvPr>
                <p:cNvGrpSpPr/>
                <p:nvPr/>
              </p:nvGrpSpPr>
              <p:grpSpPr>
                <a:xfrm>
                  <a:off x="-6639937" y="1941578"/>
                  <a:ext cx="227146" cy="3149348"/>
                  <a:chOff x="-6639937" y="1941578"/>
                  <a:chExt cx="227146" cy="3149348"/>
                </a:xfrm>
              </p:grpSpPr>
              <p:sp>
                <p:nvSpPr>
                  <p:cNvPr id="26" name="フリーフォーム: 図形 25">
                    <a:extLst>
                      <a:ext uri="{FF2B5EF4-FFF2-40B4-BE49-F238E27FC236}">
                        <a16:creationId xmlns:a16="http://schemas.microsoft.com/office/drawing/2014/main" id="{B37BC0CC-7527-97D5-F140-867ED53AC1F3}"/>
                      </a:ext>
                    </a:extLst>
                  </p:cNvPr>
                  <p:cNvSpPr/>
                  <p:nvPr/>
                </p:nvSpPr>
                <p:spPr>
                  <a:xfrm>
                    <a:off x="-6532587" y="1941578"/>
                    <a:ext cx="12700" cy="2962147"/>
                  </a:xfrm>
                  <a:custGeom>
                    <a:avLst/>
                    <a:gdLst>
                      <a:gd name="connsiteX0" fmla="*/ 0 w 12700"/>
                      <a:gd name="connsiteY0" fmla="*/ 2962148 h 2962147"/>
                      <a:gd name="connsiteX1" fmla="*/ 0 w 12700"/>
                      <a:gd name="connsiteY1" fmla="*/ 0 h 2962147"/>
                    </a:gdLst>
                    <a:ahLst/>
                    <a:cxnLst>
                      <a:cxn ang="0">
                        <a:pos x="connsiteX0" y="connsiteY0"/>
                      </a:cxn>
                      <a:cxn ang="0">
                        <a:pos x="connsiteX1" y="connsiteY1"/>
                      </a:cxn>
                    </a:cxnLst>
                    <a:rect l="l" t="t" r="r" b="b"/>
                    <a:pathLst>
                      <a:path w="12700" h="2962147">
                        <a:moveTo>
                          <a:pt x="0" y="2962148"/>
                        </a:moveTo>
                        <a:lnTo>
                          <a:pt x="0" y="0"/>
                        </a:lnTo>
                      </a:path>
                    </a:pathLst>
                  </a:custGeom>
                  <a:noFill/>
                  <a:ln w="10160" cap="sq">
                    <a:solidFill>
                      <a:srgbClr val="B0B0B0"/>
                    </a:solidFill>
                    <a:prstDash val="solid"/>
                    <a:round/>
                  </a:ln>
                </p:spPr>
                <p:txBody>
                  <a:bodyPr rtlCol="0" anchor="ctr"/>
                  <a:lstStyle/>
                  <a:p>
                    <a:endParaRPr lang="en-US"/>
                  </a:p>
                </p:txBody>
              </p:sp>
              <p:sp>
                <p:nvSpPr>
                  <p:cNvPr id="27" name="フリーフォーム: 図形 26">
                    <a:extLst>
                      <a:ext uri="{FF2B5EF4-FFF2-40B4-BE49-F238E27FC236}">
                        <a16:creationId xmlns:a16="http://schemas.microsoft.com/office/drawing/2014/main" id="{6275C118-4DF9-3128-4E97-8DD6CD7929FB}"/>
                      </a:ext>
                    </a:extLst>
                  </p:cNvPr>
                  <p:cNvSpPr/>
                  <p:nvPr/>
                </p:nvSpPr>
                <p:spPr>
                  <a:xfrm>
                    <a:off x="-6532587" y="4903727"/>
                    <a:ext cx="12700" cy="44450"/>
                  </a:xfrm>
                  <a:custGeom>
                    <a:avLst/>
                    <a:gdLst>
                      <a:gd name="connsiteX0" fmla="*/ 187 w 12700"/>
                      <a:gd name="connsiteY0" fmla="*/ 260 h 44450"/>
                      <a:gd name="connsiteX1" fmla="*/ 187 w 12700"/>
                      <a:gd name="connsiteY1" fmla="*/ 44710 h 44450"/>
                    </a:gdLst>
                    <a:ahLst/>
                    <a:cxnLst>
                      <a:cxn ang="0">
                        <a:pos x="connsiteX0" y="connsiteY0"/>
                      </a:cxn>
                      <a:cxn ang="0">
                        <a:pos x="connsiteX1" y="connsiteY1"/>
                      </a:cxn>
                    </a:cxnLst>
                    <a:rect l="l" t="t" r="r" b="b"/>
                    <a:pathLst>
                      <a:path w="12700" h="44450">
                        <a:moveTo>
                          <a:pt x="187" y="260"/>
                        </a:moveTo>
                        <a:lnTo>
                          <a:pt x="187" y="44710"/>
                        </a:lnTo>
                      </a:path>
                    </a:pathLst>
                  </a:custGeom>
                  <a:solidFill>
                    <a:srgbClr val="000000"/>
                  </a:solidFill>
                  <a:ln w="10160" cap="flat">
                    <a:solidFill>
                      <a:srgbClr val="000000"/>
                    </a:solidFill>
                    <a:prstDash val="solid"/>
                    <a:round/>
                  </a:ln>
                </p:spPr>
                <p:txBody>
                  <a:bodyPr rtlCol="0" anchor="ctr"/>
                  <a:lstStyle/>
                  <a:p>
                    <a:endParaRPr lang="en-US"/>
                  </a:p>
                </p:txBody>
              </p:sp>
              <p:grpSp>
                <p:nvGrpSpPr>
                  <p:cNvPr id="28" name="グラフィックス 2">
                    <a:extLst>
                      <a:ext uri="{FF2B5EF4-FFF2-40B4-BE49-F238E27FC236}">
                        <a16:creationId xmlns:a16="http://schemas.microsoft.com/office/drawing/2014/main" id="{C393A8F5-DC48-99B4-EF77-5065EBA603AD}"/>
                      </a:ext>
                    </a:extLst>
                  </p:cNvPr>
                  <p:cNvGrpSpPr/>
                  <p:nvPr/>
                </p:nvGrpSpPr>
                <p:grpSpPr>
                  <a:xfrm>
                    <a:off x="-6639937" y="4996530"/>
                    <a:ext cx="227146" cy="94396"/>
                    <a:chOff x="-6639937" y="4996530"/>
                    <a:chExt cx="227146" cy="94396"/>
                  </a:xfrm>
                  <a:solidFill>
                    <a:srgbClr val="000000"/>
                  </a:solidFill>
                </p:grpSpPr>
                <p:sp>
                  <p:nvSpPr>
                    <p:cNvPr id="29" name="フリーフォーム: 図形 28">
                      <a:extLst>
                        <a:ext uri="{FF2B5EF4-FFF2-40B4-BE49-F238E27FC236}">
                          <a16:creationId xmlns:a16="http://schemas.microsoft.com/office/drawing/2014/main" id="{B4CF883F-F051-D990-2BCA-EE689E42D4D2}"/>
                        </a:ext>
                      </a:extLst>
                    </p:cNvPr>
                    <p:cNvSpPr/>
                    <p:nvPr/>
                  </p:nvSpPr>
                  <p:spPr>
                    <a:xfrm flipV="1">
                      <a:off x="-6639937" y="4996530"/>
                      <a:ext cx="84712" cy="92590"/>
                    </a:xfrm>
                    <a:custGeom>
                      <a:avLst/>
                      <a:gdLst>
                        <a:gd name="connsiteX0" fmla="*/ -2580 w 84712"/>
                        <a:gd name="connsiteY0" fmla="*/ 90529 h 92590"/>
                        <a:gd name="connsiteX1" fmla="*/ 16092 w 84712"/>
                        <a:gd name="connsiteY1" fmla="*/ 90529 h 92590"/>
                        <a:gd name="connsiteX2" fmla="*/ 39707 w 84712"/>
                        <a:gd name="connsiteY2" fmla="*/ 27525 h 92590"/>
                        <a:gd name="connsiteX3" fmla="*/ 63460 w 84712"/>
                        <a:gd name="connsiteY3" fmla="*/ 90529 h 92590"/>
                        <a:gd name="connsiteX4" fmla="*/ 82132 w 84712"/>
                        <a:gd name="connsiteY4" fmla="*/ 90529 h 92590"/>
                        <a:gd name="connsiteX5" fmla="*/ 82132 w 84712"/>
                        <a:gd name="connsiteY5" fmla="*/ -2062 h 92590"/>
                        <a:gd name="connsiteX6" fmla="*/ 69909 w 84712"/>
                        <a:gd name="connsiteY6" fmla="*/ -2062 h 92590"/>
                        <a:gd name="connsiteX7" fmla="*/ 69909 w 84712"/>
                        <a:gd name="connsiteY7" fmla="*/ 79238 h 92590"/>
                        <a:gd name="connsiteX8" fmla="*/ 46037 w 84712"/>
                        <a:gd name="connsiteY8" fmla="*/ 15738 h 92590"/>
                        <a:gd name="connsiteX9" fmla="*/ 33456 w 84712"/>
                        <a:gd name="connsiteY9" fmla="*/ 15738 h 92590"/>
                        <a:gd name="connsiteX10" fmla="*/ 9584 w 84712"/>
                        <a:gd name="connsiteY10" fmla="*/ 79238 h 92590"/>
                        <a:gd name="connsiteX11" fmla="*/ 9584 w 84712"/>
                        <a:gd name="connsiteY11" fmla="*/ -2062 h 92590"/>
                        <a:gd name="connsiteX12" fmla="*/ -2580 w 84712"/>
                        <a:gd name="connsiteY12" fmla="*/ -2062 h 92590"/>
                        <a:gd name="connsiteX13" fmla="*/ -2580 w 84712"/>
                        <a:gd name="connsiteY13" fmla="*/ 90529 h 92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84712" h="92590">
                          <a:moveTo>
                            <a:pt x="-2580" y="90529"/>
                          </a:moveTo>
                          <a:lnTo>
                            <a:pt x="16092" y="90529"/>
                          </a:lnTo>
                          <a:lnTo>
                            <a:pt x="39707" y="27525"/>
                          </a:lnTo>
                          <a:lnTo>
                            <a:pt x="63460" y="90529"/>
                          </a:lnTo>
                          <a:lnTo>
                            <a:pt x="82132" y="90529"/>
                          </a:lnTo>
                          <a:lnTo>
                            <a:pt x="82132" y="-2062"/>
                          </a:lnTo>
                          <a:lnTo>
                            <a:pt x="69909" y="-2062"/>
                          </a:lnTo>
                          <a:lnTo>
                            <a:pt x="69909" y="79238"/>
                          </a:lnTo>
                          <a:lnTo>
                            <a:pt x="46037" y="15738"/>
                          </a:lnTo>
                          <a:lnTo>
                            <a:pt x="33456" y="15738"/>
                          </a:lnTo>
                          <a:lnTo>
                            <a:pt x="9584" y="79238"/>
                          </a:lnTo>
                          <a:lnTo>
                            <a:pt x="9584" y="-2062"/>
                          </a:lnTo>
                          <a:lnTo>
                            <a:pt x="-2580" y="-2062"/>
                          </a:lnTo>
                          <a:lnTo>
                            <a:pt x="-2580" y="90529"/>
                          </a:lnTo>
                          <a:close/>
                        </a:path>
                      </a:pathLst>
                    </a:custGeom>
                    <a:solidFill>
                      <a:srgbClr val="000000"/>
                    </a:solidFill>
                    <a:ln w="20" cap="flat">
                      <a:noFill/>
                      <a:prstDash val="solid"/>
                      <a:round/>
                    </a:ln>
                  </p:spPr>
                  <p:txBody>
                    <a:bodyPr rtlCol="0" anchor="ctr"/>
                    <a:lstStyle/>
                    <a:p>
                      <a:endParaRPr lang="en-US"/>
                    </a:p>
                  </p:txBody>
                </p:sp>
                <p:sp>
                  <p:nvSpPr>
                    <p:cNvPr id="30" name="フリーフォーム: 図形 29">
                      <a:extLst>
                        <a:ext uri="{FF2B5EF4-FFF2-40B4-BE49-F238E27FC236}">
                          <a16:creationId xmlns:a16="http://schemas.microsoft.com/office/drawing/2014/main" id="{01F37B04-7054-E9F5-125A-EC7B12780E24}"/>
                        </a:ext>
                      </a:extLst>
                    </p:cNvPr>
                    <p:cNvSpPr/>
                    <p:nvPr/>
                  </p:nvSpPr>
                  <p:spPr>
                    <a:xfrm flipV="1">
                      <a:off x="-6535204" y="5018001"/>
                      <a:ext cx="58677" cy="72925"/>
                    </a:xfrm>
                    <a:custGeom>
                      <a:avLst/>
                      <a:gdLst>
                        <a:gd name="connsiteX0" fmla="*/ 34244 w 58677"/>
                        <a:gd name="connsiteY0" fmla="*/ 35236 h 72925"/>
                        <a:gd name="connsiteX1" fmla="*/ 15075 w 58677"/>
                        <a:gd name="connsiteY1" fmla="*/ 32081 h 72925"/>
                        <a:gd name="connsiteX2" fmla="*/ 9737 w 58677"/>
                        <a:gd name="connsiteY2" fmla="*/ 21286 h 72925"/>
                        <a:gd name="connsiteX3" fmla="*/ 13745 w 58677"/>
                        <a:gd name="connsiteY3" fmla="*/ 11642 h 72925"/>
                        <a:gd name="connsiteX4" fmla="*/ 24620 w 58677"/>
                        <a:gd name="connsiteY4" fmla="*/ 8090 h 72925"/>
                        <a:gd name="connsiteX5" fmla="*/ 39860 w 58677"/>
                        <a:gd name="connsiteY5" fmla="*/ 14817 h 72925"/>
                        <a:gd name="connsiteX6" fmla="*/ 45595 w 58677"/>
                        <a:gd name="connsiteY6" fmla="*/ 32696 h 72925"/>
                        <a:gd name="connsiteX7" fmla="*/ 45595 w 58677"/>
                        <a:gd name="connsiteY7" fmla="*/ 35236 h 72925"/>
                        <a:gd name="connsiteX8" fmla="*/ 34244 w 58677"/>
                        <a:gd name="connsiteY8" fmla="*/ 35236 h 72925"/>
                        <a:gd name="connsiteX9" fmla="*/ 57005 w 58677"/>
                        <a:gd name="connsiteY9" fmla="*/ 39959 h 72925"/>
                        <a:gd name="connsiteX10" fmla="*/ 57005 w 58677"/>
                        <a:gd name="connsiteY10" fmla="*/ 331 h 72925"/>
                        <a:gd name="connsiteX11" fmla="*/ 45595 w 58677"/>
                        <a:gd name="connsiteY11" fmla="*/ 331 h 72925"/>
                        <a:gd name="connsiteX12" fmla="*/ 45595 w 58677"/>
                        <a:gd name="connsiteY12" fmla="*/ 10868 h 72925"/>
                        <a:gd name="connsiteX13" fmla="*/ 35851 w 58677"/>
                        <a:gd name="connsiteY13" fmla="*/ 1542 h 72925"/>
                        <a:gd name="connsiteX14" fmla="*/ 21584 w 58677"/>
                        <a:gd name="connsiteY14" fmla="*/ -1475 h 72925"/>
                        <a:gd name="connsiteX15" fmla="*/ 4617 w 58677"/>
                        <a:gd name="connsiteY15" fmla="*/ 4518 h 72925"/>
                        <a:gd name="connsiteX16" fmla="*/ -1673 w 58677"/>
                        <a:gd name="connsiteY16" fmla="*/ 20552 h 72925"/>
                        <a:gd name="connsiteX17" fmla="*/ 6165 w 58677"/>
                        <a:gd name="connsiteY17" fmla="*/ 38213 h 72925"/>
                        <a:gd name="connsiteX18" fmla="*/ 29581 w 58677"/>
                        <a:gd name="connsiteY18" fmla="*/ 44166 h 72925"/>
                        <a:gd name="connsiteX19" fmla="*/ 45595 w 58677"/>
                        <a:gd name="connsiteY19" fmla="*/ 44166 h 72925"/>
                        <a:gd name="connsiteX20" fmla="*/ 45595 w 58677"/>
                        <a:gd name="connsiteY20" fmla="*/ 45297 h 72925"/>
                        <a:gd name="connsiteX21" fmla="*/ 40415 w 58677"/>
                        <a:gd name="connsiteY21" fmla="*/ 57481 h 72925"/>
                        <a:gd name="connsiteX22" fmla="*/ 25870 w 58677"/>
                        <a:gd name="connsiteY22" fmla="*/ 61787 h 72925"/>
                        <a:gd name="connsiteX23" fmla="*/ 14261 w 58677"/>
                        <a:gd name="connsiteY23" fmla="*/ 60359 h 72925"/>
                        <a:gd name="connsiteX24" fmla="*/ 3427 w 58677"/>
                        <a:gd name="connsiteY24" fmla="*/ 56072 h 72925"/>
                        <a:gd name="connsiteX25" fmla="*/ 3427 w 58677"/>
                        <a:gd name="connsiteY25" fmla="*/ 66629 h 72925"/>
                        <a:gd name="connsiteX26" fmla="*/ 15571 w 58677"/>
                        <a:gd name="connsiteY26" fmla="*/ 70241 h 72925"/>
                        <a:gd name="connsiteX27" fmla="*/ 27041 w 58677"/>
                        <a:gd name="connsiteY27" fmla="*/ 71451 h 72925"/>
                        <a:gd name="connsiteX28" fmla="*/ 49563 w 58677"/>
                        <a:gd name="connsiteY28" fmla="*/ 63633 h 72925"/>
                        <a:gd name="connsiteX29" fmla="*/ 57005 w 58677"/>
                        <a:gd name="connsiteY29" fmla="*/ 39959 h 7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8677" h="72925">
                          <a:moveTo>
                            <a:pt x="34244" y="35236"/>
                          </a:moveTo>
                          <a:cubicBezTo>
                            <a:pt x="25023" y="35236"/>
                            <a:pt x="18633" y="34185"/>
                            <a:pt x="15075" y="32081"/>
                          </a:cubicBezTo>
                          <a:cubicBezTo>
                            <a:pt x="11516" y="29978"/>
                            <a:pt x="9737" y="26380"/>
                            <a:pt x="9737" y="21286"/>
                          </a:cubicBezTo>
                          <a:cubicBezTo>
                            <a:pt x="9737" y="17238"/>
                            <a:pt x="11073" y="14023"/>
                            <a:pt x="13745" y="11642"/>
                          </a:cubicBezTo>
                          <a:cubicBezTo>
                            <a:pt x="16418" y="9274"/>
                            <a:pt x="20042" y="8090"/>
                            <a:pt x="24620" y="8090"/>
                          </a:cubicBezTo>
                          <a:cubicBezTo>
                            <a:pt x="30956" y="8090"/>
                            <a:pt x="36036" y="10333"/>
                            <a:pt x="39860" y="14817"/>
                          </a:cubicBezTo>
                          <a:cubicBezTo>
                            <a:pt x="43683" y="19302"/>
                            <a:pt x="45595" y="25262"/>
                            <a:pt x="45595" y="32696"/>
                          </a:cubicBezTo>
                          <a:lnTo>
                            <a:pt x="45595" y="35236"/>
                          </a:lnTo>
                          <a:lnTo>
                            <a:pt x="34244" y="35236"/>
                          </a:lnTo>
                          <a:close/>
                          <a:moveTo>
                            <a:pt x="57005" y="39959"/>
                          </a:moveTo>
                          <a:lnTo>
                            <a:pt x="57005" y="331"/>
                          </a:lnTo>
                          <a:lnTo>
                            <a:pt x="45595" y="331"/>
                          </a:lnTo>
                          <a:lnTo>
                            <a:pt x="45595" y="10868"/>
                          </a:lnTo>
                          <a:cubicBezTo>
                            <a:pt x="42988" y="6661"/>
                            <a:pt x="39741" y="3553"/>
                            <a:pt x="35851" y="1542"/>
                          </a:cubicBezTo>
                          <a:cubicBezTo>
                            <a:pt x="31962" y="-469"/>
                            <a:pt x="27206" y="-1475"/>
                            <a:pt x="21584" y="-1475"/>
                          </a:cubicBezTo>
                          <a:cubicBezTo>
                            <a:pt x="14480" y="-1475"/>
                            <a:pt x="8824" y="523"/>
                            <a:pt x="4617" y="4518"/>
                          </a:cubicBezTo>
                          <a:cubicBezTo>
                            <a:pt x="424" y="8514"/>
                            <a:pt x="-1673" y="13858"/>
                            <a:pt x="-1673" y="20552"/>
                          </a:cubicBezTo>
                          <a:cubicBezTo>
                            <a:pt x="-1673" y="28357"/>
                            <a:pt x="939" y="34244"/>
                            <a:pt x="6165" y="38213"/>
                          </a:cubicBezTo>
                          <a:cubicBezTo>
                            <a:pt x="11404" y="42182"/>
                            <a:pt x="19209" y="44166"/>
                            <a:pt x="29581" y="44166"/>
                          </a:cubicBezTo>
                          <a:lnTo>
                            <a:pt x="45595" y="44166"/>
                          </a:lnTo>
                          <a:lnTo>
                            <a:pt x="45595" y="45297"/>
                          </a:lnTo>
                          <a:cubicBezTo>
                            <a:pt x="45595" y="50549"/>
                            <a:pt x="43868" y="54610"/>
                            <a:pt x="40415" y="57481"/>
                          </a:cubicBezTo>
                          <a:cubicBezTo>
                            <a:pt x="36963" y="60352"/>
                            <a:pt x="32114" y="61787"/>
                            <a:pt x="25870" y="61787"/>
                          </a:cubicBezTo>
                          <a:cubicBezTo>
                            <a:pt x="21901" y="61787"/>
                            <a:pt x="18032" y="61311"/>
                            <a:pt x="14261" y="60359"/>
                          </a:cubicBezTo>
                          <a:cubicBezTo>
                            <a:pt x="10504" y="59406"/>
                            <a:pt x="6893" y="57977"/>
                            <a:pt x="3427" y="56072"/>
                          </a:cubicBezTo>
                          <a:lnTo>
                            <a:pt x="3427" y="66629"/>
                          </a:lnTo>
                          <a:cubicBezTo>
                            <a:pt x="7594" y="68243"/>
                            <a:pt x="11642" y="69447"/>
                            <a:pt x="15571" y="70241"/>
                          </a:cubicBezTo>
                          <a:cubicBezTo>
                            <a:pt x="19500" y="71048"/>
                            <a:pt x="23323" y="71451"/>
                            <a:pt x="27041" y="71451"/>
                          </a:cubicBezTo>
                          <a:cubicBezTo>
                            <a:pt x="37095" y="71451"/>
                            <a:pt x="44602" y="68845"/>
                            <a:pt x="49563" y="63633"/>
                          </a:cubicBezTo>
                          <a:cubicBezTo>
                            <a:pt x="54524" y="58434"/>
                            <a:pt x="57005" y="50543"/>
                            <a:pt x="57005" y="39959"/>
                          </a:cubicBezTo>
                          <a:close/>
                        </a:path>
                      </a:pathLst>
                    </a:custGeom>
                    <a:solidFill>
                      <a:srgbClr val="000000"/>
                    </a:solidFill>
                    <a:ln w="20" cap="flat">
                      <a:noFill/>
                      <a:prstDash val="solid"/>
                      <a:round/>
                    </a:ln>
                  </p:spPr>
                  <p:txBody>
                    <a:bodyPr rtlCol="0" anchor="ctr"/>
                    <a:lstStyle/>
                    <a:p>
                      <a:endParaRPr lang="en-US"/>
                    </a:p>
                  </p:txBody>
                </p:sp>
                <p:sp>
                  <p:nvSpPr>
                    <p:cNvPr id="31" name="フリーフォーム: 図形 30">
                      <a:extLst>
                        <a:ext uri="{FF2B5EF4-FFF2-40B4-BE49-F238E27FC236}">
                          <a16:creationId xmlns:a16="http://schemas.microsoft.com/office/drawing/2014/main" id="{5529DD86-D5CA-6C5F-2F10-17F1DF3EA46D}"/>
                        </a:ext>
                      </a:extLst>
                    </p:cNvPr>
                    <p:cNvSpPr/>
                    <p:nvPr/>
                  </p:nvSpPr>
                  <p:spPr>
                    <a:xfrm flipV="1">
                      <a:off x="-6453470" y="5018001"/>
                      <a:ext cx="40679" cy="71119"/>
                    </a:xfrm>
                    <a:custGeom>
                      <a:avLst/>
                      <a:gdLst>
                        <a:gd name="connsiteX0" fmla="*/ 39269 w 40679"/>
                        <a:gd name="connsiteY0" fmla="*/ 57277 h 71119"/>
                        <a:gd name="connsiteX1" fmla="*/ 35082 w 40679"/>
                        <a:gd name="connsiteY1" fmla="*/ 58904 h 71119"/>
                        <a:gd name="connsiteX2" fmla="*/ 30101 w 40679"/>
                        <a:gd name="connsiteY2" fmla="*/ 59440 h 71119"/>
                        <a:gd name="connsiteX3" fmla="*/ 15238 w 40679"/>
                        <a:gd name="connsiteY3" fmla="*/ 53149 h 71119"/>
                        <a:gd name="connsiteX4" fmla="*/ 10059 w 40679"/>
                        <a:gd name="connsiteY4" fmla="*/ 35072 h 71119"/>
                        <a:gd name="connsiteX5" fmla="*/ 10059 w 40679"/>
                        <a:gd name="connsiteY5" fmla="*/ -1520 h 71119"/>
                        <a:gd name="connsiteX6" fmla="*/ -1411 w 40679"/>
                        <a:gd name="connsiteY6" fmla="*/ -1520 h 71119"/>
                        <a:gd name="connsiteX7" fmla="*/ -1411 w 40679"/>
                        <a:gd name="connsiteY7" fmla="*/ 67933 h 71119"/>
                        <a:gd name="connsiteX8" fmla="*/ 10059 w 40679"/>
                        <a:gd name="connsiteY8" fmla="*/ 67933 h 71119"/>
                        <a:gd name="connsiteX9" fmla="*/ 10059 w 40679"/>
                        <a:gd name="connsiteY9" fmla="*/ 57138 h 71119"/>
                        <a:gd name="connsiteX10" fmla="*/ 19425 w 40679"/>
                        <a:gd name="connsiteY10" fmla="*/ 66524 h 71119"/>
                        <a:gd name="connsiteX11" fmla="*/ 33454 w 40679"/>
                        <a:gd name="connsiteY11" fmla="*/ 69600 h 71119"/>
                        <a:gd name="connsiteX12" fmla="*/ 36054 w 40679"/>
                        <a:gd name="connsiteY12" fmla="*/ 69441 h 71119"/>
                        <a:gd name="connsiteX13" fmla="*/ 39209 w 40679"/>
                        <a:gd name="connsiteY13" fmla="*/ 68985 h 71119"/>
                        <a:gd name="connsiteX14" fmla="*/ 39269 w 40679"/>
                        <a:gd name="connsiteY14" fmla="*/ 57277 h 711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0679" h="71119">
                          <a:moveTo>
                            <a:pt x="39269" y="57277"/>
                          </a:moveTo>
                          <a:cubicBezTo>
                            <a:pt x="37985" y="58018"/>
                            <a:pt x="36590" y="58560"/>
                            <a:pt x="35082" y="58904"/>
                          </a:cubicBezTo>
                          <a:cubicBezTo>
                            <a:pt x="33573" y="59261"/>
                            <a:pt x="31913" y="59440"/>
                            <a:pt x="30101" y="59440"/>
                          </a:cubicBezTo>
                          <a:cubicBezTo>
                            <a:pt x="23645" y="59440"/>
                            <a:pt x="18691" y="57343"/>
                            <a:pt x="15238" y="53149"/>
                          </a:cubicBezTo>
                          <a:cubicBezTo>
                            <a:pt x="11785" y="48956"/>
                            <a:pt x="10059" y="42930"/>
                            <a:pt x="10059" y="35072"/>
                          </a:cubicBezTo>
                          <a:lnTo>
                            <a:pt x="10059" y="-1520"/>
                          </a:lnTo>
                          <a:lnTo>
                            <a:pt x="-1411" y="-1520"/>
                          </a:lnTo>
                          <a:lnTo>
                            <a:pt x="-1411" y="67933"/>
                          </a:lnTo>
                          <a:lnTo>
                            <a:pt x="10059" y="67933"/>
                          </a:lnTo>
                          <a:lnTo>
                            <a:pt x="10059" y="57138"/>
                          </a:lnTo>
                          <a:cubicBezTo>
                            <a:pt x="12466" y="61358"/>
                            <a:pt x="15589" y="64487"/>
                            <a:pt x="19425" y="66524"/>
                          </a:cubicBezTo>
                          <a:cubicBezTo>
                            <a:pt x="23275" y="68575"/>
                            <a:pt x="27951" y="69600"/>
                            <a:pt x="33454" y="69600"/>
                          </a:cubicBezTo>
                          <a:cubicBezTo>
                            <a:pt x="34235" y="69600"/>
                            <a:pt x="35101" y="69547"/>
                            <a:pt x="36054" y="69441"/>
                          </a:cubicBezTo>
                          <a:cubicBezTo>
                            <a:pt x="37006" y="69349"/>
                            <a:pt x="38058" y="69196"/>
                            <a:pt x="39209" y="68985"/>
                          </a:cubicBezTo>
                          <a:lnTo>
                            <a:pt x="39269" y="57277"/>
                          </a:lnTo>
                          <a:close/>
                        </a:path>
                      </a:pathLst>
                    </a:custGeom>
                    <a:solidFill>
                      <a:srgbClr val="000000"/>
                    </a:solidFill>
                    <a:ln w="20" cap="flat">
                      <a:noFill/>
                      <a:prstDash val="solid"/>
                      <a:round/>
                    </a:ln>
                  </p:spPr>
                  <p:txBody>
                    <a:bodyPr rtlCol="0" anchor="ctr"/>
                    <a:lstStyle/>
                    <a:p>
                      <a:endParaRPr lang="en-US"/>
                    </a:p>
                  </p:txBody>
                </p:sp>
              </p:grpSp>
            </p:grpSp>
            <p:grpSp>
              <p:nvGrpSpPr>
                <p:cNvPr id="32" name="グラフィックス 2">
                  <a:extLst>
                    <a:ext uri="{FF2B5EF4-FFF2-40B4-BE49-F238E27FC236}">
                      <a16:creationId xmlns:a16="http://schemas.microsoft.com/office/drawing/2014/main" id="{27480A3B-25C0-C765-7BDC-63ACFC222DD4}"/>
                    </a:ext>
                  </a:extLst>
                </p:cNvPr>
                <p:cNvGrpSpPr/>
                <p:nvPr/>
              </p:nvGrpSpPr>
              <p:grpSpPr>
                <a:xfrm>
                  <a:off x="-5947167" y="1941578"/>
                  <a:ext cx="218710" cy="3173954"/>
                  <a:chOff x="-5947167" y="1941578"/>
                  <a:chExt cx="218710" cy="3173954"/>
                </a:xfrm>
              </p:grpSpPr>
              <p:sp>
                <p:nvSpPr>
                  <p:cNvPr id="33" name="フリーフォーム: 図形 32">
                    <a:extLst>
                      <a:ext uri="{FF2B5EF4-FFF2-40B4-BE49-F238E27FC236}">
                        <a16:creationId xmlns:a16="http://schemas.microsoft.com/office/drawing/2014/main" id="{4ECE3638-E627-FDB9-4D8F-AB0021C8F3C7}"/>
                      </a:ext>
                    </a:extLst>
                  </p:cNvPr>
                  <p:cNvSpPr/>
                  <p:nvPr/>
                </p:nvSpPr>
                <p:spPr>
                  <a:xfrm>
                    <a:off x="-5838304" y="1941578"/>
                    <a:ext cx="12700" cy="2962147"/>
                  </a:xfrm>
                  <a:custGeom>
                    <a:avLst/>
                    <a:gdLst>
                      <a:gd name="connsiteX0" fmla="*/ 0 w 12700"/>
                      <a:gd name="connsiteY0" fmla="*/ 2962148 h 2962147"/>
                      <a:gd name="connsiteX1" fmla="*/ 0 w 12700"/>
                      <a:gd name="connsiteY1" fmla="*/ 0 h 2962147"/>
                    </a:gdLst>
                    <a:ahLst/>
                    <a:cxnLst>
                      <a:cxn ang="0">
                        <a:pos x="connsiteX0" y="connsiteY0"/>
                      </a:cxn>
                      <a:cxn ang="0">
                        <a:pos x="connsiteX1" y="connsiteY1"/>
                      </a:cxn>
                    </a:cxnLst>
                    <a:rect l="l" t="t" r="r" b="b"/>
                    <a:pathLst>
                      <a:path w="12700" h="2962147">
                        <a:moveTo>
                          <a:pt x="0" y="2962148"/>
                        </a:moveTo>
                        <a:lnTo>
                          <a:pt x="0" y="0"/>
                        </a:lnTo>
                      </a:path>
                    </a:pathLst>
                  </a:custGeom>
                  <a:noFill/>
                  <a:ln w="10160" cap="sq">
                    <a:solidFill>
                      <a:srgbClr val="B0B0B0"/>
                    </a:solidFill>
                    <a:prstDash val="solid"/>
                    <a:round/>
                  </a:ln>
                </p:spPr>
                <p:txBody>
                  <a:bodyPr rtlCol="0" anchor="ctr"/>
                  <a:lstStyle/>
                  <a:p>
                    <a:endParaRPr lang="en-US"/>
                  </a:p>
                </p:txBody>
              </p:sp>
              <p:sp>
                <p:nvSpPr>
                  <p:cNvPr id="34" name="フリーフォーム: 図形 33">
                    <a:extLst>
                      <a:ext uri="{FF2B5EF4-FFF2-40B4-BE49-F238E27FC236}">
                        <a16:creationId xmlns:a16="http://schemas.microsoft.com/office/drawing/2014/main" id="{DA89CA2A-41BA-742A-2BD6-247BEDB557BE}"/>
                      </a:ext>
                    </a:extLst>
                  </p:cNvPr>
                  <p:cNvSpPr/>
                  <p:nvPr/>
                </p:nvSpPr>
                <p:spPr>
                  <a:xfrm>
                    <a:off x="-5838304" y="4903727"/>
                    <a:ext cx="12700" cy="44450"/>
                  </a:xfrm>
                  <a:custGeom>
                    <a:avLst/>
                    <a:gdLst>
                      <a:gd name="connsiteX0" fmla="*/ 242 w 12700"/>
                      <a:gd name="connsiteY0" fmla="*/ 260 h 44450"/>
                      <a:gd name="connsiteX1" fmla="*/ 242 w 12700"/>
                      <a:gd name="connsiteY1" fmla="*/ 44710 h 44450"/>
                    </a:gdLst>
                    <a:ahLst/>
                    <a:cxnLst>
                      <a:cxn ang="0">
                        <a:pos x="connsiteX0" y="connsiteY0"/>
                      </a:cxn>
                      <a:cxn ang="0">
                        <a:pos x="connsiteX1" y="connsiteY1"/>
                      </a:cxn>
                    </a:cxnLst>
                    <a:rect l="l" t="t" r="r" b="b"/>
                    <a:pathLst>
                      <a:path w="12700" h="44450">
                        <a:moveTo>
                          <a:pt x="242" y="260"/>
                        </a:moveTo>
                        <a:lnTo>
                          <a:pt x="242" y="44710"/>
                        </a:lnTo>
                      </a:path>
                    </a:pathLst>
                  </a:custGeom>
                  <a:solidFill>
                    <a:srgbClr val="000000"/>
                  </a:solidFill>
                  <a:ln w="10160" cap="flat">
                    <a:solidFill>
                      <a:srgbClr val="000000"/>
                    </a:solidFill>
                    <a:prstDash val="solid"/>
                    <a:round/>
                  </a:ln>
                </p:spPr>
                <p:txBody>
                  <a:bodyPr rtlCol="0" anchor="ctr"/>
                  <a:lstStyle/>
                  <a:p>
                    <a:endParaRPr lang="en-US"/>
                  </a:p>
                </p:txBody>
              </p:sp>
              <p:grpSp>
                <p:nvGrpSpPr>
                  <p:cNvPr id="35" name="グラフィックス 2">
                    <a:extLst>
                      <a:ext uri="{FF2B5EF4-FFF2-40B4-BE49-F238E27FC236}">
                        <a16:creationId xmlns:a16="http://schemas.microsoft.com/office/drawing/2014/main" id="{BBA2AA57-760F-709E-E301-F5DD2728CF53}"/>
                      </a:ext>
                    </a:extLst>
                  </p:cNvPr>
                  <p:cNvGrpSpPr/>
                  <p:nvPr/>
                </p:nvGrpSpPr>
                <p:grpSpPr>
                  <a:xfrm>
                    <a:off x="-5947167" y="4996530"/>
                    <a:ext cx="218710" cy="119002"/>
                    <a:chOff x="-5947167" y="4996530"/>
                    <a:chExt cx="218710" cy="119002"/>
                  </a:xfrm>
                  <a:solidFill>
                    <a:srgbClr val="000000"/>
                  </a:solidFill>
                </p:grpSpPr>
                <p:sp>
                  <p:nvSpPr>
                    <p:cNvPr id="36" name="フリーフォーム: 図形 35">
                      <a:extLst>
                        <a:ext uri="{FF2B5EF4-FFF2-40B4-BE49-F238E27FC236}">
                          <a16:creationId xmlns:a16="http://schemas.microsoft.com/office/drawing/2014/main" id="{36C2095C-D436-49E9-8284-290AAA5FBF15}"/>
                        </a:ext>
                      </a:extLst>
                    </p:cNvPr>
                    <p:cNvSpPr/>
                    <p:nvPr/>
                  </p:nvSpPr>
                  <p:spPr>
                    <a:xfrm flipV="1">
                      <a:off x="-5947167" y="4996530"/>
                      <a:ext cx="84832" cy="92590"/>
                    </a:xfrm>
                    <a:custGeom>
                      <a:avLst/>
                      <a:gdLst>
                        <a:gd name="connsiteX0" fmla="*/ 40475 w 84832"/>
                        <a:gd name="connsiteY0" fmla="*/ 78186 h 92590"/>
                        <a:gd name="connsiteX1" fmla="*/ 23469 w 84832"/>
                        <a:gd name="connsiteY1" fmla="*/ 32109 h 92590"/>
                        <a:gd name="connsiteX2" fmla="*/ 57521 w 84832"/>
                        <a:gd name="connsiteY2" fmla="*/ 32109 h 92590"/>
                        <a:gd name="connsiteX3" fmla="*/ 40475 w 84832"/>
                        <a:gd name="connsiteY3" fmla="*/ 78186 h 92590"/>
                        <a:gd name="connsiteX4" fmla="*/ 33391 w 84832"/>
                        <a:gd name="connsiteY4" fmla="*/ 90529 h 92590"/>
                        <a:gd name="connsiteX5" fmla="*/ 47599 w 84832"/>
                        <a:gd name="connsiteY5" fmla="*/ 90529 h 92590"/>
                        <a:gd name="connsiteX6" fmla="*/ 82881 w 84832"/>
                        <a:gd name="connsiteY6" fmla="*/ -2062 h 92590"/>
                        <a:gd name="connsiteX7" fmla="*/ 69864 w 84832"/>
                        <a:gd name="connsiteY7" fmla="*/ -2062 h 92590"/>
                        <a:gd name="connsiteX8" fmla="*/ 61430 w 84832"/>
                        <a:gd name="connsiteY8" fmla="*/ 21691 h 92590"/>
                        <a:gd name="connsiteX9" fmla="*/ 19699 w 84832"/>
                        <a:gd name="connsiteY9" fmla="*/ 21691 h 92590"/>
                        <a:gd name="connsiteX10" fmla="*/ 11265 w 84832"/>
                        <a:gd name="connsiteY10" fmla="*/ -2062 h 92590"/>
                        <a:gd name="connsiteX11" fmla="*/ -1951 w 84832"/>
                        <a:gd name="connsiteY11" fmla="*/ -2062 h 92590"/>
                        <a:gd name="connsiteX12" fmla="*/ 33391 w 84832"/>
                        <a:gd name="connsiteY12" fmla="*/ 90529 h 92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4832" h="92590">
                          <a:moveTo>
                            <a:pt x="40475" y="78186"/>
                          </a:moveTo>
                          <a:lnTo>
                            <a:pt x="23469" y="32109"/>
                          </a:lnTo>
                          <a:lnTo>
                            <a:pt x="57521" y="32109"/>
                          </a:lnTo>
                          <a:lnTo>
                            <a:pt x="40475" y="78186"/>
                          </a:lnTo>
                          <a:close/>
                          <a:moveTo>
                            <a:pt x="33391" y="90529"/>
                          </a:moveTo>
                          <a:lnTo>
                            <a:pt x="47599" y="90529"/>
                          </a:lnTo>
                          <a:lnTo>
                            <a:pt x="82881" y="-2062"/>
                          </a:lnTo>
                          <a:lnTo>
                            <a:pt x="69864" y="-2062"/>
                          </a:lnTo>
                          <a:lnTo>
                            <a:pt x="61430" y="21691"/>
                          </a:lnTo>
                          <a:lnTo>
                            <a:pt x="19699" y="21691"/>
                          </a:lnTo>
                          <a:lnTo>
                            <a:pt x="11265" y="-2062"/>
                          </a:lnTo>
                          <a:lnTo>
                            <a:pt x="-1951" y="-2062"/>
                          </a:lnTo>
                          <a:lnTo>
                            <a:pt x="33391" y="90529"/>
                          </a:lnTo>
                          <a:close/>
                        </a:path>
                      </a:pathLst>
                    </a:custGeom>
                    <a:solidFill>
                      <a:srgbClr val="000000"/>
                    </a:solidFill>
                    <a:ln w="20" cap="flat">
                      <a:noFill/>
                      <a:prstDash val="solid"/>
                      <a:round/>
                    </a:ln>
                  </p:spPr>
                  <p:txBody>
                    <a:bodyPr rtlCol="0" anchor="ctr"/>
                    <a:lstStyle/>
                    <a:p>
                      <a:endParaRPr lang="en-US"/>
                    </a:p>
                  </p:txBody>
                </p:sp>
                <p:sp>
                  <p:nvSpPr>
                    <p:cNvPr id="37" name="フリーフォーム: 図形 36">
                      <a:extLst>
                        <a:ext uri="{FF2B5EF4-FFF2-40B4-BE49-F238E27FC236}">
                          <a16:creationId xmlns:a16="http://schemas.microsoft.com/office/drawing/2014/main" id="{1F71E1B1-869B-4AB7-F9DB-26A574D6BD4F}"/>
                        </a:ext>
                      </a:extLst>
                    </p:cNvPr>
                    <p:cNvSpPr/>
                    <p:nvPr/>
                  </p:nvSpPr>
                  <p:spPr>
                    <a:xfrm flipV="1">
                      <a:off x="-5849751" y="5018001"/>
                      <a:ext cx="62150" cy="97532"/>
                    </a:xfrm>
                    <a:custGeom>
                      <a:avLst/>
                      <a:gdLst>
                        <a:gd name="connsiteX0" fmla="*/ 9566 w 62150"/>
                        <a:gd name="connsiteY0" fmla="*/ 35976 h 97532"/>
                        <a:gd name="connsiteX1" fmla="*/ 9566 w 62150"/>
                        <a:gd name="connsiteY1" fmla="*/ -854 h 97532"/>
                        <a:gd name="connsiteX2" fmla="*/ -1904 w 62150"/>
                        <a:gd name="connsiteY2" fmla="*/ -854 h 97532"/>
                        <a:gd name="connsiteX3" fmla="*/ -1904 w 62150"/>
                        <a:gd name="connsiteY3" fmla="*/ 95012 h 97532"/>
                        <a:gd name="connsiteX4" fmla="*/ 9566 w 62150"/>
                        <a:gd name="connsiteY4" fmla="*/ 95012 h 97532"/>
                        <a:gd name="connsiteX5" fmla="*/ 9566 w 62150"/>
                        <a:gd name="connsiteY5" fmla="*/ 84475 h 97532"/>
                        <a:gd name="connsiteX6" fmla="*/ 18654 w 62150"/>
                        <a:gd name="connsiteY6" fmla="*/ 93662 h 97532"/>
                        <a:gd name="connsiteX7" fmla="*/ 31771 w 62150"/>
                        <a:gd name="connsiteY7" fmla="*/ 96678 h 97532"/>
                        <a:gd name="connsiteX8" fmla="*/ 52329 w 62150"/>
                        <a:gd name="connsiteY8" fmla="*/ 86638 h 97532"/>
                        <a:gd name="connsiteX9" fmla="*/ 60247 w 62150"/>
                        <a:gd name="connsiteY9" fmla="*/ 60226 h 97532"/>
                        <a:gd name="connsiteX10" fmla="*/ 52329 w 62150"/>
                        <a:gd name="connsiteY10" fmla="*/ 33794 h 97532"/>
                        <a:gd name="connsiteX11" fmla="*/ 31771 w 62150"/>
                        <a:gd name="connsiteY11" fmla="*/ 23753 h 97532"/>
                        <a:gd name="connsiteX12" fmla="*/ 18654 w 62150"/>
                        <a:gd name="connsiteY12" fmla="*/ 26769 h 97532"/>
                        <a:gd name="connsiteX13" fmla="*/ 9566 w 62150"/>
                        <a:gd name="connsiteY13" fmla="*/ 35976 h 97532"/>
                        <a:gd name="connsiteX14" fmla="*/ 48400 w 62150"/>
                        <a:gd name="connsiteY14" fmla="*/ 60226 h 97532"/>
                        <a:gd name="connsiteX15" fmla="*/ 43221 w 62150"/>
                        <a:gd name="connsiteY15" fmla="*/ 79970 h 97532"/>
                        <a:gd name="connsiteX16" fmla="*/ 28993 w 62150"/>
                        <a:gd name="connsiteY16" fmla="*/ 87134 h 97532"/>
                        <a:gd name="connsiteX17" fmla="*/ 14745 w 62150"/>
                        <a:gd name="connsiteY17" fmla="*/ 79970 h 97532"/>
                        <a:gd name="connsiteX18" fmla="*/ 9566 w 62150"/>
                        <a:gd name="connsiteY18" fmla="*/ 60226 h 97532"/>
                        <a:gd name="connsiteX19" fmla="*/ 14745 w 62150"/>
                        <a:gd name="connsiteY19" fmla="*/ 40481 h 97532"/>
                        <a:gd name="connsiteX20" fmla="*/ 28993 w 62150"/>
                        <a:gd name="connsiteY20" fmla="*/ 33317 h 97532"/>
                        <a:gd name="connsiteX21" fmla="*/ 43221 w 62150"/>
                        <a:gd name="connsiteY21" fmla="*/ 40481 h 97532"/>
                        <a:gd name="connsiteX22" fmla="*/ 48400 w 62150"/>
                        <a:gd name="connsiteY22" fmla="*/ 60226 h 97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62150" h="97532">
                          <a:moveTo>
                            <a:pt x="9566" y="35976"/>
                          </a:moveTo>
                          <a:lnTo>
                            <a:pt x="9566" y="-854"/>
                          </a:lnTo>
                          <a:lnTo>
                            <a:pt x="-1904" y="-854"/>
                          </a:lnTo>
                          <a:lnTo>
                            <a:pt x="-1904" y="95012"/>
                          </a:lnTo>
                          <a:lnTo>
                            <a:pt x="9566" y="95012"/>
                          </a:lnTo>
                          <a:lnTo>
                            <a:pt x="9566" y="84475"/>
                          </a:lnTo>
                          <a:cubicBezTo>
                            <a:pt x="11974" y="88602"/>
                            <a:pt x="15003" y="91665"/>
                            <a:pt x="18654" y="93662"/>
                          </a:cubicBezTo>
                          <a:cubicBezTo>
                            <a:pt x="22319" y="95673"/>
                            <a:pt x="26691" y="96678"/>
                            <a:pt x="31771" y="96678"/>
                          </a:cubicBezTo>
                          <a:cubicBezTo>
                            <a:pt x="40211" y="96678"/>
                            <a:pt x="47064" y="93331"/>
                            <a:pt x="52329" y="86638"/>
                          </a:cubicBezTo>
                          <a:cubicBezTo>
                            <a:pt x="57608" y="79944"/>
                            <a:pt x="60247" y="71140"/>
                            <a:pt x="60247" y="60226"/>
                          </a:cubicBezTo>
                          <a:cubicBezTo>
                            <a:pt x="60247" y="49311"/>
                            <a:pt x="57608" y="40501"/>
                            <a:pt x="52329" y="33794"/>
                          </a:cubicBezTo>
                          <a:cubicBezTo>
                            <a:pt x="47064" y="27100"/>
                            <a:pt x="40211" y="23753"/>
                            <a:pt x="31771" y="23753"/>
                          </a:cubicBezTo>
                          <a:cubicBezTo>
                            <a:pt x="26691" y="23753"/>
                            <a:pt x="22319" y="24758"/>
                            <a:pt x="18654" y="26769"/>
                          </a:cubicBezTo>
                          <a:cubicBezTo>
                            <a:pt x="15003" y="28780"/>
                            <a:pt x="11974" y="31849"/>
                            <a:pt x="9566" y="35976"/>
                          </a:cubicBezTo>
                          <a:close/>
                          <a:moveTo>
                            <a:pt x="48400" y="60226"/>
                          </a:moveTo>
                          <a:cubicBezTo>
                            <a:pt x="48400" y="68613"/>
                            <a:pt x="46674" y="75194"/>
                            <a:pt x="43221" y="79970"/>
                          </a:cubicBezTo>
                          <a:cubicBezTo>
                            <a:pt x="39768" y="84746"/>
                            <a:pt x="35026" y="87134"/>
                            <a:pt x="28993" y="87134"/>
                          </a:cubicBezTo>
                          <a:cubicBezTo>
                            <a:pt x="22947" y="87134"/>
                            <a:pt x="18198" y="84746"/>
                            <a:pt x="14745" y="79970"/>
                          </a:cubicBezTo>
                          <a:cubicBezTo>
                            <a:pt x="11292" y="75194"/>
                            <a:pt x="9566" y="68613"/>
                            <a:pt x="9566" y="60226"/>
                          </a:cubicBezTo>
                          <a:cubicBezTo>
                            <a:pt x="9566" y="51838"/>
                            <a:pt x="11292" y="45257"/>
                            <a:pt x="14745" y="40481"/>
                          </a:cubicBezTo>
                          <a:cubicBezTo>
                            <a:pt x="18198" y="35705"/>
                            <a:pt x="22947" y="33317"/>
                            <a:pt x="28993" y="33317"/>
                          </a:cubicBezTo>
                          <a:cubicBezTo>
                            <a:pt x="35026" y="33317"/>
                            <a:pt x="39768" y="35705"/>
                            <a:pt x="43221" y="40481"/>
                          </a:cubicBezTo>
                          <a:cubicBezTo>
                            <a:pt x="46674" y="45257"/>
                            <a:pt x="48400" y="51838"/>
                            <a:pt x="48400" y="60226"/>
                          </a:cubicBezTo>
                          <a:close/>
                        </a:path>
                      </a:pathLst>
                    </a:custGeom>
                    <a:solidFill>
                      <a:srgbClr val="000000"/>
                    </a:solidFill>
                    <a:ln w="20" cap="flat">
                      <a:noFill/>
                      <a:prstDash val="solid"/>
                      <a:round/>
                    </a:ln>
                  </p:spPr>
                  <p:txBody>
                    <a:bodyPr rtlCol="0" anchor="ctr"/>
                    <a:lstStyle/>
                    <a:p>
                      <a:endParaRPr lang="en-US"/>
                    </a:p>
                  </p:txBody>
                </p:sp>
                <p:sp>
                  <p:nvSpPr>
                    <p:cNvPr id="38" name="フリーフォーム: 図形 37">
                      <a:extLst>
                        <a:ext uri="{FF2B5EF4-FFF2-40B4-BE49-F238E27FC236}">
                          <a16:creationId xmlns:a16="http://schemas.microsoft.com/office/drawing/2014/main" id="{9CC3D9E8-2861-33E4-CF5A-0496B3D366B5}"/>
                        </a:ext>
                      </a:extLst>
                    </p:cNvPr>
                    <p:cNvSpPr/>
                    <p:nvPr/>
                  </p:nvSpPr>
                  <p:spPr>
                    <a:xfrm flipV="1">
                      <a:off x="-5769136" y="5018001"/>
                      <a:ext cx="40679" cy="71119"/>
                    </a:xfrm>
                    <a:custGeom>
                      <a:avLst/>
                      <a:gdLst>
                        <a:gd name="connsiteX0" fmla="*/ 39323 w 40679"/>
                        <a:gd name="connsiteY0" fmla="*/ 57277 h 71119"/>
                        <a:gd name="connsiteX1" fmla="*/ 35135 w 40679"/>
                        <a:gd name="connsiteY1" fmla="*/ 58904 h 71119"/>
                        <a:gd name="connsiteX2" fmla="*/ 30155 w 40679"/>
                        <a:gd name="connsiteY2" fmla="*/ 59440 h 71119"/>
                        <a:gd name="connsiteX3" fmla="*/ 15292 w 40679"/>
                        <a:gd name="connsiteY3" fmla="*/ 53149 h 71119"/>
                        <a:gd name="connsiteX4" fmla="*/ 10113 w 40679"/>
                        <a:gd name="connsiteY4" fmla="*/ 35072 h 71119"/>
                        <a:gd name="connsiteX5" fmla="*/ 10113 w 40679"/>
                        <a:gd name="connsiteY5" fmla="*/ -1520 h 71119"/>
                        <a:gd name="connsiteX6" fmla="*/ -1357 w 40679"/>
                        <a:gd name="connsiteY6" fmla="*/ -1520 h 71119"/>
                        <a:gd name="connsiteX7" fmla="*/ -1357 w 40679"/>
                        <a:gd name="connsiteY7" fmla="*/ 67933 h 71119"/>
                        <a:gd name="connsiteX8" fmla="*/ 10113 w 40679"/>
                        <a:gd name="connsiteY8" fmla="*/ 67933 h 71119"/>
                        <a:gd name="connsiteX9" fmla="*/ 10113 w 40679"/>
                        <a:gd name="connsiteY9" fmla="*/ 57138 h 71119"/>
                        <a:gd name="connsiteX10" fmla="*/ 19479 w 40679"/>
                        <a:gd name="connsiteY10" fmla="*/ 66524 h 71119"/>
                        <a:gd name="connsiteX11" fmla="*/ 33508 w 40679"/>
                        <a:gd name="connsiteY11" fmla="*/ 69600 h 71119"/>
                        <a:gd name="connsiteX12" fmla="*/ 36108 w 40679"/>
                        <a:gd name="connsiteY12" fmla="*/ 69441 h 71119"/>
                        <a:gd name="connsiteX13" fmla="*/ 39263 w 40679"/>
                        <a:gd name="connsiteY13" fmla="*/ 68985 h 71119"/>
                        <a:gd name="connsiteX14" fmla="*/ 39323 w 40679"/>
                        <a:gd name="connsiteY14" fmla="*/ 57277 h 711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0679" h="71119">
                          <a:moveTo>
                            <a:pt x="39323" y="57277"/>
                          </a:moveTo>
                          <a:cubicBezTo>
                            <a:pt x="38039" y="58018"/>
                            <a:pt x="36644" y="58560"/>
                            <a:pt x="35135" y="58904"/>
                          </a:cubicBezTo>
                          <a:cubicBezTo>
                            <a:pt x="33627" y="59261"/>
                            <a:pt x="31967" y="59440"/>
                            <a:pt x="30155" y="59440"/>
                          </a:cubicBezTo>
                          <a:cubicBezTo>
                            <a:pt x="23699" y="59440"/>
                            <a:pt x="18745" y="57343"/>
                            <a:pt x="15292" y="53149"/>
                          </a:cubicBezTo>
                          <a:cubicBezTo>
                            <a:pt x="11839" y="48956"/>
                            <a:pt x="10113" y="42930"/>
                            <a:pt x="10113" y="35072"/>
                          </a:cubicBezTo>
                          <a:lnTo>
                            <a:pt x="10113" y="-1520"/>
                          </a:lnTo>
                          <a:lnTo>
                            <a:pt x="-1357" y="-1520"/>
                          </a:lnTo>
                          <a:lnTo>
                            <a:pt x="-1357" y="67933"/>
                          </a:lnTo>
                          <a:lnTo>
                            <a:pt x="10113" y="67933"/>
                          </a:lnTo>
                          <a:lnTo>
                            <a:pt x="10113" y="57138"/>
                          </a:lnTo>
                          <a:cubicBezTo>
                            <a:pt x="12520" y="61358"/>
                            <a:pt x="15642" y="64487"/>
                            <a:pt x="19479" y="66524"/>
                          </a:cubicBezTo>
                          <a:cubicBezTo>
                            <a:pt x="23328" y="68575"/>
                            <a:pt x="28005" y="69600"/>
                            <a:pt x="33508" y="69600"/>
                          </a:cubicBezTo>
                          <a:cubicBezTo>
                            <a:pt x="34289" y="69600"/>
                            <a:pt x="35155" y="69547"/>
                            <a:pt x="36108" y="69441"/>
                          </a:cubicBezTo>
                          <a:cubicBezTo>
                            <a:pt x="37060" y="69349"/>
                            <a:pt x="38112" y="69196"/>
                            <a:pt x="39263" y="68985"/>
                          </a:cubicBezTo>
                          <a:lnTo>
                            <a:pt x="39323" y="57277"/>
                          </a:lnTo>
                          <a:close/>
                        </a:path>
                      </a:pathLst>
                    </a:custGeom>
                    <a:solidFill>
                      <a:srgbClr val="000000"/>
                    </a:solidFill>
                    <a:ln w="20" cap="flat">
                      <a:noFill/>
                      <a:prstDash val="solid"/>
                      <a:round/>
                    </a:ln>
                  </p:spPr>
                  <p:txBody>
                    <a:bodyPr rtlCol="0" anchor="ctr"/>
                    <a:lstStyle/>
                    <a:p>
                      <a:endParaRPr lang="en-US"/>
                    </a:p>
                  </p:txBody>
                </p:sp>
              </p:grpSp>
            </p:grpSp>
            <p:grpSp>
              <p:nvGrpSpPr>
                <p:cNvPr id="39" name="グラフィックス 2">
                  <a:extLst>
                    <a:ext uri="{FF2B5EF4-FFF2-40B4-BE49-F238E27FC236}">
                      <a16:creationId xmlns:a16="http://schemas.microsoft.com/office/drawing/2014/main" id="{95F4B181-4B5C-4E70-DC4D-124C05873CBA}"/>
                    </a:ext>
                  </a:extLst>
                </p:cNvPr>
                <p:cNvGrpSpPr/>
                <p:nvPr/>
              </p:nvGrpSpPr>
              <p:grpSpPr>
                <a:xfrm>
                  <a:off x="-5262851" y="1941578"/>
                  <a:ext cx="246316" cy="3173954"/>
                  <a:chOff x="-5262851" y="1941578"/>
                  <a:chExt cx="246316" cy="3173954"/>
                </a:xfrm>
              </p:grpSpPr>
              <p:sp>
                <p:nvSpPr>
                  <p:cNvPr id="40" name="フリーフォーム: 図形 39">
                    <a:extLst>
                      <a:ext uri="{FF2B5EF4-FFF2-40B4-BE49-F238E27FC236}">
                        <a16:creationId xmlns:a16="http://schemas.microsoft.com/office/drawing/2014/main" id="{36FF021C-69EC-1EE6-5DAD-7FAC2DD5AFC5}"/>
                      </a:ext>
                    </a:extLst>
                  </p:cNvPr>
                  <p:cNvSpPr/>
                  <p:nvPr/>
                </p:nvSpPr>
                <p:spPr>
                  <a:xfrm>
                    <a:off x="-5144033" y="1941578"/>
                    <a:ext cx="12700" cy="2962147"/>
                  </a:xfrm>
                  <a:custGeom>
                    <a:avLst/>
                    <a:gdLst>
                      <a:gd name="connsiteX0" fmla="*/ 0 w 12700"/>
                      <a:gd name="connsiteY0" fmla="*/ 2962148 h 2962147"/>
                      <a:gd name="connsiteX1" fmla="*/ 0 w 12700"/>
                      <a:gd name="connsiteY1" fmla="*/ 0 h 2962147"/>
                    </a:gdLst>
                    <a:ahLst/>
                    <a:cxnLst>
                      <a:cxn ang="0">
                        <a:pos x="connsiteX0" y="connsiteY0"/>
                      </a:cxn>
                      <a:cxn ang="0">
                        <a:pos x="connsiteX1" y="connsiteY1"/>
                      </a:cxn>
                    </a:cxnLst>
                    <a:rect l="l" t="t" r="r" b="b"/>
                    <a:pathLst>
                      <a:path w="12700" h="2962147">
                        <a:moveTo>
                          <a:pt x="0" y="2962148"/>
                        </a:moveTo>
                        <a:lnTo>
                          <a:pt x="0" y="0"/>
                        </a:lnTo>
                      </a:path>
                    </a:pathLst>
                  </a:custGeom>
                  <a:noFill/>
                  <a:ln w="10160" cap="sq">
                    <a:solidFill>
                      <a:srgbClr val="B0B0B0"/>
                    </a:solidFill>
                    <a:prstDash val="solid"/>
                    <a:round/>
                  </a:ln>
                </p:spPr>
                <p:txBody>
                  <a:bodyPr rtlCol="0" anchor="ctr"/>
                  <a:lstStyle/>
                  <a:p>
                    <a:endParaRPr lang="en-US"/>
                  </a:p>
                </p:txBody>
              </p:sp>
              <p:sp>
                <p:nvSpPr>
                  <p:cNvPr id="41" name="フリーフォーム: 図形 40">
                    <a:extLst>
                      <a:ext uri="{FF2B5EF4-FFF2-40B4-BE49-F238E27FC236}">
                        <a16:creationId xmlns:a16="http://schemas.microsoft.com/office/drawing/2014/main" id="{F956E9E5-9ADB-A039-75E2-B1FE2253AC76}"/>
                      </a:ext>
                    </a:extLst>
                  </p:cNvPr>
                  <p:cNvSpPr/>
                  <p:nvPr/>
                </p:nvSpPr>
                <p:spPr>
                  <a:xfrm>
                    <a:off x="-5144033" y="4903727"/>
                    <a:ext cx="12700" cy="44450"/>
                  </a:xfrm>
                  <a:custGeom>
                    <a:avLst/>
                    <a:gdLst>
                      <a:gd name="connsiteX0" fmla="*/ 296 w 12700"/>
                      <a:gd name="connsiteY0" fmla="*/ 260 h 44450"/>
                      <a:gd name="connsiteX1" fmla="*/ 296 w 12700"/>
                      <a:gd name="connsiteY1" fmla="*/ 44710 h 44450"/>
                    </a:gdLst>
                    <a:ahLst/>
                    <a:cxnLst>
                      <a:cxn ang="0">
                        <a:pos x="connsiteX0" y="connsiteY0"/>
                      </a:cxn>
                      <a:cxn ang="0">
                        <a:pos x="connsiteX1" y="connsiteY1"/>
                      </a:cxn>
                    </a:cxnLst>
                    <a:rect l="l" t="t" r="r" b="b"/>
                    <a:pathLst>
                      <a:path w="12700" h="44450">
                        <a:moveTo>
                          <a:pt x="296" y="260"/>
                        </a:moveTo>
                        <a:lnTo>
                          <a:pt x="296" y="44710"/>
                        </a:lnTo>
                      </a:path>
                    </a:pathLst>
                  </a:custGeom>
                  <a:solidFill>
                    <a:srgbClr val="000000"/>
                  </a:solidFill>
                  <a:ln w="10160" cap="flat">
                    <a:solidFill>
                      <a:srgbClr val="000000"/>
                    </a:solidFill>
                    <a:prstDash val="solid"/>
                    <a:round/>
                  </a:ln>
                </p:spPr>
                <p:txBody>
                  <a:bodyPr rtlCol="0" anchor="ctr"/>
                  <a:lstStyle/>
                  <a:p>
                    <a:endParaRPr lang="en-US"/>
                  </a:p>
                </p:txBody>
              </p:sp>
              <p:grpSp>
                <p:nvGrpSpPr>
                  <p:cNvPr id="42" name="グラフィックス 2">
                    <a:extLst>
                      <a:ext uri="{FF2B5EF4-FFF2-40B4-BE49-F238E27FC236}">
                        <a16:creationId xmlns:a16="http://schemas.microsoft.com/office/drawing/2014/main" id="{F92F1787-3571-FA47-6662-8B16D98759E1}"/>
                      </a:ext>
                    </a:extLst>
                  </p:cNvPr>
                  <p:cNvGrpSpPr/>
                  <p:nvPr/>
                </p:nvGrpSpPr>
                <p:grpSpPr>
                  <a:xfrm>
                    <a:off x="-5262851" y="4996530"/>
                    <a:ext cx="246316" cy="119002"/>
                    <a:chOff x="-5262851" y="4996530"/>
                    <a:chExt cx="246316" cy="119002"/>
                  </a:xfrm>
                  <a:solidFill>
                    <a:srgbClr val="000000"/>
                  </a:solidFill>
                </p:grpSpPr>
                <p:sp>
                  <p:nvSpPr>
                    <p:cNvPr id="43" name="フリーフォーム: 図形 42">
                      <a:extLst>
                        <a:ext uri="{FF2B5EF4-FFF2-40B4-BE49-F238E27FC236}">
                          <a16:creationId xmlns:a16="http://schemas.microsoft.com/office/drawing/2014/main" id="{7065DEC1-4DBD-18FB-CAD0-37C13EF9A6CB}"/>
                        </a:ext>
                      </a:extLst>
                    </p:cNvPr>
                    <p:cNvSpPr/>
                    <p:nvPr/>
                  </p:nvSpPr>
                  <p:spPr>
                    <a:xfrm flipV="1">
                      <a:off x="-5262851" y="4996530"/>
                      <a:ext cx="84712" cy="92590"/>
                    </a:xfrm>
                    <a:custGeom>
                      <a:avLst/>
                      <a:gdLst>
                        <a:gd name="connsiteX0" fmla="*/ -2472 w 84712"/>
                        <a:gd name="connsiteY0" fmla="*/ 90529 h 92590"/>
                        <a:gd name="connsiteX1" fmla="*/ 16201 w 84712"/>
                        <a:gd name="connsiteY1" fmla="*/ 90529 h 92590"/>
                        <a:gd name="connsiteX2" fmla="*/ 39815 w 84712"/>
                        <a:gd name="connsiteY2" fmla="*/ 27525 h 92590"/>
                        <a:gd name="connsiteX3" fmla="*/ 63568 w 84712"/>
                        <a:gd name="connsiteY3" fmla="*/ 90529 h 92590"/>
                        <a:gd name="connsiteX4" fmla="*/ 82241 w 84712"/>
                        <a:gd name="connsiteY4" fmla="*/ 90529 h 92590"/>
                        <a:gd name="connsiteX5" fmla="*/ 82241 w 84712"/>
                        <a:gd name="connsiteY5" fmla="*/ -2062 h 92590"/>
                        <a:gd name="connsiteX6" fmla="*/ 70017 w 84712"/>
                        <a:gd name="connsiteY6" fmla="*/ -2062 h 92590"/>
                        <a:gd name="connsiteX7" fmla="*/ 70017 w 84712"/>
                        <a:gd name="connsiteY7" fmla="*/ 79238 h 92590"/>
                        <a:gd name="connsiteX8" fmla="*/ 46145 w 84712"/>
                        <a:gd name="connsiteY8" fmla="*/ 15738 h 92590"/>
                        <a:gd name="connsiteX9" fmla="*/ 33564 w 84712"/>
                        <a:gd name="connsiteY9" fmla="*/ 15738 h 92590"/>
                        <a:gd name="connsiteX10" fmla="*/ 9692 w 84712"/>
                        <a:gd name="connsiteY10" fmla="*/ 79238 h 92590"/>
                        <a:gd name="connsiteX11" fmla="*/ 9692 w 84712"/>
                        <a:gd name="connsiteY11" fmla="*/ -2062 h 92590"/>
                        <a:gd name="connsiteX12" fmla="*/ -2472 w 84712"/>
                        <a:gd name="connsiteY12" fmla="*/ -2062 h 92590"/>
                        <a:gd name="connsiteX13" fmla="*/ -2472 w 84712"/>
                        <a:gd name="connsiteY13" fmla="*/ 90529 h 92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84712" h="92590">
                          <a:moveTo>
                            <a:pt x="-2472" y="90529"/>
                          </a:moveTo>
                          <a:lnTo>
                            <a:pt x="16201" y="90529"/>
                          </a:lnTo>
                          <a:lnTo>
                            <a:pt x="39815" y="27525"/>
                          </a:lnTo>
                          <a:lnTo>
                            <a:pt x="63568" y="90529"/>
                          </a:lnTo>
                          <a:lnTo>
                            <a:pt x="82241" y="90529"/>
                          </a:lnTo>
                          <a:lnTo>
                            <a:pt x="82241" y="-2062"/>
                          </a:lnTo>
                          <a:lnTo>
                            <a:pt x="70017" y="-2062"/>
                          </a:lnTo>
                          <a:lnTo>
                            <a:pt x="70017" y="79238"/>
                          </a:lnTo>
                          <a:lnTo>
                            <a:pt x="46145" y="15738"/>
                          </a:lnTo>
                          <a:lnTo>
                            <a:pt x="33564" y="15738"/>
                          </a:lnTo>
                          <a:lnTo>
                            <a:pt x="9692" y="79238"/>
                          </a:lnTo>
                          <a:lnTo>
                            <a:pt x="9692" y="-2062"/>
                          </a:lnTo>
                          <a:lnTo>
                            <a:pt x="-2472" y="-2062"/>
                          </a:lnTo>
                          <a:lnTo>
                            <a:pt x="-2472" y="90529"/>
                          </a:lnTo>
                          <a:close/>
                        </a:path>
                      </a:pathLst>
                    </a:custGeom>
                    <a:solidFill>
                      <a:srgbClr val="000000"/>
                    </a:solidFill>
                    <a:ln w="20" cap="flat">
                      <a:noFill/>
                      <a:prstDash val="solid"/>
                      <a:round/>
                    </a:ln>
                  </p:spPr>
                  <p:txBody>
                    <a:bodyPr rtlCol="0" anchor="ctr"/>
                    <a:lstStyle/>
                    <a:p>
                      <a:endParaRPr lang="en-US"/>
                    </a:p>
                  </p:txBody>
                </p:sp>
                <p:sp>
                  <p:nvSpPr>
                    <p:cNvPr id="44" name="フリーフォーム: 図形 43">
                      <a:extLst>
                        <a:ext uri="{FF2B5EF4-FFF2-40B4-BE49-F238E27FC236}">
                          <a16:creationId xmlns:a16="http://schemas.microsoft.com/office/drawing/2014/main" id="{D9625B60-9FAB-2A24-1880-64E1F843D81D}"/>
                        </a:ext>
                      </a:extLst>
                    </p:cNvPr>
                    <p:cNvSpPr/>
                    <p:nvPr/>
                  </p:nvSpPr>
                  <p:spPr>
                    <a:xfrm flipV="1">
                      <a:off x="-5158118" y="5018001"/>
                      <a:ext cx="58677" cy="72925"/>
                    </a:xfrm>
                    <a:custGeom>
                      <a:avLst/>
                      <a:gdLst>
                        <a:gd name="connsiteX0" fmla="*/ 34352 w 58677"/>
                        <a:gd name="connsiteY0" fmla="*/ 35236 h 72925"/>
                        <a:gd name="connsiteX1" fmla="*/ 15183 w 58677"/>
                        <a:gd name="connsiteY1" fmla="*/ 32081 h 72925"/>
                        <a:gd name="connsiteX2" fmla="*/ 9845 w 58677"/>
                        <a:gd name="connsiteY2" fmla="*/ 21286 h 72925"/>
                        <a:gd name="connsiteX3" fmla="*/ 13854 w 58677"/>
                        <a:gd name="connsiteY3" fmla="*/ 11642 h 72925"/>
                        <a:gd name="connsiteX4" fmla="*/ 24728 w 58677"/>
                        <a:gd name="connsiteY4" fmla="*/ 8090 h 72925"/>
                        <a:gd name="connsiteX5" fmla="*/ 39968 w 58677"/>
                        <a:gd name="connsiteY5" fmla="*/ 14817 h 72925"/>
                        <a:gd name="connsiteX6" fmla="*/ 45703 w 58677"/>
                        <a:gd name="connsiteY6" fmla="*/ 32696 h 72925"/>
                        <a:gd name="connsiteX7" fmla="*/ 45703 w 58677"/>
                        <a:gd name="connsiteY7" fmla="*/ 35236 h 72925"/>
                        <a:gd name="connsiteX8" fmla="*/ 34352 w 58677"/>
                        <a:gd name="connsiteY8" fmla="*/ 35236 h 72925"/>
                        <a:gd name="connsiteX9" fmla="*/ 57113 w 58677"/>
                        <a:gd name="connsiteY9" fmla="*/ 39959 h 72925"/>
                        <a:gd name="connsiteX10" fmla="*/ 57113 w 58677"/>
                        <a:gd name="connsiteY10" fmla="*/ 331 h 72925"/>
                        <a:gd name="connsiteX11" fmla="*/ 45703 w 58677"/>
                        <a:gd name="connsiteY11" fmla="*/ 331 h 72925"/>
                        <a:gd name="connsiteX12" fmla="*/ 45703 w 58677"/>
                        <a:gd name="connsiteY12" fmla="*/ 10868 h 72925"/>
                        <a:gd name="connsiteX13" fmla="*/ 35960 w 58677"/>
                        <a:gd name="connsiteY13" fmla="*/ 1542 h 72925"/>
                        <a:gd name="connsiteX14" fmla="*/ 21692 w 58677"/>
                        <a:gd name="connsiteY14" fmla="*/ -1475 h 72925"/>
                        <a:gd name="connsiteX15" fmla="*/ 4726 w 58677"/>
                        <a:gd name="connsiteY15" fmla="*/ 4518 h 72925"/>
                        <a:gd name="connsiteX16" fmla="*/ -1565 w 58677"/>
                        <a:gd name="connsiteY16" fmla="*/ 20552 h 72925"/>
                        <a:gd name="connsiteX17" fmla="*/ 6273 w 58677"/>
                        <a:gd name="connsiteY17" fmla="*/ 38213 h 72925"/>
                        <a:gd name="connsiteX18" fmla="*/ 29689 w 58677"/>
                        <a:gd name="connsiteY18" fmla="*/ 44166 h 72925"/>
                        <a:gd name="connsiteX19" fmla="*/ 45703 w 58677"/>
                        <a:gd name="connsiteY19" fmla="*/ 44166 h 72925"/>
                        <a:gd name="connsiteX20" fmla="*/ 45703 w 58677"/>
                        <a:gd name="connsiteY20" fmla="*/ 45297 h 72925"/>
                        <a:gd name="connsiteX21" fmla="*/ 40524 w 58677"/>
                        <a:gd name="connsiteY21" fmla="*/ 57481 h 72925"/>
                        <a:gd name="connsiteX22" fmla="*/ 25978 w 58677"/>
                        <a:gd name="connsiteY22" fmla="*/ 61787 h 72925"/>
                        <a:gd name="connsiteX23" fmla="*/ 14370 w 58677"/>
                        <a:gd name="connsiteY23" fmla="*/ 60359 h 72925"/>
                        <a:gd name="connsiteX24" fmla="*/ 3535 w 58677"/>
                        <a:gd name="connsiteY24" fmla="*/ 56072 h 72925"/>
                        <a:gd name="connsiteX25" fmla="*/ 3535 w 58677"/>
                        <a:gd name="connsiteY25" fmla="*/ 66629 h 72925"/>
                        <a:gd name="connsiteX26" fmla="*/ 15679 w 58677"/>
                        <a:gd name="connsiteY26" fmla="*/ 70241 h 72925"/>
                        <a:gd name="connsiteX27" fmla="*/ 27149 w 58677"/>
                        <a:gd name="connsiteY27" fmla="*/ 71451 h 72925"/>
                        <a:gd name="connsiteX28" fmla="*/ 49672 w 58677"/>
                        <a:gd name="connsiteY28" fmla="*/ 63633 h 72925"/>
                        <a:gd name="connsiteX29" fmla="*/ 57113 w 58677"/>
                        <a:gd name="connsiteY29" fmla="*/ 39959 h 7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8677" h="72925">
                          <a:moveTo>
                            <a:pt x="34352" y="35236"/>
                          </a:moveTo>
                          <a:cubicBezTo>
                            <a:pt x="25132" y="35236"/>
                            <a:pt x="18742" y="34185"/>
                            <a:pt x="15183" y="32081"/>
                          </a:cubicBezTo>
                          <a:cubicBezTo>
                            <a:pt x="11625" y="29978"/>
                            <a:pt x="9845" y="26380"/>
                            <a:pt x="9845" y="21286"/>
                          </a:cubicBezTo>
                          <a:cubicBezTo>
                            <a:pt x="9845" y="17238"/>
                            <a:pt x="11181" y="14023"/>
                            <a:pt x="13854" y="11642"/>
                          </a:cubicBezTo>
                          <a:cubicBezTo>
                            <a:pt x="16526" y="9274"/>
                            <a:pt x="20151" y="8090"/>
                            <a:pt x="24728" y="8090"/>
                          </a:cubicBezTo>
                          <a:cubicBezTo>
                            <a:pt x="31065" y="8090"/>
                            <a:pt x="36145" y="10333"/>
                            <a:pt x="39968" y="14817"/>
                          </a:cubicBezTo>
                          <a:cubicBezTo>
                            <a:pt x="43791" y="19302"/>
                            <a:pt x="45703" y="25262"/>
                            <a:pt x="45703" y="32696"/>
                          </a:cubicBezTo>
                          <a:lnTo>
                            <a:pt x="45703" y="35236"/>
                          </a:lnTo>
                          <a:lnTo>
                            <a:pt x="34352" y="35236"/>
                          </a:lnTo>
                          <a:close/>
                          <a:moveTo>
                            <a:pt x="57113" y="39959"/>
                          </a:moveTo>
                          <a:lnTo>
                            <a:pt x="57113" y="331"/>
                          </a:lnTo>
                          <a:lnTo>
                            <a:pt x="45703" y="331"/>
                          </a:lnTo>
                          <a:lnTo>
                            <a:pt x="45703" y="10868"/>
                          </a:lnTo>
                          <a:cubicBezTo>
                            <a:pt x="43097" y="6661"/>
                            <a:pt x="39849" y="3553"/>
                            <a:pt x="35960" y="1542"/>
                          </a:cubicBezTo>
                          <a:cubicBezTo>
                            <a:pt x="32070" y="-469"/>
                            <a:pt x="27314" y="-1475"/>
                            <a:pt x="21692" y="-1475"/>
                          </a:cubicBezTo>
                          <a:cubicBezTo>
                            <a:pt x="14588" y="-1475"/>
                            <a:pt x="8933" y="523"/>
                            <a:pt x="4726" y="4518"/>
                          </a:cubicBezTo>
                          <a:cubicBezTo>
                            <a:pt x="532" y="8514"/>
                            <a:pt x="-1565" y="13858"/>
                            <a:pt x="-1565" y="20552"/>
                          </a:cubicBezTo>
                          <a:cubicBezTo>
                            <a:pt x="-1565" y="28357"/>
                            <a:pt x="1048" y="34244"/>
                            <a:pt x="6273" y="38213"/>
                          </a:cubicBezTo>
                          <a:cubicBezTo>
                            <a:pt x="11512" y="42182"/>
                            <a:pt x="19317" y="44166"/>
                            <a:pt x="29689" y="44166"/>
                          </a:cubicBezTo>
                          <a:lnTo>
                            <a:pt x="45703" y="44166"/>
                          </a:lnTo>
                          <a:lnTo>
                            <a:pt x="45703" y="45297"/>
                          </a:lnTo>
                          <a:cubicBezTo>
                            <a:pt x="45703" y="50549"/>
                            <a:pt x="43977" y="54610"/>
                            <a:pt x="40524" y="57481"/>
                          </a:cubicBezTo>
                          <a:cubicBezTo>
                            <a:pt x="37071" y="60352"/>
                            <a:pt x="32223" y="61787"/>
                            <a:pt x="25978" y="61787"/>
                          </a:cubicBezTo>
                          <a:cubicBezTo>
                            <a:pt x="22010" y="61787"/>
                            <a:pt x="18140" y="61311"/>
                            <a:pt x="14370" y="60359"/>
                          </a:cubicBezTo>
                          <a:cubicBezTo>
                            <a:pt x="10613" y="59406"/>
                            <a:pt x="7001" y="57977"/>
                            <a:pt x="3535" y="56072"/>
                          </a:cubicBezTo>
                          <a:lnTo>
                            <a:pt x="3535" y="66629"/>
                          </a:lnTo>
                          <a:cubicBezTo>
                            <a:pt x="7702" y="68243"/>
                            <a:pt x="11750" y="69447"/>
                            <a:pt x="15679" y="70241"/>
                          </a:cubicBezTo>
                          <a:cubicBezTo>
                            <a:pt x="19608" y="71048"/>
                            <a:pt x="23432" y="71451"/>
                            <a:pt x="27149" y="71451"/>
                          </a:cubicBezTo>
                          <a:cubicBezTo>
                            <a:pt x="37203" y="71451"/>
                            <a:pt x="44711" y="68845"/>
                            <a:pt x="49672" y="63633"/>
                          </a:cubicBezTo>
                          <a:cubicBezTo>
                            <a:pt x="54633" y="58434"/>
                            <a:pt x="57113" y="50543"/>
                            <a:pt x="57113" y="39959"/>
                          </a:cubicBezTo>
                          <a:close/>
                        </a:path>
                      </a:pathLst>
                    </a:custGeom>
                    <a:solidFill>
                      <a:srgbClr val="000000"/>
                    </a:solidFill>
                    <a:ln w="20" cap="flat">
                      <a:noFill/>
                      <a:prstDash val="solid"/>
                      <a:round/>
                    </a:ln>
                  </p:spPr>
                  <p:txBody>
                    <a:bodyPr rtlCol="0" anchor="ctr"/>
                    <a:lstStyle/>
                    <a:p>
                      <a:endParaRPr lang="en-US"/>
                    </a:p>
                  </p:txBody>
                </p:sp>
                <p:sp>
                  <p:nvSpPr>
                    <p:cNvPr id="45" name="フリーフォーム: 図形 44">
                      <a:extLst>
                        <a:ext uri="{FF2B5EF4-FFF2-40B4-BE49-F238E27FC236}">
                          <a16:creationId xmlns:a16="http://schemas.microsoft.com/office/drawing/2014/main" id="{A8A21E73-BE6A-5676-7BF2-1F8694D532FF}"/>
                        </a:ext>
                      </a:extLst>
                    </p:cNvPr>
                    <p:cNvSpPr/>
                    <p:nvPr/>
                  </p:nvSpPr>
                  <p:spPr>
                    <a:xfrm flipV="1">
                      <a:off x="-5084123" y="5019668"/>
                      <a:ext cx="67587" cy="95865"/>
                    </a:xfrm>
                    <a:custGeom>
                      <a:avLst/>
                      <a:gdLst>
                        <a:gd name="connsiteX0" fmla="*/ 35478 w 67587"/>
                        <a:gd name="connsiteY0" fmla="*/ 19151 h 95865"/>
                        <a:gd name="connsiteX1" fmla="*/ 26052 w 67587"/>
                        <a:gd name="connsiteY1" fmla="*/ 2979 h 95865"/>
                        <a:gd name="connsiteX2" fmla="*/ 13789 w 67587"/>
                        <a:gd name="connsiteY2" fmla="*/ -811 h 95865"/>
                        <a:gd name="connsiteX3" fmla="*/ 4661 w 67587"/>
                        <a:gd name="connsiteY3" fmla="*/ -811 h 95865"/>
                        <a:gd name="connsiteX4" fmla="*/ 4661 w 67587"/>
                        <a:gd name="connsiteY4" fmla="*/ 8733 h 95865"/>
                        <a:gd name="connsiteX5" fmla="*/ 11368 w 67587"/>
                        <a:gd name="connsiteY5" fmla="*/ 8733 h 95865"/>
                        <a:gd name="connsiteX6" fmla="*/ 18670 w 67587"/>
                        <a:gd name="connsiteY6" fmla="*/ 10976 h 95865"/>
                        <a:gd name="connsiteX7" fmla="*/ 24445 w 67587"/>
                        <a:gd name="connsiteY7" fmla="*/ 21513 h 95865"/>
                        <a:gd name="connsiteX8" fmla="*/ 26489 w 67587"/>
                        <a:gd name="connsiteY8" fmla="*/ 26712 h 95865"/>
                        <a:gd name="connsiteX9" fmla="*/ -1590 w 67587"/>
                        <a:gd name="connsiteY9" fmla="*/ 95054 h 95865"/>
                        <a:gd name="connsiteX10" fmla="*/ 10495 w 67587"/>
                        <a:gd name="connsiteY10" fmla="*/ 95054 h 95865"/>
                        <a:gd name="connsiteX11" fmla="*/ 32204 w 67587"/>
                        <a:gd name="connsiteY11" fmla="*/ 40741 h 95865"/>
                        <a:gd name="connsiteX12" fmla="*/ 53913 w 67587"/>
                        <a:gd name="connsiteY12" fmla="*/ 95054 h 95865"/>
                        <a:gd name="connsiteX13" fmla="*/ 65998 w 67587"/>
                        <a:gd name="connsiteY13" fmla="*/ 95054 h 95865"/>
                        <a:gd name="connsiteX14" fmla="*/ 35478 w 67587"/>
                        <a:gd name="connsiteY14" fmla="*/ 19151 h 958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7587" h="95865">
                          <a:moveTo>
                            <a:pt x="35478" y="19151"/>
                          </a:moveTo>
                          <a:cubicBezTo>
                            <a:pt x="32263" y="10883"/>
                            <a:pt x="29121" y="5492"/>
                            <a:pt x="26052" y="2979"/>
                          </a:cubicBezTo>
                          <a:cubicBezTo>
                            <a:pt x="22996" y="452"/>
                            <a:pt x="18908" y="-811"/>
                            <a:pt x="13789" y="-811"/>
                          </a:cubicBezTo>
                          <a:lnTo>
                            <a:pt x="4661" y="-811"/>
                          </a:lnTo>
                          <a:lnTo>
                            <a:pt x="4661" y="8733"/>
                          </a:lnTo>
                          <a:lnTo>
                            <a:pt x="11368" y="8733"/>
                          </a:lnTo>
                          <a:cubicBezTo>
                            <a:pt x="14503" y="8733"/>
                            <a:pt x="16937" y="9481"/>
                            <a:pt x="18670" y="10976"/>
                          </a:cubicBezTo>
                          <a:cubicBezTo>
                            <a:pt x="20417" y="12457"/>
                            <a:pt x="22341" y="15970"/>
                            <a:pt x="24445" y="21513"/>
                          </a:cubicBezTo>
                          <a:lnTo>
                            <a:pt x="26489" y="26712"/>
                          </a:lnTo>
                          <a:lnTo>
                            <a:pt x="-1590" y="95054"/>
                          </a:lnTo>
                          <a:lnTo>
                            <a:pt x="10495" y="95054"/>
                          </a:lnTo>
                          <a:lnTo>
                            <a:pt x="32204" y="40741"/>
                          </a:lnTo>
                          <a:lnTo>
                            <a:pt x="53913" y="95054"/>
                          </a:lnTo>
                          <a:lnTo>
                            <a:pt x="65998" y="95054"/>
                          </a:lnTo>
                          <a:lnTo>
                            <a:pt x="35478" y="19151"/>
                          </a:lnTo>
                          <a:close/>
                        </a:path>
                      </a:pathLst>
                    </a:custGeom>
                    <a:solidFill>
                      <a:srgbClr val="000000"/>
                    </a:solidFill>
                    <a:ln w="20" cap="flat">
                      <a:noFill/>
                      <a:prstDash val="solid"/>
                      <a:round/>
                    </a:ln>
                  </p:spPr>
                  <p:txBody>
                    <a:bodyPr rtlCol="0" anchor="ctr"/>
                    <a:lstStyle/>
                    <a:p>
                      <a:endParaRPr lang="en-US"/>
                    </a:p>
                  </p:txBody>
                </p:sp>
              </p:grpSp>
            </p:grpSp>
            <p:grpSp>
              <p:nvGrpSpPr>
                <p:cNvPr id="46" name="グラフィックス 2">
                  <a:extLst>
                    <a:ext uri="{FF2B5EF4-FFF2-40B4-BE49-F238E27FC236}">
                      <a16:creationId xmlns:a16="http://schemas.microsoft.com/office/drawing/2014/main" id="{217688C5-AB31-E0CA-47B5-172FA5823B80}"/>
                    </a:ext>
                  </a:extLst>
                </p:cNvPr>
                <p:cNvGrpSpPr/>
                <p:nvPr/>
              </p:nvGrpSpPr>
              <p:grpSpPr>
                <a:xfrm>
                  <a:off x="-4555530" y="1941578"/>
                  <a:ext cx="194225" cy="3172962"/>
                  <a:chOff x="-4555530" y="1941578"/>
                  <a:chExt cx="194225" cy="3172962"/>
                </a:xfrm>
              </p:grpSpPr>
              <p:sp>
                <p:nvSpPr>
                  <p:cNvPr id="47" name="フリーフォーム: 図形 46">
                    <a:extLst>
                      <a:ext uri="{FF2B5EF4-FFF2-40B4-BE49-F238E27FC236}">
                        <a16:creationId xmlns:a16="http://schemas.microsoft.com/office/drawing/2014/main" id="{64C0C17E-86E1-1F47-17A7-3F9143C10DF4}"/>
                      </a:ext>
                    </a:extLst>
                  </p:cNvPr>
                  <p:cNvSpPr/>
                  <p:nvPr/>
                </p:nvSpPr>
                <p:spPr>
                  <a:xfrm>
                    <a:off x="-4449749" y="1941578"/>
                    <a:ext cx="12700" cy="2962147"/>
                  </a:xfrm>
                  <a:custGeom>
                    <a:avLst/>
                    <a:gdLst>
                      <a:gd name="connsiteX0" fmla="*/ 0 w 12700"/>
                      <a:gd name="connsiteY0" fmla="*/ 2962148 h 2962147"/>
                      <a:gd name="connsiteX1" fmla="*/ 0 w 12700"/>
                      <a:gd name="connsiteY1" fmla="*/ 0 h 2962147"/>
                    </a:gdLst>
                    <a:ahLst/>
                    <a:cxnLst>
                      <a:cxn ang="0">
                        <a:pos x="connsiteX0" y="connsiteY0"/>
                      </a:cxn>
                      <a:cxn ang="0">
                        <a:pos x="connsiteX1" y="connsiteY1"/>
                      </a:cxn>
                    </a:cxnLst>
                    <a:rect l="l" t="t" r="r" b="b"/>
                    <a:pathLst>
                      <a:path w="12700" h="2962147">
                        <a:moveTo>
                          <a:pt x="0" y="2962148"/>
                        </a:moveTo>
                        <a:lnTo>
                          <a:pt x="0" y="0"/>
                        </a:lnTo>
                      </a:path>
                    </a:pathLst>
                  </a:custGeom>
                  <a:noFill/>
                  <a:ln w="10160" cap="sq">
                    <a:solidFill>
                      <a:srgbClr val="B0B0B0"/>
                    </a:solidFill>
                    <a:prstDash val="solid"/>
                    <a:round/>
                  </a:ln>
                </p:spPr>
                <p:txBody>
                  <a:bodyPr rtlCol="0" anchor="ctr"/>
                  <a:lstStyle/>
                  <a:p>
                    <a:endParaRPr lang="en-US"/>
                  </a:p>
                </p:txBody>
              </p:sp>
              <p:sp>
                <p:nvSpPr>
                  <p:cNvPr id="48" name="フリーフォーム: 図形 47">
                    <a:extLst>
                      <a:ext uri="{FF2B5EF4-FFF2-40B4-BE49-F238E27FC236}">
                        <a16:creationId xmlns:a16="http://schemas.microsoft.com/office/drawing/2014/main" id="{9A698A9F-D271-6669-735B-428EE9AB3556}"/>
                      </a:ext>
                    </a:extLst>
                  </p:cNvPr>
                  <p:cNvSpPr/>
                  <p:nvPr/>
                </p:nvSpPr>
                <p:spPr>
                  <a:xfrm>
                    <a:off x="-4449749" y="4903727"/>
                    <a:ext cx="12700" cy="44450"/>
                  </a:xfrm>
                  <a:custGeom>
                    <a:avLst/>
                    <a:gdLst>
                      <a:gd name="connsiteX0" fmla="*/ 351 w 12700"/>
                      <a:gd name="connsiteY0" fmla="*/ 260 h 44450"/>
                      <a:gd name="connsiteX1" fmla="*/ 351 w 12700"/>
                      <a:gd name="connsiteY1" fmla="*/ 44710 h 44450"/>
                    </a:gdLst>
                    <a:ahLst/>
                    <a:cxnLst>
                      <a:cxn ang="0">
                        <a:pos x="connsiteX0" y="connsiteY0"/>
                      </a:cxn>
                      <a:cxn ang="0">
                        <a:pos x="connsiteX1" y="connsiteY1"/>
                      </a:cxn>
                    </a:cxnLst>
                    <a:rect l="l" t="t" r="r" b="b"/>
                    <a:pathLst>
                      <a:path w="12700" h="44450">
                        <a:moveTo>
                          <a:pt x="351" y="260"/>
                        </a:moveTo>
                        <a:lnTo>
                          <a:pt x="351" y="44710"/>
                        </a:lnTo>
                      </a:path>
                    </a:pathLst>
                  </a:custGeom>
                  <a:solidFill>
                    <a:srgbClr val="000000"/>
                  </a:solidFill>
                  <a:ln w="10160" cap="flat">
                    <a:solidFill>
                      <a:srgbClr val="000000"/>
                    </a:solidFill>
                    <a:prstDash val="solid"/>
                    <a:round/>
                  </a:ln>
                </p:spPr>
                <p:txBody>
                  <a:bodyPr rtlCol="0" anchor="ctr"/>
                  <a:lstStyle/>
                  <a:p>
                    <a:endParaRPr lang="en-US"/>
                  </a:p>
                </p:txBody>
              </p:sp>
              <p:grpSp>
                <p:nvGrpSpPr>
                  <p:cNvPr id="49" name="グラフィックス 2">
                    <a:extLst>
                      <a:ext uri="{FF2B5EF4-FFF2-40B4-BE49-F238E27FC236}">
                        <a16:creationId xmlns:a16="http://schemas.microsoft.com/office/drawing/2014/main" id="{4C559F8E-ADFD-5105-2D88-E505BB8641F4}"/>
                      </a:ext>
                    </a:extLst>
                  </p:cNvPr>
                  <p:cNvGrpSpPr/>
                  <p:nvPr/>
                </p:nvGrpSpPr>
                <p:grpSpPr>
                  <a:xfrm>
                    <a:off x="-4555530" y="4996530"/>
                    <a:ext cx="194225" cy="118010"/>
                    <a:chOff x="-4555530" y="4996530"/>
                    <a:chExt cx="194225" cy="118010"/>
                  </a:xfrm>
                  <a:solidFill>
                    <a:srgbClr val="000000"/>
                  </a:solidFill>
                </p:grpSpPr>
                <p:sp>
                  <p:nvSpPr>
                    <p:cNvPr id="50" name="フリーフォーム: 図形 49">
                      <a:extLst>
                        <a:ext uri="{FF2B5EF4-FFF2-40B4-BE49-F238E27FC236}">
                          <a16:creationId xmlns:a16="http://schemas.microsoft.com/office/drawing/2014/main" id="{5CD98E02-94B4-3AFF-979C-9C28482AA4BF}"/>
                        </a:ext>
                      </a:extLst>
                    </p:cNvPr>
                    <p:cNvSpPr/>
                    <p:nvPr/>
                  </p:nvSpPr>
                  <p:spPr>
                    <a:xfrm flipV="1">
                      <a:off x="-4555530" y="4996530"/>
                      <a:ext cx="31551" cy="118010"/>
                    </a:xfrm>
                    <a:custGeom>
                      <a:avLst/>
                      <a:gdLst>
                        <a:gd name="connsiteX0" fmla="*/ 18910 w 31551"/>
                        <a:gd name="connsiteY0" fmla="*/ 116590 h 118010"/>
                        <a:gd name="connsiteX1" fmla="*/ 31432 w 31551"/>
                        <a:gd name="connsiteY1" fmla="*/ 116590 h 118010"/>
                        <a:gd name="connsiteX2" fmla="*/ 31432 w 31551"/>
                        <a:gd name="connsiteY2" fmla="*/ 30449 h 118010"/>
                        <a:gd name="connsiteX3" fmla="*/ 25082 w 31551"/>
                        <a:gd name="connsiteY3" fmla="*/ 6140 h 118010"/>
                        <a:gd name="connsiteX4" fmla="*/ 4643 w 31551"/>
                        <a:gd name="connsiteY4" fmla="*/ -1420 h 118010"/>
                        <a:gd name="connsiteX5" fmla="*/ -120 w 31551"/>
                        <a:gd name="connsiteY5" fmla="*/ -1420 h 118010"/>
                        <a:gd name="connsiteX6" fmla="*/ -120 w 31551"/>
                        <a:gd name="connsiteY6" fmla="*/ 9117 h 118010"/>
                        <a:gd name="connsiteX7" fmla="*/ 3789 w 31551"/>
                        <a:gd name="connsiteY7" fmla="*/ 9117 h 118010"/>
                        <a:gd name="connsiteX8" fmla="*/ 15497 w 31551"/>
                        <a:gd name="connsiteY8" fmla="*/ 13780 h 118010"/>
                        <a:gd name="connsiteX9" fmla="*/ 18910 w 31551"/>
                        <a:gd name="connsiteY9" fmla="*/ 30449 h 118010"/>
                        <a:gd name="connsiteX10" fmla="*/ 18910 w 31551"/>
                        <a:gd name="connsiteY10" fmla="*/ 116590 h 118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1551" h="118010">
                          <a:moveTo>
                            <a:pt x="18910" y="116590"/>
                          </a:moveTo>
                          <a:lnTo>
                            <a:pt x="31432" y="116590"/>
                          </a:lnTo>
                          <a:lnTo>
                            <a:pt x="31432" y="30449"/>
                          </a:lnTo>
                          <a:cubicBezTo>
                            <a:pt x="31432" y="19283"/>
                            <a:pt x="29315" y="11180"/>
                            <a:pt x="25082" y="6140"/>
                          </a:cubicBezTo>
                          <a:cubicBezTo>
                            <a:pt x="20848" y="1100"/>
                            <a:pt x="14035" y="-1420"/>
                            <a:pt x="4643" y="-1420"/>
                          </a:cubicBezTo>
                          <a:lnTo>
                            <a:pt x="-120" y="-1420"/>
                          </a:lnTo>
                          <a:lnTo>
                            <a:pt x="-120" y="9117"/>
                          </a:lnTo>
                          <a:lnTo>
                            <a:pt x="3789" y="9117"/>
                          </a:lnTo>
                          <a:cubicBezTo>
                            <a:pt x="9319" y="9117"/>
                            <a:pt x="13222" y="10671"/>
                            <a:pt x="15497" y="13780"/>
                          </a:cubicBezTo>
                          <a:cubicBezTo>
                            <a:pt x="17772" y="16876"/>
                            <a:pt x="18910" y="22432"/>
                            <a:pt x="18910" y="30449"/>
                          </a:cubicBezTo>
                          <a:lnTo>
                            <a:pt x="18910" y="116590"/>
                          </a:lnTo>
                          <a:close/>
                        </a:path>
                      </a:pathLst>
                    </a:custGeom>
                    <a:solidFill>
                      <a:srgbClr val="000000"/>
                    </a:solidFill>
                    <a:ln w="20" cap="flat">
                      <a:noFill/>
                      <a:prstDash val="solid"/>
                      <a:round/>
                    </a:ln>
                  </p:spPr>
                  <p:txBody>
                    <a:bodyPr rtlCol="0" anchor="ctr"/>
                    <a:lstStyle/>
                    <a:p>
                      <a:endParaRPr lang="en-US"/>
                    </a:p>
                  </p:txBody>
                </p:sp>
                <p:sp>
                  <p:nvSpPr>
                    <p:cNvPr id="51" name="フリーフォーム: 図形 50">
                      <a:extLst>
                        <a:ext uri="{FF2B5EF4-FFF2-40B4-BE49-F238E27FC236}">
                          <a16:creationId xmlns:a16="http://schemas.microsoft.com/office/drawing/2014/main" id="{339BFA0D-1BFB-AFA8-DBC8-00452256E504}"/>
                        </a:ext>
                      </a:extLst>
                    </p:cNvPr>
                    <p:cNvSpPr/>
                    <p:nvPr/>
                  </p:nvSpPr>
                  <p:spPr>
                    <a:xfrm flipV="1">
                      <a:off x="-4500712" y="5018001"/>
                      <a:ext cx="58162" cy="72925"/>
                    </a:xfrm>
                    <a:custGeom>
                      <a:avLst/>
                      <a:gdLst>
                        <a:gd name="connsiteX0" fmla="*/ -1660 w 58162"/>
                        <a:gd name="connsiteY0" fmla="*/ 27735 h 72925"/>
                        <a:gd name="connsiteX1" fmla="*/ -1660 w 58162"/>
                        <a:gd name="connsiteY1" fmla="*/ 69784 h 72925"/>
                        <a:gd name="connsiteX2" fmla="*/ 9750 w 58162"/>
                        <a:gd name="connsiteY2" fmla="*/ 69784 h 72925"/>
                        <a:gd name="connsiteX3" fmla="*/ 9750 w 58162"/>
                        <a:gd name="connsiteY3" fmla="*/ 28172 h 72925"/>
                        <a:gd name="connsiteX4" fmla="*/ 13580 w 58162"/>
                        <a:gd name="connsiteY4" fmla="*/ 13369 h 72925"/>
                        <a:gd name="connsiteX5" fmla="*/ 25129 w 58162"/>
                        <a:gd name="connsiteY5" fmla="*/ 8447 h 72925"/>
                        <a:gd name="connsiteX6" fmla="*/ 39714 w 58162"/>
                        <a:gd name="connsiteY6" fmla="*/ 14341 h 72925"/>
                        <a:gd name="connsiteX7" fmla="*/ 45092 w 58162"/>
                        <a:gd name="connsiteY7" fmla="*/ 30414 h 72925"/>
                        <a:gd name="connsiteX8" fmla="*/ 45092 w 58162"/>
                        <a:gd name="connsiteY8" fmla="*/ 69784 h 72925"/>
                        <a:gd name="connsiteX9" fmla="*/ 56502 w 58162"/>
                        <a:gd name="connsiteY9" fmla="*/ 69784 h 72925"/>
                        <a:gd name="connsiteX10" fmla="*/ 56502 w 58162"/>
                        <a:gd name="connsiteY10" fmla="*/ 331 h 72925"/>
                        <a:gd name="connsiteX11" fmla="*/ 45092 w 58162"/>
                        <a:gd name="connsiteY11" fmla="*/ 331 h 72925"/>
                        <a:gd name="connsiteX12" fmla="*/ 45092 w 58162"/>
                        <a:gd name="connsiteY12" fmla="*/ 11007 h 72925"/>
                        <a:gd name="connsiteX13" fmla="*/ 35448 w 58162"/>
                        <a:gd name="connsiteY13" fmla="*/ 1601 h 72925"/>
                        <a:gd name="connsiteX14" fmla="*/ 22708 w 58162"/>
                        <a:gd name="connsiteY14" fmla="*/ -1475 h 72925"/>
                        <a:gd name="connsiteX15" fmla="*/ 4531 w 58162"/>
                        <a:gd name="connsiteY15" fmla="*/ 5967 h 72925"/>
                        <a:gd name="connsiteX16" fmla="*/ -1660 w 58162"/>
                        <a:gd name="connsiteY16" fmla="*/ 27735 h 72925"/>
                        <a:gd name="connsiteX17" fmla="*/ 27054 w 58162"/>
                        <a:gd name="connsiteY17" fmla="*/ 71451 h 72925"/>
                        <a:gd name="connsiteX18" fmla="*/ 27054 w 58162"/>
                        <a:gd name="connsiteY18" fmla="*/ 71451 h 7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8162" h="72925">
                          <a:moveTo>
                            <a:pt x="-1660" y="27735"/>
                          </a:moveTo>
                          <a:lnTo>
                            <a:pt x="-1660" y="69784"/>
                          </a:lnTo>
                          <a:lnTo>
                            <a:pt x="9750" y="69784"/>
                          </a:lnTo>
                          <a:lnTo>
                            <a:pt x="9750" y="28172"/>
                          </a:lnTo>
                          <a:cubicBezTo>
                            <a:pt x="9750" y="21597"/>
                            <a:pt x="11027" y="16663"/>
                            <a:pt x="13580" y="13369"/>
                          </a:cubicBezTo>
                          <a:cubicBezTo>
                            <a:pt x="16146" y="10088"/>
                            <a:pt x="19996" y="8447"/>
                            <a:pt x="25129" y="8447"/>
                          </a:cubicBezTo>
                          <a:cubicBezTo>
                            <a:pt x="31281" y="8447"/>
                            <a:pt x="36142" y="10412"/>
                            <a:pt x="39714" y="14341"/>
                          </a:cubicBezTo>
                          <a:cubicBezTo>
                            <a:pt x="43299" y="18270"/>
                            <a:pt x="45092" y="23628"/>
                            <a:pt x="45092" y="30414"/>
                          </a:cubicBezTo>
                          <a:lnTo>
                            <a:pt x="45092" y="69784"/>
                          </a:lnTo>
                          <a:lnTo>
                            <a:pt x="56502" y="69784"/>
                          </a:lnTo>
                          <a:lnTo>
                            <a:pt x="56502" y="331"/>
                          </a:lnTo>
                          <a:lnTo>
                            <a:pt x="45092" y="331"/>
                          </a:lnTo>
                          <a:lnTo>
                            <a:pt x="45092" y="11007"/>
                          </a:lnTo>
                          <a:cubicBezTo>
                            <a:pt x="42327" y="6787"/>
                            <a:pt x="39112" y="3652"/>
                            <a:pt x="35448" y="1601"/>
                          </a:cubicBezTo>
                          <a:cubicBezTo>
                            <a:pt x="31796" y="-449"/>
                            <a:pt x="27550" y="-1475"/>
                            <a:pt x="22708" y="-1475"/>
                          </a:cubicBezTo>
                          <a:cubicBezTo>
                            <a:pt x="14731" y="-1475"/>
                            <a:pt x="8672" y="1006"/>
                            <a:pt x="4531" y="5967"/>
                          </a:cubicBezTo>
                          <a:cubicBezTo>
                            <a:pt x="404" y="10928"/>
                            <a:pt x="-1660" y="18184"/>
                            <a:pt x="-1660" y="27735"/>
                          </a:cubicBezTo>
                          <a:close/>
                          <a:moveTo>
                            <a:pt x="27054" y="71451"/>
                          </a:moveTo>
                          <a:lnTo>
                            <a:pt x="27054" y="71451"/>
                          </a:lnTo>
                          <a:close/>
                        </a:path>
                      </a:pathLst>
                    </a:custGeom>
                    <a:solidFill>
                      <a:srgbClr val="000000"/>
                    </a:solidFill>
                    <a:ln w="20" cap="flat">
                      <a:noFill/>
                      <a:prstDash val="solid"/>
                      <a:round/>
                    </a:ln>
                  </p:spPr>
                  <p:txBody>
                    <a:bodyPr rtlCol="0" anchor="ctr"/>
                    <a:lstStyle/>
                    <a:p>
                      <a:endParaRPr lang="en-US"/>
                    </a:p>
                  </p:txBody>
                </p:sp>
                <p:sp>
                  <p:nvSpPr>
                    <p:cNvPr id="52" name="フリーフォーム: 図形 51">
                      <a:extLst>
                        <a:ext uri="{FF2B5EF4-FFF2-40B4-BE49-F238E27FC236}">
                          <a16:creationId xmlns:a16="http://schemas.microsoft.com/office/drawing/2014/main" id="{7F8B62BC-F1D4-2200-DB88-74024E0B6C0D}"/>
                        </a:ext>
                      </a:extLst>
                    </p:cNvPr>
                    <p:cNvSpPr/>
                    <p:nvPr/>
                  </p:nvSpPr>
                  <p:spPr>
                    <a:xfrm flipV="1">
                      <a:off x="-4419486" y="5018001"/>
                      <a:ext cx="58181" cy="71119"/>
                    </a:xfrm>
                    <a:custGeom>
                      <a:avLst/>
                      <a:gdLst>
                        <a:gd name="connsiteX0" fmla="*/ 56491 w 58181"/>
                        <a:gd name="connsiteY0" fmla="*/ 40410 h 71119"/>
                        <a:gd name="connsiteX1" fmla="*/ 56491 w 58181"/>
                        <a:gd name="connsiteY1" fmla="*/ -1520 h 71119"/>
                        <a:gd name="connsiteX2" fmla="*/ 45081 w 58181"/>
                        <a:gd name="connsiteY2" fmla="*/ -1520 h 71119"/>
                        <a:gd name="connsiteX3" fmla="*/ 45081 w 58181"/>
                        <a:gd name="connsiteY3" fmla="*/ 40033 h 71119"/>
                        <a:gd name="connsiteX4" fmla="*/ 41231 w 58181"/>
                        <a:gd name="connsiteY4" fmla="*/ 54777 h 71119"/>
                        <a:gd name="connsiteX5" fmla="*/ 29702 w 58181"/>
                        <a:gd name="connsiteY5" fmla="*/ 59678 h 71119"/>
                        <a:gd name="connsiteX6" fmla="*/ 15116 w 58181"/>
                        <a:gd name="connsiteY6" fmla="*/ 53784 h 71119"/>
                        <a:gd name="connsiteX7" fmla="*/ 9778 w 58181"/>
                        <a:gd name="connsiteY7" fmla="*/ 37731 h 71119"/>
                        <a:gd name="connsiteX8" fmla="*/ 9778 w 58181"/>
                        <a:gd name="connsiteY8" fmla="*/ -1520 h 71119"/>
                        <a:gd name="connsiteX9" fmla="*/ -1691 w 58181"/>
                        <a:gd name="connsiteY9" fmla="*/ -1520 h 71119"/>
                        <a:gd name="connsiteX10" fmla="*/ -1691 w 58181"/>
                        <a:gd name="connsiteY10" fmla="*/ 67933 h 71119"/>
                        <a:gd name="connsiteX11" fmla="*/ 9778 w 58181"/>
                        <a:gd name="connsiteY11" fmla="*/ 67933 h 71119"/>
                        <a:gd name="connsiteX12" fmla="*/ 9778 w 58181"/>
                        <a:gd name="connsiteY12" fmla="*/ 57138 h 71119"/>
                        <a:gd name="connsiteX13" fmla="*/ 19423 w 58181"/>
                        <a:gd name="connsiteY13" fmla="*/ 66504 h 71119"/>
                        <a:gd name="connsiteX14" fmla="*/ 32242 w 58181"/>
                        <a:gd name="connsiteY14" fmla="*/ 69600 h 71119"/>
                        <a:gd name="connsiteX15" fmla="*/ 50339 w 58181"/>
                        <a:gd name="connsiteY15" fmla="*/ 62198 h 71119"/>
                        <a:gd name="connsiteX16" fmla="*/ 56491 w 58181"/>
                        <a:gd name="connsiteY16" fmla="*/ 40410 h 711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58181" h="71119">
                          <a:moveTo>
                            <a:pt x="56491" y="40410"/>
                          </a:moveTo>
                          <a:lnTo>
                            <a:pt x="56491" y="-1520"/>
                          </a:lnTo>
                          <a:lnTo>
                            <a:pt x="45081" y="-1520"/>
                          </a:lnTo>
                          <a:lnTo>
                            <a:pt x="45081" y="40033"/>
                          </a:lnTo>
                          <a:cubicBezTo>
                            <a:pt x="45081" y="46608"/>
                            <a:pt x="43797" y="51522"/>
                            <a:pt x="41231" y="54777"/>
                          </a:cubicBezTo>
                          <a:cubicBezTo>
                            <a:pt x="38664" y="58044"/>
                            <a:pt x="34821" y="59678"/>
                            <a:pt x="29702" y="59678"/>
                          </a:cubicBezTo>
                          <a:cubicBezTo>
                            <a:pt x="23537" y="59678"/>
                            <a:pt x="18675" y="57714"/>
                            <a:pt x="15116" y="53784"/>
                          </a:cubicBezTo>
                          <a:cubicBezTo>
                            <a:pt x="11558" y="49869"/>
                            <a:pt x="9778" y="44517"/>
                            <a:pt x="9778" y="37731"/>
                          </a:cubicBezTo>
                          <a:lnTo>
                            <a:pt x="9778" y="-1520"/>
                          </a:lnTo>
                          <a:lnTo>
                            <a:pt x="-1691" y="-1520"/>
                          </a:lnTo>
                          <a:lnTo>
                            <a:pt x="-1691" y="67933"/>
                          </a:lnTo>
                          <a:lnTo>
                            <a:pt x="9778" y="67933"/>
                          </a:lnTo>
                          <a:lnTo>
                            <a:pt x="9778" y="57138"/>
                          </a:lnTo>
                          <a:cubicBezTo>
                            <a:pt x="12517" y="61319"/>
                            <a:pt x="15732" y="64441"/>
                            <a:pt x="19423" y="66504"/>
                          </a:cubicBezTo>
                          <a:cubicBezTo>
                            <a:pt x="23127" y="68568"/>
                            <a:pt x="27400" y="69600"/>
                            <a:pt x="32242" y="69600"/>
                          </a:cubicBezTo>
                          <a:cubicBezTo>
                            <a:pt x="40219" y="69600"/>
                            <a:pt x="46251" y="67133"/>
                            <a:pt x="50339" y="62198"/>
                          </a:cubicBezTo>
                          <a:cubicBezTo>
                            <a:pt x="54440" y="57264"/>
                            <a:pt x="56491" y="50001"/>
                            <a:pt x="56491" y="40410"/>
                          </a:cubicBezTo>
                          <a:close/>
                        </a:path>
                      </a:pathLst>
                    </a:custGeom>
                    <a:solidFill>
                      <a:srgbClr val="000000"/>
                    </a:solidFill>
                    <a:ln w="20" cap="flat">
                      <a:noFill/>
                      <a:prstDash val="solid"/>
                      <a:round/>
                    </a:ln>
                  </p:spPr>
                  <p:txBody>
                    <a:bodyPr rtlCol="0" anchor="ctr"/>
                    <a:lstStyle/>
                    <a:p>
                      <a:endParaRPr lang="en-US"/>
                    </a:p>
                  </p:txBody>
                </p:sp>
              </p:grpSp>
            </p:grpSp>
            <p:grpSp>
              <p:nvGrpSpPr>
                <p:cNvPr id="53" name="グラフィックス 2">
                  <a:extLst>
                    <a:ext uri="{FF2B5EF4-FFF2-40B4-BE49-F238E27FC236}">
                      <a16:creationId xmlns:a16="http://schemas.microsoft.com/office/drawing/2014/main" id="{77D303DB-8152-3F34-7E07-8591A95EA1E4}"/>
                    </a:ext>
                  </a:extLst>
                </p:cNvPr>
                <p:cNvGrpSpPr/>
                <p:nvPr/>
              </p:nvGrpSpPr>
              <p:grpSpPr>
                <a:xfrm>
                  <a:off x="-3838653" y="1941578"/>
                  <a:ext cx="147890" cy="3172962"/>
                  <a:chOff x="-3838653" y="1941578"/>
                  <a:chExt cx="147890" cy="3172962"/>
                </a:xfrm>
              </p:grpSpPr>
              <p:sp>
                <p:nvSpPr>
                  <p:cNvPr id="54" name="フリーフォーム: 図形 53">
                    <a:extLst>
                      <a:ext uri="{FF2B5EF4-FFF2-40B4-BE49-F238E27FC236}">
                        <a16:creationId xmlns:a16="http://schemas.microsoft.com/office/drawing/2014/main" id="{E4F5A355-949F-390E-B3EE-572D4B802A13}"/>
                      </a:ext>
                    </a:extLst>
                  </p:cNvPr>
                  <p:cNvSpPr/>
                  <p:nvPr/>
                </p:nvSpPr>
                <p:spPr>
                  <a:xfrm>
                    <a:off x="-3755466" y="1941578"/>
                    <a:ext cx="12700" cy="2962147"/>
                  </a:xfrm>
                  <a:custGeom>
                    <a:avLst/>
                    <a:gdLst>
                      <a:gd name="connsiteX0" fmla="*/ 0 w 12700"/>
                      <a:gd name="connsiteY0" fmla="*/ 2962148 h 2962147"/>
                      <a:gd name="connsiteX1" fmla="*/ 0 w 12700"/>
                      <a:gd name="connsiteY1" fmla="*/ 0 h 2962147"/>
                    </a:gdLst>
                    <a:ahLst/>
                    <a:cxnLst>
                      <a:cxn ang="0">
                        <a:pos x="connsiteX0" y="connsiteY0"/>
                      </a:cxn>
                      <a:cxn ang="0">
                        <a:pos x="connsiteX1" y="connsiteY1"/>
                      </a:cxn>
                    </a:cxnLst>
                    <a:rect l="l" t="t" r="r" b="b"/>
                    <a:pathLst>
                      <a:path w="12700" h="2962147">
                        <a:moveTo>
                          <a:pt x="0" y="2962148"/>
                        </a:moveTo>
                        <a:lnTo>
                          <a:pt x="0" y="0"/>
                        </a:lnTo>
                      </a:path>
                    </a:pathLst>
                  </a:custGeom>
                  <a:noFill/>
                  <a:ln w="10160" cap="sq">
                    <a:solidFill>
                      <a:srgbClr val="B0B0B0"/>
                    </a:solidFill>
                    <a:prstDash val="solid"/>
                    <a:round/>
                  </a:ln>
                </p:spPr>
                <p:txBody>
                  <a:bodyPr rtlCol="0" anchor="ctr"/>
                  <a:lstStyle/>
                  <a:p>
                    <a:endParaRPr lang="en-US"/>
                  </a:p>
                </p:txBody>
              </p:sp>
              <p:sp>
                <p:nvSpPr>
                  <p:cNvPr id="55" name="フリーフォーム: 図形 54">
                    <a:extLst>
                      <a:ext uri="{FF2B5EF4-FFF2-40B4-BE49-F238E27FC236}">
                        <a16:creationId xmlns:a16="http://schemas.microsoft.com/office/drawing/2014/main" id="{30ED3253-E221-0F14-28CD-AEB64D2AFEEB}"/>
                      </a:ext>
                    </a:extLst>
                  </p:cNvPr>
                  <p:cNvSpPr/>
                  <p:nvPr/>
                </p:nvSpPr>
                <p:spPr>
                  <a:xfrm>
                    <a:off x="-3755466" y="4903727"/>
                    <a:ext cx="12700" cy="44450"/>
                  </a:xfrm>
                  <a:custGeom>
                    <a:avLst/>
                    <a:gdLst>
                      <a:gd name="connsiteX0" fmla="*/ 406 w 12700"/>
                      <a:gd name="connsiteY0" fmla="*/ 260 h 44450"/>
                      <a:gd name="connsiteX1" fmla="*/ 406 w 12700"/>
                      <a:gd name="connsiteY1" fmla="*/ 44710 h 44450"/>
                    </a:gdLst>
                    <a:ahLst/>
                    <a:cxnLst>
                      <a:cxn ang="0">
                        <a:pos x="connsiteX0" y="connsiteY0"/>
                      </a:cxn>
                      <a:cxn ang="0">
                        <a:pos x="connsiteX1" y="connsiteY1"/>
                      </a:cxn>
                    </a:cxnLst>
                    <a:rect l="l" t="t" r="r" b="b"/>
                    <a:pathLst>
                      <a:path w="12700" h="44450">
                        <a:moveTo>
                          <a:pt x="406" y="260"/>
                        </a:moveTo>
                        <a:lnTo>
                          <a:pt x="406" y="44710"/>
                        </a:lnTo>
                      </a:path>
                    </a:pathLst>
                  </a:custGeom>
                  <a:solidFill>
                    <a:srgbClr val="000000"/>
                  </a:solidFill>
                  <a:ln w="10160" cap="flat">
                    <a:solidFill>
                      <a:srgbClr val="000000"/>
                    </a:solidFill>
                    <a:prstDash val="solid"/>
                    <a:round/>
                  </a:ln>
                </p:spPr>
                <p:txBody>
                  <a:bodyPr rtlCol="0" anchor="ctr"/>
                  <a:lstStyle/>
                  <a:p>
                    <a:endParaRPr lang="en-US"/>
                  </a:p>
                </p:txBody>
              </p:sp>
              <p:grpSp>
                <p:nvGrpSpPr>
                  <p:cNvPr id="56" name="グラフィックス 2">
                    <a:extLst>
                      <a:ext uri="{FF2B5EF4-FFF2-40B4-BE49-F238E27FC236}">
                        <a16:creationId xmlns:a16="http://schemas.microsoft.com/office/drawing/2014/main" id="{D4155E1F-EDFA-5A06-838D-0ADDF22B04A1}"/>
                      </a:ext>
                    </a:extLst>
                  </p:cNvPr>
                  <p:cNvGrpSpPr/>
                  <p:nvPr/>
                </p:nvGrpSpPr>
                <p:grpSpPr>
                  <a:xfrm>
                    <a:off x="-3838653" y="4992621"/>
                    <a:ext cx="147890" cy="121919"/>
                    <a:chOff x="-3838653" y="4992621"/>
                    <a:chExt cx="147890" cy="121919"/>
                  </a:xfrm>
                  <a:solidFill>
                    <a:srgbClr val="000000"/>
                  </a:solidFill>
                </p:grpSpPr>
                <p:sp>
                  <p:nvSpPr>
                    <p:cNvPr id="57" name="フリーフォーム: 図形 56">
                      <a:extLst>
                        <a:ext uri="{FF2B5EF4-FFF2-40B4-BE49-F238E27FC236}">
                          <a16:creationId xmlns:a16="http://schemas.microsoft.com/office/drawing/2014/main" id="{580F2DAC-142C-A449-9704-7A8CD58648DD}"/>
                        </a:ext>
                      </a:extLst>
                    </p:cNvPr>
                    <p:cNvSpPr/>
                    <p:nvPr/>
                  </p:nvSpPr>
                  <p:spPr>
                    <a:xfrm flipV="1">
                      <a:off x="-3838653" y="4996530"/>
                      <a:ext cx="31551" cy="118010"/>
                    </a:xfrm>
                    <a:custGeom>
                      <a:avLst/>
                      <a:gdLst>
                        <a:gd name="connsiteX0" fmla="*/ 18967 w 31551"/>
                        <a:gd name="connsiteY0" fmla="*/ 116590 h 118010"/>
                        <a:gd name="connsiteX1" fmla="*/ 31488 w 31551"/>
                        <a:gd name="connsiteY1" fmla="*/ 116590 h 118010"/>
                        <a:gd name="connsiteX2" fmla="*/ 31488 w 31551"/>
                        <a:gd name="connsiteY2" fmla="*/ 30449 h 118010"/>
                        <a:gd name="connsiteX3" fmla="*/ 25138 w 31551"/>
                        <a:gd name="connsiteY3" fmla="*/ 6140 h 118010"/>
                        <a:gd name="connsiteX4" fmla="*/ 4699 w 31551"/>
                        <a:gd name="connsiteY4" fmla="*/ -1420 h 118010"/>
                        <a:gd name="connsiteX5" fmla="*/ -64 w 31551"/>
                        <a:gd name="connsiteY5" fmla="*/ -1420 h 118010"/>
                        <a:gd name="connsiteX6" fmla="*/ -64 w 31551"/>
                        <a:gd name="connsiteY6" fmla="*/ 9117 h 118010"/>
                        <a:gd name="connsiteX7" fmla="*/ 3846 w 31551"/>
                        <a:gd name="connsiteY7" fmla="*/ 9117 h 118010"/>
                        <a:gd name="connsiteX8" fmla="*/ 15554 w 31551"/>
                        <a:gd name="connsiteY8" fmla="*/ 13780 h 118010"/>
                        <a:gd name="connsiteX9" fmla="*/ 18967 w 31551"/>
                        <a:gd name="connsiteY9" fmla="*/ 30449 h 118010"/>
                        <a:gd name="connsiteX10" fmla="*/ 18967 w 31551"/>
                        <a:gd name="connsiteY10" fmla="*/ 116590 h 118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1551" h="118010">
                          <a:moveTo>
                            <a:pt x="18967" y="116590"/>
                          </a:moveTo>
                          <a:lnTo>
                            <a:pt x="31488" y="116590"/>
                          </a:lnTo>
                          <a:lnTo>
                            <a:pt x="31488" y="30449"/>
                          </a:lnTo>
                          <a:cubicBezTo>
                            <a:pt x="31488" y="19283"/>
                            <a:pt x="29371" y="11180"/>
                            <a:pt x="25138" y="6140"/>
                          </a:cubicBezTo>
                          <a:cubicBezTo>
                            <a:pt x="20905" y="1100"/>
                            <a:pt x="14092" y="-1420"/>
                            <a:pt x="4699" y="-1420"/>
                          </a:cubicBezTo>
                          <a:lnTo>
                            <a:pt x="-64" y="-1420"/>
                          </a:lnTo>
                          <a:lnTo>
                            <a:pt x="-64" y="9117"/>
                          </a:lnTo>
                          <a:lnTo>
                            <a:pt x="3846" y="9117"/>
                          </a:lnTo>
                          <a:cubicBezTo>
                            <a:pt x="9376" y="9117"/>
                            <a:pt x="13278" y="10671"/>
                            <a:pt x="15554" y="13780"/>
                          </a:cubicBezTo>
                          <a:cubicBezTo>
                            <a:pt x="17829" y="16876"/>
                            <a:pt x="18967" y="22432"/>
                            <a:pt x="18967" y="30449"/>
                          </a:cubicBezTo>
                          <a:lnTo>
                            <a:pt x="18967" y="116590"/>
                          </a:lnTo>
                          <a:close/>
                        </a:path>
                      </a:pathLst>
                    </a:custGeom>
                    <a:solidFill>
                      <a:srgbClr val="000000"/>
                    </a:solidFill>
                    <a:ln w="20" cap="flat">
                      <a:noFill/>
                      <a:prstDash val="solid"/>
                      <a:round/>
                    </a:ln>
                  </p:spPr>
                  <p:txBody>
                    <a:bodyPr rtlCol="0" anchor="ctr"/>
                    <a:lstStyle/>
                    <a:p>
                      <a:endParaRPr lang="en-US"/>
                    </a:p>
                  </p:txBody>
                </p:sp>
                <p:sp>
                  <p:nvSpPr>
                    <p:cNvPr id="58" name="フリーフォーム: 図形 57">
                      <a:extLst>
                        <a:ext uri="{FF2B5EF4-FFF2-40B4-BE49-F238E27FC236}">
                          <a16:creationId xmlns:a16="http://schemas.microsoft.com/office/drawing/2014/main" id="{BB20774C-B946-1F63-22E5-6A5452D72606}"/>
                        </a:ext>
                      </a:extLst>
                    </p:cNvPr>
                    <p:cNvSpPr/>
                    <p:nvPr/>
                  </p:nvSpPr>
                  <p:spPr>
                    <a:xfrm flipV="1">
                      <a:off x="-3783835" y="5018001"/>
                      <a:ext cx="58162" cy="72925"/>
                    </a:xfrm>
                    <a:custGeom>
                      <a:avLst/>
                      <a:gdLst>
                        <a:gd name="connsiteX0" fmla="*/ -1604 w 58162"/>
                        <a:gd name="connsiteY0" fmla="*/ 27735 h 72925"/>
                        <a:gd name="connsiteX1" fmla="*/ -1604 w 58162"/>
                        <a:gd name="connsiteY1" fmla="*/ 69784 h 72925"/>
                        <a:gd name="connsiteX2" fmla="*/ 9807 w 58162"/>
                        <a:gd name="connsiteY2" fmla="*/ 69784 h 72925"/>
                        <a:gd name="connsiteX3" fmla="*/ 9807 w 58162"/>
                        <a:gd name="connsiteY3" fmla="*/ 28172 h 72925"/>
                        <a:gd name="connsiteX4" fmla="*/ 13636 w 58162"/>
                        <a:gd name="connsiteY4" fmla="*/ 13369 h 72925"/>
                        <a:gd name="connsiteX5" fmla="*/ 25185 w 58162"/>
                        <a:gd name="connsiteY5" fmla="*/ 8447 h 72925"/>
                        <a:gd name="connsiteX6" fmla="*/ 39771 w 58162"/>
                        <a:gd name="connsiteY6" fmla="*/ 14341 h 72925"/>
                        <a:gd name="connsiteX7" fmla="*/ 45148 w 58162"/>
                        <a:gd name="connsiteY7" fmla="*/ 30414 h 72925"/>
                        <a:gd name="connsiteX8" fmla="*/ 45148 w 58162"/>
                        <a:gd name="connsiteY8" fmla="*/ 69784 h 72925"/>
                        <a:gd name="connsiteX9" fmla="*/ 56558 w 58162"/>
                        <a:gd name="connsiteY9" fmla="*/ 69784 h 72925"/>
                        <a:gd name="connsiteX10" fmla="*/ 56558 w 58162"/>
                        <a:gd name="connsiteY10" fmla="*/ 331 h 72925"/>
                        <a:gd name="connsiteX11" fmla="*/ 45148 w 58162"/>
                        <a:gd name="connsiteY11" fmla="*/ 331 h 72925"/>
                        <a:gd name="connsiteX12" fmla="*/ 45148 w 58162"/>
                        <a:gd name="connsiteY12" fmla="*/ 11007 h 72925"/>
                        <a:gd name="connsiteX13" fmla="*/ 35504 w 58162"/>
                        <a:gd name="connsiteY13" fmla="*/ 1601 h 72925"/>
                        <a:gd name="connsiteX14" fmla="*/ 22764 w 58162"/>
                        <a:gd name="connsiteY14" fmla="*/ -1475 h 72925"/>
                        <a:gd name="connsiteX15" fmla="*/ 4588 w 58162"/>
                        <a:gd name="connsiteY15" fmla="*/ 5967 h 72925"/>
                        <a:gd name="connsiteX16" fmla="*/ -1604 w 58162"/>
                        <a:gd name="connsiteY16" fmla="*/ 27735 h 72925"/>
                        <a:gd name="connsiteX17" fmla="*/ 27110 w 58162"/>
                        <a:gd name="connsiteY17" fmla="*/ 71451 h 72925"/>
                        <a:gd name="connsiteX18" fmla="*/ 27110 w 58162"/>
                        <a:gd name="connsiteY18" fmla="*/ 71451 h 7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8162" h="72925">
                          <a:moveTo>
                            <a:pt x="-1604" y="27735"/>
                          </a:moveTo>
                          <a:lnTo>
                            <a:pt x="-1604" y="69784"/>
                          </a:lnTo>
                          <a:lnTo>
                            <a:pt x="9807" y="69784"/>
                          </a:lnTo>
                          <a:lnTo>
                            <a:pt x="9807" y="28172"/>
                          </a:lnTo>
                          <a:cubicBezTo>
                            <a:pt x="9807" y="21597"/>
                            <a:pt x="11083" y="16663"/>
                            <a:pt x="13636" y="13369"/>
                          </a:cubicBezTo>
                          <a:cubicBezTo>
                            <a:pt x="16203" y="10088"/>
                            <a:pt x="20052" y="8447"/>
                            <a:pt x="25185" y="8447"/>
                          </a:cubicBezTo>
                          <a:cubicBezTo>
                            <a:pt x="31337" y="8447"/>
                            <a:pt x="36199" y="10412"/>
                            <a:pt x="39771" y="14341"/>
                          </a:cubicBezTo>
                          <a:cubicBezTo>
                            <a:pt x="43356" y="18270"/>
                            <a:pt x="45148" y="23628"/>
                            <a:pt x="45148" y="30414"/>
                          </a:cubicBezTo>
                          <a:lnTo>
                            <a:pt x="45148" y="69784"/>
                          </a:lnTo>
                          <a:lnTo>
                            <a:pt x="56558" y="69784"/>
                          </a:lnTo>
                          <a:lnTo>
                            <a:pt x="56558" y="331"/>
                          </a:lnTo>
                          <a:lnTo>
                            <a:pt x="45148" y="331"/>
                          </a:lnTo>
                          <a:lnTo>
                            <a:pt x="45148" y="11007"/>
                          </a:lnTo>
                          <a:cubicBezTo>
                            <a:pt x="42383" y="6787"/>
                            <a:pt x="39169" y="3652"/>
                            <a:pt x="35504" y="1601"/>
                          </a:cubicBezTo>
                          <a:cubicBezTo>
                            <a:pt x="31853" y="-449"/>
                            <a:pt x="27606" y="-1475"/>
                            <a:pt x="22764" y="-1475"/>
                          </a:cubicBezTo>
                          <a:cubicBezTo>
                            <a:pt x="14787" y="-1475"/>
                            <a:pt x="8728" y="1006"/>
                            <a:pt x="4588" y="5967"/>
                          </a:cubicBezTo>
                          <a:cubicBezTo>
                            <a:pt x="460" y="10928"/>
                            <a:pt x="-1604" y="18184"/>
                            <a:pt x="-1604" y="27735"/>
                          </a:cubicBezTo>
                          <a:close/>
                          <a:moveTo>
                            <a:pt x="27110" y="71451"/>
                          </a:moveTo>
                          <a:lnTo>
                            <a:pt x="27110" y="71451"/>
                          </a:lnTo>
                          <a:close/>
                        </a:path>
                      </a:pathLst>
                    </a:custGeom>
                    <a:solidFill>
                      <a:srgbClr val="000000"/>
                    </a:solidFill>
                    <a:ln w="20" cap="flat">
                      <a:noFill/>
                      <a:prstDash val="solid"/>
                      <a:round/>
                    </a:ln>
                  </p:spPr>
                  <p:txBody>
                    <a:bodyPr rtlCol="0" anchor="ctr"/>
                    <a:lstStyle/>
                    <a:p>
                      <a:endParaRPr lang="en-US"/>
                    </a:p>
                  </p:txBody>
                </p:sp>
                <p:sp>
                  <p:nvSpPr>
                    <p:cNvPr id="59" name="フリーフォーム: 図形 58">
                      <a:extLst>
                        <a:ext uri="{FF2B5EF4-FFF2-40B4-BE49-F238E27FC236}">
                          <a16:creationId xmlns:a16="http://schemas.microsoft.com/office/drawing/2014/main" id="{FB132EAD-790A-E4E1-937B-568DE908B779}"/>
                        </a:ext>
                      </a:extLst>
                    </p:cNvPr>
                    <p:cNvSpPr/>
                    <p:nvPr/>
                  </p:nvSpPr>
                  <p:spPr>
                    <a:xfrm flipV="1">
                      <a:off x="-3702173" y="4992621"/>
                      <a:ext cx="11410" cy="96500"/>
                    </a:xfrm>
                    <a:custGeom>
                      <a:avLst/>
                      <a:gdLst>
                        <a:gd name="connsiteX0" fmla="*/ -480 w 11410"/>
                        <a:gd name="connsiteY0" fmla="*/ 94340 h 96500"/>
                        <a:gd name="connsiteX1" fmla="*/ 10930 w 11410"/>
                        <a:gd name="connsiteY1" fmla="*/ 94340 h 96500"/>
                        <a:gd name="connsiteX2" fmla="*/ 10930 w 11410"/>
                        <a:gd name="connsiteY2" fmla="*/ -2161 h 96500"/>
                        <a:gd name="connsiteX3" fmla="*/ -480 w 11410"/>
                        <a:gd name="connsiteY3" fmla="*/ -2161 h 96500"/>
                        <a:gd name="connsiteX4" fmla="*/ -480 w 11410"/>
                        <a:gd name="connsiteY4" fmla="*/ 94340 h 965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10" h="96500">
                          <a:moveTo>
                            <a:pt x="-480" y="94340"/>
                          </a:moveTo>
                          <a:lnTo>
                            <a:pt x="10930" y="94340"/>
                          </a:lnTo>
                          <a:lnTo>
                            <a:pt x="10930" y="-2161"/>
                          </a:lnTo>
                          <a:lnTo>
                            <a:pt x="-480" y="-2161"/>
                          </a:lnTo>
                          <a:lnTo>
                            <a:pt x="-480" y="94340"/>
                          </a:lnTo>
                          <a:close/>
                        </a:path>
                      </a:pathLst>
                    </a:custGeom>
                    <a:solidFill>
                      <a:srgbClr val="000000"/>
                    </a:solidFill>
                    <a:ln w="20" cap="flat">
                      <a:noFill/>
                      <a:prstDash val="solid"/>
                      <a:round/>
                    </a:ln>
                  </p:spPr>
                  <p:txBody>
                    <a:bodyPr rtlCol="0" anchor="ctr"/>
                    <a:lstStyle/>
                    <a:p>
                      <a:endParaRPr lang="en-US"/>
                    </a:p>
                  </p:txBody>
                </p:sp>
              </p:grpSp>
            </p:grpSp>
            <p:grpSp>
              <p:nvGrpSpPr>
                <p:cNvPr id="60" name="グラフィックス 2">
                  <a:extLst>
                    <a:ext uri="{FF2B5EF4-FFF2-40B4-BE49-F238E27FC236}">
                      <a16:creationId xmlns:a16="http://schemas.microsoft.com/office/drawing/2014/main" id="{E5A42CF8-4866-D366-AE40-3A7F2E6B676C}"/>
                    </a:ext>
                  </a:extLst>
                </p:cNvPr>
                <p:cNvGrpSpPr/>
                <p:nvPr/>
              </p:nvGrpSpPr>
              <p:grpSpPr>
                <a:xfrm>
                  <a:off x="-3184193" y="1941578"/>
                  <a:ext cx="235453" cy="3173954"/>
                  <a:chOff x="-3184193" y="1941578"/>
                  <a:chExt cx="235453" cy="3173954"/>
                </a:xfrm>
              </p:grpSpPr>
              <p:sp>
                <p:nvSpPr>
                  <p:cNvPr id="61" name="フリーフォーム: 図形 60">
                    <a:extLst>
                      <a:ext uri="{FF2B5EF4-FFF2-40B4-BE49-F238E27FC236}">
                        <a16:creationId xmlns:a16="http://schemas.microsoft.com/office/drawing/2014/main" id="{CEB9F95E-FB12-69AC-B585-36AEE1FDE680}"/>
                      </a:ext>
                    </a:extLst>
                  </p:cNvPr>
                  <p:cNvSpPr/>
                  <p:nvPr/>
                </p:nvSpPr>
                <p:spPr>
                  <a:xfrm>
                    <a:off x="-3061182" y="1941578"/>
                    <a:ext cx="12700" cy="2962147"/>
                  </a:xfrm>
                  <a:custGeom>
                    <a:avLst/>
                    <a:gdLst>
                      <a:gd name="connsiteX0" fmla="*/ 0 w 12700"/>
                      <a:gd name="connsiteY0" fmla="*/ 2962148 h 2962147"/>
                      <a:gd name="connsiteX1" fmla="*/ 0 w 12700"/>
                      <a:gd name="connsiteY1" fmla="*/ 0 h 2962147"/>
                    </a:gdLst>
                    <a:ahLst/>
                    <a:cxnLst>
                      <a:cxn ang="0">
                        <a:pos x="connsiteX0" y="connsiteY0"/>
                      </a:cxn>
                      <a:cxn ang="0">
                        <a:pos x="connsiteX1" y="connsiteY1"/>
                      </a:cxn>
                    </a:cxnLst>
                    <a:rect l="l" t="t" r="r" b="b"/>
                    <a:pathLst>
                      <a:path w="12700" h="2962147">
                        <a:moveTo>
                          <a:pt x="0" y="2962148"/>
                        </a:moveTo>
                        <a:lnTo>
                          <a:pt x="0" y="0"/>
                        </a:lnTo>
                      </a:path>
                    </a:pathLst>
                  </a:custGeom>
                  <a:noFill/>
                  <a:ln w="10160" cap="sq">
                    <a:solidFill>
                      <a:srgbClr val="B0B0B0"/>
                    </a:solidFill>
                    <a:prstDash val="solid"/>
                    <a:round/>
                  </a:ln>
                </p:spPr>
                <p:txBody>
                  <a:bodyPr rtlCol="0" anchor="ctr"/>
                  <a:lstStyle/>
                  <a:p>
                    <a:endParaRPr lang="en-US"/>
                  </a:p>
                </p:txBody>
              </p:sp>
              <p:sp>
                <p:nvSpPr>
                  <p:cNvPr id="62" name="フリーフォーム: 図形 61">
                    <a:extLst>
                      <a:ext uri="{FF2B5EF4-FFF2-40B4-BE49-F238E27FC236}">
                        <a16:creationId xmlns:a16="http://schemas.microsoft.com/office/drawing/2014/main" id="{29FDA3E8-241A-6561-70D7-2E30E398CC89}"/>
                      </a:ext>
                    </a:extLst>
                  </p:cNvPr>
                  <p:cNvSpPr/>
                  <p:nvPr/>
                </p:nvSpPr>
                <p:spPr>
                  <a:xfrm>
                    <a:off x="-3061182" y="4903727"/>
                    <a:ext cx="12700" cy="44450"/>
                  </a:xfrm>
                  <a:custGeom>
                    <a:avLst/>
                    <a:gdLst>
                      <a:gd name="connsiteX0" fmla="*/ 460 w 12700"/>
                      <a:gd name="connsiteY0" fmla="*/ 260 h 44450"/>
                      <a:gd name="connsiteX1" fmla="*/ 460 w 12700"/>
                      <a:gd name="connsiteY1" fmla="*/ 44710 h 44450"/>
                    </a:gdLst>
                    <a:ahLst/>
                    <a:cxnLst>
                      <a:cxn ang="0">
                        <a:pos x="connsiteX0" y="connsiteY0"/>
                      </a:cxn>
                      <a:cxn ang="0">
                        <a:pos x="connsiteX1" y="connsiteY1"/>
                      </a:cxn>
                    </a:cxnLst>
                    <a:rect l="l" t="t" r="r" b="b"/>
                    <a:pathLst>
                      <a:path w="12700" h="44450">
                        <a:moveTo>
                          <a:pt x="460" y="260"/>
                        </a:moveTo>
                        <a:lnTo>
                          <a:pt x="460" y="44710"/>
                        </a:lnTo>
                      </a:path>
                    </a:pathLst>
                  </a:custGeom>
                  <a:solidFill>
                    <a:srgbClr val="000000"/>
                  </a:solidFill>
                  <a:ln w="10160" cap="flat">
                    <a:solidFill>
                      <a:srgbClr val="000000"/>
                    </a:solidFill>
                    <a:prstDash val="solid"/>
                    <a:round/>
                  </a:ln>
                </p:spPr>
                <p:txBody>
                  <a:bodyPr rtlCol="0" anchor="ctr"/>
                  <a:lstStyle/>
                  <a:p>
                    <a:endParaRPr lang="en-US"/>
                  </a:p>
                </p:txBody>
              </p:sp>
              <p:grpSp>
                <p:nvGrpSpPr>
                  <p:cNvPr id="63" name="グラフィックス 2">
                    <a:extLst>
                      <a:ext uri="{FF2B5EF4-FFF2-40B4-BE49-F238E27FC236}">
                        <a16:creationId xmlns:a16="http://schemas.microsoft.com/office/drawing/2014/main" id="{30876B6F-81BE-2845-DE51-E2ED81DCB31F}"/>
                      </a:ext>
                    </a:extLst>
                  </p:cNvPr>
                  <p:cNvGrpSpPr/>
                  <p:nvPr/>
                </p:nvGrpSpPr>
                <p:grpSpPr>
                  <a:xfrm>
                    <a:off x="-3184193" y="4996530"/>
                    <a:ext cx="235453" cy="119002"/>
                    <a:chOff x="-3184193" y="4996530"/>
                    <a:chExt cx="235453" cy="119002"/>
                  </a:xfrm>
                  <a:solidFill>
                    <a:srgbClr val="000000"/>
                  </a:solidFill>
                </p:grpSpPr>
                <p:sp>
                  <p:nvSpPr>
                    <p:cNvPr id="64" name="フリーフォーム: 図形 63">
                      <a:extLst>
                        <a:ext uri="{FF2B5EF4-FFF2-40B4-BE49-F238E27FC236}">
                          <a16:creationId xmlns:a16="http://schemas.microsoft.com/office/drawing/2014/main" id="{F220359B-C7C2-7C9F-B694-DC2B5B346ECE}"/>
                        </a:ext>
                      </a:extLst>
                    </p:cNvPr>
                    <p:cNvSpPr/>
                    <p:nvPr/>
                  </p:nvSpPr>
                  <p:spPr>
                    <a:xfrm flipV="1">
                      <a:off x="-3184193" y="4996530"/>
                      <a:ext cx="84832" cy="92590"/>
                    </a:xfrm>
                    <a:custGeom>
                      <a:avLst/>
                      <a:gdLst>
                        <a:gd name="connsiteX0" fmla="*/ 40693 w 84832"/>
                        <a:gd name="connsiteY0" fmla="*/ 78186 h 92590"/>
                        <a:gd name="connsiteX1" fmla="*/ 23686 w 84832"/>
                        <a:gd name="connsiteY1" fmla="*/ 32109 h 92590"/>
                        <a:gd name="connsiteX2" fmla="*/ 57738 w 84832"/>
                        <a:gd name="connsiteY2" fmla="*/ 32109 h 92590"/>
                        <a:gd name="connsiteX3" fmla="*/ 40693 w 84832"/>
                        <a:gd name="connsiteY3" fmla="*/ 78186 h 92590"/>
                        <a:gd name="connsiteX4" fmla="*/ 33608 w 84832"/>
                        <a:gd name="connsiteY4" fmla="*/ 90529 h 92590"/>
                        <a:gd name="connsiteX5" fmla="*/ 47816 w 84832"/>
                        <a:gd name="connsiteY5" fmla="*/ 90529 h 92590"/>
                        <a:gd name="connsiteX6" fmla="*/ 83099 w 84832"/>
                        <a:gd name="connsiteY6" fmla="*/ -2062 h 92590"/>
                        <a:gd name="connsiteX7" fmla="*/ 70081 w 84832"/>
                        <a:gd name="connsiteY7" fmla="*/ -2062 h 92590"/>
                        <a:gd name="connsiteX8" fmla="*/ 61648 w 84832"/>
                        <a:gd name="connsiteY8" fmla="*/ 21691 h 92590"/>
                        <a:gd name="connsiteX9" fmla="*/ 19916 w 84832"/>
                        <a:gd name="connsiteY9" fmla="*/ 21691 h 92590"/>
                        <a:gd name="connsiteX10" fmla="*/ 11483 w 84832"/>
                        <a:gd name="connsiteY10" fmla="*/ -2062 h 92590"/>
                        <a:gd name="connsiteX11" fmla="*/ -1733 w 84832"/>
                        <a:gd name="connsiteY11" fmla="*/ -2062 h 92590"/>
                        <a:gd name="connsiteX12" fmla="*/ 33608 w 84832"/>
                        <a:gd name="connsiteY12" fmla="*/ 90529 h 92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4832" h="92590">
                          <a:moveTo>
                            <a:pt x="40693" y="78186"/>
                          </a:moveTo>
                          <a:lnTo>
                            <a:pt x="23686" y="32109"/>
                          </a:lnTo>
                          <a:lnTo>
                            <a:pt x="57738" y="32109"/>
                          </a:lnTo>
                          <a:lnTo>
                            <a:pt x="40693" y="78186"/>
                          </a:lnTo>
                          <a:close/>
                          <a:moveTo>
                            <a:pt x="33608" y="90529"/>
                          </a:moveTo>
                          <a:lnTo>
                            <a:pt x="47816" y="90529"/>
                          </a:lnTo>
                          <a:lnTo>
                            <a:pt x="83099" y="-2062"/>
                          </a:lnTo>
                          <a:lnTo>
                            <a:pt x="70081" y="-2062"/>
                          </a:lnTo>
                          <a:lnTo>
                            <a:pt x="61648" y="21691"/>
                          </a:lnTo>
                          <a:lnTo>
                            <a:pt x="19916" y="21691"/>
                          </a:lnTo>
                          <a:lnTo>
                            <a:pt x="11483" y="-2062"/>
                          </a:lnTo>
                          <a:lnTo>
                            <a:pt x="-1733" y="-2062"/>
                          </a:lnTo>
                          <a:lnTo>
                            <a:pt x="33608" y="90529"/>
                          </a:lnTo>
                          <a:close/>
                        </a:path>
                      </a:pathLst>
                    </a:custGeom>
                    <a:solidFill>
                      <a:srgbClr val="000000"/>
                    </a:solidFill>
                    <a:ln w="20" cap="flat">
                      <a:noFill/>
                      <a:prstDash val="solid"/>
                      <a:round/>
                    </a:ln>
                  </p:spPr>
                  <p:txBody>
                    <a:bodyPr rtlCol="0" anchor="ctr"/>
                    <a:lstStyle/>
                    <a:p>
                      <a:endParaRPr lang="en-US"/>
                    </a:p>
                  </p:txBody>
                </p:sp>
                <p:sp>
                  <p:nvSpPr>
                    <p:cNvPr id="65" name="フリーフォーム: 図形 64">
                      <a:extLst>
                        <a:ext uri="{FF2B5EF4-FFF2-40B4-BE49-F238E27FC236}">
                          <a16:creationId xmlns:a16="http://schemas.microsoft.com/office/drawing/2014/main" id="{CB2656C8-4CF0-C088-782B-6B98B37604C4}"/>
                        </a:ext>
                      </a:extLst>
                    </p:cNvPr>
                    <p:cNvSpPr/>
                    <p:nvPr/>
                  </p:nvSpPr>
                  <p:spPr>
                    <a:xfrm flipV="1">
                      <a:off x="-3087511" y="5018001"/>
                      <a:ext cx="58162" cy="72925"/>
                    </a:xfrm>
                    <a:custGeom>
                      <a:avLst/>
                      <a:gdLst>
                        <a:gd name="connsiteX0" fmla="*/ -1549 w 58162"/>
                        <a:gd name="connsiteY0" fmla="*/ 27735 h 72925"/>
                        <a:gd name="connsiteX1" fmla="*/ -1549 w 58162"/>
                        <a:gd name="connsiteY1" fmla="*/ 69784 h 72925"/>
                        <a:gd name="connsiteX2" fmla="*/ 9861 w 58162"/>
                        <a:gd name="connsiteY2" fmla="*/ 69784 h 72925"/>
                        <a:gd name="connsiteX3" fmla="*/ 9861 w 58162"/>
                        <a:gd name="connsiteY3" fmla="*/ 28172 h 72925"/>
                        <a:gd name="connsiteX4" fmla="*/ 13691 w 58162"/>
                        <a:gd name="connsiteY4" fmla="*/ 13369 h 72925"/>
                        <a:gd name="connsiteX5" fmla="*/ 25240 w 58162"/>
                        <a:gd name="connsiteY5" fmla="*/ 8447 h 72925"/>
                        <a:gd name="connsiteX6" fmla="*/ 39825 w 58162"/>
                        <a:gd name="connsiteY6" fmla="*/ 14341 h 72925"/>
                        <a:gd name="connsiteX7" fmla="*/ 45203 w 58162"/>
                        <a:gd name="connsiteY7" fmla="*/ 30414 h 72925"/>
                        <a:gd name="connsiteX8" fmla="*/ 45203 w 58162"/>
                        <a:gd name="connsiteY8" fmla="*/ 69784 h 72925"/>
                        <a:gd name="connsiteX9" fmla="*/ 56613 w 58162"/>
                        <a:gd name="connsiteY9" fmla="*/ 69784 h 72925"/>
                        <a:gd name="connsiteX10" fmla="*/ 56613 w 58162"/>
                        <a:gd name="connsiteY10" fmla="*/ 331 h 72925"/>
                        <a:gd name="connsiteX11" fmla="*/ 45203 w 58162"/>
                        <a:gd name="connsiteY11" fmla="*/ 331 h 72925"/>
                        <a:gd name="connsiteX12" fmla="*/ 45203 w 58162"/>
                        <a:gd name="connsiteY12" fmla="*/ 11007 h 72925"/>
                        <a:gd name="connsiteX13" fmla="*/ 35559 w 58162"/>
                        <a:gd name="connsiteY13" fmla="*/ 1601 h 72925"/>
                        <a:gd name="connsiteX14" fmla="*/ 22819 w 58162"/>
                        <a:gd name="connsiteY14" fmla="*/ -1475 h 72925"/>
                        <a:gd name="connsiteX15" fmla="*/ 4642 w 58162"/>
                        <a:gd name="connsiteY15" fmla="*/ 5967 h 72925"/>
                        <a:gd name="connsiteX16" fmla="*/ -1549 w 58162"/>
                        <a:gd name="connsiteY16" fmla="*/ 27735 h 72925"/>
                        <a:gd name="connsiteX17" fmla="*/ 27165 w 58162"/>
                        <a:gd name="connsiteY17" fmla="*/ 71451 h 72925"/>
                        <a:gd name="connsiteX18" fmla="*/ 27165 w 58162"/>
                        <a:gd name="connsiteY18" fmla="*/ 71451 h 7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8162" h="72925">
                          <a:moveTo>
                            <a:pt x="-1549" y="27735"/>
                          </a:moveTo>
                          <a:lnTo>
                            <a:pt x="-1549" y="69784"/>
                          </a:lnTo>
                          <a:lnTo>
                            <a:pt x="9861" y="69784"/>
                          </a:lnTo>
                          <a:lnTo>
                            <a:pt x="9861" y="28172"/>
                          </a:lnTo>
                          <a:cubicBezTo>
                            <a:pt x="9861" y="21597"/>
                            <a:pt x="11138" y="16663"/>
                            <a:pt x="13691" y="13369"/>
                          </a:cubicBezTo>
                          <a:cubicBezTo>
                            <a:pt x="16258" y="10088"/>
                            <a:pt x="20107" y="8447"/>
                            <a:pt x="25240" y="8447"/>
                          </a:cubicBezTo>
                          <a:cubicBezTo>
                            <a:pt x="31392" y="8447"/>
                            <a:pt x="36254" y="10412"/>
                            <a:pt x="39825" y="14341"/>
                          </a:cubicBezTo>
                          <a:cubicBezTo>
                            <a:pt x="43411" y="18270"/>
                            <a:pt x="45203" y="23628"/>
                            <a:pt x="45203" y="30414"/>
                          </a:cubicBezTo>
                          <a:lnTo>
                            <a:pt x="45203" y="69784"/>
                          </a:lnTo>
                          <a:lnTo>
                            <a:pt x="56613" y="69784"/>
                          </a:lnTo>
                          <a:lnTo>
                            <a:pt x="56613" y="331"/>
                          </a:lnTo>
                          <a:lnTo>
                            <a:pt x="45203" y="331"/>
                          </a:lnTo>
                          <a:lnTo>
                            <a:pt x="45203" y="11007"/>
                          </a:lnTo>
                          <a:cubicBezTo>
                            <a:pt x="42438" y="6787"/>
                            <a:pt x="39224" y="3652"/>
                            <a:pt x="35559" y="1601"/>
                          </a:cubicBezTo>
                          <a:cubicBezTo>
                            <a:pt x="31908" y="-449"/>
                            <a:pt x="27661" y="-1475"/>
                            <a:pt x="22819" y="-1475"/>
                          </a:cubicBezTo>
                          <a:cubicBezTo>
                            <a:pt x="14842" y="-1475"/>
                            <a:pt x="8783" y="1006"/>
                            <a:pt x="4642" y="5967"/>
                          </a:cubicBezTo>
                          <a:cubicBezTo>
                            <a:pt x="515" y="10928"/>
                            <a:pt x="-1549" y="18184"/>
                            <a:pt x="-1549" y="27735"/>
                          </a:cubicBezTo>
                          <a:close/>
                          <a:moveTo>
                            <a:pt x="27165" y="71451"/>
                          </a:moveTo>
                          <a:lnTo>
                            <a:pt x="27165" y="71451"/>
                          </a:lnTo>
                          <a:close/>
                        </a:path>
                      </a:pathLst>
                    </a:custGeom>
                    <a:solidFill>
                      <a:srgbClr val="000000"/>
                    </a:solidFill>
                    <a:ln w="20" cap="flat">
                      <a:noFill/>
                      <a:prstDash val="solid"/>
                      <a:round/>
                    </a:ln>
                  </p:spPr>
                  <p:txBody>
                    <a:bodyPr rtlCol="0" anchor="ctr"/>
                    <a:lstStyle/>
                    <a:p>
                      <a:endParaRPr lang="en-US"/>
                    </a:p>
                  </p:txBody>
                </p:sp>
                <p:sp>
                  <p:nvSpPr>
                    <p:cNvPr id="66" name="フリーフォーム: 図形 65">
                      <a:extLst>
                        <a:ext uri="{FF2B5EF4-FFF2-40B4-BE49-F238E27FC236}">
                          <a16:creationId xmlns:a16="http://schemas.microsoft.com/office/drawing/2014/main" id="{B3B3E46E-1B1D-5AEC-0397-FC035DB81D52}"/>
                        </a:ext>
                      </a:extLst>
                    </p:cNvPr>
                    <p:cNvSpPr/>
                    <p:nvPr/>
                  </p:nvSpPr>
                  <p:spPr>
                    <a:xfrm flipV="1">
                      <a:off x="-3010811" y="5018001"/>
                      <a:ext cx="62071" cy="97532"/>
                    </a:xfrm>
                    <a:custGeom>
                      <a:avLst/>
                      <a:gdLst>
                        <a:gd name="connsiteX0" fmla="*/ 49211 w 62071"/>
                        <a:gd name="connsiteY0" fmla="*/ 61099 h 97532"/>
                        <a:gd name="connsiteX1" fmla="*/ 44091 w 62071"/>
                        <a:gd name="connsiteY1" fmla="*/ 80307 h 97532"/>
                        <a:gd name="connsiteX2" fmla="*/ 29744 w 62071"/>
                        <a:gd name="connsiteY2" fmla="*/ 87134 h 97532"/>
                        <a:gd name="connsiteX3" fmla="*/ 15457 w 62071"/>
                        <a:gd name="connsiteY3" fmla="*/ 80307 h 97532"/>
                        <a:gd name="connsiteX4" fmla="*/ 10337 w 62071"/>
                        <a:gd name="connsiteY4" fmla="*/ 61099 h 97532"/>
                        <a:gd name="connsiteX5" fmla="*/ 15457 w 62071"/>
                        <a:gd name="connsiteY5" fmla="*/ 41930 h 97532"/>
                        <a:gd name="connsiteX6" fmla="*/ 29744 w 62071"/>
                        <a:gd name="connsiteY6" fmla="*/ 35103 h 97532"/>
                        <a:gd name="connsiteX7" fmla="*/ 44091 w 62071"/>
                        <a:gd name="connsiteY7" fmla="*/ 41930 h 97532"/>
                        <a:gd name="connsiteX8" fmla="*/ 49211 w 62071"/>
                        <a:gd name="connsiteY8" fmla="*/ 61099 h 97532"/>
                        <a:gd name="connsiteX9" fmla="*/ 60621 w 62071"/>
                        <a:gd name="connsiteY9" fmla="*/ 34171 h 97532"/>
                        <a:gd name="connsiteX10" fmla="*/ 52743 w 62071"/>
                        <a:gd name="connsiteY10" fmla="*/ 7798 h 97532"/>
                        <a:gd name="connsiteX11" fmla="*/ 28633 w 62071"/>
                        <a:gd name="connsiteY11" fmla="*/ -854 h 97532"/>
                        <a:gd name="connsiteX12" fmla="*/ 17282 w 62071"/>
                        <a:gd name="connsiteY12" fmla="*/ 39 h 97532"/>
                        <a:gd name="connsiteX13" fmla="*/ 6924 w 62071"/>
                        <a:gd name="connsiteY13" fmla="*/ 2798 h 97532"/>
                        <a:gd name="connsiteX14" fmla="*/ 6924 w 62071"/>
                        <a:gd name="connsiteY14" fmla="*/ 13890 h 97532"/>
                        <a:gd name="connsiteX15" fmla="*/ 16846 w 62071"/>
                        <a:gd name="connsiteY15" fmla="*/ 9882 h 97532"/>
                        <a:gd name="connsiteX16" fmla="*/ 26827 w 62071"/>
                        <a:gd name="connsiteY16" fmla="*/ 8572 h 97532"/>
                        <a:gd name="connsiteX17" fmla="*/ 43635 w 62071"/>
                        <a:gd name="connsiteY17" fmla="*/ 14426 h 97532"/>
                        <a:gd name="connsiteX18" fmla="*/ 49211 w 62071"/>
                        <a:gd name="connsiteY18" fmla="*/ 32127 h 97532"/>
                        <a:gd name="connsiteX19" fmla="*/ 49211 w 62071"/>
                        <a:gd name="connsiteY19" fmla="*/ 37782 h 97532"/>
                        <a:gd name="connsiteX20" fmla="*/ 40162 w 62071"/>
                        <a:gd name="connsiteY20" fmla="*/ 28595 h 97532"/>
                        <a:gd name="connsiteX21" fmla="*/ 26946 w 62071"/>
                        <a:gd name="connsiteY21" fmla="*/ 25558 h 97532"/>
                        <a:gd name="connsiteX22" fmla="*/ 6368 w 62071"/>
                        <a:gd name="connsiteY22" fmla="*/ 35282 h 97532"/>
                        <a:gd name="connsiteX23" fmla="*/ -1450 w 62071"/>
                        <a:gd name="connsiteY23" fmla="*/ 61099 h 97532"/>
                        <a:gd name="connsiteX24" fmla="*/ 6368 w 62071"/>
                        <a:gd name="connsiteY24" fmla="*/ 86935 h 97532"/>
                        <a:gd name="connsiteX25" fmla="*/ 26946 w 62071"/>
                        <a:gd name="connsiteY25" fmla="*/ 96678 h 97532"/>
                        <a:gd name="connsiteX26" fmla="*/ 40162 w 62071"/>
                        <a:gd name="connsiteY26" fmla="*/ 93642 h 97532"/>
                        <a:gd name="connsiteX27" fmla="*/ 49211 w 62071"/>
                        <a:gd name="connsiteY27" fmla="*/ 84475 h 97532"/>
                        <a:gd name="connsiteX28" fmla="*/ 49211 w 62071"/>
                        <a:gd name="connsiteY28" fmla="*/ 95012 h 97532"/>
                        <a:gd name="connsiteX29" fmla="*/ 60621 w 62071"/>
                        <a:gd name="connsiteY29" fmla="*/ 95012 h 97532"/>
                        <a:gd name="connsiteX30" fmla="*/ 60621 w 62071"/>
                        <a:gd name="connsiteY30" fmla="*/ 34171 h 97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2071" h="97532">
                          <a:moveTo>
                            <a:pt x="49211" y="61099"/>
                          </a:moveTo>
                          <a:cubicBezTo>
                            <a:pt x="49211" y="69367"/>
                            <a:pt x="47504" y="75770"/>
                            <a:pt x="44091" y="80307"/>
                          </a:cubicBezTo>
                          <a:cubicBezTo>
                            <a:pt x="40691" y="84858"/>
                            <a:pt x="35909" y="87134"/>
                            <a:pt x="29744" y="87134"/>
                          </a:cubicBezTo>
                          <a:cubicBezTo>
                            <a:pt x="23632" y="87134"/>
                            <a:pt x="18870" y="84858"/>
                            <a:pt x="15457" y="80307"/>
                          </a:cubicBezTo>
                          <a:cubicBezTo>
                            <a:pt x="12044" y="75770"/>
                            <a:pt x="10337" y="69367"/>
                            <a:pt x="10337" y="61099"/>
                          </a:cubicBezTo>
                          <a:cubicBezTo>
                            <a:pt x="10337" y="52870"/>
                            <a:pt x="12044" y="46480"/>
                            <a:pt x="15457" y="41930"/>
                          </a:cubicBezTo>
                          <a:cubicBezTo>
                            <a:pt x="18870" y="37379"/>
                            <a:pt x="23632" y="35103"/>
                            <a:pt x="29744" y="35103"/>
                          </a:cubicBezTo>
                          <a:cubicBezTo>
                            <a:pt x="35909" y="35103"/>
                            <a:pt x="40691" y="37379"/>
                            <a:pt x="44091" y="41930"/>
                          </a:cubicBezTo>
                          <a:cubicBezTo>
                            <a:pt x="47504" y="46480"/>
                            <a:pt x="49211" y="52870"/>
                            <a:pt x="49211" y="61099"/>
                          </a:cubicBezTo>
                          <a:close/>
                          <a:moveTo>
                            <a:pt x="60621" y="34171"/>
                          </a:moveTo>
                          <a:cubicBezTo>
                            <a:pt x="60621" y="22357"/>
                            <a:pt x="57995" y="13566"/>
                            <a:pt x="52743" y="7798"/>
                          </a:cubicBezTo>
                          <a:cubicBezTo>
                            <a:pt x="47504" y="2030"/>
                            <a:pt x="39468" y="-854"/>
                            <a:pt x="28633" y="-854"/>
                          </a:cubicBezTo>
                          <a:cubicBezTo>
                            <a:pt x="24625" y="-854"/>
                            <a:pt x="20841" y="-556"/>
                            <a:pt x="17282" y="39"/>
                          </a:cubicBezTo>
                          <a:cubicBezTo>
                            <a:pt x="13724" y="635"/>
                            <a:pt x="10271" y="1554"/>
                            <a:pt x="6924" y="2798"/>
                          </a:cubicBezTo>
                          <a:lnTo>
                            <a:pt x="6924" y="13890"/>
                          </a:lnTo>
                          <a:cubicBezTo>
                            <a:pt x="10271" y="12078"/>
                            <a:pt x="13578" y="10742"/>
                            <a:pt x="16846" y="9882"/>
                          </a:cubicBezTo>
                          <a:cubicBezTo>
                            <a:pt x="20113" y="9009"/>
                            <a:pt x="23440" y="8572"/>
                            <a:pt x="26827" y="8572"/>
                          </a:cubicBezTo>
                          <a:cubicBezTo>
                            <a:pt x="34315" y="8572"/>
                            <a:pt x="39918" y="10524"/>
                            <a:pt x="43635" y="14426"/>
                          </a:cubicBezTo>
                          <a:cubicBezTo>
                            <a:pt x="47352" y="18329"/>
                            <a:pt x="49211" y="24229"/>
                            <a:pt x="49211" y="32127"/>
                          </a:cubicBezTo>
                          <a:lnTo>
                            <a:pt x="49211" y="37782"/>
                          </a:lnTo>
                          <a:cubicBezTo>
                            <a:pt x="46856" y="33681"/>
                            <a:pt x="43840" y="30619"/>
                            <a:pt x="40162" y="28595"/>
                          </a:cubicBezTo>
                          <a:cubicBezTo>
                            <a:pt x="36485" y="26571"/>
                            <a:pt x="32079" y="25558"/>
                            <a:pt x="26946" y="25558"/>
                          </a:cubicBezTo>
                          <a:cubicBezTo>
                            <a:pt x="18440" y="25558"/>
                            <a:pt x="11581" y="28800"/>
                            <a:pt x="6368" y="35282"/>
                          </a:cubicBezTo>
                          <a:cubicBezTo>
                            <a:pt x="1156" y="41777"/>
                            <a:pt x="-1450" y="50383"/>
                            <a:pt x="-1450" y="61099"/>
                          </a:cubicBezTo>
                          <a:cubicBezTo>
                            <a:pt x="-1450" y="71841"/>
                            <a:pt x="1156" y="80453"/>
                            <a:pt x="6368" y="86935"/>
                          </a:cubicBezTo>
                          <a:cubicBezTo>
                            <a:pt x="11581" y="93431"/>
                            <a:pt x="18440" y="96678"/>
                            <a:pt x="26946" y="96678"/>
                          </a:cubicBezTo>
                          <a:cubicBezTo>
                            <a:pt x="32079" y="96678"/>
                            <a:pt x="36485" y="95666"/>
                            <a:pt x="40162" y="93642"/>
                          </a:cubicBezTo>
                          <a:cubicBezTo>
                            <a:pt x="43840" y="91618"/>
                            <a:pt x="46856" y="88562"/>
                            <a:pt x="49211" y="84475"/>
                          </a:cubicBezTo>
                          <a:lnTo>
                            <a:pt x="49211" y="95012"/>
                          </a:lnTo>
                          <a:lnTo>
                            <a:pt x="60621" y="95012"/>
                          </a:lnTo>
                          <a:lnTo>
                            <a:pt x="60621" y="34171"/>
                          </a:lnTo>
                          <a:close/>
                        </a:path>
                      </a:pathLst>
                    </a:custGeom>
                    <a:solidFill>
                      <a:srgbClr val="000000"/>
                    </a:solidFill>
                    <a:ln w="20" cap="flat">
                      <a:noFill/>
                      <a:prstDash val="solid"/>
                      <a:round/>
                    </a:ln>
                  </p:spPr>
                  <p:txBody>
                    <a:bodyPr rtlCol="0" anchor="ctr"/>
                    <a:lstStyle/>
                    <a:p>
                      <a:endParaRPr lang="en-US"/>
                    </a:p>
                  </p:txBody>
                </p:sp>
              </p:grpSp>
            </p:grpSp>
            <p:grpSp>
              <p:nvGrpSpPr>
                <p:cNvPr id="67" name="グラフィックス 2">
                  <a:extLst>
                    <a:ext uri="{FF2B5EF4-FFF2-40B4-BE49-F238E27FC236}">
                      <a16:creationId xmlns:a16="http://schemas.microsoft.com/office/drawing/2014/main" id="{B2979184-DCD9-A6EB-CCB2-8F95ED123B49}"/>
                    </a:ext>
                  </a:extLst>
                </p:cNvPr>
                <p:cNvGrpSpPr/>
                <p:nvPr/>
              </p:nvGrpSpPr>
              <p:grpSpPr>
                <a:xfrm>
                  <a:off x="-2478235" y="1941578"/>
                  <a:ext cx="224055" cy="3173954"/>
                  <a:chOff x="-2478235" y="1941578"/>
                  <a:chExt cx="224055" cy="3173954"/>
                </a:xfrm>
              </p:grpSpPr>
              <p:sp>
                <p:nvSpPr>
                  <p:cNvPr id="68" name="フリーフォーム: 図形 67">
                    <a:extLst>
                      <a:ext uri="{FF2B5EF4-FFF2-40B4-BE49-F238E27FC236}">
                        <a16:creationId xmlns:a16="http://schemas.microsoft.com/office/drawing/2014/main" id="{80F71188-CDD8-D581-2A93-2C94FAD5267D}"/>
                      </a:ext>
                    </a:extLst>
                  </p:cNvPr>
                  <p:cNvSpPr/>
                  <p:nvPr/>
                </p:nvSpPr>
                <p:spPr>
                  <a:xfrm>
                    <a:off x="-2366911" y="1941578"/>
                    <a:ext cx="12700" cy="2962147"/>
                  </a:xfrm>
                  <a:custGeom>
                    <a:avLst/>
                    <a:gdLst>
                      <a:gd name="connsiteX0" fmla="*/ 0 w 12700"/>
                      <a:gd name="connsiteY0" fmla="*/ 2962148 h 2962147"/>
                      <a:gd name="connsiteX1" fmla="*/ 0 w 12700"/>
                      <a:gd name="connsiteY1" fmla="*/ 0 h 2962147"/>
                    </a:gdLst>
                    <a:ahLst/>
                    <a:cxnLst>
                      <a:cxn ang="0">
                        <a:pos x="connsiteX0" y="connsiteY0"/>
                      </a:cxn>
                      <a:cxn ang="0">
                        <a:pos x="connsiteX1" y="connsiteY1"/>
                      </a:cxn>
                    </a:cxnLst>
                    <a:rect l="l" t="t" r="r" b="b"/>
                    <a:pathLst>
                      <a:path w="12700" h="2962147">
                        <a:moveTo>
                          <a:pt x="0" y="2962148"/>
                        </a:moveTo>
                        <a:lnTo>
                          <a:pt x="0" y="0"/>
                        </a:lnTo>
                      </a:path>
                    </a:pathLst>
                  </a:custGeom>
                  <a:noFill/>
                  <a:ln w="10160" cap="sq">
                    <a:solidFill>
                      <a:srgbClr val="B0B0B0"/>
                    </a:solidFill>
                    <a:prstDash val="solid"/>
                    <a:round/>
                  </a:ln>
                </p:spPr>
                <p:txBody>
                  <a:bodyPr rtlCol="0" anchor="ctr"/>
                  <a:lstStyle/>
                  <a:p>
                    <a:endParaRPr lang="en-US"/>
                  </a:p>
                </p:txBody>
              </p:sp>
              <p:sp>
                <p:nvSpPr>
                  <p:cNvPr id="69" name="フリーフォーム: 図形 68">
                    <a:extLst>
                      <a:ext uri="{FF2B5EF4-FFF2-40B4-BE49-F238E27FC236}">
                        <a16:creationId xmlns:a16="http://schemas.microsoft.com/office/drawing/2014/main" id="{B5FB9B68-35E6-099E-4259-F8409A466A5C}"/>
                      </a:ext>
                    </a:extLst>
                  </p:cNvPr>
                  <p:cNvSpPr/>
                  <p:nvPr/>
                </p:nvSpPr>
                <p:spPr>
                  <a:xfrm>
                    <a:off x="-2366911" y="4903727"/>
                    <a:ext cx="12700" cy="44450"/>
                  </a:xfrm>
                  <a:custGeom>
                    <a:avLst/>
                    <a:gdLst>
                      <a:gd name="connsiteX0" fmla="*/ 515 w 12700"/>
                      <a:gd name="connsiteY0" fmla="*/ 260 h 44450"/>
                      <a:gd name="connsiteX1" fmla="*/ 515 w 12700"/>
                      <a:gd name="connsiteY1" fmla="*/ 44710 h 44450"/>
                    </a:gdLst>
                    <a:ahLst/>
                    <a:cxnLst>
                      <a:cxn ang="0">
                        <a:pos x="connsiteX0" y="connsiteY0"/>
                      </a:cxn>
                      <a:cxn ang="0">
                        <a:pos x="connsiteX1" y="connsiteY1"/>
                      </a:cxn>
                    </a:cxnLst>
                    <a:rect l="l" t="t" r="r" b="b"/>
                    <a:pathLst>
                      <a:path w="12700" h="44450">
                        <a:moveTo>
                          <a:pt x="515" y="260"/>
                        </a:moveTo>
                        <a:lnTo>
                          <a:pt x="515" y="44710"/>
                        </a:lnTo>
                      </a:path>
                    </a:pathLst>
                  </a:custGeom>
                  <a:solidFill>
                    <a:srgbClr val="000000"/>
                  </a:solidFill>
                  <a:ln w="10160" cap="flat">
                    <a:solidFill>
                      <a:srgbClr val="000000"/>
                    </a:solidFill>
                    <a:prstDash val="solid"/>
                    <a:round/>
                  </a:ln>
                </p:spPr>
                <p:txBody>
                  <a:bodyPr rtlCol="0" anchor="ctr"/>
                  <a:lstStyle/>
                  <a:p>
                    <a:endParaRPr lang="en-US"/>
                  </a:p>
                </p:txBody>
              </p:sp>
              <p:grpSp>
                <p:nvGrpSpPr>
                  <p:cNvPr id="70" name="グラフィックス 2">
                    <a:extLst>
                      <a:ext uri="{FF2B5EF4-FFF2-40B4-BE49-F238E27FC236}">
                        <a16:creationId xmlns:a16="http://schemas.microsoft.com/office/drawing/2014/main" id="{5A9F94C5-5B6C-FC52-2E52-9966C6D2E52F}"/>
                      </a:ext>
                    </a:extLst>
                  </p:cNvPr>
                  <p:cNvGrpSpPr/>
                  <p:nvPr/>
                </p:nvGrpSpPr>
                <p:grpSpPr>
                  <a:xfrm>
                    <a:off x="-2478235" y="4994863"/>
                    <a:ext cx="224055" cy="120669"/>
                    <a:chOff x="-2478235" y="4994863"/>
                    <a:chExt cx="224055" cy="120669"/>
                  </a:xfrm>
                  <a:solidFill>
                    <a:srgbClr val="000000"/>
                  </a:solidFill>
                </p:grpSpPr>
                <p:sp>
                  <p:nvSpPr>
                    <p:cNvPr id="71" name="フリーフォーム: 図形 70">
                      <a:extLst>
                        <a:ext uri="{FF2B5EF4-FFF2-40B4-BE49-F238E27FC236}">
                          <a16:creationId xmlns:a16="http://schemas.microsoft.com/office/drawing/2014/main" id="{8E1A9E84-D8DD-912D-D570-4C4C88DF5F37}"/>
                        </a:ext>
                      </a:extLst>
                    </p:cNvPr>
                    <p:cNvSpPr/>
                    <p:nvPr/>
                  </p:nvSpPr>
                  <p:spPr>
                    <a:xfrm flipV="1">
                      <a:off x="-2478235" y="4994863"/>
                      <a:ext cx="65166" cy="96063"/>
                    </a:xfrm>
                    <a:custGeom>
                      <a:avLst/>
                      <a:gdLst>
                        <a:gd name="connsiteX0" fmla="*/ 58036 w 65166"/>
                        <a:gd name="connsiteY0" fmla="*/ 89302 h 96063"/>
                        <a:gd name="connsiteX1" fmla="*/ 58036 w 65166"/>
                        <a:gd name="connsiteY1" fmla="*/ 77078 h 96063"/>
                        <a:gd name="connsiteX2" fmla="*/ 44582 w 65166"/>
                        <a:gd name="connsiteY2" fmla="*/ 82158 h 96063"/>
                        <a:gd name="connsiteX3" fmla="*/ 32358 w 65166"/>
                        <a:gd name="connsiteY3" fmla="*/ 83845 h 96063"/>
                        <a:gd name="connsiteX4" fmla="*/ 16582 w 65166"/>
                        <a:gd name="connsiteY4" fmla="*/ 79876 h 96063"/>
                        <a:gd name="connsiteX5" fmla="*/ 11026 w 65166"/>
                        <a:gd name="connsiteY5" fmla="*/ 68585 h 96063"/>
                        <a:gd name="connsiteX6" fmla="*/ 14717 w 65166"/>
                        <a:gd name="connsiteY6" fmla="*/ 59298 h 96063"/>
                        <a:gd name="connsiteX7" fmla="*/ 28707 w 65166"/>
                        <a:gd name="connsiteY7" fmla="*/ 54258 h 96063"/>
                        <a:gd name="connsiteX8" fmla="*/ 36267 w 65166"/>
                        <a:gd name="connsiteY8" fmla="*/ 52710 h 96063"/>
                        <a:gd name="connsiteX9" fmla="*/ 56944 w 65166"/>
                        <a:gd name="connsiteY9" fmla="*/ 43304 h 96063"/>
                        <a:gd name="connsiteX10" fmla="*/ 63612 w 65166"/>
                        <a:gd name="connsiteY10" fmla="*/ 25306 h 96063"/>
                        <a:gd name="connsiteX11" fmla="*/ 54583 w 65166"/>
                        <a:gd name="connsiteY11" fmla="*/ 4887 h 96063"/>
                        <a:gd name="connsiteX12" fmla="*/ 28151 w 65166"/>
                        <a:gd name="connsiteY12" fmla="*/ -2058 h 96063"/>
                        <a:gd name="connsiteX13" fmla="*/ 14161 w 65166"/>
                        <a:gd name="connsiteY13" fmla="*/ -570 h 96063"/>
                        <a:gd name="connsiteX14" fmla="*/ -1178 w 65166"/>
                        <a:gd name="connsiteY14" fmla="*/ 3835 h 96063"/>
                        <a:gd name="connsiteX15" fmla="*/ -1178 w 65166"/>
                        <a:gd name="connsiteY15" fmla="*/ 16734 h 96063"/>
                        <a:gd name="connsiteX16" fmla="*/ 13764 w 65166"/>
                        <a:gd name="connsiteY16" fmla="*/ 10284 h 96063"/>
                        <a:gd name="connsiteX17" fmla="*/ 28151 w 65166"/>
                        <a:gd name="connsiteY17" fmla="*/ 8121 h 96063"/>
                        <a:gd name="connsiteX18" fmla="*/ 44701 w 65166"/>
                        <a:gd name="connsiteY18" fmla="*/ 12328 h 96063"/>
                        <a:gd name="connsiteX19" fmla="*/ 50535 w 65166"/>
                        <a:gd name="connsiteY19" fmla="*/ 24373 h 96063"/>
                        <a:gd name="connsiteX20" fmla="*/ 46348 w 65166"/>
                        <a:gd name="connsiteY20" fmla="*/ 35030 h 96063"/>
                        <a:gd name="connsiteX21" fmla="*/ 32616 w 65166"/>
                        <a:gd name="connsiteY21" fmla="*/ 40804 h 96063"/>
                        <a:gd name="connsiteX22" fmla="*/ 24976 w 65166"/>
                        <a:gd name="connsiteY22" fmla="*/ 42292 h 96063"/>
                        <a:gd name="connsiteX23" fmla="*/ 4696 w 65166"/>
                        <a:gd name="connsiteY23" fmla="*/ 51024 h 96063"/>
                        <a:gd name="connsiteX24" fmla="*/ -1555 w 65166"/>
                        <a:gd name="connsiteY24" fmla="*/ 67593 h 96063"/>
                        <a:gd name="connsiteX25" fmla="*/ 7097 w 65166"/>
                        <a:gd name="connsiteY25" fmla="*/ 86941 h 96063"/>
                        <a:gd name="connsiteX26" fmla="*/ 30929 w 65166"/>
                        <a:gd name="connsiteY26" fmla="*/ 94005 h 96063"/>
                        <a:gd name="connsiteX27" fmla="*/ 44205 w 65166"/>
                        <a:gd name="connsiteY27" fmla="*/ 92815 h 96063"/>
                        <a:gd name="connsiteX28" fmla="*/ 58036 w 65166"/>
                        <a:gd name="connsiteY28" fmla="*/ 89302 h 960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65166" h="96063">
                          <a:moveTo>
                            <a:pt x="58036" y="89302"/>
                          </a:moveTo>
                          <a:lnTo>
                            <a:pt x="58036" y="77078"/>
                          </a:lnTo>
                          <a:cubicBezTo>
                            <a:pt x="53287" y="79354"/>
                            <a:pt x="48802" y="81047"/>
                            <a:pt x="44582" y="82158"/>
                          </a:cubicBezTo>
                          <a:cubicBezTo>
                            <a:pt x="40361" y="83283"/>
                            <a:pt x="36287" y="83845"/>
                            <a:pt x="32358" y="83845"/>
                          </a:cubicBezTo>
                          <a:cubicBezTo>
                            <a:pt x="25545" y="83845"/>
                            <a:pt x="20286" y="82522"/>
                            <a:pt x="16582" y="79876"/>
                          </a:cubicBezTo>
                          <a:cubicBezTo>
                            <a:pt x="12878" y="77231"/>
                            <a:pt x="11026" y="73467"/>
                            <a:pt x="11026" y="68585"/>
                          </a:cubicBezTo>
                          <a:cubicBezTo>
                            <a:pt x="11026" y="64484"/>
                            <a:pt x="12256" y="61389"/>
                            <a:pt x="14717" y="59298"/>
                          </a:cubicBezTo>
                          <a:cubicBezTo>
                            <a:pt x="17177" y="57221"/>
                            <a:pt x="21841" y="55541"/>
                            <a:pt x="28707" y="54258"/>
                          </a:cubicBezTo>
                          <a:lnTo>
                            <a:pt x="36267" y="52710"/>
                          </a:lnTo>
                          <a:cubicBezTo>
                            <a:pt x="45607" y="50924"/>
                            <a:pt x="52499" y="47789"/>
                            <a:pt x="56944" y="43304"/>
                          </a:cubicBezTo>
                          <a:cubicBezTo>
                            <a:pt x="61389" y="38820"/>
                            <a:pt x="63612" y="32820"/>
                            <a:pt x="63612" y="25306"/>
                          </a:cubicBezTo>
                          <a:cubicBezTo>
                            <a:pt x="63612" y="16323"/>
                            <a:pt x="60602" y="9517"/>
                            <a:pt x="54583" y="4887"/>
                          </a:cubicBezTo>
                          <a:cubicBezTo>
                            <a:pt x="48577" y="257"/>
                            <a:pt x="39766" y="-2058"/>
                            <a:pt x="28151" y="-2058"/>
                          </a:cubicBezTo>
                          <a:cubicBezTo>
                            <a:pt x="23772" y="-2058"/>
                            <a:pt x="19109" y="-1562"/>
                            <a:pt x="14161" y="-570"/>
                          </a:cubicBezTo>
                          <a:cubicBezTo>
                            <a:pt x="9227" y="422"/>
                            <a:pt x="4114" y="1890"/>
                            <a:pt x="-1178" y="3835"/>
                          </a:cubicBezTo>
                          <a:lnTo>
                            <a:pt x="-1178" y="16734"/>
                          </a:lnTo>
                          <a:cubicBezTo>
                            <a:pt x="3902" y="13889"/>
                            <a:pt x="8883" y="11740"/>
                            <a:pt x="13764" y="10284"/>
                          </a:cubicBezTo>
                          <a:cubicBezTo>
                            <a:pt x="18646" y="8842"/>
                            <a:pt x="23442" y="8121"/>
                            <a:pt x="28151" y="8121"/>
                          </a:cubicBezTo>
                          <a:cubicBezTo>
                            <a:pt x="35295" y="8121"/>
                            <a:pt x="40811" y="9524"/>
                            <a:pt x="44701" y="12328"/>
                          </a:cubicBezTo>
                          <a:cubicBezTo>
                            <a:pt x="48590" y="15146"/>
                            <a:pt x="50535" y="19161"/>
                            <a:pt x="50535" y="24373"/>
                          </a:cubicBezTo>
                          <a:cubicBezTo>
                            <a:pt x="50535" y="28911"/>
                            <a:pt x="49139" y="32463"/>
                            <a:pt x="46348" y="35030"/>
                          </a:cubicBezTo>
                          <a:cubicBezTo>
                            <a:pt x="43556" y="37596"/>
                            <a:pt x="38979" y="39521"/>
                            <a:pt x="32616" y="40804"/>
                          </a:cubicBezTo>
                          <a:lnTo>
                            <a:pt x="24976" y="42292"/>
                          </a:lnTo>
                          <a:cubicBezTo>
                            <a:pt x="15636" y="44144"/>
                            <a:pt x="8876" y="47055"/>
                            <a:pt x="4696" y="51024"/>
                          </a:cubicBezTo>
                          <a:cubicBezTo>
                            <a:pt x="529" y="54992"/>
                            <a:pt x="-1555" y="60515"/>
                            <a:pt x="-1555" y="67593"/>
                          </a:cubicBezTo>
                          <a:cubicBezTo>
                            <a:pt x="-1555" y="75782"/>
                            <a:pt x="1329" y="82231"/>
                            <a:pt x="7097" y="86941"/>
                          </a:cubicBezTo>
                          <a:cubicBezTo>
                            <a:pt x="12865" y="91650"/>
                            <a:pt x="20809" y="94005"/>
                            <a:pt x="30929" y="94005"/>
                          </a:cubicBezTo>
                          <a:cubicBezTo>
                            <a:pt x="35281" y="94005"/>
                            <a:pt x="39707" y="93608"/>
                            <a:pt x="44205" y="92815"/>
                          </a:cubicBezTo>
                          <a:cubicBezTo>
                            <a:pt x="48716" y="92034"/>
                            <a:pt x="53326" y="90863"/>
                            <a:pt x="58036" y="89302"/>
                          </a:cubicBezTo>
                          <a:close/>
                        </a:path>
                      </a:pathLst>
                    </a:custGeom>
                    <a:solidFill>
                      <a:srgbClr val="000000"/>
                    </a:solidFill>
                    <a:ln w="20" cap="flat">
                      <a:noFill/>
                      <a:prstDash val="solid"/>
                      <a:round/>
                    </a:ln>
                  </p:spPr>
                  <p:txBody>
                    <a:bodyPr rtlCol="0" anchor="ctr"/>
                    <a:lstStyle/>
                    <a:p>
                      <a:endParaRPr lang="en-US"/>
                    </a:p>
                  </p:txBody>
                </p:sp>
                <p:sp>
                  <p:nvSpPr>
                    <p:cNvPr id="72" name="フリーフォーム: 図形 71">
                      <a:extLst>
                        <a:ext uri="{FF2B5EF4-FFF2-40B4-BE49-F238E27FC236}">
                          <a16:creationId xmlns:a16="http://schemas.microsoft.com/office/drawing/2014/main" id="{62C74E66-002B-BBF2-A06F-85A74F6E2EF9}"/>
                        </a:ext>
                      </a:extLst>
                    </p:cNvPr>
                    <p:cNvSpPr/>
                    <p:nvPr/>
                  </p:nvSpPr>
                  <p:spPr>
                    <a:xfrm flipV="1">
                      <a:off x="-2398989" y="5018001"/>
                      <a:ext cx="64373" cy="72925"/>
                    </a:xfrm>
                    <a:custGeom>
                      <a:avLst/>
                      <a:gdLst>
                        <a:gd name="connsiteX0" fmla="*/ 62913 w 64373"/>
                        <a:gd name="connsiteY0" fmla="*/ 37915 h 72925"/>
                        <a:gd name="connsiteX1" fmla="*/ 62913 w 64373"/>
                        <a:gd name="connsiteY1" fmla="*/ 32339 h 72925"/>
                        <a:gd name="connsiteX2" fmla="*/ 10446 w 64373"/>
                        <a:gd name="connsiteY2" fmla="*/ 32339 h 72925"/>
                        <a:gd name="connsiteX3" fmla="*/ 17550 w 64373"/>
                        <a:gd name="connsiteY3" fmla="*/ 14381 h 72925"/>
                        <a:gd name="connsiteX4" fmla="*/ 35251 w 64373"/>
                        <a:gd name="connsiteY4" fmla="*/ 8209 h 72925"/>
                        <a:gd name="connsiteX5" fmla="*/ 47991 w 64373"/>
                        <a:gd name="connsiteY5" fmla="*/ 9817 h 72925"/>
                        <a:gd name="connsiteX6" fmla="*/ 60254 w 64373"/>
                        <a:gd name="connsiteY6" fmla="*/ 14658 h 72925"/>
                        <a:gd name="connsiteX7" fmla="*/ 60254 w 64373"/>
                        <a:gd name="connsiteY7" fmla="*/ 3863 h 72925"/>
                        <a:gd name="connsiteX8" fmla="*/ 47653 w 64373"/>
                        <a:gd name="connsiteY8" fmla="*/ -105 h 72925"/>
                        <a:gd name="connsiteX9" fmla="*/ 34576 w 64373"/>
                        <a:gd name="connsiteY9" fmla="*/ -1475 h 72925"/>
                        <a:gd name="connsiteX10" fmla="*/ 8244 w 64373"/>
                        <a:gd name="connsiteY10" fmla="*/ 8189 h 72925"/>
                        <a:gd name="connsiteX11" fmla="*/ -1460 w 64373"/>
                        <a:gd name="connsiteY11" fmla="*/ 34383 h 72925"/>
                        <a:gd name="connsiteX12" fmla="*/ 7748 w 64373"/>
                        <a:gd name="connsiteY12" fmla="*/ 61430 h 72925"/>
                        <a:gd name="connsiteX13" fmla="*/ 32592 w 64373"/>
                        <a:gd name="connsiteY13" fmla="*/ 71451 h 72925"/>
                        <a:gd name="connsiteX14" fmla="*/ 54757 w 64373"/>
                        <a:gd name="connsiteY14" fmla="*/ 62422 h 72925"/>
                        <a:gd name="connsiteX15" fmla="*/ 62913 w 64373"/>
                        <a:gd name="connsiteY15" fmla="*/ 37915 h 72925"/>
                        <a:gd name="connsiteX16" fmla="*/ 51503 w 64373"/>
                        <a:gd name="connsiteY16" fmla="*/ 41269 h 72925"/>
                        <a:gd name="connsiteX17" fmla="*/ 46264 w 64373"/>
                        <a:gd name="connsiteY17" fmla="*/ 56191 h 72925"/>
                        <a:gd name="connsiteX18" fmla="*/ 32711 w 64373"/>
                        <a:gd name="connsiteY18" fmla="*/ 61787 h 72925"/>
                        <a:gd name="connsiteX19" fmla="*/ 17431 w 64373"/>
                        <a:gd name="connsiteY19" fmla="*/ 56390 h 72925"/>
                        <a:gd name="connsiteX20" fmla="*/ 10823 w 64373"/>
                        <a:gd name="connsiteY20" fmla="*/ 41190 h 72925"/>
                        <a:gd name="connsiteX21" fmla="*/ 51503 w 64373"/>
                        <a:gd name="connsiteY21" fmla="*/ 41269 h 7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64373" h="72925">
                          <a:moveTo>
                            <a:pt x="62913" y="37915"/>
                          </a:moveTo>
                          <a:lnTo>
                            <a:pt x="62913" y="32339"/>
                          </a:lnTo>
                          <a:lnTo>
                            <a:pt x="10446" y="32339"/>
                          </a:lnTo>
                          <a:cubicBezTo>
                            <a:pt x="10949" y="24481"/>
                            <a:pt x="13317" y="18495"/>
                            <a:pt x="17550" y="14381"/>
                          </a:cubicBezTo>
                          <a:cubicBezTo>
                            <a:pt x="21784" y="10266"/>
                            <a:pt x="27684" y="8209"/>
                            <a:pt x="35251" y="8209"/>
                          </a:cubicBezTo>
                          <a:cubicBezTo>
                            <a:pt x="39630" y="8209"/>
                            <a:pt x="43877" y="8745"/>
                            <a:pt x="47991" y="9817"/>
                          </a:cubicBezTo>
                          <a:cubicBezTo>
                            <a:pt x="52105" y="10888"/>
                            <a:pt x="56193" y="12502"/>
                            <a:pt x="60254" y="14658"/>
                          </a:cubicBezTo>
                          <a:lnTo>
                            <a:pt x="60254" y="3863"/>
                          </a:lnTo>
                          <a:cubicBezTo>
                            <a:pt x="56153" y="2130"/>
                            <a:pt x="51953" y="808"/>
                            <a:pt x="47653" y="-105"/>
                          </a:cubicBezTo>
                          <a:cubicBezTo>
                            <a:pt x="43354" y="-1018"/>
                            <a:pt x="38995" y="-1475"/>
                            <a:pt x="34576" y="-1475"/>
                          </a:cubicBezTo>
                          <a:cubicBezTo>
                            <a:pt x="23490" y="-1475"/>
                            <a:pt x="14713" y="1747"/>
                            <a:pt x="8244" y="8189"/>
                          </a:cubicBezTo>
                          <a:cubicBezTo>
                            <a:pt x="1775" y="14645"/>
                            <a:pt x="-1460" y="23376"/>
                            <a:pt x="-1460" y="34383"/>
                          </a:cubicBezTo>
                          <a:cubicBezTo>
                            <a:pt x="-1460" y="45747"/>
                            <a:pt x="1609" y="54763"/>
                            <a:pt x="7748" y="61430"/>
                          </a:cubicBezTo>
                          <a:cubicBezTo>
                            <a:pt x="13886" y="68111"/>
                            <a:pt x="22167" y="71451"/>
                            <a:pt x="32592" y="71451"/>
                          </a:cubicBezTo>
                          <a:cubicBezTo>
                            <a:pt x="41932" y="71451"/>
                            <a:pt x="49320" y="68442"/>
                            <a:pt x="54757" y="62422"/>
                          </a:cubicBezTo>
                          <a:cubicBezTo>
                            <a:pt x="60195" y="56416"/>
                            <a:pt x="62913" y="48247"/>
                            <a:pt x="62913" y="37915"/>
                          </a:cubicBezTo>
                          <a:close/>
                          <a:moveTo>
                            <a:pt x="51503" y="41269"/>
                          </a:moveTo>
                          <a:cubicBezTo>
                            <a:pt x="51424" y="47500"/>
                            <a:pt x="49677" y="52474"/>
                            <a:pt x="46264" y="56191"/>
                          </a:cubicBezTo>
                          <a:cubicBezTo>
                            <a:pt x="42851" y="59922"/>
                            <a:pt x="38333" y="61787"/>
                            <a:pt x="32711" y="61787"/>
                          </a:cubicBezTo>
                          <a:cubicBezTo>
                            <a:pt x="26348" y="61787"/>
                            <a:pt x="21255" y="59988"/>
                            <a:pt x="17431" y="56390"/>
                          </a:cubicBezTo>
                          <a:cubicBezTo>
                            <a:pt x="13608" y="52792"/>
                            <a:pt x="11405" y="47725"/>
                            <a:pt x="10823" y="41190"/>
                          </a:cubicBezTo>
                          <a:lnTo>
                            <a:pt x="51503" y="41269"/>
                          </a:lnTo>
                          <a:close/>
                        </a:path>
                      </a:pathLst>
                    </a:custGeom>
                    <a:solidFill>
                      <a:srgbClr val="000000"/>
                    </a:solidFill>
                    <a:ln w="20" cap="flat">
                      <a:noFill/>
                      <a:prstDash val="solid"/>
                      <a:round/>
                    </a:ln>
                  </p:spPr>
                  <p:txBody>
                    <a:bodyPr rtlCol="0" anchor="ctr"/>
                    <a:lstStyle/>
                    <a:p>
                      <a:endParaRPr lang="en-US"/>
                    </a:p>
                  </p:txBody>
                </p:sp>
                <p:sp>
                  <p:nvSpPr>
                    <p:cNvPr id="73" name="フリーフォーム: 図形 72">
                      <a:extLst>
                        <a:ext uri="{FF2B5EF4-FFF2-40B4-BE49-F238E27FC236}">
                          <a16:creationId xmlns:a16="http://schemas.microsoft.com/office/drawing/2014/main" id="{E873EE14-E11F-66DC-DB57-E1A704C3220B}"/>
                        </a:ext>
                      </a:extLst>
                    </p:cNvPr>
                    <p:cNvSpPr/>
                    <p:nvPr/>
                  </p:nvSpPr>
                  <p:spPr>
                    <a:xfrm flipV="1">
                      <a:off x="-2316329" y="5018001"/>
                      <a:ext cx="62150" cy="97532"/>
                    </a:xfrm>
                    <a:custGeom>
                      <a:avLst/>
                      <a:gdLst>
                        <a:gd name="connsiteX0" fmla="*/ 9844 w 62150"/>
                        <a:gd name="connsiteY0" fmla="*/ 35976 h 97532"/>
                        <a:gd name="connsiteX1" fmla="*/ 9844 w 62150"/>
                        <a:gd name="connsiteY1" fmla="*/ -854 h 97532"/>
                        <a:gd name="connsiteX2" fmla="*/ -1625 w 62150"/>
                        <a:gd name="connsiteY2" fmla="*/ -854 h 97532"/>
                        <a:gd name="connsiteX3" fmla="*/ -1625 w 62150"/>
                        <a:gd name="connsiteY3" fmla="*/ 95012 h 97532"/>
                        <a:gd name="connsiteX4" fmla="*/ 9844 w 62150"/>
                        <a:gd name="connsiteY4" fmla="*/ 95012 h 97532"/>
                        <a:gd name="connsiteX5" fmla="*/ 9844 w 62150"/>
                        <a:gd name="connsiteY5" fmla="*/ 84475 h 97532"/>
                        <a:gd name="connsiteX6" fmla="*/ 18933 w 62150"/>
                        <a:gd name="connsiteY6" fmla="*/ 93662 h 97532"/>
                        <a:gd name="connsiteX7" fmla="*/ 32049 w 62150"/>
                        <a:gd name="connsiteY7" fmla="*/ 96678 h 97532"/>
                        <a:gd name="connsiteX8" fmla="*/ 52608 w 62150"/>
                        <a:gd name="connsiteY8" fmla="*/ 86638 h 97532"/>
                        <a:gd name="connsiteX9" fmla="*/ 60525 w 62150"/>
                        <a:gd name="connsiteY9" fmla="*/ 60226 h 97532"/>
                        <a:gd name="connsiteX10" fmla="*/ 52608 w 62150"/>
                        <a:gd name="connsiteY10" fmla="*/ 33794 h 97532"/>
                        <a:gd name="connsiteX11" fmla="*/ 32049 w 62150"/>
                        <a:gd name="connsiteY11" fmla="*/ 23753 h 97532"/>
                        <a:gd name="connsiteX12" fmla="*/ 18933 w 62150"/>
                        <a:gd name="connsiteY12" fmla="*/ 26769 h 97532"/>
                        <a:gd name="connsiteX13" fmla="*/ 9844 w 62150"/>
                        <a:gd name="connsiteY13" fmla="*/ 35976 h 97532"/>
                        <a:gd name="connsiteX14" fmla="*/ 48678 w 62150"/>
                        <a:gd name="connsiteY14" fmla="*/ 60226 h 97532"/>
                        <a:gd name="connsiteX15" fmla="*/ 43499 w 62150"/>
                        <a:gd name="connsiteY15" fmla="*/ 79970 h 97532"/>
                        <a:gd name="connsiteX16" fmla="*/ 29271 w 62150"/>
                        <a:gd name="connsiteY16" fmla="*/ 87134 h 97532"/>
                        <a:gd name="connsiteX17" fmla="*/ 15023 w 62150"/>
                        <a:gd name="connsiteY17" fmla="*/ 79970 h 97532"/>
                        <a:gd name="connsiteX18" fmla="*/ 9844 w 62150"/>
                        <a:gd name="connsiteY18" fmla="*/ 60226 h 97532"/>
                        <a:gd name="connsiteX19" fmla="*/ 15023 w 62150"/>
                        <a:gd name="connsiteY19" fmla="*/ 40481 h 97532"/>
                        <a:gd name="connsiteX20" fmla="*/ 29271 w 62150"/>
                        <a:gd name="connsiteY20" fmla="*/ 33317 h 97532"/>
                        <a:gd name="connsiteX21" fmla="*/ 43499 w 62150"/>
                        <a:gd name="connsiteY21" fmla="*/ 40481 h 97532"/>
                        <a:gd name="connsiteX22" fmla="*/ 48678 w 62150"/>
                        <a:gd name="connsiteY22" fmla="*/ 60226 h 97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62150" h="97532">
                          <a:moveTo>
                            <a:pt x="9844" y="35976"/>
                          </a:moveTo>
                          <a:lnTo>
                            <a:pt x="9844" y="-854"/>
                          </a:lnTo>
                          <a:lnTo>
                            <a:pt x="-1625" y="-854"/>
                          </a:lnTo>
                          <a:lnTo>
                            <a:pt x="-1625" y="95012"/>
                          </a:lnTo>
                          <a:lnTo>
                            <a:pt x="9844" y="95012"/>
                          </a:lnTo>
                          <a:lnTo>
                            <a:pt x="9844" y="84475"/>
                          </a:lnTo>
                          <a:cubicBezTo>
                            <a:pt x="12252" y="88602"/>
                            <a:pt x="15281" y="91665"/>
                            <a:pt x="18933" y="93662"/>
                          </a:cubicBezTo>
                          <a:cubicBezTo>
                            <a:pt x="22597" y="95673"/>
                            <a:pt x="26969" y="96678"/>
                            <a:pt x="32049" y="96678"/>
                          </a:cubicBezTo>
                          <a:cubicBezTo>
                            <a:pt x="40490" y="96678"/>
                            <a:pt x="47342" y="93331"/>
                            <a:pt x="52608" y="86638"/>
                          </a:cubicBezTo>
                          <a:cubicBezTo>
                            <a:pt x="57886" y="79944"/>
                            <a:pt x="60525" y="71140"/>
                            <a:pt x="60525" y="60226"/>
                          </a:cubicBezTo>
                          <a:cubicBezTo>
                            <a:pt x="60525" y="49311"/>
                            <a:pt x="57886" y="40501"/>
                            <a:pt x="52608" y="33794"/>
                          </a:cubicBezTo>
                          <a:cubicBezTo>
                            <a:pt x="47342" y="27100"/>
                            <a:pt x="40490" y="23753"/>
                            <a:pt x="32049" y="23753"/>
                          </a:cubicBezTo>
                          <a:cubicBezTo>
                            <a:pt x="26969" y="23753"/>
                            <a:pt x="22597" y="24758"/>
                            <a:pt x="18933" y="26769"/>
                          </a:cubicBezTo>
                          <a:cubicBezTo>
                            <a:pt x="15281" y="28780"/>
                            <a:pt x="12252" y="31849"/>
                            <a:pt x="9844" y="35976"/>
                          </a:cubicBezTo>
                          <a:close/>
                          <a:moveTo>
                            <a:pt x="48678" y="60226"/>
                          </a:moveTo>
                          <a:cubicBezTo>
                            <a:pt x="48678" y="68613"/>
                            <a:pt x="46952" y="75194"/>
                            <a:pt x="43499" y="79970"/>
                          </a:cubicBezTo>
                          <a:cubicBezTo>
                            <a:pt x="40046" y="84746"/>
                            <a:pt x="35304" y="87134"/>
                            <a:pt x="29271" y="87134"/>
                          </a:cubicBezTo>
                          <a:cubicBezTo>
                            <a:pt x="23225" y="87134"/>
                            <a:pt x="18476" y="84746"/>
                            <a:pt x="15023" y="79970"/>
                          </a:cubicBezTo>
                          <a:cubicBezTo>
                            <a:pt x="11571" y="75194"/>
                            <a:pt x="9844" y="68613"/>
                            <a:pt x="9844" y="60226"/>
                          </a:cubicBezTo>
                          <a:cubicBezTo>
                            <a:pt x="9844" y="51838"/>
                            <a:pt x="11571" y="45257"/>
                            <a:pt x="15023" y="40481"/>
                          </a:cubicBezTo>
                          <a:cubicBezTo>
                            <a:pt x="18476" y="35705"/>
                            <a:pt x="23225" y="33317"/>
                            <a:pt x="29271" y="33317"/>
                          </a:cubicBezTo>
                          <a:cubicBezTo>
                            <a:pt x="35304" y="33317"/>
                            <a:pt x="40046" y="35705"/>
                            <a:pt x="43499" y="40481"/>
                          </a:cubicBezTo>
                          <a:cubicBezTo>
                            <a:pt x="46952" y="45257"/>
                            <a:pt x="48678" y="51838"/>
                            <a:pt x="48678" y="60226"/>
                          </a:cubicBezTo>
                          <a:close/>
                        </a:path>
                      </a:pathLst>
                    </a:custGeom>
                    <a:solidFill>
                      <a:srgbClr val="000000"/>
                    </a:solidFill>
                    <a:ln w="20" cap="flat">
                      <a:noFill/>
                      <a:prstDash val="solid"/>
                      <a:round/>
                    </a:ln>
                  </p:spPr>
                  <p:txBody>
                    <a:bodyPr rtlCol="0" anchor="ctr"/>
                    <a:lstStyle/>
                    <a:p>
                      <a:endParaRPr lang="en-US"/>
                    </a:p>
                  </p:txBody>
                </p:sp>
              </p:grpSp>
            </p:grpSp>
            <p:grpSp>
              <p:nvGrpSpPr>
                <p:cNvPr id="74" name="グラフィックス 2">
                  <a:extLst>
                    <a:ext uri="{FF2B5EF4-FFF2-40B4-BE49-F238E27FC236}">
                      <a16:creationId xmlns:a16="http://schemas.microsoft.com/office/drawing/2014/main" id="{7AF84919-1B88-013A-F00B-6A98D4101C50}"/>
                    </a:ext>
                  </a:extLst>
                </p:cNvPr>
                <p:cNvGrpSpPr/>
                <p:nvPr/>
              </p:nvGrpSpPr>
              <p:grpSpPr>
                <a:xfrm>
                  <a:off x="-1775295" y="1941578"/>
                  <a:ext cx="209415" cy="3149348"/>
                  <a:chOff x="-1775295" y="1941578"/>
                  <a:chExt cx="209415" cy="3149348"/>
                </a:xfrm>
              </p:grpSpPr>
              <p:sp>
                <p:nvSpPr>
                  <p:cNvPr id="75" name="フリーフォーム: 図形 74">
                    <a:extLst>
                      <a:ext uri="{FF2B5EF4-FFF2-40B4-BE49-F238E27FC236}">
                        <a16:creationId xmlns:a16="http://schemas.microsoft.com/office/drawing/2014/main" id="{9312D547-7AEB-165A-D145-FFA194109AE2}"/>
                      </a:ext>
                    </a:extLst>
                  </p:cNvPr>
                  <p:cNvSpPr/>
                  <p:nvPr/>
                </p:nvSpPr>
                <p:spPr>
                  <a:xfrm>
                    <a:off x="-1672628" y="1941578"/>
                    <a:ext cx="12700" cy="2962147"/>
                  </a:xfrm>
                  <a:custGeom>
                    <a:avLst/>
                    <a:gdLst>
                      <a:gd name="connsiteX0" fmla="*/ 0 w 12700"/>
                      <a:gd name="connsiteY0" fmla="*/ 2962148 h 2962147"/>
                      <a:gd name="connsiteX1" fmla="*/ 0 w 12700"/>
                      <a:gd name="connsiteY1" fmla="*/ 0 h 2962147"/>
                    </a:gdLst>
                    <a:ahLst/>
                    <a:cxnLst>
                      <a:cxn ang="0">
                        <a:pos x="connsiteX0" y="connsiteY0"/>
                      </a:cxn>
                      <a:cxn ang="0">
                        <a:pos x="connsiteX1" y="connsiteY1"/>
                      </a:cxn>
                    </a:cxnLst>
                    <a:rect l="l" t="t" r="r" b="b"/>
                    <a:pathLst>
                      <a:path w="12700" h="2962147">
                        <a:moveTo>
                          <a:pt x="0" y="2962148"/>
                        </a:moveTo>
                        <a:lnTo>
                          <a:pt x="0" y="0"/>
                        </a:lnTo>
                      </a:path>
                    </a:pathLst>
                  </a:custGeom>
                  <a:noFill/>
                  <a:ln w="10160" cap="sq">
                    <a:solidFill>
                      <a:srgbClr val="B0B0B0"/>
                    </a:solidFill>
                    <a:prstDash val="solid"/>
                    <a:round/>
                  </a:ln>
                </p:spPr>
                <p:txBody>
                  <a:bodyPr rtlCol="0" anchor="ctr"/>
                  <a:lstStyle/>
                  <a:p>
                    <a:endParaRPr lang="en-US"/>
                  </a:p>
                </p:txBody>
              </p:sp>
              <p:sp>
                <p:nvSpPr>
                  <p:cNvPr id="76" name="フリーフォーム: 図形 75">
                    <a:extLst>
                      <a:ext uri="{FF2B5EF4-FFF2-40B4-BE49-F238E27FC236}">
                        <a16:creationId xmlns:a16="http://schemas.microsoft.com/office/drawing/2014/main" id="{C3BD8579-851A-1E57-9879-02FC47792843}"/>
                      </a:ext>
                    </a:extLst>
                  </p:cNvPr>
                  <p:cNvSpPr/>
                  <p:nvPr/>
                </p:nvSpPr>
                <p:spPr>
                  <a:xfrm>
                    <a:off x="-1672628" y="4903727"/>
                    <a:ext cx="12700" cy="44450"/>
                  </a:xfrm>
                  <a:custGeom>
                    <a:avLst/>
                    <a:gdLst>
                      <a:gd name="connsiteX0" fmla="*/ 570 w 12700"/>
                      <a:gd name="connsiteY0" fmla="*/ 260 h 44450"/>
                      <a:gd name="connsiteX1" fmla="*/ 570 w 12700"/>
                      <a:gd name="connsiteY1" fmla="*/ 44710 h 44450"/>
                    </a:gdLst>
                    <a:ahLst/>
                    <a:cxnLst>
                      <a:cxn ang="0">
                        <a:pos x="connsiteX0" y="connsiteY0"/>
                      </a:cxn>
                      <a:cxn ang="0">
                        <a:pos x="connsiteX1" y="connsiteY1"/>
                      </a:cxn>
                    </a:cxnLst>
                    <a:rect l="l" t="t" r="r" b="b"/>
                    <a:pathLst>
                      <a:path w="12700" h="44450">
                        <a:moveTo>
                          <a:pt x="570" y="260"/>
                        </a:moveTo>
                        <a:lnTo>
                          <a:pt x="570" y="44710"/>
                        </a:lnTo>
                      </a:path>
                    </a:pathLst>
                  </a:custGeom>
                  <a:solidFill>
                    <a:srgbClr val="000000"/>
                  </a:solidFill>
                  <a:ln w="10160" cap="flat">
                    <a:solidFill>
                      <a:srgbClr val="000000"/>
                    </a:solidFill>
                    <a:prstDash val="solid"/>
                    <a:round/>
                  </a:ln>
                </p:spPr>
                <p:txBody>
                  <a:bodyPr rtlCol="0" anchor="ctr"/>
                  <a:lstStyle/>
                  <a:p>
                    <a:endParaRPr lang="en-US"/>
                  </a:p>
                </p:txBody>
              </p:sp>
              <p:grpSp>
                <p:nvGrpSpPr>
                  <p:cNvPr id="77" name="グラフィックス 2">
                    <a:extLst>
                      <a:ext uri="{FF2B5EF4-FFF2-40B4-BE49-F238E27FC236}">
                        <a16:creationId xmlns:a16="http://schemas.microsoft.com/office/drawing/2014/main" id="{16B792AE-E1FB-8C76-4429-7BAFDB87AF12}"/>
                      </a:ext>
                    </a:extLst>
                  </p:cNvPr>
                  <p:cNvGrpSpPr/>
                  <p:nvPr/>
                </p:nvGrpSpPr>
                <p:grpSpPr>
                  <a:xfrm>
                    <a:off x="-1775295" y="4994863"/>
                    <a:ext cx="209415" cy="96063"/>
                    <a:chOff x="-1775295" y="4994863"/>
                    <a:chExt cx="209415" cy="96063"/>
                  </a:xfrm>
                  <a:solidFill>
                    <a:srgbClr val="000000"/>
                  </a:solidFill>
                </p:grpSpPr>
                <p:sp>
                  <p:nvSpPr>
                    <p:cNvPr id="78" name="フリーフォーム: 図形 77">
                      <a:extLst>
                        <a:ext uri="{FF2B5EF4-FFF2-40B4-BE49-F238E27FC236}">
                          <a16:creationId xmlns:a16="http://schemas.microsoft.com/office/drawing/2014/main" id="{79468E42-42E2-3CA7-31F0-ABFE64E221F4}"/>
                        </a:ext>
                      </a:extLst>
                    </p:cNvPr>
                    <p:cNvSpPr/>
                    <p:nvPr/>
                  </p:nvSpPr>
                  <p:spPr>
                    <a:xfrm flipV="1">
                      <a:off x="-1775295" y="4994863"/>
                      <a:ext cx="85705" cy="96063"/>
                    </a:xfrm>
                    <a:custGeom>
                      <a:avLst/>
                      <a:gdLst>
                        <a:gd name="connsiteX0" fmla="*/ 40969 w 85705"/>
                        <a:gd name="connsiteY0" fmla="*/ 83845 h 96063"/>
                        <a:gd name="connsiteX1" fmla="*/ 19279 w 85705"/>
                        <a:gd name="connsiteY1" fmla="*/ 73665 h 96063"/>
                        <a:gd name="connsiteX2" fmla="*/ 11263 w 85705"/>
                        <a:gd name="connsiteY2" fmla="*/ 45944 h 96063"/>
                        <a:gd name="connsiteX3" fmla="*/ 19279 w 85705"/>
                        <a:gd name="connsiteY3" fmla="*/ 18281 h 96063"/>
                        <a:gd name="connsiteX4" fmla="*/ 40969 w 85705"/>
                        <a:gd name="connsiteY4" fmla="*/ 8121 h 96063"/>
                        <a:gd name="connsiteX5" fmla="*/ 62578 w 85705"/>
                        <a:gd name="connsiteY5" fmla="*/ 18281 h 96063"/>
                        <a:gd name="connsiteX6" fmla="*/ 70556 w 85705"/>
                        <a:gd name="connsiteY6" fmla="*/ 45944 h 96063"/>
                        <a:gd name="connsiteX7" fmla="*/ 62578 w 85705"/>
                        <a:gd name="connsiteY7" fmla="*/ 73665 h 96063"/>
                        <a:gd name="connsiteX8" fmla="*/ 40969 w 85705"/>
                        <a:gd name="connsiteY8" fmla="*/ 83845 h 96063"/>
                        <a:gd name="connsiteX9" fmla="*/ 40969 w 85705"/>
                        <a:gd name="connsiteY9" fmla="*/ 94005 h 96063"/>
                        <a:gd name="connsiteX10" fmla="*/ 72084 w 85705"/>
                        <a:gd name="connsiteY10" fmla="*/ 80948 h 96063"/>
                        <a:gd name="connsiteX11" fmla="*/ 83752 w 85705"/>
                        <a:gd name="connsiteY11" fmla="*/ 45944 h 96063"/>
                        <a:gd name="connsiteX12" fmla="*/ 72084 w 85705"/>
                        <a:gd name="connsiteY12" fmla="*/ 10999 h 96063"/>
                        <a:gd name="connsiteX13" fmla="*/ 40969 w 85705"/>
                        <a:gd name="connsiteY13" fmla="*/ -2058 h 96063"/>
                        <a:gd name="connsiteX14" fmla="*/ 9735 w 85705"/>
                        <a:gd name="connsiteY14" fmla="*/ 10959 h 96063"/>
                        <a:gd name="connsiteX15" fmla="*/ -1953 w 85705"/>
                        <a:gd name="connsiteY15" fmla="*/ 45944 h 96063"/>
                        <a:gd name="connsiteX16" fmla="*/ 9735 w 85705"/>
                        <a:gd name="connsiteY16" fmla="*/ 80948 h 96063"/>
                        <a:gd name="connsiteX17" fmla="*/ 40969 w 85705"/>
                        <a:gd name="connsiteY17" fmla="*/ 94005 h 960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85705" h="96063">
                          <a:moveTo>
                            <a:pt x="40969" y="83845"/>
                          </a:moveTo>
                          <a:cubicBezTo>
                            <a:pt x="31867" y="83845"/>
                            <a:pt x="24637" y="80452"/>
                            <a:pt x="19279" y="73665"/>
                          </a:cubicBezTo>
                          <a:cubicBezTo>
                            <a:pt x="13935" y="66892"/>
                            <a:pt x="11263" y="57651"/>
                            <a:pt x="11263" y="45944"/>
                          </a:cubicBezTo>
                          <a:cubicBezTo>
                            <a:pt x="11263" y="34289"/>
                            <a:pt x="13935" y="25068"/>
                            <a:pt x="19279" y="18281"/>
                          </a:cubicBezTo>
                          <a:cubicBezTo>
                            <a:pt x="24637" y="11508"/>
                            <a:pt x="31867" y="8121"/>
                            <a:pt x="40969" y="8121"/>
                          </a:cubicBezTo>
                          <a:cubicBezTo>
                            <a:pt x="50057" y="8121"/>
                            <a:pt x="57260" y="11508"/>
                            <a:pt x="62578" y="18281"/>
                          </a:cubicBezTo>
                          <a:cubicBezTo>
                            <a:pt x="67897" y="25068"/>
                            <a:pt x="70556" y="34289"/>
                            <a:pt x="70556" y="45944"/>
                          </a:cubicBezTo>
                          <a:cubicBezTo>
                            <a:pt x="70556" y="57651"/>
                            <a:pt x="67897" y="66892"/>
                            <a:pt x="62578" y="73665"/>
                          </a:cubicBezTo>
                          <a:cubicBezTo>
                            <a:pt x="57260" y="80452"/>
                            <a:pt x="50057" y="83845"/>
                            <a:pt x="40969" y="83845"/>
                          </a:cubicBezTo>
                          <a:close/>
                          <a:moveTo>
                            <a:pt x="40969" y="94005"/>
                          </a:moveTo>
                          <a:cubicBezTo>
                            <a:pt x="53946" y="94005"/>
                            <a:pt x="64318" y="89653"/>
                            <a:pt x="72084" y="80948"/>
                          </a:cubicBezTo>
                          <a:cubicBezTo>
                            <a:pt x="79862" y="72243"/>
                            <a:pt x="83752" y="60575"/>
                            <a:pt x="83752" y="45944"/>
                          </a:cubicBezTo>
                          <a:cubicBezTo>
                            <a:pt x="83752" y="31352"/>
                            <a:pt x="79862" y="19704"/>
                            <a:pt x="72084" y="10999"/>
                          </a:cubicBezTo>
                          <a:cubicBezTo>
                            <a:pt x="64318" y="2294"/>
                            <a:pt x="53946" y="-2058"/>
                            <a:pt x="40969" y="-2058"/>
                          </a:cubicBezTo>
                          <a:cubicBezTo>
                            <a:pt x="27951" y="-2058"/>
                            <a:pt x="17540" y="2281"/>
                            <a:pt x="9735" y="10959"/>
                          </a:cubicBezTo>
                          <a:cubicBezTo>
                            <a:pt x="1943" y="19651"/>
                            <a:pt x="-1953" y="31312"/>
                            <a:pt x="-1953" y="45944"/>
                          </a:cubicBezTo>
                          <a:cubicBezTo>
                            <a:pt x="-1953" y="60575"/>
                            <a:pt x="1943" y="72243"/>
                            <a:pt x="9735" y="80948"/>
                          </a:cubicBezTo>
                          <a:cubicBezTo>
                            <a:pt x="17540" y="89653"/>
                            <a:pt x="27951" y="94005"/>
                            <a:pt x="40969" y="94005"/>
                          </a:cubicBezTo>
                          <a:close/>
                        </a:path>
                      </a:pathLst>
                    </a:custGeom>
                    <a:solidFill>
                      <a:srgbClr val="000000"/>
                    </a:solidFill>
                    <a:ln w="20" cap="flat">
                      <a:noFill/>
                      <a:prstDash val="solid"/>
                      <a:round/>
                    </a:ln>
                  </p:spPr>
                  <p:txBody>
                    <a:bodyPr rtlCol="0" anchor="ctr"/>
                    <a:lstStyle/>
                    <a:p>
                      <a:endParaRPr lang="en-US"/>
                    </a:p>
                  </p:txBody>
                </p:sp>
                <p:sp>
                  <p:nvSpPr>
                    <p:cNvPr id="79" name="フリーフォーム: 図形 78">
                      <a:extLst>
                        <a:ext uri="{FF2B5EF4-FFF2-40B4-BE49-F238E27FC236}">
                          <a16:creationId xmlns:a16="http://schemas.microsoft.com/office/drawing/2014/main" id="{C6D11546-4E06-4D0A-7D3F-F63F2E991C16}"/>
                        </a:ext>
                      </a:extLst>
                    </p:cNvPr>
                    <p:cNvSpPr/>
                    <p:nvPr/>
                  </p:nvSpPr>
                  <p:spPr>
                    <a:xfrm flipV="1">
                      <a:off x="-1675451" y="5018001"/>
                      <a:ext cx="54947" cy="72925"/>
                    </a:xfrm>
                    <a:custGeom>
                      <a:avLst/>
                      <a:gdLst>
                        <a:gd name="connsiteX0" fmla="*/ 53782 w 54947"/>
                        <a:gd name="connsiteY0" fmla="*/ 67125 h 72925"/>
                        <a:gd name="connsiteX1" fmla="*/ 53782 w 54947"/>
                        <a:gd name="connsiteY1" fmla="*/ 56449 h 72925"/>
                        <a:gd name="connsiteX2" fmla="*/ 44078 w 54947"/>
                        <a:gd name="connsiteY2" fmla="*/ 60458 h 72925"/>
                        <a:gd name="connsiteX3" fmla="*/ 34255 w 54947"/>
                        <a:gd name="connsiteY3" fmla="*/ 61787 h 72925"/>
                        <a:gd name="connsiteX4" fmla="*/ 16991 w 54947"/>
                        <a:gd name="connsiteY4" fmla="*/ 54743 h 72925"/>
                        <a:gd name="connsiteX5" fmla="*/ 10860 w 54947"/>
                        <a:gd name="connsiteY5" fmla="*/ 34998 h 72925"/>
                        <a:gd name="connsiteX6" fmla="*/ 16991 w 54947"/>
                        <a:gd name="connsiteY6" fmla="*/ 15234 h 72925"/>
                        <a:gd name="connsiteX7" fmla="*/ 34255 w 54947"/>
                        <a:gd name="connsiteY7" fmla="*/ 8209 h 72925"/>
                        <a:gd name="connsiteX8" fmla="*/ 44078 w 54947"/>
                        <a:gd name="connsiteY8" fmla="*/ 9539 h 72925"/>
                        <a:gd name="connsiteX9" fmla="*/ 53782 w 54947"/>
                        <a:gd name="connsiteY9" fmla="*/ 13547 h 72925"/>
                        <a:gd name="connsiteX10" fmla="*/ 53782 w 54947"/>
                        <a:gd name="connsiteY10" fmla="*/ 2990 h 72925"/>
                        <a:gd name="connsiteX11" fmla="*/ 43880 w 54947"/>
                        <a:gd name="connsiteY11" fmla="*/ -343 h 72925"/>
                        <a:gd name="connsiteX12" fmla="*/ 33005 w 54947"/>
                        <a:gd name="connsiteY12" fmla="*/ -1475 h 72925"/>
                        <a:gd name="connsiteX13" fmla="*/ 8062 w 54947"/>
                        <a:gd name="connsiteY13" fmla="*/ 8388 h 72925"/>
                        <a:gd name="connsiteX14" fmla="*/ -1166 w 54947"/>
                        <a:gd name="connsiteY14" fmla="*/ 34998 h 72925"/>
                        <a:gd name="connsiteX15" fmla="*/ 8161 w 54947"/>
                        <a:gd name="connsiteY15" fmla="*/ 61708 h 72925"/>
                        <a:gd name="connsiteX16" fmla="*/ 33759 w 54947"/>
                        <a:gd name="connsiteY16" fmla="*/ 71451 h 72925"/>
                        <a:gd name="connsiteX17" fmla="*/ 44038 w 54947"/>
                        <a:gd name="connsiteY17" fmla="*/ 70360 h 72925"/>
                        <a:gd name="connsiteX18" fmla="*/ 53782 w 54947"/>
                        <a:gd name="connsiteY18" fmla="*/ 67125 h 7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947" h="72925">
                          <a:moveTo>
                            <a:pt x="53782" y="67125"/>
                          </a:moveTo>
                          <a:lnTo>
                            <a:pt x="53782" y="56449"/>
                          </a:lnTo>
                          <a:cubicBezTo>
                            <a:pt x="50554" y="58235"/>
                            <a:pt x="47319" y="59571"/>
                            <a:pt x="44078" y="60458"/>
                          </a:cubicBezTo>
                          <a:cubicBezTo>
                            <a:pt x="40837" y="61344"/>
                            <a:pt x="37563" y="61787"/>
                            <a:pt x="34255" y="61787"/>
                          </a:cubicBezTo>
                          <a:cubicBezTo>
                            <a:pt x="26847" y="61787"/>
                            <a:pt x="21092" y="59439"/>
                            <a:pt x="16991" y="54743"/>
                          </a:cubicBezTo>
                          <a:cubicBezTo>
                            <a:pt x="12903" y="50060"/>
                            <a:pt x="10860" y="43478"/>
                            <a:pt x="10860" y="34998"/>
                          </a:cubicBezTo>
                          <a:cubicBezTo>
                            <a:pt x="10860" y="26518"/>
                            <a:pt x="12903" y="19930"/>
                            <a:pt x="16991" y="15234"/>
                          </a:cubicBezTo>
                          <a:cubicBezTo>
                            <a:pt x="21092" y="10551"/>
                            <a:pt x="26847" y="8209"/>
                            <a:pt x="34255" y="8209"/>
                          </a:cubicBezTo>
                          <a:cubicBezTo>
                            <a:pt x="37563" y="8209"/>
                            <a:pt x="40837" y="8652"/>
                            <a:pt x="44078" y="9539"/>
                          </a:cubicBezTo>
                          <a:cubicBezTo>
                            <a:pt x="47319" y="10425"/>
                            <a:pt x="50554" y="11761"/>
                            <a:pt x="53782" y="13547"/>
                          </a:cubicBezTo>
                          <a:lnTo>
                            <a:pt x="53782" y="2990"/>
                          </a:lnTo>
                          <a:cubicBezTo>
                            <a:pt x="50593" y="1509"/>
                            <a:pt x="47293" y="397"/>
                            <a:pt x="43880" y="-343"/>
                          </a:cubicBezTo>
                          <a:cubicBezTo>
                            <a:pt x="40480" y="-1097"/>
                            <a:pt x="36855" y="-1475"/>
                            <a:pt x="33005" y="-1475"/>
                          </a:cubicBezTo>
                          <a:cubicBezTo>
                            <a:pt x="22541" y="-1475"/>
                            <a:pt x="14226" y="1813"/>
                            <a:pt x="8062" y="8388"/>
                          </a:cubicBezTo>
                          <a:cubicBezTo>
                            <a:pt x="1910" y="14963"/>
                            <a:pt x="-1166" y="23833"/>
                            <a:pt x="-1166" y="34998"/>
                          </a:cubicBezTo>
                          <a:cubicBezTo>
                            <a:pt x="-1166" y="46323"/>
                            <a:pt x="1943" y="55226"/>
                            <a:pt x="8161" y="61708"/>
                          </a:cubicBezTo>
                          <a:cubicBezTo>
                            <a:pt x="14392" y="68203"/>
                            <a:pt x="22925" y="71451"/>
                            <a:pt x="33759" y="71451"/>
                          </a:cubicBezTo>
                          <a:cubicBezTo>
                            <a:pt x="37265" y="71451"/>
                            <a:pt x="40691" y="71088"/>
                            <a:pt x="44038" y="70360"/>
                          </a:cubicBezTo>
                          <a:cubicBezTo>
                            <a:pt x="47385" y="69645"/>
                            <a:pt x="50633" y="68567"/>
                            <a:pt x="53782" y="67125"/>
                          </a:cubicBezTo>
                          <a:close/>
                        </a:path>
                      </a:pathLst>
                    </a:custGeom>
                    <a:solidFill>
                      <a:srgbClr val="000000"/>
                    </a:solidFill>
                    <a:ln w="20" cap="flat">
                      <a:noFill/>
                      <a:prstDash val="solid"/>
                      <a:round/>
                    </a:ln>
                  </p:spPr>
                  <p:txBody>
                    <a:bodyPr rtlCol="0" anchor="ctr"/>
                    <a:lstStyle/>
                    <a:p>
                      <a:endParaRPr lang="en-US"/>
                    </a:p>
                  </p:txBody>
                </p:sp>
                <p:sp>
                  <p:nvSpPr>
                    <p:cNvPr id="80" name="フリーフォーム: 図形 79">
                      <a:extLst>
                        <a:ext uri="{FF2B5EF4-FFF2-40B4-BE49-F238E27FC236}">
                          <a16:creationId xmlns:a16="http://schemas.microsoft.com/office/drawing/2014/main" id="{DF016BDB-CE6D-1177-E01A-579BBE814F06}"/>
                        </a:ext>
                      </a:extLst>
                    </p:cNvPr>
                    <p:cNvSpPr/>
                    <p:nvPr/>
                  </p:nvSpPr>
                  <p:spPr>
                    <a:xfrm flipV="1">
                      <a:off x="-1609218" y="4999943"/>
                      <a:ext cx="43338" cy="89177"/>
                    </a:xfrm>
                    <a:custGeom>
                      <a:avLst/>
                      <a:gdLst>
                        <a:gd name="connsiteX0" fmla="*/ 19156 w 43338"/>
                        <a:gd name="connsiteY0" fmla="*/ 87202 h 89177"/>
                        <a:gd name="connsiteX1" fmla="*/ 19156 w 43338"/>
                        <a:gd name="connsiteY1" fmla="*/ 67477 h 89177"/>
                        <a:gd name="connsiteX2" fmla="*/ 42651 w 43338"/>
                        <a:gd name="connsiteY2" fmla="*/ 67477 h 89177"/>
                        <a:gd name="connsiteX3" fmla="*/ 42651 w 43338"/>
                        <a:gd name="connsiteY3" fmla="*/ 58607 h 89177"/>
                        <a:gd name="connsiteX4" fmla="*/ 19156 w 43338"/>
                        <a:gd name="connsiteY4" fmla="*/ 58607 h 89177"/>
                        <a:gd name="connsiteX5" fmla="*/ 19156 w 43338"/>
                        <a:gd name="connsiteY5" fmla="*/ 20904 h 89177"/>
                        <a:gd name="connsiteX6" fmla="*/ 21478 w 43338"/>
                        <a:gd name="connsiteY6" fmla="*/ 9990 h 89177"/>
                        <a:gd name="connsiteX7" fmla="*/ 30943 w 43338"/>
                        <a:gd name="connsiteY7" fmla="*/ 7569 h 89177"/>
                        <a:gd name="connsiteX8" fmla="*/ 42651 w 43338"/>
                        <a:gd name="connsiteY8" fmla="*/ 7569 h 89177"/>
                        <a:gd name="connsiteX9" fmla="*/ 42651 w 43338"/>
                        <a:gd name="connsiteY9" fmla="*/ -1976 h 89177"/>
                        <a:gd name="connsiteX10" fmla="*/ 30943 w 43338"/>
                        <a:gd name="connsiteY10" fmla="*/ -1976 h 89177"/>
                        <a:gd name="connsiteX11" fmla="*/ 12707 w 43338"/>
                        <a:gd name="connsiteY11" fmla="*/ 2945 h 89177"/>
                        <a:gd name="connsiteX12" fmla="*/ 7687 w 43338"/>
                        <a:gd name="connsiteY12" fmla="*/ 20904 h 89177"/>
                        <a:gd name="connsiteX13" fmla="*/ 7687 w 43338"/>
                        <a:gd name="connsiteY13" fmla="*/ 58607 h 89177"/>
                        <a:gd name="connsiteX14" fmla="*/ -688 w 43338"/>
                        <a:gd name="connsiteY14" fmla="*/ 58607 h 89177"/>
                        <a:gd name="connsiteX15" fmla="*/ -688 w 43338"/>
                        <a:gd name="connsiteY15" fmla="*/ 67477 h 89177"/>
                        <a:gd name="connsiteX16" fmla="*/ 7687 w 43338"/>
                        <a:gd name="connsiteY16" fmla="*/ 67477 h 89177"/>
                        <a:gd name="connsiteX17" fmla="*/ 7687 w 43338"/>
                        <a:gd name="connsiteY17" fmla="*/ 87202 h 89177"/>
                        <a:gd name="connsiteX18" fmla="*/ 19156 w 43338"/>
                        <a:gd name="connsiteY18" fmla="*/ 87202 h 89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3338" h="89177">
                          <a:moveTo>
                            <a:pt x="19156" y="87202"/>
                          </a:moveTo>
                          <a:lnTo>
                            <a:pt x="19156" y="67477"/>
                          </a:lnTo>
                          <a:lnTo>
                            <a:pt x="42651" y="67477"/>
                          </a:lnTo>
                          <a:lnTo>
                            <a:pt x="42651" y="58607"/>
                          </a:lnTo>
                          <a:lnTo>
                            <a:pt x="19156" y="58607"/>
                          </a:lnTo>
                          <a:lnTo>
                            <a:pt x="19156" y="20904"/>
                          </a:lnTo>
                          <a:cubicBezTo>
                            <a:pt x="19156" y="15242"/>
                            <a:pt x="19930" y="11604"/>
                            <a:pt x="21478" y="9990"/>
                          </a:cubicBezTo>
                          <a:cubicBezTo>
                            <a:pt x="23026" y="8376"/>
                            <a:pt x="26181" y="7569"/>
                            <a:pt x="30943" y="7569"/>
                          </a:cubicBezTo>
                          <a:lnTo>
                            <a:pt x="42651" y="7569"/>
                          </a:lnTo>
                          <a:lnTo>
                            <a:pt x="42651" y="-1976"/>
                          </a:lnTo>
                          <a:lnTo>
                            <a:pt x="30943" y="-1976"/>
                          </a:lnTo>
                          <a:cubicBezTo>
                            <a:pt x="22133" y="-1976"/>
                            <a:pt x="16054" y="-335"/>
                            <a:pt x="12707" y="2945"/>
                          </a:cubicBezTo>
                          <a:cubicBezTo>
                            <a:pt x="9360" y="6240"/>
                            <a:pt x="7687" y="12226"/>
                            <a:pt x="7687" y="20904"/>
                          </a:cubicBezTo>
                          <a:lnTo>
                            <a:pt x="7687" y="58607"/>
                          </a:lnTo>
                          <a:lnTo>
                            <a:pt x="-688" y="58607"/>
                          </a:lnTo>
                          <a:lnTo>
                            <a:pt x="-688" y="67477"/>
                          </a:lnTo>
                          <a:lnTo>
                            <a:pt x="7687" y="67477"/>
                          </a:lnTo>
                          <a:lnTo>
                            <a:pt x="7687" y="87202"/>
                          </a:lnTo>
                          <a:lnTo>
                            <a:pt x="19156" y="87202"/>
                          </a:lnTo>
                          <a:close/>
                        </a:path>
                      </a:pathLst>
                    </a:custGeom>
                    <a:solidFill>
                      <a:srgbClr val="000000"/>
                    </a:solidFill>
                    <a:ln w="20" cap="flat">
                      <a:noFill/>
                      <a:prstDash val="solid"/>
                      <a:round/>
                    </a:ln>
                  </p:spPr>
                  <p:txBody>
                    <a:bodyPr rtlCol="0" anchor="ctr"/>
                    <a:lstStyle/>
                    <a:p>
                      <a:endParaRPr lang="en-US"/>
                    </a:p>
                  </p:txBody>
                </p:sp>
              </p:grpSp>
            </p:grpSp>
            <p:grpSp>
              <p:nvGrpSpPr>
                <p:cNvPr id="81" name="グラフィックス 2">
                  <a:extLst>
                    <a:ext uri="{FF2B5EF4-FFF2-40B4-BE49-F238E27FC236}">
                      <a16:creationId xmlns:a16="http://schemas.microsoft.com/office/drawing/2014/main" id="{BF4A1C69-1FB1-54C9-1009-0693B25BCA84}"/>
                    </a:ext>
                  </a:extLst>
                </p:cNvPr>
                <p:cNvGrpSpPr/>
                <p:nvPr/>
              </p:nvGrpSpPr>
              <p:grpSpPr>
                <a:xfrm>
                  <a:off x="-1089821" y="1941578"/>
                  <a:ext cx="231618" cy="3149348"/>
                  <a:chOff x="-1089821" y="1941578"/>
                  <a:chExt cx="231618" cy="3149348"/>
                </a:xfrm>
              </p:grpSpPr>
              <p:sp>
                <p:nvSpPr>
                  <p:cNvPr id="82" name="フリーフォーム: 図形 81">
                    <a:extLst>
                      <a:ext uri="{FF2B5EF4-FFF2-40B4-BE49-F238E27FC236}">
                        <a16:creationId xmlns:a16="http://schemas.microsoft.com/office/drawing/2014/main" id="{983FA43A-4CCB-BA95-87EC-732EDA9AF169}"/>
                      </a:ext>
                    </a:extLst>
                  </p:cNvPr>
                  <p:cNvSpPr/>
                  <p:nvPr/>
                </p:nvSpPr>
                <p:spPr>
                  <a:xfrm>
                    <a:off x="-978344" y="1941578"/>
                    <a:ext cx="12700" cy="2962147"/>
                  </a:xfrm>
                  <a:custGeom>
                    <a:avLst/>
                    <a:gdLst>
                      <a:gd name="connsiteX0" fmla="*/ 0 w 12700"/>
                      <a:gd name="connsiteY0" fmla="*/ 2962148 h 2962147"/>
                      <a:gd name="connsiteX1" fmla="*/ 0 w 12700"/>
                      <a:gd name="connsiteY1" fmla="*/ 0 h 2962147"/>
                    </a:gdLst>
                    <a:ahLst/>
                    <a:cxnLst>
                      <a:cxn ang="0">
                        <a:pos x="connsiteX0" y="connsiteY0"/>
                      </a:cxn>
                      <a:cxn ang="0">
                        <a:pos x="connsiteX1" y="connsiteY1"/>
                      </a:cxn>
                    </a:cxnLst>
                    <a:rect l="l" t="t" r="r" b="b"/>
                    <a:pathLst>
                      <a:path w="12700" h="2962147">
                        <a:moveTo>
                          <a:pt x="0" y="2962148"/>
                        </a:moveTo>
                        <a:lnTo>
                          <a:pt x="0" y="0"/>
                        </a:lnTo>
                      </a:path>
                    </a:pathLst>
                  </a:custGeom>
                  <a:noFill/>
                  <a:ln w="10160" cap="sq">
                    <a:solidFill>
                      <a:srgbClr val="B0B0B0"/>
                    </a:solidFill>
                    <a:prstDash val="solid"/>
                    <a:round/>
                  </a:ln>
                </p:spPr>
                <p:txBody>
                  <a:bodyPr rtlCol="0" anchor="ctr"/>
                  <a:lstStyle/>
                  <a:p>
                    <a:endParaRPr lang="en-US"/>
                  </a:p>
                </p:txBody>
              </p:sp>
              <p:sp>
                <p:nvSpPr>
                  <p:cNvPr id="83" name="フリーフォーム: 図形 82">
                    <a:extLst>
                      <a:ext uri="{FF2B5EF4-FFF2-40B4-BE49-F238E27FC236}">
                        <a16:creationId xmlns:a16="http://schemas.microsoft.com/office/drawing/2014/main" id="{61F26B46-E02A-3FAD-73CD-B008E4813409}"/>
                      </a:ext>
                    </a:extLst>
                  </p:cNvPr>
                  <p:cNvSpPr/>
                  <p:nvPr/>
                </p:nvSpPr>
                <p:spPr>
                  <a:xfrm>
                    <a:off x="-978344" y="4903727"/>
                    <a:ext cx="12700" cy="44450"/>
                  </a:xfrm>
                  <a:custGeom>
                    <a:avLst/>
                    <a:gdLst>
                      <a:gd name="connsiteX0" fmla="*/ 624 w 12700"/>
                      <a:gd name="connsiteY0" fmla="*/ 260 h 44450"/>
                      <a:gd name="connsiteX1" fmla="*/ 624 w 12700"/>
                      <a:gd name="connsiteY1" fmla="*/ 44710 h 44450"/>
                    </a:gdLst>
                    <a:ahLst/>
                    <a:cxnLst>
                      <a:cxn ang="0">
                        <a:pos x="connsiteX0" y="connsiteY0"/>
                      </a:cxn>
                      <a:cxn ang="0">
                        <a:pos x="connsiteX1" y="connsiteY1"/>
                      </a:cxn>
                    </a:cxnLst>
                    <a:rect l="l" t="t" r="r" b="b"/>
                    <a:pathLst>
                      <a:path w="12700" h="44450">
                        <a:moveTo>
                          <a:pt x="624" y="260"/>
                        </a:moveTo>
                        <a:lnTo>
                          <a:pt x="624" y="44710"/>
                        </a:lnTo>
                      </a:path>
                    </a:pathLst>
                  </a:custGeom>
                  <a:solidFill>
                    <a:srgbClr val="000000"/>
                  </a:solidFill>
                  <a:ln w="10160" cap="flat">
                    <a:solidFill>
                      <a:srgbClr val="000000"/>
                    </a:solidFill>
                    <a:prstDash val="solid"/>
                    <a:round/>
                  </a:ln>
                </p:spPr>
                <p:txBody>
                  <a:bodyPr rtlCol="0" anchor="ctr"/>
                  <a:lstStyle/>
                  <a:p>
                    <a:endParaRPr lang="en-US"/>
                  </a:p>
                </p:txBody>
              </p:sp>
              <p:grpSp>
                <p:nvGrpSpPr>
                  <p:cNvPr id="84" name="グラフィックス 2">
                    <a:extLst>
                      <a:ext uri="{FF2B5EF4-FFF2-40B4-BE49-F238E27FC236}">
                        <a16:creationId xmlns:a16="http://schemas.microsoft.com/office/drawing/2014/main" id="{77F53DE1-2591-AA28-E727-1A1C6CB87132}"/>
                      </a:ext>
                    </a:extLst>
                  </p:cNvPr>
                  <p:cNvGrpSpPr/>
                  <p:nvPr/>
                </p:nvGrpSpPr>
                <p:grpSpPr>
                  <a:xfrm>
                    <a:off x="-1089821" y="4996530"/>
                    <a:ext cx="231618" cy="94396"/>
                    <a:chOff x="-1089821" y="4996530"/>
                    <a:chExt cx="231618" cy="94396"/>
                  </a:xfrm>
                  <a:solidFill>
                    <a:srgbClr val="000000"/>
                  </a:solidFill>
                </p:grpSpPr>
                <p:sp>
                  <p:nvSpPr>
                    <p:cNvPr id="85" name="フリーフォーム: 図形 84">
                      <a:extLst>
                        <a:ext uri="{FF2B5EF4-FFF2-40B4-BE49-F238E27FC236}">
                          <a16:creationId xmlns:a16="http://schemas.microsoft.com/office/drawing/2014/main" id="{F925F36D-9D62-D884-E043-FCE88A007BC6}"/>
                        </a:ext>
                      </a:extLst>
                    </p:cNvPr>
                    <p:cNvSpPr/>
                    <p:nvPr/>
                  </p:nvSpPr>
                  <p:spPr>
                    <a:xfrm flipV="1">
                      <a:off x="-1089821" y="4996530"/>
                      <a:ext cx="70068" cy="92590"/>
                    </a:xfrm>
                    <a:custGeom>
                      <a:avLst/>
                      <a:gdLst>
                        <a:gd name="connsiteX0" fmla="*/ -1775 w 70068"/>
                        <a:gd name="connsiteY0" fmla="*/ 90529 h 92590"/>
                        <a:gd name="connsiteX1" fmla="*/ 15092 w 70068"/>
                        <a:gd name="connsiteY1" fmla="*/ 90529 h 92590"/>
                        <a:gd name="connsiteX2" fmla="*/ 56149 w 70068"/>
                        <a:gd name="connsiteY2" fmla="*/ 13079 h 92590"/>
                        <a:gd name="connsiteX3" fmla="*/ 56149 w 70068"/>
                        <a:gd name="connsiteY3" fmla="*/ 90529 h 92590"/>
                        <a:gd name="connsiteX4" fmla="*/ 68293 w 70068"/>
                        <a:gd name="connsiteY4" fmla="*/ 90529 h 92590"/>
                        <a:gd name="connsiteX5" fmla="*/ 68293 w 70068"/>
                        <a:gd name="connsiteY5" fmla="*/ -2062 h 92590"/>
                        <a:gd name="connsiteX6" fmla="*/ 51426 w 70068"/>
                        <a:gd name="connsiteY6" fmla="*/ -2062 h 92590"/>
                        <a:gd name="connsiteX7" fmla="*/ 10389 w 70068"/>
                        <a:gd name="connsiteY7" fmla="*/ 75388 h 92590"/>
                        <a:gd name="connsiteX8" fmla="*/ 10389 w 70068"/>
                        <a:gd name="connsiteY8" fmla="*/ -2062 h 92590"/>
                        <a:gd name="connsiteX9" fmla="*/ -1775 w 70068"/>
                        <a:gd name="connsiteY9" fmla="*/ -2062 h 92590"/>
                        <a:gd name="connsiteX10" fmla="*/ -1775 w 70068"/>
                        <a:gd name="connsiteY10" fmla="*/ 90529 h 92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0068" h="92590">
                          <a:moveTo>
                            <a:pt x="-1775" y="90529"/>
                          </a:moveTo>
                          <a:lnTo>
                            <a:pt x="15092" y="90529"/>
                          </a:lnTo>
                          <a:lnTo>
                            <a:pt x="56149" y="13079"/>
                          </a:lnTo>
                          <a:lnTo>
                            <a:pt x="56149" y="90529"/>
                          </a:lnTo>
                          <a:lnTo>
                            <a:pt x="68293" y="90529"/>
                          </a:lnTo>
                          <a:lnTo>
                            <a:pt x="68293" y="-2062"/>
                          </a:lnTo>
                          <a:lnTo>
                            <a:pt x="51426" y="-2062"/>
                          </a:lnTo>
                          <a:lnTo>
                            <a:pt x="10389" y="75388"/>
                          </a:lnTo>
                          <a:lnTo>
                            <a:pt x="10389" y="-2062"/>
                          </a:lnTo>
                          <a:lnTo>
                            <a:pt x="-1775" y="-2062"/>
                          </a:lnTo>
                          <a:lnTo>
                            <a:pt x="-1775" y="90529"/>
                          </a:lnTo>
                          <a:close/>
                        </a:path>
                      </a:pathLst>
                    </a:custGeom>
                    <a:solidFill>
                      <a:srgbClr val="000000"/>
                    </a:solidFill>
                    <a:ln w="20" cap="flat">
                      <a:noFill/>
                      <a:prstDash val="solid"/>
                      <a:round/>
                    </a:ln>
                  </p:spPr>
                  <p:txBody>
                    <a:bodyPr rtlCol="0" anchor="ctr"/>
                    <a:lstStyle/>
                    <a:p>
                      <a:endParaRPr lang="en-US"/>
                    </a:p>
                  </p:txBody>
                </p:sp>
                <p:sp>
                  <p:nvSpPr>
                    <p:cNvPr id="86" name="フリーフォーム: 図形 85">
                      <a:extLst>
                        <a:ext uri="{FF2B5EF4-FFF2-40B4-BE49-F238E27FC236}">
                          <a16:creationId xmlns:a16="http://schemas.microsoft.com/office/drawing/2014/main" id="{41131D8E-8EF1-A091-E6EE-ABD89F18512B}"/>
                        </a:ext>
                      </a:extLst>
                    </p:cNvPr>
                    <p:cNvSpPr/>
                    <p:nvPr/>
                  </p:nvSpPr>
                  <p:spPr>
                    <a:xfrm flipV="1">
                      <a:off x="-1000276" y="5018001"/>
                      <a:ext cx="63757" cy="72925"/>
                    </a:xfrm>
                    <a:custGeom>
                      <a:avLst/>
                      <a:gdLst>
                        <a:gd name="connsiteX0" fmla="*/ 30535 w 63757"/>
                        <a:gd name="connsiteY0" fmla="*/ 61787 h 72925"/>
                        <a:gd name="connsiteX1" fmla="*/ 16029 w 63757"/>
                        <a:gd name="connsiteY1" fmla="*/ 54624 h 72925"/>
                        <a:gd name="connsiteX2" fmla="*/ 10691 w 63757"/>
                        <a:gd name="connsiteY2" fmla="*/ 34998 h 72925"/>
                        <a:gd name="connsiteX3" fmla="*/ 15989 w 63757"/>
                        <a:gd name="connsiteY3" fmla="*/ 15373 h 72925"/>
                        <a:gd name="connsiteX4" fmla="*/ 30535 w 63757"/>
                        <a:gd name="connsiteY4" fmla="*/ 8209 h 72925"/>
                        <a:gd name="connsiteX5" fmla="*/ 44981 w 63757"/>
                        <a:gd name="connsiteY5" fmla="*/ 15393 h 72925"/>
                        <a:gd name="connsiteX6" fmla="*/ 50319 w 63757"/>
                        <a:gd name="connsiteY6" fmla="*/ 34998 h 72925"/>
                        <a:gd name="connsiteX7" fmla="*/ 44981 w 63757"/>
                        <a:gd name="connsiteY7" fmla="*/ 54564 h 72925"/>
                        <a:gd name="connsiteX8" fmla="*/ 30535 w 63757"/>
                        <a:gd name="connsiteY8" fmla="*/ 61787 h 72925"/>
                        <a:gd name="connsiteX9" fmla="*/ 30535 w 63757"/>
                        <a:gd name="connsiteY9" fmla="*/ 71451 h 72925"/>
                        <a:gd name="connsiteX10" fmla="*/ 53911 w 63757"/>
                        <a:gd name="connsiteY10" fmla="*/ 61768 h 72925"/>
                        <a:gd name="connsiteX11" fmla="*/ 62424 w 63757"/>
                        <a:gd name="connsiteY11" fmla="*/ 34998 h 72925"/>
                        <a:gd name="connsiteX12" fmla="*/ 53911 w 63757"/>
                        <a:gd name="connsiteY12" fmla="*/ 8229 h 72925"/>
                        <a:gd name="connsiteX13" fmla="*/ 30535 w 63757"/>
                        <a:gd name="connsiteY13" fmla="*/ -1475 h 72925"/>
                        <a:gd name="connsiteX14" fmla="*/ 7119 w 63757"/>
                        <a:gd name="connsiteY14" fmla="*/ 8229 h 72925"/>
                        <a:gd name="connsiteX15" fmla="*/ -1334 w 63757"/>
                        <a:gd name="connsiteY15" fmla="*/ 34998 h 72925"/>
                        <a:gd name="connsiteX16" fmla="*/ 7119 w 63757"/>
                        <a:gd name="connsiteY16" fmla="*/ 61768 h 72925"/>
                        <a:gd name="connsiteX17" fmla="*/ 30535 w 63757"/>
                        <a:gd name="connsiteY17" fmla="*/ 71451 h 7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3757" h="72925">
                          <a:moveTo>
                            <a:pt x="30535" y="61787"/>
                          </a:moveTo>
                          <a:cubicBezTo>
                            <a:pt x="24423" y="61787"/>
                            <a:pt x="19588" y="59400"/>
                            <a:pt x="16029" y="54624"/>
                          </a:cubicBezTo>
                          <a:cubicBezTo>
                            <a:pt x="12470" y="49848"/>
                            <a:pt x="10691" y="43306"/>
                            <a:pt x="10691" y="34998"/>
                          </a:cubicBezTo>
                          <a:cubicBezTo>
                            <a:pt x="10691" y="26690"/>
                            <a:pt x="12457" y="20149"/>
                            <a:pt x="15989" y="15373"/>
                          </a:cubicBezTo>
                          <a:cubicBezTo>
                            <a:pt x="19535" y="10597"/>
                            <a:pt x="24383" y="8209"/>
                            <a:pt x="30535" y="8209"/>
                          </a:cubicBezTo>
                          <a:cubicBezTo>
                            <a:pt x="36620" y="8209"/>
                            <a:pt x="41436" y="10604"/>
                            <a:pt x="44981" y="15393"/>
                          </a:cubicBezTo>
                          <a:cubicBezTo>
                            <a:pt x="48540" y="20195"/>
                            <a:pt x="50319" y="26730"/>
                            <a:pt x="50319" y="34998"/>
                          </a:cubicBezTo>
                          <a:cubicBezTo>
                            <a:pt x="50319" y="43227"/>
                            <a:pt x="48540" y="49749"/>
                            <a:pt x="44981" y="54564"/>
                          </a:cubicBezTo>
                          <a:cubicBezTo>
                            <a:pt x="41436" y="59380"/>
                            <a:pt x="36620" y="61787"/>
                            <a:pt x="30535" y="61787"/>
                          </a:cubicBezTo>
                          <a:close/>
                          <a:moveTo>
                            <a:pt x="30535" y="71451"/>
                          </a:moveTo>
                          <a:cubicBezTo>
                            <a:pt x="40457" y="71451"/>
                            <a:pt x="48249" y="68223"/>
                            <a:pt x="53911" y="61768"/>
                          </a:cubicBezTo>
                          <a:cubicBezTo>
                            <a:pt x="59586" y="55325"/>
                            <a:pt x="62424" y="46402"/>
                            <a:pt x="62424" y="34998"/>
                          </a:cubicBezTo>
                          <a:cubicBezTo>
                            <a:pt x="62424" y="23634"/>
                            <a:pt x="59586" y="14711"/>
                            <a:pt x="53911" y="8229"/>
                          </a:cubicBezTo>
                          <a:cubicBezTo>
                            <a:pt x="48249" y="1760"/>
                            <a:pt x="40457" y="-1475"/>
                            <a:pt x="30535" y="-1475"/>
                          </a:cubicBezTo>
                          <a:cubicBezTo>
                            <a:pt x="20573" y="-1475"/>
                            <a:pt x="12768" y="1760"/>
                            <a:pt x="7119" y="8229"/>
                          </a:cubicBezTo>
                          <a:cubicBezTo>
                            <a:pt x="1484" y="14711"/>
                            <a:pt x="-1334" y="23634"/>
                            <a:pt x="-1334" y="34998"/>
                          </a:cubicBezTo>
                          <a:cubicBezTo>
                            <a:pt x="-1334" y="46402"/>
                            <a:pt x="1484" y="55325"/>
                            <a:pt x="7119" y="61768"/>
                          </a:cubicBezTo>
                          <a:cubicBezTo>
                            <a:pt x="12768" y="68223"/>
                            <a:pt x="20573" y="71451"/>
                            <a:pt x="30535" y="71451"/>
                          </a:cubicBezTo>
                          <a:close/>
                        </a:path>
                      </a:pathLst>
                    </a:custGeom>
                    <a:solidFill>
                      <a:srgbClr val="000000"/>
                    </a:solidFill>
                    <a:ln w="20" cap="flat">
                      <a:noFill/>
                      <a:prstDash val="solid"/>
                      <a:round/>
                    </a:ln>
                  </p:spPr>
                  <p:txBody>
                    <a:bodyPr rtlCol="0" anchor="ctr"/>
                    <a:lstStyle/>
                    <a:p>
                      <a:endParaRPr lang="en-US"/>
                    </a:p>
                  </p:txBody>
                </p:sp>
                <p:sp>
                  <p:nvSpPr>
                    <p:cNvPr id="87" name="フリーフォーム: 図形 86">
                      <a:extLst>
                        <a:ext uri="{FF2B5EF4-FFF2-40B4-BE49-F238E27FC236}">
                          <a16:creationId xmlns:a16="http://schemas.microsoft.com/office/drawing/2014/main" id="{2B15B5E8-329C-2545-97E3-538B36C9F929}"/>
                        </a:ext>
                      </a:extLst>
                    </p:cNvPr>
                    <p:cNvSpPr/>
                    <p:nvPr/>
                  </p:nvSpPr>
                  <p:spPr>
                    <a:xfrm flipV="1">
                      <a:off x="-925791" y="5019668"/>
                      <a:ext cx="67587" cy="69453"/>
                    </a:xfrm>
                    <a:custGeom>
                      <a:avLst/>
                      <a:gdLst>
                        <a:gd name="connsiteX0" fmla="*/ -1263 w 67587"/>
                        <a:gd name="connsiteY0" fmla="*/ 67975 h 69453"/>
                        <a:gd name="connsiteX1" fmla="*/ 10822 w 67587"/>
                        <a:gd name="connsiteY1" fmla="*/ 67975 h 69453"/>
                        <a:gd name="connsiteX2" fmla="*/ 32531 w 67587"/>
                        <a:gd name="connsiteY2" fmla="*/ 9694 h 69453"/>
                        <a:gd name="connsiteX3" fmla="*/ 54240 w 67587"/>
                        <a:gd name="connsiteY3" fmla="*/ 67975 h 69453"/>
                        <a:gd name="connsiteX4" fmla="*/ 66325 w 67587"/>
                        <a:gd name="connsiteY4" fmla="*/ 67975 h 69453"/>
                        <a:gd name="connsiteX5" fmla="*/ 40270 w 67587"/>
                        <a:gd name="connsiteY5" fmla="*/ -1478 h 69453"/>
                        <a:gd name="connsiteX6" fmla="*/ 24772 w 67587"/>
                        <a:gd name="connsiteY6" fmla="*/ -1478 h 69453"/>
                        <a:gd name="connsiteX7" fmla="*/ -1263 w 67587"/>
                        <a:gd name="connsiteY7" fmla="*/ 67975 h 69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7587" h="69453">
                          <a:moveTo>
                            <a:pt x="-1263" y="67975"/>
                          </a:moveTo>
                          <a:lnTo>
                            <a:pt x="10822" y="67975"/>
                          </a:lnTo>
                          <a:lnTo>
                            <a:pt x="32531" y="9694"/>
                          </a:lnTo>
                          <a:lnTo>
                            <a:pt x="54240" y="67975"/>
                          </a:lnTo>
                          <a:lnTo>
                            <a:pt x="66325" y="67975"/>
                          </a:lnTo>
                          <a:lnTo>
                            <a:pt x="40270" y="-1478"/>
                          </a:lnTo>
                          <a:lnTo>
                            <a:pt x="24772" y="-1478"/>
                          </a:lnTo>
                          <a:lnTo>
                            <a:pt x="-1263" y="67975"/>
                          </a:lnTo>
                          <a:close/>
                        </a:path>
                      </a:pathLst>
                    </a:custGeom>
                    <a:solidFill>
                      <a:srgbClr val="000000"/>
                    </a:solidFill>
                    <a:ln w="20" cap="flat">
                      <a:noFill/>
                      <a:prstDash val="solid"/>
                      <a:round/>
                    </a:ln>
                  </p:spPr>
                  <p:txBody>
                    <a:bodyPr rtlCol="0" anchor="ctr"/>
                    <a:lstStyle/>
                    <a:p>
                      <a:endParaRPr lang="en-US"/>
                    </a:p>
                  </p:txBody>
                </p:sp>
              </p:grpSp>
            </p:grpSp>
            <p:grpSp>
              <p:nvGrpSpPr>
                <p:cNvPr id="88" name="グラフィックス 2">
                  <a:extLst>
                    <a:ext uri="{FF2B5EF4-FFF2-40B4-BE49-F238E27FC236}">
                      <a16:creationId xmlns:a16="http://schemas.microsoft.com/office/drawing/2014/main" id="{DA49F47E-7527-2E61-B2B4-087918DC04E8}"/>
                    </a:ext>
                  </a:extLst>
                </p:cNvPr>
                <p:cNvGrpSpPr/>
                <p:nvPr/>
              </p:nvGrpSpPr>
              <p:grpSpPr>
                <a:xfrm>
                  <a:off x="-394484" y="1941578"/>
                  <a:ext cx="225417" cy="3149348"/>
                  <a:chOff x="-394484" y="1941578"/>
                  <a:chExt cx="225417" cy="3149348"/>
                </a:xfrm>
              </p:grpSpPr>
              <p:sp>
                <p:nvSpPr>
                  <p:cNvPr id="89" name="フリーフォーム: 図形 88">
                    <a:extLst>
                      <a:ext uri="{FF2B5EF4-FFF2-40B4-BE49-F238E27FC236}">
                        <a16:creationId xmlns:a16="http://schemas.microsoft.com/office/drawing/2014/main" id="{9DC07442-5C84-1278-6C13-A9409D83252E}"/>
                      </a:ext>
                    </a:extLst>
                  </p:cNvPr>
                  <p:cNvSpPr/>
                  <p:nvPr/>
                </p:nvSpPr>
                <p:spPr>
                  <a:xfrm>
                    <a:off x="-284060" y="1941578"/>
                    <a:ext cx="12700" cy="2962147"/>
                  </a:xfrm>
                  <a:custGeom>
                    <a:avLst/>
                    <a:gdLst>
                      <a:gd name="connsiteX0" fmla="*/ 0 w 12700"/>
                      <a:gd name="connsiteY0" fmla="*/ 2962148 h 2962147"/>
                      <a:gd name="connsiteX1" fmla="*/ 0 w 12700"/>
                      <a:gd name="connsiteY1" fmla="*/ 0 h 2962147"/>
                    </a:gdLst>
                    <a:ahLst/>
                    <a:cxnLst>
                      <a:cxn ang="0">
                        <a:pos x="connsiteX0" y="connsiteY0"/>
                      </a:cxn>
                      <a:cxn ang="0">
                        <a:pos x="connsiteX1" y="connsiteY1"/>
                      </a:cxn>
                    </a:cxnLst>
                    <a:rect l="l" t="t" r="r" b="b"/>
                    <a:pathLst>
                      <a:path w="12700" h="2962147">
                        <a:moveTo>
                          <a:pt x="0" y="2962148"/>
                        </a:moveTo>
                        <a:lnTo>
                          <a:pt x="0" y="0"/>
                        </a:lnTo>
                      </a:path>
                    </a:pathLst>
                  </a:custGeom>
                  <a:noFill/>
                  <a:ln w="10160" cap="sq">
                    <a:solidFill>
                      <a:srgbClr val="B0B0B0"/>
                    </a:solidFill>
                    <a:prstDash val="solid"/>
                    <a:round/>
                  </a:ln>
                </p:spPr>
                <p:txBody>
                  <a:bodyPr rtlCol="0" anchor="ctr"/>
                  <a:lstStyle/>
                  <a:p>
                    <a:endParaRPr lang="en-US"/>
                  </a:p>
                </p:txBody>
              </p:sp>
              <p:sp>
                <p:nvSpPr>
                  <p:cNvPr id="90" name="フリーフォーム: 図形 89">
                    <a:extLst>
                      <a:ext uri="{FF2B5EF4-FFF2-40B4-BE49-F238E27FC236}">
                        <a16:creationId xmlns:a16="http://schemas.microsoft.com/office/drawing/2014/main" id="{42467625-EF63-F141-E2B2-A6CCF1E1D3B2}"/>
                      </a:ext>
                    </a:extLst>
                  </p:cNvPr>
                  <p:cNvSpPr/>
                  <p:nvPr/>
                </p:nvSpPr>
                <p:spPr>
                  <a:xfrm>
                    <a:off x="-284060" y="4903727"/>
                    <a:ext cx="12700" cy="44450"/>
                  </a:xfrm>
                  <a:custGeom>
                    <a:avLst/>
                    <a:gdLst>
                      <a:gd name="connsiteX0" fmla="*/ 679 w 12700"/>
                      <a:gd name="connsiteY0" fmla="*/ 260 h 44450"/>
                      <a:gd name="connsiteX1" fmla="*/ 679 w 12700"/>
                      <a:gd name="connsiteY1" fmla="*/ 44710 h 44450"/>
                    </a:gdLst>
                    <a:ahLst/>
                    <a:cxnLst>
                      <a:cxn ang="0">
                        <a:pos x="connsiteX0" y="connsiteY0"/>
                      </a:cxn>
                      <a:cxn ang="0">
                        <a:pos x="connsiteX1" y="connsiteY1"/>
                      </a:cxn>
                    </a:cxnLst>
                    <a:rect l="l" t="t" r="r" b="b"/>
                    <a:pathLst>
                      <a:path w="12700" h="44450">
                        <a:moveTo>
                          <a:pt x="679" y="260"/>
                        </a:moveTo>
                        <a:lnTo>
                          <a:pt x="679" y="44710"/>
                        </a:lnTo>
                      </a:path>
                    </a:pathLst>
                  </a:custGeom>
                  <a:solidFill>
                    <a:srgbClr val="000000"/>
                  </a:solidFill>
                  <a:ln w="10160" cap="flat">
                    <a:solidFill>
                      <a:srgbClr val="000000"/>
                    </a:solidFill>
                    <a:prstDash val="solid"/>
                    <a:round/>
                  </a:ln>
                </p:spPr>
                <p:txBody>
                  <a:bodyPr rtlCol="0" anchor="ctr"/>
                  <a:lstStyle/>
                  <a:p>
                    <a:endParaRPr lang="en-US"/>
                  </a:p>
                </p:txBody>
              </p:sp>
              <p:grpSp>
                <p:nvGrpSpPr>
                  <p:cNvPr id="91" name="グラフィックス 2">
                    <a:extLst>
                      <a:ext uri="{FF2B5EF4-FFF2-40B4-BE49-F238E27FC236}">
                        <a16:creationId xmlns:a16="http://schemas.microsoft.com/office/drawing/2014/main" id="{62D3F43B-3997-7B17-DAA2-3422D98FF36F}"/>
                      </a:ext>
                    </a:extLst>
                  </p:cNvPr>
                  <p:cNvGrpSpPr/>
                  <p:nvPr/>
                </p:nvGrpSpPr>
                <p:grpSpPr>
                  <a:xfrm>
                    <a:off x="-394484" y="4996530"/>
                    <a:ext cx="225417" cy="94396"/>
                    <a:chOff x="-394484" y="4996530"/>
                    <a:chExt cx="225417" cy="94396"/>
                  </a:xfrm>
                  <a:solidFill>
                    <a:srgbClr val="000000"/>
                  </a:solidFill>
                </p:grpSpPr>
                <p:sp>
                  <p:nvSpPr>
                    <p:cNvPr id="92" name="フリーフォーム: 図形 91">
                      <a:extLst>
                        <a:ext uri="{FF2B5EF4-FFF2-40B4-BE49-F238E27FC236}">
                          <a16:creationId xmlns:a16="http://schemas.microsoft.com/office/drawing/2014/main" id="{71AAA291-1CB2-4426-79CE-6A736DB1465D}"/>
                        </a:ext>
                      </a:extLst>
                    </p:cNvPr>
                    <p:cNvSpPr/>
                    <p:nvPr/>
                  </p:nvSpPr>
                  <p:spPr>
                    <a:xfrm flipV="1">
                      <a:off x="-394484" y="4996530"/>
                      <a:ext cx="77827" cy="92590"/>
                    </a:xfrm>
                    <a:custGeom>
                      <a:avLst/>
                      <a:gdLst>
                        <a:gd name="connsiteX0" fmla="*/ 10606 w 77827"/>
                        <a:gd name="connsiteY0" fmla="*/ 80230 h 92590"/>
                        <a:gd name="connsiteX1" fmla="*/ 10606 w 77827"/>
                        <a:gd name="connsiteY1" fmla="*/ 8237 h 92590"/>
                        <a:gd name="connsiteX2" fmla="*/ 25747 w 77827"/>
                        <a:gd name="connsiteY2" fmla="*/ 8237 h 92590"/>
                        <a:gd name="connsiteX3" fmla="*/ 53806 w 77827"/>
                        <a:gd name="connsiteY3" fmla="*/ 16909 h 92590"/>
                        <a:gd name="connsiteX4" fmla="*/ 62696 w 77827"/>
                        <a:gd name="connsiteY4" fmla="*/ 44333 h 92590"/>
                        <a:gd name="connsiteX5" fmla="*/ 53806 w 77827"/>
                        <a:gd name="connsiteY5" fmla="*/ 71578 h 92590"/>
                        <a:gd name="connsiteX6" fmla="*/ 25747 w 77827"/>
                        <a:gd name="connsiteY6" fmla="*/ 80230 h 92590"/>
                        <a:gd name="connsiteX7" fmla="*/ 10606 w 77827"/>
                        <a:gd name="connsiteY7" fmla="*/ 80230 h 92590"/>
                        <a:gd name="connsiteX8" fmla="*/ -1915 w 77827"/>
                        <a:gd name="connsiteY8" fmla="*/ 90529 h 92590"/>
                        <a:gd name="connsiteX9" fmla="*/ 23822 w 77827"/>
                        <a:gd name="connsiteY9" fmla="*/ 90529 h 92590"/>
                        <a:gd name="connsiteX10" fmla="*/ 63311 w 77827"/>
                        <a:gd name="connsiteY10" fmla="*/ 79337 h 92590"/>
                        <a:gd name="connsiteX11" fmla="*/ 75912 w 77827"/>
                        <a:gd name="connsiteY11" fmla="*/ 44333 h 92590"/>
                        <a:gd name="connsiteX12" fmla="*/ 63251 w 77827"/>
                        <a:gd name="connsiteY12" fmla="*/ 9150 h 92590"/>
                        <a:gd name="connsiteX13" fmla="*/ 23822 w 77827"/>
                        <a:gd name="connsiteY13" fmla="*/ -2062 h 92590"/>
                        <a:gd name="connsiteX14" fmla="*/ -1915 w 77827"/>
                        <a:gd name="connsiteY14" fmla="*/ -2062 h 92590"/>
                        <a:gd name="connsiteX15" fmla="*/ -1915 w 77827"/>
                        <a:gd name="connsiteY15" fmla="*/ 90529 h 92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77827" h="92590">
                          <a:moveTo>
                            <a:pt x="10606" y="80230"/>
                          </a:moveTo>
                          <a:lnTo>
                            <a:pt x="10606" y="8237"/>
                          </a:lnTo>
                          <a:lnTo>
                            <a:pt x="25747" y="8237"/>
                          </a:lnTo>
                          <a:cubicBezTo>
                            <a:pt x="38526" y="8237"/>
                            <a:pt x="47879" y="11128"/>
                            <a:pt x="53806" y="16909"/>
                          </a:cubicBezTo>
                          <a:cubicBezTo>
                            <a:pt x="59732" y="22703"/>
                            <a:pt x="62696" y="31844"/>
                            <a:pt x="62696" y="44333"/>
                          </a:cubicBezTo>
                          <a:cubicBezTo>
                            <a:pt x="62696" y="56729"/>
                            <a:pt x="59732" y="65810"/>
                            <a:pt x="53806" y="71578"/>
                          </a:cubicBezTo>
                          <a:cubicBezTo>
                            <a:pt x="47879" y="77346"/>
                            <a:pt x="38526" y="80230"/>
                            <a:pt x="25747" y="80230"/>
                          </a:cubicBezTo>
                          <a:lnTo>
                            <a:pt x="10606" y="80230"/>
                          </a:lnTo>
                          <a:close/>
                          <a:moveTo>
                            <a:pt x="-1915" y="90529"/>
                          </a:moveTo>
                          <a:lnTo>
                            <a:pt x="23822" y="90529"/>
                          </a:lnTo>
                          <a:cubicBezTo>
                            <a:pt x="41761" y="90529"/>
                            <a:pt x="54924" y="86798"/>
                            <a:pt x="63311" y="79337"/>
                          </a:cubicBezTo>
                          <a:cubicBezTo>
                            <a:pt x="71711" y="71876"/>
                            <a:pt x="75912" y="60208"/>
                            <a:pt x="75912" y="44333"/>
                          </a:cubicBezTo>
                          <a:cubicBezTo>
                            <a:pt x="75912" y="28365"/>
                            <a:pt x="71692" y="16637"/>
                            <a:pt x="63251" y="9150"/>
                          </a:cubicBezTo>
                          <a:cubicBezTo>
                            <a:pt x="54824" y="1675"/>
                            <a:pt x="41681" y="-2062"/>
                            <a:pt x="23822" y="-2062"/>
                          </a:cubicBezTo>
                          <a:lnTo>
                            <a:pt x="-1915" y="-2062"/>
                          </a:lnTo>
                          <a:lnTo>
                            <a:pt x="-1915" y="90529"/>
                          </a:lnTo>
                          <a:close/>
                        </a:path>
                      </a:pathLst>
                    </a:custGeom>
                    <a:solidFill>
                      <a:srgbClr val="000000"/>
                    </a:solidFill>
                    <a:ln w="20" cap="flat">
                      <a:noFill/>
                      <a:prstDash val="solid"/>
                      <a:round/>
                    </a:ln>
                  </p:spPr>
                  <p:txBody>
                    <a:bodyPr rtlCol="0" anchor="ctr"/>
                    <a:lstStyle/>
                    <a:p>
                      <a:endParaRPr lang="en-US"/>
                    </a:p>
                  </p:txBody>
                </p:sp>
                <p:sp>
                  <p:nvSpPr>
                    <p:cNvPr id="93" name="フリーフォーム: 図形 92">
                      <a:extLst>
                        <a:ext uri="{FF2B5EF4-FFF2-40B4-BE49-F238E27FC236}">
                          <a16:creationId xmlns:a16="http://schemas.microsoft.com/office/drawing/2014/main" id="{2328757A-B7E6-94FA-3B6E-8DC26590C868}"/>
                        </a:ext>
                      </a:extLst>
                    </p:cNvPr>
                    <p:cNvSpPr/>
                    <p:nvPr/>
                  </p:nvSpPr>
                  <p:spPr>
                    <a:xfrm flipV="1">
                      <a:off x="-302148" y="5018001"/>
                      <a:ext cx="64373" cy="72925"/>
                    </a:xfrm>
                    <a:custGeom>
                      <a:avLst/>
                      <a:gdLst>
                        <a:gd name="connsiteX0" fmla="*/ 63078 w 64373"/>
                        <a:gd name="connsiteY0" fmla="*/ 37915 h 72925"/>
                        <a:gd name="connsiteX1" fmla="*/ 63078 w 64373"/>
                        <a:gd name="connsiteY1" fmla="*/ 32339 h 72925"/>
                        <a:gd name="connsiteX2" fmla="*/ 10611 w 64373"/>
                        <a:gd name="connsiteY2" fmla="*/ 32339 h 72925"/>
                        <a:gd name="connsiteX3" fmla="*/ 17716 w 64373"/>
                        <a:gd name="connsiteY3" fmla="*/ 14381 h 72925"/>
                        <a:gd name="connsiteX4" fmla="*/ 35416 w 64373"/>
                        <a:gd name="connsiteY4" fmla="*/ 8209 h 72925"/>
                        <a:gd name="connsiteX5" fmla="*/ 48156 w 64373"/>
                        <a:gd name="connsiteY5" fmla="*/ 9817 h 72925"/>
                        <a:gd name="connsiteX6" fmla="*/ 60419 w 64373"/>
                        <a:gd name="connsiteY6" fmla="*/ 14658 h 72925"/>
                        <a:gd name="connsiteX7" fmla="*/ 60419 w 64373"/>
                        <a:gd name="connsiteY7" fmla="*/ 3863 h 72925"/>
                        <a:gd name="connsiteX8" fmla="*/ 47819 w 64373"/>
                        <a:gd name="connsiteY8" fmla="*/ -105 h 72925"/>
                        <a:gd name="connsiteX9" fmla="*/ 34741 w 64373"/>
                        <a:gd name="connsiteY9" fmla="*/ -1475 h 72925"/>
                        <a:gd name="connsiteX10" fmla="*/ 8409 w 64373"/>
                        <a:gd name="connsiteY10" fmla="*/ 8189 h 72925"/>
                        <a:gd name="connsiteX11" fmla="*/ -1295 w 64373"/>
                        <a:gd name="connsiteY11" fmla="*/ 34383 h 72925"/>
                        <a:gd name="connsiteX12" fmla="*/ 7913 w 64373"/>
                        <a:gd name="connsiteY12" fmla="*/ 61430 h 72925"/>
                        <a:gd name="connsiteX13" fmla="*/ 32757 w 64373"/>
                        <a:gd name="connsiteY13" fmla="*/ 71451 h 72925"/>
                        <a:gd name="connsiteX14" fmla="*/ 54923 w 64373"/>
                        <a:gd name="connsiteY14" fmla="*/ 62422 h 72925"/>
                        <a:gd name="connsiteX15" fmla="*/ 63078 w 64373"/>
                        <a:gd name="connsiteY15" fmla="*/ 37915 h 72925"/>
                        <a:gd name="connsiteX16" fmla="*/ 51668 w 64373"/>
                        <a:gd name="connsiteY16" fmla="*/ 41269 h 72925"/>
                        <a:gd name="connsiteX17" fmla="*/ 46429 w 64373"/>
                        <a:gd name="connsiteY17" fmla="*/ 56191 h 72925"/>
                        <a:gd name="connsiteX18" fmla="*/ 32876 w 64373"/>
                        <a:gd name="connsiteY18" fmla="*/ 61787 h 72925"/>
                        <a:gd name="connsiteX19" fmla="*/ 17596 w 64373"/>
                        <a:gd name="connsiteY19" fmla="*/ 56390 h 72925"/>
                        <a:gd name="connsiteX20" fmla="*/ 10989 w 64373"/>
                        <a:gd name="connsiteY20" fmla="*/ 41190 h 72925"/>
                        <a:gd name="connsiteX21" fmla="*/ 51668 w 64373"/>
                        <a:gd name="connsiteY21" fmla="*/ 41269 h 7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64373" h="72925">
                          <a:moveTo>
                            <a:pt x="63078" y="37915"/>
                          </a:moveTo>
                          <a:lnTo>
                            <a:pt x="63078" y="32339"/>
                          </a:lnTo>
                          <a:lnTo>
                            <a:pt x="10611" y="32339"/>
                          </a:lnTo>
                          <a:cubicBezTo>
                            <a:pt x="11114" y="24481"/>
                            <a:pt x="13482" y="18495"/>
                            <a:pt x="17716" y="14381"/>
                          </a:cubicBezTo>
                          <a:cubicBezTo>
                            <a:pt x="21949" y="10266"/>
                            <a:pt x="27849" y="8209"/>
                            <a:pt x="35416" y="8209"/>
                          </a:cubicBezTo>
                          <a:cubicBezTo>
                            <a:pt x="39795" y="8209"/>
                            <a:pt x="44042" y="8745"/>
                            <a:pt x="48156" y="9817"/>
                          </a:cubicBezTo>
                          <a:cubicBezTo>
                            <a:pt x="52270" y="10888"/>
                            <a:pt x="56358" y="12502"/>
                            <a:pt x="60419" y="14658"/>
                          </a:cubicBezTo>
                          <a:lnTo>
                            <a:pt x="60419" y="3863"/>
                          </a:lnTo>
                          <a:cubicBezTo>
                            <a:pt x="56318" y="2130"/>
                            <a:pt x="52118" y="808"/>
                            <a:pt x="47819" y="-105"/>
                          </a:cubicBezTo>
                          <a:cubicBezTo>
                            <a:pt x="43519" y="-1018"/>
                            <a:pt x="39160" y="-1475"/>
                            <a:pt x="34741" y="-1475"/>
                          </a:cubicBezTo>
                          <a:cubicBezTo>
                            <a:pt x="23655" y="-1475"/>
                            <a:pt x="14878" y="1747"/>
                            <a:pt x="8409" y="8189"/>
                          </a:cubicBezTo>
                          <a:cubicBezTo>
                            <a:pt x="1940" y="14645"/>
                            <a:pt x="-1295" y="23376"/>
                            <a:pt x="-1295" y="34383"/>
                          </a:cubicBezTo>
                          <a:cubicBezTo>
                            <a:pt x="-1295" y="45747"/>
                            <a:pt x="1774" y="54763"/>
                            <a:pt x="7913" y="61430"/>
                          </a:cubicBezTo>
                          <a:cubicBezTo>
                            <a:pt x="14051" y="68111"/>
                            <a:pt x="22333" y="71451"/>
                            <a:pt x="32757" y="71451"/>
                          </a:cubicBezTo>
                          <a:cubicBezTo>
                            <a:pt x="42097" y="71451"/>
                            <a:pt x="49485" y="68442"/>
                            <a:pt x="54923" y="62422"/>
                          </a:cubicBezTo>
                          <a:cubicBezTo>
                            <a:pt x="60360" y="56416"/>
                            <a:pt x="63078" y="48247"/>
                            <a:pt x="63078" y="37915"/>
                          </a:cubicBezTo>
                          <a:close/>
                          <a:moveTo>
                            <a:pt x="51668" y="41269"/>
                          </a:moveTo>
                          <a:cubicBezTo>
                            <a:pt x="51589" y="47500"/>
                            <a:pt x="49843" y="52474"/>
                            <a:pt x="46429" y="56191"/>
                          </a:cubicBezTo>
                          <a:cubicBezTo>
                            <a:pt x="43016" y="59922"/>
                            <a:pt x="38499" y="61787"/>
                            <a:pt x="32876" y="61787"/>
                          </a:cubicBezTo>
                          <a:cubicBezTo>
                            <a:pt x="26513" y="61787"/>
                            <a:pt x="21420" y="59988"/>
                            <a:pt x="17596" y="56390"/>
                          </a:cubicBezTo>
                          <a:cubicBezTo>
                            <a:pt x="13773" y="52792"/>
                            <a:pt x="11571" y="47725"/>
                            <a:pt x="10989" y="41190"/>
                          </a:cubicBezTo>
                          <a:lnTo>
                            <a:pt x="51668" y="41269"/>
                          </a:lnTo>
                          <a:close/>
                        </a:path>
                      </a:pathLst>
                    </a:custGeom>
                    <a:solidFill>
                      <a:srgbClr val="000000"/>
                    </a:solidFill>
                    <a:ln w="20" cap="flat">
                      <a:noFill/>
                      <a:prstDash val="solid"/>
                      <a:round/>
                    </a:ln>
                  </p:spPr>
                  <p:txBody>
                    <a:bodyPr rtlCol="0" anchor="ctr"/>
                    <a:lstStyle/>
                    <a:p>
                      <a:endParaRPr lang="en-US"/>
                    </a:p>
                  </p:txBody>
                </p:sp>
                <p:sp>
                  <p:nvSpPr>
                    <p:cNvPr id="94" name="フリーフォーム: 図形 93">
                      <a:extLst>
                        <a:ext uri="{FF2B5EF4-FFF2-40B4-BE49-F238E27FC236}">
                          <a16:creationId xmlns:a16="http://schemas.microsoft.com/office/drawing/2014/main" id="{63464514-9910-16EF-FACA-27F1465CE38C}"/>
                        </a:ext>
                      </a:extLst>
                    </p:cNvPr>
                    <p:cNvSpPr/>
                    <p:nvPr/>
                  </p:nvSpPr>
                  <p:spPr>
                    <a:xfrm flipV="1">
                      <a:off x="-224014" y="5018001"/>
                      <a:ext cx="54947" cy="72925"/>
                    </a:xfrm>
                    <a:custGeom>
                      <a:avLst/>
                      <a:gdLst>
                        <a:gd name="connsiteX0" fmla="*/ 53896 w 54947"/>
                        <a:gd name="connsiteY0" fmla="*/ 67125 h 72925"/>
                        <a:gd name="connsiteX1" fmla="*/ 53896 w 54947"/>
                        <a:gd name="connsiteY1" fmla="*/ 56449 h 72925"/>
                        <a:gd name="connsiteX2" fmla="*/ 44192 w 54947"/>
                        <a:gd name="connsiteY2" fmla="*/ 60458 h 72925"/>
                        <a:gd name="connsiteX3" fmla="*/ 34370 w 54947"/>
                        <a:gd name="connsiteY3" fmla="*/ 61787 h 72925"/>
                        <a:gd name="connsiteX4" fmla="*/ 17106 w 54947"/>
                        <a:gd name="connsiteY4" fmla="*/ 54743 h 72925"/>
                        <a:gd name="connsiteX5" fmla="*/ 10974 w 54947"/>
                        <a:gd name="connsiteY5" fmla="*/ 34998 h 72925"/>
                        <a:gd name="connsiteX6" fmla="*/ 17106 w 54947"/>
                        <a:gd name="connsiteY6" fmla="*/ 15234 h 72925"/>
                        <a:gd name="connsiteX7" fmla="*/ 34370 w 54947"/>
                        <a:gd name="connsiteY7" fmla="*/ 8209 h 72925"/>
                        <a:gd name="connsiteX8" fmla="*/ 44192 w 54947"/>
                        <a:gd name="connsiteY8" fmla="*/ 9539 h 72925"/>
                        <a:gd name="connsiteX9" fmla="*/ 53896 w 54947"/>
                        <a:gd name="connsiteY9" fmla="*/ 13547 h 72925"/>
                        <a:gd name="connsiteX10" fmla="*/ 53896 w 54947"/>
                        <a:gd name="connsiteY10" fmla="*/ 2990 h 72925"/>
                        <a:gd name="connsiteX11" fmla="*/ 43994 w 54947"/>
                        <a:gd name="connsiteY11" fmla="*/ -343 h 72925"/>
                        <a:gd name="connsiteX12" fmla="*/ 33119 w 54947"/>
                        <a:gd name="connsiteY12" fmla="*/ -1475 h 72925"/>
                        <a:gd name="connsiteX13" fmla="*/ 8176 w 54947"/>
                        <a:gd name="connsiteY13" fmla="*/ 8388 h 72925"/>
                        <a:gd name="connsiteX14" fmla="*/ -1051 w 54947"/>
                        <a:gd name="connsiteY14" fmla="*/ 34998 h 72925"/>
                        <a:gd name="connsiteX15" fmla="*/ 8275 w 54947"/>
                        <a:gd name="connsiteY15" fmla="*/ 61708 h 72925"/>
                        <a:gd name="connsiteX16" fmla="*/ 33874 w 54947"/>
                        <a:gd name="connsiteY16" fmla="*/ 71451 h 72925"/>
                        <a:gd name="connsiteX17" fmla="*/ 44153 w 54947"/>
                        <a:gd name="connsiteY17" fmla="*/ 70360 h 72925"/>
                        <a:gd name="connsiteX18" fmla="*/ 53896 w 54947"/>
                        <a:gd name="connsiteY18" fmla="*/ 67125 h 7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947" h="72925">
                          <a:moveTo>
                            <a:pt x="53896" y="67125"/>
                          </a:moveTo>
                          <a:lnTo>
                            <a:pt x="53896" y="56449"/>
                          </a:lnTo>
                          <a:cubicBezTo>
                            <a:pt x="50668" y="58235"/>
                            <a:pt x="47433" y="59571"/>
                            <a:pt x="44192" y="60458"/>
                          </a:cubicBezTo>
                          <a:cubicBezTo>
                            <a:pt x="40951" y="61344"/>
                            <a:pt x="37677" y="61787"/>
                            <a:pt x="34370" y="61787"/>
                          </a:cubicBezTo>
                          <a:cubicBezTo>
                            <a:pt x="26961" y="61787"/>
                            <a:pt x="21207" y="59439"/>
                            <a:pt x="17106" y="54743"/>
                          </a:cubicBezTo>
                          <a:cubicBezTo>
                            <a:pt x="13018" y="50060"/>
                            <a:pt x="10974" y="43478"/>
                            <a:pt x="10974" y="34998"/>
                          </a:cubicBezTo>
                          <a:cubicBezTo>
                            <a:pt x="10974" y="26518"/>
                            <a:pt x="13018" y="19930"/>
                            <a:pt x="17106" y="15234"/>
                          </a:cubicBezTo>
                          <a:cubicBezTo>
                            <a:pt x="21207" y="10551"/>
                            <a:pt x="26961" y="8209"/>
                            <a:pt x="34370" y="8209"/>
                          </a:cubicBezTo>
                          <a:cubicBezTo>
                            <a:pt x="37677" y="8209"/>
                            <a:pt x="40951" y="8652"/>
                            <a:pt x="44192" y="9539"/>
                          </a:cubicBezTo>
                          <a:cubicBezTo>
                            <a:pt x="47433" y="10425"/>
                            <a:pt x="50668" y="11761"/>
                            <a:pt x="53896" y="13547"/>
                          </a:cubicBezTo>
                          <a:lnTo>
                            <a:pt x="53896" y="2990"/>
                          </a:lnTo>
                          <a:cubicBezTo>
                            <a:pt x="50708" y="1509"/>
                            <a:pt x="47407" y="397"/>
                            <a:pt x="43994" y="-343"/>
                          </a:cubicBezTo>
                          <a:cubicBezTo>
                            <a:pt x="40594" y="-1097"/>
                            <a:pt x="36969" y="-1475"/>
                            <a:pt x="33119" y="-1475"/>
                          </a:cubicBezTo>
                          <a:cubicBezTo>
                            <a:pt x="22655" y="-1475"/>
                            <a:pt x="14341" y="1813"/>
                            <a:pt x="8176" y="8388"/>
                          </a:cubicBezTo>
                          <a:cubicBezTo>
                            <a:pt x="2024" y="14963"/>
                            <a:pt x="-1051" y="23833"/>
                            <a:pt x="-1051" y="34998"/>
                          </a:cubicBezTo>
                          <a:cubicBezTo>
                            <a:pt x="-1051" y="46323"/>
                            <a:pt x="2057" y="55226"/>
                            <a:pt x="8275" y="61708"/>
                          </a:cubicBezTo>
                          <a:cubicBezTo>
                            <a:pt x="14506" y="68203"/>
                            <a:pt x="23039" y="71451"/>
                            <a:pt x="33874" y="71451"/>
                          </a:cubicBezTo>
                          <a:cubicBezTo>
                            <a:pt x="37379" y="71451"/>
                            <a:pt x="40806" y="71088"/>
                            <a:pt x="44153" y="70360"/>
                          </a:cubicBezTo>
                          <a:cubicBezTo>
                            <a:pt x="47500" y="69645"/>
                            <a:pt x="50747" y="68567"/>
                            <a:pt x="53896" y="67125"/>
                          </a:cubicBezTo>
                          <a:close/>
                        </a:path>
                      </a:pathLst>
                    </a:custGeom>
                    <a:solidFill>
                      <a:srgbClr val="000000"/>
                    </a:solidFill>
                    <a:ln w="20" cap="flat">
                      <a:noFill/>
                      <a:prstDash val="solid"/>
                      <a:round/>
                    </a:ln>
                  </p:spPr>
                  <p:txBody>
                    <a:bodyPr rtlCol="0" anchor="ctr"/>
                    <a:lstStyle/>
                    <a:p>
                      <a:endParaRPr lang="en-US"/>
                    </a:p>
                  </p:txBody>
                </p:sp>
              </p:grpSp>
            </p:grpSp>
          </p:grpSp>
          <p:grpSp>
            <p:nvGrpSpPr>
              <p:cNvPr id="95" name="グラフィックス 2">
                <a:extLst>
                  <a:ext uri="{FF2B5EF4-FFF2-40B4-BE49-F238E27FC236}">
                    <a16:creationId xmlns:a16="http://schemas.microsoft.com/office/drawing/2014/main" id="{47A2E391-D2F1-6B60-72C8-7226E923A26E}"/>
                  </a:ext>
                </a:extLst>
              </p:cNvPr>
              <p:cNvGrpSpPr/>
              <p:nvPr/>
            </p:nvGrpSpPr>
            <p:grpSpPr>
              <a:xfrm>
                <a:off x="-8767587" y="1895571"/>
                <a:ext cx="8865377" cy="3058209"/>
                <a:chOff x="-8767587" y="1895571"/>
                <a:chExt cx="8865377" cy="3058209"/>
              </a:xfrm>
            </p:grpSpPr>
            <p:grpSp>
              <p:nvGrpSpPr>
                <p:cNvPr id="96" name="グラフィックス 2">
                  <a:extLst>
                    <a:ext uri="{FF2B5EF4-FFF2-40B4-BE49-F238E27FC236}">
                      <a16:creationId xmlns:a16="http://schemas.microsoft.com/office/drawing/2014/main" id="{729A49EE-4DFA-9BE4-D2EC-7A78C9B1FCD3}"/>
                    </a:ext>
                  </a:extLst>
                </p:cNvPr>
                <p:cNvGrpSpPr/>
                <p:nvPr/>
              </p:nvGrpSpPr>
              <p:grpSpPr>
                <a:xfrm>
                  <a:off x="-8585501" y="4857716"/>
                  <a:ext cx="8683291" cy="96063"/>
                  <a:chOff x="-8585501" y="4857716"/>
                  <a:chExt cx="8683291" cy="96063"/>
                </a:xfrm>
              </p:grpSpPr>
              <p:sp>
                <p:nvSpPr>
                  <p:cNvPr id="97" name="フリーフォーム: 図形 96">
                    <a:extLst>
                      <a:ext uri="{FF2B5EF4-FFF2-40B4-BE49-F238E27FC236}">
                        <a16:creationId xmlns:a16="http://schemas.microsoft.com/office/drawing/2014/main" id="{94E679D8-B2B7-4F8C-49BF-60554A8BE6B7}"/>
                      </a:ext>
                    </a:extLst>
                  </p:cNvPr>
                  <p:cNvSpPr/>
                  <p:nvPr/>
                </p:nvSpPr>
                <p:spPr>
                  <a:xfrm>
                    <a:off x="-8303005" y="4903726"/>
                    <a:ext cx="8400796" cy="12700"/>
                  </a:xfrm>
                  <a:custGeom>
                    <a:avLst/>
                    <a:gdLst>
                      <a:gd name="connsiteX0" fmla="*/ 0 w 8400796"/>
                      <a:gd name="connsiteY0" fmla="*/ 0 h 12700"/>
                      <a:gd name="connsiteX1" fmla="*/ 8400796 w 8400796"/>
                      <a:gd name="connsiteY1" fmla="*/ 0 h 12700"/>
                    </a:gdLst>
                    <a:ahLst/>
                    <a:cxnLst>
                      <a:cxn ang="0">
                        <a:pos x="connsiteX0" y="connsiteY0"/>
                      </a:cxn>
                      <a:cxn ang="0">
                        <a:pos x="connsiteX1" y="connsiteY1"/>
                      </a:cxn>
                    </a:cxnLst>
                    <a:rect l="l" t="t" r="r" b="b"/>
                    <a:pathLst>
                      <a:path w="8400796" h="12700">
                        <a:moveTo>
                          <a:pt x="0" y="0"/>
                        </a:moveTo>
                        <a:lnTo>
                          <a:pt x="8400796" y="0"/>
                        </a:lnTo>
                      </a:path>
                    </a:pathLst>
                  </a:custGeom>
                  <a:noFill/>
                  <a:ln w="10160" cap="sq">
                    <a:solidFill>
                      <a:srgbClr val="B0B0B0"/>
                    </a:solidFill>
                    <a:prstDash val="solid"/>
                    <a:round/>
                  </a:ln>
                </p:spPr>
                <p:txBody>
                  <a:bodyPr rtlCol="0" anchor="ctr"/>
                  <a:lstStyle/>
                  <a:p>
                    <a:endParaRPr lang="en-US"/>
                  </a:p>
                </p:txBody>
              </p:sp>
              <p:sp>
                <p:nvSpPr>
                  <p:cNvPr id="98" name="フリーフォーム: 図形 97">
                    <a:extLst>
                      <a:ext uri="{FF2B5EF4-FFF2-40B4-BE49-F238E27FC236}">
                        <a16:creationId xmlns:a16="http://schemas.microsoft.com/office/drawing/2014/main" id="{A1CB7599-626B-0944-D9CC-C5993FE14E32}"/>
                      </a:ext>
                    </a:extLst>
                  </p:cNvPr>
                  <p:cNvSpPr/>
                  <p:nvPr/>
                </p:nvSpPr>
                <p:spPr>
                  <a:xfrm>
                    <a:off x="-8347456" y="4903727"/>
                    <a:ext cx="44450" cy="12700"/>
                  </a:xfrm>
                  <a:custGeom>
                    <a:avLst/>
                    <a:gdLst>
                      <a:gd name="connsiteX0" fmla="*/ 44498 w 44450"/>
                      <a:gd name="connsiteY0" fmla="*/ 260 h 12700"/>
                      <a:gd name="connsiteX1" fmla="*/ 48 w 44450"/>
                      <a:gd name="connsiteY1" fmla="*/ 260 h 12700"/>
                    </a:gdLst>
                    <a:ahLst/>
                    <a:cxnLst>
                      <a:cxn ang="0">
                        <a:pos x="connsiteX0" y="connsiteY0"/>
                      </a:cxn>
                      <a:cxn ang="0">
                        <a:pos x="connsiteX1" y="connsiteY1"/>
                      </a:cxn>
                    </a:cxnLst>
                    <a:rect l="l" t="t" r="r" b="b"/>
                    <a:pathLst>
                      <a:path w="44450" h="12700">
                        <a:moveTo>
                          <a:pt x="44498" y="260"/>
                        </a:moveTo>
                        <a:lnTo>
                          <a:pt x="48" y="260"/>
                        </a:lnTo>
                      </a:path>
                    </a:pathLst>
                  </a:custGeom>
                  <a:solidFill>
                    <a:srgbClr val="000000"/>
                  </a:solidFill>
                  <a:ln w="10160" cap="flat">
                    <a:solidFill>
                      <a:srgbClr val="000000"/>
                    </a:solidFill>
                    <a:prstDash val="solid"/>
                    <a:round/>
                  </a:ln>
                </p:spPr>
                <p:txBody>
                  <a:bodyPr rtlCol="0" anchor="ctr"/>
                  <a:lstStyle/>
                  <a:p>
                    <a:endParaRPr lang="en-US"/>
                  </a:p>
                </p:txBody>
              </p:sp>
              <p:grpSp>
                <p:nvGrpSpPr>
                  <p:cNvPr id="99" name="グラフィックス 2">
                    <a:extLst>
                      <a:ext uri="{FF2B5EF4-FFF2-40B4-BE49-F238E27FC236}">
                        <a16:creationId xmlns:a16="http://schemas.microsoft.com/office/drawing/2014/main" id="{4A1D72ED-996F-D4B5-4CE6-69BF09A0AF7E}"/>
                      </a:ext>
                    </a:extLst>
                  </p:cNvPr>
                  <p:cNvGrpSpPr/>
                  <p:nvPr/>
                </p:nvGrpSpPr>
                <p:grpSpPr>
                  <a:xfrm>
                    <a:off x="-8585501" y="4857716"/>
                    <a:ext cx="185167" cy="96063"/>
                    <a:chOff x="-8585501" y="4857716"/>
                    <a:chExt cx="185167" cy="96063"/>
                  </a:xfrm>
                  <a:solidFill>
                    <a:srgbClr val="000000"/>
                  </a:solidFill>
                </p:grpSpPr>
                <p:sp>
                  <p:nvSpPr>
                    <p:cNvPr id="100" name="フリーフォーム: 図形 99">
                      <a:extLst>
                        <a:ext uri="{FF2B5EF4-FFF2-40B4-BE49-F238E27FC236}">
                          <a16:creationId xmlns:a16="http://schemas.microsoft.com/office/drawing/2014/main" id="{57921428-ECF2-7976-4850-932D77F3F139}"/>
                        </a:ext>
                      </a:extLst>
                    </p:cNvPr>
                    <p:cNvSpPr/>
                    <p:nvPr/>
                  </p:nvSpPr>
                  <p:spPr>
                    <a:xfrm flipV="1">
                      <a:off x="-8585501" y="4857716"/>
                      <a:ext cx="63996" cy="96063"/>
                    </a:xfrm>
                    <a:custGeom>
                      <a:avLst/>
                      <a:gdLst>
                        <a:gd name="connsiteX0" fmla="*/ 29982 w 63996"/>
                        <a:gd name="connsiteY0" fmla="*/ 84073 h 96063"/>
                        <a:gd name="connsiteX1" fmla="*/ 15436 w 63996"/>
                        <a:gd name="connsiteY1" fmla="*/ 74548 h 96063"/>
                        <a:gd name="connsiteX2" fmla="*/ 10574 w 63996"/>
                        <a:gd name="connsiteY2" fmla="*/ 45933 h 96063"/>
                        <a:gd name="connsiteX3" fmla="*/ 15436 w 63996"/>
                        <a:gd name="connsiteY3" fmla="*/ 17378 h 96063"/>
                        <a:gd name="connsiteX4" fmla="*/ 29982 w 63996"/>
                        <a:gd name="connsiteY4" fmla="*/ 7853 h 96063"/>
                        <a:gd name="connsiteX5" fmla="*/ 44587 w 63996"/>
                        <a:gd name="connsiteY5" fmla="*/ 17378 h 96063"/>
                        <a:gd name="connsiteX6" fmla="*/ 49468 w 63996"/>
                        <a:gd name="connsiteY6" fmla="*/ 45933 h 96063"/>
                        <a:gd name="connsiteX7" fmla="*/ 44587 w 63996"/>
                        <a:gd name="connsiteY7" fmla="*/ 74548 h 96063"/>
                        <a:gd name="connsiteX8" fmla="*/ 29982 w 63996"/>
                        <a:gd name="connsiteY8" fmla="*/ 84073 h 96063"/>
                        <a:gd name="connsiteX9" fmla="*/ 29982 w 63996"/>
                        <a:gd name="connsiteY9" fmla="*/ 93994 h 96063"/>
                        <a:gd name="connsiteX10" fmla="*/ 53774 w 63996"/>
                        <a:gd name="connsiteY10" fmla="*/ 81671 h 96063"/>
                        <a:gd name="connsiteX11" fmla="*/ 61990 w 63996"/>
                        <a:gd name="connsiteY11" fmla="*/ 45933 h 96063"/>
                        <a:gd name="connsiteX12" fmla="*/ 53774 w 63996"/>
                        <a:gd name="connsiteY12" fmla="*/ 10234 h 96063"/>
                        <a:gd name="connsiteX13" fmla="*/ 29982 w 63996"/>
                        <a:gd name="connsiteY13" fmla="*/ -2069 h 96063"/>
                        <a:gd name="connsiteX14" fmla="*/ 6209 w 63996"/>
                        <a:gd name="connsiteY14" fmla="*/ 10234 h 96063"/>
                        <a:gd name="connsiteX15" fmla="*/ -2007 w 63996"/>
                        <a:gd name="connsiteY15" fmla="*/ 45933 h 96063"/>
                        <a:gd name="connsiteX16" fmla="*/ 6209 w 63996"/>
                        <a:gd name="connsiteY16" fmla="*/ 81671 h 96063"/>
                        <a:gd name="connsiteX17" fmla="*/ 29982 w 63996"/>
                        <a:gd name="connsiteY17" fmla="*/ 93994 h 960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3996" h="96063">
                          <a:moveTo>
                            <a:pt x="29982" y="84073"/>
                          </a:moveTo>
                          <a:cubicBezTo>
                            <a:pt x="23539" y="84073"/>
                            <a:pt x="18691" y="80898"/>
                            <a:pt x="15436" y="74548"/>
                          </a:cubicBezTo>
                          <a:cubicBezTo>
                            <a:pt x="12195" y="68211"/>
                            <a:pt x="10574" y="58672"/>
                            <a:pt x="10574" y="45933"/>
                          </a:cubicBezTo>
                          <a:cubicBezTo>
                            <a:pt x="10574" y="33246"/>
                            <a:pt x="12195" y="23728"/>
                            <a:pt x="15436" y="17378"/>
                          </a:cubicBezTo>
                          <a:cubicBezTo>
                            <a:pt x="18691" y="11028"/>
                            <a:pt x="23539" y="7853"/>
                            <a:pt x="29982" y="7853"/>
                          </a:cubicBezTo>
                          <a:cubicBezTo>
                            <a:pt x="36477" y="7853"/>
                            <a:pt x="41346" y="11028"/>
                            <a:pt x="44587" y="17378"/>
                          </a:cubicBezTo>
                          <a:cubicBezTo>
                            <a:pt x="47841" y="23728"/>
                            <a:pt x="49468" y="33246"/>
                            <a:pt x="49468" y="45933"/>
                          </a:cubicBezTo>
                          <a:cubicBezTo>
                            <a:pt x="49468" y="58672"/>
                            <a:pt x="47841" y="68211"/>
                            <a:pt x="44587" y="74548"/>
                          </a:cubicBezTo>
                          <a:cubicBezTo>
                            <a:pt x="41346" y="80898"/>
                            <a:pt x="36477" y="84073"/>
                            <a:pt x="29982" y="84073"/>
                          </a:cubicBezTo>
                          <a:close/>
                          <a:moveTo>
                            <a:pt x="29982" y="93994"/>
                          </a:moveTo>
                          <a:cubicBezTo>
                            <a:pt x="40366" y="93994"/>
                            <a:pt x="48297" y="89887"/>
                            <a:pt x="53774" y="81671"/>
                          </a:cubicBezTo>
                          <a:cubicBezTo>
                            <a:pt x="59251" y="73469"/>
                            <a:pt x="61990" y="61556"/>
                            <a:pt x="61990" y="45933"/>
                          </a:cubicBezTo>
                          <a:cubicBezTo>
                            <a:pt x="61990" y="30349"/>
                            <a:pt x="59251" y="18449"/>
                            <a:pt x="53774" y="10234"/>
                          </a:cubicBezTo>
                          <a:cubicBezTo>
                            <a:pt x="48297" y="2032"/>
                            <a:pt x="40366" y="-2069"/>
                            <a:pt x="29982" y="-2069"/>
                          </a:cubicBezTo>
                          <a:cubicBezTo>
                            <a:pt x="19610" y="-2069"/>
                            <a:pt x="11686" y="2032"/>
                            <a:pt x="6209" y="10234"/>
                          </a:cubicBezTo>
                          <a:cubicBezTo>
                            <a:pt x="732" y="18449"/>
                            <a:pt x="-2007" y="30349"/>
                            <a:pt x="-2007" y="45933"/>
                          </a:cubicBezTo>
                          <a:cubicBezTo>
                            <a:pt x="-2007" y="61556"/>
                            <a:pt x="732" y="73469"/>
                            <a:pt x="6209" y="81671"/>
                          </a:cubicBezTo>
                          <a:cubicBezTo>
                            <a:pt x="11686" y="89887"/>
                            <a:pt x="19610" y="93994"/>
                            <a:pt x="29982" y="93994"/>
                          </a:cubicBezTo>
                          <a:close/>
                        </a:path>
                      </a:pathLst>
                    </a:custGeom>
                    <a:solidFill>
                      <a:srgbClr val="000000"/>
                    </a:solidFill>
                    <a:ln w="20" cap="flat">
                      <a:noFill/>
                      <a:prstDash val="solid"/>
                      <a:round/>
                    </a:ln>
                  </p:spPr>
                  <p:txBody>
                    <a:bodyPr rtlCol="0" anchor="ctr"/>
                    <a:lstStyle/>
                    <a:p>
                      <a:endParaRPr lang="en-US"/>
                    </a:p>
                  </p:txBody>
                </p:sp>
                <p:sp>
                  <p:nvSpPr>
                    <p:cNvPr id="101" name="フリーフォーム: 図形 100">
                      <a:extLst>
                        <a:ext uri="{FF2B5EF4-FFF2-40B4-BE49-F238E27FC236}">
                          <a16:creationId xmlns:a16="http://schemas.microsoft.com/office/drawing/2014/main" id="{467CADA0-FEE4-9134-4D4D-9AF9C1858C18}"/>
                        </a:ext>
                      </a:extLst>
                    </p:cNvPr>
                    <p:cNvSpPr/>
                    <p:nvPr/>
                  </p:nvSpPr>
                  <p:spPr>
                    <a:xfrm flipV="1">
                      <a:off x="-8499501" y="4936218"/>
                      <a:ext cx="13096" cy="15755"/>
                    </a:xfrm>
                    <a:custGeom>
                      <a:avLst/>
                      <a:gdLst>
                        <a:gd name="connsiteX0" fmla="*/ -981 w 13096"/>
                        <a:gd name="connsiteY0" fmla="*/ 15622 h 15755"/>
                        <a:gd name="connsiteX1" fmla="*/ 12116 w 13096"/>
                        <a:gd name="connsiteY1" fmla="*/ 15622 h 15755"/>
                        <a:gd name="connsiteX2" fmla="*/ 12116 w 13096"/>
                        <a:gd name="connsiteY2" fmla="*/ -134 h 15755"/>
                        <a:gd name="connsiteX3" fmla="*/ -981 w 13096"/>
                        <a:gd name="connsiteY3" fmla="*/ -134 h 15755"/>
                        <a:gd name="connsiteX4" fmla="*/ -981 w 13096"/>
                        <a:gd name="connsiteY4" fmla="*/ 15622 h 157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096" h="15755">
                          <a:moveTo>
                            <a:pt x="-981" y="15622"/>
                          </a:moveTo>
                          <a:lnTo>
                            <a:pt x="12116" y="15622"/>
                          </a:lnTo>
                          <a:lnTo>
                            <a:pt x="12116" y="-134"/>
                          </a:lnTo>
                          <a:lnTo>
                            <a:pt x="-981" y="-134"/>
                          </a:lnTo>
                          <a:lnTo>
                            <a:pt x="-981" y="15622"/>
                          </a:lnTo>
                          <a:close/>
                        </a:path>
                      </a:pathLst>
                    </a:custGeom>
                    <a:solidFill>
                      <a:srgbClr val="000000"/>
                    </a:solidFill>
                    <a:ln w="20" cap="flat">
                      <a:noFill/>
                      <a:prstDash val="solid"/>
                      <a:round/>
                    </a:ln>
                  </p:spPr>
                  <p:txBody>
                    <a:bodyPr rtlCol="0" anchor="ctr"/>
                    <a:lstStyle/>
                    <a:p>
                      <a:endParaRPr lang="en-US"/>
                    </a:p>
                  </p:txBody>
                </p:sp>
                <p:sp>
                  <p:nvSpPr>
                    <p:cNvPr id="102" name="フリーフォーム: 図形 101">
                      <a:extLst>
                        <a:ext uri="{FF2B5EF4-FFF2-40B4-BE49-F238E27FC236}">
                          <a16:creationId xmlns:a16="http://schemas.microsoft.com/office/drawing/2014/main" id="{8D2924F6-02A6-C5AA-280A-1B054C185428}"/>
                        </a:ext>
                      </a:extLst>
                    </p:cNvPr>
                    <p:cNvSpPr/>
                    <p:nvPr/>
                  </p:nvSpPr>
                  <p:spPr>
                    <a:xfrm flipV="1">
                      <a:off x="-8464330" y="4857716"/>
                      <a:ext cx="63996" cy="96063"/>
                    </a:xfrm>
                    <a:custGeom>
                      <a:avLst/>
                      <a:gdLst>
                        <a:gd name="connsiteX0" fmla="*/ 29991 w 63996"/>
                        <a:gd name="connsiteY0" fmla="*/ 84073 h 96063"/>
                        <a:gd name="connsiteX1" fmla="*/ 15446 w 63996"/>
                        <a:gd name="connsiteY1" fmla="*/ 74548 h 96063"/>
                        <a:gd name="connsiteX2" fmla="*/ 10584 w 63996"/>
                        <a:gd name="connsiteY2" fmla="*/ 45933 h 96063"/>
                        <a:gd name="connsiteX3" fmla="*/ 15446 w 63996"/>
                        <a:gd name="connsiteY3" fmla="*/ 17378 h 96063"/>
                        <a:gd name="connsiteX4" fmla="*/ 29991 w 63996"/>
                        <a:gd name="connsiteY4" fmla="*/ 7853 h 96063"/>
                        <a:gd name="connsiteX5" fmla="*/ 44596 w 63996"/>
                        <a:gd name="connsiteY5" fmla="*/ 17378 h 96063"/>
                        <a:gd name="connsiteX6" fmla="*/ 49478 w 63996"/>
                        <a:gd name="connsiteY6" fmla="*/ 45933 h 96063"/>
                        <a:gd name="connsiteX7" fmla="*/ 44596 w 63996"/>
                        <a:gd name="connsiteY7" fmla="*/ 74548 h 96063"/>
                        <a:gd name="connsiteX8" fmla="*/ 29991 w 63996"/>
                        <a:gd name="connsiteY8" fmla="*/ 84073 h 96063"/>
                        <a:gd name="connsiteX9" fmla="*/ 29991 w 63996"/>
                        <a:gd name="connsiteY9" fmla="*/ 93994 h 96063"/>
                        <a:gd name="connsiteX10" fmla="*/ 53784 w 63996"/>
                        <a:gd name="connsiteY10" fmla="*/ 81671 h 96063"/>
                        <a:gd name="connsiteX11" fmla="*/ 61999 w 63996"/>
                        <a:gd name="connsiteY11" fmla="*/ 45933 h 96063"/>
                        <a:gd name="connsiteX12" fmla="*/ 53784 w 63996"/>
                        <a:gd name="connsiteY12" fmla="*/ 10234 h 96063"/>
                        <a:gd name="connsiteX13" fmla="*/ 29991 w 63996"/>
                        <a:gd name="connsiteY13" fmla="*/ -2069 h 96063"/>
                        <a:gd name="connsiteX14" fmla="*/ 6218 w 63996"/>
                        <a:gd name="connsiteY14" fmla="*/ 10234 h 96063"/>
                        <a:gd name="connsiteX15" fmla="*/ -1997 w 63996"/>
                        <a:gd name="connsiteY15" fmla="*/ 45933 h 96063"/>
                        <a:gd name="connsiteX16" fmla="*/ 6218 w 63996"/>
                        <a:gd name="connsiteY16" fmla="*/ 81671 h 96063"/>
                        <a:gd name="connsiteX17" fmla="*/ 29991 w 63996"/>
                        <a:gd name="connsiteY17" fmla="*/ 93994 h 960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3996" h="96063">
                          <a:moveTo>
                            <a:pt x="29991" y="84073"/>
                          </a:moveTo>
                          <a:cubicBezTo>
                            <a:pt x="23548" y="84073"/>
                            <a:pt x="18700" y="80898"/>
                            <a:pt x="15446" y="74548"/>
                          </a:cubicBezTo>
                          <a:cubicBezTo>
                            <a:pt x="12205" y="68211"/>
                            <a:pt x="10584" y="58672"/>
                            <a:pt x="10584" y="45933"/>
                          </a:cubicBezTo>
                          <a:cubicBezTo>
                            <a:pt x="10584" y="33246"/>
                            <a:pt x="12205" y="23728"/>
                            <a:pt x="15446" y="17378"/>
                          </a:cubicBezTo>
                          <a:cubicBezTo>
                            <a:pt x="18700" y="11028"/>
                            <a:pt x="23548" y="7853"/>
                            <a:pt x="29991" y="7853"/>
                          </a:cubicBezTo>
                          <a:cubicBezTo>
                            <a:pt x="36487" y="7853"/>
                            <a:pt x="41355" y="11028"/>
                            <a:pt x="44596" y="17378"/>
                          </a:cubicBezTo>
                          <a:cubicBezTo>
                            <a:pt x="47851" y="23728"/>
                            <a:pt x="49478" y="33246"/>
                            <a:pt x="49478" y="45933"/>
                          </a:cubicBezTo>
                          <a:cubicBezTo>
                            <a:pt x="49478" y="58672"/>
                            <a:pt x="47851" y="68211"/>
                            <a:pt x="44596" y="74548"/>
                          </a:cubicBezTo>
                          <a:cubicBezTo>
                            <a:pt x="41355" y="80898"/>
                            <a:pt x="36487" y="84073"/>
                            <a:pt x="29991" y="84073"/>
                          </a:cubicBezTo>
                          <a:close/>
                          <a:moveTo>
                            <a:pt x="29991" y="93994"/>
                          </a:moveTo>
                          <a:cubicBezTo>
                            <a:pt x="40376" y="93994"/>
                            <a:pt x="48307" y="89887"/>
                            <a:pt x="53784" y="81671"/>
                          </a:cubicBezTo>
                          <a:cubicBezTo>
                            <a:pt x="59261" y="73469"/>
                            <a:pt x="61999" y="61556"/>
                            <a:pt x="61999" y="45933"/>
                          </a:cubicBezTo>
                          <a:cubicBezTo>
                            <a:pt x="61999" y="30349"/>
                            <a:pt x="59261" y="18449"/>
                            <a:pt x="53784" y="10234"/>
                          </a:cubicBezTo>
                          <a:cubicBezTo>
                            <a:pt x="48307" y="2032"/>
                            <a:pt x="40376" y="-2069"/>
                            <a:pt x="29991" y="-2069"/>
                          </a:cubicBezTo>
                          <a:cubicBezTo>
                            <a:pt x="19619" y="-2069"/>
                            <a:pt x="11695" y="2032"/>
                            <a:pt x="6218" y="10234"/>
                          </a:cubicBezTo>
                          <a:cubicBezTo>
                            <a:pt x="741" y="18449"/>
                            <a:pt x="-1997" y="30349"/>
                            <a:pt x="-1997" y="45933"/>
                          </a:cubicBezTo>
                          <a:cubicBezTo>
                            <a:pt x="-1997" y="61556"/>
                            <a:pt x="741" y="73469"/>
                            <a:pt x="6218" y="81671"/>
                          </a:cubicBezTo>
                          <a:cubicBezTo>
                            <a:pt x="11695" y="89887"/>
                            <a:pt x="19619" y="93994"/>
                            <a:pt x="29991" y="93994"/>
                          </a:cubicBezTo>
                          <a:close/>
                        </a:path>
                      </a:pathLst>
                    </a:custGeom>
                    <a:solidFill>
                      <a:srgbClr val="000000"/>
                    </a:solidFill>
                    <a:ln w="20" cap="flat">
                      <a:noFill/>
                      <a:prstDash val="solid"/>
                      <a:round/>
                    </a:ln>
                  </p:spPr>
                  <p:txBody>
                    <a:bodyPr rtlCol="0" anchor="ctr"/>
                    <a:lstStyle/>
                    <a:p>
                      <a:endParaRPr lang="en-US"/>
                    </a:p>
                  </p:txBody>
                </p:sp>
              </p:grpSp>
            </p:grpSp>
            <p:grpSp>
              <p:nvGrpSpPr>
                <p:cNvPr id="103" name="グラフィックス 2">
                  <a:extLst>
                    <a:ext uri="{FF2B5EF4-FFF2-40B4-BE49-F238E27FC236}">
                      <a16:creationId xmlns:a16="http://schemas.microsoft.com/office/drawing/2014/main" id="{97C3D634-4E29-0C91-0B6A-B17C89471B31}"/>
                    </a:ext>
                  </a:extLst>
                </p:cNvPr>
                <p:cNvGrpSpPr/>
                <p:nvPr/>
              </p:nvGrpSpPr>
              <p:grpSpPr>
                <a:xfrm>
                  <a:off x="-8585501" y="4265286"/>
                  <a:ext cx="8683291" cy="96063"/>
                  <a:chOff x="-8585501" y="4265286"/>
                  <a:chExt cx="8683291" cy="96063"/>
                </a:xfrm>
              </p:grpSpPr>
              <p:sp>
                <p:nvSpPr>
                  <p:cNvPr id="104" name="フリーフォーム: 図形 103">
                    <a:extLst>
                      <a:ext uri="{FF2B5EF4-FFF2-40B4-BE49-F238E27FC236}">
                        <a16:creationId xmlns:a16="http://schemas.microsoft.com/office/drawing/2014/main" id="{CAEB583A-0B67-7851-CAF0-6227F5BFF1EE}"/>
                      </a:ext>
                    </a:extLst>
                  </p:cNvPr>
                  <p:cNvSpPr/>
                  <p:nvPr/>
                </p:nvSpPr>
                <p:spPr>
                  <a:xfrm>
                    <a:off x="-8303005" y="4311297"/>
                    <a:ext cx="8400796" cy="12700"/>
                  </a:xfrm>
                  <a:custGeom>
                    <a:avLst/>
                    <a:gdLst>
                      <a:gd name="connsiteX0" fmla="*/ 0 w 8400796"/>
                      <a:gd name="connsiteY0" fmla="*/ 0 h 12700"/>
                      <a:gd name="connsiteX1" fmla="*/ 8400796 w 8400796"/>
                      <a:gd name="connsiteY1" fmla="*/ 0 h 12700"/>
                    </a:gdLst>
                    <a:ahLst/>
                    <a:cxnLst>
                      <a:cxn ang="0">
                        <a:pos x="connsiteX0" y="connsiteY0"/>
                      </a:cxn>
                      <a:cxn ang="0">
                        <a:pos x="connsiteX1" y="connsiteY1"/>
                      </a:cxn>
                    </a:cxnLst>
                    <a:rect l="l" t="t" r="r" b="b"/>
                    <a:pathLst>
                      <a:path w="8400796" h="12700">
                        <a:moveTo>
                          <a:pt x="0" y="0"/>
                        </a:moveTo>
                        <a:lnTo>
                          <a:pt x="8400796" y="0"/>
                        </a:lnTo>
                      </a:path>
                    </a:pathLst>
                  </a:custGeom>
                  <a:noFill/>
                  <a:ln w="10160" cap="sq">
                    <a:solidFill>
                      <a:srgbClr val="B0B0B0"/>
                    </a:solidFill>
                    <a:prstDash val="solid"/>
                    <a:round/>
                  </a:ln>
                </p:spPr>
                <p:txBody>
                  <a:bodyPr rtlCol="0" anchor="ctr"/>
                  <a:lstStyle/>
                  <a:p>
                    <a:endParaRPr lang="en-US"/>
                  </a:p>
                </p:txBody>
              </p:sp>
              <p:sp>
                <p:nvSpPr>
                  <p:cNvPr id="105" name="フリーフォーム: 図形 104">
                    <a:extLst>
                      <a:ext uri="{FF2B5EF4-FFF2-40B4-BE49-F238E27FC236}">
                        <a16:creationId xmlns:a16="http://schemas.microsoft.com/office/drawing/2014/main" id="{FF92E3C7-FBC7-1AB5-85D4-C18C4E4FD758}"/>
                      </a:ext>
                    </a:extLst>
                  </p:cNvPr>
                  <p:cNvSpPr/>
                  <p:nvPr/>
                </p:nvSpPr>
                <p:spPr>
                  <a:xfrm>
                    <a:off x="-8347456" y="4311297"/>
                    <a:ext cx="44450" cy="12700"/>
                  </a:xfrm>
                  <a:custGeom>
                    <a:avLst/>
                    <a:gdLst>
                      <a:gd name="connsiteX0" fmla="*/ 44498 w 44450"/>
                      <a:gd name="connsiteY0" fmla="*/ 213 h 12700"/>
                      <a:gd name="connsiteX1" fmla="*/ 48 w 44450"/>
                      <a:gd name="connsiteY1" fmla="*/ 213 h 12700"/>
                    </a:gdLst>
                    <a:ahLst/>
                    <a:cxnLst>
                      <a:cxn ang="0">
                        <a:pos x="connsiteX0" y="connsiteY0"/>
                      </a:cxn>
                      <a:cxn ang="0">
                        <a:pos x="connsiteX1" y="connsiteY1"/>
                      </a:cxn>
                    </a:cxnLst>
                    <a:rect l="l" t="t" r="r" b="b"/>
                    <a:pathLst>
                      <a:path w="44450" h="12700">
                        <a:moveTo>
                          <a:pt x="44498" y="213"/>
                        </a:moveTo>
                        <a:lnTo>
                          <a:pt x="48" y="213"/>
                        </a:lnTo>
                      </a:path>
                    </a:pathLst>
                  </a:custGeom>
                  <a:solidFill>
                    <a:srgbClr val="000000"/>
                  </a:solidFill>
                  <a:ln w="10160" cap="flat">
                    <a:solidFill>
                      <a:srgbClr val="000000"/>
                    </a:solidFill>
                    <a:prstDash val="solid"/>
                    <a:round/>
                  </a:ln>
                </p:spPr>
                <p:txBody>
                  <a:bodyPr rtlCol="0" anchor="ctr"/>
                  <a:lstStyle/>
                  <a:p>
                    <a:endParaRPr lang="en-US"/>
                  </a:p>
                </p:txBody>
              </p:sp>
              <p:grpSp>
                <p:nvGrpSpPr>
                  <p:cNvPr id="106" name="グラフィックス 2">
                    <a:extLst>
                      <a:ext uri="{FF2B5EF4-FFF2-40B4-BE49-F238E27FC236}">
                        <a16:creationId xmlns:a16="http://schemas.microsoft.com/office/drawing/2014/main" id="{3C4A4E2A-3F4B-1711-AB63-5F3CBA57D4EC}"/>
                      </a:ext>
                    </a:extLst>
                  </p:cNvPr>
                  <p:cNvGrpSpPr/>
                  <p:nvPr/>
                </p:nvGrpSpPr>
                <p:grpSpPr>
                  <a:xfrm>
                    <a:off x="-8585501" y="4265286"/>
                    <a:ext cx="180880" cy="96063"/>
                    <a:chOff x="-8585501" y="4265286"/>
                    <a:chExt cx="180880" cy="96063"/>
                  </a:xfrm>
                  <a:solidFill>
                    <a:srgbClr val="000000"/>
                  </a:solidFill>
                </p:grpSpPr>
                <p:sp>
                  <p:nvSpPr>
                    <p:cNvPr id="107" name="フリーフォーム: 図形 106">
                      <a:extLst>
                        <a:ext uri="{FF2B5EF4-FFF2-40B4-BE49-F238E27FC236}">
                          <a16:creationId xmlns:a16="http://schemas.microsoft.com/office/drawing/2014/main" id="{E2C21C84-C7CB-825C-145B-E7300A199B3D}"/>
                        </a:ext>
                      </a:extLst>
                    </p:cNvPr>
                    <p:cNvSpPr/>
                    <p:nvPr/>
                  </p:nvSpPr>
                  <p:spPr>
                    <a:xfrm flipV="1">
                      <a:off x="-8585501" y="4265286"/>
                      <a:ext cx="63996" cy="96063"/>
                    </a:xfrm>
                    <a:custGeom>
                      <a:avLst/>
                      <a:gdLst>
                        <a:gd name="connsiteX0" fmla="*/ 29982 w 63996"/>
                        <a:gd name="connsiteY0" fmla="*/ 84026 h 96063"/>
                        <a:gd name="connsiteX1" fmla="*/ 15436 w 63996"/>
                        <a:gd name="connsiteY1" fmla="*/ 74501 h 96063"/>
                        <a:gd name="connsiteX2" fmla="*/ 10574 w 63996"/>
                        <a:gd name="connsiteY2" fmla="*/ 45886 h 96063"/>
                        <a:gd name="connsiteX3" fmla="*/ 15436 w 63996"/>
                        <a:gd name="connsiteY3" fmla="*/ 17331 h 96063"/>
                        <a:gd name="connsiteX4" fmla="*/ 29982 w 63996"/>
                        <a:gd name="connsiteY4" fmla="*/ 7806 h 96063"/>
                        <a:gd name="connsiteX5" fmla="*/ 44587 w 63996"/>
                        <a:gd name="connsiteY5" fmla="*/ 17331 h 96063"/>
                        <a:gd name="connsiteX6" fmla="*/ 49468 w 63996"/>
                        <a:gd name="connsiteY6" fmla="*/ 45886 h 96063"/>
                        <a:gd name="connsiteX7" fmla="*/ 44587 w 63996"/>
                        <a:gd name="connsiteY7" fmla="*/ 74501 h 96063"/>
                        <a:gd name="connsiteX8" fmla="*/ 29982 w 63996"/>
                        <a:gd name="connsiteY8" fmla="*/ 84026 h 96063"/>
                        <a:gd name="connsiteX9" fmla="*/ 29982 w 63996"/>
                        <a:gd name="connsiteY9" fmla="*/ 93948 h 96063"/>
                        <a:gd name="connsiteX10" fmla="*/ 53774 w 63996"/>
                        <a:gd name="connsiteY10" fmla="*/ 81625 h 96063"/>
                        <a:gd name="connsiteX11" fmla="*/ 61990 w 63996"/>
                        <a:gd name="connsiteY11" fmla="*/ 45886 h 96063"/>
                        <a:gd name="connsiteX12" fmla="*/ 53774 w 63996"/>
                        <a:gd name="connsiteY12" fmla="*/ 10187 h 96063"/>
                        <a:gd name="connsiteX13" fmla="*/ 29982 w 63996"/>
                        <a:gd name="connsiteY13" fmla="*/ -2116 h 96063"/>
                        <a:gd name="connsiteX14" fmla="*/ 6209 w 63996"/>
                        <a:gd name="connsiteY14" fmla="*/ 10187 h 96063"/>
                        <a:gd name="connsiteX15" fmla="*/ -2007 w 63996"/>
                        <a:gd name="connsiteY15" fmla="*/ 45886 h 96063"/>
                        <a:gd name="connsiteX16" fmla="*/ 6209 w 63996"/>
                        <a:gd name="connsiteY16" fmla="*/ 81625 h 96063"/>
                        <a:gd name="connsiteX17" fmla="*/ 29982 w 63996"/>
                        <a:gd name="connsiteY17" fmla="*/ 93948 h 960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3996" h="96063">
                          <a:moveTo>
                            <a:pt x="29982" y="84026"/>
                          </a:moveTo>
                          <a:cubicBezTo>
                            <a:pt x="23539" y="84026"/>
                            <a:pt x="18691" y="80851"/>
                            <a:pt x="15436" y="74501"/>
                          </a:cubicBezTo>
                          <a:cubicBezTo>
                            <a:pt x="12195" y="68164"/>
                            <a:pt x="10574" y="58626"/>
                            <a:pt x="10574" y="45886"/>
                          </a:cubicBezTo>
                          <a:cubicBezTo>
                            <a:pt x="10574" y="33199"/>
                            <a:pt x="12195" y="23681"/>
                            <a:pt x="15436" y="17331"/>
                          </a:cubicBezTo>
                          <a:cubicBezTo>
                            <a:pt x="18691" y="10981"/>
                            <a:pt x="23539" y="7806"/>
                            <a:pt x="29982" y="7806"/>
                          </a:cubicBezTo>
                          <a:cubicBezTo>
                            <a:pt x="36477" y="7806"/>
                            <a:pt x="41346" y="10981"/>
                            <a:pt x="44587" y="17331"/>
                          </a:cubicBezTo>
                          <a:cubicBezTo>
                            <a:pt x="47841" y="23681"/>
                            <a:pt x="49468" y="33199"/>
                            <a:pt x="49468" y="45886"/>
                          </a:cubicBezTo>
                          <a:cubicBezTo>
                            <a:pt x="49468" y="58626"/>
                            <a:pt x="47841" y="68164"/>
                            <a:pt x="44587" y="74501"/>
                          </a:cubicBezTo>
                          <a:cubicBezTo>
                            <a:pt x="41346" y="80851"/>
                            <a:pt x="36477" y="84026"/>
                            <a:pt x="29982" y="84026"/>
                          </a:cubicBezTo>
                          <a:close/>
                          <a:moveTo>
                            <a:pt x="29982" y="93948"/>
                          </a:moveTo>
                          <a:cubicBezTo>
                            <a:pt x="40366" y="93948"/>
                            <a:pt x="48297" y="89840"/>
                            <a:pt x="53774" y="81625"/>
                          </a:cubicBezTo>
                          <a:cubicBezTo>
                            <a:pt x="59251" y="73423"/>
                            <a:pt x="61990" y="61510"/>
                            <a:pt x="61990" y="45886"/>
                          </a:cubicBezTo>
                          <a:cubicBezTo>
                            <a:pt x="61990" y="30302"/>
                            <a:pt x="59251" y="18403"/>
                            <a:pt x="53774" y="10187"/>
                          </a:cubicBezTo>
                          <a:cubicBezTo>
                            <a:pt x="48297" y="1985"/>
                            <a:pt x="40366" y="-2116"/>
                            <a:pt x="29982" y="-2116"/>
                          </a:cubicBezTo>
                          <a:cubicBezTo>
                            <a:pt x="19610" y="-2116"/>
                            <a:pt x="11686" y="1985"/>
                            <a:pt x="6209" y="10187"/>
                          </a:cubicBezTo>
                          <a:cubicBezTo>
                            <a:pt x="732" y="18403"/>
                            <a:pt x="-2007" y="30302"/>
                            <a:pt x="-2007" y="45886"/>
                          </a:cubicBezTo>
                          <a:cubicBezTo>
                            <a:pt x="-2007" y="61510"/>
                            <a:pt x="732" y="73423"/>
                            <a:pt x="6209" y="81625"/>
                          </a:cubicBezTo>
                          <a:cubicBezTo>
                            <a:pt x="11686" y="89840"/>
                            <a:pt x="19610" y="93948"/>
                            <a:pt x="29982" y="93948"/>
                          </a:cubicBezTo>
                          <a:close/>
                        </a:path>
                      </a:pathLst>
                    </a:custGeom>
                    <a:solidFill>
                      <a:srgbClr val="000000"/>
                    </a:solidFill>
                    <a:ln w="20" cap="flat">
                      <a:noFill/>
                      <a:prstDash val="solid"/>
                      <a:round/>
                    </a:ln>
                  </p:spPr>
                  <p:txBody>
                    <a:bodyPr rtlCol="0" anchor="ctr"/>
                    <a:lstStyle/>
                    <a:p>
                      <a:endParaRPr lang="en-US"/>
                    </a:p>
                  </p:txBody>
                </p:sp>
                <p:sp>
                  <p:nvSpPr>
                    <p:cNvPr id="108" name="フリーフォーム: 図形 107">
                      <a:extLst>
                        <a:ext uri="{FF2B5EF4-FFF2-40B4-BE49-F238E27FC236}">
                          <a16:creationId xmlns:a16="http://schemas.microsoft.com/office/drawing/2014/main" id="{DF8452C8-FA6C-615B-EC5A-D22088A2D69D}"/>
                        </a:ext>
                      </a:extLst>
                    </p:cNvPr>
                    <p:cNvSpPr/>
                    <p:nvPr/>
                  </p:nvSpPr>
                  <p:spPr>
                    <a:xfrm flipV="1">
                      <a:off x="-8499501" y="4343788"/>
                      <a:ext cx="13096" cy="15755"/>
                    </a:xfrm>
                    <a:custGeom>
                      <a:avLst/>
                      <a:gdLst>
                        <a:gd name="connsiteX0" fmla="*/ -981 w 13096"/>
                        <a:gd name="connsiteY0" fmla="*/ 15576 h 15755"/>
                        <a:gd name="connsiteX1" fmla="*/ 12116 w 13096"/>
                        <a:gd name="connsiteY1" fmla="*/ 15576 h 15755"/>
                        <a:gd name="connsiteX2" fmla="*/ 12116 w 13096"/>
                        <a:gd name="connsiteY2" fmla="*/ -180 h 15755"/>
                        <a:gd name="connsiteX3" fmla="*/ -981 w 13096"/>
                        <a:gd name="connsiteY3" fmla="*/ -180 h 15755"/>
                        <a:gd name="connsiteX4" fmla="*/ -981 w 13096"/>
                        <a:gd name="connsiteY4" fmla="*/ 15576 h 157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096" h="15755">
                          <a:moveTo>
                            <a:pt x="-981" y="15576"/>
                          </a:moveTo>
                          <a:lnTo>
                            <a:pt x="12116" y="15576"/>
                          </a:lnTo>
                          <a:lnTo>
                            <a:pt x="12116" y="-180"/>
                          </a:lnTo>
                          <a:lnTo>
                            <a:pt x="-981" y="-180"/>
                          </a:lnTo>
                          <a:lnTo>
                            <a:pt x="-981" y="15576"/>
                          </a:lnTo>
                          <a:close/>
                        </a:path>
                      </a:pathLst>
                    </a:custGeom>
                    <a:solidFill>
                      <a:srgbClr val="000000"/>
                    </a:solidFill>
                    <a:ln w="20" cap="flat">
                      <a:noFill/>
                      <a:prstDash val="solid"/>
                      <a:round/>
                    </a:ln>
                  </p:spPr>
                  <p:txBody>
                    <a:bodyPr rtlCol="0" anchor="ctr"/>
                    <a:lstStyle/>
                    <a:p>
                      <a:endParaRPr lang="en-US"/>
                    </a:p>
                  </p:txBody>
                </p:sp>
                <p:sp>
                  <p:nvSpPr>
                    <p:cNvPr id="109" name="フリーフォーム: 図形 108">
                      <a:extLst>
                        <a:ext uri="{FF2B5EF4-FFF2-40B4-BE49-F238E27FC236}">
                          <a16:creationId xmlns:a16="http://schemas.microsoft.com/office/drawing/2014/main" id="{BFBCE946-8CD5-2D2D-A8E1-B2AF7858312E}"/>
                        </a:ext>
                      </a:extLst>
                    </p:cNvPr>
                    <p:cNvSpPr/>
                    <p:nvPr/>
                  </p:nvSpPr>
                  <p:spPr>
                    <a:xfrm flipV="1">
                      <a:off x="-8463397" y="4265286"/>
                      <a:ext cx="58777" cy="94257"/>
                    </a:xfrm>
                    <a:custGeom>
                      <a:avLst/>
                      <a:gdLst>
                        <a:gd name="connsiteX0" fmla="*/ 13149 w 58777"/>
                        <a:gd name="connsiteY0" fmla="*/ 8376 h 94257"/>
                        <a:gd name="connsiteX1" fmla="*/ 56865 w 58777"/>
                        <a:gd name="connsiteY1" fmla="*/ 8376 h 94257"/>
                        <a:gd name="connsiteX2" fmla="*/ 56865 w 58777"/>
                        <a:gd name="connsiteY2" fmla="*/ -2161 h 94257"/>
                        <a:gd name="connsiteX3" fmla="*/ -1913 w 58777"/>
                        <a:gd name="connsiteY3" fmla="*/ -2161 h 94257"/>
                        <a:gd name="connsiteX4" fmla="*/ -1913 w 58777"/>
                        <a:gd name="connsiteY4" fmla="*/ 8376 h 94257"/>
                        <a:gd name="connsiteX5" fmla="*/ 17514 w 58777"/>
                        <a:gd name="connsiteY5" fmla="*/ 28180 h 94257"/>
                        <a:gd name="connsiteX6" fmla="*/ 32993 w 58777"/>
                        <a:gd name="connsiteY6" fmla="*/ 44233 h 94257"/>
                        <a:gd name="connsiteX7" fmla="*/ 41386 w 58777"/>
                        <a:gd name="connsiteY7" fmla="*/ 55663 h 94257"/>
                        <a:gd name="connsiteX8" fmla="*/ 43788 w 58777"/>
                        <a:gd name="connsiteY8" fmla="*/ 64871 h 94257"/>
                        <a:gd name="connsiteX9" fmla="*/ 38608 w 58777"/>
                        <a:gd name="connsiteY9" fmla="*/ 76896 h 94257"/>
                        <a:gd name="connsiteX10" fmla="*/ 25115 w 58777"/>
                        <a:gd name="connsiteY10" fmla="*/ 81559 h 94257"/>
                        <a:gd name="connsiteX11" fmla="*/ 12673 w 58777"/>
                        <a:gd name="connsiteY11" fmla="*/ 79515 h 94257"/>
                        <a:gd name="connsiteX12" fmla="*/ -1297 w 58777"/>
                        <a:gd name="connsiteY12" fmla="*/ 73304 h 94257"/>
                        <a:gd name="connsiteX13" fmla="*/ -1297 w 58777"/>
                        <a:gd name="connsiteY13" fmla="*/ 85965 h 94257"/>
                        <a:gd name="connsiteX14" fmla="*/ 12831 w 58777"/>
                        <a:gd name="connsiteY14" fmla="*/ 90549 h 94257"/>
                        <a:gd name="connsiteX15" fmla="*/ 24876 w 58777"/>
                        <a:gd name="connsiteY15" fmla="*/ 92096 h 94257"/>
                        <a:gd name="connsiteX16" fmla="*/ 47816 w 58777"/>
                        <a:gd name="connsiteY16" fmla="*/ 84893 h 94257"/>
                        <a:gd name="connsiteX17" fmla="*/ 56369 w 58777"/>
                        <a:gd name="connsiteY17" fmla="*/ 65684 h 94257"/>
                        <a:gd name="connsiteX18" fmla="*/ 54225 w 58777"/>
                        <a:gd name="connsiteY18" fmla="*/ 54850 h 94257"/>
                        <a:gd name="connsiteX19" fmla="*/ 46447 w 58777"/>
                        <a:gd name="connsiteY19" fmla="*/ 42804 h 94257"/>
                        <a:gd name="connsiteX20" fmla="*/ 36584 w 58777"/>
                        <a:gd name="connsiteY20" fmla="*/ 32406 h 94257"/>
                        <a:gd name="connsiteX21" fmla="*/ 13149 w 58777"/>
                        <a:gd name="connsiteY21" fmla="*/ 8376 h 942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8777" h="94257">
                          <a:moveTo>
                            <a:pt x="13149" y="8376"/>
                          </a:moveTo>
                          <a:lnTo>
                            <a:pt x="56865" y="8376"/>
                          </a:lnTo>
                          <a:lnTo>
                            <a:pt x="56865" y="-2161"/>
                          </a:lnTo>
                          <a:lnTo>
                            <a:pt x="-1913" y="-2161"/>
                          </a:lnTo>
                          <a:lnTo>
                            <a:pt x="-1913" y="8376"/>
                          </a:lnTo>
                          <a:cubicBezTo>
                            <a:pt x="2837" y="13297"/>
                            <a:pt x="9312" y="19898"/>
                            <a:pt x="17514" y="28180"/>
                          </a:cubicBezTo>
                          <a:cubicBezTo>
                            <a:pt x="25730" y="36474"/>
                            <a:pt x="30889" y="41826"/>
                            <a:pt x="32993" y="44233"/>
                          </a:cubicBezTo>
                          <a:cubicBezTo>
                            <a:pt x="37001" y="48731"/>
                            <a:pt x="39799" y="52541"/>
                            <a:pt x="41386" y="55663"/>
                          </a:cubicBezTo>
                          <a:cubicBezTo>
                            <a:pt x="42987" y="58785"/>
                            <a:pt x="43788" y="61854"/>
                            <a:pt x="43788" y="64871"/>
                          </a:cubicBezTo>
                          <a:cubicBezTo>
                            <a:pt x="43788" y="69792"/>
                            <a:pt x="42061" y="73800"/>
                            <a:pt x="38608" y="76896"/>
                          </a:cubicBezTo>
                          <a:cubicBezTo>
                            <a:pt x="35156" y="80005"/>
                            <a:pt x="30658" y="81559"/>
                            <a:pt x="25115" y="81559"/>
                          </a:cubicBezTo>
                          <a:cubicBezTo>
                            <a:pt x="21186" y="81559"/>
                            <a:pt x="17038" y="80878"/>
                            <a:pt x="12673" y="79515"/>
                          </a:cubicBezTo>
                          <a:cubicBezTo>
                            <a:pt x="8320" y="78153"/>
                            <a:pt x="3663" y="76082"/>
                            <a:pt x="-1297" y="73304"/>
                          </a:cubicBezTo>
                          <a:lnTo>
                            <a:pt x="-1297" y="85965"/>
                          </a:lnTo>
                          <a:cubicBezTo>
                            <a:pt x="3743" y="87989"/>
                            <a:pt x="8452" y="89517"/>
                            <a:pt x="12831" y="90549"/>
                          </a:cubicBezTo>
                          <a:cubicBezTo>
                            <a:pt x="17223" y="91580"/>
                            <a:pt x="21239" y="92096"/>
                            <a:pt x="24876" y="92096"/>
                          </a:cubicBezTo>
                          <a:cubicBezTo>
                            <a:pt x="34468" y="92096"/>
                            <a:pt x="42114" y="89695"/>
                            <a:pt x="47816" y="84893"/>
                          </a:cubicBezTo>
                          <a:cubicBezTo>
                            <a:pt x="53518" y="80104"/>
                            <a:pt x="56369" y="73701"/>
                            <a:pt x="56369" y="65684"/>
                          </a:cubicBezTo>
                          <a:cubicBezTo>
                            <a:pt x="56369" y="61874"/>
                            <a:pt x="55654" y="58263"/>
                            <a:pt x="54225" y="54850"/>
                          </a:cubicBezTo>
                          <a:cubicBezTo>
                            <a:pt x="52810" y="51450"/>
                            <a:pt x="50217" y="47435"/>
                            <a:pt x="46447" y="42804"/>
                          </a:cubicBezTo>
                          <a:cubicBezTo>
                            <a:pt x="45415" y="41601"/>
                            <a:pt x="42127" y="38135"/>
                            <a:pt x="36584" y="32406"/>
                          </a:cubicBezTo>
                          <a:cubicBezTo>
                            <a:pt x="31054" y="26678"/>
                            <a:pt x="23243" y="18668"/>
                            <a:pt x="13149" y="8376"/>
                          </a:cubicBezTo>
                          <a:close/>
                        </a:path>
                      </a:pathLst>
                    </a:custGeom>
                    <a:solidFill>
                      <a:srgbClr val="000000"/>
                    </a:solidFill>
                    <a:ln w="20" cap="flat">
                      <a:noFill/>
                      <a:prstDash val="solid"/>
                      <a:round/>
                    </a:ln>
                  </p:spPr>
                  <p:txBody>
                    <a:bodyPr rtlCol="0" anchor="ctr"/>
                    <a:lstStyle/>
                    <a:p>
                      <a:endParaRPr lang="en-US"/>
                    </a:p>
                  </p:txBody>
                </p:sp>
              </p:grpSp>
            </p:grpSp>
            <p:grpSp>
              <p:nvGrpSpPr>
                <p:cNvPr id="110" name="グラフィックス 2">
                  <a:extLst>
                    <a:ext uri="{FF2B5EF4-FFF2-40B4-BE49-F238E27FC236}">
                      <a16:creationId xmlns:a16="http://schemas.microsoft.com/office/drawing/2014/main" id="{5C4A0868-361D-FD4D-5035-EF42D33B77C3}"/>
                    </a:ext>
                  </a:extLst>
                </p:cNvPr>
                <p:cNvGrpSpPr/>
                <p:nvPr/>
              </p:nvGrpSpPr>
              <p:grpSpPr>
                <a:xfrm>
                  <a:off x="-8585501" y="3672857"/>
                  <a:ext cx="8683291" cy="96063"/>
                  <a:chOff x="-8585501" y="3672857"/>
                  <a:chExt cx="8683291" cy="96063"/>
                </a:xfrm>
              </p:grpSpPr>
              <p:sp>
                <p:nvSpPr>
                  <p:cNvPr id="111" name="フリーフォーム: 図形 110">
                    <a:extLst>
                      <a:ext uri="{FF2B5EF4-FFF2-40B4-BE49-F238E27FC236}">
                        <a16:creationId xmlns:a16="http://schemas.microsoft.com/office/drawing/2014/main" id="{AFD35983-0C66-1026-DA51-C826C37B92A0}"/>
                      </a:ext>
                    </a:extLst>
                  </p:cNvPr>
                  <p:cNvSpPr/>
                  <p:nvPr/>
                </p:nvSpPr>
                <p:spPr>
                  <a:xfrm>
                    <a:off x="-8303005" y="3718867"/>
                    <a:ext cx="8400796" cy="12700"/>
                  </a:xfrm>
                  <a:custGeom>
                    <a:avLst/>
                    <a:gdLst>
                      <a:gd name="connsiteX0" fmla="*/ 0 w 8400796"/>
                      <a:gd name="connsiteY0" fmla="*/ 0 h 12700"/>
                      <a:gd name="connsiteX1" fmla="*/ 8400796 w 8400796"/>
                      <a:gd name="connsiteY1" fmla="*/ 0 h 12700"/>
                    </a:gdLst>
                    <a:ahLst/>
                    <a:cxnLst>
                      <a:cxn ang="0">
                        <a:pos x="connsiteX0" y="connsiteY0"/>
                      </a:cxn>
                      <a:cxn ang="0">
                        <a:pos x="connsiteX1" y="connsiteY1"/>
                      </a:cxn>
                    </a:cxnLst>
                    <a:rect l="l" t="t" r="r" b="b"/>
                    <a:pathLst>
                      <a:path w="8400796" h="12700">
                        <a:moveTo>
                          <a:pt x="0" y="0"/>
                        </a:moveTo>
                        <a:lnTo>
                          <a:pt x="8400796" y="0"/>
                        </a:lnTo>
                      </a:path>
                    </a:pathLst>
                  </a:custGeom>
                  <a:noFill/>
                  <a:ln w="10160" cap="sq">
                    <a:solidFill>
                      <a:srgbClr val="B0B0B0"/>
                    </a:solidFill>
                    <a:prstDash val="solid"/>
                    <a:round/>
                  </a:ln>
                </p:spPr>
                <p:txBody>
                  <a:bodyPr rtlCol="0" anchor="ctr"/>
                  <a:lstStyle/>
                  <a:p>
                    <a:endParaRPr lang="en-US"/>
                  </a:p>
                </p:txBody>
              </p:sp>
              <p:sp>
                <p:nvSpPr>
                  <p:cNvPr id="112" name="フリーフォーム: 図形 111">
                    <a:extLst>
                      <a:ext uri="{FF2B5EF4-FFF2-40B4-BE49-F238E27FC236}">
                        <a16:creationId xmlns:a16="http://schemas.microsoft.com/office/drawing/2014/main" id="{E3672475-ADFE-6D11-DBAF-F806FBBB49D4}"/>
                      </a:ext>
                    </a:extLst>
                  </p:cNvPr>
                  <p:cNvSpPr/>
                  <p:nvPr/>
                </p:nvSpPr>
                <p:spPr>
                  <a:xfrm>
                    <a:off x="-8347456" y="3718867"/>
                    <a:ext cx="44450" cy="12700"/>
                  </a:xfrm>
                  <a:custGeom>
                    <a:avLst/>
                    <a:gdLst>
                      <a:gd name="connsiteX0" fmla="*/ 44498 w 44450"/>
                      <a:gd name="connsiteY0" fmla="*/ 167 h 12700"/>
                      <a:gd name="connsiteX1" fmla="*/ 48 w 44450"/>
                      <a:gd name="connsiteY1" fmla="*/ 167 h 12700"/>
                    </a:gdLst>
                    <a:ahLst/>
                    <a:cxnLst>
                      <a:cxn ang="0">
                        <a:pos x="connsiteX0" y="connsiteY0"/>
                      </a:cxn>
                      <a:cxn ang="0">
                        <a:pos x="connsiteX1" y="connsiteY1"/>
                      </a:cxn>
                    </a:cxnLst>
                    <a:rect l="l" t="t" r="r" b="b"/>
                    <a:pathLst>
                      <a:path w="44450" h="12700">
                        <a:moveTo>
                          <a:pt x="44498" y="167"/>
                        </a:moveTo>
                        <a:lnTo>
                          <a:pt x="48" y="167"/>
                        </a:lnTo>
                      </a:path>
                    </a:pathLst>
                  </a:custGeom>
                  <a:solidFill>
                    <a:srgbClr val="000000"/>
                  </a:solidFill>
                  <a:ln w="10160" cap="flat">
                    <a:solidFill>
                      <a:srgbClr val="000000"/>
                    </a:solidFill>
                    <a:prstDash val="solid"/>
                    <a:round/>
                  </a:ln>
                </p:spPr>
                <p:txBody>
                  <a:bodyPr rtlCol="0" anchor="ctr"/>
                  <a:lstStyle/>
                  <a:p>
                    <a:endParaRPr lang="en-US"/>
                  </a:p>
                </p:txBody>
              </p:sp>
              <p:grpSp>
                <p:nvGrpSpPr>
                  <p:cNvPr id="113" name="グラフィックス 2">
                    <a:extLst>
                      <a:ext uri="{FF2B5EF4-FFF2-40B4-BE49-F238E27FC236}">
                        <a16:creationId xmlns:a16="http://schemas.microsoft.com/office/drawing/2014/main" id="{183619D6-F379-E442-653E-9F06EA08B6D9}"/>
                      </a:ext>
                    </a:extLst>
                  </p:cNvPr>
                  <p:cNvGrpSpPr/>
                  <p:nvPr/>
                </p:nvGrpSpPr>
                <p:grpSpPr>
                  <a:xfrm>
                    <a:off x="-8585501" y="3672857"/>
                    <a:ext cx="186476" cy="96063"/>
                    <a:chOff x="-8585501" y="3672857"/>
                    <a:chExt cx="186476" cy="96063"/>
                  </a:xfrm>
                  <a:solidFill>
                    <a:srgbClr val="000000"/>
                  </a:solidFill>
                </p:grpSpPr>
                <p:sp>
                  <p:nvSpPr>
                    <p:cNvPr id="114" name="フリーフォーム: 図形 113">
                      <a:extLst>
                        <a:ext uri="{FF2B5EF4-FFF2-40B4-BE49-F238E27FC236}">
                          <a16:creationId xmlns:a16="http://schemas.microsoft.com/office/drawing/2014/main" id="{4FBA59F5-2605-CD81-A1F5-8A7193BC4102}"/>
                        </a:ext>
                      </a:extLst>
                    </p:cNvPr>
                    <p:cNvSpPr/>
                    <p:nvPr/>
                  </p:nvSpPr>
                  <p:spPr>
                    <a:xfrm flipV="1">
                      <a:off x="-8585501" y="3672857"/>
                      <a:ext cx="63996" cy="96063"/>
                    </a:xfrm>
                    <a:custGeom>
                      <a:avLst/>
                      <a:gdLst>
                        <a:gd name="connsiteX0" fmla="*/ 29982 w 63996"/>
                        <a:gd name="connsiteY0" fmla="*/ 83979 h 96063"/>
                        <a:gd name="connsiteX1" fmla="*/ 15436 w 63996"/>
                        <a:gd name="connsiteY1" fmla="*/ 74454 h 96063"/>
                        <a:gd name="connsiteX2" fmla="*/ 10574 w 63996"/>
                        <a:gd name="connsiteY2" fmla="*/ 45840 h 96063"/>
                        <a:gd name="connsiteX3" fmla="*/ 15436 w 63996"/>
                        <a:gd name="connsiteY3" fmla="*/ 17284 h 96063"/>
                        <a:gd name="connsiteX4" fmla="*/ 29982 w 63996"/>
                        <a:gd name="connsiteY4" fmla="*/ 7759 h 96063"/>
                        <a:gd name="connsiteX5" fmla="*/ 44587 w 63996"/>
                        <a:gd name="connsiteY5" fmla="*/ 17284 h 96063"/>
                        <a:gd name="connsiteX6" fmla="*/ 49468 w 63996"/>
                        <a:gd name="connsiteY6" fmla="*/ 45840 h 96063"/>
                        <a:gd name="connsiteX7" fmla="*/ 44587 w 63996"/>
                        <a:gd name="connsiteY7" fmla="*/ 74454 h 96063"/>
                        <a:gd name="connsiteX8" fmla="*/ 29982 w 63996"/>
                        <a:gd name="connsiteY8" fmla="*/ 83979 h 96063"/>
                        <a:gd name="connsiteX9" fmla="*/ 29982 w 63996"/>
                        <a:gd name="connsiteY9" fmla="*/ 93901 h 96063"/>
                        <a:gd name="connsiteX10" fmla="*/ 53774 w 63996"/>
                        <a:gd name="connsiteY10" fmla="*/ 81578 h 96063"/>
                        <a:gd name="connsiteX11" fmla="*/ 61990 w 63996"/>
                        <a:gd name="connsiteY11" fmla="*/ 45840 h 96063"/>
                        <a:gd name="connsiteX12" fmla="*/ 53774 w 63996"/>
                        <a:gd name="connsiteY12" fmla="*/ 10141 h 96063"/>
                        <a:gd name="connsiteX13" fmla="*/ 29982 w 63996"/>
                        <a:gd name="connsiteY13" fmla="*/ -2163 h 96063"/>
                        <a:gd name="connsiteX14" fmla="*/ 6209 w 63996"/>
                        <a:gd name="connsiteY14" fmla="*/ 10141 h 96063"/>
                        <a:gd name="connsiteX15" fmla="*/ -2007 w 63996"/>
                        <a:gd name="connsiteY15" fmla="*/ 45840 h 96063"/>
                        <a:gd name="connsiteX16" fmla="*/ 6209 w 63996"/>
                        <a:gd name="connsiteY16" fmla="*/ 81578 h 96063"/>
                        <a:gd name="connsiteX17" fmla="*/ 29982 w 63996"/>
                        <a:gd name="connsiteY17" fmla="*/ 93901 h 960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3996" h="96063">
                          <a:moveTo>
                            <a:pt x="29982" y="83979"/>
                          </a:moveTo>
                          <a:cubicBezTo>
                            <a:pt x="23539" y="83979"/>
                            <a:pt x="18691" y="80804"/>
                            <a:pt x="15436" y="74454"/>
                          </a:cubicBezTo>
                          <a:cubicBezTo>
                            <a:pt x="12195" y="68117"/>
                            <a:pt x="10574" y="58579"/>
                            <a:pt x="10574" y="45840"/>
                          </a:cubicBezTo>
                          <a:cubicBezTo>
                            <a:pt x="10574" y="33153"/>
                            <a:pt x="12195" y="23634"/>
                            <a:pt x="15436" y="17284"/>
                          </a:cubicBezTo>
                          <a:cubicBezTo>
                            <a:pt x="18691" y="10934"/>
                            <a:pt x="23539" y="7759"/>
                            <a:pt x="29982" y="7759"/>
                          </a:cubicBezTo>
                          <a:cubicBezTo>
                            <a:pt x="36477" y="7759"/>
                            <a:pt x="41346" y="10934"/>
                            <a:pt x="44587" y="17284"/>
                          </a:cubicBezTo>
                          <a:cubicBezTo>
                            <a:pt x="47841" y="23634"/>
                            <a:pt x="49468" y="33153"/>
                            <a:pt x="49468" y="45840"/>
                          </a:cubicBezTo>
                          <a:cubicBezTo>
                            <a:pt x="49468" y="58579"/>
                            <a:pt x="47841" y="68117"/>
                            <a:pt x="44587" y="74454"/>
                          </a:cubicBezTo>
                          <a:cubicBezTo>
                            <a:pt x="41346" y="80804"/>
                            <a:pt x="36477" y="83979"/>
                            <a:pt x="29982" y="83979"/>
                          </a:cubicBezTo>
                          <a:close/>
                          <a:moveTo>
                            <a:pt x="29982" y="93901"/>
                          </a:moveTo>
                          <a:cubicBezTo>
                            <a:pt x="40366" y="93901"/>
                            <a:pt x="48297" y="89793"/>
                            <a:pt x="53774" y="81578"/>
                          </a:cubicBezTo>
                          <a:cubicBezTo>
                            <a:pt x="59251" y="73376"/>
                            <a:pt x="61990" y="61463"/>
                            <a:pt x="61990" y="45840"/>
                          </a:cubicBezTo>
                          <a:cubicBezTo>
                            <a:pt x="61990" y="30256"/>
                            <a:pt x="59251" y="18356"/>
                            <a:pt x="53774" y="10141"/>
                          </a:cubicBezTo>
                          <a:cubicBezTo>
                            <a:pt x="48297" y="1939"/>
                            <a:pt x="40366" y="-2163"/>
                            <a:pt x="29982" y="-2163"/>
                          </a:cubicBezTo>
                          <a:cubicBezTo>
                            <a:pt x="19610" y="-2163"/>
                            <a:pt x="11686" y="1939"/>
                            <a:pt x="6209" y="10141"/>
                          </a:cubicBezTo>
                          <a:cubicBezTo>
                            <a:pt x="732" y="18356"/>
                            <a:pt x="-2007" y="30256"/>
                            <a:pt x="-2007" y="45840"/>
                          </a:cubicBezTo>
                          <a:cubicBezTo>
                            <a:pt x="-2007" y="61463"/>
                            <a:pt x="732" y="73376"/>
                            <a:pt x="6209" y="81578"/>
                          </a:cubicBezTo>
                          <a:cubicBezTo>
                            <a:pt x="11686" y="89793"/>
                            <a:pt x="19610" y="93901"/>
                            <a:pt x="29982" y="93901"/>
                          </a:cubicBezTo>
                          <a:close/>
                        </a:path>
                      </a:pathLst>
                    </a:custGeom>
                    <a:solidFill>
                      <a:srgbClr val="000000"/>
                    </a:solidFill>
                    <a:ln w="20" cap="flat">
                      <a:noFill/>
                      <a:prstDash val="solid"/>
                      <a:round/>
                    </a:ln>
                  </p:spPr>
                  <p:txBody>
                    <a:bodyPr rtlCol="0" anchor="ctr"/>
                    <a:lstStyle/>
                    <a:p>
                      <a:endParaRPr lang="en-US"/>
                    </a:p>
                  </p:txBody>
                </p:sp>
                <p:sp>
                  <p:nvSpPr>
                    <p:cNvPr id="115" name="フリーフォーム: 図形 114">
                      <a:extLst>
                        <a:ext uri="{FF2B5EF4-FFF2-40B4-BE49-F238E27FC236}">
                          <a16:creationId xmlns:a16="http://schemas.microsoft.com/office/drawing/2014/main" id="{579637C9-4D77-E113-8A58-1D37A8882B3F}"/>
                        </a:ext>
                      </a:extLst>
                    </p:cNvPr>
                    <p:cNvSpPr/>
                    <p:nvPr/>
                  </p:nvSpPr>
                  <p:spPr>
                    <a:xfrm flipV="1">
                      <a:off x="-8499501" y="3751359"/>
                      <a:ext cx="13096" cy="15755"/>
                    </a:xfrm>
                    <a:custGeom>
                      <a:avLst/>
                      <a:gdLst>
                        <a:gd name="connsiteX0" fmla="*/ -981 w 13096"/>
                        <a:gd name="connsiteY0" fmla="*/ 15529 h 15755"/>
                        <a:gd name="connsiteX1" fmla="*/ 12116 w 13096"/>
                        <a:gd name="connsiteY1" fmla="*/ 15529 h 15755"/>
                        <a:gd name="connsiteX2" fmla="*/ 12116 w 13096"/>
                        <a:gd name="connsiteY2" fmla="*/ -227 h 15755"/>
                        <a:gd name="connsiteX3" fmla="*/ -981 w 13096"/>
                        <a:gd name="connsiteY3" fmla="*/ -227 h 15755"/>
                        <a:gd name="connsiteX4" fmla="*/ -981 w 13096"/>
                        <a:gd name="connsiteY4" fmla="*/ 15529 h 157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096" h="15755">
                          <a:moveTo>
                            <a:pt x="-981" y="15529"/>
                          </a:moveTo>
                          <a:lnTo>
                            <a:pt x="12116" y="15529"/>
                          </a:lnTo>
                          <a:lnTo>
                            <a:pt x="12116" y="-227"/>
                          </a:lnTo>
                          <a:lnTo>
                            <a:pt x="-981" y="-227"/>
                          </a:lnTo>
                          <a:lnTo>
                            <a:pt x="-981" y="15529"/>
                          </a:lnTo>
                          <a:close/>
                        </a:path>
                      </a:pathLst>
                    </a:custGeom>
                    <a:solidFill>
                      <a:srgbClr val="000000"/>
                    </a:solidFill>
                    <a:ln w="20" cap="flat">
                      <a:noFill/>
                      <a:prstDash val="solid"/>
                      <a:round/>
                    </a:ln>
                  </p:spPr>
                  <p:txBody>
                    <a:bodyPr rtlCol="0" anchor="ctr"/>
                    <a:lstStyle/>
                    <a:p>
                      <a:endParaRPr lang="en-US"/>
                    </a:p>
                  </p:txBody>
                </p:sp>
                <p:sp>
                  <p:nvSpPr>
                    <p:cNvPr id="116" name="フリーフォーム: 図形 115">
                      <a:extLst>
                        <a:ext uri="{FF2B5EF4-FFF2-40B4-BE49-F238E27FC236}">
                          <a16:creationId xmlns:a16="http://schemas.microsoft.com/office/drawing/2014/main" id="{35EB0217-07EC-FD69-7600-886BAAAB8350}"/>
                        </a:ext>
                      </a:extLst>
                    </p:cNvPr>
                    <p:cNvSpPr/>
                    <p:nvPr/>
                  </p:nvSpPr>
                  <p:spPr>
                    <a:xfrm flipV="1">
                      <a:off x="-8466493" y="3674524"/>
                      <a:ext cx="67468" cy="92590"/>
                    </a:xfrm>
                    <a:custGeom>
                      <a:avLst/>
                      <a:gdLst>
                        <a:gd name="connsiteX0" fmla="*/ 39815 w 67468"/>
                        <a:gd name="connsiteY0" fmla="*/ 79511 h 92590"/>
                        <a:gd name="connsiteX1" fmla="*/ 8185 w 67468"/>
                        <a:gd name="connsiteY1" fmla="*/ 30080 h 92590"/>
                        <a:gd name="connsiteX2" fmla="*/ 39815 w 67468"/>
                        <a:gd name="connsiteY2" fmla="*/ 30080 h 92590"/>
                        <a:gd name="connsiteX3" fmla="*/ 39815 w 67468"/>
                        <a:gd name="connsiteY3" fmla="*/ 79511 h 92590"/>
                        <a:gd name="connsiteX4" fmla="*/ 36521 w 67468"/>
                        <a:gd name="connsiteY4" fmla="*/ 90425 h 92590"/>
                        <a:gd name="connsiteX5" fmla="*/ 52277 w 67468"/>
                        <a:gd name="connsiteY5" fmla="*/ 90425 h 92590"/>
                        <a:gd name="connsiteX6" fmla="*/ 52277 w 67468"/>
                        <a:gd name="connsiteY6" fmla="*/ 30080 h 92590"/>
                        <a:gd name="connsiteX7" fmla="*/ 65493 w 67468"/>
                        <a:gd name="connsiteY7" fmla="*/ 30080 h 92590"/>
                        <a:gd name="connsiteX8" fmla="*/ 65493 w 67468"/>
                        <a:gd name="connsiteY8" fmla="*/ 19662 h 92590"/>
                        <a:gd name="connsiteX9" fmla="*/ 52277 w 67468"/>
                        <a:gd name="connsiteY9" fmla="*/ 19662 h 92590"/>
                        <a:gd name="connsiteX10" fmla="*/ 52277 w 67468"/>
                        <a:gd name="connsiteY10" fmla="*/ -2166 h 92590"/>
                        <a:gd name="connsiteX11" fmla="*/ 39815 w 67468"/>
                        <a:gd name="connsiteY11" fmla="*/ -2166 h 92590"/>
                        <a:gd name="connsiteX12" fmla="*/ 39815 w 67468"/>
                        <a:gd name="connsiteY12" fmla="*/ 19662 h 92590"/>
                        <a:gd name="connsiteX13" fmla="*/ -1975 w 67468"/>
                        <a:gd name="connsiteY13" fmla="*/ 19662 h 92590"/>
                        <a:gd name="connsiteX14" fmla="*/ -1975 w 67468"/>
                        <a:gd name="connsiteY14" fmla="*/ 31747 h 92590"/>
                        <a:gd name="connsiteX15" fmla="*/ 36521 w 67468"/>
                        <a:gd name="connsiteY15" fmla="*/ 90425 h 92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67468" h="92590">
                          <a:moveTo>
                            <a:pt x="39815" y="79511"/>
                          </a:moveTo>
                          <a:lnTo>
                            <a:pt x="8185" y="30080"/>
                          </a:lnTo>
                          <a:lnTo>
                            <a:pt x="39815" y="30080"/>
                          </a:lnTo>
                          <a:lnTo>
                            <a:pt x="39815" y="79511"/>
                          </a:lnTo>
                          <a:close/>
                          <a:moveTo>
                            <a:pt x="36521" y="90425"/>
                          </a:moveTo>
                          <a:lnTo>
                            <a:pt x="52277" y="90425"/>
                          </a:lnTo>
                          <a:lnTo>
                            <a:pt x="52277" y="30080"/>
                          </a:lnTo>
                          <a:lnTo>
                            <a:pt x="65493" y="30080"/>
                          </a:lnTo>
                          <a:lnTo>
                            <a:pt x="65493" y="19662"/>
                          </a:lnTo>
                          <a:lnTo>
                            <a:pt x="52277" y="19662"/>
                          </a:lnTo>
                          <a:lnTo>
                            <a:pt x="52277" y="-2166"/>
                          </a:lnTo>
                          <a:lnTo>
                            <a:pt x="39815" y="-2166"/>
                          </a:lnTo>
                          <a:lnTo>
                            <a:pt x="39815" y="19662"/>
                          </a:lnTo>
                          <a:lnTo>
                            <a:pt x="-1975" y="19662"/>
                          </a:lnTo>
                          <a:lnTo>
                            <a:pt x="-1975" y="31747"/>
                          </a:lnTo>
                          <a:lnTo>
                            <a:pt x="36521" y="90425"/>
                          </a:lnTo>
                          <a:close/>
                        </a:path>
                      </a:pathLst>
                    </a:custGeom>
                    <a:solidFill>
                      <a:srgbClr val="000000"/>
                    </a:solidFill>
                    <a:ln w="20" cap="flat">
                      <a:noFill/>
                      <a:prstDash val="solid"/>
                      <a:round/>
                    </a:ln>
                  </p:spPr>
                  <p:txBody>
                    <a:bodyPr rtlCol="0" anchor="ctr"/>
                    <a:lstStyle/>
                    <a:p>
                      <a:endParaRPr lang="en-US"/>
                    </a:p>
                  </p:txBody>
                </p:sp>
              </p:grpSp>
            </p:grpSp>
            <p:grpSp>
              <p:nvGrpSpPr>
                <p:cNvPr id="117" name="グラフィックス 2">
                  <a:extLst>
                    <a:ext uri="{FF2B5EF4-FFF2-40B4-BE49-F238E27FC236}">
                      <a16:creationId xmlns:a16="http://schemas.microsoft.com/office/drawing/2014/main" id="{ACB8F680-8E90-1AE6-8302-0C3452292802}"/>
                    </a:ext>
                  </a:extLst>
                </p:cNvPr>
                <p:cNvGrpSpPr/>
                <p:nvPr/>
              </p:nvGrpSpPr>
              <p:grpSpPr>
                <a:xfrm>
                  <a:off x="-8585501" y="3080427"/>
                  <a:ext cx="8683291" cy="96063"/>
                  <a:chOff x="-8585501" y="3080427"/>
                  <a:chExt cx="8683291" cy="96063"/>
                </a:xfrm>
              </p:grpSpPr>
              <p:sp>
                <p:nvSpPr>
                  <p:cNvPr id="118" name="フリーフォーム: 図形 117">
                    <a:extLst>
                      <a:ext uri="{FF2B5EF4-FFF2-40B4-BE49-F238E27FC236}">
                        <a16:creationId xmlns:a16="http://schemas.microsoft.com/office/drawing/2014/main" id="{9D2F94EA-9440-FF73-6A58-D37E0E0B2A3E}"/>
                      </a:ext>
                    </a:extLst>
                  </p:cNvPr>
                  <p:cNvSpPr/>
                  <p:nvPr/>
                </p:nvSpPr>
                <p:spPr>
                  <a:xfrm>
                    <a:off x="-8303005" y="3126438"/>
                    <a:ext cx="8400796" cy="12700"/>
                  </a:xfrm>
                  <a:custGeom>
                    <a:avLst/>
                    <a:gdLst>
                      <a:gd name="connsiteX0" fmla="*/ 0 w 8400796"/>
                      <a:gd name="connsiteY0" fmla="*/ 0 h 12700"/>
                      <a:gd name="connsiteX1" fmla="*/ 8400796 w 8400796"/>
                      <a:gd name="connsiteY1" fmla="*/ 0 h 12700"/>
                    </a:gdLst>
                    <a:ahLst/>
                    <a:cxnLst>
                      <a:cxn ang="0">
                        <a:pos x="connsiteX0" y="connsiteY0"/>
                      </a:cxn>
                      <a:cxn ang="0">
                        <a:pos x="connsiteX1" y="connsiteY1"/>
                      </a:cxn>
                    </a:cxnLst>
                    <a:rect l="l" t="t" r="r" b="b"/>
                    <a:pathLst>
                      <a:path w="8400796" h="12700">
                        <a:moveTo>
                          <a:pt x="0" y="0"/>
                        </a:moveTo>
                        <a:lnTo>
                          <a:pt x="8400796" y="0"/>
                        </a:lnTo>
                      </a:path>
                    </a:pathLst>
                  </a:custGeom>
                  <a:noFill/>
                  <a:ln w="10160" cap="sq">
                    <a:solidFill>
                      <a:srgbClr val="B0B0B0"/>
                    </a:solidFill>
                    <a:prstDash val="solid"/>
                    <a:round/>
                  </a:ln>
                </p:spPr>
                <p:txBody>
                  <a:bodyPr rtlCol="0" anchor="ctr"/>
                  <a:lstStyle/>
                  <a:p>
                    <a:endParaRPr lang="en-US"/>
                  </a:p>
                </p:txBody>
              </p:sp>
              <p:sp>
                <p:nvSpPr>
                  <p:cNvPr id="119" name="フリーフォーム: 図形 118">
                    <a:extLst>
                      <a:ext uri="{FF2B5EF4-FFF2-40B4-BE49-F238E27FC236}">
                        <a16:creationId xmlns:a16="http://schemas.microsoft.com/office/drawing/2014/main" id="{78EB72B4-58D8-DB3D-F0DD-BBE692BB1337}"/>
                      </a:ext>
                    </a:extLst>
                  </p:cNvPr>
                  <p:cNvSpPr/>
                  <p:nvPr/>
                </p:nvSpPr>
                <p:spPr>
                  <a:xfrm>
                    <a:off x="-8347456" y="3126438"/>
                    <a:ext cx="44450" cy="12700"/>
                  </a:xfrm>
                  <a:custGeom>
                    <a:avLst/>
                    <a:gdLst>
                      <a:gd name="connsiteX0" fmla="*/ 44498 w 44450"/>
                      <a:gd name="connsiteY0" fmla="*/ 120 h 12700"/>
                      <a:gd name="connsiteX1" fmla="*/ 48 w 44450"/>
                      <a:gd name="connsiteY1" fmla="*/ 120 h 12700"/>
                    </a:gdLst>
                    <a:ahLst/>
                    <a:cxnLst>
                      <a:cxn ang="0">
                        <a:pos x="connsiteX0" y="connsiteY0"/>
                      </a:cxn>
                      <a:cxn ang="0">
                        <a:pos x="connsiteX1" y="connsiteY1"/>
                      </a:cxn>
                    </a:cxnLst>
                    <a:rect l="l" t="t" r="r" b="b"/>
                    <a:pathLst>
                      <a:path w="44450" h="12700">
                        <a:moveTo>
                          <a:pt x="44498" y="120"/>
                        </a:moveTo>
                        <a:lnTo>
                          <a:pt x="48" y="120"/>
                        </a:lnTo>
                      </a:path>
                    </a:pathLst>
                  </a:custGeom>
                  <a:solidFill>
                    <a:srgbClr val="000000"/>
                  </a:solidFill>
                  <a:ln w="10160" cap="flat">
                    <a:solidFill>
                      <a:srgbClr val="000000"/>
                    </a:solidFill>
                    <a:prstDash val="solid"/>
                    <a:round/>
                  </a:ln>
                </p:spPr>
                <p:txBody>
                  <a:bodyPr rtlCol="0" anchor="ctr"/>
                  <a:lstStyle/>
                  <a:p>
                    <a:endParaRPr lang="en-US"/>
                  </a:p>
                </p:txBody>
              </p:sp>
              <p:grpSp>
                <p:nvGrpSpPr>
                  <p:cNvPr id="120" name="グラフィックス 2">
                    <a:extLst>
                      <a:ext uri="{FF2B5EF4-FFF2-40B4-BE49-F238E27FC236}">
                        <a16:creationId xmlns:a16="http://schemas.microsoft.com/office/drawing/2014/main" id="{7FC719F5-376B-0BA9-91F1-231FD2DFC4C0}"/>
                      </a:ext>
                    </a:extLst>
                  </p:cNvPr>
                  <p:cNvGrpSpPr/>
                  <p:nvPr/>
                </p:nvGrpSpPr>
                <p:grpSpPr>
                  <a:xfrm>
                    <a:off x="-8585501" y="3080427"/>
                    <a:ext cx="185603" cy="96063"/>
                    <a:chOff x="-8585501" y="3080427"/>
                    <a:chExt cx="185603" cy="96063"/>
                  </a:xfrm>
                  <a:solidFill>
                    <a:srgbClr val="000000"/>
                  </a:solidFill>
                </p:grpSpPr>
                <p:sp>
                  <p:nvSpPr>
                    <p:cNvPr id="121" name="フリーフォーム: 図形 120">
                      <a:extLst>
                        <a:ext uri="{FF2B5EF4-FFF2-40B4-BE49-F238E27FC236}">
                          <a16:creationId xmlns:a16="http://schemas.microsoft.com/office/drawing/2014/main" id="{86067454-A9AC-72FB-62ED-A876B5DD9B25}"/>
                        </a:ext>
                      </a:extLst>
                    </p:cNvPr>
                    <p:cNvSpPr/>
                    <p:nvPr/>
                  </p:nvSpPr>
                  <p:spPr>
                    <a:xfrm flipV="1">
                      <a:off x="-8585501" y="3080427"/>
                      <a:ext cx="63996" cy="96063"/>
                    </a:xfrm>
                    <a:custGeom>
                      <a:avLst/>
                      <a:gdLst>
                        <a:gd name="connsiteX0" fmla="*/ 29982 w 63996"/>
                        <a:gd name="connsiteY0" fmla="*/ 83933 h 96063"/>
                        <a:gd name="connsiteX1" fmla="*/ 15436 w 63996"/>
                        <a:gd name="connsiteY1" fmla="*/ 74408 h 96063"/>
                        <a:gd name="connsiteX2" fmla="*/ 10574 w 63996"/>
                        <a:gd name="connsiteY2" fmla="*/ 45793 h 96063"/>
                        <a:gd name="connsiteX3" fmla="*/ 15436 w 63996"/>
                        <a:gd name="connsiteY3" fmla="*/ 17238 h 96063"/>
                        <a:gd name="connsiteX4" fmla="*/ 29982 w 63996"/>
                        <a:gd name="connsiteY4" fmla="*/ 7713 h 96063"/>
                        <a:gd name="connsiteX5" fmla="*/ 44587 w 63996"/>
                        <a:gd name="connsiteY5" fmla="*/ 17238 h 96063"/>
                        <a:gd name="connsiteX6" fmla="*/ 49468 w 63996"/>
                        <a:gd name="connsiteY6" fmla="*/ 45793 h 96063"/>
                        <a:gd name="connsiteX7" fmla="*/ 44587 w 63996"/>
                        <a:gd name="connsiteY7" fmla="*/ 74408 h 96063"/>
                        <a:gd name="connsiteX8" fmla="*/ 29982 w 63996"/>
                        <a:gd name="connsiteY8" fmla="*/ 83933 h 96063"/>
                        <a:gd name="connsiteX9" fmla="*/ 29982 w 63996"/>
                        <a:gd name="connsiteY9" fmla="*/ 93854 h 96063"/>
                        <a:gd name="connsiteX10" fmla="*/ 53774 w 63996"/>
                        <a:gd name="connsiteY10" fmla="*/ 81531 h 96063"/>
                        <a:gd name="connsiteX11" fmla="*/ 61990 w 63996"/>
                        <a:gd name="connsiteY11" fmla="*/ 45793 h 96063"/>
                        <a:gd name="connsiteX12" fmla="*/ 53774 w 63996"/>
                        <a:gd name="connsiteY12" fmla="*/ 10094 h 96063"/>
                        <a:gd name="connsiteX13" fmla="*/ 29982 w 63996"/>
                        <a:gd name="connsiteY13" fmla="*/ -2209 h 96063"/>
                        <a:gd name="connsiteX14" fmla="*/ 6209 w 63996"/>
                        <a:gd name="connsiteY14" fmla="*/ 10094 h 96063"/>
                        <a:gd name="connsiteX15" fmla="*/ -2007 w 63996"/>
                        <a:gd name="connsiteY15" fmla="*/ 45793 h 96063"/>
                        <a:gd name="connsiteX16" fmla="*/ 6209 w 63996"/>
                        <a:gd name="connsiteY16" fmla="*/ 81531 h 96063"/>
                        <a:gd name="connsiteX17" fmla="*/ 29982 w 63996"/>
                        <a:gd name="connsiteY17" fmla="*/ 93854 h 960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3996" h="96063">
                          <a:moveTo>
                            <a:pt x="29982" y="83933"/>
                          </a:moveTo>
                          <a:cubicBezTo>
                            <a:pt x="23539" y="83933"/>
                            <a:pt x="18691" y="80758"/>
                            <a:pt x="15436" y="74408"/>
                          </a:cubicBezTo>
                          <a:cubicBezTo>
                            <a:pt x="12195" y="68071"/>
                            <a:pt x="10574" y="58533"/>
                            <a:pt x="10574" y="45793"/>
                          </a:cubicBezTo>
                          <a:cubicBezTo>
                            <a:pt x="10574" y="33106"/>
                            <a:pt x="12195" y="23588"/>
                            <a:pt x="15436" y="17238"/>
                          </a:cubicBezTo>
                          <a:cubicBezTo>
                            <a:pt x="18691" y="10888"/>
                            <a:pt x="23539" y="7713"/>
                            <a:pt x="29982" y="7713"/>
                          </a:cubicBezTo>
                          <a:cubicBezTo>
                            <a:pt x="36477" y="7713"/>
                            <a:pt x="41346" y="10888"/>
                            <a:pt x="44587" y="17238"/>
                          </a:cubicBezTo>
                          <a:cubicBezTo>
                            <a:pt x="47841" y="23588"/>
                            <a:pt x="49468" y="33106"/>
                            <a:pt x="49468" y="45793"/>
                          </a:cubicBezTo>
                          <a:cubicBezTo>
                            <a:pt x="49468" y="58533"/>
                            <a:pt x="47841" y="68071"/>
                            <a:pt x="44587" y="74408"/>
                          </a:cubicBezTo>
                          <a:cubicBezTo>
                            <a:pt x="41346" y="80758"/>
                            <a:pt x="36477" y="83933"/>
                            <a:pt x="29982" y="83933"/>
                          </a:cubicBezTo>
                          <a:close/>
                          <a:moveTo>
                            <a:pt x="29982" y="93854"/>
                          </a:moveTo>
                          <a:cubicBezTo>
                            <a:pt x="40366" y="93854"/>
                            <a:pt x="48297" y="89747"/>
                            <a:pt x="53774" y="81531"/>
                          </a:cubicBezTo>
                          <a:cubicBezTo>
                            <a:pt x="59251" y="73329"/>
                            <a:pt x="61990" y="61416"/>
                            <a:pt x="61990" y="45793"/>
                          </a:cubicBezTo>
                          <a:cubicBezTo>
                            <a:pt x="61990" y="30209"/>
                            <a:pt x="59251" y="18309"/>
                            <a:pt x="53774" y="10094"/>
                          </a:cubicBezTo>
                          <a:cubicBezTo>
                            <a:pt x="48297" y="1892"/>
                            <a:pt x="40366" y="-2209"/>
                            <a:pt x="29982" y="-2209"/>
                          </a:cubicBezTo>
                          <a:cubicBezTo>
                            <a:pt x="19610" y="-2209"/>
                            <a:pt x="11686" y="1892"/>
                            <a:pt x="6209" y="10094"/>
                          </a:cubicBezTo>
                          <a:cubicBezTo>
                            <a:pt x="732" y="18309"/>
                            <a:pt x="-2007" y="30209"/>
                            <a:pt x="-2007" y="45793"/>
                          </a:cubicBezTo>
                          <a:cubicBezTo>
                            <a:pt x="-2007" y="61416"/>
                            <a:pt x="732" y="73329"/>
                            <a:pt x="6209" y="81531"/>
                          </a:cubicBezTo>
                          <a:cubicBezTo>
                            <a:pt x="11686" y="89747"/>
                            <a:pt x="19610" y="93854"/>
                            <a:pt x="29982" y="93854"/>
                          </a:cubicBezTo>
                          <a:close/>
                        </a:path>
                      </a:pathLst>
                    </a:custGeom>
                    <a:solidFill>
                      <a:srgbClr val="000000"/>
                    </a:solidFill>
                    <a:ln w="20" cap="flat">
                      <a:noFill/>
                      <a:prstDash val="solid"/>
                      <a:round/>
                    </a:ln>
                  </p:spPr>
                  <p:txBody>
                    <a:bodyPr rtlCol="0" anchor="ctr"/>
                    <a:lstStyle/>
                    <a:p>
                      <a:endParaRPr lang="en-US"/>
                    </a:p>
                  </p:txBody>
                </p:sp>
                <p:sp>
                  <p:nvSpPr>
                    <p:cNvPr id="122" name="フリーフォーム: 図形 121">
                      <a:extLst>
                        <a:ext uri="{FF2B5EF4-FFF2-40B4-BE49-F238E27FC236}">
                          <a16:creationId xmlns:a16="http://schemas.microsoft.com/office/drawing/2014/main" id="{DC4F6991-8A56-995E-58C4-969D705A325B}"/>
                        </a:ext>
                      </a:extLst>
                    </p:cNvPr>
                    <p:cNvSpPr/>
                    <p:nvPr/>
                  </p:nvSpPr>
                  <p:spPr>
                    <a:xfrm flipV="1">
                      <a:off x="-8499501" y="3158929"/>
                      <a:ext cx="13096" cy="15755"/>
                    </a:xfrm>
                    <a:custGeom>
                      <a:avLst/>
                      <a:gdLst>
                        <a:gd name="connsiteX0" fmla="*/ -981 w 13096"/>
                        <a:gd name="connsiteY0" fmla="*/ 15482 h 15755"/>
                        <a:gd name="connsiteX1" fmla="*/ 12116 w 13096"/>
                        <a:gd name="connsiteY1" fmla="*/ 15482 h 15755"/>
                        <a:gd name="connsiteX2" fmla="*/ 12116 w 13096"/>
                        <a:gd name="connsiteY2" fmla="*/ -274 h 15755"/>
                        <a:gd name="connsiteX3" fmla="*/ -981 w 13096"/>
                        <a:gd name="connsiteY3" fmla="*/ -274 h 15755"/>
                        <a:gd name="connsiteX4" fmla="*/ -981 w 13096"/>
                        <a:gd name="connsiteY4" fmla="*/ 15482 h 157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096" h="15755">
                          <a:moveTo>
                            <a:pt x="-981" y="15482"/>
                          </a:moveTo>
                          <a:lnTo>
                            <a:pt x="12116" y="15482"/>
                          </a:lnTo>
                          <a:lnTo>
                            <a:pt x="12116" y="-274"/>
                          </a:lnTo>
                          <a:lnTo>
                            <a:pt x="-981" y="-274"/>
                          </a:lnTo>
                          <a:lnTo>
                            <a:pt x="-981" y="15482"/>
                          </a:lnTo>
                          <a:close/>
                        </a:path>
                      </a:pathLst>
                    </a:custGeom>
                    <a:solidFill>
                      <a:srgbClr val="000000"/>
                    </a:solidFill>
                    <a:ln w="20" cap="flat">
                      <a:noFill/>
                      <a:prstDash val="solid"/>
                      <a:round/>
                    </a:ln>
                  </p:spPr>
                  <p:txBody>
                    <a:bodyPr rtlCol="0" anchor="ctr"/>
                    <a:lstStyle/>
                    <a:p>
                      <a:endParaRPr lang="en-US"/>
                    </a:p>
                  </p:txBody>
                </p:sp>
                <p:sp>
                  <p:nvSpPr>
                    <p:cNvPr id="123" name="フリーフォーム: 図形 122">
                      <a:extLst>
                        <a:ext uri="{FF2B5EF4-FFF2-40B4-BE49-F238E27FC236}">
                          <a16:creationId xmlns:a16="http://schemas.microsoft.com/office/drawing/2014/main" id="{5DBE5B54-D511-A5AC-DDDB-589FFCBDBC33}"/>
                        </a:ext>
                      </a:extLst>
                    </p:cNvPr>
                    <p:cNvSpPr/>
                    <p:nvPr/>
                  </p:nvSpPr>
                  <p:spPr>
                    <a:xfrm flipV="1">
                      <a:off x="-8463834" y="3080427"/>
                      <a:ext cx="63936" cy="96063"/>
                    </a:xfrm>
                    <a:custGeom>
                      <a:avLst/>
                      <a:gdLst>
                        <a:gd name="connsiteX0" fmla="*/ 31039 w 63936"/>
                        <a:gd name="connsiteY0" fmla="*/ 50873 h 96063"/>
                        <a:gd name="connsiteX1" fmla="*/ 17665 w 63936"/>
                        <a:gd name="connsiteY1" fmla="*/ 45098 h 96063"/>
                        <a:gd name="connsiteX2" fmla="*/ 12743 w 63936"/>
                        <a:gd name="connsiteY2" fmla="*/ 29303 h 96063"/>
                        <a:gd name="connsiteX3" fmla="*/ 17665 w 63936"/>
                        <a:gd name="connsiteY3" fmla="*/ 13507 h 96063"/>
                        <a:gd name="connsiteX4" fmla="*/ 31039 w 63936"/>
                        <a:gd name="connsiteY4" fmla="*/ 7713 h 96063"/>
                        <a:gd name="connsiteX5" fmla="*/ 44394 w 63936"/>
                        <a:gd name="connsiteY5" fmla="*/ 13507 h 96063"/>
                        <a:gd name="connsiteX6" fmla="*/ 49315 w 63936"/>
                        <a:gd name="connsiteY6" fmla="*/ 29303 h 96063"/>
                        <a:gd name="connsiteX7" fmla="*/ 44394 w 63936"/>
                        <a:gd name="connsiteY7" fmla="*/ 45098 h 96063"/>
                        <a:gd name="connsiteX8" fmla="*/ 31039 w 63936"/>
                        <a:gd name="connsiteY8" fmla="*/ 50873 h 96063"/>
                        <a:gd name="connsiteX9" fmla="*/ 55903 w 63936"/>
                        <a:gd name="connsiteY9" fmla="*/ 90144 h 96063"/>
                        <a:gd name="connsiteX10" fmla="*/ 55903 w 63936"/>
                        <a:gd name="connsiteY10" fmla="*/ 78733 h 96063"/>
                        <a:gd name="connsiteX11" fmla="*/ 46378 w 63936"/>
                        <a:gd name="connsiteY11" fmla="*/ 82127 h 96063"/>
                        <a:gd name="connsiteX12" fmla="*/ 36853 w 63936"/>
                        <a:gd name="connsiteY12" fmla="*/ 83317 h 96063"/>
                        <a:gd name="connsiteX13" fmla="*/ 17903 w 63936"/>
                        <a:gd name="connsiteY13" fmla="*/ 74943 h 96063"/>
                        <a:gd name="connsiteX14" fmla="*/ 10441 w 63936"/>
                        <a:gd name="connsiteY14" fmla="*/ 49643 h 96063"/>
                        <a:gd name="connsiteX15" fmla="*/ 19609 w 63936"/>
                        <a:gd name="connsiteY15" fmla="*/ 57917 h 96063"/>
                        <a:gd name="connsiteX16" fmla="*/ 31773 w 63936"/>
                        <a:gd name="connsiteY16" fmla="*/ 60795 h 96063"/>
                        <a:gd name="connsiteX17" fmla="*/ 53820 w 63936"/>
                        <a:gd name="connsiteY17" fmla="*/ 52321 h 96063"/>
                        <a:gd name="connsiteX18" fmla="*/ 61916 w 63936"/>
                        <a:gd name="connsiteY18" fmla="*/ 29303 h 96063"/>
                        <a:gd name="connsiteX19" fmla="*/ 53483 w 63936"/>
                        <a:gd name="connsiteY19" fmla="*/ 6403 h 96063"/>
                        <a:gd name="connsiteX20" fmla="*/ 31039 w 63936"/>
                        <a:gd name="connsiteY20" fmla="*/ -2209 h 96063"/>
                        <a:gd name="connsiteX21" fmla="*/ 6473 w 63936"/>
                        <a:gd name="connsiteY21" fmla="*/ 10094 h 96063"/>
                        <a:gd name="connsiteX22" fmla="*/ -2020 w 63936"/>
                        <a:gd name="connsiteY22" fmla="*/ 45793 h 96063"/>
                        <a:gd name="connsiteX23" fmla="*/ 8398 w 63936"/>
                        <a:gd name="connsiteY23" fmla="*/ 80797 h 96063"/>
                        <a:gd name="connsiteX24" fmla="*/ 36357 w 63936"/>
                        <a:gd name="connsiteY24" fmla="*/ 93854 h 96063"/>
                        <a:gd name="connsiteX25" fmla="*/ 45882 w 63936"/>
                        <a:gd name="connsiteY25" fmla="*/ 92922 h 96063"/>
                        <a:gd name="connsiteX26" fmla="*/ 55903 w 63936"/>
                        <a:gd name="connsiteY26" fmla="*/ 90144 h 960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63936" h="96063">
                          <a:moveTo>
                            <a:pt x="31039" y="50873"/>
                          </a:moveTo>
                          <a:cubicBezTo>
                            <a:pt x="25417" y="50873"/>
                            <a:pt x="20959" y="48948"/>
                            <a:pt x="17665" y="45098"/>
                          </a:cubicBezTo>
                          <a:cubicBezTo>
                            <a:pt x="14384" y="41262"/>
                            <a:pt x="12743" y="35997"/>
                            <a:pt x="12743" y="29303"/>
                          </a:cubicBezTo>
                          <a:cubicBezTo>
                            <a:pt x="12743" y="22649"/>
                            <a:pt x="14384" y="17383"/>
                            <a:pt x="17665" y="13507"/>
                          </a:cubicBezTo>
                          <a:cubicBezTo>
                            <a:pt x="20959" y="9644"/>
                            <a:pt x="25417" y="7713"/>
                            <a:pt x="31039" y="7713"/>
                          </a:cubicBezTo>
                          <a:cubicBezTo>
                            <a:pt x="36662" y="7713"/>
                            <a:pt x="41113" y="9644"/>
                            <a:pt x="44394" y="13507"/>
                          </a:cubicBezTo>
                          <a:cubicBezTo>
                            <a:pt x="47675" y="17383"/>
                            <a:pt x="49315" y="22649"/>
                            <a:pt x="49315" y="29303"/>
                          </a:cubicBezTo>
                          <a:cubicBezTo>
                            <a:pt x="49315" y="35997"/>
                            <a:pt x="47675" y="41262"/>
                            <a:pt x="44394" y="45098"/>
                          </a:cubicBezTo>
                          <a:cubicBezTo>
                            <a:pt x="41113" y="48948"/>
                            <a:pt x="36662" y="50873"/>
                            <a:pt x="31039" y="50873"/>
                          </a:cubicBezTo>
                          <a:close/>
                          <a:moveTo>
                            <a:pt x="55903" y="90144"/>
                          </a:moveTo>
                          <a:lnTo>
                            <a:pt x="55903" y="78733"/>
                          </a:lnTo>
                          <a:cubicBezTo>
                            <a:pt x="52755" y="80215"/>
                            <a:pt x="49580" y="81346"/>
                            <a:pt x="46378" y="82127"/>
                          </a:cubicBezTo>
                          <a:cubicBezTo>
                            <a:pt x="43177" y="82921"/>
                            <a:pt x="40002" y="83317"/>
                            <a:pt x="36853" y="83317"/>
                          </a:cubicBezTo>
                          <a:cubicBezTo>
                            <a:pt x="28585" y="83317"/>
                            <a:pt x="22268" y="80526"/>
                            <a:pt x="17903" y="74943"/>
                          </a:cubicBezTo>
                          <a:cubicBezTo>
                            <a:pt x="13550" y="69361"/>
                            <a:pt x="11063" y="60927"/>
                            <a:pt x="10441" y="49643"/>
                          </a:cubicBezTo>
                          <a:cubicBezTo>
                            <a:pt x="12876" y="53241"/>
                            <a:pt x="15932" y="55999"/>
                            <a:pt x="19609" y="57917"/>
                          </a:cubicBezTo>
                          <a:cubicBezTo>
                            <a:pt x="23300" y="59836"/>
                            <a:pt x="27355" y="60795"/>
                            <a:pt x="31773" y="60795"/>
                          </a:cubicBezTo>
                          <a:cubicBezTo>
                            <a:pt x="41074" y="60795"/>
                            <a:pt x="48422" y="57970"/>
                            <a:pt x="53820" y="52321"/>
                          </a:cubicBezTo>
                          <a:cubicBezTo>
                            <a:pt x="59217" y="46686"/>
                            <a:pt x="61916" y="39013"/>
                            <a:pt x="61916" y="29303"/>
                          </a:cubicBezTo>
                          <a:cubicBezTo>
                            <a:pt x="61916" y="19791"/>
                            <a:pt x="59105" y="12158"/>
                            <a:pt x="53483" y="6403"/>
                          </a:cubicBezTo>
                          <a:cubicBezTo>
                            <a:pt x="47860" y="662"/>
                            <a:pt x="40379" y="-2209"/>
                            <a:pt x="31039" y="-2209"/>
                          </a:cubicBezTo>
                          <a:cubicBezTo>
                            <a:pt x="20324" y="-2209"/>
                            <a:pt x="12135" y="1892"/>
                            <a:pt x="6473" y="10094"/>
                          </a:cubicBezTo>
                          <a:cubicBezTo>
                            <a:pt x="811" y="18309"/>
                            <a:pt x="-2020" y="30209"/>
                            <a:pt x="-2020" y="45793"/>
                          </a:cubicBezTo>
                          <a:cubicBezTo>
                            <a:pt x="-2020" y="60424"/>
                            <a:pt x="1452" y="72092"/>
                            <a:pt x="8398" y="80797"/>
                          </a:cubicBezTo>
                          <a:cubicBezTo>
                            <a:pt x="15343" y="89502"/>
                            <a:pt x="24663" y="93854"/>
                            <a:pt x="36357" y="93854"/>
                          </a:cubicBezTo>
                          <a:cubicBezTo>
                            <a:pt x="39506" y="93854"/>
                            <a:pt x="42681" y="93543"/>
                            <a:pt x="45882" y="92922"/>
                          </a:cubicBezTo>
                          <a:cubicBezTo>
                            <a:pt x="49084" y="92300"/>
                            <a:pt x="52424" y="91374"/>
                            <a:pt x="55903" y="90144"/>
                          </a:cubicBezTo>
                          <a:close/>
                        </a:path>
                      </a:pathLst>
                    </a:custGeom>
                    <a:solidFill>
                      <a:srgbClr val="000000"/>
                    </a:solidFill>
                    <a:ln w="20" cap="flat">
                      <a:noFill/>
                      <a:prstDash val="solid"/>
                      <a:round/>
                    </a:ln>
                  </p:spPr>
                  <p:txBody>
                    <a:bodyPr rtlCol="0" anchor="ctr"/>
                    <a:lstStyle/>
                    <a:p>
                      <a:endParaRPr lang="en-US"/>
                    </a:p>
                  </p:txBody>
                </p:sp>
              </p:grpSp>
            </p:grpSp>
            <p:grpSp>
              <p:nvGrpSpPr>
                <p:cNvPr id="124" name="グラフィックス 2">
                  <a:extLst>
                    <a:ext uri="{FF2B5EF4-FFF2-40B4-BE49-F238E27FC236}">
                      <a16:creationId xmlns:a16="http://schemas.microsoft.com/office/drawing/2014/main" id="{DE0C0242-6020-0836-ACAE-6FA9C51AC3CD}"/>
                    </a:ext>
                  </a:extLst>
                </p:cNvPr>
                <p:cNvGrpSpPr/>
                <p:nvPr/>
              </p:nvGrpSpPr>
              <p:grpSpPr>
                <a:xfrm>
                  <a:off x="-8585501" y="2488000"/>
                  <a:ext cx="8683291" cy="96063"/>
                  <a:chOff x="-8585501" y="2488000"/>
                  <a:chExt cx="8683291" cy="96063"/>
                </a:xfrm>
              </p:grpSpPr>
              <p:sp>
                <p:nvSpPr>
                  <p:cNvPr id="125" name="フリーフォーム: 図形 124">
                    <a:extLst>
                      <a:ext uri="{FF2B5EF4-FFF2-40B4-BE49-F238E27FC236}">
                        <a16:creationId xmlns:a16="http://schemas.microsoft.com/office/drawing/2014/main" id="{DFACE4F2-F36B-46BC-5DC4-50327986CB65}"/>
                      </a:ext>
                    </a:extLst>
                  </p:cNvPr>
                  <p:cNvSpPr/>
                  <p:nvPr/>
                </p:nvSpPr>
                <p:spPr>
                  <a:xfrm>
                    <a:off x="-8303005" y="2534008"/>
                    <a:ext cx="8400796" cy="12700"/>
                  </a:xfrm>
                  <a:custGeom>
                    <a:avLst/>
                    <a:gdLst>
                      <a:gd name="connsiteX0" fmla="*/ 0 w 8400796"/>
                      <a:gd name="connsiteY0" fmla="*/ 0 h 12700"/>
                      <a:gd name="connsiteX1" fmla="*/ 8400796 w 8400796"/>
                      <a:gd name="connsiteY1" fmla="*/ 0 h 12700"/>
                    </a:gdLst>
                    <a:ahLst/>
                    <a:cxnLst>
                      <a:cxn ang="0">
                        <a:pos x="connsiteX0" y="connsiteY0"/>
                      </a:cxn>
                      <a:cxn ang="0">
                        <a:pos x="connsiteX1" y="connsiteY1"/>
                      </a:cxn>
                    </a:cxnLst>
                    <a:rect l="l" t="t" r="r" b="b"/>
                    <a:pathLst>
                      <a:path w="8400796" h="12700">
                        <a:moveTo>
                          <a:pt x="0" y="0"/>
                        </a:moveTo>
                        <a:lnTo>
                          <a:pt x="8400796" y="0"/>
                        </a:lnTo>
                      </a:path>
                    </a:pathLst>
                  </a:custGeom>
                  <a:noFill/>
                  <a:ln w="10160" cap="sq">
                    <a:solidFill>
                      <a:srgbClr val="B0B0B0"/>
                    </a:solidFill>
                    <a:prstDash val="solid"/>
                    <a:round/>
                  </a:ln>
                </p:spPr>
                <p:txBody>
                  <a:bodyPr rtlCol="0" anchor="ctr"/>
                  <a:lstStyle/>
                  <a:p>
                    <a:endParaRPr lang="en-US"/>
                  </a:p>
                </p:txBody>
              </p:sp>
              <p:sp>
                <p:nvSpPr>
                  <p:cNvPr id="126" name="フリーフォーム: 図形 125">
                    <a:extLst>
                      <a:ext uri="{FF2B5EF4-FFF2-40B4-BE49-F238E27FC236}">
                        <a16:creationId xmlns:a16="http://schemas.microsoft.com/office/drawing/2014/main" id="{23D41FAA-4B74-361B-C24B-FECABA9C9318}"/>
                      </a:ext>
                    </a:extLst>
                  </p:cNvPr>
                  <p:cNvSpPr/>
                  <p:nvPr/>
                </p:nvSpPr>
                <p:spPr>
                  <a:xfrm>
                    <a:off x="-8347456" y="2534008"/>
                    <a:ext cx="44450" cy="12700"/>
                  </a:xfrm>
                  <a:custGeom>
                    <a:avLst/>
                    <a:gdLst>
                      <a:gd name="connsiteX0" fmla="*/ 44498 w 44450"/>
                      <a:gd name="connsiteY0" fmla="*/ 74 h 12700"/>
                      <a:gd name="connsiteX1" fmla="*/ 48 w 44450"/>
                      <a:gd name="connsiteY1" fmla="*/ 74 h 12700"/>
                    </a:gdLst>
                    <a:ahLst/>
                    <a:cxnLst>
                      <a:cxn ang="0">
                        <a:pos x="connsiteX0" y="connsiteY0"/>
                      </a:cxn>
                      <a:cxn ang="0">
                        <a:pos x="connsiteX1" y="connsiteY1"/>
                      </a:cxn>
                    </a:cxnLst>
                    <a:rect l="l" t="t" r="r" b="b"/>
                    <a:pathLst>
                      <a:path w="44450" h="12700">
                        <a:moveTo>
                          <a:pt x="44498" y="74"/>
                        </a:moveTo>
                        <a:lnTo>
                          <a:pt x="48" y="74"/>
                        </a:lnTo>
                      </a:path>
                    </a:pathLst>
                  </a:custGeom>
                  <a:solidFill>
                    <a:srgbClr val="000000"/>
                  </a:solidFill>
                  <a:ln w="10160" cap="flat">
                    <a:solidFill>
                      <a:srgbClr val="000000"/>
                    </a:solidFill>
                    <a:prstDash val="solid"/>
                    <a:round/>
                  </a:ln>
                </p:spPr>
                <p:txBody>
                  <a:bodyPr rtlCol="0" anchor="ctr"/>
                  <a:lstStyle/>
                  <a:p>
                    <a:endParaRPr lang="en-US"/>
                  </a:p>
                </p:txBody>
              </p:sp>
              <p:grpSp>
                <p:nvGrpSpPr>
                  <p:cNvPr id="127" name="グラフィックス 2">
                    <a:extLst>
                      <a:ext uri="{FF2B5EF4-FFF2-40B4-BE49-F238E27FC236}">
                        <a16:creationId xmlns:a16="http://schemas.microsoft.com/office/drawing/2014/main" id="{836BACBF-9C36-2885-1BDB-BFD1646A6B71}"/>
                      </a:ext>
                    </a:extLst>
                  </p:cNvPr>
                  <p:cNvGrpSpPr/>
                  <p:nvPr/>
                </p:nvGrpSpPr>
                <p:grpSpPr>
                  <a:xfrm>
                    <a:off x="-8585501" y="2488000"/>
                    <a:ext cx="184909" cy="96063"/>
                    <a:chOff x="-8585501" y="2488000"/>
                    <a:chExt cx="184909" cy="96063"/>
                  </a:xfrm>
                  <a:solidFill>
                    <a:srgbClr val="000000"/>
                  </a:solidFill>
                </p:grpSpPr>
                <p:sp>
                  <p:nvSpPr>
                    <p:cNvPr id="128" name="フリーフォーム: 図形 127">
                      <a:extLst>
                        <a:ext uri="{FF2B5EF4-FFF2-40B4-BE49-F238E27FC236}">
                          <a16:creationId xmlns:a16="http://schemas.microsoft.com/office/drawing/2014/main" id="{0E8EA38F-BD6B-AC12-D138-7E2015738941}"/>
                        </a:ext>
                      </a:extLst>
                    </p:cNvPr>
                    <p:cNvSpPr/>
                    <p:nvPr/>
                  </p:nvSpPr>
                  <p:spPr>
                    <a:xfrm flipV="1">
                      <a:off x="-8585501" y="2488000"/>
                      <a:ext cx="63996" cy="96063"/>
                    </a:xfrm>
                    <a:custGeom>
                      <a:avLst/>
                      <a:gdLst>
                        <a:gd name="connsiteX0" fmla="*/ 29982 w 63996"/>
                        <a:gd name="connsiteY0" fmla="*/ 83886 h 96063"/>
                        <a:gd name="connsiteX1" fmla="*/ 15436 w 63996"/>
                        <a:gd name="connsiteY1" fmla="*/ 74361 h 96063"/>
                        <a:gd name="connsiteX2" fmla="*/ 10574 w 63996"/>
                        <a:gd name="connsiteY2" fmla="*/ 45746 h 96063"/>
                        <a:gd name="connsiteX3" fmla="*/ 15436 w 63996"/>
                        <a:gd name="connsiteY3" fmla="*/ 17191 h 96063"/>
                        <a:gd name="connsiteX4" fmla="*/ 29982 w 63996"/>
                        <a:gd name="connsiteY4" fmla="*/ 7666 h 96063"/>
                        <a:gd name="connsiteX5" fmla="*/ 44587 w 63996"/>
                        <a:gd name="connsiteY5" fmla="*/ 17191 h 96063"/>
                        <a:gd name="connsiteX6" fmla="*/ 49468 w 63996"/>
                        <a:gd name="connsiteY6" fmla="*/ 45746 h 96063"/>
                        <a:gd name="connsiteX7" fmla="*/ 44587 w 63996"/>
                        <a:gd name="connsiteY7" fmla="*/ 74361 h 96063"/>
                        <a:gd name="connsiteX8" fmla="*/ 29982 w 63996"/>
                        <a:gd name="connsiteY8" fmla="*/ 83886 h 96063"/>
                        <a:gd name="connsiteX9" fmla="*/ 29982 w 63996"/>
                        <a:gd name="connsiteY9" fmla="*/ 93808 h 96063"/>
                        <a:gd name="connsiteX10" fmla="*/ 53774 w 63996"/>
                        <a:gd name="connsiteY10" fmla="*/ 81485 h 96063"/>
                        <a:gd name="connsiteX11" fmla="*/ 61990 w 63996"/>
                        <a:gd name="connsiteY11" fmla="*/ 45746 h 96063"/>
                        <a:gd name="connsiteX12" fmla="*/ 53774 w 63996"/>
                        <a:gd name="connsiteY12" fmla="*/ 10047 h 96063"/>
                        <a:gd name="connsiteX13" fmla="*/ 29982 w 63996"/>
                        <a:gd name="connsiteY13" fmla="*/ -2256 h 96063"/>
                        <a:gd name="connsiteX14" fmla="*/ 6209 w 63996"/>
                        <a:gd name="connsiteY14" fmla="*/ 10047 h 96063"/>
                        <a:gd name="connsiteX15" fmla="*/ -2007 w 63996"/>
                        <a:gd name="connsiteY15" fmla="*/ 45746 h 96063"/>
                        <a:gd name="connsiteX16" fmla="*/ 6209 w 63996"/>
                        <a:gd name="connsiteY16" fmla="*/ 81485 h 96063"/>
                        <a:gd name="connsiteX17" fmla="*/ 29982 w 63996"/>
                        <a:gd name="connsiteY17" fmla="*/ 93808 h 960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3996" h="96063">
                          <a:moveTo>
                            <a:pt x="29982" y="83886"/>
                          </a:moveTo>
                          <a:cubicBezTo>
                            <a:pt x="23539" y="83886"/>
                            <a:pt x="18691" y="80711"/>
                            <a:pt x="15436" y="74361"/>
                          </a:cubicBezTo>
                          <a:cubicBezTo>
                            <a:pt x="12195" y="68024"/>
                            <a:pt x="10574" y="58486"/>
                            <a:pt x="10574" y="45746"/>
                          </a:cubicBezTo>
                          <a:cubicBezTo>
                            <a:pt x="10574" y="33060"/>
                            <a:pt x="12195" y="23541"/>
                            <a:pt x="15436" y="17191"/>
                          </a:cubicBezTo>
                          <a:cubicBezTo>
                            <a:pt x="18691" y="10841"/>
                            <a:pt x="23539" y="7666"/>
                            <a:pt x="29982" y="7666"/>
                          </a:cubicBezTo>
                          <a:cubicBezTo>
                            <a:pt x="36477" y="7666"/>
                            <a:pt x="41346" y="10841"/>
                            <a:pt x="44587" y="17191"/>
                          </a:cubicBezTo>
                          <a:cubicBezTo>
                            <a:pt x="47841" y="23541"/>
                            <a:pt x="49468" y="33060"/>
                            <a:pt x="49468" y="45746"/>
                          </a:cubicBezTo>
                          <a:cubicBezTo>
                            <a:pt x="49468" y="58486"/>
                            <a:pt x="47841" y="68024"/>
                            <a:pt x="44587" y="74361"/>
                          </a:cubicBezTo>
                          <a:cubicBezTo>
                            <a:pt x="41346" y="80711"/>
                            <a:pt x="36477" y="83886"/>
                            <a:pt x="29982" y="83886"/>
                          </a:cubicBezTo>
                          <a:close/>
                          <a:moveTo>
                            <a:pt x="29982" y="93808"/>
                          </a:moveTo>
                          <a:cubicBezTo>
                            <a:pt x="40366" y="93808"/>
                            <a:pt x="48297" y="89700"/>
                            <a:pt x="53774" y="81485"/>
                          </a:cubicBezTo>
                          <a:cubicBezTo>
                            <a:pt x="59251" y="73283"/>
                            <a:pt x="61990" y="61370"/>
                            <a:pt x="61990" y="45746"/>
                          </a:cubicBezTo>
                          <a:cubicBezTo>
                            <a:pt x="61990" y="30162"/>
                            <a:pt x="59251" y="18263"/>
                            <a:pt x="53774" y="10047"/>
                          </a:cubicBezTo>
                          <a:cubicBezTo>
                            <a:pt x="48297" y="1845"/>
                            <a:pt x="40366" y="-2256"/>
                            <a:pt x="29982" y="-2256"/>
                          </a:cubicBezTo>
                          <a:cubicBezTo>
                            <a:pt x="19610" y="-2256"/>
                            <a:pt x="11686" y="1845"/>
                            <a:pt x="6209" y="10047"/>
                          </a:cubicBezTo>
                          <a:cubicBezTo>
                            <a:pt x="732" y="18263"/>
                            <a:pt x="-2007" y="30162"/>
                            <a:pt x="-2007" y="45746"/>
                          </a:cubicBezTo>
                          <a:cubicBezTo>
                            <a:pt x="-2007" y="61370"/>
                            <a:pt x="732" y="73283"/>
                            <a:pt x="6209" y="81485"/>
                          </a:cubicBezTo>
                          <a:cubicBezTo>
                            <a:pt x="11686" y="89700"/>
                            <a:pt x="19610" y="93808"/>
                            <a:pt x="29982" y="93808"/>
                          </a:cubicBezTo>
                          <a:close/>
                        </a:path>
                      </a:pathLst>
                    </a:custGeom>
                    <a:solidFill>
                      <a:srgbClr val="000000"/>
                    </a:solidFill>
                    <a:ln w="20" cap="flat">
                      <a:noFill/>
                      <a:prstDash val="solid"/>
                      <a:round/>
                    </a:ln>
                  </p:spPr>
                  <p:txBody>
                    <a:bodyPr rtlCol="0" anchor="ctr"/>
                    <a:lstStyle/>
                    <a:p>
                      <a:endParaRPr lang="en-US"/>
                    </a:p>
                  </p:txBody>
                </p:sp>
                <p:sp>
                  <p:nvSpPr>
                    <p:cNvPr id="129" name="フリーフォーム: 図形 128">
                      <a:extLst>
                        <a:ext uri="{FF2B5EF4-FFF2-40B4-BE49-F238E27FC236}">
                          <a16:creationId xmlns:a16="http://schemas.microsoft.com/office/drawing/2014/main" id="{E96FF64F-7BDD-8BC4-5707-1B6643C52EB6}"/>
                        </a:ext>
                      </a:extLst>
                    </p:cNvPr>
                    <p:cNvSpPr/>
                    <p:nvPr/>
                  </p:nvSpPr>
                  <p:spPr>
                    <a:xfrm flipV="1">
                      <a:off x="-8499501" y="2566502"/>
                      <a:ext cx="13096" cy="15755"/>
                    </a:xfrm>
                    <a:custGeom>
                      <a:avLst/>
                      <a:gdLst>
                        <a:gd name="connsiteX0" fmla="*/ -981 w 13096"/>
                        <a:gd name="connsiteY0" fmla="*/ 15436 h 15755"/>
                        <a:gd name="connsiteX1" fmla="*/ 12116 w 13096"/>
                        <a:gd name="connsiteY1" fmla="*/ 15436 h 15755"/>
                        <a:gd name="connsiteX2" fmla="*/ 12116 w 13096"/>
                        <a:gd name="connsiteY2" fmla="*/ -320 h 15755"/>
                        <a:gd name="connsiteX3" fmla="*/ -981 w 13096"/>
                        <a:gd name="connsiteY3" fmla="*/ -320 h 15755"/>
                        <a:gd name="connsiteX4" fmla="*/ -981 w 13096"/>
                        <a:gd name="connsiteY4" fmla="*/ 15436 h 157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096" h="15755">
                          <a:moveTo>
                            <a:pt x="-981" y="15436"/>
                          </a:moveTo>
                          <a:lnTo>
                            <a:pt x="12116" y="15436"/>
                          </a:lnTo>
                          <a:lnTo>
                            <a:pt x="12116" y="-320"/>
                          </a:lnTo>
                          <a:lnTo>
                            <a:pt x="-981" y="-320"/>
                          </a:lnTo>
                          <a:lnTo>
                            <a:pt x="-981" y="15436"/>
                          </a:lnTo>
                          <a:close/>
                        </a:path>
                      </a:pathLst>
                    </a:custGeom>
                    <a:solidFill>
                      <a:srgbClr val="000000"/>
                    </a:solidFill>
                    <a:ln w="20" cap="flat">
                      <a:noFill/>
                      <a:prstDash val="solid"/>
                      <a:round/>
                    </a:ln>
                  </p:spPr>
                  <p:txBody>
                    <a:bodyPr rtlCol="0" anchor="ctr"/>
                    <a:lstStyle/>
                    <a:p>
                      <a:endParaRPr lang="en-US"/>
                    </a:p>
                  </p:txBody>
                </p:sp>
                <p:sp>
                  <p:nvSpPr>
                    <p:cNvPr id="130" name="フリーフォーム: 図形 129">
                      <a:extLst>
                        <a:ext uri="{FF2B5EF4-FFF2-40B4-BE49-F238E27FC236}">
                          <a16:creationId xmlns:a16="http://schemas.microsoft.com/office/drawing/2014/main" id="{C4BE1800-EE29-D679-EE81-780E79DFEE2D}"/>
                        </a:ext>
                      </a:extLst>
                    </p:cNvPr>
                    <p:cNvSpPr/>
                    <p:nvPr/>
                  </p:nvSpPr>
                  <p:spPr>
                    <a:xfrm flipV="1">
                      <a:off x="-8464092" y="2488000"/>
                      <a:ext cx="63500" cy="96063"/>
                    </a:xfrm>
                    <a:custGeom>
                      <a:avLst/>
                      <a:gdLst>
                        <a:gd name="connsiteX0" fmla="*/ 29754 w 63500"/>
                        <a:gd name="connsiteY0" fmla="*/ 43524 h 96063"/>
                        <a:gd name="connsiteX1" fmla="*/ 15704 w 63500"/>
                        <a:gd name="connsiteY1" fmla="*/ 38741 h 96063"/>
                        <a:gd name="connsiteX2" fmla="*/ 10604 w 63500"/>
                        <a:gd name="connsiteY2" fmla="*/ 25605 h 96063"/>
                        <a:gd name="connsiteX3" fmla="*/ 15704 w 63500"/>
                        <a:gd name="connsiteY3" fmla="*/ 12448 h 96063"/>
                        <a:gd name="connsiteX4" fmla="*/ 29754 w 63500"/>
                        <a:gd name="connsiteY4" fmla="*/ 7666 h 96063"/>
                        <a:gd name="connsiteX5" fmla="*/ 43823 w 63500"/>
                        <a:gd name="connsiteY5" fmla="*/ 12468 h 96063"/>
                        <a:gd name="connsiteX6" fmla="*/ 48982 w 63500"/>
                        <a:gd name="connsiteY6" fmla="*/ 25605 h 96063"/>
                        <a:gd name="connsiteX7" fmla="*/ 43862 w 63500"/>
                        <a:gd name="connsiteY7" fmla="*/ 38741 h 96063"/>
                        <a:gd name="connsiteX8" fmla="*/ 29754 w 63500"/>
                        <a:gd name="connsiteY8" fmla="*/ 43524 h 96063"/>
                        <a:gd name="connsiteX9" fmla="*/ 17232 w 63500"/>
                        <a:gd name="connsiteY9" fmla="*/ 48842 h 96063"/>
                        <a:gd name="connsiteX10" fmla="*/ 4671 w 63500"/>
                        <a:gd name="connsiteY10" fmla="*/ 56343 h 96063"/>
                        <a:gd name="connsiteX11" fmla="*/ 186 w 63500"/>
                        <a:gd name="connsiteY11" fmla="*/ 69817 h 96063"/>
                        <a:gd name="connsiteX12" fmla="*/ 8084 w 63500"/>
                        <a:gd name="connsiteY12" fmla="*/ 87359 h 96063"/>
                        <a:gd name="connsiteX13" fmla="*/ 29754 w 63500"/>
                        <a:gd name="connsiteY13" fmla="*/ 93808 h 96063"/>
                        <a:gd name="connsiteX14" fmla="*/ 51463 w 63500"/>
                        <a:gd name="connsiteY14" fmla="*/ 87359 h 96063"/>
                        <a:gd name="connsiteX15" fmla="*/ 59341 w 63500"/>
                        <a:gd name="connsiteY15" fmla="*/ 69817 h 96063"/>
                        <a:gd name="connsiteX16" fmla="*/ 54836 w 63500"/>
                        <a:gd name="connsiteY16" fmla="*/ 56343 h 96063"/>
                        <a:gd name="connsiteX17" fmla="*/ 42354 w 63500"/>
                        <a:gd name="connsiteY17" fmla="*/ 48842 h 96063"/>
                        <a:gd name="connsiteX18" fmla="*/ 56443 w 63500"/>
                        <a:gd name="connsiteY18" fmla="*/ 40587 h 96063"/>
                        <a:gd name="connsiteX19" fmla="*/ 61504 w 63500"/>
                        <a:gd name="connsiteY19" fmla="*/ 25605 h 96063"/>
                        <a:gd name="connsiteX20" fmla="*/ 53288 w 63500"/>
                        <a:gd name="connsiteY20" fmla="*/ 4928 h 96063"/>
                        <a:gd name="connsiteX21" fmla="*/ 29754 w 63500"/>
                        <a:gd name="connsiteY21" fmla="*/ -2256 h 96063"/>
                        <a:gd name="connsiteX22" fmla="*/ 6219 w 63500"/>
                        <a:gd name="connsiteY22" fmla="*/ 4928 h 96063"/>
                        <a:gd name="connsiteX23" fmla="*/ -1996 w 63500"/>
                        <a:gd name="connsiteY23" fmla="*/ 25605 h 96063"/>
                        <a:gd name="connsiteX24" fmla="*/ 3084 w 63500"/>
                        <a:gd name="connsiteY24" fmla="*/ 40587 h 96063"/>
                        <a:gd name="connsiteX25" fmla="*/ 17232 w 63500"/>
                        <a:gd name="connsiteY25" fmla="*/ 48842 h 96063"/>
                        <a:gd name="connsiteX26" fmla="*/ 12648 w 63500"/>
                        <a:gd name="connsiteY26" fmla="*/ 68626 h 96063"/>
                        <a:gd name="connsiteX27" fmla="*/ 17133 w 63500"/>
                        <a:gd name="connsiteY27" fmla="*/ 57414 h 96063"/>
                        <a:gd name="connsiteX28" fmla="*/ 29754 w 63500"/>
                        <a:gd name="connsiteY28" fmla="*/ 53386 h 96063"/>
                        <a:gd name="connsiteX29" fmla="*/ 42374 w 63500"/>
                        <a:gd name="connsiteY29" fmla="*/ 57414 h 96063"/>
                        <a:gd name="connsiteX30" fmla="*/ 46938 w 63500"/>
                        <a:gd name="connsiteY30" fmla="*/ 68626 h 96063"/>
                        <a:gd name="connsiteX31" fmla="*/ 42374 w 63500"/>
                        <a:gd name="connsiteY31" fmla="*/ 79858 h 96063"/>
                        <a:gd name="connsiteX32" fmla="*/ 29754 w 63500"/>
                        <a:gd name="connsiteY32" fmla="*/ 83886 h 96063"/>
                        <a:gd name="connsiteX33" fmla="*/ 17133 w 63500"/>
                        <a:gd name="connsiteY33" fmla="*/ 79858 h 96063"/>
                        <a:gd name="connsiteX34" fmla="*/ 12648 w 63500"/>
                        <a:gd name="connsiteY34" fmla="*/ 68626 h 960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63500" h="96063">
                          <a:moveTo>
                            <a:pt x="29754" y="43524"/>
                          </a:moveTo>
                          <a:cubicBezTo>
                            <a:pt x="23800" y="43524"/>
                            <a:pt x="19117" y="41930"/>
                            <a:pt x="15704" y="38741"/>
                          </a:cubicBezTo>
                          <a:cubicBezTo>
                            <a:pt x="12304" y="35553"/>
                            <a:pt x="10604" y="31174"/>
                            <a:pt x="10604" y="25605"/>
                          </a:cubicBezTo>
                          <a:cubicBezTo>
                            <a:pt x="10604" y="20022"/>
                            <a:pt x="12304" y="15637"/>
                            <a:pt x="15704" y="12448"/>
                          </a:cubicBezTo>
                          <a:cubicBezTo>
                            <a:pt x="19117" y="9260"/>
                            <a:pt x="23800" y="7666"/>
                            <a:pt x="29754" y="7666"/>
                          </a:cubicBezTo>
                          <a:cubicBezTo>
                            <a:pt x="35707" y="7666"/>
                            <a:pt x="40396" y="9267"/>
                            <a:pt x="43823" y="12468"/>
                          </a:cubicBezTo>
                          <a:cubicBezTo>
                            <a:pt x="47262" y="15683"/>
                            <a:pt x="48982" y="20062"/>
                            <a:pt x="48982" y="25605"/>
                          </a:cubicBezTo>
                          <a:cubicBezTo>
                            <a:pt x="48982" y="31174"/>
                            <a:pt x="47276" y="35553"/>
                            <a:pt x="43862" y="38741"/>
                          </a:cubicBezTo>
                          <a:cubicBezTo>
                            <a:pt x="40463" y="41930"/>
                            <a:pt x="35760" y="43524"/>
                            <a:pt x="29754" y="43524"/>
                          </a:cubicBezTo>
                          <a:close/>
                          <a:moveTo>
                            <a:pt x="17232" y="48842"/>
                          </a:moveTo>
                          <a:cubicBezTo>
                            <a:pt x="11861" y="50165"/>
                            <a:pt x="7674" y="52665"/>
                            <a:pt x="4671" y="56343"/>
                          </a:cubicBezTo>
                          <a:cubicBezTo>
                            <a:pt x="1681" y="60034"/>
                            <a:pt x="186" y="64525"/>
                            <a:pt x="186" y="69817"/>
                          </a:cubicBezTo>
                          <a:cubicBezTo>
                            <a:pt x="186" y="77212"/>
                            <a:pt x="2819" y="83059"/>
                            <a:pt x="8084" y="87359"/>
                          </a:cubicBezTo>
                          <a:cubicBezTo>
                            <a:pt x="13363" y="91658"/>
                            <a:pt x="20586" y="93808"/>
                            <a:pt x="29754" y="93808"/>
                          </a:cubicBezTo>
                          <a:cubicBezTo>
                            <a:pt x="38974" y="93808"/>
                            <a:pt x="46211" y="91658"/>
                            <a:pt x="51463" y="87359"/>
                          </a:cubicBezTo>
                          <a:cubicBezTo>
                            <a:pt x="56715" y="83059"/>
                            <a:pt x="59341" y="77212"/>
                            <a:pt x="59341" y="69817"/>
                          </a:cubicBezTo>
                          <a:cubicBezTo>
                            <a:pt x="59341" y="64525"/>
                            <a:pt x="57839" y="60034"/>
                            <a:pt x="54836" y="56343"/>
                          </a:cubicBezTo>
                          <a:cubicBezTo>
                            <a:pt x="51846" y="52665"/>
                            <a:pt x="47686" y="50165"/>
                            <a:pt x="42354" y="48842"/>
                          </a:cubicBezTo>
                          <a:cubicBezTo>
                            <a:pt x="48387" y="47439"/>
                            <a:pt x="53083" y="44688"/>
                            <a:pt x="56443" y="40587"/>
                          </a:cubicBezTo>
                          <a:cubicBezTo>
                            <a:pt x="59817" y="36499"/>
                            <a:pt x="61504" y="31505"/>
                            <a:pt x="61504" y="25605"/>
                          </a:cubicBezTo>
                          <a:cubicBezTo>
                            <a:pt x="61504" y="16622"/>
                            <a:pt x="58765" y="9730"/>
                            <a:pt x="53288" y="4928"/>
                          </a:cubicBezTo>
                          <a:cubicBezTo>
                            <a:pt x="47811" y="139"/>
                            <a:pt x="39967" y="-2256"/>
                            <a:pt x="29754" y="-2256"/>
                          </a:cubicBezTo>
                          <a:cubicBezTo>
                            <a:pt x="19554" y="-2256"/>
                            <a:pt x="11709" y="139"/>
                            <a:pt x="6219" y="4928"/>
                          </a:cubicBezTo>
                          <a:cubicBezTo>
                            <a:pt x="742" y="9730"/>
                            <a:pt x="-1996" y="16622"/>
                            <a:pt x="-1996" y="25605"/>
                          </a:cubicBezTo>
                          <a:cubicBezTo>
                            <a:pt x="-1996" y="31505"/>
                            <a:pt x="-303" y="36499"/>
                            <a:pt x="3084" y="40587"/>
                          </a:cubicBezTo>
                          <a:cubicBezTo>
                            <a:pt x="6483" y="44688"/>
                            <a:pt x="11200" y="47439"/>
                            <a:pt x="17232" y="48842"/>
                          </a:cubicBezTo>
                          <a:close/>
                          <a:moveTo>
                            <a:pt x="12648" y="68626"/>
                          </a:moveTo>
                          <a:cubicBezTo>
                            <a:pt x="12648" y="63837"/>
                            <a:pt x="14143" y="60100"/>
                            <a:pt x="17133" y="57414"/>
                          </a:cubicBezTo>
                          <a:cubicBezTo>
                            <a:pt x="20136" y="54729"/>
                            <a:pt x="24343" y="53386"/>
                            <a:pt x="29754" y="53386"/>
                          </a:cubicBezTo>
                          <a:cubicBezTo>
                            <a:pt x="35138" y="53386"/>
                            <a:pt x="39345" y="54729"/>
                            <a:pt x="42374" y="57414"/>
                          </a:cubicBezTo>
                          <a:cubicBezTo>
                            <a:pt x="45417" y="60100"/>
                            <a:pt x="46938" y="63837"/>
                            <a:pt x="46938" y="68626"/>
                          </a:cubicBezTo>
                          <a:cubicBezTo>
                            <a:pt x="46938" y="73428"/>
                            <a:pt x="45417" y="77172"/>
                            <a:pt x="42374" y="79858"/>
                          </a:cubicBezTo>
                          <a:cubicBezTo>
                            <a:pt x="39345" y="82543"/>
                            <a:pt x="35138" y="83886"/>
                            <a:pt x="29754" y="83886"/>
                          </a:cubicBezTo>
                          <a:cubicBezTo>
                            <a:pt x="24343" y="83886"/>
                            <a:pt x="20136" y="82543"/>
                            <a:pt x="17133" y="79858"/>
                          </a:cubicBezTo>
                          <a:cubicBezTo>
                            <a:pt x="14143" y="77172"/>
                            <a:pt x="12648" y="73428"/>
                            <a:pt x="12648" y="68626"/>
                          </a:cubicBezTo>
                          <a:close/>
                        </a:path>
                      </a:pathLst>
                    </a:custGeom>
                    <a:solidFill>
                      <a:srgbClr val="000000"/>
                    </a:solidFill>
                    <a:ln w="20" cap="flat">
                      <a:noFill/>
                      <a:prstDash val="solid"/>
                      <a:round/>
                    </a:ln>
                  </p:spPr>
                  <p:txBody>
                    <a:bodyPr rtlCol="0" anchor="ctr"/>
                    <a:lstStyle/>
                    <a:p>
                      <a:endParaRPr lang="en-US"/>
                    </a:p>
                  </p:txBody>
                </p:sp>
              </p:grpSp>
            </p:grpSp>
            <p:grpSp>
              <p:nvGrpSpPr>
                <p:cNvPr id="131" name="グラフィックス 2">
                  <a:extLst>
                    <a:ext uri="{FF2B5EF4-FFF2-40B4-BE49-F238E27FC236}">
                      <a16:creationId xmlns:a16="http://schemas.microsoft.com/office/drawing/2014/main" id="{0CFB1C6F-FB5E-59B8-E161-9E9120C32EED}"/>
                    </a:ext>
                  </a:extLst>
                </p:cNvPr>
                <p:cNvGrpSpPr/>
                <p:nvPr/>
              </p:nvGrpSpPr>
              <p:grpSpPr>
                <a:xfrm>
                  <a:off x="-8579925" y="1895571"/>
                  <a:ext cx="8677715" cy="96063"/>
                  <a:chOff x="-8579925" y="1895571"/>
                  <a:chExt cx="8677715" cy="96063"/>
                </a:xfrm>
              </p:grpSpPr>
              <p:sp>
                <p:nvSpPr>
                  <p:cNvPr id="132" name="フリーフォーム: 図形 131">
                    <a:extLst>
                      <a:ext uri="{FF2B5EF4-FFF2-40B4-BE49-F238E27FC236}">
                        <a16:creationId xmlns:a16="http://schemas.microsoft.com/office/drawing/2014/main" id="{52E6F91F-2BF7-8A1F-ABCC-B9E22F9C41A5}"/>
                      </a:ext>
                    </a:extLst>
                  </p:cNvPr>
                  <p:cNvSpPr/>
                  <p:nvPr/>
                </p:nvSpPr>
                <p:spPr>
                  <a:xfrm>
                    <a:off x="-8303005" y="1941578"/>
                    <a:ext cx="8400796" cy="12700"/>
                  </a:xfrm>
                  <a:custGeom>
                    <a:avLst/>
                    <a:gdLst>
                      <a:gd name="connsiteX0" fmla="*/ 0 w 8400796"/>
                      <a:gd name="connsiteY0" fmla="*/ 0 h 12700"/>
                      <a:gd name="connsiteX1" fmla="*/ 8400796 w 8400796"/>
                      <a:gd name="connsiteY1" fmla="*/ 0 h 12700"/>
                    </a:gdLst>
                    <a:ahLst/>
                    <a:cxnLst>
                      <a:cxn ang="0">
                        <a:pos x="connsiteX0" y="connsiteY0"/>
                      </a:cxn>
                      <a:cxn ang="0">
                        <a:pos x="connsiteX1" y="connsiteY1"/>
                      </a:cxn>
                    </a:cxnLst>
                    <a:rect l="l" t="t" r="r" b="b"/>
                    <a:pathLst>
                      <a:path w="8400796" h="12700">
                        <a:moveTo>
                          <a:pt x="0" y="0"/>
                        </a:moveTo>
                        <a:lnTo>
                          <a:pt x="8400796" y="0"/>
                        </a:lnTo>
                      </a:path>
                    </a:pathLst>
                  </a:custGeom>
                  <a:noFill/>
                  <a:ln w="10160" cap="sq">
                    <a:solidFill>
                      <a:srgbClr val="B0B0B0"/>
                    </a:solidFill>
                    <a:prstDash val="solid"/>
                    <a:round/>
                  </a:ln>
                </p:spPr>
                <p:txBody>
                  <a:bodyPr rtlCol="0" anchor="ctr"/>
                  <a:lstStyle/>
                  <a:p>
                    <a:endParaRPr lang="en-US"/>
                  </a:p>
                </p:txBody>
              </p:sp>
              <p:sp>
                <p:nvSpPr>
                  <p:cNvPr id="133" name="フリーフォーム: 図形 132">
                    <a:extLst>
                      <a:ext uri="{FF2B5EF4-FFF2-40B4-BE49-F238E27FC236}">
                        <a16:creationId xmlns:a16="http://schemas.microsoft.com/office/drawing/2014/main" id="{FAA6A8FE-7BC2-270C-D036-04BB5BEEECCC}"/>
                      </a:ext>
                    </a:extLst>
                  </p:cNvPr>
                  <p:cNvSpPr/>
                  <p:nvPr/>
                </p:nvSpPr>
                <p:spPr>
                  <a:xfrm>
                    <a:off x="-8347456" y="1941579"/>
                    <a:ext cx="44450" cy="12700"/>
                  </a:xfrm>
                  <a:custGeom>
                    <a:avLst/>
                    <a:gdLst>
                      <a:gd name="connsiteX0" fmla="*/ 44498 w 44450"/>
                      <a:gd name="connsiteY0" fmla="*/ 27 h 12700"/>
                      <a:gd name="connsiteX1" fmla="*/ 48 w 44450"/>
                      <a:gd name="connsiteY1" fmla="*/ 27 h 12700"/>
                    </a:gdLst>
                    <a:ahLst/>
                    <a:cxnLst>
                      <a:cxn ang="0">
                        <a:pos x="connsiteX0" y="connsiteY0"/>
                      </a:cxn>
                      <a:cxn ang="0">
                        <a:pos x="connsiteX1" y="connsiteY1"/>
                      </a:cxn>
                    </a:cxnLst>
                    <a:rect l="l" t="t" r="r" b="b"/>
                    <a:pathLst>
                      <a:path w="44450" h="12700">
                        <a:moveTo>
                          <a:pt x="44498" y="27"/>
                        </a:moveTo>
                        <a:lnTo>
                          <a:pt x="48" y="27"/>
                        </a:lnTo>
                      </a:path>
                    </a:pathLst>
                  </a:custGeom>
                  <a:solidFill>
                    <a:srgbClr val="000000"/>
                  </a:solidFill>
                  <a:ln w="10160" cap="flat">
                    <a:solidFill>
                      <a:srgbClr val="000000"/>
                    </a:solidFill>
                    <a:prstDash val="solid"/>
                    <a:round/>
                  </a:ln>
                </p:spPr>
                <p:txBody>
                  <a:bodyPr rtlCol="0" anchor="ctr"/>
                  <a:lstStyle/>
                  <a:p>
                    <a:endParaRPr lang="en-US"/>
                  </a:p>
                </p:txBody>
              </p:sp>
              <p:grpSp>
                <p:nvGrpSpPr>
                  <p:cNvPr id="134" name="グラフィックス 2">
                    <a:extLst>
                      <a:ext uri="{FF2B5EF4-FFF2-40B4-BE49-F238E27FC236}">
                        <a16:creationId xmlns:a16="http://schemas.microsoft.com/office/drawing/2014/main" id="{84195A0D-D0C8-504D-1E73-CC1F1BE3E5B2}"/>
                      </a:ext>
                    </a:extLst>
                  </p:cNvPr>
                  <p:cNvGrpSpPr/>
                  <p:nvPr/>
                </p:nvGrpSpPr>
                <p:grpSpPr>
                  <a:xfrm>
                    <a:off x="-8579925" y="1895571"/>
                    <a:ext cx="179590" cy="96063"/>
                    <a:chOff x="-8579925" y="1895571"/>
                    <a:chExt cx="179590" cy="96063"/>
                  </a:xfrm>
                  <a:solidFill>
                    <a:srgbClr val="000000"/>
                  </a:solidFill>
                </p:grpSpPr>
                <p:sp>
                  <p:nvSpPr>
                    <p:cNvPr id="135" name="フリーフォーム: 図形 134">
                      <a:extLst>
                        <a:ext uri="{FF2B5EF4-FFF2-40B4-BE49-F238E27FC236}">
                          <a16:creationId xmlns:a16="http://schemas.microsoft.com/office/drawing/2014/main" id="{6D383032-5B07-1E36-A8D7-DD2F4F83C78E}"/>
                        </a:ext>
                      </a:extLst>
                    </p:cNvPr>
                    <p:cNvSpPr/>
                    <p:nvPr/>
                  </p:nvSpPr>
                  <p:spPr>
                    <a:xfrm flipV="1">
                      <a:off x="-8579925" y="1897237"/>
                      <a:ext cx="55125" cy="92590"/>
                    </a:xfrm>
                    <a:custGeom>
                      <a:avLst/>
                      <a:gdLst>
                        <a:gd name="connsiteX0" fmla="*/ -258 w 55125"/>
                        <a:gd name="connsiteY0" fmla="*/ 8231 h 92590"/>
                        <a:gd name="connsiteX1" fmla="*/ 20201 w 55125"/>
                        <a:gd name="connsiteY1" fmla="*/ 8231 h 92590"/>
                        <a:gd name="connsiteX2" fmla="*/ 20201 w 55125"/>
                        <a:gd name="connsiteY2" fmla="*/ 78875 h 92590"/>
                        <a:gd name="connsiteX3" fmla="*/ -2064 w 55125"/>
                        <a:gd name="connsiteY3" fmla="*/ 74410 h 92590"/>
                        <a:gd name="connsiteX4" fmla="*/ -2064 w 55125"/>
                        <a:gd name="connsiteY4" fmla="*/ 85820 h 92590"/>
                        <a:gd name="connsiteX5" fmla="*/ 20082 w 55125"/>
                        <a:gd name="connsiteY5" fmla="*/ 90285 h 92590"/>
                        <a:gd name="connsiteX6" fmla="*/ 32603 w 55125"/>
                        <a:gd name="connsiteY6" fmla="*/ 90285 h 92590"/>
                        <a:gd name="connsiteX7" fmla="*/ 32603 w 55125"/>
                        <a:gd name="connsiteY7" fmla="*/ 8231 h 92590"/>
                        <a:gd name="connsiteX8" fmla="*/ 53062 w 55125"/>
                        <a:gd name="connsiteY8" fmla="*/ 8231 h 92590"/>
                        <a:gd name="connsiteX9" fmla="*/ 53062 w 55125"/>
                        <a:gd name="connsiteY9" fmla="*/ -2306 h 92590"/>
                        <a:gd name="connsiteX10" fmla="*/ -258 w 55125"/>
                        <a:gd name="connsiteY10" fmla="*/ -2306 h 92590"/>
                        <a:gd name="connsiteX11" fmla="*/ -258 w 55125"/>
                        <a:gd name="connsiteY11" fmla="*/ 8231 h 92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125" h="92590">
                          <a:moveTo>
                            <a:pt x="-258" y="8231"/>
                          </a:moveTo>
                          <a:lnTo>
                            <a:pt x="20201" y="8231"/>
                          </a:lnTo>
                          <a:lnTo>
                            <a:pt x="20201" y="78875"/>
                          </a:lnTo>
                          <a:lnTo>
                            <a:pt x="-2064" y="74410"/>
                          </a:lnTo>
                          <a:lnTo>
                            <a:pt x="-2064" y="85820"/>
                          </a:lnTo>
                          <a:lnTo>
                            <a:pt x="20082" y="90285"/>
                          </a:lnTo>
                          <a:lnTo>
                            <a:pt x="32603" y="90285"/>
                          </a:lnTo>
                          <a:lnTo>
                            <a:pt x="32603" y="8231"/>
                          </a:lnTo>
                          <a:lnTo>
                            <a:pt x="53062" y="8231"/>
                          </a:lnTo>
                          <a:lnTo>
                            <a:pt x="53062" y="-2306"/>
                          </a:lnTo>
                          <a:lnTo>
                            <a:pt x="-258" y="-2306"/>
                          </a:lnTo>
                          <a:lnTo>
                            <a:pt x="-258" y="8231"/>
                          </a:lnTo>
                          <a:close/>
                        </a:path>
                      </a:pathLst>
                    </a:custGeom>
                    <a:solidFill>
                      <a:srgbClr val="000000"/>
                    </a:solidFill>
                    <a:ln w="20" cap="flat">
                      <a:noFill/>
                      <a:prstDash val="solid"/>
                      <a:round/>
                    </a:ln>
                  </p:spPr>
                  <p:txBody>
                    <a:bodyPr rtlCol="0" anchor="ctr"/>
                    <a:lstStyle/>
                    <a:p>
                      <a:endParaRPr lang="en-US"/>
                    </a:p>
                  </p:txBody>
                </p:sp>
                <p:sp>
                  <p:nvSpPr>
                    <p:cNvPr id="136" name="フリーフォーム: 図形 135">
                      <a:extLst>
                        <a:ext uri="{FF2B5EF4-FFF2-40B4-BE49-F238E27FC236}">
                          <a16:creationId xmlns:a16="http://schemas.microsoft.com/office/drawing/2014/main" id="{246942DB-B2BB-F555-7468-AF6C63A7DBDA}"/>
                        </a:ext>
                      </a:extLst>
                    </p:cNvPr>
                    <p:cNvSpPr/>
                    <p:nvPr/>
                  </p:nvSpPr>
                  <p:spPr>
                    <a:xfrm flipV="1">
                      <a:off x="-8499501" y="1974072"/>
                      <a:ext cx="13096" cy="15755"/>
                    </a:xfrm>
                    <a:custGeom>
                      <a:avLst/>
                      <a:gdLst>
                        <a:gd name="connsiteX0" fmla="*/ -981 w 13096"/>
                        <a:gd name="connsiteY0" fmla="*/ 15389 h 15755"/>
                        <a:gd name="connsiteX1" fmla="*/ 12116 w 13096"/>
                        <a:gd name="connsiteY1" fmla="*/ 15389 h 15755"/>
                        <a:gd name="connsiteX2" fmla="*/ 12116 w 13096"/>
                        <a:gd name="connsiteY2" fmla="*/ -367 h 15755"/>
                        <a:gd name="connsiteX3" fmla="*/ -981 w 13096"/>
                        <a:gd name="connsiteY3" fmla="*/ -367 h 15755"/>
                        <a:gd name="connsiteX4" fmla="*/ -981 w 13096"/>
                        <a:gd name="connsiteY4" fmla="*/ 15389 h 157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096" h="15755">
                          <a:moveTo>
                            <a:pt x="-981" y="15389"/>
                          </a:moveTo>
                          <a:lnTo>
                            <a:pt x="12116" y="15389"/>
                          </a:lnTo>
                          <a:lnTo>
                            <a:pt x="12116" y="-367"/>
                          </a:lnTo>
                          <a:lnTo>
                            <a:pt x="-981" y="-367"/>
                          </a:lnTo>
                          <a:lnTo>
                            <a:pt x="-981" y="15389"/>
                          </a:lnTo>
                          <a:close/>
                        </a:path>
                      </a:pathLst>
                    </a:custGeom>
                    <a:solidFill>
                      <a:srgbClr val="000000"/>
                    </a:solidFill>
                    <a:ln w="20" cap="flat">
                      <a:noFill/>
                      <a:prstDash val="solid"/>
                      <a:round/>
                    </a:ln>
                  </p:spPr>
                  <p:txBody>
                    <a:bodyPr rtlCol="0" anchor="ctr"/>
                    <a:lstStyle/>
                    <a:p>
                      <a:endParaRPr lang="en-US"/>
                    </a:p>
                  </p:txBody>
                </p:sp>
                <p:sp>
                  <p:nvSpPr>
                    <p:cNvPr id="137" name="フリーフォーム: 図形 136">
                      <a:extLst>
                        <a:ext uri="{FF2B5EF4-FFF2-40B4-BE49-F238E27FC236}">
                          <a16:creationId xmlns:a16="http://schemas.microsoft.com/office/drawing/2014/main" id="{D9AAFD33-7119-C9A5-C5AE-4ECDFFE81A8E}"/>
                        </a:ext>
                      </a:extLst>
                    </p:cNvPr>
                    <p:cNvSpPr/>
                    <p:nvPr/>
                  </p:nvSpPr>
                  <p:spPr>
                    <a:xfrm flipV="1">
                      <a:off x="-8464330" y="1895571"/>
                      <a:ext cx="63996" cy="96063"/>
                    </a:xfrm>
                    <a:custGeom>
                      <a:avLst/>
                      <a:gdLst>
                        <a:gd name="connsiteX0" fmla="*/ 29991 w 63996"/>
                        <a:gd name="connsiteY0" fmla="*/ 83839 h 96063"/>
                        <a:gd name="connsiteX1" fmla="*/ 15446 w 63996"/>
                        <a:gd name="connsiteY1" fmla="*/ 74314 h 96063"/>
                        <a:gd name="connsiteX2" fmla="*/ 10584 w 63996"/>
                        <a:gd name="connsiteY2" fmla="*/ 45700 h 96063"/>
                        <a:gd name="connsiteX3" fmla="*/ 15446 w 63996"/>
                        <a:gd name="connsiteY3" fmla="*/ 17144 h 96063"/>
                        <a:gd name="connsiteX4" fmla="*/ 29991 w 63996"/>
                        <a:gd name="connsiteY4" fmla="*/ 7619 h 96063"/>
                        <a:gd name="connsiteX5" fmla="*/ 44596 w 63996"/>
                        <a:gd name="connsiteY5" fmla="*/ 17144 h 96063"/>
                        <a:gd name="connsiteX6" fmla="*/ 49478 w 63996"/>
                        <a:gd name="connsiteY6" fmla="*/ 45700 h 96063"/>
                        <a:gd name="connsiteX7" fmla="*/ 44596 w 63996"/>
                        <a:gd name="connsiteY7" fmla="*/ 74314 h 96063"/>
                        <a:gd name="connsiteX8" fmla="*/ 29991 w 63996"/>
                        <a:gd name="connsiteY8" fmla="*/ 83839 h 96063"/>
                        <a:gd name="connsiteX9" fmla="*/ 29991 w 63996"/>
                        <a:gd name="connsiteY9" fmla="*/ 93761 h 96063"/>
                        <a:gd name="connsiteX10" fmla="*/ 53784 w 63996"/>
                        <a:gd name="connsiteY10" fmla="*/ 81438 h 96063"/>
                        <a:gd name="connsiteX11" fmla="*/ 61999 w 63996"/>
                        <a:gd name="connsiteY11" fmla="*/ 45700 h 96063"/>
                        <a:gd name="connsiteX12" fmla="*/ 53784 w 63996"/>
                        <a:gd name="connsiteY12" fmla="*/ 10001 h 96063"/>
                        <a:gd name="connsiteX13" fmla="*/ 29991 w 63996"/>
                        <a:gd name="connsiteY13" fmla="*/ -2302 h 96063"/>
                        <a:gd name="connsiteX14" fmla="*/ 6218 w 63996"/>
                        <a:gd name="connsiteY14" fmla="*/ 10001 h 96063"/>
                        <a:gd name="connsiteX15" fmla="*/ -1997 w 63996"/>
                        <a:gd name="connsiteY15" fmla="*/ 45700 h 96063"/>
                        <a:gd name="connsiteX16" fmla="*/ 6218 w 63996"/>
                        <a:gd name="connsiteY16" fmla="*/ 81438 h 96063"/>
                        <a:gd name="connsiteX17" fmla="*/ 29991 w 63996"/>
                        <a:gd name="connsiteY17" fmla="*/ 93761 h 960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3996" h="96063">
                          <a:moveTo>
                            <a:pt x="29991" y="83839"/>
                          </a:moveTo>
                          <a:cubicBezTo>
                            <a:pt x="23548" y="83839"/>
                            <a:pt x="18700" y="80664"/>
                            <a:pt x="15446" y="74314"/>
                          </a:cubicBezTo>
                          <a:cubicBezTo>
                            <a:pt x="12205" y="67978"/>
                            <a:pt x="10584" y="58439"/>
                            <a:pt x="10584" y="45700"/>
                          </a:cubicBezTo>
                          <a:cubicBezTo>
                            <a:pt x="10584" y="33013"/>
                            <a:pt x="12205" y="23494"/>
                            <a:pt x="15446" y="17144"/>
                          </a:cubicBezTo>
                          <a:cubicBezTo>
                            <a:pt x="18700" y="10794"/>
                            <a:pt x="23548" y="7619"/>
                            <a:pt x="29991" y="7619"/>
                          </a:cubicBezTo>
                          <a:cubicBezTo>
                            <a:pt x="36487" y="7619"/>
                            <a:pt x="41355" y="10794"/>
                            <a:pt x="44596" y="17144"/>
                          </a:cubicBezTo>
                          <a:cubicBezTo>
                            <a:pt x="47851" y="23494"/>
                            <a:pt x="49478" y="33013"/>
                            <a:pt x="49478" y="45700"/>
                          </a:cubicBezTo>
                          <a:cubicBezTo>
                            <a:pt x="49478" y="58439"/>
                            <a:pt x="47851" y="67978"/>
                            <a:pt x="44596" y="74314"/>
                          </a:cubicBezTo>
                          <a:cubicBezTo>
                            <a:pt x="41355" y="80664"/>
                            <a:pt x="36487" y="83839"/>
                            <a:pt x="29991" y="83839"/>
                          </a:cubicBezTo>
                          <a:close/>
                          <a:moveTo>
                            <a:pt x="29991" y="93761"/>
                          </a:moveTo>
                          <a:cubicBezTo>
                            <a:pt x="40376" y="93761"/>
                            <a:pt x="48307" y="89653"/>
                            <a:pt x="53784" y="81438"/>
                          </a:cubicBezTo>
                          <a:cubicBezTo>
                            <a:pt x="59261" y="73236"/>
                            <a:pt x="61999" y="61323"/>
                            <a:pt x="61999" y="45700"/>
                          </a:cubicBezTo>
                          <a:cubicBezTo>
                            <a:pt x="61999" y="30116"/>
                            <a:pt x="59261" y="18216"/>
                            <a:pt x="53784" y="10001"/>
                          </a:cubicBezTo>
                          <a:cubicBezTo>
                            <a:pt x="48307" y="1799"/>
                            <a:pt x="40376" y="-2302"/>
                            <a:pt x="29991" y="-2302"/>
                          </a:cubicBezTo>
                          <a:cubicBezTo>
                            <a:pt x="19619" y="-2302"/>
                            <a:pt x="11695" y="1799"/>
                            <a:pt x="6218" y="10001"/>
                          </a:cubicBezTo>
                          <a:cubicBezTo>
                            <a:pt x="741" y="18216"/>
                            <a:pt x="-1997" y="30116"/>
                            <a:pt x="-1997" y="45700"/>
                          </a:cubicBezTo>
                          <a:cubicBezTo>
                            <a:pt x="-1997" y="61323"/>
                            <a:pt x="741" y="73236"/>
                            <a:pt x="6218" y="81438"/>
                          </a:cubicBezTo>
                          <a:cubicBezTo>
                            <a:pt x="11695" y="89653"/>
                            <a:pt x="19619" y="93761"/>
                            <a:pt x="29991" y="93761"/>
                          </a:cubicBezTo>
                          <a:close/>
                        </a:path>
                      </a:pathLst>
                    </a:custGeom>
                    <a:solidFill>
                      <a:srgbClr val="000000"/>
                    </a:solidFill>
                    <a:ln w="20" cap="flat">
                      <a:noFill/>
                      <a:prstDash val="solid"/>
                      <a:round/>
                    </a:ln>
                  </p:spPr>
                  <p:txBody>
                    <a:bodyPr rtlCol="0" anchor="ctr"/>
                    <a:lstStyle/>
                    <a:p>
                      <a:endParaRPr lang="en-US"/>
                    </a:p>
                  </p:txBody>
                </p:sp>
              </p:grpSp>
            </p:grpSp>
            <p:grpSp>
              <p:nvGrpSpPr>
                <p:cNvPr id="138" name="グラフィックス 2">
                  <a:extLst>
                    <a:ext uri="{FF2B5EF4-FFF2-40B4-BE49-F238E27FC236}">
                      <a16:creationId xmlns:a16="http://schemas.microsoft.com/office/drawing/2014/main" id="{83F3EB47-C2BC-1DAB-66B5-9AEA05C0F3C9}"/>
                    </a:ext>
                  </a:extLst>
                </p:cNvPr>
                <p:cNvGrpSpPr/>
                <p:nvPr/>
              </p:nvGrpSpPr>
              <p:grpSpPr>
                <a:xfrm>
                  <a:off x="-8767587" y="2659736"/>
                  <a:ext cx="122912" cy="1528391"/>
                  <a:chOff x="-8767587" y="2659736"/>
                  <a:chExt cx="122912" cy="1528391"/>
                </a:xfrm>
                <a:solidFill>
                  <a:srgbClr val="000000"/>
                </a:solidFill>
              </p:grpSpPr>
              <p:sp>
                <p:nvSpPr>
                  <p:cNvPr id="139" name="フリーフォーム: 図形 138">
                    <a:extLst>
                      <a:ext uri="{FF2B5EF4-FFF2-40B4-BE49-F238E27FC236}">
                        <a16:creationId xmlns:a16="http://schemas.microsoft.com/office/drawing/2014/main" id="{E3B12BFB-C8D3-B8E5-B134-3B6829E5FA2B}"/>
                      </a:ext>
                    </a:extLst>
                  </p:cNvPr>
                  <p:cNvSpPr/>
                  <p:nvPr/>
                </p:nvSpPr>
                <p:spPr>
                  <a:xfrm rot="-5400000" flipV="1">
                    <a:off x="-8749897" y="4107512"/>
                    <a:ext cx="65166" cy="96063"/>
                  </a:xfrm>
                  <a:custGeom>
                    <a:avLst/>
                    <a:gdLst>
                      <a:gd name="connsiteX0" fmla="*/ 57542 w 65166"/>
                      <a:gd name="connsiteY0" fmla="*/ 89232 h 96063"/>
                      <a:gd name="connsiteX1" fmla="*/ 57542 w 65166"/>
                      <a:gd name="connsiteY1" fmla="*/ 77009 h 96063"/>
                      <a:gd name="connsiteX2" fmla="*/ 44088 w 65166"/>
                      <a:gd name="connsiteY2" fmla="*/ 82089 h 96063"/>
                      <a:gd name="connsiteX3" fmla="*/ 31864 w 65166"/>
                      <a:gd name="connsiteY3" fmla="*/ 83775 h 96063"/>
                      <a:gd name="connsiteX4" fmla="*/ 16088 w 65166"/>
                      <a:gd name="connsiteY4" fmla="*/ 79807 h 96063"/>
                      <a:gd name="connsiteX5" fmla="*/ 10532 w 65166"/>
                      <a:gd name="connsiteY5" fmla="*/ 68515 h 96063"/>
                      <a:gd name="connsiteX6" fmla="*/ 14223 w 65166"/>
                      <a:gd name="connsiteY6" fmla="*/ 59229 h 96063"/>
                      <a:gd name="connsiteX7" fmla="*/ 28213 w 65166"/>
                      <a:gd name="connsiteY7" fmla="*/ 54188 h 96063"/>
                      <a:gd name="connsiteX8" fmla="*/ 35773 w 65166"/>
                      <a:gd name="connsiteY8" fmla="*/ 52640 h 96063"/>
                      <a:gd name="connsiteX9" fmla="*/ 56450 w 65166"/>
                      <a:gd name="connsiteY9" fmla="*/ 43235 h 96063"/>
                      <a:gd name="connsiteX10" fmla="*/ 63118 w 65166"/>
                      <a:gd name="connsiteY10" fmla="*/ 25236 h 96063"/>
                      <a:gd name="connsiteX11" fmla="*/ 54089 w 65166"/>
                      <a:gd name="connsiteY11" fmla="*/ 4817 h 96063"/>
                      <a:gd name="connsiteX12" fmla="*/ 27657 w 65166"/>
                      <a:gd name="connsiteY12" fmla="*/ -2128 h 96063"/>
                      <a:gd name="connsiteX13" fmla="*/ 13667 w 65166"/>
                      <a:gd name="connsiteY13" fmla="*/ -640 h 96063"/>
                      <a:gd name="connsiteX14" fmla="*/ -1672 w 65166"/>
                      <a:gd name="connsiteY14" fmla="*/ 3765 h 96063"/>
                      <a:gd name="connsiteX15" fmla="*/ -1672 w 65166"/>
                      <a:gd name="connsiteY15" fmla="*/ 16664 h 96063"/>
                      <a:gd name="connsiteX16" fmla="*/ 13270 w 65166"/>
                      <a:gd name="connsiteY16" fmla="*/ 10215 h 96063"/>
                      <a:gd name="connsiteX17" fmla="*/ 27657 w 65166"/>
                      <a:gd name="connsiteY17" fmla="*/ 8052 h 96063"/>
                      <a:gd name="connsiteX18" fmla="*/ 44207 w 65166"/>
                      <a:gd name="connsiteY18" fmla="*/ 12258 h 96063"/>
                      <a:gd name="connsiteX19" fmla="*/ 50041 w 65166"/>
                      <a:gd name="connsiteY19" fmla="*/ 24304 h 96063"/>
                      <a:gd name="connsiteX20" fmla="*/ 45854 w 65166"/>
                      <a:gd name="connsiteY20" fmla="*/ 34960 h 96063"/>
                      <a:gd name="connsiteX21" fmla="*/ 32122 w 65166"/>
                      <a:gd name="connsiteY21" fmla="*/ 40734 h 96063"/>
                      <a:gd name="connsiteX22" fmla="*/ 24482 w 65166"/>
                      <a:gd name="connsiteY22" fmla="*/ 42222 h 96063"/>
                      <a:gd name="connsiteX23" fmla="*/ 4202 w 65166"/>
                      <a:gd name="connsiteY23" fmla="*/ 50954 h 96063"/>
                      <a:gd name="connsiteX24" fmla="*/ -2049 w 65166"/>
                      <a:gd name="connsiteY24" fmla="*/ 67523 h 96063"/>
                      <a:gd name="connsiteX25" fmla="*/ 6603 w 65166"/>
                      <a:gd name="connsiteY25" fmla="*/ 86871 h 96063"/>
                      <a:gd name="connsiteX26" fmla="*/ 30435 w 65166"/>
                      <a:gd name="connsiteY26" fmla="*/ 93935 h 96063"/>
                      <a:gd name="connsiteX27" fmla="*/ 43711 w 65166"/>
                      <a:gd name="connsiteY27" fmla="*/ 92745 h 96063"/>
                      <a:gd name="connsiteX28" fmla="*/ 57542 w 65166"/>
                      <a:gd name="connsiteY28" fmla="*/ 89232 h 960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65166" h="96063">
                        <a:moveTo>
                          <a:pt x="57542" y="89232"/>
                        </a:moveTo>
                        <a:lnTo>
                          <a:pt x="57542" y="77009"/>
                        </a:lnTo>
                        <a:cubicBezTo>
                          <a:pt x="52793" y="79284"/>
                          <a:pt x="48308" y="80977"/>
                          <a:pt x="44088" y="82089"/>
                        </a:cubicBezTo>
                        <a:cubicBezTo>
                          <a:pt x="39868" y="83213"/>
                          <a:pt x="35793" y="83775"/>
                          <a:pt x="31864" y="83775"/>
                        </a:cubicBezTo>
                        <a:cubicBezTo>
                          <a:pt x="25051" y="83775"/>
                          <a:pt x="19793" y="82452"/>
                          <a:pt x="16088" y="79807"/>
                        </a:cubicBezTo>
                        <a:cubicBezTo>
                          <a:pt x="12384" y="77161"/>
                          <a:pt x="10532" y="73397"/>
                          <a:pt x="10532" y="68515"/>
                        </a:cubicBezTo>
                        <a:cubicBezTo>
                          <a:pt x="10532" y="64414"/>
                          <a:pt x="11762" y="61319"/>
                          <a:pt x="14223" y="59229"/>
                        </a:cubicBezTo>
                        <a:cubicBezTo>
                          <a:pt x="16684" y="57152"/>
                          <a:pt x="21347" y="55472"/>
                          <a:pt x="28213" y="54188"/>
                        </a:cubicBezTo>
                        <a:lnTo>
                          <a:pt x="35773" y="52640"/>
                        </a:lnTo>
                        <a:cubicBezTo>
                          <a:pt x="45113" y="50855"/>
                          <a:pt x="52005" y="47719"/>
                          <a:pt x="56450" y="43235"/>
                        </a:cubicBezTo>
                        <a:cubicBezTo>
                          <a:pt x="60895" y="38750"/>
                          <a:pt x="63118" y="32750"/>
                          <a:pt x="63118" y="25236"/>
                        </a:cubicBezTo>
                        <a:cubicBezTo>
                          <a:pt x="63118" y="16254"/>
                          <a:pt x="60108" y="9447"/>
                          <a:pt x="54089" y="4817"/>
                        </a:cubicBezTo>
                        <a:cubicBezTo>
                          <a:pt x="48083" y="187"/>
                          <a:pt x="39272" y="-2128"/>
                          <a:pt x="27657" y="-2128"/>
                        </a:cubicBezTo>
                        <a:cubicBezTo>
                          <a:pt x="23278" y="-2128"/>
                          <a:pt x="18615" y="-1632"/>
                          <a:pt x="13667" y="-640"/>
                        </a:cubicBezTo>
                        <a:cubicBezTo>
                          <a:pt x="8733" y="352"/>
                          <a:pt x="3620" y="1821"/>
                          <a:pt x="-1672" y="3765"/>
                        </a:cubicBezTo>
                        <a:lnTo>
                          <a:pt x="-1672" y="16664"/>
                        </a:lnTo>
                        <a:cubicBezTo>
                          <a:pt x="3408" y="13819"/>
                          <a:pt x="8389" y="11670"/>
                          <a:pt x="13270" y="10215"/>
                        </a:cubicBezTo>
                        <a:cubicBezTo>
                          <a:pt x="18152" y="8773"/>
                          <a:pt x="22948" y="8052"/>
                          <a:pt x="27657" y="8052"/>
                        </a:cubicBezTo>
                        <a:cubicBezTo>
                          <a:pt x="34801" y="8052"/>
                          <a:pt x="40318" y="9454"/>
                          <a:pt x="44207" y="12258"/>
                        </a:cubicBezTo>
                        <a:cubicBezTo>
                          <a:pt x="48096" y="15076"/>
                          <a:pt x="50041" y="19091"/>
                          <a:pt x="50041" y="24304"/>
                        </a:cubicBezTo>
                        <a:cubicBezTo>
                          <a:pt x="50041" y="28841"/>
                          <a:pt x="48645" y="32393"/>
                          <a:pt x="45854" y="34960"/>
                        </a:cubicBezTo>
                        <a:cubicBezTo>
                          <a:pt x="43062" y="37526"/>
                          <a:pt x="38485" y="39451"/>
                          <a:pt x="32122" y="40734"/>
                        </a:cubicBezTo>
                        <a:lnTo>
                          <a:pt x="24482" y="42222"/>
                        </a:lnTo>
                        <a:cubicBezTo>
                          <a:pt x="15142" y="44075"/>
                          <a:pt x="8382" y="46985"/>
                          <a:pt x="4202" y="50954"/>
                        </a:cubicBezTo>
                        <a:cubicBezTo>
                          <a:pt x="35" y="54922"/>
                          <a:pt x="-2049" y="60446"/>
                          <a:pt x="-2049" y="67523"/>
                        </a:cubicBezTo>
                        <a:cubicBezTo>
                          <a:pt x="-2049" y="75712"/>
                          <a:pt x="835" y="82161"/>
                          <a:pt x="6603" y="86871"/>
                        </a:cubicBezTo>
                        <a:cubicBezTo>
                          <a:pt x="12371" y="91580"/>
                          <a:pt x="20315" y="93935"/>
                          <a:pt x="30435" y="93935"/>
                        </a:cubicBezTo>
                        <a:cubicBezTo>
                          <a:pt x="34788" y="93935"/>
                          <a:pt x="39213" y="93538"/>
                          <a:pt x="43711" y="92745"/>
                        </a:cubicBezTo>
                        <a:cubicBezTo>
                          <a:pt x="48222" y="91964"/>
                          <a:pt x="52832" y="90793"/>
                          <a:pt x="57542" y="89232"/>
                        </a:cubicBezTo>
                        <a:close/>
                      </a:path>
                    </a:pathLst>
                  </a:custGeom>
                  <a:solidFill>
                    <a:srgbClr val="000000"/>
                  </a:solidFill>
                  <a:ln w="20" cap="flat">
                    <a:noFill/>
                    <a:prstDash val="solid"/>
                    <a:round/>
                  </a:ln>
                </p:spPr>
                <p:txBody>
                  <a:bodyPr rtlCol="0" anchor="ctr"/>
                  <a:lstStyle/>
                  <a:p>
                    <a:endParaRPr lang="en-US"/>
                  </a:p>
                </p:txBody>
              </p:sp>
              <p:sp>
                <p:nvSpPr>
                  <p:cNvPr id="140" name="フリーフォーム: 図形 139">
                    <a:extLst>
                      <a:ext uri="{FF2B5EF4-FFF2-40B4-BE49-F238E27FC236}">
                        <a16:creationId xmlns:a16="http://schemas.microsoft.com/office/drawing/2014/main" id="{191B827B-8F66-FEA0-CEA1-B024979D7894}"/>
                      </a:ext>
                    </a:extLst>
                  </p:cNvPr>
                  <p:cNvSpPr/>
                  <p:nvPr/>
                </p:nvSpPr>
                <p:spPr>
                  <a:xfrm rot="-5400000" flipV="1">
                    <a:off x="-8737623" y="4040540"/>
                    <a:ext cx="63757" cy="72925"/>
                  </a:xfrm>
                  <a:custGeom>
                    <a:avLst/>
                    <a:gdLst>
                      <a:gd name="connsiteX0" fmla="*/ 29926 w 63757"/>
                      <a:gd name="connsiteY0" fmla="*/ 61710 h 72925"/>
                      <a:gd name="connsiteX1" fmla="*/ 15420 w 63757"/>
                      <a:gd name="connsiteY1" fmla="*/ 54547 h 72925"/>
                      <a:gd name="connsiteX2" fmla="*/ 10082 w 63757"/>
                      <a:gd name="connsiteY2" fmla="*/ 34921 h 72925"/>
                      <a:gd name="connsiteX3" fmla="*/ 15380 w 63757"/>
                      <a:gd name="connsiteY3" fmla="*/ 15296 h 72925"/>
                      <a:gd name="connsiteX4" fmla="*/ 29926 w 63757"/>
                      <a:gd name="connsiteY4" fmla="*/ 8132 h 72925"/>
                      <a:gd name="connsiteX5" fmla="*/ 44372 w 63757"/>
                      <a:gd name="connsiteY5" fmla="*/ 15316 h 72925"/>
                      <a:gd name="connsiteX6" fmla="*/ 49710 w 63757"/>
                      <a:gd name="connsiteY6" fmla="*/ 34921 h 72925"/>
                      <a:gd name="connsiteX7" fmla="*/ 44372 w 63757"/>
                      <a:gd name="connsiteY7" fmla="*/ 54487 h 72925"/>
                      <a:gd name="connsiteX8" fmla="*/ 29926 w 63757"/>
                      <a:gd name="connsiteY8" fmla="*/ 61710 h 72925"/>
                      <a:gd name="connsiteX9" fmla="*/ 29926 w 63757"/>
                      <a:gd name="connsiteY9" fmla="*/ 71374 h 72925"/>
                      <a:gd name="connsiteX10" fmla="*/ 53302 w 63757"/>
                      <a:gd name="connsiteY10" fmla="*/ 61691 h 72925"/>
                      <a:gd name="connsiteX11" fmla="*/ 61814 w 63757"/>
                      <a:gd name="connsiteY11" fmla="*/ 34921 h 72925"/>
                      <a:gd name="connsiteX12" fmla="*/ 53302 w 63757"/>
                      <a:gd name="connsiteY12" fmla="*/ 8152 h 72925"/>
                      <a:gd name="connsiteX13" fmla="*/ 29926 w 63757"/>
                      <a:gd name="connsiteY13" fmla="*/ -1551 h 72925"/>
                      <a:gd name="connsiteX14" fmla="*/ 6510 w 63757"/>
                      <a:gd name="connsiteY14" fmla="*/ 8152 h 72925"/>
                      <a:gd name="connsiteX15" fmla="*/ -1943 w 63757"/>
                      <a:gd name="connsiteY15" fmla="*/ 34921 h 72925"/>
                      <a:gd name="connsiteX16" fmla="*/ 6510 w 63757"/>
                      <a:gd name="connsiteY16" fmla="*/ 61691 h 72925"/>
                      <a:gd name="connsiteX17" fmla="*/ 29926 w 63757"/>
                      <a:gd name="connsiteY17" fmla="*/ 71374 h 7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3757" h="72925">
                        <a:moveTo>
                          <a:pt x="29926" y="61710"/>
                        </a:moveTo>
                        <a:cubicBezTo>
                          <a:pt x="23814" y="61710"/>
                          <a:pt x="18978" y="59323"/>
                          <a:pt x="15420" y="54547"/>
                        </a:cubicBezTo>
                        <a:cubicBezTo>
                          <a:pt x="11861" y="49771"/>
                          <a:pt x="10082" y="43229"/>
                          <a:pt x="10082" y="34921"/>
                        </a:cubicBezTo>
                        <a:cubicBezTo>
                          <a:pt x="10082" y="26613"/>
                          <a:pt x="11848" y="20072"/>
                          <a:pt x="15380" y="15296"/>
                        </a:cubicBezTo>
                        <a:cubicBezTo>
                          <a:pt x="18926" y="10520"/>
                          <a:pt x="23774" y="8132"/>
                          <a:pt x="29926" y="8132"/>
                        </a:cubicBezTo>
                        <a:cubicBezTo>
                          <a:pt x="36011" y="8132"/>
                          <a:pt x="40826" y="10527"/>
                          <a:pt x="44372" y="15316"/>
                        </a:cubicBezTo>
                        <a:cubicBezTo>
                          <a:pt x="47930" y="20118"/>
                          <a:pt x="49710" y="26653"/>
                          <a:pt x="49710" y="34921"/>
                        </a:cubicBezTo>
                        <a:cubicBezTo>
                          <a:pt x="49710" y="43150"/>
                          <a:pt x="47930" y="49672"/>
                          <a:pt x="44372" y="54487"/>
                        </a:cubicBezTo>
                        <a:cubicBezTo>
                          <a:pt x="40826" y="59303"/>
                          <a:pt x="36011" y="61710"/>
                          <a:pt x="29926" y="61710"/>
                        </a:cubicBezTo>
                        <a:close/>
                        <a:moveTo>
                          <a:pt x="29926" y="71374"/>
                        </a:moveTo>
                        <a:cubicBezTo>
                          <a:pt x="39847" y="71374"/>
                          <a:pt x="47639" y="68146"/>
                          <a:pt x="53302" y="61691"/>
                        </a:cubicBezTo>
                        <a:cubicBezTo>
                          <a:pt x="58977" y="55248"/>
                          <a:pt x="61814" y="46325"/>
                          <a:pt x="61814" y="34921"/>
                        </a:cubicBezTo>
                        <a:cubicBezTo>
                          <a:pt x="61814" y="23557"/>
                          <a:pt x="58977" y="14634"/>
                          <a:pt x="53302" y="8152"/>
                        </a:cubicBezTo>
                        <a:cubicBezTo>
                          <a:pt x="47639" y="1683"/>
                          <a:pt x="39847" y="-1551"/>
                          <a:pt x="29926" y="-1551"/>
                        </a:cubicBezTo>
                        <a:cubicBezTo>
                          <a:pt x="19964" y="-1551"/>
                          <a:pt x="12159" y="1683"/>
                          <a:pt x="6510" y="8152"/>
                        </a:cubicBezTo>
                        <a:cubicBezTo>
                          <a:pt x="874" y="14634"/>
                          <a:pt x="-1943" y="23557"/>
                          <a:pt x="-1943" y="34921"/>
                        </a:cubicBezTo>
                        <a:cubicBezTo>
                          <a:pt x="-1943" y="46325"/>
                          <a:pt x="874" y="55248"/>
                          <a:pt x="6510" y="61691"/>
                        </a:cubicBezTo>
                        <a:cubicBezTo>
                          <a:pt x="12159" y="68146"/>
                          <a:pt x="19964" y="71374"/>
                          <a:pt x="29926" y="71374"/>
                        </a:cubicBezTo>
                        <a:close/>
                      </a:path>
                    </a:pathLst>
                  </a:custGeom>
                  <a:solidFill>
                    <a:srgbClr val="000000"/>
                  </a:solidFill>
                  <a:ln w="20" cap="flat">
                    <a:noFill/>
                    <a:prstDash val="solid"/>
                    <a:round/>
                  </a:ln>
                </p:spPr>
                <p:txBody>
                  <a:bodyPr rtlCol="0" anchor="ctr"/>
                  <a:lstStyle/>
                  <a:p>
                    <a:endParaRPr lang="en-US"/>
                  </a:p>
                </p:txBody>
              </p:sp>
              <p:sp>
                <p:nvSpPr>
                  <p:cNvPr id="141" name="フリーフォーム: 図形 140">
                    <a:extLst>
                      <a:ext uri="{FF2B5EF4-FFF2-40B4-BE49-F238E27FC236}">
                        <a16:creationId xmlns:a16="http://schemas.microsoft.com/office/drawing/2014/main" id="{EBCF2B70-6FFF-9E3A-250A-039391C7A921}"/>
                      </a:ext>
                    </a:extLst>
                  </p:cNvPr>
                  <p:cNvSpPr/>
                  <p:nvPr/>
                </p:nvSpPr>
                <p:spPr>
                  <a:xfrm rot="-5400000" flipV="1">
                    <a:off x="-8725042" y="3972265"/>
                    <a:ext cx="11410" cy="96500"/>
                  </a:xfrm>
                  <a:custGeom>
                    <a:avLst/>
                    <a:gdLst>
                      <a:gd name="connsiteX0" fmla="*/ -876 w 11410"/>
                      <a:gd name="connsiteY0" fmla="*/ 94259 h 96500"/>
                      <a:gd name="connsiteX1" fmla="*/ 10535 w 11410"/>
                      <a:gd name="connsiteY1" fmla="*/ 94259 h 96500"/>
                      <a:gd name="connsiteX2" fmla="*/ 10535 w 11410"/>
                      <a:gd name="connsiteY2" fmla="*/ -2241 h 96500"/>
                      <a:gd name="connsiteX3" fmla="*/ -876 w 11410"/>
                      <a:gd name="connsiteY3" fmla="*/ -2241 h 96500"/>
                      <a:gd name="connsiteX4" fmla="*/ -876 w 11410"/>
                      <a:gd name="connsiteY4" fmla="*/ 94259 h 965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10" h="96500">
                        <a:moveTo>
                          <a:pt x="-876" y="94259"/>
                        </a:moveTo>
                        <a:lnTo>
                          <a:pt x="10535" y="94259"/>
                        </a:lnTo>
                        <a:lnTo>
                          <a:pt x="10535" y="-2241"/>
                        </a:lnTo>
                        <a:lnTo>
                          <a:pt x="-876" y="-2241"/>
                        </a:lnTo>
                        <a:lnTo>
                          <a:pt x="-876" y="94259"/>
                        </a:lnTo>
                        <a:close/>
                      </a:path>
                    </a:pathLst>
                  </a:custGeom>
                  <a:solidFill>
                    <a:srgbClr val="000000"/>
                  </a:solidFill>
                  <a:ln w="20" cap="flat">
                    <a:noFill/>
                    <a:prstDash val="solid"/>
                    <a:round/>
                  </a:ln>
                </p:spPr>
                <p:txBody>
                  <a:bodyPr rtlCol="0" anchor="ctr"/>
                  <a:lstStyle/>
                  <a:p>
                    <a:endParaRPr lang="en-US"/>
                  </a:p>
                </p:txBody>
              </p:sp>
              <p:sp>
                <p:nvSpPr>
                  <p:cNvPr id="142" name="フリーフォーム: 図形 141">
                    <a:extLst>
                      <a:ext uri="{FF2B5EF4-FFF2-40B4-BE49-F238E27FC236}">
                        <a16:creationId xmlns:a16="http://schemas.microsoft.com/office/drawing/2014/main" id="{560DEB25-799D-6E3D-0034-DA327CD709FD}"/>
                      </a:ext>
                    </a:extLst>
                  </p:cNvPr>
                  <p:cNvSpPr/>
                  <p:nvPr/>
                </p:nvSpPr>
                <p:spPr>
                  <a:xfrm rot="-5400000" flipV="1">
                    <a:off x="-8735083" y="3929480"/>
                    <a:ext cx="58677" cy="72925"/>
                  </a:xfrm>
                  <a:custGeom>
                    <a:avLst/>
                    <a:gdLst>
                      <a:gd name="connsiteX0" fmla="*/ 34071 w 58677"/>
                      <a:gd name="connsiteY0" fmla="*/ 35151 h 72925"/>
                      <a:gd name="connsiteX1" fmla="*/ 14902 w 58677"/>
                      <a:gd name="connsiteY1" fmla="*/ 31996 h 72925"/>
                      <a:gd name="connsiteX2" fmla="*/ 9564 w 58677"/>
                      <a:gd name="connsiteY2" fmla="*/ 21201 h 72925"/>
                      <a:gd name="connsiteX3" fmla="*/ 13572 w 58677"/>
                      <a:gd name="connsiteY3" fmla="*/ 11556 h 72925"/>
                      <a:gd name="connsiteX4" fmla="*/ 24446 w 58677"/>
                      <a:gd name="connsiteY4" fmla="*/ 8004 h 72925"/>
                      <a:gd name="connsiteX5" fmla="*/ 39686 w 58677"/>
                      <a:gd name="connsiteY5" fmla="*/ 14731 h 72925"/>
                      <a:gd name="connsiteX6" fmla="*/ 45421 w 58677"/>
                      <a:gd name="connsiteY6" fmla="*/ 32611 h 72925"/>
                      <a:gd name="connsiteX7" fmla="*/ 45421 w 58677"/>
                      <a:gd name="connsiteY7" fmla="*/ 35151 h 72925"/>
                      <a:gd name="connsiteX8" fmla="*/ 34071 w 58677"/>
                      <a:gd name="connsiteY8" fmla="*/ 35151 h 72925"/>
                      <a:gd name="connsiteX9" fmla="*/ 56831 w 58677"/>
                      <a:gd name="connsiteY9" fmla="*/ 39874 h 72925"/>
                      <a:gd name="connsiteX10" fmla="*/ 56831 w 58677"/>
                      <a:gd name="connsiteY10" fmla="*/ 246 h 72925"/>
                      <a:gd name="connsiteX11" fmla="*/ 45421 w 58677"/>
                      <a:gd name="connsiteY11" fmla="*/ 246 h 72925"/>
                      <a:gd name="connsiteX12" fmla="*/ 45421 w 58677"/>
                      <a:gd name="connsiteY12" fmla="*/ 10783 h 72925"/>
                      <a:gd name="connsiteX13" fmla="*/ 35678 w 58677"/>
                      <a:gd name="connsiteY13" fmla="*/ 1456 h 72925"/>
                      <a:gd name="connsiteX14" fmla="*/ 21410 w 58677"/>
                      <a:gd name="connsiteY14" fmla="*/ -1560 h 72925"/>
                      <a:gd name="connsiteX15" fmla="*/ 4444 w 58677"/>
                      <a:gd name="connsiteY15" fmla="*/ 4433 h 72925"/>
                      <a:gd name="connsiteX16" fmla="*/ -1846 w 58677"/>
                      <a:gd name="connsiteY16" fmla="*/ 20466 h 72925"/>
                      <a:gd name="connsiteX17" fmla="*/ 5992 w 58677"/>
                      <a:gd name="connsiteY17" fmla="*/ 38127 h 72925"/>
                      <a:gd name="connsiteX18" fmla="*/ 29407 w 58677"/>
                      <a:gd name="connsiteY18" fmla="*/ 44080 h 72925"/>
                      <a:gd name="connsiteX19" fmla="*/ 45421 w 58677"/>
                      <a:gd name="connsiteY19" fmla="*/ 44080 h 72925"/>
                      <a:gd name="connsiteX20" fmla="*/ 45421 w 58677"/>
                      <a:gd name="connsiteY20" fmla="*/ 45211 h 72925"/>
                      <a:gd name="connsiteX21" fmla="*/ 40242 w 58677"/>
                      <a:gd name="connsiteY21" fmla="*/ 57396 h 72925"/>
                      <a:gd name="connsiteX22" fmla="*/ 25697 w 58677"/>
                      <a:gd name="connsiteY22" fmla="*/ 61702 h 72925"/>
                      <a:gd name="connsiteX23" fmla="*/ 14088 w 58677"/>
                      <a:gd name="connsiteY23" fmla="*/ 60273 h 72925"/>
                      <a:gd name="connsiteX24" fmla="*/ 3253 w 58677"/>
                      <a:gd name="connsiteY24" fmla="*/ 55987 h 72925"/>
                      <a:gd name="connsiteX25" fmla="*/ 3253 w 58677"/>
                      <a:gd name="connsiteY25" fmla="*/ 66544 h 72925"/>
                      <a:gd name="connsiteX26" fmla="*/ 15398 w 58677"/>
                      <a:gd name="connsiteY26" fmla="*/ 70155 h 72925"/>
                      <a:gd name="connsiteX27" fmla="*/ 26867 w 58677"/>
                      <a:gd name="connsiteY27" fmla="*/ 71366 h 72925"/>
                      <a:gd name="connsiteX28" fmla="*/ 49390 w 58677"/>
                      <a:gd name="connsiteY28" fmla="*/ 63547 h 72925"/>
                      <a:gd name="connsiteX29" fmla="*/ 56831 w 58677"/>
                      <a:gd name="connsiteY29" fmla="*/ 39874 h 7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8677" h="72925">
                        <a:moveTo>
                          <a:pt x="34071" y="35151"/>
                        </a:moveTo>
                        <a:cubicBezTo>
                          <a:pt x="24850" y="35151"/>
                          <a:pt x="18460" y="34099"/>
                          <a:pt x="14902" y="31996"/>
                        </a:cubicBezTo>
                        <a:cubicBezTo>
                          <a:pt x="11343" y="29892"/>
                          <a:pt x="9564" y="26294"/>
                          <a:pt x="9564" y="21201"/>
                        </a:cubicBezTo>
                        <a:cubicBezTo>
                          <a:pt x="9564" y="17152"/>
                          <a:pt x="10900" y="13938"/>
                          <a:pt x="13572" y="11556"/>
                        </a:cubicBezTo>
                        <a:cubicBezTo>
                          <a:pt x="16244" y="9188"/>
                          <a:pt x="19869" y="8004"/>
                          <a:pt x="24446" y="8004"/>
                        </a:cubicBezTo>
                        <a:cubicBezTo>
                          <a:pt x="30783" y="8004"/>
                          <a:pt x="35863" y="10247"/>
                          <a:pt x="39686" y="14731"/>
                        </a:cubicBezTo>
                        <a:cubicBezTo>
                          <a:pt x="43510" y="19216"/>
                          <a:pt x="45421" y="25176"/>
                          <a:pt x="45421" y="32611"/>
                        </a:cubicBezTo>
                        <a:lnTo>
                          <a:pt x="45421" y="35151"/>
                        </a:lnTo>
                        <a:lnTo>
                          <a:pt x="34071" y="35151"/>
                        </a:lnTo>
                        <a:close/>
                        <a:moveTo>
                          <a:pt x="56831" y="39874"/>
                        </a:moveTo>
                        <a:lnTo>
                          <a:pt x="56831" y="246"/>
                        </a:lnTo>
                        <a:lnTo>
                          <a:pt x="45421" y="246"/>
                        </a:lnTo>
                        <a:lnTo>
                          <a:pt x="45421" y="10783"/>
                        </a:lnTo>
                        <a:cubicBezTo>
                          <a:pt x="42815" y="6576"/>
                          <a:pt x="39567" y="3467"/>
                          <a:pt x="35678" y="1456"/>
                        </a:cubicBezTo>
                        <a:cubicBezTo>
                          <a:pt x="31789" y="-555"/>
                          <a:pt x="27033" y="-1560"/>
                          <a:pt x="21410" y="-1560"/>
                        </a:cubicBezTo>
                        <a:cubicBezTo>
                          <a:pt x="14306" y="-1560"/>
                          <a:pt x="8651" y="437"/>
                          <a:pt x="4444" y="4433"/>
                        </a:cubicBezTo>
                        <a:cubicBezTo>
                          <a:pt x="250" y="8428"/>
                          <a:pt x="-1846" y="13772"/>
                          <a:pt x="-1846" y="20466"/>
                        </a:cubicBezTo>
                        <a:cubicBezTo>
                          <a:pt x="-1846" y="28271"/>
                          <a:pt x="766" y="34159"/>
                          <a:pt x="5992" y="38127"/>
                        </a:cubicBezTo>
                        <a:cubicBezTo>
                          <a:pt x="11231" y="42096"/>
                          <a:pt x="19036" y="44080"/>
                          <a:pt x="29407" y="44080"/>
                        </a:cubicBezTo>
                        <a:lnTo>
                          <a:pt x="45421" y="44080"/>
                        </a:lnTo>
                        <a:lnTo>
                          <a:pt x="45421" y="45211"/>
                        </a:lnTo>
                        <a:cubicBezTo>
                          <a:pt x="45421" y="50464"/>
                          <a:pt x="43695" y="54525"/>
                          <a:pt x="40242" y="57396"/>
                        </a:cubicBezTo>
                        <a:cubicBezTo>
                          <a:pt x="36789" y="60266"/>
                          <a:pt x="31941" y="61702"/>
                          <a:pt x="25697" y="61702"/>
                        </a:cubicBezTo>
                        <a:cubicBezTo>
                          <a:pt x="21728" y="61702"/>
                          <a:pt x="17858" y="61225"/>
                          <a:pt x="14088" y="60273"/>
                        </a:cubicBezTo>
                        <a:cubicBezTo>
                          <a:pt x="10331" y="59320"/>
                          <a:pt x="6719" y="57892"/>
                          <a:pt x="3253" y="55987"/>
                        </a:cubicBezTo>
                        <a:lnTo>
                          <a:pt x="3253" y="66544"/>
                        </a:lnTo>
                        <a:cubicBezTo>
                          <a:pt x="7421" y="68157"/>
                          <a:pt x="11469" y="69361"/>
                          <a:pt x="15398" y="70155"/>
                        </a:cubicBezTo>
                        <a:cubicBezTo>
                          <a:pt x="19327" y="70962"/>
                          <a:pt x="23150" y="71366"/>
                          <a:pt x="26867" y="71366"/>
                        </a:cubicBezTo>
                        <a:cubicBezTo>
                          <a:pt x="36922" y="71366"/>
                          <a:pt x="44429" y="68759"/>
                          <a:pt x="49390" y="63547"/>
                        </a:cubicBezTo>
                        <a:cubicBezTo>
                          <a:pt x="54351" y="58348"/>
                          <a:pt x="56831" y="50457"/>
                          <a:pt x="56831" y="39874"/>
                        </a:cubicBezTo>
                        <a:close/>
                      </a:path>
                    </a:pathLst>
                  </a:custGeom>
                  <a:solidFill>
                    <a:srgbClr val="000000"/>
                  </a:solidFill>
                  <a:ln w="20" cap="flat">
                    <a:noFill/>
                    <a:prstDash val="solid"/>
                    <a:round/>
                  </a:ln>
                </p:spPr>
                <p:txBody>
                  <a:bodyPr rtlCol="0" anchor="ctr"/>
                  <a:lstStyle/>
                  <a:p>
                    <a:endParaRPr lang="en-US"/>
                  </a:p>
                </p:txBody>
              </p:sp>
              <p:sp>
                <p:nvSpPr>
                  <p:cNvPr id="143" name="フリーフォーム: 図形 142">
                    <a:extLst>
                      <a:ext uri="{FF2B5EF4-FFF2-40B4-BE49-F238E27FC236}">
                        <a16:creationId xmlns:a16="http://schemas.microsoft.com/office/drawing/2014/main" id="{FEB5ABB7-736A-B4D7-9D71-A0D2D0D43F82}"/>
                      </a:ext>
                    </a:extLst>
                  </p:cNvPr>
                  <p:cNvSpPr/>
                  <p:nvPr/>
                </p:nvSpPr>
                <p:spPr>
                  <a:xfrm rot="-5400000" flipV="1">
                    <a:off x="-8726987" y="3857647"/>
                    <a:ext cx="40679" cy="71119"/>
                  </a:xfrm>
                  <a:custGeom>
                    <a:avLst/>
                    <a:gdLst>
                      <a:gd name="connsiteX0" fmla="*/ 39090 w 40679"/>
                      <a:gd name="connsiteY0" fmla="*/ 57186 h 71119"/>
                      <a:gd name="connsiteX1" fmla="*/ 34903 w 40679"/>
                      <a:gd name="connsiteY1" fmla="*/ 58813 h 71119"/>
                      <a:gd name="connsiteX2" fmla="*/ 29922 w 40679"/>
                      <a:gd name="connsiteY2" fmla="*/ 59349 h 71119"/>
                      <a:gd name="connsiteX3" fmla="*/ 15059 w 40679"/>
                      <a:gd name="connsiteY3" fmla="*/ 53058 h 71119"/>
                      <a:gd name="connsiteX4" fmla="*/ 9880 w 40679"/>
                      <a:gd name="connsiteY4" fmla="*/ 34980 h 71119"/>
                      <a:gd name="connsiteX5" fmla="*/ 9880 w 40679"/>
                      <a:gd name="connsiteY5" fmla="*/ -1611 h 71119"/>
                      <a:gd name="connsiteX6" fmla="*/ -1590 w 40679"/>
                      <a:gd name="connsiteY6" fmla="*/ -1611 h 71119"/>
                      <a:gd name="connsiteX7" fmla="*/ -1590 w 40679"/>
                      <a:gd name="connsiteY7" fmla="*/ 67842 h 71119"/>
                      <a:gd name="connsiteX8" fmla="*/ 9880 w 40679"/>
                      <a:gd name="connsiteY8" fmla="*/ 67842 h 71119"/>
                      <a:gd name="connsiteX9" fmla="*/ 9880 w 40679"/>
                      <a:gd name="connsiteY9" fmla="*/ 57047 h 71119"/>
                      <a:gd name="connsiteX10" fmla="*/ 19246 w 40679"/>
                      <a:gd name="connsiteY10" fmla="*/ 66433 h 71119"/>
                      <a:gd name="connsiteX11" fmla="*/ 33275 w 40679"/>
                      <a:gd name="connsiteY11" fmla="*/ 69509 h 71119"/>
                      <a:gd name="connsiteX12" fmla="*/ 35875 w 40679"/>
                      <a:gd name="connsiteY12" fmla="*/ 69350 h 71119"/>
                      <a:gd name="connsiteX13" fmla="*/ 39030 w 40679"/>
                      <a:gd name="connsiteY13" fmla="*/ 68893 h 71119"/>
                      <a:gd name="connsiteX14" fmla="*/ 39090 w 40679"/>
                      <a:gd name="connsiteY14" fmla="*/ 57186 h 711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0679" h="71119">
                        <a:moveTo>
                          <a:pt x="39090" y="57186"/>
                        </a:moveTo>
                        <a:cubicBezTo>
                          <a:pt x="37806" y="57926"/>
                          <a:pt x="36411" y="58469"/>
                          <a:pt x="34903" y="58813"/>
                        </a:cubicBezTo>
                        <a:cubicBezTo>
                          <a:pt x="33394" y="59170"/>
                          <a:pt x="31734" y="59349"/>
                          <a:pt x="29922" y="59349"/>
                        </a:cubicBezTo>
                        <a:cubicBezTo>
                          <a:pt x="23466" y="59349"/>
                          <a:pt x="18512" y="57252"/>
                          <a:pt x="15059" y="53058"/>
                        </a:cubicBezTo>
                        <a:cubicBezTo>
                          <a:pt x="11606" y="48865"/>
                          <a:pt x="9880" y="42839"/>
                          <a:pt x="9880" y="34980"/>
                        </a:cubicBezTo>
                        <a:lnTo>
                          <a:pt x="9880" y="-1611"/>
                        </a:lnTo>
                        <a:lnTo>
                          <a:pt x="-1590" y="-1611"/>
                        </a:lnTo>
                        <a:lnTo>
                          <a:pt x="-1590" y="67842"/>
                        </a:lnTo>
                        <a:lnTo>
                          <a:pt x="9880" y="67842"/>
                        </a:lnTo>
                        <a:lnTo>
                          <a:pt x="9880" y="57047"/>
                        </a:lnTo>
                        <a:cubicBezTo>
                          <a:pt x="12287" y="61267"/>
                          <a:pt x="15409" y="64395"/>
                          <a:pt x="19246" y="66433"/>
                        </a:cubicBezTo>
                        <a:cubicBezTo>
                          <a:pt x="23096" y="68483"/>
                          <a:pt x="27772" y="69509"/>
                          <a:pt x="33275" y="69509"/>
                        </a:cubicBezTo>
                        <a:cubicBezTo>
                          <a:pt x="34056" y="69509"/>
                          <a:pt x="34922" y="69456"/>
                          <a:pt x="35875" y="69350"/>
                        </a:cubicBezTo>
                        <a:cubicBezTo>
                          <a:pt x="36827" y="69257"/>
                          <a:pt x="37879" y="69105"/>
                          <a:pt x="39030" y="68893"/>
                        </a:cubicBezTo>
                        <a:lnTo>
                          <a:pt x="39090" y="57186"/>
                        </a:lnTo>
                        <a:close/>
                      </a:path>
                    </a:pathLst>
                  </a:custGeom>
                  <a:solidFill>
                    <a:srgbClr val="000000"/>
                  </a:solidFill>
                  <a:ln w="20" cap="flat">
                    <a:noFill/>
                    <a:prstDash val="solid"/>
                    <a:round/>
                  </a:ln>
                </p:spPr>
                <p:txBody>
                  <a:bodyPr rtlCol="0" anchor="ctr"/>
                  <a:lstStyle/>
                  <a:p>
                    <a:endParaRPr lang="en-US"/>
                  </a:p>
                </p:txBody>
              </p:sp>
              <p:sp>
                <p:nvSpPr>
                  <p:cNvPr id="144" name="フリーフォーム: 図形 143">
                    <a:extLst>
                      <a:ext uri="{FF2B5EF4-FFF2-40B4-BE49-F238E27FC236}">
                        <a16:creationId xmlns:a16="http://schemas.microsoft.com/office/drawing/2014/main" id="{F920818B-FD89-90BE-8181-2CD988E36609}"/>
                      </a:ext>
                    </a:extLst>
                  </p:cNvPr>
                  <p:cNvSpPr/>
                  <p:nvPr/>
                </p:nvSpPr>
                <p:spPr>
                  <a:xfrm rot="-5400000" flipV="1">
                    <a:off x="-8671087" y="3872862"/>
                    <a:ext cx="12700" cy="12700"/>
                  </a:xfrm>
                  <a:custGeom>
                    <a:avLst/>
                    <a:gdLst/>
                    <a:ahLst/>
                    <a:cxnLst/>
                    <a:rect l="l" t="t" r="r" b="b"/>
                    <a:pathLst>
                      <a:path w="12700" h="12700"/>
                    </a:pathLst>
                  </a:custGeom>
                  <a:solidFill>
                    <a:srgbClr val="000000"/>
                  </a:solidFill>
                  <a:ln w="20" cap="flat">
                    <a:noFill/>
                    <a:prstDash val="solid"/>
                    <a:round/>
                  </a:ln>
                </p:spPr>
                <p:txBody>
                  <a:bodyPr rtlCol="0" anchor="ctr"/>
                  <a:lstStyle/>
                  <a:p>
                    <a:endParaRPr lang="en-US"/>
                  </a:p>
                </p:txBody>
              </p:sp>
              <p:sp>
                <p:nvSpPr>
                  <p:cNvPr id="145" name="フリーフォーム: 図形 144">
                    <a:extLst>
                      <a:ext uri="{FF2B5EF4-FFF2-40B4-BE49-F238E27FC236}">
                        <a16:creationId xmlns:a16="http://schemas.microsoft.com/office/drawing/2014/main" id="{AF9D48A9-04D4-5C1B-52E5-9896A6B20FC1}"/>
                      </a:ext>
                    </a:extLst>
                  </p:cNvPr>
                  <p:cNvSpPr/>
                  <p:nvPr/>
                </p:nvSpPr>
                <p:spPr>
                  <a:xfrm rot="-5400000" flipV="1">
                    <a:off x="-8760166" y="3734485"/>
                    <a:ext cx="85705" cy="96063"/>
                  </a:xfrm>
                  <a:custGeom>
                    <a:avLst/>
                    <a:gdLst>
                      <a:gd name="connsiteX0" fmla="*/ 40419 w 85705"/>
                      <a:gd name="connsiteY0" fmla="*/ 83746 h 96063"/>
                      <a:gd name="connsiteX1" fmla="*/ 18729 w 85705"/>
                      <a:gd name="connsiteY1" fmla="*/ 73566 h 96063"/>
                      <a:gd name="connsiteX2" fmla="*/ 10713 w 85705"/>
                      <a:gd name="connsiteY2" fmla="*/ 45844 h 96063"/>
                      <a:gd name="connsiteX3" fmla="*/ 18729 w 85705"/>
                      <a:gd name="connsiteY3" fmla="*/ 18182 h 96063"/>
                      <a:gd name="connsiteX4" fmla="*/ 40419 w 85705"/>
                      <a:gd name="connsiteY4" fmla="*/ 8022 h 96063"/>
                      <a:gd name="connsiteX5" fmla="*/ 62028 w 85705"/>
                      <a:gd name="connsiteY5" fmla="*/ 18182 h 96063"/>
                      <a:gd name="connsiteX6" fmla="*/ 70006 w 85705"/>
                      <a:gd name="connsiteY6" fmla="*/ 45844 h 96063"/>
                      <a:gd name="connsiteX7" fmla="*/ 62028 w 85705"/>
                      <a:gd name="connsiteY7" fmla="*/ 73566 h 96063"/>
                      <a:gd name="connsiteX8" fmla="*/ 40419 w 85705"/>
                      <a:gd name="connsiteY8" fmla="*/ 83746 h 96063"/>
                      <a:gd name="connsiteX9" fmla="*/ 40419 w 85705"/>
                      <a:gd name="connsiteY9" fmla="*/ 93906 h 96063"/>
                      <a:gd name="connsiteX10" fmla="*/ 71534 w 85705"/>
                      <a:gd name="connsiteY10" fmla="*/ 80849 h 96063"/>
                      <a:gd name="connsiteX11" fmla="*/ 83202 w 85705"/>
                      <a:gd name="connsiteY11" fmla="*/ 45844 h 96063"/>
                      <a:gd name="connsiteX12" fmla="*/ 71534 w 85705"/>
                      <a:gd name="connsiteY12" fmla="*/ 10900 h 96063"/>
                      <a:gd name="connsiteX13" fmla="*/ 40419 w 85705"/>
                      <a:gd name="connsiteY13" fmla="*/ -2158 h 96063"/>
                      <a:gd name="connsiteX14" fmla="*/ 9185 w 85705"/>
                      <a:gd name="connsiteY14" fmla="*/ 10860 h 96063"/>
                      <a:gd name="connsiteX15" fmla="*/ -2503 w 85705"/>
                      <a:gd name="connsiteY15" fmla="*/ 45844 h 96063"/>
                      <a:gd name="connsiteX16" fmla="*/ 9185 w 85705"/>
                      <a:gd name="connsiteY16" fmla="*/ 80849 h 96063"/>
                      <a:gd name="connsiteX17" fmla="*/ 40419 w 85705"/>
                      <a:gd name="connsiteY17" fmla="*/ 93906 h 960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85705" h="96063">
                        <a:moveTo>
                          <a:pt x="40419" y="83746"/>
                        </a:moveTo>
                        <a:cubicBezTo>
                          <a:pt x="31317" y="83746"/>
                          <a:pt x="24087" y="80353"/>
                          <a:pt x="18729" y="73566"/>
                        </a:cubicBezTo>
                        <a:cubicBezTo>
                          <a:pt x="13385" y="66793"/>
                          <a:pt x="10713" y="57552"/>
                          <a:pt x="10713" y="45844"/>
                        </a:cubicBezTo>
                        <a:cubicBezTo>
                          <a:pt x="10713" y="34190"/>
                          <a:pt x="13385" y="24969"/>
                          <a:pt x="18729" y="18182"/>
                        </a:cubicBezTo>
                        <a:cubicBezTo>
                          <a:pt x="24087" y="11409"/>
                          <a:pt x="31317" y="8022"/>
                          <a:pt x="40419" y="8022"/>
                        </a:cubicBezTo>
                        <a:cubicBezTo>
                          <a:pt x="49507" y="8022"/>
                          <a:pt x="56710" y="11409"/>
                          <a:pt x="62028" y="18182"/>
                        </a:cubicBezTo>
                        <a:cubicBezTo>
                          <a:pt x="67347" y="24969"/>
                          <a:pt x="70006" y="34190"/>
                          <a:pt x="70006" y="45844"/>
                        </a:cubicBezTo>
                        <a:cubicBezTo>
                          <a:pt x="70006" y="57552"/>
                          <a:pt x="67347" y="66793"/>
                          <a:pt x="62028" y="73566"/>
                        </a:cubicBezTo>
                        <a:cubicBezTo>
                          <a:pt x="56710" y="80353"/>
                          <a:pt x="49507" y="83746"/>
                          <a:pt x="40419" y="83746"/>
                        </a:cubicBezTo>
                        <a:close/>
                        <a:moveTo>
                          <a:pt x="40419" y="93906"/>
                        </a:moveTo>
                        <a:cubicBezTo>
                          <a:pt x="53396" y="93906"/>
                          <a:pt x="63768" y="89554"/>
                          <a:pt x="71534" y="80849"/>
                        </a:cubicBezTo>
                        <a:cubicBezTo>
                          <a:pt x="79312" y="72144"/>
                          <a:pt x="83202" y="60476"/>
                          <a:pt x="83202" y="45844"/>
                        </a:cubicBezTo>
                        <a:cubicBezTo>
                          <a:pt x="83202" y="31253"/>
                          <a:pt x="79312" y="19604"/>
                          <a:pt x="71534" y="10900"/>
                        </a:cubicBezTo>
                        <a:cubicBezTo>
                          <a:pt x="63768" y="2195"/>
                          <a:pt x="53396" y="-2158"/>
                          <a:pt x="40419" y="-2158"/>
                        </a:cubicBezTo>
                        <a:cubicBezTo>
                          <a:pt x="27401" y="-2158"/>
                          <a:pt x="16990" y="2182"/>
                          <a:pt x="9185" y="10860"/>
                        </a:cubicBezTo>
                        <a:cubicBezTo>
                          <a:pt x="1393" y="19551"/>
                          <a:pt x="-2503" y="31213"/>
                          <a:pt x="-2503" y="45844"/>
                        </a:cubicBezTo>
                        <a:cubicBezTo>
                          <a:pt x="-2503" y="60476"/>
                          <a:pt x="1393" y="72144"/>
                          <a:pt x="9185" y="80849"/>
                        </a:cubicBezTo>
                        <a:cubicBezTo>
                          <a:pt x="16990" y="89554"/>
                          <a:pt x="27401" y="93906"/>
                          <a:pt x="40419" y="93906"/>
                        </a:cubicBezTo>
                        <a:close/>
                      </a:path>
                    </a:pathLst>
                  </a:custGeom>
                  <a:solidFill>
                    <a:srgbClr val="000000"/>
                  </a:solidFill>
                  <a:ln w="20" cap="flat">
                    <a:noFill/>
                    <a:prstDash val="solid"/>
                    <a:round/>
                  </a:ln>
                </p:spPr>
                <p:txBody>
                  <a:bodyPr rtlCol="0" anchor="ctr"/>
                  <a:lstStyle/>
                  <a:p>
                    <a:endParaRPr lang="en-US"/>
                  </a:p>
                </p:txBody>
              </p:sp>
              <p:sp>
                <p:nvSpPr>
                  <p:cNvPr id="146" name="フリーフォーム: 図形 145">
                    <a:extLst>
                      <a:ext uri="{FF2B5EF4-FFF2-40B4-BE49-F238E27FC236}">
                        <a16:creationId xmlns:a16="http://schemas.microsoft.com/office/drawing/2014/main" id="{F6C5C2B7-16E7-188C-B04C-25D017055B0A}"/>
                      </a:ext>
                    </a:extLst>
                  </p:cNvPr>
                  <p:cNvSpPr/>
                  <p:nvPr/>
                </p:nvSpPr>
                <p:spPr>
                  <a:xfrm rot="-5400000" flipV="1">
                    <a:off x="-8724516" y="3641159"/>
                    <a:ext cx="62150" cy="97532"/>
                  </a:xfrm>
                  <a:custGeom>
                    <a:avLst/>
                    <a:gdLst>
                      <a:gd name="connsiteX0" fmla="*/ 9340 w 62150"/>
                      <a:gd name="connsiteY0" fmla="*/ 35868 h 97532"/>
                      <a:gd name="connsiteX1" fmla="*/ 9340 w 62150"/>
                      <a:gd name="connsiteY1" fmla="*/ -962 h 97532"/>
                      <a:gd name="connsiteX2" fmla="*/ -2130 w 62150"/>
                      <a:gd name="connsiteY2" fmla="*/ -962 h 97532"/>
                      <a:gd name="connsiteX3" fmla="*/ -2130 w 62150"/>
                      <a:gd name="connsiteY3" fmla="*/ 94903 h 97532"/>
                      <a:gd name="connsiteX4" fmla="*/ 9340 w 62150"/>
                      <a:gd name="connsiteY4" fmla="*/ 94903 h 97532"/>
                      <a:gd name="connsiteX5" fmla="*/ 9340 w 62150"/>
                      <a:gd name="connsiteY5" fmla="*/ 84366 h 97532"/>
                      <a:gd name="connsiteX6" fmla="*/ 18428 w 62150"/>
                      <a:gd name="connsiteY6" fmla="*/ 93554 h 97532"/>
                      <a:gd name="connsiteX7" fmla="*/ 31545 w 62150"/>
                      <a:gd name="connsiteY7" fmla="*/ 96570 h 97532"/>
                      <a:gd name="connsiteX8" fmla="*/ 52103 w 62150"/>
                      <a:gd name="connsiteY8" fmla="*/ 86529 h 97532"/>
                      <a:gd name="connsiteX9" fmla="*/ 60021 w 62150"/>
                      <a:gd name="connsiteY9" fmla="*/ 60117 h 97532"/>
                      <a:gd name="connsiteX10" fmla="*/ 52103 w 62150"/>
                      <a:gd name="connsiteY10" fmla="*/ 33685 h 97532"/>
                      <a:gd name="connsiteX11" fmla="*/ 31545 w 62150"/>
                      <a:gd name="connsiteY11" fmla="*/ 23644 h 97532"/>
                      <a:gd name="connsiteX12" fmla="*/ 18428 w 62150"/>
                      <a:gd name="connsiteY12" fmla="*/ 26661 h 97532"/>
                      <a:gd name="connsiteX13" fmla="*/ 9340 w 62150"/>
                      <a:gd name="connsiteY13" fmla="*/ 35868 h 97532"/>
                      <a:gd name="connsiteX14" fmla="*/ 48174 w 62150"/>
                      <a:gd name="connsiteY14" fmla="*/ 60117 h 97532"/>
                      <a:gd name="connsiteX15" fmla="*/ 42995 w 62150"/>
                      <a:gd name="connsiteY15" fmla="*/ 79862 h 97532"/>
                      <a:gd name="connsiteX16" fmla="*/ 28767 w 62150"/>
                      <a:gd name="connsiteY16" fmla="*/ 87025 h 97532"/>
                      <a:gd name="connsiteX17" fmla="*/ 14519 w 62150"/>
                      <a:gd name="connsiteY17" fmla="*/ 79862 h 97532"/>
                      <a:gd name="connsiteX18" fmla="*/ 9340 w 62150"/>
                      <a:gd name="connsiteY18" fmla="*/ 60117 h 97532"/>
                      <a:gd name="connsiteX19" fmla="*/ 14519 w 62150"/>
                      <a:gd name="connsiteY19" fmla="*/ 40373 h 97532"/>
                      <a:gd name="connsiteX20" fmla="*/ 28767 w 62150"/>
                      <a:gd name="connsiteY20" fmla="*/ 33209 h 97532"/>
                      <a:gd name="connsiteX21" fmla="*/ 42995 w 62150"/>
                      <a:gd name="connsiteY21" fmla="*/ 40373 h 97532"/>
                      <a:gd name="connsiteX22" fmla="*/ 48174 w 62150"/>
                      <a:gd name="connsiteY22" fmla="*/ 60117 h 97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62150" h="97532">
                        <a:moveTo>
                          <a:pt x="9340" y="35868"/>
                        </a:moveTo>
                        <a:lnTo>
                          <a:pt x="9340" y="-962"/>
                        </a:lnTo>
                        <a:lnTo>
                          <a:pt x="-2130" y="-962"/>
                        </a:lnTo>
                        <a:lnTo>
                          <a:pt x="-2130" y="94903"/>
                        </a:lnTo>
                        <a:lnTo>
                          <a:pt x="9340" y="94903"/>
                        </a:lnTo>
                        <a:lnTo>
                          <a:pt x="9340" y="84366"/>
                        </a:lnTo>
                        <a:cubicBezTo>
                          <a:pt x="11747" y="88494"/>
                          <a:pt x="14777" y="91556"/>
                          <a:pt x="18428" y="93554"/>
                        </a:cubicBezTo>
                        <a:cubicBezTo>
                          <a:pt x="22093" y="95565"/>
                          <a:pt x="26465" y="96570"/>
                          <a:pt x="31545" y="96570"/>
                        </a:cubicBezTo>
                        <a:cubicBezTo>
                          <a:pt x="39985" y="96570"/>
                          <a:pt x="46838" y="93223"/>
                          <a:pt x="52103" y="86529"/>
                        </a:cubicBezTo>
                        <a:cubicBezTo>
                          <a:pt x="57381" y="79835"/>
                          <a:pt x="60021" y="71031"/>
                          <a:pt x="60021" y="60117"/>
                        </a:cubicBezTo>
                        <a:cubicBezTo>
                          <a:pt x="60021" y="49203"/>
                          <a:pt x="57381" y="40392"/>
                          <a:pt x="52103" y="33685"/>
                        </a:cubicBezTo>
                        <a:cubicBezTo>
                          <a:pt x="46838" y="26991"/>
                          <a:pt x="39985" y="23644"/>
                          <a:pt x="31545" y="23644"/>
                        </a:cubicBezTo>
                        <a:cubicBezTo>
                          <a:pt x="26465" y="23644"/>
                          <a:pt x="22093" y="24650"/>
                          <a:pt x="18428" y="26661"/>
                        </a:cubicBezTo>
                        <a:cubicBezTo>
                          <a:pt x="14777" y="28671"/>
                          <a:pt x="11747" y="31741"/>
                          <a:pt x="9340" y="35868"/>
                        </a:cubicBezTo>
                        <a:close/>
                        <a:moveTo>
                          <a:pt x="48174" y="60117"/>
                        </a:moveTo>
                        <a:cubicBezTo>
                          <a:pt x="48174" y="68504"/>
                          <a:pt x="46447" y="75086"/>
                          <a:pt x="42995" y="79862"/>
                        </a:cubicBezTo>
                        <a:cubicBezTo>
                          <a:pt x="39542" y="84637"/>
                          <a:pt x="34799" y="87025"/>
                          <a:pt x="28767" y="87025"/>
                        </a:cubicBezTo>
                        <a:cubicBezTo>
                          <a:pt x="22721" y="87025"/>
                          <a:pt x="17972" y="84637"/>
                          <a:pt x="14519" y="79862"/>
                        </a:cubicBezTo>
                        <a:cubicBezTo>
                          <a:pt x="11066" y="75086"/>
                          <a:pt x="9340" y="68504"/>
                          <a:pt x="9340" y="60117"/>
                        </a:cubicBezTo>
                        <a:cubicBezTo>
                          <a:pt x="9340" y="51730"/>
                          <a:pt x="11066" y="45148"/>
                          <a:pt x="14519" y="40373"/>
                        </a:cubicBezTo>
                        <a:cubicBezTo>
                          <a:pt x="17972" y="35597"/>
                          <a:pt x="22721" y="33209"/>
                          <a:pt x="28767" y="33209"/>
                        </a:cubicBezTo>
                        <a:cubicBezTo>
                          <a:pt x="34799" y="33209"/>
                          <a:pt x="39542" y="35597"/>
                          <a:pt x="42995" y="40373"/>
                        </a:cubicBezTo>
                        <a:cubicBezTo>
                          <a:pt x="46447" y="45148"/>
                          <a:pt x="48174" y="51730"/>
                          <a:pt x="48174" y="60117"/>
                        </a:cubicBezTo>
                        <a:close/>
                      </a:path>
                    </a:pathLst>
                  </a:custGeom>
                  <a:solidFill>
                    <a:srgbClr val="000000"/>
                  </a:solidFill>
                  <a:ln w="20" cap="flat">
                    <a:noFill/>
                    <a:prstDash val="solid"/>
                    <a:round/>
                  </a:ln>
                </p:spPr>
                <p:txBody>
                  <a:bodyPr rtlCol="0" anchor="ctr"/>
                  <a:lstStyle/>
                  <a:p>
                    <a:endParaRPr lang="en-US"/>
                  </a:p>
                </p:txBody>
              </p:sp>
              <p:sp>
                <p:nvSpPr>
                  <p:cNvPr id="147" name="フリーフォーム: 図形 146">
                    <a:extLst>
                      <a:ext uri="{FF2B5EF4-FFF2-40B4-BE49-F238E27FC236}">
                        <a16:creationId xmlns:a16="http://schemas.microsoft.com/office/drawing/2014/main" id="{DCBA79B7-447A-4CEE-486A-21F3952A8B46}"/>
                      </a:ext>
                    </a:extLst>
                  </p:cNvPr>
                  <p:cNvSpPr/>
                  <p:nvPr/>
                </p:nvSpPr>
                <p:spPr>
                  <a:xfrm rot="-5400000" flipV="1">
                    <a:off x="-8737931" y="3576260"/>
                    <a:ext cx="64373" cy="72925"/>
                  </a:xfrm>
                  <a:custGeom>
                    <a:avLst/>
                    <a:gdLst>
                      <a:gd name="connsiteX0" fmla="*/ 62414 w 64373"/>
                      <a:gd name="connsiteY0" fmla="*/ 37802 h 72925"/>
                      <a:gd name="connsiteX1" fmla="*/ 62414 w 64373"/>
                      <a:gd name="connsiteY1" fmla="*/ 32226 h 72925"/>
                      <a:gd name="connsiteX2" fmla="*/ 9947 w 64373"/>
                      <a:gd name="connsiteY2" fmla="*/ 32226 h 72925"/>
                      <a:gd name="connsiteX3" fmla="*/ 17051 w 64373"/>
                      <a:gd name="connsiteY3" fmla="*/ 14267 h 72925"/>
                      <a:gd name="connsiteX4" fmla="*/ 34752 w 64373"/>
                      <a:gd name="connsiteY4" fmla="*/ 8096 h 72925"/>
                      <a:gd name="connsiteX5" fmla="*/ 47492 w 64373"/>
                      <a:gd name="connsiteY5" fmla="*/ 9703 h 72925"/>
                      <a:gd name="connsiteX6" fmla="*/ 59755 w 64373"/>
                      <a:gd name="connsiteY6" fmla="*/ 14545 h 72925"/>
                      <a:gd name="connsiteX7" fmla="*/ 59755 w 64373"/>
                      <a:gd name="connsiteY7" fmla="*/ 3750 h 72925"/>
                      <a:gd name="connsiteX8" fmla="*/ 47154 w 64373"/>
                      <a:gd name="connsiteY8" fmla="*/ -219 h 72925"/>
                      <a:gd name="connsiteX9" fmla="*/ 34077 w 64373"/>
                      <a:gd name="connsiteY9" fmla="*/ -1588 h 72925"/>
                      <a:gd name="connsiteX10" fmla="*/ 7745 w 64373"/>
                      <a:gd name="connsiteY10" fmla="*/ 8076 h 72925"/>
                      <a:gd name="connsiteX11" fmla="*/ -1959 w 64373"/>
                      <a:gd name="connsiteY11" fmla="*/ 34270 h 72925"/>
                      <a:gd name="connsiteX12" fmla="*/ 7249 w 64373"/>
                      <a:gd name="connsiteY12" fmla="*/ 61317 h 72925"/>
                      <a:gd name="connsiteX13" fmla="*/ 32093 w 64373"/>
                      <a:gd name="connsiteY13" fmla="*/ 71338 h 72925"/>
                      <a:gd name="connsiteX14" fmla="*/ 54258 w 64373"/>
                      <a:gd name="connsiteY14" fmla="*/ 62309 h 72925"/>
                      <a:gd name="connsiteX15" fmla="*/ 62414 w 64373"/>
                      <a:gd name="connsiteY15" fmla="*/ 37802 h 72925"/>
                      <a:gd name="connsiteX16" fmla="*/ 51004 w 64373"/>
                      <a:gd name="connsiteY16" fmla="*/ 41155 h 72925"/>
                      <a:gd name="connsiteX17" fmla="*/ 45765 w 64373"/>
                      <a:gd name="connsiteY17" fmla="*/ 56078 h 72925"/>
                      <a:gd name="connsiteX18" fmla="*/ 32212 w 64373"/>
                      <a:gd name="connsiteY18" fmla="*/ 61674 h 72925"/>
                      <a:gd name="connsiteX19" fmla="*/ 16932 w 64373"/>
                      <a:gd name="connsiteY19" fmla="*/ 56276 h 72925"/>
                      <a:gd name="connsiteX20" fmla="*/ 10324 w 64373"/>
                      <a:gd name="connsiteY20" fmla="*/ 41076 h 72925"/>
                      <a:gd name="connsiteX21" fmla="*/ 51004 w 64373"/>
                      <a:gd name="connsiteY21" fmla="*/ 41155 h 7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64373" h="72925">
                        <a:moveTo>
                          <a:pt x="62414" y="37802"/>
                        </a:moveTo>
                        <a:lnTo>
                          <a:pt x="62414" y="32226"/>
                        </a:lnTo>
                        <a:lnTo>
                          <a:pt x="9947" y="32226"/>
                        </a:lnTo>
                        <a:cubicBezTo>
                          <a:pt x="10450" y="24368"/>
                          <a:pt x="12818" y="18381"/>
                          <a:pt x="17051" y="14267"/>
                        </a:cubicBezTo>
                        <a:cubicBezTo>
                          <a:pt x="21285" y="10153"/>
                          <a:pt x="27185" y="8096"/>
                          <a:pt x="34752" y="8096"/>
                        </a:cubicBezTo>
                        <a:cubicBezTo>
                          <a:pt x="39131" y="8096"/>
                          <a:pt x="43377" y="8631"/>
                          <a:pt x="47492" y="9703"/>
                        </a:cubicBezTo>
                        <a:cubicBezTo>
                          <a:pt x="51606" y="10775"/>
                          <a:pt x="55694" y="12389"/>
                          <a:pt x="59755" y="14545"/>
                        </a:cubicBezTo>
                        <a:lnTo>
                          <a:pt x="59755" y="3750"/>
                        </a:lnTo>
                        <a:cubicBezTo>
                          <a:pt x="55654" y="2017"/>
                          <a:pt x="51454" y="694"/>
                          <a:pt x="47154" y="-219"/>
                        </a:cubicBezTo>
                        <a:cubicBezTo>
                          <a:pt x="42855" y="-1132"/>
                          <a:pt x="38496" y="-1588"/>
                          <a:pt x="34077" y="-1588"/>
                        </a:cubicBezTo>
                        <a:cubicBezTo>
                          <a:pt x="22991" y="-1588"/>
                          <a:pt x="14214" y="1633"/>
                          <a:pt x="7745" y="8076"/>
                        </a:cubicBezTo>
                        <a:cubicBezTo>
                          <a:pt x="1276" y="14532"/>
                          <a:pt x="-1959" y="23263"/>
                          <a:pt x="-1959" y="34270"/>
                        </a:cubicBezTo>
                        <a:cubicBezTo>
                          <a:pt x="-1959" y="45634"/>
                          <a:pt x="1110" y="54649"/>
                          <a:pt x="7249" y="61317"/>
                        </a:cubicBezTo>
                        <a:cubicBezTo>
                          <a:pt x="13387" y="67997"/>
                          <a:pt x="21668" y="71338"/>
                          <a:pt x="32093" y="71338"/>
                        </a:cubicBezTo>
                        <a:cubicBezTo>
                          <a:pt x="41433" y="71338"/>
                          <a:pt x="48821" y="68328"/>
                          <a:pt x="54258" y="62309"/>
                        </a:cubicBezTo>
                        <a:cubicBezTo>
                          <a:pt x="59696" y="56303"/>
                          <a:pt x="62414" y="48134"/>
                          <a:pt x="62414" y="37802"/>
                        </a:cubicBezTo>
                        <a:close/>
                        <a:moveTo>
                          <a:pt x="51004" y="41155"/>
                        </a:moveTo>
                        <a:cubicBezTo>
                          <a:pt x="50925" y="47386"/>
                          <a:pt x="49178" y="52361"/>
                          <a:pt x="45765" y="56078"/>
                        </a:cubicBezTo>
                        <a:cubicBezTo>
                          <a:pt x="42352" y="59809"/>
                          <a:pt x="37834" y="61674"/>
                          <a:pt x="32212" y="61674"/>
                        </a:cubicBezTo>
                        <a:cubicBezTo>
                          <a:pt x="25849" y="61674"/>
                          <a:pt x="20756" y="59875"/>
                          <a:pt x="16932" y="56276"/>
                        </a:cubicBezTo>
                        <a:cubicBezTo>
                          <a:pt x="13109" y="52678"/>
                          <a:pt x="10906" y="47611"/>
                          <a:pt x="10324" y="41076"/>
                        </a:cubicBezTo>
                        <a:lnTo>
                          <a:pt x="51004" y="41155"/>
                        </a:lnTo>
                        <a:close/>
                      </a:path>
                    </a:pathLst>
                  </a:custGeom>
                  <a:solidFill>
                    <a:srgbClr val="000000"/>
                  </a:solidFill>
                  <a:ln w="20" cap="flat">
                    <a:noFill/>
                    <a:prstDash val="solid"/>
                    <a:round/>
                  </a:ln>
                </p:spPr>
                <p:txBody>
                  <a:bodyPr rtlCol="0" anchor="ctr"/>
                  <a:lstStyle/>
                  <a:p>
                    <a:endParaRPr lang="en-US"/>
                  </a:p>
                </p:txBody>
              </p:sp>
              <p:sp>
                <p:nvSpPr>
                  <p:cNvPr id="148" name="フリーフォーム: 図形 147">
                    <a:extLst>
                      <a:ext uri="{FF2B5EF4-FFF2-40B4-BE49-F238E27FC236}">
                        <a16:creationId xmlns:a16="http://schemas.microsoft.com/office/drawing/2014/main" id="{73A94D51-73EB-300B-90F3-F3645182D42F}"/>
                      </a:ext>
                    </a:extLst>
                  </p:cNvPr>
                  <p:cNvSpPr/>
                  <p:nvPr/>
                </p:nvSpPr>
                <p:spPr>
                  <a:xfrm rot="-5400000" flipV="1">
                    <a:off x="-8726987" y="3506351"/>
                    <a:ext cx="40679" cy="71119"/>
                  </a:xfrm>
                  <a:custGeom>
                    <a:avLst/>
                    <a:gdLst>
                      <a:gd name="connsiteX0" fmla="*/ 39090 w 40679"/>
                      <a:gd name="connsiteY0" fmla="*/ 57158 h 71119"/>
                      <a:gd name="connsiteX1" fmla="*/ 34903 w 40679"/>
                      <a:gd name="connsiteY1" fmla="*/ 58785 h 71119"/>
                      <a:gd name="connsiteX2" fmla="*/ 29922 w 40679"/>
                      <a:gd name="connsiteY2" fmla="*/ 59321 h 71119"/>
                      <a:gd name="connsiteX3" fmla="*/ 15059 w 40679"/>
                      <a:gd name="connsiteY3" fmla="*/ 53030 h 71119"/>
                      <a:gd name="connsiteX4" fmla="*/ 9880 w 40679"/>
                      <a:gd name="connsiteY4" fmla="*/ 34953 h 71119"/>
                      <a:gd name="connsiteX5" fmla="*/ 9880 w 40679"/>
                      <a:gd name="connsiteY5" fmla="*/ -1639 h 71119"/>
                      <a:gd name="connsiteX6" fmla="*/ -1590 w 40679"/>
                      <a:gd name="connsiteY6" fmla="*/ -1639 h 71119"/>
                      <a:gd name="connsiteX7" fmla="*/ -1590 w 40679"/>
                      <a:gd name="connsiteY7" fmla="*/ 67814 h 71119"/>
                      <a:gd name="connsiteX8" fmla="*/ 9880 w 40679"/>
                      <a:gd name="connsiteY8" fmla="*/ 67814 h 71119"/>
                      <a:gd name="connsiteX9" fmla="*/ 9880 w 40679"/>
                      <a:gd name="connsiteY9" fmla="*/ 57019 h 71119"/>
                      <a:gd name="connsiteX10" fmla="*/ 19246 w 40679"/>
                      <a:gd name="connsiteY10" fmla="*/ 66405 h 71119"/>
                      <a:gd name="connsiteX11" fmla="*/ 33275 w 40679"/>
                      <a:gd name="connsiteY11" fmla="*/ 69481 h 71119"/>
                      <a:gd name="connsiteX12" fmla="*/ 35875 w 40679"/>
                      <a:gd name="connsiteY12" fmla="*/ 69322 h 71119"/>
                      <a:gd name="connsiteX13" fmla="*/ 39030 w 40679"/>
                      <a:gd name="connsiteY13" fmla="*/ 68866 h 71119"/>
                      <a:gd name="connsiteX14" fmla="*/ 39090 w 40679"/>
                      <a:gd name="connsiteY14" fmla="*/ 57158 h 711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0679" h="71119">
                        <a:moveTo>
                          <a:pt x="39090" y="57158"/>
                        </a:moveTo>
                        <a:cubicBezTo>
                          <a:pt x="37806" y="57899"/>
                          <a:pt x="36411" y="58441"/>
                          <a:pt x="34903" y="58785"/>
                        </a:cubicBezTo>
                        <a:cubicBezTo>
                          <a:pt x="33394" y="59142"/>
                          <a:pt x="31734" y="59321"/>
                          <a:pt x="29922" y="59321"/>
                        </a:cubicBezTo>
                        <a:cubicBezTo>
                          <a:pt x="23466" y="59321"/>
                          <a:pt x="18512" y="57224"/>
                          <a:pt x="15059" y="53030"/>
                        </a:cubicBezTo>
                        <a:cubicBezTo>
                          <a:pt x="11606" y="48837"/>
                          <a:pt x="9880" y="42811"/>
                          <a:pt x="9880" y="34953"/>
                        </a:cubicBezTo>
                        <a:lnTo>
                          <a:pt x="9880" y="-1639"/>
                        </a:lnTo>
                        <a:lnTo>
                          <a:pt x="-1590" y="-1639"/>
                        </a:lnTo>
                        <a:lnTo>
                          <a:pt x="-1590" y="67814"/>
                        </a:lnTo>
                        <a:lnTo>
                          <a:pt x="9880" y="67814"/>
                        </a:lnTo>
                        <a:lnTo>
                          <a:pt x="9880" y="57019"/>
                        </a:lnTo>
                        <a:cubicBezTo>
                          <a:pt x="12287" y="61239"/>
                          <a:pt x="15409" y="64368"/>
                          <a:pt x="19246" y="66405"/>
                        </a:cubicBezTo>
                        <a:cubicBezTo>
                          <a:pt x="23096" y="68456"/>
                          <a:pt x="27772" y="69481"/>
                          <a:pt x="33275" y="69481"/>
                        </a:cubicBezTo>
                        <a:cubicBezTo>
                          <a:pt x="34056" y="69481"/>
                          <a:pt x="34922" y="69428"/>
                          <a:pt x="35875" y="69322"/>
                        </a:cubicBezTo>
                        <a:cubicBezTo>
                          <a:pt x="36827" y="69229"/>
                          <a:pt x="37879" y="69077"/>
                          <a:pt x="39030" y="68866"/>
                        </a:cubicBezTo>
                        <a:lnTo>
                          <a:pt x="39090" y="57158"/>
                        </a:lnTo>
                        <a:close/>
                      </a:path>
                    </a:pathLst>
                  </a:custGeom>
                  <a:solidFill>
                    <a:srgbClr val="000000"/>
                  </a:solidFill>
                  <a:ln w="20" cap="flat">
                    <a:noFill/>
                    <a:prstDash val="solid"/>
                    <a:round/>
                  </a:ln>
                </p:spPr>
                <p:txBody>
                  <a:bodyPr rtlCol="0" anchor="ctr"/>
                  <a:lstStyle/>
                  <a:p>
                    <a:endParaRPr lang="en-US"/>
                  </a:p>
                </p:txBody>
              </p:sp>
              <p:sp>
                <p:nvSpPr>
                  <p:cNvPr id="149" name="フリーフォーム: 図形 148">
                    <a:extLst>
                      <a:ext uri="{FF2B5EF4-FFF2-40B4-BE49-F238E27FC236}">
                        <a16:creationId xmlns:a16="http://schemas.microsoft.com/office/drawing/2014/main" id="{92F40F15-C8BF-0E5E-2237-2119585B7CB2}"/>
                      </a:ext>
                    </a:extLst>
                  </p:cNvPr>
                  <p:cNvSpPr/>
                  <p:nvPr/>
                </p:nvSpPr>
                <p:spPr>
                  <a:xfrm rot="-5400000" flipV="1">
                    <a:off x="-8735083" y="3448145"/>
                    <a:ext cx="58677" cy="72925"/>
                  </a:xfrm>
                  <a:custGeom>
                    <a:avLst/>
                    <a:gdLst>
                      <a:gd name="connsiteX0" fmla="*/ 34071 w 58677"/>
                      <a:gd name="connsiteY0" fmla="*/ 35113 h 72925"/>
                      <a:gd name="connsiteX1" fmla="*/ 14902 w 58677"/>
                      <a:gd name="connsiteY1" fmla="*/ 31958 h 72925"/>
                      <a:gd name="connsiteX2" fmla="*/ 9564 w 58677"/>
                      <a:gd name="connsiteY2" fmla="*/ 21163 h 72925"/>
                      <a:gd name="connsiteX3" fmla="*/ 13572 w 58677"/>
                      <a:gd name="connsiteY3" fmla="*/ 11519 h 72925"/>
                      <a:gd name="connsiteX4" fmla="*/ 24446 w 58677"/>
                      <a:gd name="connsiteY4" fmla="*/ 7967 h 72925"/>
                      <a:gd name="connsiteX5" fmla="*/ 39686 w 58677"/>
                      <a:gd name="connsiteY5" fmla="*/ 14694 h 72925"/>
                      <a:gd name="connsiteX6" fmla="*/ 45421 w 58677"/>
                      <a:gd name="connsiteY6" fmla="*/ 32573 h 72925"/>
                      <a:gd name="connsiteX7" fmla="*/ 45421 w 58677"/>
                      <a:gd name="connsiteY7" fmla="*/ 35113 h 72925"/>
                      <a:gd name="connsiteX8" fmla="*/ 34071 w 58677"/>
                      <a:gd name="connsiteY8" fmla="*/ 35113 h 72925"/>
                      <a:gd name="connsiteX9" fmla="*/ 56831 w 58677"/>
                      <a:gd name="connsiteY9" fmla="*/ 39836 h 72925"/>
                      <a:gd name="connsiteX10" fmla="*/ 56831 w 58677"/>
                      <a:gd name="connsiteY10" fmla="*/ 208 h 72925"/>
                      <a:gd name="connsiteX11" fmla="*/ 45421 w 58677"/>
                      <a:gd name="connsiteY11" fmla="*/ 208 h 72925"/>
                      <a:gd name="connsiteX12" fmla="*/ 45421 w 58677"/>
                      <a:gd name="connsiteY12" fmla="*/ 10745 h 72925"/>
                      <a:gd name="connsiteX13" fmla="*/ 35678 w 58677"/>
                      <a:gd name="connsiteY13" fmla="*/ 1418 h 72925"/>
                      <a:gd name="connsiteX14" fmla="*/ 21410 w 58677"/>
                      <a:gd name="connsiteY14" fmla="*/ -1598 h 72925"/>
                      <a:gd name="connsiteX15" fmla="*/ 4444 w 58677"/>
                      <a:gd name="connsiteY15" fmla="*/ 4395 h 72925"/>
                      <a:gd name="connsiteX16" fmla="*/ -1846 w 58677"/>
                      <a:gd name="connsiteY16" fmla="*/ 20428 h 72925"/>
                      <a:gd name="connsiteX17" fmla="*/ 5992 w 58677"/>
                      <a:gd name="connsiteY17" fmla="*/ 38089 h 72925"/>
                      <a:gd name="connsiteX18" fmla="*/ 29407 w 58677"/>
                      <a:gd name="connsiteY18" fmla="*/ 44043 h 72925"/>
                      <a:gd name="connsiteX19" fmla="*/ 45421 w 58677"/>
                      <a:gd name="connsiteY19" fmla="*/ 44043 h 72925"/>
                      <a:gd name="connsiteX20" fmla="*/ 45421 w 58677"/>
                      <a:gd name="connsiteY20" fmla="*/ 45174 h 72925"/>
                      <a:gd name="connsiteX21" fmla="*/ 40242 w 58677"/>
                      <a:gd name="connsiteY21" fmla="*/ 57358 h 72925"/>
                      <a:gd name="connsiteX22" fmla="*/ 25697 w 58677"/>
                      <a:gd name="connsiteY22" fmla="*/ 61664 h 72925"/>
                      <a:gd name="connsiteX23" fmla="*/ 14088 w 58677"/>
                      <a:gd name="connsiteY23" fmla="*/ 60235 h 72925"/>
                      <a:gd name="connsiteX24" fmla="*/ 3253 w 58677"/>
                      <a:gd name="connsiteY24" fmla="*/ 55949 h 72925"/>
                      <a:gd name="connsiteX25" fmla="*/ 3253 w 58677"/>
                      <a:gd name="connsiteY25" fmla="*/ 66506 h 72925"/>
                      <a:gd name="connsiteX26" fmla="*/ 15398 w 58677"/>
                      <a:gd name="connsiteY26" fmla="*/ 70117 h 72925"/>
                      <a:gd name="connsiteX27" fmla="*/ 26867 w 58677"/>
                      <a:gd name="connsiteY27" fmla="*/ 71328 h 72925"/>
                      <a:gd name="connsiteX28" fmla="*/ 49390 w 58677"/>
                      <a:gd name="connsiteY28" fmla="*/ 63509 h 72925"/>
                      <a:gd name="connsiteX29" fmla="*/ 56831 w 58677"/>
                      <a:gd name="connsiteY29" fmla="*/ 39836 h 7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8677" h="72925">
                        <a:moveTo>
                          <a:pt x="34071" y="35113"/>
                        </a:moveTo>
                        <a:cubicBezTo>
                          <a:pt x="24850" y="35113"/>
                          <a:pt x="18460" y="34061"/>
                          <a:pt x="14902" y="31958"/>
                        </a:cubicBezTo>
                        <a:cubicBezTo>
                          <a:pt x="11343" y="29854"/>
                          <a:pt x="9564" y="26256"/>
                          <a:pt x="9564" y="21163"/>
                        </a:cubicBezTo>
                        <a:cubicBezTo>
                          <a:pt x="9564" y="17115"/>
                          <a:pt x="10900" y="13900"/>
                          <a:pt x="13572" y="11519"/>
                        </a:cubicBezTo>
                        <a:cubicBezTo>
                          <a:pt x="16244" y="9151"/>
                          <a:pt x="19869" y="7967"/>
                          <a:pt x="24446" y="7967"/>
                        </a:cubicBezTo>
                        <a:cubicBezTo>
                          <a:pt x="30783" y="7967"/>
                          <a:pt x="35863" y="10209"/>
                          <a:pt x="39686" y="14694"/>
                        </a:cubicBezTo>
                        <a:cubicBezTo>
                          <a:pt x="43510" y="19178"/>
                          <a:pt x="45421" y="25138"/>
                          <a:pt x="45421" y="32573"/>
                        </a:cubicBezTo>
                        <a:lnTo>
                          <a:pt x="45421" y="35113"/>
                        </a:lnTo>
                        <a:lnTo>
                          <a:pt x="34071" y="35113"/>
                        </a:lnTo>
                        <a:close/>
                        <a:moveTo>
                          <a:pt x="56831" y="39836"/>
                        </a:moveTo>
                        <a:lnTo>
                          <a:pt x="56831" y="208"/>
                        </a:lnTo>
                        <a:lnTo>
                          <a:pt x="45421" y="208"/>
                        </a:lnTo>
                        <a:lnTo>
                          <a:pt x="45421" y="10745"/>
                        </a:lnTo>
                        <a:cubicBezTo>
                          <a:pt x="42815" y="6538"/>
                          <a:pt x="39567" y="3429"/>
                          <a:pt x="35678" y="1418"/>
                        </a:cubicBezTo>
                        <a:cubicBezTo>
                          <a:pt x="31789" y="-593"/>
                          <a:pt x="27033" y="-1598"/>
                          <a:pt x="21410" y="-1598"/>
                        </a:cubicBezTo>
                        <a:cubicBezTo>
                          <a:pt x="14306" y="-1598"/>
                          <a:pt x="8651" y="399"/>
                          <a:pt x="4444" y="4395"/>
                        </a:cubicBezTo>
                        <a:cubicBezTo>
                          <a:pt x="250" y="8390"/>
                          <a:pt x="-1846" y="13734"/>
                          <a:pt x="-1846" y="20428"/>
                        </a:cubicBezTo>
                        <a:cubicBezTo>
                          <a:pt x="-1846" y="28234"/>
                          <a:pt x="766" y="34121"/>
                          <a:pt x="5992" y="38089"/>
                        </a:cubicBezTo>
                        <a:cubicBezTo>
                          <a:pt x="11231" y="42058"/>
                          <a:pt x="19036" y="44043"/>
                          <a:pt x="29407" y="44043"/>
                        </a:cubicBezTo>
                        <a:lnTo>
                          <a:pt x="45421" y="44043"/>
                        </a:lnTo>
                        <a:lnTo>
                          <a:pt x="45421" y="45174"/>
                        </a:lnTo>
                        <a:cubicBezTo>
                          <a:pt x="45421" y="50426"/>
                          <a:pt x="43695" y="54487"/>
                          <a:pt x="40242" y="57358"/>
                        </a:cubicBezTo>
                        <a:cubicBezTo>
                          <a:pt x="36789" y="60228"/>
                          <a:pt x="31941" y="61664"/>
                          <a:pt x="25697" y="61664"/>
                        </a:cubicBezTo>
                        <a:cubicBezTo>
                          <a:pt x="21728" y="61664"/>
                          <a:pt x="17858" y="61188"/>
                          <a:pt x="14088" y="60235"/>
                        </a:cubicBezTo>
                        <a:cubicBezTo>
                          <a:pt x="10331" y="59283"/>
                          <a:pt x="6719" y="57854"/>
                          <a:pt x="3253" y="55949"/>
                        </a:cubicBezTo>
                        <a:lnTo>
                          <a:pt x="3253" y="66506"/>
                        </a:lnTo>
                        <a:cubicBezTo>
                          <a:pt x="7421" y="68120"/>
                          <a:pt x="11469" y="69323"/>
                          <a:pt x="15398" y="70117"/>
                        </a:cubicBezTo>
                        <a:cubicBezTo>
                          <a:pt x="19327" y="70924"/>
                          <a:pt x="23150" y="71328"/>
                          <a:pt x="26867" y="71328"/>
                        </a:cubicBezTo>
                        <a:cubicBezTo>
                          <a:pt x="36922" y="71328"/>
                          <a:pt x="44429" y="68722"/>
                          <a:pt x="49390" y="63509"/>
                        </a:cubicBezTo>
                        <a:cubicBezTo>
                          <a:pt x="54351" y="58310"/>
                          <a:pt x="56831" y="50419"/>
                          <a:pt x="56831" y="39836"/>
                        </a:cubicBezTo>
                        <a:close/>
                      </a:path>
                    </a:pathLst>
                  </a:custGeom>
                  <a:solidFill>
                    <a:srgbClr val="000000"/>
                  </a:solidFill>
                  <a:ln w="20" cap="flat">
                    <a:noFill/>
                    <a:prstDash val="solid"/>
                    <a:round/>
                  </a:ln>
                </p:spPr>
                <p:txBody>
                  <a:bodyPr rtlCol="0" anchor="ctr"/>
                  <a:lstStyle/>
                  <a:p>
                    <a:endParaRPr lang="en-US"/>
                  </a:p>
                </p:txBody>
              </p:sp>
              <p:sp>
                <p:nvSpPr>
                  <p:cNvPr id="150" name="フリーフォーム: 図形 149">
                    <a:extLst>
                      <a:ext uri="{FF2B5EF4-FFF2-40B4-BE49-F238E27FC236}">
                        <a16:creationId xmlns:a16="http://schemas.microsoft.com/office/drawing/2014/main" id="{28D5B172-2A26-3285-F549-18DF29882EF7}"/>
                      </a:ext>
                    </a:extLst>
                  </p:cNvPr>
                  <p:cNvSpPr/>
                  <p:nvPr/>
                </p:nvSpPr>
                <p:spPr>
                  <a:xfrm rot="-5400000" flipV="1">
                    <a:off x="-8737345" y="3374069"/>
                    <a:ext cx="43338" cy="89177"/>
                  </a:xfrm>
                  <a:custGeom>
                    <a:avLst/>
                    <a:gdLst>
                      <a:gd name="connsiteX0" fmla="*/ 18595 w 43338"/>
                      <a:gd name="connsiteY0" fmla="*/ 87074 h 89177"/>
                      <a:gd name="connsiteX1" fmla="*/ 18595 w 43338"/>
                      <a:gd name="connsiteY1" fmla="*/ 67349 h 89177"/>
                      <a:gd name="connsiteX2" fmla="*/ 42090 w 43338"/>
                      <a:gd name="connsiteY2" fmla="*/ 67349 h 89177"/>
                      <a:gd name="connsiteX3" fmla="*/ 42090 w 43338"/>
                      <a:gd name="connsiteY3" fmla="*/ 58479 h 89177"/>
                      <a:gd name="connsiteX4" fmla="*/ 18595 w 43338"/>
                      <a:gd name="connsiteY4" fmla="*/ 58479 h 89177"/>
                      <a:gd name="connsiteX5" fmla="*/ 18595 w 43338"/>
                      <a:gd name="connsiteY5" fmla="*/ 20776 h 89177"/>
                      <a:gd name="connsiteX6" fmla="*/ 20917 w 43338"/>
                      <a:gd name="connsiteY6" fmla="*/ 9862 h 89177"/>
                      <a:gd name="connsiteX7" fmla="*/ 30382 w 43338"/>
                      <a:gd name="connsiteY7" fmla="*/ 7441 h 89177"/>
                      <a:gd name="connsiteX8" fmla="*/ 42090 w 43338"/>
                      <a:gd name="connsiteY8" fmla="*/ 7441 h 89177"/>
                      <a:gd name="connsiteX9" fmla="*/ 42090 w 43338"/>
                      <a:gd name="connsiteY9" fmla="*/ -2104 h 89177"/>
                      <a:gd name="connsiteX10" fmla="*/ 30382 w 43338"/>
                      <a:gd name="connsiteY10" fmla="*/ -2104 h 89177"/>
                      <a:gd name="connsiteX11" fmla="*/ 12146 w 43338"/>
                      <a:gd name="connsiteY11" fmla="*/ 2817 h 89177"/>
                      <a:gd name="connsiteX12" fmla="*/ 7125 w 43338"/>
                      <a:gd name="connsiteY12" fmla="*/ 20776 h 89177"/>
                      <a:gd name="connsiteX13" fmla="*/ 7125 w 43338"/>
                      <a:gd name="connsiteY13" fmla="*/ 58479 h 89177"/>
                      <a:gd name="connsiteX14" fmla="*/ -1249 w 43338"/>
                      <a:gd name="connsiteY14" fmla="*/ 58479 h 89177"/>
                      <a:gd name="connsiteX15" fmla="*/ -1249 w 43338"/>
                      <a:gd name="connsiteY15" fmla="*/ 67349 h 89177"/>
                      <a:gd name="connsiteX16" fmla="*/ 7125 w 43338"/>
                      <a:gd name="connsiteY16" fmla="*/ 67349 h 89177"/>
                      <a:gd name="connsiteX17" fmla="*/ 7125 w 43338"/>
                      <a:gd name="connsiteY17" fmla="*/ 87074 h 89177"/>
                      <a:gd name="connsiteX18" fmla="*/ 18595 w 43338"/>
                      <a:gd name="connsiteY18" fmla="*/ 87074 h 89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3338" h="89177">
                        <a:moveTo>
                          <a:pt x="18595" y="87074"/>
                        </a:moveTo>
                        <a:lnTo>
                          <a:pt x="18595" y="67349"/>
                        </a:lnTo>
                        <a:lnTo>
                          <a:pt x="42090" y="67349"/>
                        </a:lnTo>
                        <a:lnTo>
                          <a:pt x="42090" y="58479"/>
                        </a:lnTo>
                        <a:lnTo>
                          <a:pt x="18595" y="58479"/>
                        </a:lnTo>
                        <a:lnTo>
                          <a:pt x="18595" y="20776"/>
                        </a:lnTo>
                        <a:cubicBezTo>
                          <a:pt x="18595" y="15114"/>
                          <a:pt x="19369" y="11476"/>
                          <a:pt x="20917" y="9862"/>
                        </a:cubicBezTo>
                        <a:cubicBezTo>
                          <a:pt x="22465" y="8248"/>
                          <a:pt x="25620" y="7441"/>
                          <a:pt x="30382" y="7441"/>
                        </a:cubicBezTo>
                        <a:lnTo>
                          <a:pt x="42090" y="7441"/>
                        </a:lnTo>
                        <a:lnTo>
                          <a:pt x="42090" y="-2104"/>
                        </a:lnTo>
                        <a:lnTo>
                          <a:pt x="30382" y="-2104"/>
                        </a:lnTo>
                        <a:cubicBezTo>
                          <a:pt x="21572" y="-2104"/>
                          <a:pt x="15493" y="-463"/>
                          <a:pt x="12146" y="2817"/>
                        </a:cubicBezTo>
                        <a:cubicBezTo>
                          <a:pt x="8799" y="6111"/>
                          <a:pt x="7125" y="12098"/>
                          <a:pt x="7125" y="20776"/>
                        </a:cubicBezTo>
                        <a:lnTo>
                          <a:pt x="7125" y="58479"/>
                        </a:lnTo>
                        <a:lnTo>
                          <a:pt x="-1249" y="58479"/>
                        </a:lnTo>
                        <a:lnTo>
                          <a:pt x="-1249" y="67349"/>
                        </a:lnTo>
                        <a:lnTo>
                          <a:pt x="7125" y="67349"/>
                        </a:lnTo>
                        <a:lnTo>
                          <a:pt x="7125" y="87074"/>
                        </a:lnTo>
                        <a:lnTo>
                          <a:pt x="18595" y="87074"/>
                        </a:lnTo>
                        <a:close/>
                      </a:path>
                    </a:pathLst>
                  </a:custGeom>
                  <a:solidFill>
                    <a:srgbClr val="000000"/>
                  </a:solidFill>
                  <a:ln w="20" cap="flat">
                    <a:noFill/>
                    <a:prstDash val="solid"/>
                    <a:round/>
                  </a:ln>
                </p:spPr>
                <p:txBody>
                  <a:bodyPr rtlCol="0" anchor="ctr"/>
                  <a:lstStyle/>
                  <a:p>
                    <a:endParaRPr lang="en-US"/>
                  </a:p>
                </p:txBody>
              </p:sp>
              <p:sp>
                <p:nvSpPr>
                  <p:cNvPr id="151" name="フリーフォーム: 図形 150">
                    <a:extLst>
                      <a:ext uri="{FF2B5EF4-FFF2-40B4-BE49-F238E27FC236}">
                        <a16:creationId xmlns:a16="http://schemas.microsoft.com/office/drawing/2014/main" id="{8447FFDE-E61C-6639-36E0-E1042FF6BB68}"/>
                      </a:ext>
                    </a:extLst>
                  </p:cNvPr>
                  <p:cNvSpPr/>
                  <p:nvPr/>
                </p:nvSpPr>
                <p:spPr>
                  <a:xfrm rot="-5400000" flipV="1">
                    <a:off x="-8725042" y="3328024"/>
                    <a:ext cx="11410" cy="96500"/>
                  </a:xfrm>
                  <a:custGeom>
                    <a:avLst/>
                    <a:gdLst>
                      <a:gd name="connsiteX0" fmla="*/ -876 w 11410"/>
                      <a:gd name="connsiteY0" fmla="*/ 67161 h 96500"/>
                      <a:gd name="connsiteX1" fmla="*/ 10535 w 11410"/>
                      <a:gd name="connsiteY1" fmla="*/ 67161 h 96500"/>
                      <a:gd name="connsiteX2" fmla="*/ 10535 w 11410"/>
                      <a:gd name="connsiteY2" fmla="*/ -2292 h 96500"/>
                      <a:gd name="connsiteX3" fmla="*/ -876 w 11410"/>
                      <a:gd name="connsiteY3" fmla="*/ -2292 h 96500"/>
                      <a:gd name="connsiteX4" fmla="*/ -876 w 11410"/>
                      <a:gd name="connsiteY4" fmla="*/ 67161 h 96500"/>
                      <a:gd name="connsiteX5" fmla="*/ -876 w 11410"/>
                      <a:gd name="connsiteY5" fmla="*/ 94209 h 96500"/>
                      <a:gd name="connsiteX6" fmla="*/ 10535 w 11410"/>
                      <a:gd name="connsiteY6" fmla="*/ 94209 h 96500"/>
                      <a:gd name="connsiteX7" fmla="*/ 10535 w 11410"/>
                      <a:gd name="connsiteY7" fmla="*/ 79742 h 96500"/>
                      <a:gd name="connsiteX8" fmla="*/ -876 w 11410"/>
                      <a:gd name="connsiteY8" fmla="*/ 79742 h 96500"/>
                      <a:gd name="connsiteX9" fmla="*/ -876 w 11410"/>
                      <a:gd name="connsiteY9" fmla="*/ 94209 h 96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410" h="96500">
                        <a:moveTo>
                          <a:pt x="-876" y="67161"/>
                        </a:moveTo>
                        <a:lnTo>
                          <a:pt x="10535" y="67161"/>
                        </a:lnTo>
                        <a:lnTo>
                          <a:pt x="10535" y="-2292"/>
                        </a:lnTo>
                        <a:lnTo>
                          <a:pt x="-876" y="-2292"/>
                        </a:lnTo>
                        <a:lnTo>
                          <a:pt x="-876" y="67161"/>
                        </a:lnTo>
                        <a:close/>
                        <a:moveTo>
                          <a:pt x="-876" y="94209"/>
                        </a:moveTo>
                        <a:lnTo>
                          <a:pt x="10535" y="94209"/>
                        </a:lnTo>
                        <a:lnTo>
                          <a:pt x="10535" y="79742"/>
                        </a:lnTo>
                        <a:lnTo>
                          <a:pt x="-876" y="79742"/>
                        </a:lnTo>
                        <a:lnTo>
                          <a:pt x="-876" y="94209"/>
                        </a:lnTo>
                        <a:close/>
                      </a:path>
                    </a:pathLst>
                  </a:custGeom>
                  <a:solidFill>
                    <a:srgbClr val="000000"/>
                  </a:solidFill>
                  <a:ln w="20" cap="flat">
                    <a:noFill/>
                    <a:prstDash val="solid"/>
                    <a:round/>
                  </a:ln>
                </p:spPr>
                <p:txBody>
                  <a:bodyPr rtlCol="0" anchor="ctr"/>
                  <a:lstStyle/>
                  <a:p>
                    <a:endParaRPr lang="en-US"/>
                  </a:p>
                </p:txBody>
              </p:sp>
              <p:sp>
                <p:nvSpPr>
                  <p:cNvPr id="152" name="フリーフォーム: 図形 151">
                    <a:extLst>
                      <a:ext uri="{FF2B5EF4-FFF2-40B4-BE49-F238E27FC236}">
                        <a16:creationId xmlns:a16="http://schemas.microsoft.com/office/drawing/2014/main" id="{3A827B38-298D-9128-BBD7-9A1AD9B99966}"/>
                      </a:ext>
                    </a:extLst>
                  </p:cNvPr>
                  <p:cNvSpPr/>
                  <p:nvPr/>
                </p:nvSpPr>
                <p:spPr>
                  <a:xfrm rot="-5400000" flipV="1">
                    <a:off x="-8737623" y="3283314"/>
                    <a:ext cx="63757" cy="72925"/>
                  </a:xfrm>
                  <a:custGeom>
                    <a:avLst/>
                    <a:gdLst>
                      <a:gd name="connsiteX0" fmla="*/ 29926 w 63757"/>
                      <a:gd name="connsiteY0" fmla="*/ 61651 h 72925"/>
                      <a:gd name="connsiteX1" fmla="*/ 15420 w 63757"/>
                      <a:gd name="connsiteY1" fmla="*/ 54487 h 72925"/>
                      <a:gd name="connsiteX2" fmla="*/ 10082 w 63757"/>
                      <a:gd name="connsiteY2" fmla="*/ 34862 h 72925"/>
                      <a:gd name="connsiteX3" fmla="*/ 15380 w 63757"/>
                      <a:gd name="connsiteY3" fmla="*/ 15236 h 72925"/>
                      <a:gd name="connsiteX4" fmla="*/ 29926 w 63757"/>
                      <a:gd name="connsiteY4" fmla="*/ 8073 h 72925"/>
                      <a:gd name="connsiteX5" fmla="*/ 44372 w 63757"/>
                      <a:gd name="connsiteY5" fmla="*/ 15256 h 72925"/>
                      <a:gd name="connsiteX6" fmla="*/ 49710 w 63757"/>
                      <a:gd name="connsiteY6" fmla="*/ 34862 h 72925"/>
                      <a:gd name="connsiteX7" fmla="*/ 44372 w 63757"/>
                      <a:gd name="connsiteY7" fmla="*/ 54428 h 72925"/>
                      <a:gd name="connsiteX8" fmla="*/ 29926 w 63757"/>
                      <a:gd name="connsiteY8" fmla="*/ 61651 h 72925"/>
                      <a:gd name="connsiteX9" fmla="*/ 29926 w 63757"/>
                      <a:gd name="connsiteY9" fmla="*/ 71315 h 72925"/>
                      <a:gd name="connsiteX10" fmla="*/ 53302 w 63757"/>
                      <a:gd name="connsiteY10" fmla="*/ 61631 h 72925"/>
                      <a:gd name="connsiteX11" fmla="*/ 61814 w 63757"/>
                      <a:gd name="connsiteY11" fmla="*/ 34862 h 72925"/>
                      <a:gd name="connsiteX12" fmla="*/ 53302 w 63757"/>
                      <a:gd name="connsiteY12" fmla="*/ 8092 h 72925"/>
                      <a:gd name="connsiteX13" fmla="*/ 29926 w 63757"/>
                      <a:gd name="connsiteY13" fmla="*/ -1611 h 72925"/>
                      <a:gd name="connsiteX14" fmla="*/ 6510 w 63757"/>
                      <a:gd name="connsiteY14" fmla="*/ 8092 h 72925"/>
                      <a:gd name="connsiteX15" fmla="*/ -1943 w 63757"/>
                      <a:gd name="connsiteY15" fmla="*/ 34862 h 72925"/>
                      <a:gd name="connsiteX16" fmla="*/ 6510 w 63757"/>
                      <a:gd name="connsiteY16" fmla="*/ 61631 h 72925"/>
                      <a:gd name="connsiteX17" fmla="*/ 29926 w 63757"/>
                      <a:gd name="connsiteY17" fmla="*/ 71315 h 7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3757" h="72925">
                        <a:moveTo>
                          <a:pt x="29926" y="61651"/>
                        </a:moveTo>
                        <a:cubicBezTo>
                          <a:pt x="23814" y="61651"/>
                          <a:pt x="18978" y="59263"/>
                          <a:pt x="15420" y="54487"/>
                        </a:cubicBezTo>
                        <a:cubicBezTo>
                          <a:pt x="11861" y="49711"/>
                          <a:pt x="10082" y="43170"/>
                          <a:pt x="10082" y="34862"/>
                        </a:cubicBezTo>
                        <a:cubicBezTo>
                          <a:pt x="10082" y="26554"/>
                          <a:pt x="11848" y="20012"/>
                          <a:pt x="15380" y="15236"/>
                        </a:cubicBezTo>
                        <a:cubicBezTo>
                          <a:pt x="18926" y="10461"/>
                          <a:pt x="23774" y="8073"/>
                          <a:pt x="29926" y="8073"/>
                        </a:cubicBezTo>
                        <a:cubicBezTo>
                          <a:pt x="36011" y="8073"/>
                          <a:pt x="40826" y="10467"/>
                          <a:pt x="44372" y="15256"/>
                        </a:cubicBezTo>
                        <a:cubicBezTo>
                          <a:pt x="47930" y="20058"/>
                          <a:pt x="49710" y="26593"/>
                          <a:pt x="49710" y="34862"/>
                        </a:cubicBezTo>
                        <a:cubicBezTo>
                          <a:pt x="49710" y="43090"/>
                          <a:pt x="47930" y="49612"/>
                          <a:pt x="44372" y="54428"/>
                        </a:cubicBezTo>
                        <a:cubicBezTo>
                          <a:pt x="40826" y="59243"/>
                          <a:pt x="36011" y="61651"/>
                          <a:pt x="29926" y="61651"/>
                        </a:cubicBezTo>
                        <a:close/>
                        <a:moveTo>
                          <a:pt x="29926" y="71315"/>
                        </a:moveTo>
                        <a:cubicBezTo>
                          <a:pt x="39847" y="71315"/>
                          <a:pt x="47639" y="68087"/>
                          <a:pt x="53302" y="61631"/>
                        </a:cubicBezTo>
                        <a:cubicBezTo>
                          <a:pt x="58977" y="55188"/>
                          <a:pt x="61814" y="46265"/>
                          <a:pt x="61814" y="34862"/>
                        </a:cubicBezTo>
                        <a:cubicBezTo>
                          <a:pt x="61814" y="23498"/>
                          <a:pt x="58977" y="14575"/>
                          <a:pt x="53302" y="8092"/>
                        </a:cubicBezTo>
                        <a:cubicBezTo>
                          <a:pt x="47639" y="1623"/>
                          <a:pt x="39847" y="-1611"/>
                          <a:pt x="29926" y="-1611"/>
                        </a:cubicBezTo>
                        <a:cubicBezTo>
                          <a:pt x="19964" y="-1611"/>
                          <a:pt x="12159" y="1623"/>
                          <a:pt x="6510" y="8092"/>
                        </a:cubicBezTo>
                        <a:cubicBezTo>
                          <a:pt x="874" y="14575"/>
                          <a:pt x="-1943" y="23498"/>
                          <a:pt x="-1943" y="34862"/>
                        </a:cubicBezTo>
                        <a:cubicBezTo>
                          <a:pt x="-1943" y="46265"/>
                          <a:pt x="874" y="55188"/>
                          <a:pt x="6510" y="61631"/>
                        </a:cubicBezTo>
                        <a:cubicBezTo>
                          <a:pt x="12159" y="68087"/>
                          <a:pt x="19964" y="71315"/>
                          <a:pt x="29926" y="71315"/>
                        </a:cubicBezTo>
                        <a:close/>
                      </a:path>
                    </a:pathLst>
                  </a:custGeom>
                  <a:solidFill>
                    <a:srgbClr val="000000"/>
                  </a:solidFill>
                  <a:ln w="20" cap="flat">
                    <a:noFill/>
                    <a:prstDash val="solid"/>
                    <a:round/>
                  </a:ln>
                </p:spPr>
                <p:txBody>
                  <a:bodyPr rtlCol="0" anchor="ctr"/>
                  <a:lstStyle/>
                  <a:p>
                    <a:endParaRPr lang="en-US"/>
                  </a:p>
                </p:txBody>
              </p:sp>
              <p:sp>
                <p:nvSpPr>
                  <p:cNvPr id="153" name="フリーフォーム: 図形 152">
                    <a:extLst>
                      <a:ext uri="{FF2B5EF4-FFF2-40B4-BE49-F238E27FC236}">
                        <a16:creationId xmlns:a16="http://schemas.microsoft.com/office/drawing/2014/main" id="{73968D46-690B-14EA-C0FC-923DA20A2080}"/>
                      </a:ext>
                    </a:extLst>
                  </p:cNvPr>
                  <p:cNvSpPr/>
                  <p:nvPr/>
                </p:nvSpPr>
                <p:spPr>
                  <a:xfrm rot="-5400000" flipV="1">
                    <a:off x="-8735738" y="3204781"/>
                    <a:ext cx="58181" cy="71119"/>
                  </a:xfrm>
                  <a:custGeom>
                    <a:avLst/>
                    <a:gdLst>
                      <a:gd name="connsiteX0" fmla="*/ 56151 w 58181"/>
                      <a:gd name="connsiteY0" fmla="*/ 40267 h 71119"/>
                      <a:gd name="connsiteX1" fmla="*/ 56151 w 58181"/>
                      <a:gd name="connsiteY1" fmla="*/ -1663 h 71119"/>
                      <a:gd name="connsiteX2" fmla="*/ 44741 w 58181"/>
                      <a:gd name="connsiteY2" fmla="*/ -1663 h 71119"/>
                      <a:gd name="connsiteX3" fmla="*/ 44741 w 58181"/>
                      <a:gd name="connsiteY3" fmla="*/ 39890 h 71119"/>
                      <a:gd name="connsiteX4" fmla="*/ 40891 w 58181"/>
                      <a:gd name="connsiteY4" fmla="*/ 54634 h 71119"/>
                      <a:gd name="connsiteX5" fmla="*/ 29362 w 58181"/>
                      <a:gd name="connsiteY5" fmla="*/ 59535 h 71119"/>
                      <a:gd name="connsiteX6" fmla="*/ 14777 w 58181"/>
                      <a:gd name="connsiteY6" fmla="*/ 53642 h 71119"/>
                      <a:gd name="connsiteX7" fmla="*/ 9439 w 58181"/>
                      <a:gd name="connsiteY7" fmla="*/ 37588 h 71119"/>
                      <a:gd name="connsiteX8" fmla="*/ 9439 w 58181"/>
                      <a:gd name="connsiteY8" fmla="*/ -1663 h 71119"/>
                      <a:gd name="connsiteX9" fmla="*/ -2031 w 58181"/>
                      <a:gd name="connsiteY9" fmla="*/ -1663 h 71119"/>
                      <a:gd name="connsiteX10" fmla="*/ -2031 w 58181"/>
                      <a:gd name="connsiteY10" fmla="*/ 67790 h 71119"/>
                      <a:gd name="connsiteX11" fmla="*/ 9439 w 58181"/>
                      <a:gd name="connsiteY11" fmla="*/ 67790 h 71119"/>
                      <a:gd name="connsiteX12" fmla="*/ 9439 w 58181"/>
                      <a:gd name="connsiteY12" fmla="*/ 56995 h 71119"/>
                      <a:gd name="connsiteX13" fmla="*/ 19083 w 58181"/>
                      <a:gd name="connsiteY13" fmla="*/ 66362 h 71119"/>
                      <a:gd name="connsiteX14" fmla="*/ 31902 w 58181"/>
                      <a:gd name="connsiteY14" fmla="*/ 69457 h 71119"/>
                      <a:gd name="connsiteX15" fmla="*/ 49999 w 58181"/>
                      <a:gd name="connsiteY15" fmla="*/ 62055 h 71119"/>
                      <a:gd name="connsiteX16" fmla="*/ 56151 w 58181"/>
                      <a:gd name="connsiteY16" fmla="*/ 40267 h 711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58181" h="71119">
                        <a:moveTo>
                          <a:pt x="56151" y="40267"/>
                        </a:moveTo>
                        <a:lnTo>
                          <a:pt x="56151" y="-1663"/>
                        </a:lnTo>
                        <a:lnTo>
                          <a:pt x="44741" y="-1663"/>
                        </a:lnTo>
                        <a:lnTo>
                          <a:pt x="44741" y="39890"/>
                        </a:lnTo>
                        <a:cubicBezTo>
                          <a:pt x="44741" y="46465"/>
                          <a:pt x="43457" y="51379"/>
                          <a:pt x="40891" y="54634"/>
                        </a:cubicBezTo>
                        <a:cubicBezTo>
                          <a:pt x="38325" y="57902"/>
                          <a:pt x="34481" y="59535"/>
                          <a:pt x="29362" y="59535"/>
                        </a:cubicBezTo>
                        <a:cubicBezTo>
                          <a:pt x="23197" y="59535"/>
                          <a:pt x="18335" y="57571"/>
                          <a:pt x="14777" y="53642"/>
                        </a:cubicBezTo>
                        <a:cubicBezTo>
                          <a:pt x="11218" y="49726"/>
                          <a:pt x="9439" y="44375"/>
                          <a:pt x="9439" y="37588"/>
                        </a:cubicBezTo>
                        <a:lnTo>
                          <a:pt x="9439" y="-1663"/>
                        </a:lnTo>
                        <a:lnTo>
                          <a:pt x="-2031" y="-1663"/>
                        </a:lnTo>
                        <a:lnTo>
                          <a:pt x="-2031" y="67790"/>
                        </a:lnTo>
                        <a:lnTo>
                          <a:pt x="9439" y="67790"/>
                        </a:lnTo>
                        <a:lnTo>
                          <a:pt x="9439" y="56995"/>
                        </a:lnTo>
                        <a:cubicBezTo>
                          <a:pt x="12177" y="61176"/>
                          <a:pt x="15392" y="64298"/>
                          <a:pt x="19083" y="66362"/>
                        </a:cubicBezTo>
                        <a:cubicBezTo>
                          <a:pt x="22787" y="68425"/>
                          <a:pt x="27060" y="69457"/>
                          <a:pt x="31902" y="69457"/>
                        </a:cubicBezTo>
                        <a:cubicBezTo>
                          <a:pt x="39879" y="69457"/>
                          <a:pt x="45911" y="66990"/>
                          <a:pt x="49999" y="62055"/>
                        </a:cubicBezTo>
                        <a:cubicBezTo>
                          <a:pt x="54100" y="57121"/>
                          <a:pt x="56151" y="49858"/>
                          <a:pt x="56151" y="40267"/>
                        </a:cubicBezTo>
                        <a:close/>
                      </a:path>
                    </a:pathLst>
                  </a:custGeom>
                  <a:solidFill>
                    <a:srgbClr val="000000"/>
                  </a:solidFill>
                  <a:ln w="20" cap="flat">
                    <a:noFill/>
                    <a:prstDash val="solid"/>
                    <a:round/>
                  </a:ln>
                </p:spPr>
                <p:txBody>
                  <a:bodyPr rtlCol="0" anchor="ctr"/>
                  <a:lstStyle/>
                  <a:p>
                    <a:endParaRPr lang="en-US"/>
                  </a:p>
                </p:txBody>
              </p:sp>
              <p:sp>
                <p:nvSpPr>
                  <p:cNvPr id="154" name="フリーフォーム: 図形 153">
                    <a:extLst>
                      <a:ext uri="{FF2B5EF4-FFF2-40B4-BE49-F238E27FC236}">
                        <a16:creationId xmlns:a16="http://schemas.microsoft.com/office/drawing/2014/main" id="{2A08345A-1D25-2685-8502-E4A97EA257E3}"/>
                      </a:ext>
                    </a:extLst>
                  </p:cNvPr>
                  <p:cNvSpPr/>
                  <p:nvPr/>
                </p:nvSpPr>
                <p:spPr>
                  <a:xfrm rot="-5400000" flipV="1">
                    <a:off x="-8671087" y="3200470"/>
                    <a:ext cx="12700" cy="12700"/>
                  </a:xfrm>
                  <a:custGeom>
                    <a:avLst/>
                    <a:gdLst/>
                    <a:ahLst/>
                    <a:cxnLst/>
                    <a:rect l="l" t="t" r="r" b="b"/>
                    <a:pathLst>
                      <a:path w="12700" h="12700"/>
                    </a:pathLst>
                  </a:custGeom>
                  <a:solidFill>
                    <a:srgbClr val="000000"/>
                  </a:solidFill>
                  <a:ln w="20" cap="flat">
                    <a:noFill/>
                    <a:prstDash val="solid"/>
                    <a:round/>
                  </a:ln>
                </p:spPr>
                <p:txBody>
                  <a:bodyPr rtlCol="0" anchor="ctr"/>
                  <a:lstStyle/>
                  <a:p>
                    <a:endParaRPr lang="en-US"/>
                  </a:p>
                </p:txBody>
              </p:sp>
              <p:sp>
                <p:nvSpPr>
                  <p:cNvPr id="155" name="フリーフォーム: 図形 154">
                    <a:extLst>
                      <a:ext uri="{FF2B5EF4-FFF2-40B4-BE49-F238E27FC236}">
                        <a16:creationId xmlns:a16="http://schemas.microsoft.com/office/drawing/2014/main" id="{752E1D1F-37A4-FC61-813A-EA46232DC72E}"/>
                      </a:ext>
                    </a:extLst>
                  </p:cNvPr>
                  <p:cNvSpPr/>
                  <p:nvPr/>
                </p:nvSpPr>
                <p:spPr>
                  <a:xfrm rot="-5400000" flipV="1">
                    <a:off x="-8753449" y="3065277"/>
                    <a:ext cx="72132" cy="92590"/>
                  </a:xfrm>
                  <a:custGeom>
                    <a:avLst/>
                    <a:gdLst>
                      <a:gd name="connsiteX0" fmla="*/ 41484 w 72132"/>
                      <a:gd name="connsiteY0" fmla="*/ 41204 h 92590"/>
                      <a:gd name="connsiteX1" fmla="*/ 49322 w 72132"/>
                      <a:gd name="connsiteY1" fmla="*/ 35370 h 92590"/>
                      <a:gd name="connsiteX2" fmla="*/ 56982 w 72132"/>
                      <a:gd name="connsiteY2" fmla="*/ 23087 h 92590"/>
                      <a:gd name="connsiteX3" fmla="*/ 69702 w 72132"/>
                      <a:gd name="connsiteY3" fmla="*/ -2214 h 92590"/>
                      <a:gd name="connsiteX4" fmla="*/ 56228 w 72132"/>
                      <a:gd name="connsiteY4" fmla="*/ -2214 h 92590"/>
                      <a:gd name="connsiteX5" fmla="*/ 44401 w 72132"/>
                      <a:gd name="connsiteY5" fmla="*/ 21539 h 92590"/>
                      <a:gd name="connsiteX6" fmla="*/ 35491 w 72132"/>
                      <a:gd name="connsiteY6" fmla="*/ 33882 h 92590"/>
                      <a:gd name="connsiteX7" fmla="*/ 23743 w 72132"/>
                      <a:gd name="connsiteY7" fmla="*/ 36918 h 92590"/>
                      <a:gd name="connsiteX8" fmla="*/ 10091 w 72132"/>
                      <a:gd name="connsiteY8" fmla="*/ 36918 h 92590"/>
                      <a:gd name="connsiteX9" fmla="*/ 10091 w 72132"/>
                      <a:gd name="connsiteY9" fmla="*/ -2214 h 92590"/>
                      <a:gd name="connsiteX10" fmla="*/ -2430 w 72132"/>
                      <a:gd name="connsiteY10" fmla="*/ -2214 h 92590"/>
                      <a:gd name="connsiteX11" fmla="*/ -2430 w 72132"/>
                      <a:gd name="connsiteY11" fmla="*/ 90377 h 92590"/>
                      <a:gd name="connsiteX12" fmla="*/ 25847 w 72132"/>
                      <a:gd name="connsiteY12" fmla="*/ 90377 h 92590"/>
                      <a:gd name="connsiteX13" fmla="*/ 49540 w 72132"/>
                      <a:gd name="connsiteY13" fmla="*/ 83729 h 92590"/>
                      <a:gd name="connsiteX14" fmla="*/ 57359 w 72132"/>
                      <a:gd name="connsiteY14" fmla="*/ 63707 h 92590"/>
                      <a:gd name="connsiteX15" fmla="*/ 53291 w 72132"/>
                      <a:gd name="connsiteY15" fmla="*/ 49181 h 92590"/>
                      <a:gd name="connsiteX16" fmla="*/ 41484 w 72132"/>
                      <a:gd name="connsiteY16" fmla="*/ 41204 h 92590"/>
                      <a:gd name="connsiteX17" fmla="*/ 10091 w 72132"/>
                      <a:gd name="connsiteY17" fmla="*/ 80078 h 92590"/>
                      <a:gd name="connsiteX18" fmla="*/ 10091 w 72132"/>
                      <a:gd name="connsiteY18" fmla="*/ 47217 h 92590"/>
                      <a:gd name="connsiteX19" fmla="*/ 25847 w 72132"/>
                      <a:gd name="connsiteY19" fmla="*/ 47217 h 92590"/>
                      <a:gd name="connsiteX20" fmla="*/ 39519 w 72132"/>
                      <a:gd name="connsiteY20" fmla="*/ 51404 h 92590"/>
                      <a:gd name="connsiteX21" fmla="*/ 44143 w 72132"/>
                      <a:gd name="connsiteY21" fmla="*/ 63707 h 92590"/>
                      <a:gd name="connsiteX22" fmla="*/ 39519 w 72132"/>
                      <a:gd name="connsiteY22" fmla="*/ 75951 h 92590"/>
                      <a:gd name="connsiteX23" fmla="*/ 25847 w 72132"/>
                      <a:gd name="connsiteY23" fmla="*/ 80078 h 92590"/>
                      <a:gd name="connsiteX24" fmla="*/ 10091 w 72132"/>
                      <a:gd name="connsiteY24" fmla="*/ 80078 h 92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2132" h="92590">
                        <a:moveTo>
                          <a:pt x="41484" y="41204"/>
                        </a:moveTo>
                        <a:cubicBezTo>
                          <a:pt x="44169" y="40291"/>
                          <a:pt x="46782" y="38347"/>
                          <a:pt x="49322" y="35370"/>
                        </a:cubicBezTo>
                        <a:cubicBezTo>
                          <a:pt x="51862" y="32394"/>
                          <a:pt x="54415" y="28299"/>
                          <a:pt x="56982" y="23087"/>
                        </a:cubicBezTo>
                        <a:lnTo>
                          <a:pt x="69702" y="-2214"/>
                        </a:lnTo>
                        <a:lnTo>
                          <a:pt x="56228" y="-2214"/>
                        </a:lnTo>
                        <a:lnTo>
                          <a:pt x="44401" y="21539"/>
                        </a:lnTo>
                        <a:cubicBezTo>
                          <a:pt x="41332" y="27744"/>
                          <a:pt x="38362" y="31858"/>
                          <a:pt x="35491" y="33882"/>
                        </a:cubicBezTo>
                        <a:cubicBezTo>
                          <a:pt x="32620" y="35906"/>
                          <a:pt x="28704" y="36918"/>
                          <a:pt x="23743" y="36918"/>
                        </a:cubicBezTo>
                        <a:lnTo>
                          <a:pt x="10091" y="36918"/>
                        </a:lnTo>
                        <a:lnTo>
                          <a:pt x="10091" y="-2214"/>
                        </a:lnTo>
                        <a:lnTo>
                          <a:pt x="-2430" y="-2214"/>
                        </a:lnTo>
                        <a:lnTo>
                          <a:pt x="-2430" y="90377"/>
                        </a:lnTo>
                        <a:lnTo>
                          <a:pt x="25847" y="90377"/>
                        </a:lnTo>
                        <a:cubicBezTo>
                          <a:pt x="36430" y="90377"/>
                          <a:pt x="44328" y="88161"/>
                          <a:pt x="49540" y="83729"/>
                        </a:cubicBezTo>
                        <a:cubicBezTo>
                          <a:pt x="54753" y="79311"/>
                          <a:pt x="57359" y="72637"/>
                          <a:pt x="57359" y="63707"/>
                        </a:cubicBezTo>
                        <a:cubicBezTo>
                          <a:pt x="57359" y="57873"/>
                          <a:pt x="56003" y="53031"/>
                          <a:pt x="53291" y="49181"/>
                        </a:cubicBezTo>
                        <a:cubicBezTo>
                          <a:pt x="50579" y="45345"/>
                          <a:pt x="46643" y="42686"/>
                          <a:pt x="41484" y="41204"/>
                        </a:cubicBezTo>
                        <a:close/>
                        <a:moveTo>
                          <a:pt x="10091" y="80078"/>
                        </a:moveTo>
                        <a:lnTo>
                          <a:pt x="10091" y="47217"/>
                        </a:lnTo>
                        <a:lnTo>
                          <a:pt x="25847" y="47217"/>
                        </a:lnTo>
                        <a:cubicBezTo>
                          <a:pt x="31879" y="47217"/>
                          <a:pt x="36437" y="48612"/>
                          <a:pt x="39519" y="51404"/>
                        </a:cubicBezTo>
                        <a:cubicBezTo>
                          <a:pt x="42602" y="54195"/>
                          <a:pt x="44143" y="58296"/>
                          <a:pt x="44143" y="63707"/>
                        </a:cubicBezTo>
                        <a:cubicBezTo>
                          <a:pt x="44143" y="69118"/>
                          <a:pt x="42602" y="73199"/>
                          <a:pt x="39519" y="75951"/>
                        </a:cubicBezTo>
                        <a:cubicBezTo>
                          <a:pt x="36437" y="78702"/>
                          <a:pt x="31879" y="80078"/>
                          <a:pt x="25847" y="80078"/>
                        </a:cubicBezTo>
                        <a:lnTo>
                          <a:pt x="10091" y="80078"/>
                        </a:lnTo>
                        <a:close/>
                      </a:path>
                    </a:pathLst>
                  </a:custGeom>
                  <a:solidFill>
                    <a:srgbClr val="000000"/>
                  </a:solidFill>
                  <a:ln w="20" cap="flat">
                    <a:noFill/>
                    <a:prstDash val="solid"/>
                    <a:round/>
                  </a:ln>
                </p:spPr>
                <p:txBody>
                  <a:bodyPr rtlCol="0" anchor="ctr"/>
                  <a:lstStyle/>
                  <a:p>
                    <a:endParaRPr lang="en-US"/>
                  </a:p>
                </p:txBody>
              </p:sp>
              <p:sp>
                <p:nvSpPr>
                  <p:cNvPr id="156" name="フリーフォーム: 図形 155">
                    <a:extLst>
                      <a:ext uri="{FF2B5EF4-FFF2-40B4-BE49-F238E27FC236}">
                        <a16:creationId xmlns:a16="http://schemas.microsoft.com/office/drawing/2014/main" id="{F43B1A6F-AE46-DCCE-D6A3-496F6386530A}"/>
                      </a:ext>
                    </a:extLst>
                  </p:cNvPr>
                  <p:cNvSpPr/>
                  <p:nvPr/>
                </p:nvSpPr>
                <p:spPr>
                  <a:xfrm rot="-5400000" flipV="1">
                    <a:off x="-8735083" y="3001293"/>
                    <a:ext cx="58677" cy="72925"/>
                  </a:xfrm>
                  <a:custGeom>
                    <a:avLst/>
                    <a:gdLst>
                      <a:gd name="connsiteX0" fmla="*/ 34071 w 58677"/>
                      <a:gd name="connsiteY0" fmla="*/ 35078 h 72925"/>
                      <a:gd name="connsiteX1" fmla="*/ 14902 w 58677"/>
                      <a:gd name="connsiteY1" fmla="*/ 31922 h 72925"/>
                      <a:gd name="connsiteX2" fmla="*/ 9564 w 58677"/>
                      <a:gd name="connsiteY2" fmla="*/ 21127 h 72925"/>
                      <a:gd name="connsiteX3" fmla="*/ 13572 w 58677"/>
                      <a:gd name="connsiteY3" fmla="*/ 11483 h 72925"/>
                      <a:gd name="connsiteX4" fmla="*/ 24446 w 58677"/>
                      <a:gd name="connsiteY4" fmla="*/ 7931 h 72925"/>
                      <a:gd name="connsiteX5" fmla="*/ 39686 w 58677"/>
                      <a:gd name="connsiteY5" fmla="*/ 14658 h 72925"/>
                      <a:gd name="connsiteX6" fmla="*/ 45421 w 58677"/>
                      <a:gd name="connsiteY6" fmla="*/ 32538 h 72925"/>
                      <a:gd name="connsiteX7" fmla="*/ 45421 w 58677"/>
                      <a:gd name="connsiteY7" fmla="*/ 35078 h 72925"/>
                      <a:gd name="connsiteX8" fmla="*/ 34071 w 58677"/>
                      <a:gd name="connsiteY8" fmla="*/ 35078 h 72925"/>
                      <a:gd name="connsiteX9" fmla="*/ 56831 w 58677"/>
                      <a:gd name="connsiteY9" fmla="*/ 39800 h 72925"/>
                      <a:gd name="connsiteX10" fmla="*/ 56831 w 58677"/>
                      <a:gd name="connsiteY10" fmla="*/ 172 h 72925"/>
                      <a:gd name="connsiteX11" fmla="*/ 45421 w 58677"/>
                      <a:gd name="connsiteY11" fmla="*/ 172 h 72925"/>
                      <a:gd name="connsiteX12" fmla="*/ 45421 w 58677"/>
                      <a:gd name="connsiteY12" fmla="*/ 10710 h 72925"/>
                      <a:gd name="connsiteX13" fmla="*/ 35678 w 58677"/>
                      <a:gd name="connsiteY13" fmla="*/ 1383 h 72925"/>
                      <a:gd name="connsiteX14" fmla="*/ 21410 w 58677"/>
                      <a:gd name="connsiteY14" fmla="*/ -1633 h 72925"/>
                      <a:gd name="connsiteX15" fmla="*/ 4444 w 58677"/>
                      <a:gd name="connsiteY15" fmla="*/ 4360 h 72925"/>
                      <a:gd name="connsiteX16" fmla="*/ -1846 w 58677"/>
                      <a:gd name="connsiteY16" fmla="*/ 20393 h 72925"/>
                      <a:gd name="connsiteX17" fmla="*/ 5992 w 58677"/>
                      <a:gd name="connsiteY17" fmla="*/ 38054 h 72925"/>
                      <a:gd name="connsiteX18" fmla="*/ 29407 w 58677"/>
                      <a:gd name="connsiteY18" fmla="*/ 44007 h 72925"/>
                      <a:gd name="connsiteX19" fmla="*/ 45421 w 58677"/>
                      <a:gd name="connsiteY19" fmla="*/ 44007 h 72925"/>
                      <a:gd name="connsiteX20" fmla="*/ 45421 w 58677"/>
                      <a:gd name="connsiteY20" fmla="*/ 45138 h 72925"/>
                      <a:gd name="connsiteX21" fmla="*/ 40242 w 58677"/>
                      <a:gd name="connsiteY21" fmla="*/ 57322 h 72925"/>
                      <a:gd name="connsiteX22" fmla="*/ 25697 w 58677"/>
                      <a:gd name="connsiteY22" fmla="*/ 61629 h 72925"/>
                      <a:gd name="connsiteX23" fmla="*/ 14088 w 58677"/>
                      <a:gd name="connsiteY23" fmla="*/ 60200 h 72925"/>
                      <a:gd name="connsiteX24" fmla="*/ 3253 w 58677"/>
                      <a:gd name="connsiteY24" fmla="*/ 55914 h 72925"/>
                      <a:gd name="connsiteX25" fmla="*/ 3253 w 58677"/>
                      <a:gd name="connsiteY25" fmla="*/ 66470 h 72925"/>
                      <a:gd name="connsiteX26" fmla="*/ 15398 w 58677"/>
                      <a:gd name="connsiteY26" fmla="*/ 70082 h 72925"/>
                      <a:gd name="connsiteX27" fmla="*/ 26867 w 58677"/>
                      <a:gd name="connsiteY27" fmla="*/ 71292 h 72925"/>
                      <a:gd name="connsiteX28" fmla="*/ 49390 w 58677"/>
                      <a:gd name="connsiteY28" fmla="*/ 63474 h 72925"/>
                      <a:gd name="connsiteX29" fmla="*/ 56831 w 58677"/>
                      <a:gd name="connsiteY29" fmla="*/ 39800 h 7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8677" h="72925">
                        <a:moveTo>
                          <a:pt x="34071" y="35078"/>
                        </a:moveTo>
                        <a:cubicBezTo>
                          <a:pt x="24850" y="35078"/>
                          <a:pt x="18460" y="34026"/>
                          <a:pt x="14902" y="31922"/>
                        </a:cubicBezTo>
                        <a:cubicBezTo>
                          <a:pt x="11343" y="29819"/>
                          <a:pt x="9564" y="26221"/>
                          <a:pt x="9564" y="21127"/>
                        </a:cubicBezTo>
                        <a:cubicBezTo>
                          <a:pt x="9564" y="17079"/>
                          <a:pt x="10900" y="13865"/>
                          <a:pt x="13572" y="11483"/>
                        </a:cubicBezTo>
                        <a:cubicBezTo>
                          <a:pt x="16244" y="9115"/>
                          <a:pt x="19869" y="7931"/>
                          <a:pt x="24446" y="7931"/>
                        </a:cubicBezTo>
                        <a:cubicBezTo>
                          <a:pt x="30783" y="7931"/>
                          <a:pt x="35863" y="10174"/>
                          <a:pt x="39686" y="14658"/>
                        </a:cubicBezTo>
                        <a:cubicBezTo>
                          <a:pt x="43510" y="19143"/>
                          <a:pt x="45421" y="25103"/>
                          <a:pt x="45421" y="32538"/>
                        </a:cubicBezTo>
                        <a:lnTo>
                          <a:pt x="45421" y="35078"/>
                        </a:lnTo>
                        <a:lnTo>
                          <a:pt x="34071" y="35078"/>
                        </a:lnTo>
                        <a:close/>
                        <a:moveTo>
                          <a:pt x="56831" y="39800"/>
                        </a:moveTo>
                        <a:lnTo>
                          <a:pt x="56831" y="172"/>
                        </a:lnTo>
                        <a:lnTo>
                          <a:pt x="45421" y="172"/>
                        </a:lnTo>
                        <a:lnTo>
                          <a:pt x="45421" y="10710"/>
                        </a:lnTo>
                        <a:cubicBezTo>
                          <a:pt x="42815" y="6503"/>
                          <a:pt x="39567" y="3394"/>
                          <a:pt x="35678" y="1383"/>
                        </a:cubicBezTo>
                        <a:cubicBezTo>
                          <a:pt x="31789" y="-628"/>
                          <a:pt x="27033" y="-1633"/>
                          <a:pt x="21410" y="-1633"/>
                        </a:cubicBezTo>
                        <a:cubicBezTo>
                          <a:pt x="14306" y="-1633"/>
                          <a:pt x="8651" y="364"/>
                          <a:pt x="4444" y="4360"/>
                        </a:cubicBezTo>
                        <a:cubicBezTo>
                          <a:pt x="250" y="8355"/>
                          <a:pt x="-1846" y="13699"/>
                          <a:pt x="-1846" y="20393"/>
                        </a:cubicBezTo>
                        <a:cubicBezTo>
                          <a:pt x="-1846" y="28198"/>
                          <a:pt x="766" y="34085"/>
                          <a:pt x="5992" y="38054"/>
                        </a:cubicBezTo>
                        <a:cubicBezTo>
                          <a:pt x="11231" y="42023"/>
                          <a:pt x="19036" y="44007"/>
                          <a:pt x="29407" y="44007"/>
                        </a:cubicBezTo>
                        <a:lnTo>
                          <a:pt x="45421" y="44007"/>
                        </a:lnTo>
                        <a:lnTo>
                          <a:pt x="45421" y="45138"/>
                        </a:lnTo>
                        <a:cubicBezTo>
                          <a:pt x="45421" y="50390"/>
                          <a:pt x="43695" y="54452"/>
                          <a:pt x="40242" y="57322"/>
                        </a:cubicBezTo>
                        <a:cubicBezTo>
                          <a:pt x="36789" y="60193"/>
                          <a:pt x="31941" y="61629"/>
                          <a:pt x="25697" y="61629"/>
                        </a:cubicBezTo>
                        <a:cubicBezTo>
                          <a:pt x="21728" y="61629"/>
                          <a:pt x="17858" y="61152"/>
                          <a:pt x="14088" y="60200"/>
                        </a:cubicBezTo>
                        <a:cubicBezTo>
                          <a:pt x="10331" y="59247"/>
                          <a:pt x="6719" y="57819"/>
                          <a:pt x="3253" y="55914"/>
                        </a:cubicBezTo>
                        <a:lnTo>
                          <a:pt x="3253" y="66470"/>
                        </a:lnTo>
                        <a:cubicBezTo>
                          <a:pt x="7421" y="68084"/>
                          <a:pt x="11469" y="69288"/>
                          <a:pt x="15398" y="70082"/>
                        </a:cubicBezTo>
                        <a:cubicBezTo>
                          <a:pt x="19327" y="70889"/>
                          <a:pt x="23150" y="71292"/>
                          <a:pt x="26867" y="71292"/>
                        </a:cubicBezTo>
                        <a:cubicBezTo>
                          <a:pt x="36922" y="71292"/>
                          <a:pt x="44429" y="68686"/>
                          <a:pt x="49390" y="63474"/>
                        </a:cubicBezTo>
                        <a:cubicBezTo>
                          <a:pt x="54351" y="58275"/>
                          <a:pt x="56831" y="50384"/>
                          <a:pt x="56831" y="39800"/>
                        </a:cubicBezTo>
                        <a:close/>
                      </a:path>
                    </a:pathLst>
                  </a:custGeom>
                  <a:solidFill>
                    <a:srgbClr val="000000"/>
                  </a:solidFill>
                  <a:ln w="20" cap="flat">
                    <a:noFill/>
                    <a:prstDash val="solid"/>
                    <a:round/>
                  </a:ln>
                </p:spPr>
                <p:txBody>
                  <a:bodyPr rtlCol="0" anchor="ctr"/>
                  <a:lstStyle/>
                  <a:p>
                    <a:endParaRPr lang="en-US"/>
                  </a:p>
                </p:txBody>
              </p:sp>
              <p:sp>
                <p:nvSpPr>
                  <p:cNvPr id="157" name="フリーフォーム: 図形 156">
                    <a:extLst>
                      <a:ext uri="{FF2B5EF4-FFF2-40B4-BE49-F238E27FC236}">
                        <a16:creationId xmlns:a16="http://schemas.microsoft.com/office/drawing/2014/main" id="{A0438C30-B525-E4AC-6927-03E75F3C6237}"/>
                      </a:ext>
                    </a:extLst>
                  </p:cNvPr>
                  <p:cNvSpPr/>
                  <p:nvPr/>
                </p:nvSpPr>
                <p:spPr>
                  <a:xfrm rot="-5400000" flipV="1">
                    <a:off x="-8737345" y="2927219"/>
                    <a:ext cx="43338" cy="89177"/>
                  </a:xfrm>
                  <a:custGeom>
                    <a:avLst/>
                    <a:gdLst>
                      <a:gd name="connsiteX0" fmla="*/ 18595 w 43338"/>
                      <a:gd name="connsiteY0" fmla="*/ 87039 h 89177"/>
                      <a:gd name="connsiteX1" fmla="*/ 18595 w 43338"/>
                      <a:gd name="connsiteY1" fmla="*/ 67314 h 89177"/>
                      <a:gd name="connsiteX2" fmla="*/ 42090 w 43338"/>
                      <a:gd name="connsiteY2" fmla="*/ 67314 h 89177"/>
                      <a:gd name="connsiteX3" fmla="*/ 42090 w 43338"/>
                      <a:gd name="connsiteY3" fmla="*/ 58444 h 89177"/>
                      <a:gd name="connsiteX4" fmla="*/ 18595 w 43338"/>
                      <a:gd name="connsiteY4" fmla="*/ 58444 h 89177"/>
                      <a:gd name="connsiteX5" fmla="*/ 18595 w 43338"/>
                      <a:gd name="connsiteY5" fmla="*/ 20741 h 89177"/>
                      <a:gd name="connsiteX6" fmla="*/ 20917 w 43338"/>
                      <a:gd name="connsiteY6" fmla="*/ 9827 h 89177"/>
                      <a:gd name="connsiteX7" fmla="*/ 30382 w 43338"/>
                      <a:gd name="connsiteY7" fmla="*/ 7406 h 89177"/>
                      <a:gd name="connsiteX8" fmla="*/ 42090 w 43338"/>
                      <a:gd name="connsiteY8" fmla="*/ 7406 h 89177"/>
                      <a:gd name="connsiteX9" fmla="*/ 42090 w 43338"/>
                      <a:gd name="connsiteY9" fmla="*/ -2139 h 89177"/>
                      <a:gd name="connsiteX10" fmla="*/ 30382 w 43338"/>
                      <a:gd name="connsiteY10" fmla="*/ -2139 h 89177"/>
                      <a:gd name="connsiteX11" fmla="*/ 12146 w 43338"/>
                      <a:gd name="connsiteY11" fmla="*/ 2782 h 89177"/>
                      <a:gd name="connsiteX12" fmla="*/ 7125 w 43338"/>
                      <a:gd name="connsiteY12" fmla="*/ 20741 h 89177"/>
                      <a:gd name="connsiteX13" fmla="*/ 7125 w 43338"/>
                      <a:gd name="connsiteY13" fmla="*/ 58444 h 89177"/>
                      <a:gd name="connsiteX14" fmla="*/ -1249 w 43338"/>
                      <a:gd name="connsiteY14" fmla="*/ 58444 h 89177"/>
                      <a:gd name="connsiteX15" fmla="*/ -1249 w 43338"/>
                      <a:gd name="connsiteY15" fmla="*/ 67314 h 89177"/>
                      <a:gd name="connsiteX16" fmla="*/ 7125 w 43338"/>
                      <a:gd name="connsiteY16" fmla="*/ 67314 h 89177"/>
                      <a:gd name="connsiteX17" fmla="*/ 7125 w 43338"/>
                      <a:gd name="connsiteY17" fmla="*/ 87039 h 89177"/>
                      <a:gd name="connsiteX18" fmla="*/ 18595 w 43338"/>
                      <a:gd name="connsiteY18" fmla="*/ 87039 h 89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3338" h="89177">
                        <a:moveTo>
                          <a:pt x="18595" y="87039"/>
                        </a:moveTo>
                        <a:lnTo>
                          <a:pt x="18595" y="67314"/>
                        </a:lnTo>
                        <a:lnTo>
                          <a:pt x="42090" y="67314"/>
                        </a:lnTo>
                        <a:lnTo>
                          <a:pt x="42090" y="58444"/>
                        </a:lnTo>
                        <a:lnTo>
                          <a:pt x="18595" y="58444"/>
                        </a:lnTo>
                        <a:lnTo>
                          <a:pt x="18595" y="20741"/>
                        </a:lnTo>
                        <a:cubicBezTo>
                          <a:pt x="18595" y="15079"/>
                          <a:pt x="19369" y="11441"/>
                          <a:pt x="20917" y="9827"/>
                        </a:cubicBezTo>
                        <a:cubicBezTo>
                          <a:pt x="22465" y="8213"/>
                          <a:pt x="25620" y="7406"/>
                          <a:pt x="30382" y="7406"/>
                        </a:cubicBezTo>
                        <a:lnTo>
                          <a:pt x="42090" y="7406"/>
                        </a:lnTo>
                        <a:lnTo>
                          <a:pt x="42090" y="-2139"/>
                        </a:lnTo>
                        <a:lnTo>
                          <a:pt x="30382" y="-2139"/>
                        </a:lnTo>
                        <a:cubicBezTo>
                          <a:pt x="21572" y="-2139"/>
                          <a:pt x="15493" y="-499"/>
                          <a:pt x="12146" y="2782"/>
                        </a:cubicBezTo>
                        <a:cubicBezTo>
                          <a:pt x="8799" y="6076"/>
                          <a:pt x="7125" y="12063"/>
                          <a:pt x="7125" y="20741"/>
                        </a:cubicBezTo>
                        <a:lnTo>
                          <a:pt x="7125" y="58444"/>
                        </a:lnTo>
                        <a:lnTo>
                          <a:pt x="-1249" y="58444"/>
                        </a:lnTo>
                        <a:lnTo>
                          <a:pt x="-1249" y="67314"/>
                        </a:lnTo>
                        <a:lnTo>
                          <a:pt x="7125" y="67314"/>
                        </a:lnTo>
                        <a:lnTo>
                          <a:pt x="7125" y="87039"/>
                        </a:lnTo>
                        <a:lnTo>
                          <a:pt x="18595" y="87039"/>
                        </a:lnTo>
                        <a:close/>
                      </a:path>
                    </a:pathLst>
                  </a:custGeom>
                  <a:solidFill>
                    <a:srgbClr val="000000"/>
                  </a:solidFill>
                  <a:ln w="20" cap="flat">
                    <a:noFill/>
                    <a:prstDash val="solid"/>
                    <a:round/>
                  </a:ln>
                </p:spPr>
                <p:txBody>
                  <a:bodyPr rtlCol="0" anchor="ctr"/>
                  <a:lstStyle/>
                  <a:p>
                    <a:endParaRPr lang="en-US"/>
                  </a:p>
                </p:txBody>
              </p:sp>
              <p:sp>
                <p:nvSpPr>
                  <p:cNvPr id="158" name="フリーフォーム: 図形 157">
                    <a:extLst>
                      <a:ext uri="{FF2B5EF4-FFF2-40B4-BE49-F238E27FC236}">
                        <a16:creationId xmlns:a16="http://schemas.microsoft.com/office/drawing/2014/main" id="{531E0A32-847E-5E81-1B45-02B75D886649}"/>
                      </a:ext>
                    </a:extLst>
                  </p:cNvPr>
                  <p:cNvSpPr/>
                  <p:nvPr/>
                </p:nvSpPr>
                <p:spPr>
                  <a:xfrm rot="-5400000" flipV="1">
                    <a:off x="-8725042" y="2881174"/>
                    <a:ext cx="11410" cy="96500"/>
                  </a:xfrm>
                  <a:custGeom>
                    <a:avLst/>
                    <a:gdLst>
                      <a:gd name="connsiteX0" fmla="*/ -876 w 11410"/>
                      <a:gd name="connsiteY0" fmla="*/ 67126 h 96500"/>
                      <a:gd name="connsiteX1" fmla="*/ 10535 w 11410"/>
                      <a:gd name="connsiteY1" fmla="*/ 67126 h 96500"/>
                      <a:gd name="connsiteX2" fmla="*/ 10535 w 11410"/>
                      <a:gd name="connsiteY2" fmla="*/ -2327 h 96500"/>
                      <a:gd name="connsiteX3" fmla="*/ -876 w 11410"/>
                      <a:gd name="connsiteY3" fmla="*/ -2327 h 96500"/>
                      <a:gd name="connsiteX4" fmla="*/ -876 w 11410"/>
                      <a:gd name="connsiteY4" fmla="*/ 67126 h 96500"/>
                      <a:gd name="connsiteX5" fmla="*/ -876 w 11410"/>
                      <a:gd name="connsiteY5" fmla="*/ 94173 h 96500"/>
                      <a:gd name="connsiteX6" fmla="*/ 10535 w 11410"/>
                      <a:gd name="connsiteY6" fmla="*/ 94173 h 96500"/>
                      <a:gd name="connsiteX7" fmla="*/ 10535 w 11410"/>
                      <a:gd name="connsiteY7" fmla="*/ 79707 h 96500"/>
                      <a:gd name="connsiteX8" fmla="*/ -876 w 11410"/>
                      <a:gd name="connsiteY8" fmla="*/ 79707 h 96500"/>
                      <a:gd name="connsiteX9" fmla="*/ -876 w 11410"/>
                      <a:gd name="connsiteY9" fmla="*/ 94173 h 96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410" h="96500">
                        <a:moveTo>
                          <a:pt x="-876" y="67126"/>
                        </a:moveTo>
                        <a:lnTo>
                          <a:pt x="10535" y="67126"/>
                        </a:lnTo>
                        <a:lnTo>
                          <a:pt x="10535" y="-2327"/>
                        </a:lnTo>
                        <a:lnTo>
                          <a:pt x="-876" y="-2327"/>
                        </a:lnTo>
                        <a:lnTo>
                          <a:pt x="-876" y="67126"/>
                        </a:lnTo>
                        <a:close/>
                        <a:moveTo>
                          <a:pt x="-876" y="94173"/>
                        </a:moveTo>
                        <a:lnTo>
                          <a:pt x="10535" y="94173"/>
                        </a:lnTo>
                        <a:lnTo>
                          <a:pt x="10535" y="79707"/>
                        </a:lnTo>
                        <a:lnTo>
                          <a:pt x="-876" y="79707"/>
                        </a:lnTo>
                        <a:lnTo>
                          <a:pt x="-876" y="94173"/>
                        </a:lnTo>
                        <a:close/>
                      </a:path>
                    </a:pathLst>
                  </a:custGeom>
                  <a:solidFill>
                    <a:srgbClr val="000000"/>
                  </a:solidFill>
                  <a:ln w="20" cap="flat">
                    <a:noFill/>
                    <a:prstDash val="solid"/>
                    <a:round/>
                  </a:ln>
                </p:spPr>
                <p:txBody>
                  <a:bodyPr rtlCol="0" anchor="ctr"/>
                  <a:lstStyle/>
                  <a:p>
                    <a:endParaRPr lang="en-US"/>
                  </a:p>
                </p:txBody>
              </p:sp>
              <p:sp>
                <p:nvSpPr>
                  <p:cNvPr id="159" name="フリーフォーム: 図形 158">
                    <a:extLst>
                      <a:ext uri="{FF2B5EF4-FFF2-40B4-BE49-F238E27FC236}">
                        <a16:creationId xmlns:a16="http://schemas.microsoft.com/office/drawing/2014/main" id="{196B4A62-E68B-C245-A199-448629826296}"/>
                      </a:ext>
                    </a:extLst>
                  </p:cNvPr>
                  <p:cNvSpPr/>
                  <p:nvPr/>
                </p:nvSpPr>
                <p:spPr>
                  <a:xfrm rot="-5400000" flipV="1">
                    <a:off x="-8737623" y="2836461"/>
                    <a:ext cx="63757" cy="72925"/>
                  </a:xfrm>
                  <a:custGeom>
                    <a:avLst/>
                    <a:gdLst>
                      <a:gd name="connsiteX0" fmla="*/ 29926 w 63757"/>
                      <a:gd name="connsiteY0" fmla="*/ 61616 h 72925"/>
                      <a:gd name="connsiteX1" fmla="*/ 15420 w 63757"/>
                      <a:gd name="connsiteY1" fmla="*/ 54452 h 72925"/>
                      <a:gd name="connsiteX2" fmla="*/ 10082 w 63757"/>
                      <a:gd name="connsiteY2" fmla="*/ 34827 h 72925"/>
                      <a:gd name="connsiteX3" fmla="*/ 15380 w 63757"/>
                      <a:gd name="connsiteY3" fmla="*/ 15201 h 72925"/>
                      <a:gd name="connsiteX4" fmla="*/ 29926 w 63757"/>
                      <a:gd name="connsiteY4" fmla="*/ 8037 h 72925"/>
                      <a:gd name="connsiteX5" fmla="*/ 44372 w 63757"/>
                      <a:gd name="connsiteY5" fmla="*/ 15221 h 72925"/>
                      <a:gd name="connsiteX6" fmla="*/ 49710 w 63757"/>
                      <a:gd name="connsiteY6" fmla="*/ 34827 h 72925"/>
                      <a:gd name="connsiteX7" fmla="*/ 44372 w 63757"/>
                      <a:gd name="connsiteY7" fmla="*/ 54392 h 72925"/>
                      <a:gd name="connsiteX8" fmla="*/ 29926 w 63757"/>
                      <a:gd name="connsiteY8" fmla="*/ 61616 h 72925"/>
                      <a:gd name="connsiteX9" fmla="*/ 29926 w 63757"/>
                      <a:gd name="connsiteY9" fmla="*/ 71279 h 72925"/>
                      <a:gd name="connsiteX10" fmla="*/ 53302 w 63757"/>
                      <a:gd name="connsiteY10" fmla="*/ 61596 h 72925"/>
                      <a:gd name="connsiteX11" fmla="*/ 61814 w 63757"/>
                      <a:gd name="connsiteY11" fmla="*/ 34827 h 72925"/>
                      <a:gd name="connsiteX12" fmla="*/ 53302 w 63757"/>
                      <a:gd name="connsiteY12" fmla="*/ 8057 h 72925"/>
                      <a:gd name="connsiteX13" fmla="*/ 29926 w 63757"/>
                      <a:gd name="connsiteY13" fmla="*/ -1646 h 72925"/>
                      <a:gd name="connsiteX14" fmla="*/ 6510 w 63757"/>
                      <a:gd name="connsiteY14" fmla="*/ 8057 h 72925"/>
                      <a:gd name="connsiteX15" fmla="*/ -1943 w 63757"/>
                      <a:gd name="connsiteY15" fmla="*/ 34827 h 72925"/>
                      <a:gd name="connsiteX16" fmla="*/ 6510 w 63757"/>
                      <a:gd name="connsiteY16" fmla="*/ 61596 h 72925"/>
                      <a:gd name="connsiteX17" fmla="*/ 29926 w 63757"/>
                      <a:gd name="connsiteY17" fmla="*/ 71279 h 7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3757" h="72925">
                        <a:moveTo>
                          <a:pt x="29926" y="61616"/>
                        </a:moveTo>
                        <a:cubicBezTo>
                          <a:pt x="23814" y="61616"/>
                          <a:pt x="18978" y="59228"/>
                          <a:pt x="15420" y="54452"/>
                        </a:cubicBezTo>
                        <a:cubicBezTo>
                          <a:pt x="11861" y="49676"/>
                          <a:pt x="10082" y="43135"/>
                          <a:pt x="10082" y="34827"/>
                        </a:cubicBezTo>
                        <a:cubicBezTo>
                          <a:pt x="10082" y="26519"/>
                          <a:pt x="11848" y="19977"/>
                          <a:pt x="15380" y="15201"/>
                        </a:cubicBezTo>
                        <a:cubicBezTo>
                          <a:pt x="18926" y="10425"/>
                          <a:pt x="23774" y="8037"/>
                          <a:pt x="29926" y="8037"/>
                        </a:cubicBezTo>
                        <a:cubicBezTo>
                          <a:pt x="36011" y="8037"/>
                          <a:pt x="40826" y="10432"/>
                          <a:pt x="44372" y="15221"/>
                        </a:cubicBezTo>
                        <a:cubicBezTo>
                          <a:pt x="47930" y="20023"/>
                          <a:pt x="49710" y="26558"/>
                          <a:pt x="49710" y="34827"/>
                        </a:cubicBezTo>
                        <a:cubicBezTo>
                          <a:pt x="49710" y="43055"/>
                          <a:pt x="47930" y="49577"/>
                          <a:pt x="44372" y="54392"/>
                        </a:cubicBezTo>
                        <a:cubicBezTo>
                          <a:pt x="40826" y="59208"/>
                          <a:pt x="36011" y="61616"/>
                          <a:pt x="29926" y="61616"/>
                        </a:cubicBezTo>
                        <a:close/>
                        <a:moveTo>
                          <a:pt x="29926" y="71279"/>
                        </a:moveTo>
                        <a:cubicBezTo>
                          <a:pt x="39847" y="71279"/>
                          <a:pt x="47639" y="68052"/>
                          <a:pt x="53302" y="61596"/>
                        </a:cubicBezTo>
                        <a:cubicBezTo>
                          <a:pt x="58977" y="55153"/>
                          <a:pt x="61814" y="46230"/>
                          <a:pt x="61814" y="34827"/>
                        </a:cubicBezTo>
                        <a:cubicBezTo>
                          <a:pt x="61814" y="23463"/>
                          <a:pt x="58977" y="14540"/>
                          <a:pt x="53302" y="8057"/>
                        </a:cubicBezTo>
                        <a:cubicBezTo>
                          <a:pt x="47639" y="1588"/>
                          <a:pt x="39847" y="-1646"/>
                          <a:pt x="29926" y="-1646"/>
                        </a:cubicBezTo>
                        <a:cubicBezTo>
                          <a:pt x="19964" y="-1646"/>
                          <a:pt x="12159" y="1588"/>
                          <a:pt x="6510" y="8057"/>
                        </a:cubicBezTo>
                        <a:cubicBezTo>
                          <a:pt x="874" y="14540"/>
                          <a:pt x="-1943" y="23463"/>
                          <a:pt x="-1943" y="34827"/>
                        </a:cubicBezTo>
                        <a:cubicBezTo>
                          <a:pt x="-1943" y="46230"/>
                          <a:pt x="874" y="55153"/>
                          <a:pt x="6510" y="61596"/>
                        </a:cubicBezTo>
                        <a:cubicBezTo>
                          <a:pt x="12159" y="68052"/>
                          <a:pt x="19964" y="71279"/>
                          <a:pt x="29926" y="71279"/>
                        </a:cubicBezTo>
                        <a:close/>
                      </a:path>
                    </a:pathLst>
                  </a:custGeom>
                  <a:solidFill>
                    <a:srgbClr val="000000"/>
                  </a:solidFill>
                  <a:ln w="20" cap="flat">
                    <a:noFill/>
                    <a:prstDash val="solid"/>
                    <a:round/>
                  </a:ln>
                </p:spPr>
                <p:txBody>
                  <a:bodyPr rtlCol="0" anchor="ctr"/>
                  <a:lstStyle/>
                  <a:p>
                    <a:endParaRPr lang="en-US"/>
                  </a:p>
                </p:txBody>
              </p:sp>
              <p:sp>
                <p:nvSpPr>
                  <p:cNvPr id="160" name="フリーフォーム: 図形 159">
                    <a:extLst>
                      <a:ext uri="{FF2B5EF4-FFF2-40B4-BE49-F238E27FC236}">
                        <a16:creationId xmlns:a16="http://schemas.microsoft.com/office/drawing/2014/main" id="{2E3E322F-C6BD-E1A6-A604-FD2673A635FB}"/>
                      </a:ext>
                    </a:extLst>
                  </p:cNvPr>
                  <p:cNvSpPr/>
                  <p:nvPr/>
                </p:nvSpPr>
                <p:spPr>
                  <a:xfrm rot="-5400000" flipV="1">
                    <a:off x="-8671087" y="2834109"/>
                    <a:ext cx="12700" cy="12700"/>
                  </a:xfrm>
                  <a:custGeom>
                    <a:avLst/>
                    <a:gdLst/>
                    <a:ahLst/>
                    <a:cxnLst/>
                    <a:rect l="l" t="t" r="r" b="b"/>
                    <a:pathLst>
                      <a:path w="12700" h="12700"/>
                    </a:pathLst>
                  </a:custGeom>
                  <a:solidFill>
                    <a:srgbClr val="000000"/>
                  </a:solidFill>
                  <a:ln w="20" cap="flat">
                    <a:noFill/>
                    <a:prstDash val="solid"/>
                    <a:round/>
                  </a:ln>
                </p:spPr>
                <p:txBody>
                  <a:bodyPr rtlCol="0" anchor="ctr"/>
                  <a:lstStyle/>
                  <a:p>
                    <a:endParaRPr lang="en-US"/>
                  </a:p>
                </p:txBody>
              </p:sp>
              <p:sp>
                <p:nvSpPr>
                  <p:cNvPr id="161" name="フリーフォーム: 図形 160">
                    <a:extLst>
                      <a:ext uri="{FF2B5EF4-FFF2-40B4-BE49-F238E27FC236}">
                        <a16:creationId xmlns:a16="http://schemas.microsoft.com/office/drawing/2014/main" id="{F79EB360-F3E7-95CE-C52F-DE9B72767C1D}"/>
                      </a:ext>
                    </a:extLst>
                  </p:cNvPr>
                  <p:cNvSpPr/>
                  <p:nvPr/>
                </p:nvSpPr>
                <p:spPr>
                  <a:xfrm rot="-5400000" flipV="1">
                    <a:off x="-8724110" y="2713051"/>
                    <a:ext cx="26292" cy="113248"/>
                  </a:xfrm>
                  <a:custGeom>
                    <a:avLst/>
                    <a:gdLst>
                      <a:gd name="connsiteX0" fmla="*/ -1197 w 26292"/>
                      <a:gd name="connsiteY0" fmla="*/ 111331 h 113248"/>
                      <a:gd name="connsiteX1" fmla="*/ 25096 w 26292"/>
                      <a:gd name="connsiteY1" fmla="*/ 111331 h 113248"/>
                      <a:gd name="connsiteX2" fmla="*/ 25096 w 26292"/>
                      <a:gd name="connsiteY2" fmla="*/ 102461 h 113248"/>
                      <a:gd name="connsiteX3" fmla="*/ 10213 w 26292"/>
                      <a:gd name="connsiteY3" fmla="*/ 102461 h 113248"/>
                      <a:gd name="connsiteX4" fmla="*/ 10213 w 26292"/>
                      <a:gd name="connsiteY4" fmla="*/ 6953 h 113248"/>
                      <a:gd name="connsiteX5" fmla="*/ 25096 w 26292"/>
                      <a:gd name="connsiteY5" fmla="*/ 6953 h 113248"/>
                      <a:gd name="connsiteX6" fmla="*/ 25096 w 26292"/>
                      <a:gd name="connsiteY6" fmla="*/ -1917 h 113248"/>
                      <a:gd name="connsiteX7" fmla="*/ -1197 w 26292"/>
                      <a:gd name="connsiteY7" fmla="*/ -1917 h 113248"/>
                      <a:gd name="connsiteX8" fmla="*/ -1197 w 26292"/>
                      <a:gd name="connsiteY8" fmla="*/ 111331 h 11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292" h="113248">
                        <a:moveTo>
                          <a:pt x="-1197" y="111331"/>
                        </a:moveTo>
                        <a:lnTo>
                          <a:pt x="25096" y="111331"/>
                        </a:lnTo>
                        <a:lnTo>
                          <a:pt x="25096" y="102461"/>
                        </a:lnTo>
                        <a:lnTo>
                          <a:pt x="10213" y="102461"/>
                        </a:lnTo>
                        <a:lnTo>
                          <a:pt x="10213" y="6953"/>
                        </a:lnTo>
                        <a:lnTo>
                          <a:pt x="25096" y="6953"/>
                        </a:lnTo>
                        <a:lnTo>
                          <a:pt x="25096" y="-1917"/>
                        </a:lnTo>
                        <a:lnTo>
                          <a:pt x="-1197" y="-1917"/>
                        </a:lnTo>
                        <a:lnTo>
                          <a:pt x="-1197" y="111331"/>
                        </a:lnTo>
                        <a:close/>
                      </a:path>
                    </a:pathLst>
                  </a:custGeom>
                  <a:solidFill>
                    <a:srgbClr val="000000"/>
                  </a:solidFill>
                  <a:ln w="20" cap="flat">
                    <a:noFill/>
                    <a:prstDash val="solid"/>
                    <a:round/>
                  </a:ln>
                </p:spPr>
                <p:txBody>
                  <a:bodyPr rtlCol="0" anchor="ctr"/>
                  <a:lstStyle/>
                  <a:p>
                    <a:endParaRPr lang="en-US"/>
                  </a:p>
                </p:txBody>
              </p:sp>
              <p:sp>
                <p:nvSpPr>
                  <p:cNvPr id="162" name="フリーフォーム: 図形 161">
                    <a:extLst>
                      <a:ext uri="{FF2B5EF4-FFF2-40B4-BE49-F238E27FC236}">
                        <a16:creationId xmlns:a16="http://schemas.microsoft.com/office/drawing/2014/main" id="{F30D9CEF-0426-DE70-84A1-BD40207DBA9F}"/>
                      </a:ext>
                    </a:extLst>
                  </p:cNvPr>
                  <p:cNvSpPr/>
                  <p:nvPr/>
                </p:nvSpPr>
                <p:spPr>
                  <a:xfrm rot="-5400000" flipV="1">
                    <a:off x="-8722582" y="2716194"/>
                    <a:ext cx="33416" cy="10160"/>
                  </a:xfrm>
                  <a:custGeom>
                    <a:avLst/>
                    <a:gdLst>
                      <a:gd name="connsiteX0" fmla="*/ -1139 w 33416"/>
                      <a:gd name="connsiteY0" fmla="*/ 8495 h 10160"/>
                      <a:gd name="connsiteX1" fmla="*/ 32278 w 33416"/>
                      <a:gd name="connsiteY1" fmla="*/ 8495 h 10160"/>
                      <a:gd name="connsiteX2" fmla="*/ 32278 w 33416"/>
                      <a:gd name="connsiteY2" fmla="*/ -1665 h 10160"/>
                      <a:gd name="connsiteX3" fmla="*/ -1139 w 33416"/>
                      <a:gd name="connsiteY3" fmla="*/ -1665 h 10160"/>
                      <a:gd name="connsiteX4" fmla="*/ -1139 w 33416"/>
                      <a:gd name="connsiteY4" fmla="*/ 8495 h 101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416" h="10160">
                        <a:moveTo>
                          <a:pt x="-1139" y="8495"/>
                        </a:moveTo>
                        <a:lnTo>
                          <a:pt x="32278" y="8495"/>
                        </a:lnTo>
                        <a:lnTo>
                          <a:pt x="32278" y="-1665"/>
                        </a:lnTo>
                        <a:lnTo>
                          <a:pt x="-1139" y="-1665"/>
                        </a:lnTo>
                        <a:lnTo>
                          <a:pt x="-1139" y="8495"/>
                        </a:lnTo>
                        <a:close/>
                      </a:path>
                    </a:pathLst>
                  </a:custGeom>
                  <a:solidFill>
                    <a:srgbClr val="000000"/>
                  </a:solidFill>
                  <a:ln w="20" cap="flat">
                    <a:noFill/>
                    <a:prstDash val="solid"/>
                    <a:round/>
                  </a:ln>
                </p:spPr>
                <p:txBody>
                  <a:bodyPr rtlCol="0" anchor="ctr"/>
                  <a:lstStyle/>
                  <a:p>
                    <a:endParaRPr lang="en-US"/>
                  </a:p>
                </p:txBody>
              </p:sp>
              <p:sp>
                <p:nvSpPr>
                  <p:cNvPr id="163" name="フリーフォーム: 図形 162">
                    <a:extLst>
                      <a:ext uri="{FF2B5EF4-FFF2-40B4-BE49-F238E27FC236}">
                        <a16:creationId xmlns:a16="http://schemas.microsoft.com/office/drawing/2014/main" id="{A0E70719-B515-1D4A-FEB8-5D3456ED2A0F}"/>
                      </a:ext>
                    </a:extLst>
                  </p:cNvPr>
                  <p:cNvSpPr/>
                  <p:nvPr/>
                </p:nvSpPr>
                <p:spPr>
                  <a:xfrm rot="-5400000" flipV="1">
                    <a:off x="-8724110" y="2616258"/>
                    <a:ext cx="26292" cy="113248"/>
                  </a:xfrm>
                  <a:custGeom>
                    <a:avLst/>
                    <a:gdLst>
                      <a:gd name="connsiteX0" fmla="*/ 25024 w 26292"/>
                      <a:gd name="connsiteY0" fmla="*/ 111323 h 113248"/>
                      <a:gd name="connsiteX1" fmla="*/ 25024 w 26292"/>
                      <a:gd name="connsiteY1" fmla="*/ -1925 h 113248"/>
                      <a:gd name="connsiteX2" fmla="*/ -1269 w 26292"/>
                      <a:gd name="connsiteY2" fmla="*/ -1925 h 113248"/>
                      <a:gd name="connsiteX3" fmla="*/ -1269 w 26292"/>
                      <a:gd name="connsiteY3" fmla="*/ 6945 h 113248"/>
                      <a:gd name="connsiteX4" fmla="*/ 13554 w 26292"/>
                      <a:gd name="connsiteY4" fmla="*/ 6945 h 113248"/>
                      <a:gd name="connsiteX5" fmla="*/ 13554 w 26292"/>
                      <a:gd name="connsiteY5" fmla="*/ 102453 h 113248"/>
                      <a:gd name="connsiteX6" fmla="*/ -1269 w 26292"/>
                      <a:gd name="connsiteY6" fmla="*/ 102453 h 113248"/>
                      <a:gd name="connsiteX7" fmla="*/ -1269 w 26292"/>
                      <a:gd name="connsiteY7" fmla="*/ 111323 h 113248"/>
                      <a:gd name="connsiteX8" fmla="*/ 25024 w 26292"/>
                      <a:gd name="connsiteY8" fmla="*/ 111323 h 11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292" h="113248">
                        <a:moveTo>
                          <a:pt x="25024" y="111323"/>
                        </a:moveTo>
                        <a:lnTo>
                          <a:pt x="25024" y="-1925"/>
                        </a:lnTo>
                        <a:lnTo>
                          <a:pt x="-1269" y="-1925"/>
                        </a:lnTo>
                        <a:lnTo>
                          <a:pt x="-1269" y="6945"/>
                        </a:lnTo>
                        <a:lnTo>
                          <a:pt x="13554" y="6945"/>
                        </a:lnTo>
                        <a:lnTo>
                          <a:pt x="13554" y="102453"/>
                        </a:lnTo>
                        <a:lnTo>
                          <a:pt x="-1269" y="102453"/>
                        </a:lnTo>
                        <a:lnTo>
                          <a:pt x="-1269" y="111323"/>
                        </a:lnTo>
                        <a:lnTo>
                          <a:pt x="25024" y="111323"/>
                        </a:lnTo>
                        <a:close/>
                      </a:path>
                    </a:pathLst>
                  </a:custGeom>
                  <a:solidFill>
                    <a:srgbClr val="000000"/>
                  </a:solidFill>
                  <a:ln w="20" cap="flat">
                    <a:noFill/>
                    <a:prstDash val="solid"/>
                    <a:round/>
                  </a:ln>
                </p:spPr>
                <p:txBody>
                  <a:bodyPr rtlCol="0" anchor="ctr"/>
                  <a:lstStyle/>
                  <a:p>
                    <a:endParaRPr lang="en-US"/>
                  </a:p>
                </p:txBody>
              </p:sp>
            </p:grpSp>
          </p:grpSp>
          <p:grpSp>
            <p:nvGrpSpPr>
              <p:cNvPr id="164" name="グラフィックス 2">
                <a:extLst>
                  <a:ext uri="{FF2B5EF4-FFF2-40B4-BE49-F238E27FC236}">
                    <a16:creationId xmlns:a16="http://schemas.microsoft.com/office/drawing/2014/main" id="{E027DFC0-1EBF-215D-B5CE-E8DDA0C8DA84}"/>
                  </a:ext>
                </a:extLst>
              </p:cNvPr>
              <p:cNvGrpSpPr/>
              <p:nvPr/>
            </p:nvGrpSpPr>
            <p:grpSpPr>
              <a:xfrm>
                <a:off x="1362549" y="2490560"/>
                <a:ext cx="7649791" cy="1592746"/>
                <a:chOff x="1362549" y="2490560"/>
                <a:chExt cx="7649791" cy="1592746"/>
              </a:xfrm>
              <a:noFill/>
            </p:grpSpPr>
            <p:sp>
              <p:nvSpPr>
                <p:cNvPr id="165" name="フリーフォーム: 図形 164">
                  <a:extLst>
                    <a:ext uri="{FF2B5EF4-FFF2-40B4-BE49-F238E27FC236}">
                      <a16:creationId xmlns:a16="http://schemas.microsoft.com/office/drawing/2014/main" id="{624AB9E1-A95D-52E5-5031-D30B69290C29}"/>
                    </a:ext>
                  </a:extLst>
                </p:cNvPr>
                <p:cNvSpPr/>
                <p:nvPr/>
              </p:nvSpPr>
              <p:spPr>
                <a:xfrm>
                  <a:off x="1362549" y="2490560"/>
                  <a:ext cx="12700" cy="1048055"/>
                </a:xfrm>
                <a:custGeom>
                  <a:avLst/>
                  <a:gdLst>
                    <a:gd name="connsiteX0" fmla="*/ 0 w 12700"/>
                    <a:gd name="connsiteY0" fmla="*/ 1048056 h 1048055"/>
                    <a:gd name="connsiteX1" fmla="*/ 0 w 12700"/>
                    <a:gd name="connsiteY1" fmla="*/ 0 h 1048055"/>
                  </a:gdLst>
                  <a:ahLst/>
                  <a:cxnLst>
                    <a:cxn ang="0">
                      <a:pos x="connsiteX0" y="connsiteY0"/>
                    </a:cxn>
                    <a:cxn ang="0">
                      <a:pos x="connsiteX1" y="connsiteY1"/>
                    </a:cxn>
                  </a:cxnLst>
                  <a:rect l="l" t="t" r="r" b="b"/>
                  <a:pathLst>
                    <a:path w="12700" h="1048055">
                      <a:moveTo>
                        <a:pt x="0" y="1048056"/>
                      </a:moveTo>
                      <a:lnTo>
                        <a:pt x="0" y="0"/>
                      </a:lnTo>
                    </a:path>
                  </a:pathLst>
                </a:custGeom>
                <a:noFill/>
                <a:ln w="12700" cap="flat">
                  <a:solidFill>
                    <a:srgbClr val="FF0000"/>
                  </a:solidFill>
                  <a:prstDash val="dash"/>
                  <a:round/>
                </a:ln>
              </p:spPr>
              <p:txBody>
                <a:bodyPr rtlCol="0" anchor="ctr"/>
                <a:lstStyle/>
                <a:p>
                  <a:endParaRPr lang="en-US"/>
                </a:p>
              </p:txBody>
            </p:sp>
            <p:sp>
              <p:nvSpPr>
                <p:cNvPr id="166" name="フリーフォーム: 図形 165">
                  <a:extLst>
                    <a:ext uri="{FF2B5EF4-FFF2-40B4-BE49-F238E27FC236}">
                      <a16:creationId xmlns:a16="http://schemas.microsoft.com/office/drawing/2014/main" id="{CE31B761-10E9-886F-4D0B-BD9EACA4F169}"/>
                    </a:ext>
                  </a:extLst>
                </p:cNvPr>
                <p:cNvSpPr/>
                <p:nvPr/>
              </p:nvSpPr>
              <p:spPr>
                <a:xfrm>
                  <a:off x="2056829" y="2882699"/>
                  <a:ext cx="12700" cy="987628"/>
                </a:xfrm>
                <a:custGeom>
                  <a:avLst/>
                  <a:gdLst>
                    <a:gd name="connsiteX0" fmla="*/ 0 w 12700"/>
                    <a:gd name="connsiteY0" fmla="*/ 987628 h 987628"/>
                    <a:gd name="connsiteX1" fmla="*/ 0 w 12700"/>
                    <a:gd name="connsiteY1" fmla="*/ 0 h 987628"/>
                  </a:gdLst>
                  <a:ahLst/>
                  <a:cxnLst>
                    <a:cxn ang="0">
                      <a:pos x="connsiteX0" y="connsiteY0"/>
                    </a:cxn>
                    <a:cxn ang="0">
                      <a:pos x="connsiteX1" y="connsiteY1"/>
                    </a:cxn>
                  </a:cxnLst>
                  <a:rect l="l" t="t" r="r" b="b"/>
                  <a:pathLst>
                    <a:path w="12700" h="987628">
                      <a:moveTo>
                        <a:pt x="0" y="987628"/>
                      </a:moveTo>
                      <a:lnTo>
                        <a:pt x="0" y="0"/>
                      </a:lnTo>
                    </a:path>
                  </a:pathLst>
                </a:custGeom>
                <a:noFill/>
                <a:ln w="12700" cap="flat">
                  <a:solidFill>
                    <a:srgbClr val="FF0000"/>
                  </a:solidFill>
                  <a:prstDash val="dash"/>
                  <a:round/>
                </a:ln>
              </p:spPr>
              <p:txBody>
                <a:bodyPr rtlCol="0" anchor="ctr"/>
                <a:lstStyle/>
                <a:p>
                  <a:endParaRPr lang="en-US"/>
                </a:p>
              </p:txBody>
            </p:sp>
            <p:sp>
              <p:nvSpPr>
                <p:cNvPr id="167" name="フリーフォーム: 図形 166">
                  <a:extLst>
                    <a:ext uri="{FF2B5EF4-FFF2-40B4-BE49-F238E27FC236}">
                      <a16:creationId xmlns:a16="http://schemas.microsoft.com/office/drawing/2014/main" id="{856940AA-0DFF-3F6B-D9B9-DF9DA46AF3AA}"/>
                    </a:ext>
                  </a:extLst>
                </p:cNvPr>
                <p:cNvSpPr/>
                <p:nvPr/>
              </p:nvSpPr>
              <p:spPr>
                <a:xfrm>
                  <a:off x="2751113" y="2859810"/>
                  <a:ext cx="12700" cy="983440"/>
                </a:xfrm>
                <a:custGeom>
                  <a:avLst/>
                  <a:gdLst>
                    <a:gd name="connsiteX0" fmla="*/ 0 w 12700"/>
                    <a:gd name="connsiteY0" fmla="*/ 983441 h 983440"/>
                    <a:gd name="connsiteX1" fmla="*/ 0 w 12700"/>
                    <a:gd name="connsiteY1" fmla="*/ 0 h 983440"/>
                  </a:gdLst>
                  <a:ahLst/>
                  <a:cxnLst>
                    <a:cxn ang="0">
                      <a:pos x="connsiteX0" y="connsiteY0"/>
                    </a:cxn>
                    <a:cxn ang="0">
                      <a:pos x="connsiteX1" y="connsiteY1"/>
                    </a:cxn>
                  </a:cxnLst>
                  <a:rect l="l" t="t" r="r" b="b"/>
                  <a:pathLst>
                    <a:path w="12700" h="983440">
                      <a:moveTo>
                        <a:pt x="0" y="983441"/>
                      </a:moveTo>
                      <a:lnTo>
                        <a:pt x="0" y="0"/>
                      </a:lnTo>
                    </a:path>
                  </a:pathLst>
                </a:custGeom>
                <a:noFill/>
                <a:ln w="12700" cap="flat">
                  <a:solidFill>
                    <a:srgbClr val="FF0000"/>
                  </a:solidFill>
                  <a:prstDash val="dash"/>
                  <a:round/>
                </a:ln>
              </p:spPr>
              <p:txBody>
                <a:bodyPr rtlCol="0" anchor="ctr"/>
                <a:lstStyle/>
                <a:p>
                  <a:endParaRPr lang="en-US"/>
                </a:p>
              </p:txBody>
            </p:sp>
            <p:sp>
              <p:nvSpPr>
                <p:cNvPr id="168" name="フリーフォーム: 図形 167">
                  <a:extLst>
                    <a:ext uri="{FF2B5EF4-FFF2-40B4-BE49-F238E27FC236}">
                      <a16:creationId xmlns:a16="http://schemas.microsoft.com/office/drawing/2014/main" id="{CB5C92DB-A6E6-9217-7B4F-BB17CB8A4CEE}"/>
                    </a:ext>
                  </a:extLst>
                </p:cNvPr>
                <p:cNvSpPr/>
                <p:nvPr/>
              </p:nvSpPr>
              <p:spPr>
                <a:xfrm>
                  <a:off x="3445396" y="2966443"/>
                  <a:ext cx="12700" cy="936790"/>
                </a:xfrm>
                <a:custGeom>
                  <a:avLst/>
                  <a:gdLst>
                    <a:gd name="connsiteX0" fmla="*/ 0 w 12700"/>
                    <a:gd name="connsiteY0" fmla="*/ 936790 h 936790"/>
                    <a:gd name="connsiteX1" fmla="*/ 0 w 12700"/>
                    <a:gd name="connsiteY1" fmla="*/ 0 h 936790"/>
                  </a:gdLst>
                  <a:ahLst/>
                  <a:cxnLst>
                    <a:cxn ang="0">
                      <a:pos x="connsiteX0" y="connsiteY0"/>
                    </a:cxn>
                    <a:cxn ang="0">
                      <a:pos x="connsiteX1" y="connsiteY1"/>
                    </a:cxn>
                  </a:cxnLst>
                  <a:rect l="l" t="t" r="r" b="b"/>
                  <a:pathLst>
                    <a:path w="12700" h="936790">
                      <a:moveTo>
                        <a:pt x="0" y="936790"/>
                      </a:moveTo>
                      <a:lnTo>
                        <a:pt x="0" y="0"/>
                      </a:lnTo>
                    </a:path>
                  </a:pathLst>
                </a:custGeom>
                <a:noFill/>
                <a:ln w="12700" cap="flat">
                  <a:solidFill>
                    <a:srgbClr val="FF0000"/>
                  </a:solidFill>
                  <a:prstDash val="dash"/>
                  <a:round/>
                </a:ln>
              </p:spPr>
              <p:txBody>
                <a:bodyPr rtlCol="0" anchor="ctr"/>
                <a:lstStyle/>
                <a:p>
                  <a:endParaRPr lang="en-US"/>
                </a:p>
              </p:txBody>
            </p:sp>
            <p:sp>
              <p:nvSpPr>
                <p:cNvPr id="169" name="フリーフォーム: 図形 168">
                  <a:extLst>
                    <a:ext uri="{FF2B5EF4-FFF2-40B4-BE49-F238E27FC236}">
                      <a16:creationId xmlns:a16="http://schemas.microsoft.com/office/drawing/2014/main" id="{5B019A27-2909-E71A-23C4-259ADD908863}"/>
                    </a:ext>
                  </a:extLst>
                </p:cNvPr>
                <p:cNvSpPr/>
                <p:nvPr/>
              </p:nvSpPr>
              <p:spPr>
                <a:xfrm>
                  <a:off x="4139667" y="2977492"/>
                  <a:ext cx="12700" cy="984212"/>
                </a:xfrm>
                <a:custGeom>
                  <a:avLst/>
                  <a:gdLst>
                    <a:gd name="connsiteX0" fmla="*/ 0 w 12700"/>
                    <a:gd name="connsiteY0" fmla="*/ 984212 h 984212"/>
                    <a:gd name="connsiteX1" fmla="*/ 0 w 12700"/>
                    <a:gd name="connsiteY1" fmla="*/ 0 h 984212"/>
                  </a:gdLst>
                  <a:ahLst/>
                  <a:cxnLst>
                    <a:cxn ang="0">
                      <a:pos x="connsiteX0" y="connsiteY0"/>
                    </a:cxn>
                    <a:cxn ang="0">
                      <a:pos x="connsiteX1" y="connsiteY1"/>
                    </a:cxn>
                  </a:cxnLst>
                  <a:rect l="l" t="t" r="r" b="b"/>
                  <a:pathLst>
                    <a:path w="12700" h="984212">
                      <a:moveTo>
                        <a:pt x="0" y="984212"/>
                      </a:moveTo>
                      <a:lnTo>
                        <a:pt x="0" y="0"/>
                      </a:lnTo>
                    </a:path>
                  </a:pathLst>
                </a:custGeom>
                <a:noFill/>
                <a:ln w="12700" cap="flat">
                  <a:solidFill>
                    <a:srgbClr val="FF0000"/>
                  </a:solidFill>
                  <a:prstDash val="dash"/>
                  <a:round/>
                </a:ln>
              </p:spPr>
              <p:txBody>
                <a:bodyPr rtlCol="0" anchor="ctr"/>
                <a:lstStyle/>
                <a:p>
                  <a:endParaRPr lang="en-US"/>
                </a:p>
              </p:txBody>
            </p:sp>
            <p:sp>
              <p:nvSpPr>
                <p:cNvPr id="170" name="フリーフォーム: 図形 169">
                  <a:extLst>
                    <a:ext uri="{FF2B5EF4-FFF2-40B4-BE49-F238E27FC236}">
                      <a16:creationId xmlns:a16="http://schemas.microsoft.com/office/drawing/2014/main" id="{9ABFC677-04A6-C81B-8492-03F6968BE06F}"/>
                    </a:ext>
                  </a:extLst>
                </p:cNvPr>
                <p:cNvSpPr/>
                <p:nvPr/>
              </p:nvSpPr>
              <p:spPr>
                <a:xfrm>
                  <a:off x="4833951" y="3031734"/>
                  <a:ext cx="12700" cy="998435"/>
                </a:xfrm>
                <a:custGeom>
                  <a:avLst/>
                  <a:gdLst>
                    <a:gd name="connsiteX0" fmla="*/ 0 w 12700"/>
                    <a:gd name="connsiteY0" fmla="*/ 998436 h 998435"/>
                    <a:gd name="connsiteX1" fmla="*/ 0 w 12700"/>
                    <a:gd name="connsiteY1" fmla="*/ 0 h 998435"/>
                  </a:gdLst>
                  <a:ahLst/>
                  <a:cxnLst>
                    <a:cxn ang="0">
                      <a:pos x="connsiteX0" y="connsiteY0"/>
                    </a:cxn>
                    <a:cxn ang="0">
                      <a:pos x="connsiteX1" y="connsiteY1"/>
                    </a:cxn>
                  </a:cxnLst>
                  <a:rect l="l" t="t" r="r" b="b"/>
                  <a:pathLst>
                    <a:path w="12700" h="998435">
                      <a:moveTo>
                        <a:pt x="0" y="998436"/>
                      </a:moveTo>
                      <a:lnTo>
                        <a:pt x="0" y="0"/>
                      </a:lnTo>
                    </a:path>
                  </a:pathLst>
                </a:custGeom>
                <a:noFill/>
                <a:ln w="12700" cap="flat">
                  <a:solidFill>
                    <a:srgbClr val="FF0000"/>
                  </a:solidFill>
                  <a:prstDash val="dash"/>
                  <a:round/>
                </a:ln>
              </p:spPr>
              <p:txBody>
                <a:bodyPr rtlCol="0" anchor="ctr"/>
                <a:lstStyle/>
                <a:p>
                  <a:endParaRPr lang="en-US"/>
                </a:p>
              </p:txBody>
            </p:sp>
            <p:sp>
              <p:nvSpPr>
                <p:cNvPr id="171" name="フリーフォーム: 図形 170">
                  <a:extLst>
                    <a:ext uri="{FF2B5EF4-FFF2-40B4-BE49-F238E27FC236}">
                      <a16:creationId xmlns:a16="http://schemas.microsoft.com/office/drawing/2014/main" id="{EC3CC875-CC4E-D102-F660-E7CD4F10B813}"/>
                    </a:ext>
                  </a:extLst>
                </p:cNvPr>
                <p:cNvSpPr/>
                <p:nvPr/>
              </p:nvSpPr>
              <p:spPr>
                <a:xfrm>
                  <a:off x="5528234" y="3103006"/>
                  <a:ext cx="12700" cy="980300"/>
                </a:xfrm>
                <a:custGeom>
                  <a:avLst/>
                  <a:gdLst>
                    <a:gd name="connsiteX0" fmla="*/ 0 w 12700"/>
                    <a:gd name="connsiteY0" fmla="*/ 980300 h 980300"/>
                    <a:gd name="connsiteX1" fmla="*/ 0 w 12700"/>
                    <a:gd name="connsiteY1" fmla="*/ 0 h 980300"/>
                  </a:gdLst>
                  <a:ahLst/>
                  <a:cxnLst>
                    <a:cxn ang="0">
                      <a:pos x="connsiteX0" y="connsiteY0"/>
                    </a:cxn>
                    <a:cxn ang="0">
                      <a:pos x="connsiteX1" y="connsiteY1"/>
                    </a:cxn>
                  </a:cxnLst>
                  <a:rect l="l" t="t" r="r" b="b"/>
                  <a:pathLst>
                    <a:path w="12700" h="980300">
                      <a:moveTo>
                        <a:pt x="0" y="980300"/>
                      </a:moveTo>
                      <a:lnTo>
                        <a:pt x="0" y="0"/>
                      </a:lnTo>
                    </a:path>
                  </a:pathLst>
                </a:custGeom>
                <a:noFill/>
                <a:ln w="12700" cap="flat">
                  <a:solidFill>
                    <a:srgbClr val="FF0000"/>
                  </a:solidFill>
                  <a:prstDash val="dash"/>
                  <a:round/>
                </a:ln>
              </p:spPr>
              <p:txBody>
                <a:bodyPr rtlCol="0" anchor="ctr"/>
                <a:lstStyle/>
                <a:p>
                  <a:endParaRPr lang="en-US"/>
                </a:p>
              </p:txBody>
            </p:sp>
            <p:sp>
              <p:nvSpPr>
                <p:cNvPr id="172" name="フリーフォーム: 図形 171">
                  <a:extLst>
                    <a:ext uri="{FF2B5EF4-FFF2-40B4-BE49-F238E27FC236}">
                      <a16:creationId xmlns:a16="http://schemas.microsoft.com/office/drawing/2014/main" id="{7BA31589-7C64-F99A-C566-477D2A34DC65}"/>
                    </a:ext>
                  </a:extLst>
                </p:cNvPr>
                <p:cNvSpPr/>
                <p:nvPr/>
              </p:nvSpPr>
              <p:spPr>
                <a:xfrm>
                  <a:off x="6222518" y="3010817"/>
                  <a:ext cx="12700" cy="974102"/>
                </a:xfrm>
                <a:custGeom>
                  <a:avLst/>
                  <a:gdLst>
                    <a:gd name="connsiteX0" fmla="*/ 0 w 12700"/>
                    <a:gd name="connsiteY0" fmla="*/ 974103 h 974102"/>
                    <a:gd name="connsiteX1" fmla="*/ 0 w 12700"/>
                    <a:gd name="connsiteY1" fmla="*/ 0 h 974102"/>
                  </a:gdLst>
                  <a:ahLst/>
                  <a:cxnLst>
                    <a:cxn ang="0">
                      <a:pos x="connsiteX0" y="connsiteY0"/>
                    </a:cxn>
                    <a:cxn ang="0">
                      <a:pos x="connsiteX1" y="connsiteY1"/>
                    </a:cxn>
                  </a:cxnLst>
                  <a:rect l="l" t="t" r="r" b="b"/>
                  <a:pathLst>
                    <a:path w="12700" h="974102">
                      <a:moveTo>
                        <a:pt x="0" y="974103"/>
                      </a:moveTo>
                      <a:lnTo>
                        <a:pt x="0" y="0"/>
                      </a:lnTo>
                    </a:path>
                  </a:pathLst>
                </a:custGeom>
                <a:noFill/>
                <a:ln w="12700" cap="flat">
                  <a:solidFill>
                    <a:srgbClr val="FF0000"/>
                  </a:solidFill>
                  <a:prstDash val="dash"/>
                  <a:round/>
                </a:ln>
              </p:spPr>
              <p:txBody>
                <a:bodyPr rtlCol="0" anchor="ctr"/>
                <a:lstStyle/>
                <a:p>
                  <a:endParaRPr lang="en-US"/>
                </a:p>
              </p:txBody>
            </p:sp>
            <p:sp>
              <p:nvSpPr>
                <p:cNvPr id="173" name="フリーフォーム: 図形 172">
                  <a:extLst>
                    <a:ext uri="{FF2B5EF4-FFF2-40B4-BE49-F238E27FC236}">
                      <a16:creationId xmlns:a16="http://schemas.microsoft.com/office/drawing/2014/main" id="{C0FBF143-EAC4-96B1-9A3E-5E2AE56F43B4}"/>
                    </a:ext>
                  </a:extLst>
                </p:cNvPr>
                <p:cNvSpPr/>
                <p:nvPr/>
              </p:nvSpPr>
              <p:spPr>
                <a:xfrm>
                  <a:off x="6916789" y="2926870"/>
                  <a:ext cx="12700" cy="983551"/>
                </a:xfrm>
                <a:custGeom>
                  <a:avLst/>
                  <a:gdLst>
                    <a:gd name="connsiteX0" fmla="*/ 0 w 12700"/>
                    <a:gd name="connsiteY0" fmla="*/ 983552 h 983551"/>
                    <a:gd name="connsiteX1" fmla="*/ 0 w 12700"/>
                    <a:gd name="connsiteY1" fmla="*/ 0 h 983551"/>
                  </a:gdLst>
                  <a:ahLst/>
                  <a:cxnLst>
                    <a:cxn ang="0">
                      <a:pos x="connsiteX0" y="connsiteY0"/>
                    </a:cxn>
                    <a:cxn ang="0">
                      <a:pos x="connsiteX1" y="connsiteY1"/>
                    </a:cxn>
                  </a:cxnLst>
                  <a:rect l="l" t="t" r="r" b="b"/>
                  <a:pathLst>
                    <a:path w="12700" h="983551">
                      <a:moveTo>
                        <a:pt x="0" y="983552"/>
                      </a:moveTo>
                      <a:lnTo>
                        <a:pt x="0" y="0"/>
                      </a:lnTo>
                    </a:path>
                  </a:pathLst>
                </a:custGeom>
                <a:noFill/>
                <a:ln w="12700" cap="flat">
                  <a:solidFill>
                    <a:srgbClr val="FF0000"/>
                  </a:solidFill>
                  <a:prstDash val="dash"/>
                  <a:round/>
                </a:ln>
              </p:spPr>
              <p:txBody>
                <a:bodyPr rtlCol="0" anchor="ctr"/>
                <a:lstStyle/>
                <a:p>
                  <a:endParaRPr lang="en-US"/>
                </a:p>
              </p:txBody>
            </p:sp>
            <p:sp>
              <p:nvSpPr>
                <p:cNvPr id="174" name="フリーフォーム: 図形 173">
                  <a:extLst>
                    <a:ext uri="{FF2B5EF4-FFF2-40B4-BE49-F238E27FC236}">
                      <a16:creationId xmlns:a16="http://schemas.microsoft.com/office/drawing/2014/main" id="{6B1B68D5-EB1C-DC0B-0CDF-F3ECE7A5D241}"/>
                    </a:ext>
                  </a:extLst>
                </p:cNvPr>
                <p:cNvSpPr/>
                <p:nvPr/>
              </p:nvSpPr>
              <p:spPr>
                <a:xfrm>
                  <a:off x="7611072" y="2729955"/>
                  <a:ext cx="12700" cy="1037769"/>
                </a:xfrm>
                <a:custGeom>
                  <a:avLst/>
                  <a:gdLst>
                    <a:gd name="connsiteX0" fmla="*/ 0 w 12700"/>
                    <a:gd name="connsiteY0" fmla="*/ 1037769 h 1037769"/>
                    <a:gd name="connsiteX1" fmla="*/ 0 w 12700"/>
                    <a:gd name="connsiteY1" fmla="*/ 0 h 1037769"/>
                  </a:gdLst>
                  <a:ahLst/>
                  <a:cxnLst>
                    <a:cxn ang="0">
                      <a:pos x="connsiteX0" y="connsiteY0"/>
                    </a:cxn>
                    <a:cxn ang="0">
                      <a:pos x="connsiteX1" y="connsiteY1"/>
                    </a:cxn>
                  </a:cxnLst>
                  <a:rect l="l" t="t" r="r" b="b"/>
                  <a:pathLst>
                    <a:path w="12700" h="1037769">
                      <a:moveTo>
                        <a:pt x="0" y="1037769"/>
                      </a:moveTo>
                      <a:lnTo>
                        <a:pt x="0" y="0"/>
                      </a:lnTo>
                    </a:path>
                  </a:pathLst>
                </a:custGeom>
                <a:noFill/>
                <a:ln w="12700" cap="flat">
                  <a:solidFill>
                    <a:srgbClr val="FF0000"/>
                  </a:solidFill>
                  <a:prstDash val="dash"/>
                  <a:round/>
                </a:ln>
              </p:spPr>
              <p:txBody>
                <a:bodyPr rtlCol="0" anchor="ctr"/>
                <a:lstStyle/>
                <a:p>
                  <a:endParaRPr lang="en-US"/>
                </a:p>
              </p:txBody>
            </p:sp>
            <p:sp>
              <p:nvSpPr>
                <p:cNvPr id="175" name="フリーフォーム: 図形 174">
                  <a:extLst>
                    <a:ext uri="{FF2B5EF4-FFF2-40B4-BE49-F238E27FC236}">
                      <a16:creationId xmlns:a16="http://schemas.microsoft.com/office/drawing/2014/main" id="{A283D83A-0673-7E2B-4374-756F17A21625}"/>
                    </a:ext>
                  </a:extLst>
                </p:cNvPr>
                <p:cNvSpPr/>
                <p:nvPr/>
              </p:nvSpPr>
              <p:spPr>
                <a:xfrm>
                  <a:off x="8305356" y="2693977"/>
                  <a:ext cx="12700" cy="1094308"/>
                </a:xfrm>
                <a:custGeom>
                  <a:avLst/>
                  <a:gdLst>
                    <a:gd name="connsiteX0" fmla="*/ 0 w 12700"/>
                    <a:gd name="connsiteY0" fmla="*/ 1094308 h 1094308"/>
                    <a:gd name="connsiteX1" fmla="*/ 0 w 12700"/>
                    <a:gd name="connsiteY1" fmla="*/ 0 h 1094308"/>
                  </a:gdLst>
                  <a:ahLst/>
                  <a:cxnLst>
                    <a:cxn ang="0">
                      <a:pos x="connsiteX0" y="connsiteY0"/>
                    </a:cxn>
                    <a:cxn ang="0">
                      <a:pos x="connsiteX1" y="connsiteY1"/>
                    </a:cxn>
                  </a:cxnLst>
                  <a:rect l="l" t="t" r="r" b="b"/>
                  <a:pathLst>
                    <a:path w="12700" h="1094308">
                      <a:moveTo>
                        <a:pt x="0" y="1094308"/>
                      </a:moveTo>
                      <a:lnTo>
                        <a:pt x="0" y="0"/>
                      </a:lnTo>
                    </a:path>
                  </a:pathLst>
                </a:custGeom>
                <a:noFill/>
                <a:ln w="12700" cap="flat">
                  <a:solidFill>
                    <a:srgbClr val="FF0000"/>
                  </a:solidFill>
                  <a:prstDash val="dash"/>
                  <a:round/>
                </a:ln>
              </p:spPr>
              <p:txBody>
                <a:bodyPr rtlCol="0" anchor="ctr"/>
                <a:lstStyle/>
                <a:p>
                  <a:endParaRPr lang="en-US"/>
                </a:p>
              </p:txBody>
            </p:sp>
            <p:sp>
              <p:nvSpPr>
                <p:cNvPr id="176" name="フリーフォーム: 図形 175">
                  <a:extLst>
                    <a:ext uri="{FF2B5EF4-FFF2-40B4-BE49-F238E27FC236}">
                      <a16:creationId xmlns:a16="http://schemas.microsoft.com/office/drawing/2014/main" id="{03E930E1-EBE8-AD5E-C165-EAD3E6544204}"/>
                    </a:ext>
                  </a:extLst>
                </p:cNvPr>
                <p:cNvSpPr/>
                <p:nvPr/>
              </p:nvSpPr>
              <p:spPr>
                <a:xfrm>
                  <a:off x="8999640" y="2579464"/>
                  <a:ext cx="12700" cy="1043861"/>
                </a:xfrm>
                <a:custGeom>
                  <a:avLst/>
                  <a:gdLst>
                    <a:gd name="connsiteX0" fmla="*/ 0 w 12700"/>
                    <a:gd name="connsiteY0" fmla="*/ 1043861 h 1043861"/>
                    <a:gd name="connsiteX1" fmla="*/ 0 w 12700"/>
                    <a:gd name="connsiteY1" fmla="*/ 0 h 1043861"/>
                  </a:gdLst>
                  <a:ahLst/>
                  <a:cxnLst>
                    <a:cxn ang="0">
                      <a:pos x="connsiteX0" y="connsiteY0"/>
                    </a:cxn>
                    <a:cxn ang="0">
                      <a:pos x="connsiteX1" y="connsiteY1"/>
                    </a:cxn>
                  </a:cxnLst>
                  <a:rect l="l" t="t" r="r" b="b"/>
                  <a:pathLst>
                    <a:path w="12700" h="1043861">
                      <a:moveTo>
                        <a:pt x="0" y="1043861"/>
                      </a:moveTo>
                      <a:lnTo>
                        <a:pt x="0" y="0"/>
                      </a:lnTo>
                    </a:path>
                  </a:pathLst>
                </a:custGeom>
                <a:noFill/>
                <a:ln w="12700" cap="flat">
                  <a:solidFill>
                    <a:srgbClr val="FF0000"/>
                  </a:solidFill>
                  <a:prstDash val="dash"/>
                  <a:round/>
                </a:ln>
              </p:spPr>
              <p:txBody>
                <a:bodyPr rtlCol="0" anchor="ctr"/>
                <a:lstStyle/>
                <a:p>
                  <a:endParaRPr lang="en-US"/>
                </a:p>
              </p:txBody>
            </p:sp>
          </p:grpSp>
          <p:grpSp>
            <p:nvGrpSpPr>
              <p:cNvPr id="177" name="グラフィックス 2">
                <a:extLst>
                  <a:ext uri="{FF2B5EF4-FFF2-40B4-BE49-F238E27FC236}">
                    <a16:creationId xmlns:a16="http://schemas.microsoft.com/office/drawing/2014/main" id="{AB9D50B8-29BE-C735-2AA2-C46B87FA8501}"/>
                  </a:ext>
                </a:extLst>
              </p:cNvPr>
              <p:cNvGrpSpPr/>
              <p:nvPr/>
            </p:nvGrpSpPr>
            <p:grpSpPr>
              <a:xfrm>
                <a:off x="1318099" y="3538616"/>
                <a:ext cx="7738691" cy="557391"/>
                <a:chOff x="1318099" y="3538616"/>
                <a:chExt cx="7738691" cy="557391"/>
              </a:xfrm>
            </p:grpSpPr>
            <p:sp>
              <p:nvSpPr>
                <p:cNvPr id="178" name="フリーフォーム: 図形 177">
                  <a:extLst>
                    <a:ext uri="{FF2B5EF4-FFF2-40B4-BE49-F238E27FC236}">
                      <a16:creationId xmlns:a16="http://schemas.microsoft.com/office/drawing/2014/main" id="{5B7C8DC8-4C27-2292-F90B-771BE2F73D21}"/>
                    </a:ext>
                  </a:extLst>
                </p:cNvPr>
                <p:cNvSpPr/>
                <p:nvPr/>
              </p:nvSpPr>
              <p:spPr>
                <a:xfrm>
                  <a:off x="1318099" y="3538616"/>
                  <a:ext cx="101600" cy="12700"/>
                </a:xfrm>
                <a:custGeom>
                  <a:avLst/>
                  <a:gdLst>
                    <a:gd name="connsiteX0" fmla="*/ 101678 w 101600"/>
                    <a:gd name="connsiteY0" fmla="*/ 153 h 12700"/>
                    <a:gd name="connsiteX1" fmla="*/ 78 w 101600"/>
                    <a:gd name="connsiteY1" fmla="*/ 153 h 12700"/>
                  </a:gdLst>
                  <a:ahLst/>
                  <a:cxnLst>
                    <a:cxn ang="0">
                      <a:pos x="connsiteX0" y="connsiteY0"/>
                    </a:cxn>
                    <a:cxn ang="0">
                      <a:pos x="connsiteX1" y="connsiteY1"/>
                    </a:cxn>
                  </a:cxnLst>
                  <a:rect l="l" t="t" r="r" b="b"/>
                  <a:pathLst>
                    <a:path w="101600" h="12700">
                      <a:moveTo>
                        <a:pt x="101678" y="153"/>
                      </a:moveTo>
                      <a:lnTo>
                        <a:pt x="78" y="153"/>
                      </a:lnTo>
                    </a:path>
                  </a:pathLst>
                </a:custGeom>
                <a:solidFill>
                  <a:srgbClr val="FF0000"/>
                </a:solidFill>
                <a:ln w="12700" cap="flat">
                  <a:solidFill>
                    <a:srgbClr val="FF0000"/>
                  </a:solidFill>
                  <a:prstDash val="dash"/>
                  <a:round/>
                </a:ln>
              </p:spPr>
              <p:txBody>
                <a:bodyPr rtlCol="0" anchor="ctr"/>
                <a:lstStyle/>
                <a:p>
                  <a:endParaRPr lang="en-US"/>
                </a:p>
              </p:txBody>
            </p:sp>
            <p:sp>
              <p:nvSpPr>
                <p:cNvPr id="179" name="フリーフォーム: 図形 178">
                  <a:extLst>
                    <a:ext uri="{FF2B5EF4-FFF2-40B4-BE49-F238E27FC236}">
                      <a16:creationId xmlns:a16="http://schemas.microsoft.com/office/drawing/2014/main" id="{8FAEC3DD-1544-4BB7-F543-8243CF3F3E1E}"/>
                    </a:ext>
                  </a:extLst>
                </p:cNvPr>
                <p:cNvSpPr/>
                <p:nvPr/>
              </p:nvSpPr>
              <p:spPr>
                <a:xfrm>
                  <a:off x="2012379" y="3870328"/>
                  <a:ext cx="101600" cy="12700"/>
                </a:xfrm>
                <a:custGeom>
                  <a:avLst/>
                  <a:gdLst>
                    <a:gd name="connsiteX0" fmla="*/ 101732 w 101600"/>
                    <a:gd name="connsiteY0" fmla="*/ 179 h 12700"/>
                    <a:gd name="connsiteX1" fmla="*/ 132 w 101600"/>
                    <a:gd name="connsiteY1" fmla="*/ 179 h 12700"/>
                  </a:gdLst>
                  <a:ahLst/>
                  <a:cxnLst>
                    <a:cxn ang="0">
                      <a:pos x="connsiteX0" y="connsiteY0"/>
                    </a:cxn>
                    <a:cxn ang="0">
                      <a:pos x="connsiteX1" y="connsiteY1"/>
                    </a:cxn>
                  </a:cxnLst>
                  <a:rect l="l" t="t" r="r" b="b"/>
                  <a:pathLst>
                    <a:path w="101600" h="12700">
                      <a:moveTo>
                        <a:pt x="101732" y="179"/>
                      </a:moveTo>
                      <a:lnTo>
                        <a:pt x="132" y="179"/>
                      </a:lnTo>
                    </a:path>
                  </a:pathLst>
                </a:custGeom>
                <a:solidFill>
                  <a:srgbClr val="FF0000"/>
                </a:solidFill>
                <a:ln w="12700" cap="flat">
                  <a:solidFill>
                    <a:srgbClr val="FF0000"/>
                  </a:solidFill>
                  <a:prstDash val="dash"/>
                  <a:round/>
                </a:ln>
              </p:spPr>
              <p:txBody>
                <a:bodyPr rtlCol="0" anchor="ctr"/>
                <a:lstStyle/>
                <a:p>
                  <a:endParaRPr lang="en-US"/>
                </a:p>
              </p:txBody>
            </p:sp>
            <p:sp>
              <p:nvSpPr>
                <p:cNvPr id="180" name="フリーフォーム: 図形 179">
                  <a:extLst>
                    <a:ext uri="{FF2B5EF4-FFF2-40B4-BE49-F238E27FC236}">
                      <a16:creationId xmlns:a16="http://schemas.microsoft.com/office/drawing/2014/main" id="{AB65684D-70D5-4008-6925-B47C376EFCB4}"/>
                    </a:ext>
                  </a:extLst>
                </p:cNvPr>
                <p:cNvSpPr/>
                <p:nvPr/>
              </p:nvSpPr>
              <p:spPr>
                <a:xfrm>
                  <a:off x="2706663" y="3843251"/>
                  <a:ext cx="101600" cy="12700"/>
                </a:xfrm>
                <a:custGeom>
                  <a:avLst/>
                  <a:gdLst>
                    <a:gd name="connsiteX0" fmla="*/ 101787 w 101600"/>
                    <a:gd name="connsiteY0" fmla="*/ 177 h 12700"/>
                    <a:gd name="connsiteX1" fmla="*/ 187 w 101600"/>
                    <a:gd name="connsiteY1" fmla="*/ 177 h 12700"/>
                  </a:gdLst>
                  <a:ahLst/>
                  <a:cxnLst>
                    <a:cxn ang="0">
                      <a:pos x="connsiteX0" y="connsiteY0"/>
                    </a:cxn>
                    <a:cxn ang="0">
                      <a:pos x="connsiteX1" y="connsiteY1"/>
                    </a:cxn>
                  </a:cxnLst>
                  <a:rect l="l" t="t" r="r" b="b"/>
                  <a:pathLst>
                    <a:path w="101600" h="12700">
                      <a:moveTo>
                        <a:pt x="101787" y="177"/>
                      </a:moveTo>
                      <a:lnTo>
                        <a:pt x="187" y="177"/>
                      </a:lnTo>
                    </a:path>
                  </a:pathLst>
                </a:custGeom>
                <a:solidFill>
                  <a:srgbClr val="FF0000"/>
                </a:solidFill>
                <a:ln w="12700" cap="flat">
                  <a:solidFill>
                    <a:srgbClr val="FF0000"/>
                  </a:solidFill>
                  <a:prstDash val="dash"/>
                  <a:round/>
                </a:ln>
              </p:spPr>
              <p:txBody>
                <a:bodyPr rtlCol="0" anchor="ctr"/>
                <a:lstStyle/>
                <a:p>
                  <a:endParaRPr lang="en-US"/>
                </a:p>
              </p:txBody>
            </p:sp>
            <p:sp>
              <p:nvSpPr>
                <p:cNvPr id="181" name="フリーフォーム: 図形 180">
                  <a:extLst>
                    <a:ext uri="{FF2B5EF4-FFF2-40B4-BE49-F238E27FC236}">
                      <a16:creationId xmlns:a16="http://schemas.microsoft.com/office/drawing/2014/main" id="{69CA2C3F-7B3D-5E92-6B7F-3AA8DCE3C859}"/>
                    </a:ext>
                  </a:extLst>
                </p:cNvPr>
                <p:cNvSpPr/>
                <p:nvPr/>
              </p:nvSpPr>
              <p:spPr>
                <a:xfrm>
                  <a:off x="3400946" y="3903233"/>
                  <a:ext cx="101600" cy="12700"/>
                </a:xfrm>
                <a:custGeom>
                  <a:avLst/>
                  <a:gdLst>
                    <a:gd name="connsiteX0" fmla="*/ 101842 w 101600"/>
                    <a:gd name="connsiteY0" fmla="*/ 181 h 12700"/>
                    <a:gd name="connsiteX1" fmla="*/ 242 w 101600"/>
                    <a:gd name="connsiteY1" fmla="*/ 181 h 12700"/>
                  </a:gdLst>
                  <a:ahLst/>
                  <a:cxnLst>
                    <a:cxn ang="0">
                      <a:pos x="connsiteX0" y="connsiteY0"/>
                    </a:cxn>
                    <a:cxn ang="0">
                      <a:pos x="connsiteX1" y="connsiteY1"/>
                    </a:cxn>
                  </a:cxnLst>
                  <a:rect l="l" t="t" r="r" b="b"/>
                  <a:pathLst>
                    <a:path w="101600" h="12700">
                      <a:moveTo>
                        <a:pt x="101842" y="181"/>
                      </a:moveTo>
                      <a:lnTo>
                        <a:pt x="242" y="181"/>
                      </a:lnTo>
                    </a:path>
                  </a:pathLst>
                </a:custGeom>
                <a:solidFill>
                  <a:srgbClr val="FF0000"/>
                </a:solidFill>
                <a:ln w="12700" cap="flat">
                  <a:solidFill>
                    <a:srgbClr val="FF0000"/>
                  </a:solidFill>
                  <a:prstDash val="dash"/>
                  <a:round/>
                </a:ln>
              </p:spPr>
              <p:txBody>
                <a:bodyPr rtlCol="0" anchor="ctr"/>
                <a:lstStyle/>
                <a:p>
                  <a:endParaRPr lang="en-US"/>
                </a:p>
              </p:txBody>
            </p:sp>
            <p:sp>
              <p:nvSpPr>
                <p:cNvPr id="182" name="フリーフォーム: 図形 181">
                  <a:extLst>
                    <a:ext uri="{FF2B5EF4-FFF2-40B4-BE49-F238E27FC236}">
                      <a16:creationId xmlns:a16="http://schemas.microsoft.com/office/drawing/2014/main" id="{63019071-9155-989A-FAF4-E79B8E1135E5}"/>
                    </a:ext>
                  </a:extLst>
                </p:cNvPr>
                <p:cNvSpPr/>
                <p:nvPr/>
              </p:nvSpPr>
              <p:spPr>
                <a:xfrm>
                  <a:off x="4095217" y="3961704"/>
                  <a:ext cx="101600" cy="12700"/>
                </a:xfrm>
                <a:custGeom>
                  <a:avLst/>
                  <a:gdLst>
                    <a:gd name="connsiteX0" fmla="*/ 101896 w 101600"/>
                    <a:gd name="connsiteY0" fmla="*/ 186 h 12700"/>
                    <a:gd name="connsiteX1" fmla="*/ 296 w 101600"/>
                    <a:gd name="connsiteY1" fmla="*/ 186 h 12700"/>
                  </a:gdLst>
                  <a:ahLst/>
                  <a:cxnLst>
                    <a:cxn ang="0">
                      <a:pos x="connsiteX0" y="connsiteY0"/>
                    </a:cxn>
                    <a:cxn ang="0">
                      <a:pos x="connsiteX1" y="connsiteY1"/>
                    </a:cxn>
                  </a:cxnLst>
                  <a:rect l="l" t="t" r="r" b="b"/>
                  <a:pathLst>
                    <a:path w="101600" h="12700">
                      <a:moveTo>
                        <a:pt x="101896" y="186"/>
                      </a:moveTo>
                      <a:lnTo>
                        <a:pt x="296" y="186"/>
                      </a:lnTo>
                    </a:path>
                  </a:pathLst>
                </a:custGeom>
                <a:solidFill>
                  <a:srgbClr val="FF0000"/>
                </a:solidFill>
                <a:ln w="12700" cap="flat">
                  <a:solidFill>
                    <a:srgbClr val="FF0000"/>
                  </a:solidFill>
                  <a:prstDash val="dash"/>
                  <a:round/>
                </a:ln>
              </p:spPr>
              <p:txBody>
                <a:bodyPr rtlCol="0" anchor="ctr"/>
                <a:lstStyle/>
                <a:p>
                  <a:endParaRPr lang="en-US"/>
                </a:p>
              </p:txBody>
            </p:sp>
            <p:sp>
              <p:nvSpPr>
                <p:cNvPr id="183" name="フリーフォーム: 図形 182">
                  <a:extLst>
                    <a:ext uri="{FF2B5EF4-FFF2-40B4-BE49-F238E27FC236}">
                      <a16:creationId xmlns:a16="http://schemas.microsoft.com/office/drawing/2014/main" id="{E7654CF7-5C40-CCF4-F97F-ADDF61BF3C57}"/>
                    </a:ext>
                  </a:extLst>
                </p:cNvPr>
                <p:cNvSpPr/>
                <p:nvPr/>
              </p:nvSpPr>
              <p:spPr>
                <a:xfrm>
                  <a:off x="4789501" y="4030170"/>
                  <a:ext cx="101600" cy="12700"/>
                </a:xfrm>
                <a:custGeom>
                  <a:avLst/>
                  <a:gdLst>
                    <a:gd name="connsiteX0" fmla="*/ 101951 w 101600"/>
                    <a:gd name="connsiteY0" fmla="*/ 191 h 12700"/>
                    <a:gd name="connsiteX1" fmla="*/ 351 w 101600"/>
                    <a:gd name="connsiteY1" fmla="*/ 191 h 12700"/>
                  </a:gdLst>
                  <a:ahLst/>
                  <a:cxnLst>
                    <a:cxn ang="0">
                      <a:pos x="connsiteX0" y="connsiteY0"/>
                    </a:cxn>
                    <a:cxn ang="0">
                      <a:pos x="connsiteX1" y="connsiteY1"/>
                    </a:cxn>
                  </a:cxnLst>
                  <a:rect l="l" t="t" r="r" b="b"/>
                  <a:pathLst>
                    <a:path w="101600" h="12700">
                      <a:moveTo>
                        <a:pt x="101951" y="191"/>
                      </a:moveTo>
                      <a:lnTo>
                        <a:pt x="351" y="191"/>
                      </a:lnTo>
                    </a:path>
                  </a:pathLst>
                </a:custGeom>
                <a:solidFill>
                  <a:srgbClr val="FF0000"/>
                </a:solidFill>
                <a:ln w="12700" cap="flat">
                  <a:solidFill>
                    <a:srgbClr val="FF0000"/>
                  </a:solidFill>
                  <a:prstDash val="dash"/>
                  <a:round/>
                </a:ln>
              </p:spPr>
              <p:txBody>
                <a:bodyPr rtlCol="0" anchor="ctr"/>
                <a:lstStyle/>
                <a:p>
                  <a:endParaRPr lang="en-US"/>
                </a:p>
              </p:txBody>
            </p:sp>
            <p:sp>
              <p:nvSpPr>
                <p:cNvPr id="184" name="フリーフォーム: 図形 183">
                  <a:extLst>
                    <a:ext uri="{FF2B5EF4-FFF2-40B4-BE49-F238E27FC236}">
                      <a16:creationId xmlns:a16="http://schemas.microsoft.com/office/drawing/2014/main" id="{D3ADE16C-2BB1-8BCB-E129-E307061C8A84}"/>
                    </a:ext>
                  </a:extLst>
                </p:cNvPr>
                <p:cNvSpPr/>
                <p:nvPr/>
              </p:nvSpPr>
              <p:spPr>
                <a:xfrm>
                  <a:off x="5483784" y="4083307"/>
                  <a:ext cx="101600" cy="12700"/>
                </a:xfrm>
                <a:custGeom>
                  <a:avLst/>
                  <a:gdLst>
                    <a:gd name="connsiteX0" fmla="*/ 102006 w 101600"/>
                    <a:gd name="connsiteY0" fmla="*/ 196 h 12700"/>
                    <a:gd name="connsiteX1" fmla="*/ 406 w 101600"/>
                    <a:gd name="connsiteY1" fmla="*/ 196 h 12700"/>
                  </a:gdLst>
                  <a:ahLst/>
                  <a:cxnLst>
                    <a:cxn ang="0">
                      <a:pos x="connsiteX0" y="connsiteY0"/>
                    </a:cxn>
                    <a:cxn ang="0">
                      <a:pos x="connsiteX1" y="connsiteY1"/>
                    </a:cxn>
                  </a:cxnLst>
                  <a:rect l="l" t="t" r="r" b="b"/>
                  <a:pathLst>
                    <a:path w="101600" h="12700">
                      <a:moveTo>
                        <a:pt x="102006" y="196"/>
                      </a:moveTo>
                      <a:lnTo>
                        <a:pt x="406" y="196"/>
                      </a:lnTo>
                    </a:path>
                  </a:pathLst>
                </a:custGeom>
                <a:solidFill>
                  <a:srgbClr val="FF0000"/>
                </a:solidFill>
                <a:ln w="12700" cap="flat">
                  <a:solidFill>
                    <a:srgbClr val="FF0000"/>
                  </a:solidFill>
                  <a:prstDash val="dash"/>
                  <a:round/>
                </a:ln>
              </p:spPr>
              <p:txBody>
                <a:bodyPr rtlCol="0" anchor="ctr"/>
                <a:lstStyle/>
                <a:p>
                  <a:endParaRPr lang="en-US"/>
                </a:p>
              </p:txBody>
            </p:sp>
            <p:sp>
              <p:nvSpPr>
                <p:cNvPr id="185" name="フリーフォーム: 図形 184">
                  <a:extLst>
                    <a:ext uri="{FF2B5EF4-FFF2-40B4-BE49-F238E27FC236}">
                      <a16:creationId xmlns:a16="http://schemas.microsoft.com/office/drawing/2014/main" id="{AB710938-1A11-8C05-62AA-55218908D003}"/>
                    </a:ext>
                  </a:extLst>
                </p:cNvPr>
                <p:cNvSpPr/>
                <p:nvPr/>
              </p:nvSpPr>
              <p:spPr>
                <a:xfrm>
                  <a:off x="6178068" y="3984920"/>
                  <a:ext cx="101600" cy="12700"/>
                </a:xfrm>
                <a:custGeom>
                  <a:avLst/>
                  <a:gdLst>
                    <a:gd name="connsiteX0" fmla="*/ 102060 w 101600"/>
                    <a:gd name="connsiteY0" fmla="*/ 188 h 12700"/>
                    <a:gd name="connsiteX1" fmla="*/ 460 w 101600"/>
                    <a:gd name="connsiteY1" fmla="*/ 188 h 12700"/>
                  </a:gdLst>
                  <a:ahLst/>
                  <a:cxnLst>
                    <a:cxn ang="0">
                      <a:pos x="connsiteX0" y="connsiteY0"/>
                    </a:cxn>
                    <a:cxn ang="0">
                      <a:pos x="connsiteX1" y="connsiteY1"/>
                    </a:cxn>
                  </a:cxnLst>
                  <a:rect l="l" t="t" r="r" b="b"/>
                  <a:pathLst>
                    <a:path w="101600" h="12700">
                      <a:moveTo>
                        <a:pt x="102060" y="188"/>
                      </a:moveTo>
                      <a:lnTo>
                        <a:pt x="460" y="188"/>
                      </a:lnTo>
                    </a:path>
                  </a:pathLst>
                </a:custGeom>
                <a:solidFill>
                  <a:srgbClr val="FF0000"/>
                </a:solidFill>
                <a:ln w="12700" cap="flat">
                  <a:solidFill>
                    <a:srgbClr val="FF0000"/>
                  </a:solidFill>
                  <a:prstDash val="dash"/>
                  <a:round/>
                </a:ln>
              </p:spPr>
              <p:txBody>
                <a:bodyPr rtlCol="0" anchor="ctr"/>
                <a:lstStyle/>
                <a:p>
                  <a:endParaRPr lang="en-US"/>
                </a:p>
              </p:txBody>
            </p:sp>
            <p:sp>
              <p:nvSpPr>
                <p:cNvPr id="186" name="フリーフォーム: 図形 185">
                  <a:extLst>
                    <a:ext uri="{FF2B5EF4-FFF2-40B4-BE49-F238E27FC236}">
                      <a16:creationId xmlns:a16="http://schemas.microsoft.com/office/drawing/2014/main" id="{663954B7-BBFF-0DB8-7EB5-1199958373B5}"/>
                    </a:ext>
                  </a:extLst>
                </p:cNvPr>
                <p:cNvSpPr/>
                <p:nvPr/>
              </p:nvSpPr>
              <p:spPr>
                <a:xfrm>
                  <a:off x="6872339" y="3910421"/>
                  <a:ext cx="101600" cy="12700"/>
                </a:xfrm>
                <a:custGeom>
                  <a:avLst/>
                  <a:gdLst>
                    <a:gd name="connsiteX0" fmla="*/ 102115 w 101600"/>
                    <a:gd name="connsiteY0" fmla="*/ 182 h 12700"/>
                    <a:gd name="connsiteX1" fmla="*/ 515 w 101600"/>
                    <a:gd name="connsiteY1" fmla="*/ 182 h 12700"/>
                  </a:gdLst>
                  <a:ahLst/>
                  <a:cxnLst>
                    <a:cxn ang="0">
                      <a:pos x="connsiteX0" y="connsiteY0"/>
                    </a:cxn>
                    <a:cxn ang="0">
                      <a:pos x="connsiteX1" y="connsiteY1"/>
                    </a:cxn>
                  </a:cxnLst>
                  <a:rect l="l" t="t" r="r" b="b"/>
                  <a:pathLst>
                    <a:path w="101600" h="12700">
                      <a:moveTo>
                        <a:pt x="102115" y="182"/>
                      </a:moveTo>
                      <a:lnTo>
                        <a:pt x="515" y="182"/>
                      </a:lnTo>
                    </a:path>
                  </a:pathLst>
                </a:custGeom>
                <a:solidFill>
                  <a:srgbClr val="FF0000"/>
                </a:solidFill>
                <a:ln w="12700" cap="flat">
                  <a:solidFill>
                    <a:srgbClr val="FF0000"/>
                  </a:solidFill>
                  <a:prstDash val="dash"/>
                  <a:round/>
                </a:ln>
              </p:spPr>
              <p:txBody>
                <a:bodyPr rtlCol="0" anchor="ctr"/>
                <a:lstStyle/>
                <a:p>
                  <a:endParaRPr lang="en-US"/>
                </a:p>
              </p:txBody>
            </p:sp>
            <p:sp>
              <p:nvSpPr>
                <p:cNvPr id="187" name="フリーフォーム: 図形 186">
                  <a:extLst>
                    <a:ext uri="{FF2B5EF4-FFF2-40B4-BE49-F238E27FC236}">
                      <a16:creationId xmlns:a16="http://schemas.microsoft.com/office/drawing/2014/main" id="{8E0412C6-D939-5BF2-CFA5-8D94CB70AF07}"/>
                    </a:ext>
                  </a:extLst>
                </p:cNvPr>
                <p:cNvSpPr/>
                <p:nvPr/>
              </p:nvSpPr>
              <p:spPr>
                <a:xfrm>
                  <a:off x="7566622" y="3767724"/>
                  <a:ext cx="101600" cy="12700"/>
                </a:xfrm>
                <a:custGeom>
                  <a:avLst/>
                  <a:gdLst>
                    <a:gd name="connsiteX0" fmla="*/ 102170 w 101600"/>
                    <a:gd name="connsiteY0" fmla="*/ 171 h 12700"/>
                    <a:gd name="connsiteX1" fmla="*/ 570 w 101600"/>
                    <a:gd name="connsiteY1" fmla="*/ 171 h 12700"/>
                  </a:gdLst>
                  <a:ahLst/>
                  <a:cxnLst>
                    <a:cxn ang="0">
                      <a:pos x="connsiteX0" y="connsiteY0"/>
                    </a:cxn>
                    <a:cxn ang="0">
                      <a:pos x="connsiteX1" y="connsiteY1"/>
                    </a:cxn>
                  </a:cxnLst>
                  <a:rect l="l" t="t" r="r" b="b"/>
                  <a:pathLst>
                    <a:path w="101600" h="12700">
                      <a:moveTo>
                        <a:pt x="102170" y="171"/>
                      </a:moveTo>
                      <a:lnTo>
                        <a:pt x="570" y="171"/>
                      </a:lnTo>
                    </a:path>
                  </a:pathLst>
                </a:custGeom>
                <a:solidFill>
                  <a:srgbClr val="FF0000"/>
                </a:solidFill>
                <a:ln w="12700" cap="flat">
                  <a:solidFill>
                    <a:srgbClr val="FF0000"/>
                  </a:solidFill>
                  <a:prstDash val="dash"/>
                  <a:round/>
                </a:ln>
              </p:spPr>
              <p:txBody>
                <a:bodyPr rtlCol="0" anchor="ctr"/>
                <a:lstStyle/>
                <a:p>
                  <a:endParaRPr lang="en-US"/>
                </a:p>
              </p:txBody>
            </p:sp>
            <p:sp>
              <p:nvSpPr>
                <p:cNvPr id="188" name="フリーフォーム: 図形 187">
                  <a:extLst>
                    <a:ext uri="{FF2B5EF4-FFF2-40B4-BE49-F238E27FC236}">
                      <a16:creationId xmlns:a16="http://schemas.microsoft.com/office/drawing/2014/main" id="{67F24B69-EC93-94E4-19D9-CD7BA73036DE}"/>
                    </a:ext>
                  </a:extLst>
                </p:cNvPr>
                <p:cNvSpPr/>
                <p:nvPr/>
              </p:nvSpPr>
              <p:spPr>
                <a:xfrm>
                  <a:off x="8260906" y="3788286"/>
                  <a:ext cx="101600" cy="12700"/>
                </a:xfrm>
                <a:custGeom>
                  <a:avLst/>
                  <a:gdLst>
                    <a:gd name="connsiteX0" fmla="*/ 102224 w 101600"/>
                    <a:gd name="connsiteY0" fmla="*/ 172 h 12700"/>
                    <a:gd name="connsiteX1" fmla="*/ 624 w 101600"/>
                    <a:gd name="connsiteY1" fmla="*/ 172 h 12700"/>
                  </a:gdLst>
                  <a:ahLst/>
                  <a:cxnLst>
                    <a:cxn ang="0">
                      <a:pos x="connsiteX0" y="connsiteY0"/>
                    </a:cxn>
                    <a:cxn ang="0">
                      <a:pos x="connsiteX1" y="connsiteY1"/>
                    </a:cxn>
                  </a:cxnLst>
                  <a:rect l="l" t="t" r="r" b="b"/>
                  <a:pathLst>
                    <a:path w="101600" h="12700">
                      <a:moveTo>
                        <a:pt x="102224" y="172"/>
                      </a:moveTo>
                      <a:lnTo>
                        <a:pt x="624" y="172"/>
                      </a:lnTo>
                    </a:path>
                  </a:pathLst>
                </a:custGeom>
                <a:solidFill>
                  <a:srgbClr val="FF0000"/>
                </a:solidFill>
                <a:ln w="12700" cap="flat">
                  <a:solidFill>
                    <a:srgbClr val="FF0000"/>
                  </a:solidFill>
                  <a:prstDash val="dash"/>
                  <a:round/>
                </a:ln>
              </p:spPr>
              <p:txBody>
                <a:bodyPr rtlCol="0" anchor="ctr"/>
                <a:lstStyle/>
                <a:p>
                  <a:endParaRPr lang="en-US"/>
                </a:p>
              </p:txBody>
            </p:sp>
            <p:sp>
              <p:nvSpPr>
                <p:cNvPr id="189" name="フリーフォーム: 図形 188">
                  <a:extLst>
                    <a:ext uri="{FF2B5EF4-FFF2-40B4-BE49-F238E27FC236}">
                      <a16:creationId xmlns:a16="http://schemas.microsoft.com/office/drawing/2014/main" id="{DCA0DAF4-ED17-0082-A0C8-0C87DC7070DE}"/>
                    </a:ext>
                  </a:extLst>
                </p:cNvPr>
                <p:cNvSpPr/>
                <p:nvPr/>
              </p:nvSpPr>
              <p:spPr>
                <a:xfrm>
                  <a:off x="8955190" y="3623325"/>
                  <a:ext cx="101600" cy="12700"/>
                </a:xfrm>
                <a:custGeom>
                  <a:avLst/>
                  <a:gdLst>
                    <a:gd name="connsiteX0" fmla="*/ 102279 w 101600"/>
                    <a:gd name="connsiteY0" fmla="*/ 159 h 12700"/>
                    <a:gd name="connsiteX1" fmla="*/ 679 w 101600"/>
                    <a:gd name="connsiteY1" fmla="*/ 159 h 12700"/>
                  </a:gdLst>
                  <a:ahLst/>
                  <a:cxnLst>
                    <a:cxn ang="0">
                      <a:pos x="connsiteX0" y="connsiteY0"/>
                    </a:cxn>
                    <a:cxn ang="0">
                      <a:pos x="connsiteX1" y="connsiteY1"/>
                    </a:cxn>
                  </a:cxnLst>
                  <a:rect l="l" t="t" r="r" b="b"/>
                  <a:pathLst>
                    <a:path w="101600" h="12700">
                      <a:moveTo>
                        <a:pt x="102279" y="159"/>
                      </a:moveTo>
                      <a:lnTo>
                        <a:pt x="679" y="159"/>
                      </a:lnTo>
                    </a:path>
                  </a:pathLst>
                </a:custGeom>
                <a:solidFill>
                  <a:srgbClr val="FF0000"/>
                </a:solidFill>
                <a:ln w="12700" cap="flat">
                  <a:solidFill>
                    <a:srgbClr val="FF0000"/>
                  </a:solidFill>
                  <a:prstDash val="dash"/>
                  <a:round/>
                </a:ln>
              </p:spPr>
              <p:txBody>
                <a:bodyPr rtlCol="0" anchor="ctr"/>
                <a:lstStyle/>
                <a:p>
                  <a:endParaRPr lang="en-US"/>
                </a:p>
              </p:txBody>
            </p:sp>
          </p:grpSp>
          <p:grpSp>
            <p:nvGrpSpPr>
              <p:cNvPr id="190" name="グラフィックス 2">
                <a:extLst>
                  <a:ext uri="{FF2B5EF4-FFF2-40B4-BE49-F238E27FC236}">
                    <a16:creationId xmlns:a16="http://schemas.microsoft.com/office/drawing/2014/main" id="{0243C640-0F7C-2153-5225-54CFCB03C3A4}"/>
                  </a:ext>
                </a:extLst>
              </p:cNvPr>
              <p:cNvGrpSpPr/>
              <p:nvPr/>
            </p:nvGrpSpPr>
            <p:grpSpPr>
              <a:xfrm>
                <a:off x="1318099" y="2490560"/>
                <a:ext cx="7738691" cy="625146"/>
                <a:chOff x="1318099" y="2490560"/>
                <a:chExt cx="7738691" cy="625146"/>
              </a:xfrm>
            </p:grpSpPr>
            <p:sp>
              <p:nvSpPr>
                <p:cNvPr id="191" name="フリーフォーム: 図形 190">
                  <a:extLst>
                    <a:ext uri="{FF2B5EF4-FFF2-40B4-BE49-F238E27FC236}">
                      <a16:creationId xmlns:a16="http://schemas.microsoft.com/office/drawing/2014/main" id="{5EE188EE-FC94-66EC-7ABD-2A6219189D31}"/>
                    </a:ext>
                  </a:extLst>
                </p:cNvPr>
                <p:cNvSpPr/>
                <p:nvPr/>
              </p:nvSpPr>
              <p:spPr>
                <a:xfrm>
                  <a:off x="1318099" y="2490560"/>
                  <a:ext cx="101600" cy="12700"/>
                </a:xfrm>
                <a:custGeom>
                  <a:avLst/>
                  <a:gdLst>
                    <a:gd name="connsiteX0" fmla="*/ 101678 w 101600"/>
                    <a:gd name="connsiteY0" fmla="*/ 70 h 12700"/>
                    <a:gd name="connsiteX1" fmla="*/ 78 w 101600"/>
                    <a:gd name="connsiteY1" fmla="*/ 70 h 12700"/>
                  </a:gdLst>
                  <a:ahLst/>
                  <a:cxnLst>
                    <a:cxn ang="0">
                      <a:pos x="connsiteX0" y="connsiteY0"/>
                    </a:cxn>
                    <a:cxn ang="0">
                      <a:pos x="connsiteX1" y="connsiteY1"/>
                    </a:cxn>
                  </a:cxnLst>
                  <a:rect l="l" t="t" r="r" b="b"/>
                  <a:pathLst>
                    <a:path w="101600" h="12700">
                      <a:moveTo>
                        <a:pt x="101678" y="70"/>
                      </a:moveTo>
                      <a:lnTo>
                        <a:pt x="78" y="70"/>
                      </a:lnTo>
                    </a:path>
                  </a:pathLst>
                </a:custGeom>
                <a:solidFill>
                  <a:srgbClr val="FF0000"/>
                </a:solidFill>
                <a:ln w="12700" cap="flat">
                  <a:solidFill>
                    <a:srgbClr val="FF0000"/>
                  </a:solidFill>
                  <a:prstDash val="dash"/>
                  <a:round/>
                </a:ln>
              </p:spPr>
              <p:txBody>
                <a:bodyPr rtlCol="0" anchor="ctr"/>
                <a:lstStyle/>
                <a:p>
                  <a:endParaRPr lang="en-US"/>
                </a:p>
              </p:txBody>
            </p:sp>
            <p:sp>
              <p:nvSpPr>
                <p:cNvPr id="192" name="フリーフォーム: 図形 191">
                  <a:extLst>
                    <a:ext uri="{FF2B5EF4-FFF2-40B4-BE49-F238E27FC236}">
                      <a16:creationId xmlns:a16="http://schemas.microsoft.com/office/drawing/2014/main" id="{419307C0-2C05-0969-D88C-02B91AA5C8E5}"/>
                    </a:ext>
                  </a:extLst>
                </p:cNvPr>
                <p:cNvSpPr/>
                <p:nvPr/>
              </p:nvSpPr>
              <p:spPr>
                <a:xfrm>
                  <a:off x="2012379" y="2882699"/>
                  <a:ext cx="101600" cy="12700"/>
                </a:xfrm>
                <a:custGeom>
                  <a:avLst/>
                  <a:gdLst>
                    <a:gd name="connsiteX0" fmla="*/ 101732 w 101600"/>
                    <a:gd name="connsiteY0" fmla="*/ 101 h 12700"/>
                    <a:gd name="connsiteX1" fmla="*/ 132 w 101600"/>
                    <a:gd name="connsiteY1" fmla="*/ 101 h 12700"/>
                  </a:gdLst>
                  <a:ahLst/>
                  <a:cxnLst>
                    <a:cxn ang="0">
                      <a:pos x="connsiteX0" y="connsiteY0"/>
                    </a:cxn>
                    <a:cxn ang="0">
                      <a:pos x="connsiteX1" y="connsiteY1"/>
                    </a:cxn>
                  </a:cxnLst>
                  <a:rect l="l" t="t" r="r" b="b"/>
                  <a:pathLst>
                    <a:path w="101600" h="12700">
                      <a:moveTo>
                        <a:pt x="101732" y="101"/>
                      </a:moveTo>
                      <a:lnTo>
                        <a:pt x="132" y="101"/>
                      </a:lnTo>
                    </a:path>
                  </a:pathLst>
                </a:custGeom>
                <a:solidFill>
                  <a:srgbClr val="FF0000"/>
                </a:solidFill>
                <a:ln w="12700" cap="flat">
                  <a:solidFill>
                    <a:srgbClr val="FF0000"/>
                  </a:solidFill>
                  <a:prstDash val="dash"/>
                  <a:round/>
                </a:ln>
              </p:spPr>
              <p:txBody>
                <a:bodyPr rtlCol="0" anchor="ctr"/>
                <a:lstStyle/>
                <a:p>
                  <a:endParaRPr lang="en-US"/>
                </a:p>
              </p:txBody>
            </p:sp>
            <p:sp>
              <p:nvSpPr>
                <p:cNvPr id="193" name="フリーフォーム: 図形 192">
                  <a:extLst>
                    <a:ext uri="{FF2B5EF4-FFF2-40B4-BE49-F238E27FC236}">
                      <a16:creationId xmlns:a16="http://schemas.microsoft.com/office/drawing/2014/main" id="{5FEF52E0-D027-38F6-E81E-8B191978ACFA}"/>
                    </a:ext>
                  </a:extLst>
                </p:cNvPr>
                <p:cNvSpPr/>
                <p:nvPr/>
              </p:nvSpPr>
              <p:spPr>
                <a:xfrm>
                  <a:off x="2706663" y="2859810"/>
                  <a:ext cx="101600" cy="12700"/>
                </a:xfrm>
                <a:custGeom>
                  <a:avLst/>
                  <a:gdLst>
                    <a:gd name="connsiteX0" fmla="*/ 101787 w 101600"/>
                    <a:gd name="connsiteY0" fmla="*/ 99 h 12700"/>
                    <a:gd name="connsiteX1" fmla="*/ 187 w 101600"/>
                    <a:gd name="connsiteY1" fmla="*/ 99 h 12700"/>
                  </a:gdLst>
                  <a:ahLst/>
                  <a:cxnLst>
                    <a:cxn ang="0">
                      <a:pos x="connsiteX0" y="connsiteY0"/>
                    </a:cxn>
                    <a:cxn ang="0">
                      <a:pos x="connsiteX1" y="connsiteY1"/>
                    </a:cxn>
                  </a:cxnLst>
                  <a:rect l="l" t="t" r="r" b="b"/>
                  <a:pathLst>
                    <a:path w="101600" h="12700">
                      <a:moveTo>
                        <a:pt x="101787" y="99"/>
                      </a:moveTo>
                      <a:lnTo>
                        <a:pt x="187" y="99"/>
                      </a:lnTo>
                    </a:path>
                  </a:pathLst>
                </a:custGeom>
                <a:solidFill>
                  <a:srgbClr val="FF0000"/>
                </a:solidFill>
                <a:ln w="12700" cap="flat">
                  <a:solidFill>
                    <a:srgbClr val="FF0000"/>
                  </a:solidFill>
                  <a:prstDash val="dash"/>
                  <a:round/>
                </a:ln>
              </p:spPr>
              <p:txBody>
                <a:bodyPr rtlCol="0" anchor="ctr"/>
                <a:lstStyle/>
                <a:p>
                  <a:endParaRPr lang="en-US"/>
                </a:p>
              </p:txBody>
            </p:sp>
            <p:sp>
              <p:nvSpPr>
                <p:cNvPr id="194" name="フリーフォーム: 図形 193">
                  <a:extLst>
                    <a:ext uri="{FF2B5EF4-FFF2-40B4-BE49-F238E27FC236}">
                      <a16:creationId xmlns:a16="http://schemas.microsoft.com/office/drawing/2014/main" id="{DA8131FA-4948-0A96-B30B-9BCF43D7AE15}"/>
                    </a:ext>
                  </a:extLst>
                </p:cNvPr>
                <p:cNvSpPr/>
                <p:nvPr/>
              </p:nvSpPr>
              <p:spPr>
                <a:xfrm>
                  <a:off x="3400946" y="2966443"/>
                  <a:ext cx="101600" cy="12700"/>
                </a:xfrm>
                <a:custGeom>
                  <a:avLst/>
                  <a:gdLst>
                    <a:gd name="connsiteX0" fmla="*/ 101842 w 101600"/>
                    <a:gd name="connsiteY0" fmla="*/ 108 h 12700"/>
                    <a:gd name="connsiteX1" fmla="*/ 242 w 101600"/>
                    <a:gd name="connsiteY1" fmla="*/ 108 h 12700"/>
                  </a:gdLst>
                  <a:ahLst/>
                  <a:cxnLst>
                    <a:cxn ang="0">
                      <a:pos x="connsiteX0" y="connsiteY0"/>
                    </a:cxn>
                    <a:cxn ang="0">
                      <a:pos x="connsiteX1" y="connsiteY1"/>
                    </a:cxn>
                  </a:cxnLst>
                  <a:rect l="l" t="t" r="r" b="b"/>
                  <a:pathLst>
                    <a:path w="101600" h="12700">
                      <a:moveTo>
                        <a:pt x="101842" y="108"/>
                      </a:moveTo>
                      <a:lnTo>
                        <a:pt x="242" y="108"/>
                      </a:lnTo>
                    </a:path>
                  </a:pathLst>
                </a:custGeom>
                <a:solidFill>
                  <a:srgbClr val="FF0000"/>
                </a:solidFill>
                <a:ln w="12700" cap="flat">
                  <a:solidFill>
                    <a:srgbClr val="FF0000"/>
                  </a:solidFill>
                  <a:prstDash val="dash"/>
                  <a:round/>
                </a:ln>
              </p:spPr>
              <p:txBody>
                <a:bodyPr rtlCol="0" anchor="ctr"/>
                <a:lstStyle/>
                <a:p>
                  <a:endParaRPr lang="en-US"/>
                </a:p>
              </p:txBody>
            </p:sp>
            <p:sp>
              <p:nvSpPr>
                <p:cNvPr id="195" name="フリーフォーム: 図形 194">
                  <a:extLst>
                    <a:ext uri="{FF2B5EF4-FFF2-40B4-BE49-F238E27FC236}">
                      <a16:creationId xmlns:a16="http://schemas.microsoft.com/office/drawing/2014/main" id="{5F488002-AC80-28DF-879E-6CFAA7AE0976}"/>
                    </a:ext>
                  </a:extLst>
                </p:cNvPr>
                <p:cNvSpPr/>
                <p:nvPr/>
              </p:nvSpPr>
              <p:spPr>
                <a:xfrm>
                  <a:off x="4095217" y="2977492"/>
                  <a:ext cx="101600" cy="12700"/>
                </a:xfrm>
                <a:custGeom>
                  <a:avLst/>
                  <a:gdLst>
                    <a:gd name="connsiteX0" fmla="*/ 101896 w 101600"/>
                    <a:gd name="connsiteY0" fmla="*/ 108 h 12700"/>
                    <a:gd name="connsiteX1" fmla="*/ 296 w 101600"/>
                    <a:gd name="connsiteY1" fmla="*/ 108 h 12700"/>
                  </a:gdLst>
                  <a:ahLst/>
                  <a:cxnLst>
                    <a:cxn ang="0">
                      <a:pos x="connsiteX0" y="connsiteY0"/>
                    </a:cxn>
                    <a:cxn ang="0">
                      <a:pos x="connsiteX1" y="connsiteY1"/>
                    </a:cxn>
                  </a:cxnLst>
                  <a:rect l="l" t="t" r="r" b="b"/>
                  <a:pathLst>
                    <a:path w="101600" h="12700">
                      <a:moveTo>
                        <a:pt x="101896" y="108"/>
                      </a:moveTo>
                      <a:lnTo>
                        <a:pt x="296" y="108"/>
                      </a:lnTo>
                    </a:path>
                  </a:pathLst>
                </a:custGeom>
                <a:solidFill>
                  <a:srgbClr val="FF0000"/>
                </a:solidFill>
                <a:ln w="12700" cap="flat">
                  <a:solidFill>
                    <a:srgbClr val="FF0000"/>
                  </a:solidFill>
                  <a:prstDash val="dash"/>
                  <a:round/>
                </a:ln>
              </p:spPr>
              <p:txBody>
                <a:bodyPr rtlCol="0" anchor="ctr"/>
                <a:lstStyle/>
                <a:p>
                  <a:endParaRPr lang="en-US"/>
                </a:p>
              </p:txBody>
            </p:sp>
            <p:sp>
              <p:nvSpPr>
                <p:cNvPr id="196" name="フリーフォーム: 図形 195">
                  <a:extLst>
                    <a:ext uri="{FF2B5EF4-FFF2-40B4-BE49-F238E27FC236}">
                      <a16:creationId xmlns:a16="http://schemas.microsoft.com/office/drawing/2014/main" id="{D26FE871-8373-A6D7-EBB2-25EFC5A3F637}"/>
                    </a:ext>
                  </a:extLst>
                </p:cNvPr>
                <p:cNvSpPr/>
                <p:nvPr/>
              </p:nvSpPr>
              <p:spPr>
                <a:xfrm>
                  <a:off x="4789501" y="3031734"/>
                  <a:ext cx="101600" cy="12700"/>
                </a:xfrm>
                <a:custGeom>
                  <a:avLst/>
                  <a:gdLst>
                    <a:gd name="connsiteX0" fmla="*/ 101951 w 101600"/>
                    <a:gd name="connsiteY0" fmla="*/ 113 h 12700"/>
                    <a:gd name="connsiteX1" fmla="*/ 351 w 101600"/>
                    <a:gd name="connsiteY1" fmla="*/ 113 h 12700"/>
                  </a:gdLst>
                  <a:ahLst/>
                  <a:cxnLst>
                    <a:cxn ang="0">
                      <a:pos x="connsiteX0" y="connsiteY0"/>
                    </a:cxn>
                    <a:cxn ang="0">
                      <a:pos x="connsiteX1" y="connsiteY1"/>
                    </a:cxn>
                  </a:cxnLst>
                  <a:rect l="l" t="t" r="r" b="b"/>
                  <a:pathLst>
                    <a:path w="101600" h="12700">
                      <a:moveTo>
                        <a:pt x="101951" y="113"/>
                      </a:moveTo>
                      <a:lnTo>
                        <a:pt x="351" y="113"/>
                      </a:lnTo>
                    </a:path>
                  </a:pathLst>
                </a:custGeom>
                <a:solidFill>
                  <a:srgbClr val="FF0000"/>
                </a:solidFill>
                <a:ln w="12700" cap="flat">
                  <a:solidFill>
                    <a:srgbClr val="FF0000"/>
                  </a:solidFill>
                  <a:prstDash val="dash"/>
                  <a:round/>
                </a:ln>
              </p:spPr>
              <p:txBody>
                <a:bodyPr rtlCol="0" anchor="ctr"/>
                <a:lstStyle/>
                <a:p>
                  <a:endParaRPr lang="en-US"/>
                </a:p>
              </p:txBody>
            </p:sp>
            <p:sp>
              <p:nvSpPr>
                <p:cNvPr id="197" name="フリーフォーム: 図形 196">
                  <a:extLst>
                    <a:ext uri="{FF2B5EF4-FFF2-40B4-BE49-F238E27FC236}">
                      <a16:creationId xmlns:a16="http://schemas.microsoft.com/office/drawing/2014/main" id="{86D39613-3EFC-ED79-046B-8C24AFC66D5A}"/>
                    </a:ext>
                  </a:extLst>
                </p:cNvPr>
                <p:cNvSpPr/>
                <p:nvPr/>
              </p:nvSpPr>
              <p:spPr>
                <a:xfrm>
                  <a:off x="5483784" y="3103006"/>
                  <a:ext cx="101600" cy="12700"/>
                </a:xfrm>
                <a:custGeom>
                  <a:avLst/>
                  <a:gdLst>
                    <a:gd name="connsiteX0" fmla="*/ 102006 w 101600"/>
                    <a:gd name="connsiteY0" fmla="*/ 118 h 12700"/>
                    <a:gd name="connsiteX1" fmla="*/ 406 w 101600"/>
                    <a:gd name="connsiteY1" fmla="*/ 118 h 12700"/>
                  </a:gdLst>
                  <a:ahLst/>
                  <a:cxnLst>
                    <a:cxn ang="0">
                      <a:pos x="connsiteX0" y="connsiteY0"/>
                    </a:cxn>
                    <a:cxn ang="0">
                      <a:pos x="connsiteX1" y="connsiteY1"/>
                    </a:cxn>
                  </a:cxnLst>
                  <a:rect l="l" t="t" r="r" b="b"/>
                  <a:pathLst>
                    <a:path w="101600" h="12700">
                      <a:moveTo>
                        <a:pt x="102006" y="118"/>
                      </a:moveTo>
                      <a:lnTo>
                        <a:pt x="406" y="118"/>
                      </a:lnTo>
                    </a:path>
                  </a:pathLst>
                </a:custGeom>
                <a:solidFill>
                  <a:srgbClr val="FF0000"/>
                </a:solidFill>
                <a:ln w="12700" cap="flat">
                  <a:solidFill>
                    <a:srgbClr val="FF0000"/>
                  </a:solidFill>
                  <a:prstDash val="dash"/>
                  <a:round/>
                </a:ln>
              </p:spPr>
              <p:txBody>
                <a:bodyPr rtlCol="0" anchor="ctr"/>
                <a:lstStyle/>
                <a:p>
                  <a:endParaRPr lang="en-US"/>
                </a:p>
              </p:txBody>
            </p:sp>
            <p:sp>
              <p:nvSpPr>
                <p:cNvPr id="198" name="フリーフォーム: 図形 197">
                  <a:extLst>
                    <a:ext uri="{FF2B5EF4-FFF2-40B4-BE49-F238E27FC236}">
                      <a16:creationId xmlns:a16="http://schemas.microsoft.com/office/drawing/2014/main" id="{30D0A8E0-493F-B9B9-C3B3-6604AAA8B17B}"/>
                    </a:ext>
                  </a:extLst>
                </p:cNvPr>
                <p:cNvSpPr/>
                <p:nvPr/>
              </p:nvSpPr>
              <p:spPr>
                <a:xfrm>
                  <a:off x="6178068" y="3010817"/>
                  <a:ext cx="101600" cy="12700"/>
                </a:xfrm>
                <a:custGeom>
                  <a:avLst/>
                  <a:gdLst>
                    <a:gd name="connsiteX0" fmla="*/ 102060 w 101600"/>
                    <a:gd name="connsiteY0" fmla="*/ 111 h 12700"/>
                    <a:gd name="connsiteX1" fmla="*/ 460 w 101600"/>
                    <a:gd name="connsiteY1" fmla="*/ 111 h 12700"/>
                  </a:gdLst>
                  <a:ahLst/>
                  <a:cxnLst>
                    <a:cxn ang="0">
                      <a:pos x="connsiteX0" y="connsiteY0"/>
                    </a:cxn>
                    <a:cxn ang="0">
                      <a:pos x="connsiteX1" y="connsiteY1"/>
                    </a:cxn>
                  </a:cxnLst>
                  <a:rect l="l" t="t" r="r" b="b"/>
                  <a:pathLst>
                    <a:path w="101600" h="12700">
                      <a:moveTo>
                        <a:pt x="102060" y="111"/>
                      </a:moveTo>
                      <a:lnTo>
                        <a:pt x="460" y="111"/>
                      </a:lnTo>
                    </a:path>
                  </a:pathLst>
                </a:custGeom>
                <a:solidFill>
                  <a:srgbClr val="FF0000"/>
                </a:solidFill>
                <a:ln w="12700" cap="flat">
                  <a:solidFill>
                    <a:srgbClr val="FF0000"/>
                  </a:solidFill>
                  <a:prstDash val="dash"/>
                  <a:round/>
                </a:ln>
              </p:spPr>
              <p:txBody>
                <a:bodyPr rtlCol="0" anchor="ctr"/>
                <a:lstStyle/>
                <a:p>
                  <a:endParaRPr lang="en-US"/>
                </a:p>
              </p:txBody>
            </p:sp>
            <p:sp>
              <p:nvSpPr>
                <p:cNvPr id="199" name="フリーフォーム: 図形 198">
                  <a:extLst>
                    <a:ext uri="{FF2B5EF4-FFF2-40B4-BE49-F238E27FC236}">
                      <a16:creationId xmlns:a16="http://schemas.microsoft.com/office/drawing/2014/main" id="{D76221A7-FA75-9AC5-0BA3-CC5FF1133E12}"/>
                    </a:ext>
                  </a:extLst>
                </p:cNvPr>
                <p:cNvSpPr/>
                <p:nvPr/>
              </p:nvSpPr>
              <p:spPr>
                <a:xfrm>
                  <a:off x="6872339" y="2926870"/>
                  <a:ext cx="101600" cy="12700"/>
                </a:xfrm>
                <a:custGeom>
                  <a:avLst/>
                  <a:gdLst>
                    <a:gd name="connsiteX0" fmla="*/ 102115 w 101600"/>
                    <a:gd name="connsiteY0" fmla="*/ 104 h 12700"/>
                    <a:gd name="connsiteX1" fmla="*/ 515 w 101600"/>
                    <a:gd name="connsiteY1" fmla="*/ 104 h 12700"/>
                  </a:gdLst>
                  <a:ahLst/>
                  <a:cxnLst>
                    <a:cxn ang="0">
                      <a:pos x="connsiteX0" y="connsiteY0"/>
                    </a:cxn>
                    <a:cxn ang="0">
                      <a:pos x="connsiteX1" y="connsiteY1"/>
                    </a:cxn>
                  </a:cxnLst>
                  <a:rect l="l" t="t" r="r" b="b"/>
                  <a:pathLst>
                    <a:path w="101600" h="12700">
                      <a:moveTo>
                        <a:pt x="102115" y="104"/>
                      </a:moveTo>
                      <a:lnTo>
                        <a:pt x="515" y="104"/>
                      </a:lnTo>
                    </a:path>
                  </a:pathLst>
                </a:custGeom>
                <a:solidFill>
                  <a:srgbClr val="FF0000"/>
                </a:solidFill>
                <a:ln w="12700" cap="flat">
                  <a:solidFill>
                    <a:srgbClr val="FF0000"/>
                  </a:solidFill>
                  <a:prstDash val="dash"/>
                  <a:round/>
                </a:ln>
              </p:spPr>
              <p:txBody>
                <a:bodyPr rtlCol="0" anchor="ctr"/>
                <a:lstStyle/>
                <a:p>
                  <a:endParaRPr lang="en-US"/>
                </a:p>
              </p:txBody>
            </p:sp>
            <p:sp>
              <p:nvSpPr>
                <p:cNvPr id="200" name="フリーフォーム: 図形 199">
                  <a:extLst>
                    <a:ext uri="{FF2B5EF4-FFF2-40B4-BE49-F238E27FC236}">
                      <a16:creationId xmlns:a16="http://schemas.microsoft.com/office/drawing/2014/main" id="{6AA68321-6149-9C69-6D9A-930C089EC5FD}"/>
                    </a:ext>
                  </a:extLst>
                </p:cNvPr>
                <p:cNvSpPr/>
                <p:nvPr/>
              </p:nvSpPr>
              <p:spPr>
                <a:xfrm>
                  <a:off x="7566622" y="2729955"/>
                  <a:ext cx="101600" cy="12700"/>
                </a:xfrm>
                <a:custGeom>
                  <a:avLst/>
                  <a:gdLst>
                    <a:gd name="connsiteX0" fmla="*/ 102170 w 101600"/>
                    <a:gd name="connsiteY0" fmla="*/ 89 h 12700"/>
                    <a:gd name="connsiteX1" fmla="*/ 570 w 101600"/>
                    <a:gd name="connsiteY1" fmla="*/ 89 h 12700"/>
                  </a:gdLst>
                  <a:ahLst/>
                  <a:cxnLst>
                    <a:cxn ang="0">
                      <a:pos x="connsiteX0" y="connsiteY0"/>
                    </a:cxn>
                    <a:cxn ang="0">
                      <a:pos x="connsiteX1" y="connsiteY1"/>
                    </a:cxn>
                  </a:cxnLst>
                  <a:rect l="l" t="t" r="r" b="b"/>
                  <a:pathLst>
                    <a:path w="101600" h="12700">
                      <a:moveTo>
                        <a:pt x="102170" y="89"/>
                      </a:moveTo>
                      <a:lnTo>
                        <a:pt x="570" y="89"/>
                      </a:lnTo>
                    </a:path>
                  </a:pathLst>
                </a:custGeom>
                <a:solidFill>
                  <a:srgbClr val="FF0000"/>
                </a:solidFill>
                <a:ln w="12700" cap="flat">
                  <a:solidFill>
                    <a:srgbClr val="FF0000"/>
                  </a:solidFill>
                  <a:prstDash val="dash"/>
                  <a:round/>
                </a:ln>
              </p:spPr>
              <p:txBody>
                <a:bodyPr rtlCol="0" anchor="ctr"/>
                <a:lstStyle/>
                <a:p>
                  <a:endParaRPr lang="en-US"/>
                </a:p>
              </p:txBody>
            </p:sp>
            <p:sp>
              <p:nvSpPr>
                <p:cNvPr id="201" name="フリーフォーム: 図形 200">
                  <a:extLst>
                    <a:ext uri="{FF2B5EF4-FFF2-40B4-BE49-F238E27FC236}">
                      <a16:creationId xmlns:a16="http://schemas.microsoft.com/office/drawing/2014/main" id="{A57CCC68-FA64-F1BB-7FF3-91BE853AE874}"/>
                    </a:ext>
                  </a:extLst>
                </p:cNvPr>
                <p:cNvSpPr/>
                <p:nvPr/>
              </p:nvSpPr>
              <p:spPr>
                <a:xfrm>
                  <a:off x="8260906" y="2693977"/>
                  <a:ext cx="101600" cy="12700"/>
                </a:xfrm>
                <a:custGeom>
                  <a:avLst/>
                  <a:gdLst>
                    <a:gd name="connsiteX0" fmla="*/ 102224 w 101600"/>
                    <a:gd name="connsiteY0" fmla="*/ 86 h 12700"/>
                    <a:gd name="connsiteX1" fmla="*/ 624 w 101600"/>
                    <a:gd name="connsiteY1" fmla="*/ 86 h 12700"/>
                  </a:gdLst>
                  <a:ahLst/>
                  <a:cxnLst>
                    <a:cxn ang="0">
                      <a:pos x="connsiteX0" y="connsiteY0"/>
                    </a:cxn>
                    <a:cxn ang="0">
                      <a:pos x="connsiteX1" y="connsiteY1"/>
                    </a:cxn>
                  </a:cxnLst>
                  <a:rect l="l" t="t" r="r" b="b"/>
                  <a:pathLst>
                    <a:path w="101600" h="12700">
                      <a:moveTo>
                        <a:pt x="102224" y="86"/>
                      </a:moveTo>
                      <a:lnTo>
                        <a:pt x="624" y="86"/>
                      </a:lnTo>
                    </a:path>
                  </a:pathLst>
                </a:custGeom>
                <a:solidFill>
                  <a:srgbClr val="FF0000"/>
                </a:solidFill>
                <a:ln w="12700" cap="flat">
                  <a:solidFill>
                    <a:srgbClr val="FF0000"/>
                  </a:solidFill>
                  <a:prstDash val="dash"/>
                  <a:round/>
                </a:ln>
              </p:spPr>
              <p:txBody>
                <a:bodyPr rtlCol="0" anchor="ctr"/>
                <a:lstStyle/>
                <a:p>
                  <a:endParaRPr lang="en-US"/>
                </a:p>
              </p:txBody>
            </p:sp>
            <p:sp>
              <p:nvSpPr>
                <p:cNvPr id="202" name="フリーフォーム: 図形 201">
                  <a:extLst>
                    <a:ext uri="{FF2B5EF4-FFF2-40B4-BE49-F238E27FC236}">
                      <a16:creationId xmlns:a16="http://schemas.microsoft.com/office/drawing/2014/main" id="{0DE49955-AB32-D748-102E-119778D5980B}"/>
                    </a:ext>
                  </a:extLst>
                </p:cNvPr>
                <p:cNvSpPr/>
                <p:nvPr/>
              </p:nvSpPr>
              <p:spPr>
                <a:xfrm>
                  <a:off x="8955190" y="2579464"/>
                  <a:ext cx="101600" cy="12700"/>
                </a:xfrm>
                <a:custGeom>
                  <a:avLst/>
                  <a:gdLst>
                    <a:gd name="connsiteX0" fmla="*/ 102279 w 101600"/>
                    <a:gd name="connsiteY0" fmla="*/ 77 h 12700"/>
                    <a:gd name="connsiteX1" fmla="*/ 679 w 101600"/>
                    <a:gd name="connsiteY1" fmla="*/ 77 h 12700"/>
                  </a:gdLst>
                  <a:ahLst/>
                  <a:cxnLst>
                    <a:cxn ang="0">
                      <a:pos x="connsiteX0" y="connsiteY0"/>
                    </a:cxn>
                    <a:cxn ang="0">
                      <a:pos x="connsiteX1" y="connsiteY1"/>
                    </a:cxn>
                  </a:cxnLst>
                  <a:rect l="l" t="t" r="r" b="b"/>
                  <a:pathLst>
                    <a:path w="101600" h="12700">
                      <a:moveTo>
                        <a:pt x="102279" y="77"/>
                      </a:moveTo>
                      <a:lnTo>
                        <a:pt x="679" y="77"/>
                      </a:lnTo>
                    </a:path>
                  </a:pathLst>
                </a:custGeom>
                <a:solidFill>
                  <a:srgbClr val="FF0000"/>
                </a:solidFill>
                <a:ln w="12700" cap="flat">
                  <a:solidFill>
                    <a:srgbClr val="FF0000"/>
                  </a:solidFill>
                  <a:prstDash val="dash"/>
                  <a:round/>
                </a:ln>
              </p:spPr>
              <p:txBody>
                <a:bodyPr rtlCol="0" anchor="ctr"/>
                <a:lstStyle/>
                <a:p>
                  <a:endParaRPr lang="en-US"/>
                </a:p>
              </p:txBody>
            </p:sp>
          </p:grpSp>
          <p:grpSp>
            <p:nvGrpSpPr>
              <p:cNvPr id="203" name="グラフィックス 2">
                <a:extLst>
                  <a:ext uri="{FF2B5EF4-FFF2-40B4-BE49-F238E27FC236}">
                    <a16:creationId xmlns:a16="http://schemas.microsoft.com/office/drawing/2014/main" id="{08787EE5-C37E-BAF3-0C12-55099129EA5F}"/>
                  </a:ext>
                </a:extLst>
              </p:cNvPr>
              <p:cNvGrpSpPr/>
              <p:nvPr/>
            </p:nvGrpSpPr>
            <p:grpSpPr>
              <a:xfrm>
                <a:off x="1318099" y="2963789"/>
                <a:ext cx="7738691" cy="680174"/>
                <a:chOff x="1318099" y="2963789"/>
                <a:chExt cx="7738691" cy="680174"/>
              </a:xfrm>
            </p:grpSpPr>
            <p:sp>
              <p:nvSpPr>
                <p:cNvPr id="204" name="フリーフォーム: 図形 203">
                  <a:extLst>
                    <a:ext uri="{FF2B5EF4-FFF2-40B4-BE49-F238E27FC236}">
                      <a16:creationId xmlns:a16="http://schemas.microsoft.com/office/drawing/2014/main" id="{9B383EAD-0BEC-CB28-32E7-91B3C2309DFF}"/>
                    </a:ext>
                  </a:extLst>
                </p:cNvPr>
                <p:cNvSpPr/>
                <p:nvPr/>
              </p:nvSpPr>
              <p:spPr>
                <a:xfrm>
                  <a:off x="1368899" y="3014589"/>
                  <a:ext cx="7637090" cy="578573"/>
                </a:xfrm>
                <a:custGeom>
                  <a:avLst/>
                  <a:gdLst>
                    <a:gd name="connsiteX0" fmla="*/ 0 w 7637090"/>
                    <a:gd name="connsiteY0" fmla="*/ 0 h 578573"/>
                    <a:gd name="connsiteX1" fmla="*/ 694280 w 7637090"/>
                    <a:gd name="connsiteY1" fmla="*/ 361925 h 578573"/>
                    <a:gd name="connsiteX2" fmla="*/ 1388563 w 7637090"/>
                    <a:gd name="connsiteY2" fmla="*/ 336944 h 578573"/>
                    <a:gd name="connsiteX3" fmla="*/ 2082847 w 7637090"/>
                    <a:gd name="connsiteY3" fmla="*/ 420256 h 578573"/>
                    <a:gd name="connsiteX4" fmla="*/ 2777118 w 7637090"/>
                    <a:gd name="connsiteY4" fmla="*/ 455003 h 578573"/>
                    <a:gd name="connsiteX5" fmla="*/ 3471402 w 7637090"/>
                    <a:gd name="connsiteY5" fmla="*/ 516369 h 578573"/>
                    <a:gd name="connsiteX6" fmla="*/ 4165685 w 7637090"/>
                    <a:gd name="connsiteY6" fmla="*/ 578574 h 578573"/>
                    <a:gd name="connsiteX7" fmla="*/ 4859969 w 7637090"/>
                    <a:gd name="connsiteY7" fmla="*/ 483273 h 578573"/>
                    <a:gd name="connsiteX8" fmla="*/ 5554240 w 7637090"/>
                    <a:gd name="connsiteY8" fmla="*/ 404051 h 578573"/>
                    <a:gd name="connsiteX9" fmla="*/ 6248523 w 7637090"/>
                    <a:gd name="connsiteY9" fmla="*/ 234251 h 578573"/>
                    <a:gd name="connsiteX10" fmla="*/ 6942807 w 7637090"/>
                    <a:gd name="connsiteY10" fmla="*/ 226543 h 578573"/>
                    <a:gd name="connsiteX11" fmla="*/ 7637091 w 7637090"/>
                    <a:gd name="connsiteY11" fmla="*/ 86804 h 578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637090" h="578573">
                      <a:moveTo>
                        <a:pt x="0" y="0"/>
                      </a:moveTo>
                      <a:lnTo>
                        <a:pt x="694280" y="361925"/>
                      </a:lnTo>
                      <a:lnTo>
                        <a:pt x="1388563" y="336944"/>
                      </a:lnTo>
                      <a:lnTo>
                        <a:pt x="2082847" y="420256"/>
                      </a:lnTo>
                      <a:lnTo>
                        <a:pt x="2777118" y="455003"/>
                      </a:lnTo>
                      <a:lnTo>
                        <a:pt x="3471402" y="516369"/>
                      </a:lnTo>
                      <a:lnTo>
                        <a:pt x="4165685" y="578574"/>
                      </a:lnTo>
                      <a:lnTo>
                        <a:pt x="4859969" y="483273"/>
                      </a:lnTo>
                      <a:lnTo>
                        <a:pt x="5554240" y="404051"/>
                      </a:lnTo>
                      <a:lnTo>
                        <a:pt x="6248523" y="234251"/>
                      </a:lnTo>
                      <a:lnTo>
                        <a:pt x="6942807" y="226543"/>
                      </a:lnTo>
                      <a:lnTo>
                        <a:pt x="7637091" y="86804"/>
                      </a:lnTo>
                    </a:path>
                  </a:pathLst>
                </a:custGeom>
                <a:noFill/>
                <a:ln w="12700" cap="sq">
                  <a:solidFill>
                    <a:srgbClr val="1F77B4"/>
                  </a:solidFill>
                  <a:prstDash val="dash"/>
                  <a:round/>
                </a:ln>
              </p:spPr>
              <p:txBody>
                <a:bodyPr rtlCol="0" anchor="ctr"/>
                <a:lstStyle/>
                <a:p>
                  <a:endParaRPr lang="en-US"/>
                </a:p>
              </p:txBody>
            </p:sp>
            <p:grpSp>
              <p:nvGrpSpPr>
                <p:cNvPr id="205" name="グラフィックス 2">
                  <a:extLst>
                    <a:ext uri="{FF2B5EF4-FFF2-40B4-BE49-F238E27FC236}">
                      <a16:creationId xmlns:a16="http://schemas.microsoft.com/office/drawing/2014/main" id="{0C851D09-2F06-2CF7-D32C-BAFD6EBD2FB2}"/>
                    </a:ext>
                  </a:extLst>
                </p:cNvPr>
                <p:cNvGrpSpPr/>
                <p:nvPr/>
              </p:nvGrpSpPr>
              <p:grpSpPr>
                <a:xfrm>
                  <a:off x="1318099" y="2963789"/>
                  <a:ext cx="7738691" cy="680174"/>
                  <a:chOff x="1318099" y="2963789"/>
                  <a:chExt cx="7738691" cy="680174"/>
                </a:xfrm>
              </p:grpSpPr>
              <p:sp>
                <p:nvSpPr>
                  <p:cNvPr id="206" name="フリーフォーム: 図形 205">
                    <a:extLst>
                      <a:ext uri="{FF2B5EF4-FFF2-40B4-BE49-F238E27FC236}">
                        <a16:creationId xmlns:a16="http://schemas.microsoft.com/office/drawing/2014/main" id="{B1E5AA54-E9AB-E643-0A12-6CBCCF7BF669}"/>
                      </a:ext>
                    </a:extLst>
                  </p:cNvPr>
                  <p:cNvSpPr/>
                  <p:nvPr/>
                </p:nvSpPr>
                <p:spPr>
                  <a:xfrm>
                    <a:off x="1318099" y="2963789"/>
                    <a:ext cx="101600" cy="101600"/>
                  </a:xfrm>
                  <a:custGeom>
                    <a:avLst/>
                    <a:gdLst>
                      <a:gd name="connsiteX0" fmla="*/ 50878 w 101600"/>
                      <a:gd name="connsiteY0" fmla="*/ 101711 h 101600"/>
                      <a:gd name="connsiteX1" fmla="*/ 86799 w 101600"/>
                      <a:gd name="connsiteY1" fmla="*/ 86832 h 101600"/>
                      <a:gd name="connsiteX2" fmla="*/ 101678 w 101600"/>
                      <a:gd name="connsiteY2" fmla="*/ 50911 h 101600"/>
                      <a:gd name="connsiteX3" fmla="*/ 86799 w 101600"/>
                      <a:gd name="connsiteY3" fmla="*/ 14990 h 101600"/>
                      <a:gd name="connsiteX4" fmla="*/ 50878 w 101600"/>
                      <a:gd name="connsiteY4" fmla="*/ 111 h 101600"/>
                      <a:gd name="connsiteX5" fmla="*/ 14957 w 101600"/>
                      <a:gd name="connsiteY5" fmla="*/ 14990 h 101600"/>
                      <a:gd name="connsiteX6" fmla="*/ 78 w 101600"/>
                      <a:gd name="connsiteY6" fmla="*/ 50911 h 101600"/>
                      <a:gd name="connsiteX7" fmla="*/ 14957 w 101600"/>
                      <a:gd name="connsiteY7" fmla="*/ 86832 h 101600"/>
                      <a:gd name="connsiteX8" fmla="*/ 50878 w 101600"/>
                      <a:gd name="connsiteY8" fmla="*/ 101711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1600" h="101600">
                        <a:moveTo>
                          <a:pt x="50878" y="101711"/>
                        </a:moveTo>
                        <a:cubicBezTo>
                          <a:pt x="64350" y="101711"/>
                          <a:pt x="77272" y="96359"/>
                          <a:pt x="86799" y="86832"/>
                        </a:cubicBezTo>
                        <a:cubicBezTo>
                          <a:pt x="96325" y="77306"/>
                          <a:pt x="101678" y="64384"/>
                          <a:pt x="101678" y="50911"/>
                        </a:cubicBezTo>
                        <a:cubicBezTo>
                          <a:pt x="101678" y="37439"/>
                          <a:pt x="96325" y="24517"/>
                          <a:pt x="86799" y="14990"/>
                        </a:cubicBezTo>
                        <a:cubicBezTo>
                          <a:pt x="77272" y="5464"/>
                          <a:pt x="64350" y="111"/>
                          <a:pt x="50878" y="111"/>
                        </a:cubicBezTo>
                        <a:cubicBezTo>
                          <a:pt x="37406" y="111"/>
                          <a:pt x="24483" y="5464"/>
                          <a:pt x="14957" y="14990"/>
                        </a:cubicBezTo>
                        <a:cubicBezTo>
                          <a:pt x="5430" y="24517"/>
                          <a:pt x="78" y="37439"/>
                          <a:pt x="78" y="50911"/>
                        </a:cubicBezTo>
                        <a:cubicBezTo>
                          <a:pt x="78" y="64384"/>
                          <a:pt x="5430" y="77306"/>
                          <a:pt x="14957" y="86832"/>
                        </a:cubicBezTo>
                        <a:cubicBezTo>
                          <a:pt x="24483" y="96359"/>
                          <a:pt x="37406" y="101711"/>
                          <a:pt x="50878" y="101711"/>
                        </a:cubicBezTo>
                        <a:close/>
                      </a:path>
                    </a:pathLst>
                  </a:custGeom>
                  <a:noFill/>
                  <a:ln w="12700" cap="flat">
                    <a:solidFill>
                      <a:srgbClr val="1F77B4"/>
                    </a:solidFill>
                    <a:prstDash val="solid"/>
                    <a:round/>
                  </a:ln>
                </p:spPr>
                <p:txBody>
                  <a:bodyPr rtlCol="0" anchor="ctr"/>
                  <a:lstStyle/>
                  <a:p>
                    <a:endParaRPr lang="en-US"/>
                  </a:p>
                </p:txBody>
              </p:sp>
              <p:sp>
                <p:nvSpPr>
                  <p:cNvPr id="207" name="フリーフォーム: 図形 206">
                    <a:extLst>
                      <a:ext uri="{FF2B5EF4-FFF2-40B4-BE49-F238E27FC236}">
                        <a16:creationId xmlns:a16="http://schemas.microsoft.com/office/drawing/2014/main" id="{2E67E0BF-8F03-832E-83A3-B4E38249CB4B}"/>
                      </a:ext>
                    </a:extLst>
                  </p:cNvPr>
                  <p:cNvSpPr/>
                  <p:nvPr/>
                </p:nvSpPr>
                <p:spPr>
                  <a:xfrm>
                    <a:off x="2012379" y="3325713"/>
                    <a:ext cx="101600" cy="101600"/>
                  </a:xfrm>
                  <a:custGeom>
                    <a:avLst/>
                    <a:gdLst>
                      <a:gd name="connsiteX0" fmla="*/ 50932 w 101600"/>
                      <a:gd name="connsiteY0" fmla="*/ 101740 h 101600"/>
                      <a:gd name="connsiteX1" fmla="*/ 86854 w 101600"/>
                      <a:gd name="connsiteY1" fmla="*/ 86861 h 101600"/>
                      <a:gd name="connsiteX2" fmla="*/ 101732 w 101600"/>
                      <a:gd name="connsiteY2" fmla="*/ 50940 h 101600"/>
                      <a:gd name="connsiteX3" fmla="*/ 86854 w 101600"/>
                      <a:gd name="connsiteY3" fmla="*/ 15019 h 101600"/>
                      <a:gd name="connsiteX4" fmla="*/ 50932 w 101600"/>
                      <a:gd name="connsiteY4" fmla="*/ 140 h 101600"/>
                      <a:gd name="connsiteX5" fmla="*/ 15011 w 101600"/>
                      <a:gd name="connsiteY5" fmla="*/ 15019 h 101600"/>
                      <a:gd name="connsiteX6" fmla="*/ 132 w 101600"/>
                      <a:gd name="connsiteY6" fmla="*/ 50940 h 101600"/>
                      <a:gd name="connsiteX7" fmla="*/ 15011 w 101600"/>
                      <a:gd name="connsiteY7" fmla="*/ 86861 h 101600"/>
                      <a:gd name="connsiteX8" fmla="*/ 50932 w 101600"/>
                      <a:gd name="connsiteY8" fmla="*/ 10174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1600" h="101600">
                        <a:moveTo>
                          <a:pt x="50932" y="101740"/>
                        </a:moveTo>
                        <a:cubicBezTo>
                          <a:pt x="64405" y="101740"/>
                          <a:pt x="77327" y="96387"/>
                          <a:pt x="86854" y="86861"/>
                        </a:cubicBezTo>
                        <a:cubicBezTo>
                          <a:pt x="96380" y="77335"/>
                          <a:pt x="101732" y="64412"/>
                          <a:pt x="101732" y="50940"/>
                        </a:cubicBezTo>
                        <a:cubicBezTo>
                          <a:pt x="101732" y="37468"/>
                          <a:pt x="96380" y="24545"/>
                          <a:pt x="86854" y="15019"/>
                        </a:cubicBezTo>
                        <a:cubicBezTo>
                          <a:pt x="77327" y="5492"/>
                          <a:pt x="64405" y="140"/>
                          <a:pt x="50932" y="140"/>
                        </a:cubicBezTo>
                        <a:cubicBezTo>
                          <a:pt x="37460" y="140"/>
                          <a:pt x="24538" y="5492"/>
                          <a:pt x="15011" y="15019"/>
                        </a:cubicBezTo>
                        <a:cubicBezTo>
                          <a:pt x="5485" y="24545"/>
                          <a:pt x="132" y="37468"/>
                          <a:pt x="132" y="50940"/>
                        </a:cubicBezTo>
                        <a:cubicBezTo>
                          <a:pt x="132" y="64412"/>
                          <a:pt x="5485" y="77335"/>
                          <a:pt x="15011" y="86861"/>
                        </a:cubicBezTo>
                        <a:cubicBezTo>
                          <a:pt x="24538" y="96387"/>
                          <a:pt x="37460" y="101740"/>
                          <a:pt x="50932" y="101740"/>
                        </a:cubicBezTo>
                        <a:close/>
                      </a:path>
                    </a:pathLst>
                  </a:custGeom>
                  <a:noFill/>
                  <a:ln w="12700" cap="flat">
                    <a:solidFill>
                      <a:srgbClr val="1F77B4"/>
                    </a:solidFill>
                    <a:prstDash val="solid"/>
                    <a:round/>
                  </a:ln>
                </p:spPr>
                <p:txBody>
                  <a:bodyPr rtlCol="0" anchor="ctr"/>
                  <a:lstStyle/>
                  <a:p>
                    <a:endParaRPr lang="en-US"/>
                  </a:p>
                </p:txBody>
              </p:sp>
              <p:sp>
                <p:nvSpPr>
                  <p:cNvPr id="208" name="フリーフォーム: 図形 207">
                    <a:extLst>
                      <a:ext uri="{FF2B5EF4-FFF2-40B4-BE49-F238E27FC236}">
                        <a16:creationId xmlns:a16="http://schemas.microsoft.com/office/drawing/2014/main" id="{5C4E7BC6-564C-D7DD-D6FA-2EF64DB95394}"/>
                      </a:ext>
                    </a:extLst>
                  </p:cNvPr>
                  <p:cNvSpPr/>
                  <p:nvPr/>
                </p:nvSpPr>
                <p:spPr>
                  <a:xfrm>
                    <a:off x="2706663" y="3300733"/>
                    <a:ext cx="101600" cy="101600"/>
                  </a:xfrm>
                  <a:custGeom>
                    <a:avLst/>
                    <a:gdLst>
                      <a:gd name="connsiteX0" fmla="*/ 50987 w 101600"/>
                      <a:gd name="connsiteY0" fmla="*/ 101738 h 101600"/>
                      <a:gd name="connsiteX1" fmla="*/ 86908 w 101600"/>
                      <a:gd name="connsiteY1" fmla="*/ 86859 h 101600"/>
                      <a:gd name="connsiteX2" fmla="*/ 101787 w 101600"/>
                      <a:gd name="connsiteY2" fmla="*/ 50938 h 101600"/>
                      <a:gd name="connsiteX3" fmla="*/ 86908 w 101600"/>
                      <a:gd name="connsiteY3" fmla="*/ 15017 h 101600"/>
                      <a:gd name="connsiteX4" fmla="*/ 50987 w 101600"/>
                      <a:gd name="connsiteY4" fmla="*/ 138 h 101600"/>
                      <a:gd name="connsiteX5" fmla="*/ 15066 w 101600"/>
                      <a:gd name="connsiteY5" fmla="*/ 15017 h 101600"/>
                      <a:gd name="connsiteX6" fmla="*/ 187 w 101600"/>
                      <a:gd name="connsiteY6" fmla="*/ 50938 h 101600"/>
                      <a:gd name="connsiteX7" fmla="*/ 15066 w 101600"/>
                      <a:gd name="connsiteY7" fmla="*/ 86859 h 101600"/>
                      <a:gd name="connsiteX8" fmla="*/ 50987 w 101600"/>
                      <a:gd name="connsiteY8" fmla="*/ 101738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1600" h="101600">
                        <a:moveTo>
                          <a:pt x="50987" y="101738"/>
                        </a:moveTo>
                        <a:cubicBezTo>
                          <a:pt x="64459" y="101738"/>
                          <a:pt x="77382" y="96385"/>
                          <a:pt x="86908" y="86859"/>
                        </a:cubicBezTo>
                        <a:cubicBezTo>
                          <a:pt x="96435" y="77333"/>
                          <a:pt x="101787" y="64410"/>
                          <a:pt x="101787" y="50938"/>
                        </a:cubicBezTo>
                        <a:cubicBezTo>
                          <a:pt x="101787" y="37466"/>
                          <a:pt x="96435" y="24543"/>
                          <a:pt x="86908" y="15017"/>
                        </a:cubicBezTo>
                        <a:cubicBezTo>
                          <a:pt x="77382" y="5490"/>
                          <a:pt x="64459" y="138"/>
                          <a:pt x="50987" y="138"/>
                        </a:cubicBezTo>
                        <a:cubicBezTo>
                          <a:pt x="37515" y="138"/>
                          <a:pt x="24592" y="5490"/>
                          <a:pt x="15066" y="15017"/>
                        </a:cubicBezTo>
                        <a:cubicBezTo>
                          <a:pt x="5540" y="24543"/>
                          <a:pt x="187" y="37466"/>
                          <a:pt x="187" y="50938"/>
                        </a:cubicBezTo>
                        <a:cubicBezTo>
                          <a:pt x="187" y="64410"/>
                          <a:pt x="5540" y="77333"/>
                          <a:pt x="15066" y="86859"/>
                        </a:cubicBezTo>
                        <a:cubicBezTo>
                          <a:pt x="24592" y="96385"/>
                          <a:pt x="37515" y="101738"/>
                          <a:pt x="50987" y="101738"/>
                        </a:cubicBezTo>
                        <a:close/>
                      </a:path>
                    </a:pathLst>
                  </a:custGeom>
                  <a:noFill/>
                  <a:ln w="12700" cap="flat">
                    <a:solidFill>
                      <a:srgbClr val="1F77B4"/>
                    </a:solidFill>
                    <a:prstDash val="solid"/>
                    <a:round/>
                  </a:ln>
                </p:spPr>
                <p:txBody>
                  <a:bodyPr rtlCol="0" anchor="ctr"/>
                  <a:lstStyle/>
                  <a:p>
                    <a:endParaRPr lang="en-US"/>
                  </a:p>
                </p:txBody>
              </p:sp>
              <p:sp>
                <p:nvSpPr>
                  <p:cNvPr id="209" name="フリーフォーム: 図形 208">
                    <a:extLst>
                      <a:ext uri="{FF2B5EF4-FFF2-40B4-BE49-F238E27FC236}">
                        <a16:creationId xmlns:a16="http://schemas.microsoft.com/office/drawing/2014/main" id="{02708772-180C-0ECE-4C27-9884F0DE75E4}"/>
                      </a:ext>
                    </a:extLst>
                  </p:cNvPr>
                  <p:cNvSpPr/>
                  <p:nvPr/>
                </p:nvSpPr>
                <p:spPr>
                  <a:xfrm>
                    <a:off x="3400946" y="3384045"/>
                    <a:ext cx="101600" cy="101600"/>
                  </a:xfrm>
                  <a:custGeom>
                    <a:avLst/>
                    <a:gdLst>
                      <a:gd name="connsiteX0" fmla="*/ 51042 w 101600"/>
                      <a:gd name="connsiteY0" fmla="*/ 101744 h 101600"/>
                      <a:gd name="connsiteX1" fmla="*/ 86963 w 101600"/>
                      <a:gd name="connsiteY1" fmla="*/ 86866 h 101600"/>
                      <a:gd name="connsiteX2" fmla="*/ 101842 w 101600"/>
                      <a:gd name="connsiteY2" fmla="*/ 50944 h 101600"/>
                      <a:gd name="connsiteX3" fmla="*/ 86963 w 101600"/>
                      <a:gd name="connsiteY3" fmla="*/ 15023 h 101600"/>
                      <a:gd name="connsiteX4" fmla="*/ 51042 w 101600"/>
                      <a:gd name="connsiteY4" fmla="*/ 144 h 101600"/>
                      <a:gd name="connsiteX5" fmla="*/ 15121 w 101600"/>
                      <a:gd name="connsiteY5" fmla="*/ 15023 h 101600"/>
                      <a:gd name="connsiteX6" fmla="*/ 242 w 101600"/>
                      <a:gd name="connsiteY6" fmla="*/ 50944 h 101600"/>
                      <a:gd name="connsiteX7" fmla="*/ 15121 w 101600"/>
                      <a:gd name="connsiteY7" fmla="*/ 86866 h 101600"/>
                      <a:gd name="connsiteX8" fmla="*/ 51042 w 101600"/>
                      <a:gd name="connsiteY8" fmla="*/ 101744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1600" h="101600">
                        <a:moveTo>
                          <a:pt x="51042" y="101744"/>
                        </a:moveTo>
                        <a:cubicBezTo>
                          <a:pt x="64514" y="101744"/>
                          <a:pt x="77436" y="96392"/>
                          <a:pt x="86963" y="86866"/>
                        </a:cubicBezTo>
                        <a:cubicBezTo>
                          <a:pt x="96489" y="77339"/>
                          <a:pt x="101842" y="64417"/>
                          <a:pt x="101842" y="50944"/>
                        </a:cubicBezTo>
                        <a:cubicBezTo>
                          <a:pt x="101842" y="37472"/>
                          <a:pt x="96489" y="24550"/>
                          <a:pt x="86963" y="15023"/>
                        </a:cubicBezTo>
                        <a:cubicBezTo>
                          <a:pt x="77436" y="5497"/>
                          <a:pt x="64514" y="144"/>
                          <a:pt x="51042" y="144"/>
                        </a:cubicBezTo>
                        <a:cubicBezTo>
                          <a:pt x="37570" y="144"/>
                          <a:pt x="24647" y="5497"/>
                          <a:pt x="15121" y="15023"/>
                        </a:cubicBezTo>
                        <a:cubicBezTo>
                          <a:pt x="5594" y="24550"/>
                          <a:pt x="242" y="37472"/>
                          <a:pt x="242" y="50944"/>
                        </a:cubicBezTo>
                        <a:cubicBezTo>
                          <a:pt x="242" y="64417"/>
                          <a:pt x="5594" y="77339"/>
                          <a:pt x="15121" y="86866"/>
                        </a:cubicBezTo>
                        <a:cubicBezTo>
                          <a:pt x="24647" y="96392"/>
                          <a:pt x="37570" y="101744"/>
                          <a:pt x="51042" y="101744"/>
                        </a:cubicBezTo>
                        <a:close/>
                      </a:path>
                    </a:pathLst>
                  </a:custGeom>
                  <a:noFill/>
                  <a:ln w="12700" cap="flat">
                    <a:solidFill>
                      <a:srgbClr val="1F77B4"/>
                    </a:solidFill>
                    <a:prstDash val="solid"/>
                    <a:round/>
                  </a:ln>
                </p:spPr>
                <p:txBody>
                  <a:bodyPr rtlCol="0" anchor="ctr"/>
                  <a:lstStyle/>
                  <a:p>
                    <a:endParaRPr lang="en-US"/>
                  </a:p>
                </p:txBody>
              </p:sp>
              <p:sp>
                <p:nvSpPr>
                  <p:cNvPr id="210" name="フリーフォーム: 図形 209">
                    <a:extLst>
                      <a:ext uri="{FF2B5EF4-FFF2-40B4-BE49-F238E27FC236}">
                        <a16:creationId xmlns:a16="http://schemas.microsoft.com/office/drawing/2014/main" id="{33949D1B-1BB8-8242-0C49-8A2A7E1882EF}"/>
                      </a:ext>
                    </a:extLst>
                  </p:cNvPr>
                  <p:cNvSpPr/>
                  <p:nvPr/>
                </p:nvSpPr>
                <p:spPr>
                  <a:xfrm>
                    <a:off x="4095217" y="3418792"/>
                    <a:ext cx="101600" cy="101600"/>
                  </a:xfrm>
                  <a:custGeom>
                    <a:avLst/>
                    <a:gdLst>
                      <a:gd name="connsiteX0" fmla="*/ 51096 w 101600"/>
                      <a:gd name="connsiteY0" fmla="*/ 101747 h 101600"/>
                      <a:gd name="connsiteX1" fmla="*/ 87018 w 101600"/>
                      <a:gd name="connsiteY1" fmla="*/ 86868 h 101600"/>
                      <a:gd name="connsiteX2" fmla="*/ 101896 w 101600"/>
                      <a:gd name="connsiteY2" fmla="*/ 50947 h 101600"/>
                      <a:gd name="connsiteX3" fmla="*/ 87018 w 101600"/>
                      <a:gd name="connsiteY3" fmla="*/ 15026 h 101600"/>
                      <a:gd name="connsiteX4" fmla="*/ 51096 w 101600"/>
                      <a:gd name="connsiteY4" fmla="*/ 147 h 101600"/>
                      <a:gd name="connsiteX5" fmla="*/ 15175 w 101600"/>
                      <a:gd name="connsiteY5" fmla="*/ 15026 h 101600"/>
                      <a:gd name="connsiteX6" fmla="*/ 296 w 101600"/>
                      <a:gd name="connsiteY6" fmla="*/ 50947 h 101600"/>
                      <a:gd name="connsiteX7" fmla="*/ 15175 w 101600"/>
                      <a:gd name="connsiteY7" fmla="*/ 86868 h 101600"/>
                      <a:gd name="connsiteX8" fmla="*/ 51096 w 101600"/>
                      <a:gd name="connsiteY8" fmla="*/ 101747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1600" h="101600">
                        <a:moveTo>
                          <a:pt x="51096" y="101747"/>
                        </a:moveTo>
                        <a:cubicBezTo>
                          <a:pt x="64569" y="101747"/>
                          <a:pt x="77491" y="96395"/>
                          <a:pt x="87018" y="86868"/>
                        </a:cubicBezTo>
                        <a:cubicBezTo>
                          <a:pt x="96544" y="77342"/>
                          <a:pt x="101896" y="64419"/>
                          <a:pt x="101896" y="50947"/>
                        </a:cubicBezTo>
                        <a:cubicBezTo>
                          <a:pt x="101896" y="37475"/>
                          <a:pt x="96544" y="24553"/>
                          <a:pt x="87018" y="15026"/>
                        </a:cubicBezTo>
                        <a:cubicBezTo>
                          <a:pt x="77491" y="5500"/>
                          <a:pt x="64569" y="147"/>
                          <a:pt x="51096" y="147"/>
                        </a:cubicBezTo>
                        <a:cubicBezTo>
                          <a:pt x="37624" y="147"/>
                          <a:pt x="24702" y="5500"/>
                          <a:pt x="15175" y="15026"/>
                        </a:cubicBezTo>
                        <a:cubicBezTo>
                          <a:pt x="5649" y="24553"/>
                          <a:pt x="296" y="37475"/>
                          <a:pt x="296" y="50947"/>
                        </a:cubicBezTo>
                        <a:cubicBezTo>
                          <a:pt x="296" y="64419"/>
                          <a:pt x="5649" y="77342"/>
                          <a:pt x="15175" y="86868"/>
                        </a:cubicBezTo>
                        <a:cubicBezTo>
                          <a:pt x="24702" y="96395"/>
                          <a:pt x="37624" y="101747"/>
                          <a:pt x="51096" y="101747"/>
                        </a:cubicBezTo>
                        <a:close/>
                      </a:path>
                    </a:pathLst>
                  </a:custGeom>
                  <a:noFill/>
                  <a:ln w="12700" cap="flat">
                    <a:solidFill>
                      <a:srgbClr val="1F77B4"/>
                    </a:solidFill>
                    <a:prstDash val="solid"/>
                    <a:round/>
                  </a:ln>
                </p:spPr>
                <p:txBody>
                  <a:bodyPr rtlCol="0" anchor="ctr"/>
                  <a:lstStyle/>
                  <a:p>
                    <a:endParaRPr lang="en-US"/>
                  </a:p>
                </p:txBody>
              </p:sp>
              <p:sp>
                <p:nvSpPr>
                  <p:cNvPr id="211" name="フリーフォーム: 図形 210">
                    <a:extLst>
                      <a:ext uri="{FF2B5EF4-FFF2-40B4-BE49-F238E27FC236}">
                        <a16:creationId xmlns:a16="http://schemas.microsoft.com/office/drawing/2014/main" id="{4DA5DB99-7DB8-B7A1-4758-26D76F5716E1}"/>
                      </a:ext>
                    </a:extLst>
                  </p:cNvPr>
                  <p:cNvSpPr/>
                  <p:nvPr/>
                </p:nvSpPr>
                <p:spPr>
                  <a:xfrm>
                    <a:off x="4789501" y="3480158"/>
                    <a:ext cx="101600" cy="101600"/>
                  </a:xfrm>
                  <a:custGeom>
                    <a:avLst/>
                    <a:gdLst>
                      <a:gd name="connsiteX0" fmla="*/ 51151 w 101600"/>
                      <a:gd name="connsiteY0" fmla="*/ 101752 h 101600"/>
                      <a:gd name="connsiteX1" fmla="*/ 87072 w 101600"/>
                      <a:gd name="connsiteY1" fmla="*/ 86873 h 101600"/>
                      <a:gd name="connsiteX2" fmla="*/ 101951 w 101600"/>
                      <a:gd name="connsiteY2" fmla="*/ 50952 h 101600"/>
                      <a:gd name="connsiteX3" fmla="*/ 87072 w 101600"/>
                      <a:gd name="connsiteY3" fmla="*/ 15031 h 101600"/>
                      <a:gd name="connsiteX4" fmla="*/ 51151 w 101600"/>
                      <a:gd name="connsiteY4" fmla="*/ 152 h 101600"/>
                      <a:gd name="connsiteX5" fmla="*/ 15230 w 101600"/>
                      <a:gd name="connsiteY5" fmla="*/ 15031 h 101600"/>
                      <a:gd name="connsiteX6" fmla="*/ 351 w 101600"/>
                      <a:gd name="connsiteY6" fmla="*/ 50952 h 101600"/>
                      <a:gd name="connsiteX7" fmla="*/ 15230 w 101600"/>
                      <a:gd name="connsiteY7" fmla="*/ 86873 h 101600"/>
                      <a:gd name="connsiteX8" fmla="*/ 51151 w 101600"/>
                      <a:gd name="connsiteY8" fmla="*/ 101752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1600" h="101600">
                        <a:moveTo>
                          <a:pt x="51151" y="101752"/>
                        </a:moveTo>
                        <a:cubicBezTo>
                          <a:pt x="64623" y="101752"/>
                          <a:pt x="77546" y="96399"/>
                          <a:pt x="87072" y="86873"/>
                        </a:cubicBezTo>
                        <a:cubicBezTo>
                          <a:pt x="96599" y="77347"/>
                          <a:pt x="101951" y="64424"/>
                          <a:pt x="101951" y="50952"/>
                        </a:cubicBezTo>
                        <a:cubicBezTo>
                          <a:pt x="101951" y="37480"/>
                          <a:pt x="96599" y="24557"/>
                          <a:pt x="87072" y="15031"/>
                        </a:cubicBezTo>
                        <a:cubicBezTo>
                          <a:pt x="77546" y="5505"/>
                          <a:pt x="64623" y="152"/>
                          <a:pt x="51151" y="152"/>
                        </a:cubicBezTo>
                        <a:cubicBezTo>
                          <a:pt x="37679" y="152"/>
                          <a:pt x="24756" y="5505"/>
                          <a:pt x="15230" y="15031"/>
                        </a:cubicBezTo>
                        <a:cubicBezTo>
                          <a:pt x="5704" y="24557"/>
                          <a:pt x="351" y="37480"/>
                          <a:pt x="351" y="50952"/>
                        </a:cubicBezTo>
                        <a:cubicBezTo>
                          <a:pt x="351" y="64424"/>
                          <a:pt x="5704" y="77347"/>
                          <a:pt x="15230" y="86873"/>
                        </a:cubicBezTo>
                        <a:cubicBezTo>
                          <a:pt x="24756" y="96399"/>
                          <a:pt x="37679" y="101752"/>
                          <a:pt x="51151" y="101752"/>
                        </a:cubicBezTo>
                        <a:close/>
                      </a:path>
                    </a:pathLst>
                  </a:custGeom>
                  <a:noFill/>
                  <a:ln w="12700" cap="flat">
                    <a:solidFill>
                      <a:srgbClr val="1F77B4"/>
                    </a:solidFill>
                    <a:prstDash val="solid"/>
                    <a:round/>
                  </a:ln>
                </p:spPr>
                <p:txBody>
                  <a:bodyPr rtlCol="0" anchor="ctr"/>
                  <a:lstStyle/>
                  <a:p>
                    <a:endParaRPr lang="en-US"/>
                  </a:p>
                </p:txBody>
              </p:sp>
              <p:sp>
                <p:nvSpPr>
                  <p:cNvPr id="212" name="フリーフォーム: 図形 211">
                    <a:extLst>
                      <a:ext uri="{FF2B5EF4-FFF2-40B4-BE49-F238E27FC236}">
                        <a16:creationId xmlns:a16="http://schemas.microsoft.com/office/drawing/2014/main" id="{058F3935-18F2-1C2A-FC60-12B1DF349C30}"/>
                      </a:ext>
                    </a:extLst>
                  </p:cNvPr>
                  <p:cNvSpPr/>
                  <p:nvPr/>
                </p:nvSpPr>
                <p:spPr>
                  <a:xfrm>
                    <a:off x="5483784" y="3542363"/>
                    <a:ext cx="101600" cy="101600"/>
                  </a:xfrm>
                  <a:custGeom>
                    <a:avLst/>
                    <a:gdLst>
                      <a:gd name="connsiteX0" fmla="*/ 51206 w 101600"/>
                      <a:gd name="connsiteY0" fmla="*/ 101757 h 101600"/>
                      <a:gd name="connsiteX1" fmla="*/ 87127 w 101600"/>
                      <a:gd name="connsiteY1" fmla="*/ 86878 h 101600"/>
                      <a:gd name="connsiteX2" fmla="*/ 102006 w 101600"/>
                      <a:gd name="connsiteY2" fmla="*/ 50957 h 101600"/>
                      <a:gd name="connsiteX3" fmla="*/ 87127 w 101600"/>
                      <a:gd name="connsiteY3" fmla="*/ 15036 h 101600"/>
                      <a:gd name="connsiteX4" fmla="*/ 51206 w 101600"/>
                      <a:gd name="connsiteY4" fmla="*/ 157 h 101600"/>
                      <a:gd name="connsiteX5" fmla="*/ 15285 w 101600"/>
                      <a:gd name="connsiteY5" fmla="*/ 15036 h 101600"/>
                      <a:gd name="connsiteX6" fmla="*/ 406 w 101600"/>
                      <a:gd name="connsiteY6" fmla="*/ 50957 h 101600"/>
                      <a:gd name="connsiteX7" fmla="*/ 15285 w 101600"/>
                      <a:gd name="connsiteY7" fmla="*/ 86878 h 101600"/>
                      <a:gd name="connsiteX8" fmla="*/ 51206 w 101600"/>
                      <a:gd name="connsiteY8" fmla="*/ 101757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1600" h="101600">
                        <a:moveTo>
                          <a:pt x="51206" y="101757"/>
                        </a:moveTo>
                        <a:cubicBezTo>
                          <a:pt x="64678" y="101757"/>
                          <a:pt x="77600" y="96404"/>
                          <a:pt x="87127" y="86878"/>
                        </a:cubicBezTo>
                        <a:cubicBezTo>
                          <a:pt x="96653" y="77352"/>
                          <a:pt x="102006" y="64429"/>
                          <a:pt x="102006" y="50957"/>
                        </a:cubicBezTo>
                        <a:cubicBezTo>
                          <a:pt x="102006" y="37485"/>
                          <a:pt x="96653" y="24562"/>
                          <a:pt x="87127" y="15036"/>
                        </a:cubicBezTo>
                        <a:cubicBezTo>
                          <a:pt x="77600" y="5509"/>
                          <a:pt x="64678" y="157"/>
                          <a:pt x="51206" y="157"/>
                        </a:cubicBezTo>
                        <a:cubicBezTo>
                          <a:pt x="37734" y="157"/>
                          <a:pt x="24811" y="5509"/>
                          <a:pt x="15285" y="15036"/>
                        </a:cubicBezTo>
                        <a:cubicBezTo>
                          <a:pt x="5758" y="24562"/>
                          <a:pt x="406" y="37485"/>
                          <a:pt x="406" y="50957"/>
                        </a:cubicBezTo>
                        <a:cubicBezTo>
                          <a:pt x="406" y="64429"/>
                          <a:pt x="5758" y="77352"/>
                          <a:pt x="15285" y="86878"/>
                        </a:cubicBezTo>
                        <a:cubicBezTo>
                          <a:pt x="24811" y="96404"/>
                          <a:pt x="37734" y="101757"/>
                          <a:pt x="51206" y="101757"/>
                        </a:cubicBezTo>
                        <a:close/>
                      </a:path>
                    </a:pathLst>
                  </a:custGeom>
                  <a:noFill/>
                  <a:ln w="12700" cap="flat">
                    <a:solidFill>
                      <a:srgbClr val="1F77B4"/>
                    </a:solidFill>
                    <a:prstDash val="solid"/>
                    <a:round/>
                  </a:ln>
                </p:spPr>
                <p:txBody>
                  <a:bodyPr rtlCol="0" anchor="ctr"/>
                  <a:lstStyle/>
                  <a:p>
                    <a:endParaRPr lang="en-US"/>
                  </a:p>
                </p:txBody>
              </p:sp>
              <p:sp>
                <p:nvSpPr>
                  <p:cNvPr id="213" name="フリーフォーム: 図形 212">
                    <a:extLst>
                      <a:ext uri="{FF2B5EF4-FFF2-40B4-BE49-F238E27FC236}">
                        <a16:creationId xmlns:a16="http://schemas.microsoft.com/office/drawing/2014/main" id="{1B8EC8FB-9FF3-1E5C-BE3F-D3407BD10BD3}"/>
                      </a:ext>
                    </a:extLst>
                  </p:cNvPr>
                  <p:cNvSpPr/>
                  <p:nvPr/>
                </p:nvSpPr>
                <p:spPr>
                  <a:xfrm>
                    <a:off x="6178068" y="3447062"/>
                    <a:ext cx="101600" cy="101600"/>
                  </a:xfrm>
                  <a:custGeom>
                    <a:avLst/>
                    <a:gdLst>
                      <a:gd name="connsiteX0" fmla="*/ 51260 w 101600"/>
                      <a:gd name="connsiteY0" fmla="*/ 101749 h 101600"/>
                      <a:gd name="connsiteX1" fmla="*/ 87182 w 101600"/>
                      <a:gd name="connsiteY1" fmla="*/ 86870 h 101600"/>
                      <a:gd name="connsiteX2" fmla="*/ 102060 w 101600"/>
                      <a:gd name="connsiteY2" fmla="*/ 50949 h 101600"/>
                      <a:gd name="connsiteX3" fmla="*/ 87182 w 101600"/>
                      <a:gd name="connsiteY3" fmla="*/ 15028 h 101600"/>
                      <a:gd name="connsiteX4" fmla="*/ 51260 w 101600"/>
                      <a:gd name="connsiteY4" fmla="*/ 149 h 101600"/>
                      <a:gd name="connsiteX5" fmla="*/ 15339 w 101600"/>
                      <a:gd name="connsiteY5" fmla="*/ 15028 h 101600"/>
                      <a:gd name="connsiteX6" fmla="*/ 460 w 101600"/>
                      <a:gd name="connsiteY6" fmla="*/ 50949 h 101600"/>
                      <a:gd name="connsiteX7" fmla="*/ 15339 w 101600"/>
                      <a:gd name="connsiteY7" fmla="*/ 86870 h 101600"/>
                      <a:gd name="connsiteX8" fmla="*/ 51260 w 101600"/>
                      <a:gd name="connsiteY8" fmla="*/ 101749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1600" h="101600">
                        <a:moveTo>
                          <a:pt x="51260" y="101749"/>
                        </a:moveTo>
                        <a:cubicBezTo>
                          <a:pt x="64733" y="101749"/>
                          <a:pt x="77655" y="96397"/>
                          <a:pt x="87182" y="86870"/>
                        </a:cubicBezTo>
                        <a:cubicBezTo>
                          <a:pt x="96708" y="77344"/>
                          <a:pt x="102060" y="64422"/>
                          <a:pt x="102060" y="50949"/>
                        </a:cubicBezTo>
                        <a:cubicBezTo>
                          <a:pt x="102060" y="37477"/>
                          <a:pt x="96708" y="24555"/>
                          <a:pt x="87182" y="15028"/>
                        </a:cubicBezTo>
                        <a:cubicBezTo>
                          <a:pt x="77655" y="5502"/>
                          <a:pt x="64733" y="149"/>
                          <a:pt x="51260" y="149"/>
                        </a:cubicBezTo>
                        <a:cubicBezTo>
                          <a:pt x="37788" y="149"/>
                          <a:pt x="24866" y="5502"/>
                          <a:pt x="15339" y="15028"/>
                        </a:cubicBezTo>
                        <a:cubicBezTo>
                          <a:pt x="5813" y="24555"/>
                          <a:pt x="460" y="37477"/>
                          <a:pt x="460" y="50949"/>
                        </a:cubicBezTo>
                        <a:cubicBezTo>
                          <a:pt x="460" y="64422"/>
                          <a:pt x="5813" y="77344"/>
                          <a:pt x="15339" y="86870"/>
                        </a:cubicBezTo>
                        <a:cubicBezTo>
                          <a:pt x="24866" y="96397"/>
                          <a:pt x="37788" y="101749"/>
                          <a:pt x="51260" y="101749"/>
                        </a:cubicBezTo>
                        <a:close/>
                      </a:path>
                    </a:pathLst>
                  </a:custGeom>
                  <a:noFill/>
                  <a:ln w="12700" cap="flat">
                    <a:solidFill>
                      <a:srgbClr val="1F77B4"/>
                    </a:solidFill>
                    <a:prstDash val="solid"/>
                    <a:round/>
                  </a:ln>
                </p:spPr>
                <p:txBody>
                  <a:bodyPr rtlCol="0" anchor="ctr"/>
                  <a:lstStyle/>
                  <a:p>
                    <a:endParaRPr lang="en-US"/>
                  </a:p>
                </p:txBody>
              </p:sp>
              <p:sp>
                <p:nvSpPr>
                  <p:cNvPr id="214" name="フリーフォーム: 図形 213">
                    <a:extLst>
                      <a:ext uri="{FF2B5EF4-FFF2-40B4-BE49-F238E27FC236}">
                        <a16:creationId xmlns:a16="http://schemas.microsoft.com/office/drawing/2014/main" id="{8966A3E6-ECCA-964A-6DB5-012E86004E97}"/>
                      </a:ext>
                    </a:extLst>
                  </p:cNvPr>
                  <p:cNvSpPr/>
                  <p:nvPr/>
                </p:nvSpPr>
                <p:spPr>
                  <a:xfrm>
                    <a:off x="6872339" y="3367839"/>
                    <a:ext cx="101600" cy="101600"/>
                  </a:xfrm>
                  <a:custGeom>
                    <a:avLst/>
                    <a:gdLst>
                      <a:gd name="connsiteX0" fmla="*/ 51315 w 101600"/>
                      <a:gd name="connsiteY0" fmla="*/ 101743 h 101600"/>
                      <a:gd name="connsiteX1" fmla="*/ 87236 w 101600"/>
                      <a:gd name="connsiteY1" fmla="*/ 86864 h 101600"/>
                      <a:gd name="connsiteX2" fmla="*/ 102115 w 101600"/>
                      <a:gd name="connsiteY2" fmla="*/ 50943 h 101600"/>
                      <a:gd name="connsiteX3" fmla="*/ 87236 w 101600"/>
                      <a:gd name="connsiteY3" fmla="*/ 15022 h 101600"/>
                      <a:gd name="connsiteX4" fmla="*/ 51315 w 101600"/>
                      <a:gd name="connsiteY4" fmla="*/ 143 h 101600"/>
                      <a:gd name="connsiteX5" fmla="*/ 15394 w 101600"/>
                      <a:gd name="connsiteY5" fmla="*/ 15022 h 101600"/>
                      <a:gd name="connsiteX6" fmla="*/ 515 w 101600"/>
                      <a:gd name="connsiteY6" fmla="*/ 50943 h 101600"/>
                      <a:gd name="connsiteX7" fmla="*/ 15394 w 101600"/>
                      <a:gd name="connsiteY7" fmla="*/ 86864 h 101600"/>
                      <a:gd name="connsiteX8" fmla="*/ 51315 w 101600"/>
                      <a:gd name="connsiteY8" fmla="*/ 101743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1600" h="101600">
                        <a:moveTo>
                          <a:pt x="51315" y="101743"/>
                        </a:moveTo>
                        <a:cubicBezTo>
                          <a:pt x="64787" y="101743"/>
                          <a:pt x="77710" y="96391"/>
                          <a:pt x="87236" y="86864"/>
                        </a:cubicBezTo>
                        <a:cubicBezTo>
                          <a:pt x="96763" y="77338"/>
                          <a:pt x="102115" y="64415"/>
                          <a:pt x="102115" y="50943"/>
                        </a:cubicBezTo>
                        <a:cubicBezTo>
                          <a:pt x="102115" y="37471"/>
                          <a:pt x="96763" y="24549"/>
                          <a:pt x="87236" y="15022"/>
                        </a:cubicBezTo>
                        <a:cubicBezTo>
                          <a:pt x="77710" y="5496"/>
                          <a:pt x="64787" y="143"/>
                          <a:pt x="51315" y="143"/>
                        </a:cubicBezTo>
                        <a:cubicBezTo>
                          <a:pt x="37843" y="143"/>
                          <a:pt x="24920" y="5496"/>
                          <a:pt x="15394" y="15022"/>
                        </a:cubicBezTo>
                        <a:cubicBezTo>
                          <a:pt x="5868" y="24549"/>
                          <a:pt x="515" y="37471"/>
                          <a:pt x="515" y="50943"/>
                        </a:cubicBezTo>
                        <a:cubicBezTo>
                          <a:pt x="515" y="64415"/>
                          <a:pt x="5868" y="77338"/>
                          <a:pt x="15394" y="86864"/>
                        </a:cubicBezTo>
                        <a:cubicBezTo>
                          <a:pt x="24920" y="96391"/>
                          <a:pt x="37843" y="101743"/>
                          <a:pt x="51315" y="101743"/>
                        </a:cubicBezTo>
                        <a:close/>
                      </a:path>
                    </a:pathLst>
                  </a:custGeom>
                  <a:noFill/>
                  <a:ln w="12700" cap="flat">
                    <a:solidFill>
                      <a:srgbClr val="1F77B4"/>
                    </a:solidFill>
                    <a:prstDash val="solid"/>
                    <a:round/>
                  </a:ln>
                </p:spPr>
                <p:txBody>
                  <a:bodyPr rtlCol="0" anchor="ctr"/>
                  <a:lstStyle/>
                  <a:p>
                    <a:endParaRPr lang="en-US"/>
                  </a:p>
                </p:txBody>
              </p:sp>
              <p:sp>
                <p:nvSpPr>
                  <p:cNvPr id="215" name="フリーフォーム: 図形 214">
                    <a:extLst>
                      <a:ext uri="{FF2B5EF4-FFF2-40B4-BE49-F238E27FC236}">
                        <a16:creationId xmlns:a16="http://schemas.microsoft.com/office/drawing/2014/main" id="{84A565D4-1447-DC3F-70DD-C39C4FE0FA3D}"/>
                      </a:ext>
                    </a:extLst>
                  </p:cNvPr>
                  <p:cNvSpPr/>
                  <p:nvPr/>
                </p:nvSpPr>
                <p:spPr>
                  <a:xfrm>
                    <a:off x="7566622" y="3198040"/>
                    <a:ext cx="101600" cy="101600"/>
                  </a:xfrm>
                  <a:custGeom>
                    <a:avLst/>
                    <a:gdLst>
                      <a:gd name="connsiteX0" fmla="*/ 51370 w 101600"/>
                      <a:gd name="connsiteY0" fmla="*/ 101730 h 101600"/>
                      <a:gd name="connsiteX1" fmla="*/ 87291 w 101600"/>
                      <a:gd name="connsiteY1" fmla="*/ 86851 h 101600"/>
                      <a:gd name="connsiteX2" fmla="*/ 102170 w 101600"/>
                      <a:gd name="connsiteY2" fmla="*/ 50930 h 101600"/>
                      <a:gd name="connsiteX3" fmla="*/ 87291 w 101600"/>
                      <a:gd name="connsiteY3" fmla="*/ 15009 h 101600"/>
                      <a:gd name="connsiteX4" fmla="*/ 51370 w 101600"/>
                      <a:gd name="connsiteY4" fmla="*/ 130 h 101600"/>
                      <a:gd name="connsiteX5" fmla="*/ 15449 w 101600"/>
                      <a:gd name="connsiteY5" fmla="*/ 15009 h 101600"/>
                      <a:gd name="connsiteX6" fmla="*/ 570 w 101600"/>
                      <a:gd name="connsiteY6" fmla="*/ 50930 h 101600"/>
                      <a:gd name="connsiteX7" fmla="*/ 15449 w 101600"/>
                      <a:gd name="connsiteY7" fmla="*/ 86851 h 101600"/>
                      <a:gd name="connsiteX8" fmla="*/ 51370 w 101600"/>
                      <a:gd name="connsiteY8" fmla="*/ 10173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1600" h="101600">
                        <a:moveTo>
                          <a:pt x="51370" y="101730"/>
                        </a:moveTo>
                        <a:cubicBezTo>
                          <a:pt x="64842" y="101730"/>
                          <a:pt x="77764" y="96377"/>
                          <a:pt x="87291" y="86851"/>
                        </a:cubicBezTo>
                        <a:cubicBezTo>
                          <a:pt x="96817" y="77324"/>
                          <a:pt x="102170" y="64402"/>
                          <a:pt x="102170" y="50930"/>
                        </a:cubicBezTo>
                        <a:cubicBezTo>
                          <a:pt x="102170" y="37458"/>
                          <a:pt x="96817" y="24535"/>
                          <a:pt x="87291" y="15009"/>
                        </a:cubicBezTo>
                        <a:cubicBezTo>
                          <a:pt x="77764" y="5482"/>
                          <a:pt x="64842" y="130"/>
                          <a:pt x="51370" y="130"/>
                        </a:cubicBezTo>
                        <a:cubicBezTo>
                          <a:pt x="37898" y="130"/>
                          <a:pt x="24975" y="5482"/>
                          <a:pt x="15449" y="15009"/>
                        </a:cubicBezTo>
                        <a:cubicBezTo>
                          <a:pt x="5922" y="24535"/>
                          <a:pt x="570" y="37458"/>
                          <a:pt x="570" y="50930"/>
                        </a:cubicBezTo>
                        <a:cubicBezTo>
                          <a:pt x="570" y="64402"/>
                          <a:pt x="5922" y="77324"/>
                          <a:pt x="15449" y="86851"/>
                        </a:cubicBezTo>
                        <a:cubicBezTo>
                          <a:pt x="24975" y="96377"/>
                          <a:pt x="37898" y="101730"/>
                          <a:pt x="51370" y="101730"/>
                        </a:cubicBezTo>
                        <a:close/>
                      </a:path>
                    </a:pathLst>
                  </a:custGeom>
                  <a:noFill/>
                  <a:ln w="12700" cap="flat">
                    <a:solidFill>
                      <a:srgbClr val="1F77B4"/>
                    </a:solidFill>
                    <a:prstDash val="solid"/>
                    <a:round/>
                  </a:ln>
                </p:spPr>
                <p:txBody>
                  <a:bodyPr rtlCol="0" anchor="ctr"/>
                  <a:lstStyle/>
                  <a:p>
                    <a:endParaRPr lang="en-US"/>
                  </a:p>
                </p:txBody>
              </p:sp>
              <p:sp>
                <p:nvSpPr>
                  <p:cNvPr id="216" name="フリーフォーム: 図形 215">
                    <a:extLst>
                      <a:ext uri="{FF2B5EF4-FFF2-40B4-BE49-F238E27FC236}">
                        <a16:creationId xmlns:a16="http://schemas.microsoft.com/office/drawing/2014/main" id="{9F11409B-C216-B3DE-4560-5568B1236F18}"/>
                      </a:ext>
                    </a:extLst>
                  </p:cNvPr>
                  <p:cNvSpPr/>
                  <p:nvPr/>
                </p:nvSpPr>
                <p:spPr>
                  <a:xfrm>
                    <a:off x="8260906" y="3190331"/>
                    <a:ext cx="101600" cy="101600"/>
                  </a:xfrm>
                  <a:custGeom>
                    <a:avLst/>
                    <a:gdLst>
                      <a:gd name="connsiteX0" fmla="*/ 51424 w 101600"/>
                      <a:gd name="connsiteY0" fmla="*/ 101729 h 101600"/>
                      <a:gd name="connsiteX1" fmla="*/ 87346 w 101600"/>
                      <a:gd name="connsiteY1" fmla="*/ 86850 h 101600"/>
                      <a:gd name="connsiteX2" fmla="*/ 102224 w 101600"/>
                      <a:gd name="connsiteY2" fmla="*/ 50929 h 101600"/>
                      <a:gd name="connsiteX3" fmla="*/ 87346 w 101600"/>
                      <a:gd name="connsiteY3" fmla="*/ 15008 h 101600"/>
                      <a:gd name="connsiteX4" fmla="*/ 51424 w 101600"/>
                      <a:gd name="connsiteY4" fmla="*/ 129 h 101600"/>
                      <a:gd name="connsiteX5" fmla="*/ 15503 w 101600"/>
                      <a:gd name="connsiteY5" fmla="*/ 15008 h 101600"/>
                      <a:gd name="connsiteX6" fmla="*/ 624 w 101600"/>
                      <a:gd name="connsiteY6" fmla="*/ 50929 h 101600"/>
                      <a:gd name="connsiteX7" fmla="*/ 15503 w 101600"/>
                      <a:gd name="connsiteY7" fmla="*/ 86850 h 101600"/>
                      <a:gd name="connsiteX8" fmla="*/ 51424 w 101600"/>
                      <a:gd name="connsiteY8" fmla="*/ 101729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1600" h="101600">
                        <a:moveTo>
                          <a:pt x="51424" y="101729"/>
                        </a:moveTo>
                        <a:cubicBezTo>
                          <a:pt x="64897" y="101729"/>
                          <a:pt x="77819" y="96377"/>
                          <a:pt x="87346" y="86850"/>
                        </a:cubicBezTo>
                        <a:cubicBezTo>
                          <a:pt x="96872" y="77324"/>
                          <a:pt x="102224" y="64401"/>
                          <a:pt x="102224" y="50929"/>
                        </a:cubicBezTo>
                        <a:cubicBezTo>
                          <a:pt x="102224" y="37457"/>
                          <a:pt x="96872" y="24535"/>
                          <a:pt x="87346" y="15008"/>
                        </a:cubicBezTo>
                        <a:cubicBezTo>
                          <a:pt x="77819" y="5482"/>
                          <a:pt x="64897" y="129"/>
                          <a:pt x="51424" y="129"/>
                        </a:cubicBezTo>
                        <a:cubicBezTo>
                          <a:pt x="37952" y="129"/>
                          <a:pt x="25030" y="5482"/>
                          <a:pt x="15503" y="15008"/>
                        </a:cubicBezTo>
                        <a:cubicBezTo>
                          <a:pt x="5977" y="24535"/>
                          <a:pt x="624" y="37457"/>
                          <a:pt x="624" y="50929"/>
                        </a:cubicBezTo>
                        <a:cubicBezTo>
                          <a:pt x="624" y="64401"/>
                          <a:pt x="5977" y="77324"/>
                          <a:pt x="15503" y="86850"/>
                        </a:cubicBezTo>
                        <a:cubicBezTo>
                          <a:pt x="25030" y="96377"/>
                          <a:pt x="37952" y="101729"/>
                          <a:pt x="51424" y="101729"/>
                        </a:cubicBezTo>
                        <a:close/>
                      </a:path>
                    </a:pathLst>
                  </a:custGeom>
                  <a:noFill/>
                  <a:ln w="12700" cap="flat">
                    <a:solidFill>
                      <a:srgbClr val="1F77B4"/>
                    </a:solidFill>
                    <a:prstDash val="solid"/>
                    <a:round/>
                  </a:ln>
                </p:spPr>
                <p:txBody>
                  <a:bodyPr rtlCol="0" anchor="ctr"/>
                  <a:lstStyle/>
                  <a:p>
                    <a:endParaRPr lang="en-US"/>
                  </a:p>
                </p:txBody>
              </p:sp>
              <p:sp>
                <p:nvSpPr>
                  <p:cNvPr id="217" name="フリーフォーム: 図形 216">
                    <a:extLst>
                      <a:ext uri="{FF2B5EF4-FFF2-40B4-BE49-F238E27FC236}">
                        <a16:creationId xmlns:a16="http://schemas.microsoft.com/office/drawing/2014/main" id="{DE33F7DD-1564-F713-58BA-C0EE60B19883}"/>
                      </a:ext>
                    </a:extLst>
                  </p:cNvPr>
                  <p:cNvSpPr/>
                  <p:nvPr/>
                </p:nvSpPr>
                <p:spPr>
                  <a:xfrm>
                    <a:off x="8955190" y="3050593"/>
                    <a:ext cx="101600" cy="101600"/>
                  </a:xfrm>
                  <a:custGeom>
                    <a:avLst/>
                    <a:gdLst>
                      <a:gd name="connsiteX0" fmla="*/ 51479 w 101600"/>
                      <a:gd name="connsiteY0" fmla="*/ 101718 h 101600"/>
                      <a:gd name="connsiteX1" fmla="*/ 87400 w 101600"/>
                      <a:gd name="connsiteY1" fmla="*/ 86839 h 101600"/>
                      <a:gd name="connsiteX2" fmla="*/ 102279 w 101600"/>
                      <a:gd name="connsiteY2" fmla="*/ 50918 h 101600"/>
                      <a:gd name="connsiteX3" fmla="*/ 87400 w 101600"/>
                      <a:gd name="connsiteY3" fmla="*/ 14997 h 101600"/>
                      <a:gd name="connsiteX4" fmla="*/ 51479 w 101600"/>
                      <a:gd name="connsiteY4" fmla="*/ 118 h 101600"/>
                      <a:gd name="connsiteX5" fmla="*/ 15558 w 101600"/>
                      <a:gd name="connsiteY5" fmla="*/ 14997 h 101600"/>
                      <a:gd name="connsiteX6" fmla="*/ 679 w 101600"/>
                      <a:gd name="connsiteY6" fmla="*/ 50918 h 101600"/>
                      <a:gd name="connsiteX7" fmla="*/ 15558 w 101600"/>
                      <a:gd name="connsiteY7" fmla="*/ 86839 h 101600"/>
                      <a:gd name="connsiteX8" fmla="*/ 51479 w 101600"/>
                      <a:gd name="connsiteY8" fmla="*/ 101718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1600" h="101600">
                        <a:moveTo>
                          <a:pt x="51479" y="101718"/>
                        </a:moveTo>
                        <a:cubicBezTo>
                          <a:pt x="64951" y="101718"/>
                          <a:pt x="77874" y="96366"/>
                          <a:pt x="87400" y="86839"/>
                        </a:cubicBezTo>
                        <a:cubicBezTo>
                          <a:pt x="96927" y="77313"/>
                          <a:pt x="102279" y="64390"/>
                          <a:pt x="102279" y="50918"/>
                        </a:cubicBezTo>
                        <a:cubicBezTo>
                          <a:pt x="102279" y="37446"/>
                          <a:pt x="96927" y="24524"/>
                          <a:pt x="87400" y="14997"/>
                        </a:cubicBezTo>
                        <a:cubicBezTo>
                          <a:pt x="77874" y="5471"/>
                          <a:pt x="64951" y="118"/>
                          <a:pt x="51479" y="118"/>
                        </a:cubicBezTo>
                        <a:cubicBezTo>
                          <a:pt x="38007" y="118"/>
                          <a:pt x="25084" y="5471"/>
                          <a:pt x="15558" y="14997"/>
                        </a:cubicBezTo>
                        <a:cubicBezTo>
                          <a:pt x="6032" y="24524"/>
                          <a:pt x="679" y="37446"/>
                          <a:pt x="679" y="50918"/>
                        </a:cubicBezTo>
                        <a:cubicBezTo>
                          <a:pt x="679" y="64390"/>
                          <a:pt x="6032" y="77313"/>
                          <a:pt x="15558" y="86839"/>
                        </a:cubicBezTo>
                        <a:cubicBezTo>
                          <a:pt x="25084" y="96366"/>
                          <a:pt x="38007" y="101718"/>
                          <a:pt x="51479" y="101718"/>
                        </a:cubicBezTo>
                        <a:close/>
                      </a:path>
                    </a:pathLst>
                  </a:custGeom>
                  <a:noFill/>
                  <a:ln w="12700" cap="flat">
                    <a:solidFill>
                      <a:srgbClr val="1F77B4"/>
                    </a:solidFill>
                    <a:prstDash val="solid"/>
                    <a:round/>
                  </a:ln>
                </p:spPr>
                <p:txBody>
                  <a:bodyPr rtlCol="0" anchor="ctr"/>
                  <a:lstStyle/>
                  <a:p>
                    <a:endParaRPr lang="en-US"/>
                  </a:p>
                </p:txBody>
              </p:sp>
            </p:grpSp>
          </p:grpSp>
          <p:sp>
            <p:nvSpPr>
              <p:cNvPr id="218" name="フリーフォーム: 図形 217">
                <a:extLst>
                  <a:ext uri="{FF2B5EF4-FFF2-40B4-BE49-F238E27FC236}">
                    <a16:creationId xmlns:a16="http://schemas.microsoft.com/office/drawing/2014/main" id="{427CA9DE-95E0-BD03-BAF7-4E2C176E287F}"/>
                  </a:ext>
                </a:extLst>
              </p:cNvPr>
              <p:cNvSpPr/>
              <p:nvPr/>
            </p:nvSpPr>
            <p:spPr>
              <a:xfrm>
                <a:off x="-8303005" y="1941578"/>
                <a:ext cx="12700" cy="2962147"/>
              </a:xfrm>
              <a:custGeom>
                <a:avLst/>
                <a:gdLst>
                  <a:gd name="connsiteX0" fmla="*/ 0 w 12700"/>
                  <a:gd name="connsiteY0" fmla="*/ 2962148 h 2962147"/>
                  <a:gd name="connsiteX1" fmla="*/ 0 w 12700"/>
                  <a:gd name="connsiteY1" fmla="*/ 0 h 2962147"/>
                </a:gdLst>
                <a:ahLst/>
                <a:cxnLst>
                  <a:cxn ang="0">
                    <a:pos x="connsiteX0" y="connsiteY0"/>
                  </a:cxn>
                  <a:cxn ang="0">
                    <a:pos x="connsiteX1" y="connsiteY1"/>
                  </a:cxn>
                </a:cxnLst>
                <a:rect l="l" t="t" r="r" b="b"/>
                <a:pathLst>
                  <a:path w="12700" h="2962147">
                    <a:moveTo>
                      <a:pt x="0" y="2962148"/>
                    </a:moveTo>
                    <a:lnTo>
                      <a:pt x="0" y="0"/>
                    </a:lnTo>
                  </a:path>
                </a:pathLst>
              </a:custGeom>
              <a:noFill/>
              <a:ln w="10160" cap="sq">
                <a:solidFill>
                  <a:srgbClr val="000000"/>
                </a:solidFill>
                <a:prstDash val="solid"/>
                <a:miter/>
              </a:ln>
            </p:spPr>
            <p:txBody>
              <a:bodyPr rtlCol="0" anchor="ctr"/>
              <a:lstStyle/>
              <a:p>
                <a:endParaRPr lang="en-US"/>
              </a:p>
            </p:txBody>
          </p:sp>
          <p:sp>
            <p:nvSpPr>
              <p:cNvPr id="219" name="フリーフォーム: 図形 218">
                <a:extLst>
                  <a:ext uri="{FF2B5EF4-FFF2-40B4-BE49-F238E27FC236}">
                    <a16:creationId xmlns:a16="http://schemas.microsoft.com/office/drawing/2014/main" id="{AD0AC34A-E271-E51C-3A36-53EBA6416D78}"/>
                  </a:ext>
                </a:extLst>
              </p:cNvPr>
              <p:cNvSpPr/>
              <p:nvPr/>
            </p:nvSpPr>
            <p:spPr>
              <a:xfrm>
                <a:off x="97790" y="1941578"/>
                <a:ext cx="12700" cy="2962147"/>
              </a:xfrm>
              <a:custGeom>
                <a:avLst/>
                <a:gdLst>
                  <a:gd name="connsiteX0" fmla="*/ 0 w 12700"/>
                  <a:gd name="connsiteY0" fmla="*/ 2962148 h 2962147"/>
                  <a:gd name="connsiteX1" fmla="*/ 0 w 12700"/>
                  <a:gd name="connsiteY1" fmla="*/ 0 h 2962147"/>
                </a:gdLst>
                <a:ahLst/>
                <a:cxnLst>
                  <a:cxn ang="0">
                    <a:pos x="connsiteX0" y="connsiteY0"/>
                  </a:cxn>
                  <a:cxn ang="0">
                    <a:pos x="connsiteX1" y="connsiteY1"/>
                  </a:cxn>
                </a:cxnLst>
                <a:rect l="l" t="t" r="r" b="b"/>
                <a:pathLst>
                  <a:path w="12700" h="2962147">
                    <a:moveTo>
                      <a:pt x="0" y="2962148"/>
                    </a:moveTo>
                    <a:lnTo>
                      <a:pt x="0" y="0"/>
                    </a:lnTo>
                  </a:path>
                </a:pathLst>
              </a:custGeom>
              <a:noFill/>
              <a:ln w="10160" cap="sq">
                <a:solidFill>
                  <a:srgbClr val="000000"/>
                </a:solidFill>
                <a:prstDash val="solid"/>
                <a:miter/>
              </a:ln>
            </p:spPr>
            <p:txBody>
              <a:bodyPr rtlCol="0" anchor="ctr"/>
              <a:lstStyle/>
              <a:p>
                <a:endParaRPr lang="en-US"/>
              </a:p>
            </p:txBody>
          </p:sp>
          <p:sp>
            <p:nvSpPr>
              <p:cNvPr id="220" name="フリーフォーム: 図形 219">
                <a:extLst>
                  <a:ext uri="{FF2B5EF4-FFF2-40B4-BE49-F238E27FC236}">
                    <a16:creationId xmlns:a16="http://schemas.microsoft.com/office/drawing/2014/main" id="{1B5892F4-5EDF-E219-0AA4-0FF5CA6B034E}"/>
                  </a:ext>
                </a:extLst>
              </p:cNvPr>
              <p:cNvSpPr/>
              <p:nvPr/>
            </p:nvSpPr>
            <p:spPr>
              <a:xfrm>
                <a:off x="-8303005" y="4903726"/>
                <a:ext cx="8400796" cy="12700"/>
              </a:xfrm>
              <a:custGeom>
                <a:avLst/>
                <a:gdLst>
                  <a:gd name="connsiteX0" fmla="*/ 0 w 8400796"/>
                  <a:gd name="connsiteY0" fmla="*/ 0 h 12700"/>
                  <a:gd name="connsiteX1" fmla="*/ 8400796 w 8400796"/>
                  <a:gd name="connsiteY1" fmla="*/ 0 h 12700"/>
                </a:gdLst>
                <a:ahLst/>
                <a:cxnLst>
                  <a:cxn ang="0">
                    <a:pos x="connsiteX0" y="connsiteY0"/>
                  </a:cxn>
                  <a:cxn ang="0">
                    <a:pos x="connsiteX1" y="connsiteY1"/>
                  </a:cxn>
                </a:cxnLst>
                <a:rect l="l" t="t" r="r" b="b"/>
                <a:pathLst>
                  <a:path w="8400796" h="12700">
                    <a:moveTo>
                      <a:pt x="0" y="0"/>
                    </a:moveTo>
                    <a:lnTo>
                      <a:pt x="8400796" y="0"/>
                    </a:lnTo>
                  </a:path>
                </a:pathLst>
              </a:custGeom>
              <a:noFill/>
              <a:ln w="10160" cap="sq">
                <a:solidFill>
                  <a:srgbClr val="000000"/>
                </a:solidFill>
                <a:prstDash val="solid"/>
                <a:miter/>
              </a:ln>
            </p:spPr>
            <p:txBody>
              <a:bodyPr rtlCol="0" anchor="ctr"/>
              <a:lstStyle/>
              <a:p>
                <a:endParaRPr lang="en-US"/>
              </a:p>
            </p:txBody>
          </p:sp>
          <p:sp>
            <p:nvSpPr>
              <p:cNvPr id="221" name="フリーフォーム: 図形 220">
                <a:extLst>
                  <a:ext uri="{FF2B5EF4-FFF2-40B4-BE49-F238E27FC236}">
                    <a16:creationId xmlns:a16="http://schemas.microsoft.com/office/drawing/2014/main" id="{D5CF1149-7519-E91B-726C-DDCA2E06175C}"/>
                  </a:ext>
                </a:extLst>
              </p:cNvPr>
              <p:cNvSpPr/>
              <p:nvPr/>
            </p:nvSpPr>
            <p:spPr>
              <a:xfrm>
                <a:off x="-8303005" y="1941578"/>
                <a:ext cx="8400796" cy="12700"/>
              </a:xfrm>
              <a:custGeom>
                <a:avLst/>
                <a:gdLst>
                  <a:gd name="connsiteX0" fmla="*/ 0 w 8400796"/>
                  <a:gd name="connsiteY0" fmla="*/ 0 h 12700"/>
                  <a:gd name="connsiteX1" fmla="*/ 8400796 w 8400796"/>
                  <a:gd name="connsiteY1" fmla="*/ 0 h 12700"/>
                </a:gdLst>
                <a:ahLst/>
                <a:cxnLst>
                  <a:cxn ang="0">
                    <a:pos x="connsiteX0" y="connsiteY0"/>
                  </a:cxn>
                  <a:cxn ang="0">
                    <a:pos x="connsiteX1" y="connsiteY1"/>
                  </a:cxn>
                </a:cxnLst>
                <a:rect l="l" t="t" r="r" b="b"/>
                <a:pathLst>
                  <a:path w="8400796" h="12700">
                    <a:moveTo>
                      <a:pt x="0" y="0"/>
                    </a:moveTo>
                    <a:lnTo>
                      <a:pt x="8400796" y="0"/>
                    </a:lnTo>
                  </a:path>
                </a:pathLst>
              </a:custGeom>
              <a:noFill/>
              <a:ln w="10160" cap="sq">
                <a:solidFill>
                  <a:srgbClr val="000000"/>
                </a:solidFill>
                <a:prstDash val="solid"/>
                <a:miter/>
              </a:ln>
            </p:spPr>
            <p:txBody>
              <a:bodyPr rtlCol="0" anchor="ctr"/>
              <a:lstStyle/>
              <a:p>
                <a:endParaRPr lang="en-US"/>
              </a:p>
            </p:txBody>
          </p:sp>
          <p:grpSp>
            <p:nvGrpSpPr>
              <p:cNvPr id="222" name="グラフィックス 2">
                <a:extLst>
                  <a:ext uri="{FF2B5EF4-FFF2-40B4-BE49-F238E27FC236}">
                    <a16:creationId xmlns:a16="http://schemas.microsoft.com/office/drawing/2014/main" id="{0FB5AA9F-BE82-BC97-63AB-F1888487D57C}"/>
                  </a:ext>
                </a:extLst>
              </p:cNvPr>
              <p:cNvGrpSpPr/>
              <p:nvPr/>
            </p:nvGrpSpPr>
            <p:grpSpPr>
              <a:xfrm>
                <a:off x="-5323862" y="1749578"/>
                <a:ext cx="2439599" cy="147494"/>
                <a:chOff x="-5323862" y="1749578"/>
                <a:chExt cx="2439599" cy="147494"/>
              </a:xfrm>
              <a:solidFill>
                <a:srgbClr val="000000"/>
              </a:solidFill>
            </p:grpSpPr>
            <p:sp>
              <p:nvSpPr>
                <p:cNvPr id="223" name="フリーフォーム: 図形 222">
                  <a:extLst>
                    <a:ext uri="{FF2B5EF4-FFF2-40B4-BE49-F238E27FC236}">
                      <a16:creationId xmlns:a16="http://schemas.microsoft.com/office/drawing/2014/main" id="{E07AFC3B-45DB-A8A8-EF82-F6D5667E3F7A}"/>
                    </a:ext>
                  </a:extLst>
                </p:cNvPr>
                <p:cNvSpPr/>
                <p:nvPr/>
              </p:nvSpPr>
              <p:spPr>
                <a:xfrm flipV="1">
                  <a:off x="-5323862" y="1752269"/>
                  <a:ext cx="78200" cy="115276"/>
                </a:xfrm>
                <a:custGeom>
                  <a:avLst/>
                  <a:gdLst>
                    <a:gd name="connsiteX0" fmla="*/ 69730 w 78200"/>
                    <a:gd name="connsiteY0" fmla="*/ 107320 h 115276"/>
                    <a:gd name="connsiteX1" fmla="*/ 69730 w 78200"/>
                    <a:gd name="connsiteY1" fmla="*/ 92651 h 115276"/>
                    <a:gd name="connsiteX2" fmla="*/ 53585 w 78200"/>
                    <a:gd name="connsiteY2" fmla="*/ 98747 h 115276"/>
                    <a:gd name="connsiteX3" fmla="*/ 38917 w 78200"/>
                    <a:gd name="connsiteY3" fmla="*/ 100771 h 115276"/>
                    <a:gd name="connsiteX4" fmla="*/ 19986 w 78200"/>
                    <a:gd name="connsiteY4" fmla="*/ 96009 h 115276"/>
                    <a:gd name="connsiteX5" fmla="*/ 13319 w 78200"/>
                    <a:gd name="connsiteY5" fmla="*/ 82460 h 115276"/>
                    <a:gd name="connsiteX6" fmla="*/ 17748 w 78200"/>
                    <a:gd name="connsiteY6" fmla="*/ 71315 h 115276"/>
                    <a:gd name="connsiteX7" fmla="*/ 34535 w 78200"/>
                    <a:gd name="connsiteY7" fmla="*/ 65267 h 115276"/>
                    <a:gd name="connsiteX8" fmla="*/ 43608 w 78200"/>
                    <a:gd name="connsiteY8" fmla="*/ 63410 h 115276"/>
                    <a:gd name="connsiteX9" fmla="*/ 68421 w 78200"/>
                    <a:gd name="connsiteY9" fmla="*/ 52122 h 115276"/>
                    <a:gd name="connsiteX10" fmla="*/ 76422 w 78200"/>
                    <a:gd name="connsiteY10" fmla="*/ 30524 h 115276"/>
                    <a:gd name="connsiteX11" fmla="*/ 65587 w 78200"/>
                    <a:gd name="connsiteY11" fmla="*/ 6021 h 115276"/>
                    <a:gd name="connsiteX12" fmla="*/ 33869 w 78200"/>
                    <a:gd name="connsiteY12" fmla="*/ -2313 h 115276"/>
                    <a:gd name="connsiteX13" fmla="*/ 17081 w 78200"/>
                    <a:gd name="connsiteY13" fmla="*/ -527 h 115276"/>
                    <a:gd name="connsiteX14" fmla="*/ -1326 w 78200"/>
                    <a:gd name="connsiteY14" fmla="*/ 4759 h 115276"/>
                    <a:gd name="connsiteX15" fmla="*/ -1326 w 78200"/>
                    <a:gd name="connsiteY15" fmla="*/ 20237 h 115276"/>
                    <a:gd name="connsiteX16" fmla="*/ 16605 w 78200"/>
                    <a:gd name="connsiteY16" fmla="*/ 12498 h 115276"/>
                    <a:gd name="connsiteX17" fmla="*/ 33869 w 78200"/>
                    <a:gd name="connsiteY17" fmla="*/ 9903 h 115276"/>
                    <a:gd name="connsiteX18" fmla="*/ 53728 w 78200"/>
                    <a:gd name="connsiteY18" fmla="*/ 14951 h 115276"/>
                    <a:gd name="connsiteX19" fmla="*/ 60729 w 78200"/>
                    <a:gd name="connsiteY19" fmla="*/ 29405 h 115276"/>
                    <a:gd name="connsiteX20" fmla="*/ 55705 w 78200"/>
                    <a:gd name="connsiteY20" fmla="*/ 42193 h 115276"/>
                    <a:gd name="connsiteX21" fmla="*/ 39227 w 78200"/>
                    <a:gd name="connsiteY21" fmla="*/ 49122 h 115276"/>
                    <a:gd name="connsiteX22" fmla="*/ 30059 w 78200"/>
                    <a:gd name="connsiteY22" fmla="*/ 50908 h 115276"/>
                    <a:gd name="connsiteX23" fmla="*/ 5722 w 78200"/>
                    <a:gd name="connsiteY23" fmla="*/ 61385 h 115276"/>
                    <a:gd name="connsiteX24" fmla="*/ -1779 w 78200"/>
                    <a:gd name="connsiteY24" fmla="*/ 81269 h 115276"/>
                    <a:gd name="connsiteX25" fmla="*/ 8604 w 78200"/>
                    <a:gd name="connsiteY25" fmla="*/ 104486 h 115276"/>
                    <a:gd name="connsiteX26" fmla="*/ 37202 w 78200"/>
                    <a:gd name="connsiteY26" fmla="*/ 112963 h 115276"/>
                    <a:gd name="connsiteX27" fmla="*/ 53133 w 78200"/>
                    <a:gd name="connsiteY27" fmla="*/ 111535 h 115276"/>
                    <a:gd name="connsiteX28" fmla="*/ 69730 w 78200"/>
                    <a:gd name="connsiteY28" fmla="*/ 107320 h 115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78200" h="115276">
                      <a:moveTo>
                        <a:pt x="69730" y="107320"/>
                      </a:moveTo>
                      <a:lnTo>
                        <a:pt x="69730" y="92651"/>
                      </a:lnTo>
                      <a:cubicBezTo>
                        <a:pt x="64031" y="95382"/>
                        <a:pt x="58650" y="97414"/>
                        <a:pt x="53585" y="98747"/>
                      </a:cubicBezTo>
                      <a:cubicBezTo>
                        <a:pt x="48521" y="100097"/>
                        <a:pt x="43632" y="100771"/>
                        <a:pt x="38917" y="100771"/>
                      </a:cubicBezTo>
                      <a:cubicBezTo>
                        <a:pt x="30741" y="100771"/>
                        <a:pt x="24431" y="99184"/>
                        <a:pt x="19986" y="96009"/>
                      </a:cubicBezTo>
                      <a:cubicBezTo>
                        <a:pt x="15541" y="92834"/>
                        <a:pt x="13319" y="88317"/>
                        <a:pt x="13319" y="82460"/>
                      </a:cubicBezTo>
                      <a:cubicBezTo>
                        <a:pt x="13319" y="77538"/>
                        <a:pt x="14795" y="73823"/>
                        <a:pt x="17748" y="71315"/>
                      </a:cubicBezTo>
                      <a:cubicBezTo>
                        <a:pt x="20700" y="68823"/>
                        <a:pt x="26296" y="66807"/>
                        <a:pt x="34535" y="65267"/>
                      </a:cubicBezTo>
                      <a:lnTo>
                        <a:pt x="43608" y="63410"/>
                      </a:lnTo>
                      <a:cubicBezTo>
                        <a:pt x="54816" y="61266"/>
                        <a:pt x="63087" y="57504"/>
                        <a:pt x="68421" y="52122"/>
                      </a:cubicBezTo>
                      <a:cubicBezTo>
                        <a:pt x="73755" y="46741"/>
                        <a:pt x="76422" y="39542"/>
                        <a:pt x="76422" y="30524"/>
                      </a:cubicBezTo>
                      <a:cubicBezTo>
                        <a:pt x="76422" y="19745"/>
                        <a:pt x="72810" y="11578"/>
                        <a:pt x="65587" y="6021"/>
                      </a:cubicBezTo>
                      <a:cubicBezTo>
                        <a:pt x="58380" y="465"/>
                        <a:pt x="47807" y="-2313"/>
                        <a:pt x="33869" y="-2313"/>
                      </a:cubicBezTo>
                      <a:cubicBezTo>
                        <a:pt x="28614" y="-2313"/>
                        <a:pt x="23018" y="-1718"/>
                        <a:pt x="17081" y="-527"/>
                      </a:cubicBezTo>
                      <a:cubicBezTo>
                        <a:pt x="11159" y="664"/>
                        <a:pt x="5024" y="2426"/>
                        <a:pt x="-1326" y="4759"/>
                      </a:cubicBezTo>
                      <a:lnTo>
                        <a:pt x="-1326" y="20237"/>
                      </a:lnTo>
                      <a:cubicBezTo>
                        <a:pt x="4770" y="16824"/>
                        <a:pt x="10747" y="14245"/>
                        <a:pt x="16605" y="12498"/>
                      </a:cubicBezTo>
                      <a:cubicBezTo>
                        <a:pt x="22463" y="10768"/>
                        <a:pt x="28217" y="9903"/>
                        <a:pt x="33869" y="9903"/>
                      </a:cubicBezTo>
                      <a:cubicBezTo>
                        <a:pt x="42441" y="9903"/>
                        <a:pt x="49061" y="11586"/>
                        <a:pt x="53728" y="14951"/>
                      </a:cubicBezTo>
                      <a:cubicBezTo>
                        <a:pt x="58396" y="18332"/>
                        <a:pt x="60729" y="23151"/>
                        <a:pt x="60729" y="29405"/>
                      </a:cubicBezTo>
                      <a:cubicBezTo>
                        <a:pt x="60729" y="34850"/>
                        <a:pt x="59054" y="39113"/>
                        <a:pt x="55705" y="42193"/>
                      </a:cubicBezTo>
                      <a:cubicBezTo>
                        <a:pt x="52355" y="45272"/>
                        <a:pt x="46862" y="47582"/>
                        <a:pt x="39227" y="49122"/>
                      </a:cubicBezTo>
                      <a:lnTo>
                        <a:pt x="30059" y="50908"/>
                      </a:lnTo>
                      <a:cubicBezTo>
                        <a:pt x="18851" y="53130"/>
                        <a:pt x="10739" y="56623"/>
                        <a:pt x="5722" y="61385"/>
                      </a:cubicBezTo>
                      <a:cubicBezTo>
                        <a:pt x="722" y="66148"/>
                        <a:pt x="-1779" y="72776"/>
                        <a:pt x="-1779" y="81269"/>
                      </a:cubicBezTo>
                      <a:cubicBezTo>
                        <a:pt x="-1779" y="91096"/>
                        <a:pt x="1682" y="98835"/>
                        <a:pt x="8604" y="104486"/>
                      </a:cubicBezTo>
                      <a:cubicBezTo>
                        <a:pt x="15525" y="110138"/>
                        <a:pt x="25058" y="112963"/>
                        <a:pt x="37202" y="112963"/>
                      </a:cubicBezTo>
                      <a:cubicBezTo>
                        <a:pt x="42425" y="112963"/>
                        <a:pt x="47735" y="112487"/>
                        <a:pt x="53133" y="111535"/>
                      </a:cubicBezTo>
                      <a:cubicBezTo>
                        <a:pt x="58546" y="110598"/>
                        <a:pt x="64079" y="109193"/>
                        <a:pt x="69730" y="107320"/>
                      </a:cubicBezTo>
                      <a:close/>
                    </a:path>
                  </a:pathLst>
                </a:custGeom>
                <a:solidFill>
                  <a:srgbClr val="000000"/>
                </a:solidFill>
                <a:ln w="24" cap="flat">
                  <a:noFill/>
                  <a:prstDash val="solid"/>
                  <a:round/>
                </a:ln>
              </p:spPr>
              <p:txBody>
                <a:bodyPr rtlCol="0" anchor="ctr"/>
                <a:lstStyle/>
                <a:p>
                  <a:endParaRPr lang="en-US"/>
                </a:p>
              </p:txBody>
            </p:sp>
            <p:sp>
              <p:nvSpPr>
                <p:cNvPr id="224" name="フリーフォーム: 図形 223">
                  <a:extLst>
                    <a:ext uri="{FF2B5EF4-FFF2-40B4-BE49-F238E27FC236}">
                      <a16:creationId xmlns:a16="http://schemas.microsoft.com/office/drawing/2014/main" id="{7F2DA5CE-FDDC-D8B6-2659-7DAA527E4D17}"/>
                    </a:ext>
                  </a:extLst>
                </p:cNvPr>
                <p:cNvSpPr/>
                <p:nvPr/>
              </p:nvSpPr>
              <p:spPr>
                <a:xfrm flipV="1">
                  <a:off x="-5228766" y="1780035"/>
                  <a:ext cx="76509" cy="87510"/>
                </a:xfrm>
                <a:custGeom>
                  <a:avLst/>
                  <a:gdLst>
                    <a:gd name="connsiteX0" fmla="*/ 36576 w 76509"/>
                    <a:gd name="connsiteY0" fmla="*/ 74185 h 87510"/>
                    <a:gd name="connsiteX1" fmla="*/ 19169 w 76509"/>
                    <a:gd name="connsiteY1" fmla="*/ 65589 h 87510"/>
                    <a:gd name="connsiteX2" fmla="*/ 12764 w 76509"/>
                    <a:gd name="connsiteY2" fmla="*/ 42038 h 87510"/>
                    <a:gd name="connsiteX3" fmla="*/ 19122 w 76509"/>
                    <a:gd name="connsiteY3" fmla="*/ 18488 h 87510"/>
                    <a:gd name="connsiteX4" fmla="*/ 36576 w 76509"/>
                    <a:gd name="connsiteY4" fmla="*/ 9892 h 87510"/>
                    <a:gd name="connsiteX5" fmla="*/ 53912 w 76509"/>
                    <a:gd name="connsiteY5" fmla="*/ 18512 h 87510"/>
                    <a:gd name="connsiteX6" fmla="*/ 60317 w 76509"/>
                    <a:gd name="connsiteY6" fmla="*/ 42038 h 87510"/>
                    <a:gd name="connsiteX7" fmla="*/ 53912 w 76509"/>
                    <a:gd name="connsiteY7" fmla="*/ 65518 h 87510"/>
                    <a:gd name="connsiteX8" fmla="*/ 36576 w 76509"/>
                    <a:gd name="connsiteY8" fmla="*/ 74185 h 87510"/>
                    <a:gd name="connsiteX9" fmla="*/ 36576 w 76509"/>
                    <a:gd name="connsiteY9" fmla="*/ 85782 h 87510"/>
                    <a:gd name="connsiteX10" fmla="*/ 64627 w 76509"/>
                    <a:gd name="connsiteY10" fmla="*/ 74162 h 87510"/>
                    <a:gd name="connsiteX11" fmla="*/ 74843 w 76509"/>
                    <a:gd name="connsiteY11" fmla="*/ 42038 h 87510"/>
                    <a:gd name="connsiteX12" fmla="*/ 64627 w 76509"/>
                    <a:gd name="connsiteY12" fmla="*/ 9915 h 87510"/>
                    <a:gd name="connsiteX13" fmla="*/ 36576 w 76509"/>
                    <a:gd name="connsiteY13" fmla="*/ -1729 h 87510"/>
                    <a:gd name="connsiteX14" fmla="*/ 8477 w 76509"/>
                    <a:gd name="connsiteY14" fmla="*/ 9915 h 87510"/>
                    <a:gd name="connsiteX15" fmla="*/ -1667 w 76509"/>
                    <a:gd name="connsiteY15" fmla="*/ 42038 h 87510"/>
                    <a:gd name="connsiteX16" fmla="*/ 8477 w 76509"/>
                    <a:gd name="connsiteY16" fmla="*/ 74162 h 87510"/>
                    <a:gd name="connsiteX17" fmla="*/ 36576 w 76509"/>
                    <a:gd name="connsiteY17" fmla="*/ 85782 h 875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6509" h="87510">
                      <a:moveTo>
                        <a:pt x="36576" y="74185"/>
                      </a:moveTo>
                      <a:cubicBezTo>
                        <a:pt x="29242" y="74185"/>
                        <a:pt x="23440" y="71320"/>
                        <a:pt x="19169" y="65589"/>
                      </a:cubicBezTo>
                      <a:cubicBezTo>
                        <a:pt x="14899" y="59858"/>
                        <a:pt x="12764" y="52008"/>
                        <a:pt x="12764" y="42038"/>
                      </a:cubicBezTo>
                      <a:cubicBezTo>
                        <a:pt x="12764" y="32069"/>
                        <a:pt x="14883" y="24219"/>
                        <a:pt x="19122" y="18488"/>
                      </a:cubicBezTo>
                      <a:cubicBezTo>
                        <a:pt x="23376" y="12757"/>
                        <a:pt x="29194" y="9892"/>
                        <a:pt x="36576" y="9892"/>
                      </a:cubicBezTo>
                      <a:cubicBezTo>
                        <a:pt x="43879" y="9892"/>
                        <a:pt x="49657" y="12765"/>
                        <a:pt x="53912" y="18512"/>
                      </a:cubicBezTo>
                      <a:cubicBezTo>
                        <a:pt x="58182" y="24274"/>
                        <a:pt x="60317" y="32117"/>
                        <a:pt x="60317" y="42038"/>
                      </a:cubicBezTo>
                      <a:cubicBezTo>
                        <a:pt x="60317" y="51913"/>
                        <a:pt x="58182" y="59739"/>
                        <a:pt x="53912" y="65518"/>
                      </a:cubicBezTo>
                      <a:cubicBezTo>
                        <a:pt x="49657" y="71296"/>
                        <a:pt x="43879" y="74185"/>
                        <a:pt x="36576" y="74185"/>
                      </a:cubicBezTo>
                      <a:close/>
                      <a:moveTo>
                        <a:pt x="36576" y="85782"/>
                      </a:moveTo>
                      <a:cubicBezTo>
                        <a:pt x="48482" y="85782"/>
                        <a:pt x="57833" y="81908"/>
                        <a:pt x="64627" y="74162"/>
                      </a:cubicBezTo>
                      <a:cubicBezTo>
                        <a:pt x="71438" y="66430"/>
                        <a:pt x="74843" y="55723"/>
                        <a:pt x="74843" y="42038"/>
                      </a:cubicBezTo>
                      <a:cubicBezTo>
                        <a:pt x="74843" y="28402"/>
                        <a:pt x="71438" y="17694"/>
                        <a:pt x="64627" y="9915"/>
                      </a:cubicBezTo>
                      <a:cubicBezTo>
                        <a:pt x="57833" y="2153"/>
                        <a:pt x="48482" y="-1729"/>
                        <a:pt x="36576" y="-1729"/>
                      </a:cubicBezTo>
                      <a:cubicBezTo>
                        <a:pt x="24622" y="-1729"/>
                        <a:pt x="15256" y="2153"/>
                        <a:pt x="8477" y="9915"/>
                      </a:cubicBezTo>
                      <a:cubicBezTo>
                        <a:pt x="1715" y="17694"/>
                        <a:pt x="-1667" y="28402"/>
                        <a:pt x="-1667" y="42038"/>
                      </a:cubicBezTo>
                      <a:cubicBezTo>
                        <a:pt x="-1667" y="55723"/>
                        <a:pt x="1715" y="66430"/>
                        <a:pt x="8477" y="74162"/>
                      </a:cubicBezTo>
                      <a:cubicBezTo>
                        <a:pt x="15256" y="81908"/>
                        <a:pt x="24622" y="85782"/>
                        <a:pt x="36576" y="85782"/>
                      </a:cubicBezTo>
                      <a:close/>
                    </a:path>
                  </a:pathLst>
                </a:custGeom>
                <a:solidFill>
                  <a:srgbClr val="000000"/>
                </a:solidFill>
                <a:ln w="24" cap="flat">
                  <a:noFill/>
                  <a:prstDash val="solid"/>
                  <a:round/>
                </a:ln>
              </p:spPr>
              <p:txBody>
                <a:bodyPr rtlCol="0" anchor="ctr"/>
                <a:lstStyle/>
                <a:p>
                  <a:endParaRPr lang="en-US"/>
                </a:p>
              </p:txBody>
            </p:sp>
            <p:sp>
              <p:nvSpPr>
                <p:cNvPr id="225" name="フリーフォーム: 図形 224">
                  <a:extLst>
                    <a:ext uri="{FF2B5EF4-FFF2-40B4-BE49-F238E27FC236}">
                      <a16:creationId xmlns:a16="http://schemas.microsoft.com/office/drawing/2014/main" id="{66201198-5F04-4593-0C7F-0A8B06C52876}"/>
                    </a:ext>
                  </a:extLst>
                </p:cNvPr>
                <p:cNvSpPr/>
                <p:nvPr/>
              </p:nvSpPr>
              <p:spPr>
                <a:xfrm flipV="1">
                  <a:off x="-5129573" y="1749578"/>
                  <a:ext cx="13692" cy="115800"/>
                </a:xfrm>
                <a:custGeom>
                  <a:avLst/>
                  <a:gdLst>
                    <a:gd name="connsiteX0" fmla="*/ -592 w 13692"/>
                    <a:gd name="connsiteY0" fmla="*/ 113385 h 115800"/>
                    <a:gd name="connsiteX1" fmla="*/ 13100 w 13692"/>
                    <a:gd name="connsiteY1" fmla="*/ 113385 h 115800"/>
                    <a:gd name="connsiteX2" fmla="*/ 13100 w 13692"/>
                    <a:gd name="connsiteY2" fmla="*/ -2415 h 115800"/>
                    <a:gd name="connsiteX3" fmla="*/ -592 w 13692"/>
                    <a:gd name="connsiteY3" fmla="*/ -2415 h 115800"/>
                    <a:gd name="connsiteX4" fmla="*/ -592 w 13692"/>
                    <a:gd name="connsiteY4" fmla="*/ 113385 h 115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92" h="115800">
                      <a:moveTo>
                        <a:pt x="-592" y="113385"/>
                      </a:moveTo>
                      <a:lnTo>
                        <a:pt x="13100" y="113385"/>
                      </a:lnTo>
                      <a:lnTo>
                        <a:pt x="13100" y="-2415"/>
                      </a:lnTo>
                      <a:lnTo>
                        <a:pt x="-592" y="-2415"/>
                      </a:lnTo>
                      <a:lnTo>
                        <a:pt x="-592" y="113385"/>
                      </a:lnTo>
                      <a:close/>
                    </a:path>
                  </a:pathLst>
                </a:custGeom>
                <a:solidFill>
                  <a:srgbClr val="000000"/>
                </a:solidFill>
                <a:ln w="24" cap="flat">
                  <a:noFill/>
                  <a:prstDash val="solid"/>
                  <a:round/>
                </a:ln>
              </p:spPr>
              <p:txBody>
                <a:bodyPr rtlCol="0" anchor="ctr"/>
                <a:lstStyle/>
                <a:p>
                  <a:endParaRPr lang="en-US"/>
                </a:p>
              </p:txBody>
            </p:sp>
            <p:sp>
              <p:nvSpPr>
                <p:cNvPr id="226" name="フリーフォーム: 図形 225">
                  <a:extLst>
                    <a:ext uri="{FF2B5EF4-FFF2-40B4-BE49-F238E27FC236}">
                      <a16:creationId xmlns:a16="http://schemas.microsoft.com/office/drawing/2014/main" id="{08596437-91AB-C380-132A-A9708B1FCB8B}"/>
                    </a:ext>
                  </a:extLst>
                </p:cNvPr>
                <p:cNvSpPr/>
                <p:nvPr/>
              </p:nvSpPr>
              <p:spPr>
                <a:xfrm flipV="1">
                  <a:off x="-5092447" y="1780035"/>
                  <a:ext cx="70413" cy="87510"/>
                </a:xfrm>
                <a:custGeom>
                  <a:avLst/>
                  <a:gdLst>
                    <a:gd name="connsiteX0" fmla="*/ 41541 w 70413"/>
                    <a:gd name="connsiteY0" fmla="*/ 42324 h 87510"/>
                    <a:gd name="connsiteX1" fmla="*/ 18539 w 70413"/>
                    <a:gd name="connsiteY1" fmla="*/ 38538 h 87510"/>
                    <a:gd name="connsiteX2" fmla="*/ 12133 w 70413"/>
                    <a:gd name="connsiteY2" fmla="*/ 25584 h 87510"/>
                    <a:gd name="connsiteX3" fmla="*/ 16943 w 70413"/>
                    <a:gd name="connsiteY3" fmla="*/ 14011 h 87510"/>
                    <a:gd name="connsiteX4" fmla="*/ 29992 w 70413"/>
                    <a:gd name="connsiteY4" fmla="*/ 9749 h 87510"/>
                    <a:gd name="connsiteX5" fmla="*/ 48280 w 70413"/>
                    <a:gd name="connsiteY5" fmla="*/ 17821 h 87510"/>
                    <a:gd name="connsiteX6" fmla="*/ 55162 w 70413"/>
                    <a:gd name="connsiteY6" fmla="*/ 39276 h 87510"/>
                    <a:gd name="connsiteX7" fmla="*/ 55162 w 70413"/>
                    <a:gd name="connsiteY7" fmla="*/ 42324 h 87510"/>
                    <a:gd name="connsiteX8" fmla="*/ 41541 w 70413"/>
                    <a:gd name="connsiteY8" fmla="*/ 42324 h 87510"/>
                    <a:gd name="connsiteX9" fmla="*/ 68854 w 70413"/>
                    <a:gd name="connsiteY9" fmla="*/ 47992 h 87510"/>
                    <a:gd name="connsiteX10" fmla="*/ 68854 w 70413"/>
                    <a:gd name="connsiteY10" fmla="*/ 438 h 87510"/>
                    <a:gd name="connsiteX11" fmla="*/ 55162 w 70413"/>
                    <a:gd name="connsiteY11" fmla="*/ 438 h 87510"/>
                    <a:gd name="connsiteX12" fmla="*/ 55162 w 70413"/>
                    <a:gd name="connsiteY12" fmla="*/ 13082 h 87510"/>
                    <a:gd name="connsiteX13" fmla="*/ 43470 w 70413"/>
                    <a:gd name="connsiteY13" fmla="*/ 1891 h 87510"/>
                    <a:gd name="connsiteX14" fmla="*/ 26349 w 70413"/>
                    <a:gd name="connsiteY14" fmla="*/ -1729 h 87510"/>
                    <a:gd name="connsiteX15" fmla="*/ 5989 w 70413"/>
                    <a:gd name="connsiteY15" fmla="*/ 5462 h 87510"/>
                    <a:gd name="connsiteX16" fmla="*/ -1559 w 70413"/>
                    <a:gd name="connsiteY16" fmla="*/ 24703 h 87510"/>
                    <a:gd name="connsiteX17" fmla="*/ 7847 w 70413"/>
                    <a:gd name="connsiteY17" fmla="*/ 45896 h 87510"/>
                    <a:gd name="connsiteX18" fmla="*/ 35945 w 70413"/>
                    <a:gd name="connsiteY18" fmla="*/ 53040 h 87510"/>
                    <a:gd name="connsiteX19" fmla="*/ 55162 w 70413"/>
                    <a:gd name="connsiteY19" fmla="*/ 53040 h 87510"/>
                    <a:gd name="connsiteX20" fmla="*/ 55162 w 70413"/>
                    <a:gd name="connsiteY20" fmla="*/ 54397 h 87510"/>
                    <a:gd name="connsiteX21" fmla="*/ 48947 w 70413"/>
                    <a:gd name="connsiteY21" fmla="*/ 69018 h 87510"/>
                    <a:gd name="connsiteX22" fmla="*/ 31493 w 70413"/>
                    <a:gd name="connsiteY22" fmla="*/ 74185 h 87510"/>
                    <a:gd name="connsiteX23" fmla="*/ 17562 w 70413"/>
                    <a:gd name="connsiteY23" fmla="*/ 72471 h 87510"/>
                    <a:gd name="connsiteX24" fmla="*/ 4561 w 70413"/>
                    <a:gd name="connsiteY24" fmla="*/ 67327 h 87510"/>
                    <a:gd name="connsiteX25" fmla="*/ 4561 w 70413"/>
                    <a:gd name="connsiteY25" fmla="*/ 79996 h 87510"/>
                    <a:gd name="connsiteX26" fmla="*/ 19134 w 70413"/>
                    <a:gd name="connsiteY26" fmla="*/ 84329 h 87510"/>
                    <a:gd name="connsiteX27" fmla="*/ 32897 w 70413"/>
                    <a:gd name="connsiteY27" fmla="*/ 85782 h 87510"/>
                    <a:gd name="connsiteX28" fmla="*/ 59925 w 70413"/>
                    <a:gd name="connsiteY28" fmla="*/ 76400 h 87510"/>
                    <a:gd name="connsiteX29" fmla="*/ 68854 w 70413"/>
                    <a:gd name="connsiteY29" fmla="*/ 47992 h 875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70413" h="87510">
                      <a:moveTo>
                        <a:pt x="41541" y="42324"/>
                      </a:moveTo>
                      <a:cubicBezTo>
                        <a:pt x="30476" y="42324"/>
                        <a:pt x="22809" y="41062"/>
                        <a:pt x="18539" y="38538"/>
                      </a:cubicBezTo>
                      <a:cubicBezTo>
                        <a:pt x="14268" y="36014"/>
                        <a:pt x="12133" y="31696"/>
                        <a:pt x="12133" y="25584"/>
                      </a:cubicBezTo>
                      <a:cubicBezTo>
                        <a:pt x="12133" y="20726"/>
                        <a:pt x="13736" y="16869"/>
                        <a:pt x="16943" y="14011"/>
                      </a:cubicBezTo>
                      <a:cubicBezTo>
                        <a:pt x="20150" y="11170"/>
                        <a:pt x="24500" y="9749"/>
                        <a:pt x="29992" y="9749"/>
                      </a:cubicBezTo>
                      <a:cubicBezTo>
                        <a:pt x="37596" y="9749"/>
                        <a:pt x="43692" y="12440"/>
                        <a:pt x="48280" y="17821"/>
                      </a:cubicBezTo>
                      <a:cubicBezTo>
                        <a:pt x="52868" y="23203"/>
                        <a:pt x="55162" y="30354"/>
                        <a:pt x="55162" y="39276"/>
                      </a:cubicBezTo>
                      <a:lnTo>
                        <a:pt x="55162" y="42324"/>
                      </a:lnTo>
                      <a:lnTo>
                        <a:pt x="41541" y="42324"/>
                      </a:lnTo>
                      <a:close/>
                      <a:moveTo>
                        <a:pt x="68854" y="47992"/>
                      </a:moveTo>
                      <a:lnTo>
                        <a:pt x="68854" y="438"/>
                      </a:lnTo>
                      <a:lnTo>
                        <a:pt x="55162" y="438"/>
                      </a:lnTo>
                      <a:lnTo>
                        <a:pt x="55162" y="13082"/>
                      </a:lnTo>
                      <a:cubicBezTo>
                        <a:pt x="52035" y="8034"/>
                        <a:pt x="48137" y="4304"/>
                        <a:pt x="43470" y="1891"/>
                      </a:cubicBezTo>
                      <a:cubicBezTo>
                        <a:pt x="38803" y="-522"/>
                        <a:pt x="33096" y="-1729"/>
                        <a:pt x="26349" y="-1729"/>
                      </a:cubicBezTo>
                      <a:cubicBezTo>
                        <a:pt x="17824" y="-1729"/>
                        <a:pt x="11038" y="668"/>
                        <a:pt x="5989" y="5462"/>
                      </a:cubicBezTo>
                      <a:cubicBezTo>
                        <a:pt x="957" y="10257"/>
                        <a:pt x="-1559" y="16670"/>
                        <a:pt x="-1559" y="24703"/>
                      </a:cubicBezTo>
                      <a:cubicBezTo>
                        <a:pt x="-1559" y="34069"/>
                        <a:pt x="1576" y="41134"/>
                        <a:pt x="7847" y="45896"/>
                      </a:cubicBezTo>
                      <a:cubicBezTo>
                        <a:pt x="14133" y="50659"/>
                        <a:pt x="23499" y="53040"/>
                        <a:pt x="35945" y="53040"/>
                      </a:cubicBezTo>
                      <a:lnTo>
                        <a:pt x="55162" y="53040"/>
                      </a:lnTo>
                      <a:lnTo>
                        <a:pt x="55162" y="54397"/>
                      </a:lnTo>
                      <a:cubicBezTo>
                        <a:pt x="55162" y="60700"/>
                        <a:pt x="53090" y="65573"/>
                        <a:pt x="48947" y="69018"/>
                      </a:cubicBezTo>
                      <a:cubicBezTo>
                        <a:pt x="44804" y="72463"/>
                        <a:pt x="38986" y="74185"/>
                        <a:pt x="31493" y="74185"/>
                      </a:cubicBezTo>
                      <a:cubicBezTo>
                        <a:pt x="26730" y="74185"/>
                        <a:pt x="22087" y="73614"/>
                        <a:pt x="17562" y="72471"/>
                      </a:cubicBezTo>
                      <a:cubicBezTo>
                        <a:pt x="13054" y="71328"/>
                        <a:pt x="8720" y="69613"/>
                        <a:pt x="4561" y="67327"/>
                      </a:cubicBezTo>
                      <a:lnTo>
                        <a:pt x="4561" y="79996"/>
                      </a:lnTo>
                      <a:cubicBezTo>
                        <a:pt x="9561" y="81932"/>
                        <a:pt x="14419" y="83377"/>
                        <a:pt x="19134" y="84329"/>
                      </a:cubicBezTo>
                      <a:cubicBezTo>
                        <a:pt x="23849" y="85298"/>
                        <a:pt x="28437" y="85782"/>
                        <a:pt x="32897" y="85782"/>
                      </a:cubicBezTo>
                      <a:cubicBezTo>
                        <a:pt x="44963" y="85782"/>
                        <a:pt x="53972" y="82655"/>
                        <a:pt x="59925" y="76400"/>
                      </a:cubicBezTo>
                      <a:cubicBezTo>
                        <a:pt x="65878" y="70161"/>
                        <a:pt x="68854" y="60692"/>
                        <a:pt x="68854" y="47992"/>
                      </a:cubicBezTo>
                      <a:close/>
                    </a:path>
                  </a:pathLst>
                </a:custGeom>
                <a:solidFill>
                  <a:srgbClr val="000000"/>
                </a:solidFill>
                <a:ln w="24" cap="flat">
                  <a:noFill/>
                  <a:prstDash val="solid"/>
                  <a:round/>
                </a:ln>
              </p:spPr>
              <p:txBody>
                <a:bodyPr rtlCol="0" anchor="ctr"/>
                <a:lstStyle/>
                <a:p>
                  <a:endParaRPr lang="en-US"/>
                </a:p>
              </p:txBody>
            </p:sp>
            <p:sp>
              <p:nvSpPr>
                <p:cNvPr id="227" name="フリーフォーム: 図形 226">
                  <a:extLst>
                    <a:ext uri="{FF2B5EF4-FFF2-40B4-BE49-F238E27FC236}">
                      <a16:creationId xmlns:a16="http://schemas.microsoft.com/office/drawing/2014/main" id="{C80C8EBB-3BB4-CE13-4A8F-C9BB4D8D27FC}"/>
                    </a:ext>
                  </a:extLst>
                </p:cNvPr>
                <p:cNvSpPr/>
                <p:nvPr/>
              </p:nvSpPr>
              <p:spPr>
                <a:xfrm flipV="1">
                  <a:off x="-4994365" y="1780035"/>
                  <a:ext cx="48815" cy="85343"/>
                </a:xfrm>
                <a:custGeom>
                  <a:avLst/>
                  <a:gdLst>
                    <a:gd name="connsiteX0" fmla="*/ 47520 w 48815"/>
                    <a:gd name="connsiteY0" fmla="*/ 68782 h 85343"/>
                    <a:gd name="connsiteX1" fmla="*/ 42495 w 48815"/>
                    <a:gd name="connsiteY1" fmla="*/ 70735 h 85343"/>
                    <a:gd name="connsiteX2" fmla="*/ 36518 w 48815"/>
                    <a:gd name="connsiteY2" fmla="*/ 71378 h 85343"/>
                    <a:gd name="connsiteX3" fmla="*/ 18683 w 48815"/>
                    <a:gd name="connsiteY3" fmla="*/ 63829 h 85343"/>
                    <a:gd name="connsiteX4" fmla="*/ 12468 w 48815"/>
                    <a:gd name="connsiteY4" fmla="*/ 42136 h 85343"/>
                    <a:gd name="connsiteX5" fmla="*/ 12468 w 48815"/>
                    <a:gd name="connsiteY5" fmla="*/ -1774 h 85343"/>
                    <a:gd name="connsiteX6" fmla="*/ -1296 w 48815"/>
                    <a:gd name="connsiteY6" fmla="*/ -1774 h 85343"/>
                    <a:gd name="connsiteX7" fmla="*/ -1296 w 48815"/>
                    <a:gd name="connsiteY7" fmla="*/ 81569 h 85343"/>
                    <a:gd name="connsiteX8" fmla="*/ 12468 w 48815"/>
                    <a:gd name="connsiteY8" fmla="*/ 81569 h 85343"/>
                    <a:gd name="connsiteX9" fmla="*/ 12468 w 48815"/>
                    <a:gd name="connsiteY9" fmla="*/ 68615 h 85343"/>
                    <a:gd name="connsiteX10" fmla="*/ 23707 w 48815"/>
                    <a:gd name="connsiteY10" fmla="*/ 79879 h 85343"/>
                    <a:gd name="connsiteX11" fmla="*/ 40543 w 48815"/>
                    <a:gd name="connsiteY11" fmla="*/ 83570 h 85343"/>
                    <a:gd name="connsiteX12" fmla="*/ 43662 w 48815"/>
                    <a:gd name="connsiteY12" fmla="*/ 83379 h 85343"/>
                    <a:gd name="connsiteX13" fmla="*/ 47448 w 48815"/>
                    <a:gd name="connsiteY13" fmla="*/ 82831 h 85343"/>
                    <a:gd name="connsiteX14" fmla="*/ 47520 w 48815"/>
                    <a:gd name="connsiteY14" fmla="*/ 68782 h 85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8815" h="85343">
                      <a:moveTo>
                        <a:pt x="47520" y="68782"/>
                      </a:moveTo>
                      <a:cubicBezTo>
                        <a:pt x="45980" y="69671"/>
                        <a:pt x="44305" y="70322"/>
                        <a:pt x="42495" y="70735"/>
                      </a:cubicBezTo>
                      <a:cubicBezTo>
                        <a:pt x="40686" y="71163"/>
                        <a:pt x="38693" y="71378"/>
                        <a:pt x="36518" y="71378"/>
                      </a:cubicBezTo>
                      <a:cubicBezTo>
                        <a:pt x="28771" y="71378"/>
                        <a:pt x="22826" y="68861"/>
                        <a:pt x="18683" y="63829"/>
                      </a:cubicBezTo>
                      <a:cubicBezTo>
                        <a:pt x="14539" y="58797"/>
                        <a:pt x="12468" y="51566"/>
                        <a:pt x="12468" y="42136"/>
                      </a:cubicBezTo>
                      <a:lnTo>
                        <a:pt x="12468" y="-1774"/>
                      </a:lnTo>
                      <a:lnTo>
                        <a:pt x="-1296" y="-1774"/>
                      </a:lnTo>
                      <a:lnTo>
                        <a:pt x="-1296" y="81569"/>
                      </a:lnTo>
                      <a:lnTo>
                        <a:pt x="12468" y="81569"/>
                      </a:lnTo>
                      <a:lnTo>
                        <a:pt x="12468" y="68615"/>
                      </a:lnTo>
                      <a:cubicBezTo>
                        <a:pt x="15357" y="73679"/>
                        <a:pt x="19104" y="77434"/>
                        <a:pt x="23707" y="79879"/>
                      </a:cubicBezTo>
                      <a:cubicBezTo>
                        <a:pt x="28327" y="82339"/>
                        <a:pt x="33939" y="83570"/>
                        <a:pt x="40543" y="83570"/>
                      </a:cubicBezTo>
                      <a:cubicBezTo>
                        <a:pt x="41479" y="83570"/>
                        <a:pt x="42519" y="83506"/>
                        <a:pt x="43662" y="83379"/>
                      </a:cubicBezTo>
                      <a:cubicBezTo>
                        <a:pt x="44805" y="83268"/>
                        <a:pt x="46067" y="83085"/>
                        <a:pt x="47448" y="82831"/>
                      </a:cubicBezTo>
                      <a:lnTo>
                        <a:pt x="47520" y="68782"/>
                      </a:lnTo>
                      <a:close/>
                    </a:path>
                  </a:pathLst>
                </a:custGeom>
                <a:solidFill>
                  <a:srgbClr val="000000"/>
                </a:solidFill>
                <a:ln w="24" cap="flat">
                  <a:noFill/>
                  <a:prstDash val="solid"/>
                  <a:round/>
                </a:ln>
              </p:spPr>
              <p:txBody>
                <a:bodyPr rtlCol="0" anchor="ctr"/>
                <a:lstStyle/>
                <a:p>
                  <a:endParaRPr lang="en-US"/>
                </a:p>
              </p:txBody>
            </p:sp>
            <p:sp>
              <p:nvSpPr>
                <p:cNvPr id="228" name="フリーフォーム: 図形 227">
                  <a:extLst>
                    <a:ext uri="{FF2B5EF4-FFF2-40B4-BE49-F238E27FC236}">
                      <a16:creationId xmlns:a16="http://schemas.microsoft.com/office/drawing/2014/main" id="{26466B90-5990-23F5-5282-1418EE32AEBC}"/>
                    </a:ext>
                  </a:extLst>
                </p:cNvPr>
                <p:cNvSpPr/>
                <p:nvPr/>
              </p:nvSpPr>
              <p:spPr>
                <a:xfrm flipV="1">
                  <a:off x="-4945544" y="1865379"/>
                  <a:ext cx="12700" cy="12700"/>
                </a:xfrm>
                <a:custGeom>
                  <a:avLst/>
                  <a:gdLst/>
                  <a:ahLst/>
                  <a:cxnLst/>
                  <a:rect l="l" t="t" r="r" b="b"/>
                  <a:pathLst>
                    <a:path w="12700" h="12700"/>
                  </a:pathLst>
                </a:custGeom>
                <a:solidFill>
                  <a:srgbClr val="000000"/>
                </a:solidFill>
                <a:ln w="24" cap="flat">
                  <a:noFill/>
                  <a:prstDash val="solid"/>
                  <a:round/>
                </a:ln>
              </p:spPr>
              <p:txBody>
                <a:bodyPr rtlCol="0" anchor="ctr"/>
                <a:lstStyle/>
                <a:p>
                  <a:endParaRPr lang="en-US"/>
                </a:p>
              </p:txBody>
            </p:sp>
            <p:sp>
              <p:nvSpPr>
                <p:cNvPr id="229" name="フリーフォーム: 図形 228">
                  <a:extLst>
                    <a:ext uri="{FF2B5EF4-FFF2-40B4-BE49-F238E27FC236}">
                      <a16:creationId xmlns:a16="http://schemas.microsoft.com/office/drawing/2014/main" id="{1261CE18-8A1E-BE21-26E5-DB9E0A48C972}"/>
                    </a:ext>
                  </a:extLst>
                </p:cNvPr>
                <p:cNvSpPr/>
                <p:nvPr/>
              </p:nvSpPr>
              <p:spPr>
                <a:xfrm flipV="1">
                  <a:off x="-4888552" y="1752269"/>
                  <a:ext cx="102846" cy="115276"/>
                </a:xfrm>
                <a:custGeom>
                  <a:avLst/>
                  <a:gdLst>
                    <a:gd name="connsiteX0" fmla="*/ 49309 w 102846"/>
                    <a:gd name="connsiteY0" fmla="*/ 100771 h 115276"/>
                    <a:gd name="connsiteX1" fmla="*/ 23281 w 102846"/>
                    <a:gd name="connsiteY1" fmla="*/ 88556 h 115276"/>
                    <a:gd name="connsiteX2" fmla="*/ 13661 w 102846"/>
                    <a:gd name="connsiteY2" fmla="*/ 55289 h 115276"/>
                    <a:gd name="connsiteX3" fmla="*/ 23281 w 102846"/>
                    <a:gd name="connsiteY3" fmla="*/ 22095 h 115276"/>
                    <a:gd name="connsiteX4" fmla="*/ 49309 w 102846"/>
                    <a:gd name="connsiteY4" fmla="*/ 9903 h 115276"/>
                    <a:gd name="connsiteX5" fmla="*/ 75240 w 102846"/>
                    <a:gd name="connsiteY5" fmla="*/ 22095 h 115276"/>
                    <a:gd name="connsiteX6" fmla="*/ 84813 w 102846"/>
                    <a:gd name="connsiteY6" fmla="*/ 55289 h 115276"/>
                    <a:gd name="connsiteX7" fmla="*/ 75240 w 102846"/>
                    <a:gd name="connsiteY7" fmla="*/ 88556 h 115276"/>
                    <a:gd name="connsiteX8" fmla="*/ 49309 w 102846"/>
                    <a:gd name="connsiteY8" fmla="*/ 100771 h 115276"/>
                    <a:gd name="connsiteX9" fmla="*/ 49309 w 102846"/>
                    <a:gd name="connsiteY9" fmla="*/ 112963 h 115276"/>
                    <a:gd name="connsiteX10" fmla="*/ 86647 w 102846"/>
                    <a:gd name="connsiteY10" fmla="*/ 97295 h 115276"/>
                    <a:gd name="connsiteX11" fmla="*/ 100648 w 102846"/>
                    <a:gd name="connsiteY11" fmla="*/ 55289 h 115276"/>
                    <a:gd name="connsiteX12" fmla="*/ 86647 w 102846"/>
                    <a:gd name="connsiteY12" fmla="*/ 13356 h 115276"/>
                    <a:gd name="connsiteX13" fmla="*/ 49309 w 102846"/>
                    <a:gd name="connsiteY13" fmla="*/ -2313 h 115276"/>
                    <a:gd name="connsiteX14" fmla="*/ 11828 w 102846"/>
                    <a:gd name="connsiteY14" fmla="*/ 13308 h 115276"/>
                    <a:gd name="connsiteX15" fmla="*/ -2198 w 102846"/>
                    <a:gd name="connsiteY15" fmla="*/ 55289 h 115276"/>
                    <a:gd name="connsiteX16" fmla="*/ 11828 w 102846"/>
                    <a:gd name="connsiteY16" fmla="*/ 97295 h 115276"/>
                    <a:gd name="connsiteX17" fmla="*/ 49309 w 102846"/>
                    <a:gd name="connsiteY17" fmla="*/ 112963 h 115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02846" h="115276">
                      <a:moveTo>
                        <a:pt x="49309" y="100771"/>
                      </a:moveTo>
                      <a:cubicBezTo>
                        <a:pt x="38386" y="100771"/>
                        <a:pt x="29711" y="96699"/>
                        <a:pt x="23281" y="88556"/>
                      </a:cubicBezTo>
                      <a:cubicBezTo>
                        <a:pt x="16868" y="80428"/>
                        <a:pt x="13661" y="69339"/>
                        <a:pt x="13661" y="55289"/>
                      </a:cubicBezTo>
                      <a:cubicBezTo>
                        <a:pt x="13661" y="41304"/>
                        <a:pt x="16868" y="30239"/>
                        <a:pt x="23281" y="22095"/>
                      </a:cubicBezTo>
                      <a:cubicBezTo>
                        <a:pt x="29711" y="13967"/>
                        <a:pt x="38386" y="9903"/>
                        <a:pt x="49309" y="9903"/>
                      </a:cubicBezTo>
                      <a:cubicBezTo>
                        <a:pt x="60215" y="9903"/>
                        <a:pt x="68859" y="13967"/>
                        <a:pt x="75240" y="22095"/>
                      </a:cubicBezTo>
                      <a:cubicBezTo>
                        <a:pt x="81622" y="30239"/>
                        <a:pt x="84813" y="41304"/>
                        <a:pt x="84813" y="55289"/>
                      </a:cubicBezTo>
                      <a:cubicBezTo>
                        <a:pt x="84813" y="69339"/>
                        <a:pt x="81622" y="80428"/>
                        <a:pt x="75240" y="88556"/>
                      </a:cubicBezTo>
                      <a:cubicBezTo>
                        <a:pt x="68859" y="96699"/>
                        <a:pt x="60215" y="100771"/>
                        <a:pt x="49309" y="100771"/>
                      </a:cubicBezTo>
                      <a:close/>
                      <a:moveTo>
                        <a:pt x="49309" y="112963"/>
                      </a:moveTo>
                      <a:cubicBezTo>
                        <a:pt x="64882" y="112963"/>
                        <a:pt x="77328" y="107741"/>
                        <a:pt x="86647" y="97295"/>
                      </a:cubicBezTo>
                      <a:cubicBezTo>
                        <a:pt x="95981" y="86849"/>
                        <a:pt x="100648" y="72847"/>
                        <a:pt x="100648" y="55289"/>
                      </a:cubicBezTo>
                      <a:cubicBezTo>
                        <a:pt x="100648" y="37779"/>
                        <a:pt x="95981" y="23801"/>
                        <a:pt x="86647" y="13356"/>
                      </a:cubicBezTo>
                      <a:cubicBezTo>
                        <a:pt x="77328" y="2910"/>
                        <a:pt x="64882" y="-2313"/>
                        <a:pt x="49309" y="-2313"/>
                      </a:cubicBezTo>
                      <a:cubicBezTo>
                        <a:pt x="33688" y="-2313"/>
                        <a:pt x="21194" y="2894"/>
                        <a:pt x="11828" y="13308"/>
                      </a:cubicBezTo>
                      <a:cubicBezTo>
                        <a:pt x="2477" y="23738"/>
                        <a:pt x="-2198" y="37732"/>
                        <a:pt x="-2198" y="55289"/>
                      </a:cubicBezTo>
                      <a:cubicBezTo>
                        <a:pt x="-2198" y="72847"/>
                        <a:pt x="2477" y="86849"/>
                        <a:pt x="11828" y="97295"/>
                      </a:cubicBezTo>
                      <a:cubicBezTo>
                        <a:pt x="21194" y="107741"/>
                        <a:pt x="33688" y="112963"/>
                        <a:pt x="49309" y="112963"/>
                      </a:cubicBezTo>
                      <a:close/>
                    </a:path>
                  </a:pathLst>
                </a:custGeom>
                <a:solidFill>
                  <a:srgbClr val="000000"/>
                </a:solidFill>
                <a:ln w="24" cap="flat">
                  <a:noFill/>
                  <a:prstDash val="solid"/>
                  <a:round/>
                </a:ln>
              </p:spPr>
              <p:txBody>
                <a:bodyPr rtlCol="0" anchor="ctr"/>
                <a:lstStyle/>
                <a:p>
                  <a:endParaRPr lang="en-US"/>
                </a:p>
              </p:txBody>
            </p:sp>
            <p:sp>
              <p:nvSpPr>
                <p:cNvPr id="230" name="フリーフォーム: 図形 229">
                  <a:extLst>
                    <a:ext uri="{FF2B5EF4-FFF2-40B4-BE49-F238E27FC236}">
                      <a16:creationId xmlns:a16="http://schemas.microsoft.com/office/drawing/2014/main" id="{07F61368-C503-4F83-62B1-C700F355B32D}"/>
                    </a:ext>
                  </a:extLst>
                </p:cNvPr>
                <p:cNvSpPr/>
                <p:nvPr/>
              </p:nvSpPr>
              <p:spPr>
                <a:xfrm flipV="1">
                  <a:off x="-4763310" y="1780035"/>
                  <a:ext cx="74580" cy="117038"/>
                </a:xfrm>
                <a:custGeom>
                  <a:avLst/>
                  <a:gdLst>
                    <a:gd name="connsiteX0" fmla="*/ 11946 w 74580"/>
                    <a:gd name="connsiteY0" fmla="*/ 43088 h 117038"/>
                    <a:gd name="connsiteX1" fmla="*/ 11946 w 74580"/>
                    <a:gd name="connsiteY1" fmla="*/ -1108 h 117038"/>
                    <a:gd name="connsiteX2" fmla="*/ -1818 w 74580"/>
                    <a:gd name="connsiteY2" fmla="*/ -1108 h 117038"/>
                    <a:gd name="connsiteX3" fmla="*/ -1818 w 74580"/>
                    <a:gd name="connsiteY3" fmla="*/ 113930 h 117038"/>
                    <a:gd name="connsiteX4" fmla="*/ 11946 w 74580"/>
                    <a:gd name="connsiteY4" fmla="*/ 113930 h 117038"/>
                    <a:gd name="connsiteX5" fmla="*/ 11946 w 74580"/>
                    <a:gd name="connsiteY5" fmla="*/ 101286 h 117038"/>
                    <a:gd name="connsiteX6" fmla="*/ 22852 w 74580"/>
                    <a:gd name="connsiteY6" fmla="*/ 112311 h 117038"/>
                    <a:gd name="connsiteX7" fmla="*/ 38592 w 74580"/>
                    <a:gd name="connsiteY7" fmla="*/ 115931 h 117038"/>
                    <a:gd name="connsiteX8" fmla="*/ 63262 w 74580"/>
                    <a:gd name="connsiteY8" fmla="*/ 103882 h 117038"/>
                    <a:gd name="connsiteX9" fmla="*/ 72763 w 74580"/>
                    <a:gd name="connsiteY9" fmla="*/ 72187 h 117038"/>
                    <a:gd name="connsiteX10" fmla="*/ 63262 w 74580"/>
                    <a:gd name="connsiteY10" fmla="*/ 40469 h 117038"/>
                    <a:gd name="connsiteX11" fmla="*/ 38592 w 74580"/>
                    <a:gd name="connsiteY11" fmla="*/ 28420 h 117038"/>
                    <a:gd name="connsiteX12" fmla="*/ 22852 w 74580"/>
                    <a:gd name="connsiteY12" fmla="*/ 32039 h 117038"/>
                    <a:gd name="connsiteX13" fmla="*/ 11946 w 74580"/>
                    <a:gd name="connsiteY13" fmla="*/ 43088 h 117038"/>
                    <a:gd name="connsiteX14" fmla="*/ 58547 w 74580"/>
                    <a:gd name="connsiteY14" fmla="*/ 72187 h 117038"/>
                    <a:gd name="connsiteX15" fmla="*/ 52332 w 74580"/>
                    <a:gd name="connsiteY15" fmla="*/ 95881 h 117038"/>
                    <a:gd name="connsiteX16" fmla="*/ 35258 w 74580"/>
                    <a:gd name="connsiteY16" fmla="*/ 104477 h 117038"/>
                    <a:gd name="connsiteX17" fmla="*/ 18161 w 74580"/>
                    <a:gd name="connsiteY17" fmla="*/ 95881 h 117038"/>
                    <a:gd name="connsiteX18" fmla="*/ 11946 w 74580"/>
                    <a:gd name="connsiteY18" fmla="*/ 72187 h 117038"/>
                    <a:gd name="connsiteX19" fmla="*/ 18161 w 74580"/>
                    <a:gd name="connsiteY19" fmla="*/ 48494 h 117038"/>
                    <a:gd name="connsiteX20" fmla="*/ 35258 w 74580"/>
                    <a:gd name="connsiteY20" fmla="*/ 39897 h 117038"/>
                    <a:gd name="connsiteX21" fmla="*/ 52332 w 74580"/>
                    <a:gd name="connsiteY21" fmla="*/ 48494 h 117038"/>
                    <a:gd name="connsiteX22" fmla="*/ 58547 w 74580"/>
                    <a:gd name="connsiteY22" fmla="*/ 72187 h 1170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74580" h="117038">
                      <a:moveTo>
                        <a:pt x="11946" y="43088"/>
                      </a:moveTo>
                      <a:lnTo>
                        <a:pt x="11946" y="-1108"/>
                      </a:lnTo>
                      <a:lnTo>
                        <a:pt x="-1818" y="-1108"/>
                      </a:lnTo>
                      <a:lnTo>
                        <a:pt x="-1818" y="113930"/>
                      </a:lnTo>
                      <a:lnTo>
                        <a:pt x="11946" y="113930"/>
                      </a:lnTo>
                      <a:lnTo>
                        <a:pt x="11946" y="101286"/>
                      </a:lnTo>
                      <a:cubicBezTo>
                        <a:pt x="14835" y="106239"/>
                        <a:pt x="18471" y="109914"/>
                        <a:pt x="22852" y="112311"/>
                      </a:cubicBezTo>
                      <a:cubicBezTo>
                        <a:pt x="27250" y="114724"/>
                        <a:pt x="32496" y="115931"/>
                        <a:pt x="38592" y="115931"/>
                      </a:cubicBezTo>
                      <a:cubicBezTo>
                        <a:pt x="48720" y="115931"/>
                        <a:pt x="56944" y="111914"/>
                        <a:pt x="63262" y="103882"/>
                      </a:cubicBezTo>
                      <a:cubicBezTo>
                        <a:pt x="69596" y="95849"/>
                        <a:pt x="72763" y="85284"/>
                        <a:pt x="72763" y="72187"/>
                      </a:cubicBezTo>
                      <a:cubicBezTo>
                        <a:pt x="72763" y="59090"/>
                        <a:pt x="69596" y="48518"/>
                        <a:pt x="63262" y="40469"/>
                      </a:cubicBezTo>
                      <a:cubicBezTo>
                        <a:pt x="56944" y="32436"/>
                        <a:pt x="48720" y="28420"/>
                        <a:pt x="38592" y="28420"/>
                      </a:cubicBezTo>
                      <a:cubicBezTo>
                        <a:pt x="32496" y="28420"/>
                        <a:pt x="27250" y="29626"/>
                        <a:pt x="22852" y="32039"/>
                      </a:cubicBezTo>
                      <a:cubicBezTo>
                        <a:pt x="18471" y="34452"/>
                        <a:pt x="14835" y="38135"/>
                        <a:pt x="11946" y="43088"/>
                      </a:cubicBezTo>
                      <a:close/>
                      <a:moveTo>
                        <a:pt x="58547" y="72187"/>
                      </a:moveTo>
                      <a:cubicBezTo>
                        <a:pt x="58547" y="82252"/>
                        <a:pt x="56475" y="90150"/>
                        <a:pt x="52332" y="95881"/>
                      </a:cubicBezTo>
                      <a:cubicBezTo>
                        <a:pt x="48189" y="101612"/>
                        <a:pt x="42497" y="104477"/>
                        <a:pt x="35258" y="104477"/>
                      </a:cubicBezTo>
                      <a:cubicBezTo>
                        <a:pt x="28003" y="104477"/>
                        <a:pt x="22304" y="101612"/>
                        <a:pt x="18161" y="95881"/>
                      </a:cubicBezTo>
                      <a:cubicBezTo>
                        <a:pt x="14018" y="90150"/>
                        <a:pt x="11946" y="82252"/>
                        <a:pt x="11946" y="72187"/>
                      </a:cubicBezTo>
                      <a:cubicBezTo>
                        <a:pt x="11946" y="62122"/>
                        <a:pt x="14018" y="54225"/>
                        <a:pt x="18161" y="48494"/>
                      </a:cubicBezTo>
                      <a:cubicBezTo>
                        <a:pt x="22304" y="42763"/>
                        <a:pt x="28003" y="39897"/>
                        <a:pt x="35258" y="39897"/>
                      </a:cubicBezTo>
                      <a:cubicBezTo>
                        <a:pt x="42497" y="39897"/>
                        <a:pt x="48189" y="42763"/>
                        <a:pt x="52332" y="48494"/>
                      </a:cubicBezTo>
                      <a:cubicBezTo>
                        <a:pt x="56475" y="54225"/>
                        <a:pt x="58547" y="62122"/>
                        <a:pt x="58547" y="72187"/>
                      </a:cubicBezTo>
                      <a:close/>
                    </a:path>
                  </a:pathLst>
                </a:custGeom>
                <a:solidFill>
                  <a:srgbClr val="000000"/>
                </a:solidFill>
                <a:ln w="24" cap="flat">
                  <a:noFill/>
                  <a:prstDash val="solid"/>
                  <a:round/>
                </a:ln>
              </p:spPr>
              <p:txBody>
                <a:bodyPr rtlCol="0" anchor="ctr"/>
                <a:lstStyle/>
                <a:p>
                  <a:endParaRPr lang="en-US"/>
                </a:p>
              </p:txBody>
            </p:sp>
            <p:sp>
              <p:nvSpPr>
                <p:cNvPr id="231" name="フリーフォーム: 図形 230">
                  <a:extLst>
                    <a:ext uri="{FF2B5EF4-FFF2-40B4-BE49-F238E27FC236}">
                      <a16:creationId xmlns:a16="http://schemas.microsoft.com/office/drawing/2014/main" id="{C1D3B1C4-21A2-789F-E952-7E581F562A77}"/>
                    </a:ext>
                  </a:extLst>
                </p:cNvPr>
                <p:cNvSpPr/>
                <p:nvPr/>
              </p:nvSpPr>
              <p:spPr>
                <a:xfrm flipV="1">
                  <a:off x="-4672000" y="1780035"/>
                  <a:ext cx="77247" cy="87510"/>
                </a:xfrm>
                <a:custGeom>
                  <a:avLst/>
                  <a:gdLst>
                    <a:gd name="connsiteX0" fmla="*/ 75609 w 77247"/>
                    <a:gd name="connsiteY0" fmla="*/ 45539 h 87510"/>
                    <a:gd name="connsiteX1" fmla="*/ 75609 w 77247"/>
                    <a:gd name="connsiteY1" fmla="*/ 38848 h 87510"/>
                    <a:gd name="connsiteX2" fmla="*/ 12649 w 77247"/>
                    <a:gd name="connsiteY2" fmla="*/ 38848 h 87510"/>
                    <a:gd name="connsiteX3" fmla="*/ 21174 w 77247"/>
                    <a:gd name="connsiteY3" fmla="*/ 17297 h 87510"/>
                    <a:gd name="connsiteX4" fmla="*/ 42415 w 77247"/>
                    <a:gd name="connsiteY4" fmla="*/ 9892 h 87510"/>
                    <a:gd name="connsiteX5" fmla="*/ 57702 w 77247"/>
                    <a:gd name="connsiteY5" fmla="*/ 11820 h 87510"/>
                    <a:gd name="connsiteX6" fmla="*/ 72419 w 77247"/>
                    <a:gd name="connsiteY6" fmla="*/ 17631 h 87510"/>
                    <a:gd name="connsiteX7" fmla="*/ 72419 w 77247"/>
                    <a:gd name="connsiteY7" fmla="*/ 4677 h 87510"/>
                    <a:gd name="connsiteX8" fmla="*/ 57298 w 77247"/>
                    <a:gd name="connsiteY8" fmla="*/ -86 h 87510"/>
                    <a:gd name="connsiteX9" fmla="*/ 41605 w 77247"/>
                    <a:gd name="connsiteY9" fmla="*/ -1729 h 87510"/>
                    <a:gd name="connsiteX10" fmla="*/ 10006 w 77247"/>
                    <a:gd name="connsiteY10" fmla="*/ 9868 h 87510"/>
                    <a:gd name="connsiteX11" fmla="*/ -1638 w 77247"/>
                    <a:gd name="connsiteY11" fmla="*/ 41300 h 87510"/>
                    <a:gd name="connsiteX12" fmla="*/ 9411 w 77247"/>
                    <a:gd name="connsiteY12" fmla="*/ 73757 h 87510"/>
                    <a:gd name="connsiteX13" fmla="*/ 39224 w 77247"/>
                    <a:gd name="connsiteY13" fmla="*/ 85782 h 87510"/>
                    <a:gd name="connsiteX14" fmla="*/ 65822 w 77247"/>
                    <a:gd name="connsiteY14" fmla="*/ 74947 h 87510"/>
                    <a:gd name="connsiteX15" fmla="*/ 75609 w 77247"/>
                    <a:gd name="connsiteY15" fmla="*/ 45539 h 87510"/>
                    <a:gd name="connsiteX16" fmla="*/ 61917 w 77247"/>
                    <a:gd name="connsiteY16" fmla="*/ 49563 h 87510"/>
                    <a:gd name="connsiteX17" fmla="*/ 55631 w 77247"/>
                    <a:gd name="connsiteY17" fmla="*/ 67470 h 87510"/>
                    <a:gd name="connsiteX18" fmla="*/ 39367 w 77247"/>
                    <a:gd name="connsiteY18" fmla="*/ 74185 h 87510"/>
                    <a:gd name="connsiteX19" fmla="*/ 21031 w 77247"/>
                    <a:gd name="connsiteY19" fmla="*/ 67708 h 87510"/>
                    <a:gd name="connsiteX20" fmla="*/ 13102 w 77247"/>
                    <a:gd name="connsiteY20" fmla="*/ 49468 h 87510"/>
                    <a:gd name="connsiteX21" fmla="*/ 61917 w 77247"/>
                    <a:gd name="connsiteY21" fmla="*/ 49563 h 875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77247" h="87510">
                      <a:moveTo>
                        <a:pt x="75609" y="45539"/>
                      </a:moveTo>
                      <a:lnTo>
                        <a:pt x="75609" y="38848"/>
                      </a:lnTo>
                      <a:lnTo>
                        <a:pt x="12649" y="38848"/>
                      </a:lnTo>
                      <a:cubicBezTo>
                        <a:pt x="13252" y="29418"/>
                        <a:pt x="16094" y="22234"/>
                        <a:pt x="21174" y="17297"/>
                      </a:cubicBezTo>
                      <a:cubicBezTo>
                        <a:pt x="26254" y="12360"/>
                        <a:pt x="33334" y="9892"/>
                        <a:pt x="42415" y="9892"/>
                      </a:cubicBezTo>
                      <a:cubicBezTo>
                        <a:pt x="47669" y="9892"/>
                        <a:pt x="52765" y="10535"/>
                        <a:pt x="57702" y="11820"/>
                      </a:cubicBezTo>
                      <a:cubicBezTo>
                        <a:pt x="62639" y="13106"/>
                        <a:pt x="67545" y="15043"/>
                        <a:pt x="72419" y="17631"/>
                      </a:cubicBezTo>
                      <a:lnTo>
                        <a:pt x="72419" y="4677"/>
                      </a:lnTo>
                      <a:cubicBezTo>
                        <a:pt x="67497" y="2597"/>
                        <a:pt x="62457" y="1010"/>
                        <a:pt x="57298" y="-86"/>
                      </a:cubicBezTo>
                      <a:cubicBezTo>
                        <a:pt x="52138" y="-1181"/>
                        <a:pt x="46907" y="-1729"/>
                        <a:pt x="41605" y="-1729"/>
                      </a:cubicBezTo>
                      <a:cubicBezTo>
                        <a:pt x="28302" y="-1729"/>
                        <a:pt x="17769" y="2137"/>
                        <a:pt x="10006" y="9868"/>
                      </a:cubicBezTo>
                      <a:cubicBezTo>
                        <a:pt x="2243" y="17615"/>
                        <a:pt x="-1638" y="28092"/>
                        <a:pt x="-1638" y="41300"/>
                      </a:cubicBezTo>
                      <a:cubicBezTo>
                        <a:pt x="-1638" y="54937"/>
                        <a:pt x="2045" y="65756"/>
                        <a:pt x="9411" y="73757"/>
                      </a:cubicBezTo>
                      <a:cubicBezTo>
                        <a:pt x="16777" y="81774"/>
                        <a:pt x="26714" y="85782"/>
                        <a:pt x="39224" y="85782"/>
                      </a:cubicBezTo>
                      <a:cubicBezTo>
                        <a:pt x="50432" y="85782"/>
                        <a:pt x="59298" y="82170"/>
                        <a:pt x="65822" y="74947"/>
                      </a:cubicBezTo>
                      <a:cubicBezTo>
                        <a:pt x="72347" y="67740"/>
                        <a:pt x="75609" y="57937"/>
                        <a:pt x="75609" y="45539"/>
                      </a:cubicBezTo>
                      <a:close/>
                      <a:moveTo>
                        <a:pt x="61917" y="49563"/>
                      </a:moveTo>
                      <a:cubicBezTo>
                        <a:pt x="61822" y="57040"/>
                        <a:pt x="59726" y="63009"/>
                        <a:pt x="55631" y="67470"/>
                      </a:cubicBezTo>
                      <a:cubicBezTo>
                        <a:pt x="51535" y="71947"/>
                        <a:pt x="46114" y="74185"/>
                        <a:pt x="39367" y="74185"/>
                      </a:cubicBezTo>
                      <a:cubicBezTo>
                        <a:pt x="31731" y="74185"/>
                        <a:pt x="25619" y="72026"/>
                        <a:pt x="21031" y="67708"/>
                      </a:cubicBezTo>
                      <a:cubicBezTo>
                        <a:pt x="16443" y="63390"/>
                        <a:pt x="13800" y="57310"/>
                        <a:pt x="13102" y="49468"/>
                      </a:cubicBezTo>
                      <a:lnTo>
                        <a:pt x="61917" y="49563"/>
                      </a:lnTo>
                      <a:close/>
                    </a:path>
                  </a:pathLst>
                </a:custGeom>
                <a:solidFill>
                  <a:srgbClr val="000000"/>
                </a:solidFill>
                <a:ln w="24" cap="flat">
                  <a:noFill/>
                  <a:prstDash val="solid"/>
                  <a:round/>
                </a:ln>
              </p:spPr>
              <p:txBody>
                <a:bodyPr rtlCol="0" anchor="ctr"/>
                <a:lstStyle/>
                <a:p>
                  <a:endParaRPr lang="en-US"/>
                </a:p>
              </p:txBody>
            </p:sp>
            <p:sp>
              <p:nvSpPr>
                <p:cNvPr id="232" name="フリーフォーム: 図形 231">
                  <a:extLst>
                    <a:ext uri="{FF2B5EF4-FFF2-40B4-BE49-F238E27FC236}">
                      <a16:creationId xmlns:a16="http://schemas.microsoft.com/office/drawing/2014/main" id="{48E6D4D8-BE76-6E7B-F47A-A805EE319A79}"/>
                    </a:ext>
                  </a:extLst>
                </p:cNvPr>
                <p:cNvSpPr/>
                <p:nvPr/>
              </p:nvSpPr>
              <p:spPr>
                <a:xfrm flipV="1">
                  <a:off x="-4572810" y="1780035"/>
                  <a:ext cx="48815" cy="85343"/>
                </a:xfrm>
                <a:custGeom>
                  <a:avLst/>
                  <a:gdLst>
                    <a:gd name="connsiteX0" fmla="*/ 47553 w 48815"/>
                    <a:gd name="connsiteY0" fmla="*/ 68782 h 85343"/>
                    <a:gd name="connsiteX1" fmla="*/ 42529 w 48815"/>
                    <a:gd name="connsiteY1" fmla="*/ 70735 h 85343"/>
                    <a:gd name="connsiteX2" fmla="*/ 36552 w 48815"/>
                    <a:gd name="connsiteY2" fmla="*/ 71378 h 85343"/>
                    <a:gd name="connsiteX3" fmla="*/ 18716 w 48815"/>
                    <a:gd name="connsiteY3" fmla="*/ 63829 h 85343"/>
                    <a:gd name="connsiteX4" fmla="*/ 12501 w 48815"/>
                    <a:gd name="connsiteY4" fmla="*/ 42136 h 85343"/>
                    <a:gd name="connsiteX5" fmla="*/ 12501 w 48815"/>
                    <a:gd name="connsiteY5" fmla="*/ -1774 h 85343"/>
                    <a:gd name="connsiteX6" fmla="*/ -1263 w 48815"/>
                    <a:gd name="connsiteY6" fmla="*/ -1774 h 85343"/>
                    <a:gd name="connsiteX7" fmla="*/ -1263 w 48815"/>
                    <a:gd name="connsiteY7" fmla="*/ 81569 h 85343"/>
                    <a:gd name="connsiteX8" fmla="*/ 12501 w 48815"/>
                    <a:gd name="connsiteY8" fmla="*/ 81569 h 85343"/>
                    <a:gd name="connsiteX9" fmla="*/ 12501 w 48815"/>
                    <a:gd name="connsiteY9" fmla="*/ 68615 h 85343"/>
                    <a:gd name="connsiteX10" fmla="*/ 23740 w 48815"/>
                    <a:gd name="connsiteY10" fmla="*/ 79879 h 85343"/>
                    <a:gd name="connsiteX11" fmla="*/ 40576 w 48815"/>
                    <a:gd name="connsiteY11" fmla="*/ 83570 h 85343"/>
                    <a:gd name="connsiteX12" fmla="*/ 43695 w 48815"/>
                    <a:gd name="connsiteY12" fmla="*/ 83379 h 85343"/>
                    <a:gd name="connsiteX13" fmla="*/ 47482 w 48815"/>
                    <a:gd name="connsiteY13" fmla="*/ 82831 h 85343"/>
                    <a:gd name="connsiteX14" fmla="*/ 47553 w 48815"/>
                    <a:gd name="connsiteY14" fmla="*/ 68782 h 85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8815" h="85343">
                      <a:moveTo>
                        <a:pt x="47553" y="68782"/>
                      </a:moveTo>
                      <a:cubicBezTo>
                        <a:pt x="46013" y="69671"/>
                        <a:pt x="44338" y="70322"/>
                        <a:pt x="42529" y="70735"/>
                      </a:cubicBezTo>
                      <a:cubicBezTo>
                        <a:pt x="40719" y="71163"/>
                        <a:pt x="38726" y="71378"/>
                        <a:pt x="36552" y="71378"/>
                      </a:cubicBezTo>
                      <a:cubicBezTo>
                        <a:pt x="28805" y="71378"/>
                        <a:pt x="22859" y="68861"/>
                        <a:pt x="18716" y="63829"/>
                      </a:cubicBezTo>
                      <a:cubicBezTo>
                        <a:pt x="14573" y="58797"/>
                        <a:pt x="12501" y="51566"/>
                        <a:pt x="12501" y="42136"/>
                      </a:cubicBezTo>
                      <a:lnTo>
                        <a:pt x="12501" y="-1774"/>
                      </a:lnTo>
                      <a:lnTo>
                        <a:pt x="-1263" y="-1774"/>
                      </a:lnTo>
                      <a:lnTo>
                        <a:pt x="-1263" y="81569"/>
                      </a:lnTo>
                      <a:lnTo>
                        <a:pt x="12501" y="81569"/>
                      </a:lnTo>
                      <a:lnTo>
                        <a:pt x="12501" y="68615"/>
                      </a:lnTo>
                      <a:cubicBezTo>
                        <a:pt x="15390" y="73679"/>
                        <a:pt x="19137" y="77434"/>
                        <a:pt x="23740" y="79879"/>
                      </a:cubicBezTo>
                      <a:cubicBezTo>
                        <a:pt x="28360" y="82339"/>
                        <a:pt x="33972" y="83570"/>
                        <a:pt x="40576" y="83570"/>
                      </a:cubicBezTo>
                      <a:cubicBezTo>
                        <a:pt x="41512" y="83570"/>
                        <a:pt x="42552" y="83506"/>
                        <a:pt x="43695" y="83379"/>
                      </a:cubicBezTo>
                      <a:cubicBezTo>
                        <a:pt x="44838" y="83268"/>
                        <a:pt x="46100" y="83085"/>
                        <a:pt x="47482" y="82831"/>
                      </a:cubicBezTo>
                      <a:lnTo>
                        <a:pt x="47553" y="68782"/>
                      </a:lnTo>
                      <a:close/>
                    </a:path>
                  </a:pathLst>
                </a:custGeom>
                <a:solidFill>
                  <a:srgbClr val="000000"/>
                </a:solidFill>
                <a:ln w="24" cap="flat">
                  <a:noFill/>
                  <a:prstDash val="solid"/>
                  <a:round/>
                </a:ln>
              </p:spPr>
              <p:txBody>
                <a:bodyPr rtlCol="0" anchor="ctr"/>
                <a:lstStyle/>
                <a:p>
                  <a:endParaRPr lang="en-US"/>
                </a:p>
              </p:txBody>
            </p:sp>
            <p:sp>
              <p:nvSpPr>
                <p:cNvPr id="233" name="フリーフォーム: 図形 232">
                  <a:extLst>
                    <a:ext uri="{FF2B5EF4-FFF2-40B4-BE49-F238E27FC236}">
                      <a16:creationId xmlns:a16="http://schemas.microsoft.com/office/drawing/2014/main" id="{FD4D8FFD-1D80-5177-DB92-704169F60E7F}"/>
                    </a:ext>
                  </a:extLst>
                </p:cNvPr>
                <p:cNvSpPr/>
                <p:nvPr/>
              </p:nvSpPr>
              <p:spPr>
                <a:xfrm flipV="1">
                  <a:off x="-4514844" y="1780035"/>
                  <a:ext cx="70413" cy="87510"/>
                </a:xfrm>
                <a:custGeom>
                  <a:avLst/>
                  <a:gdLst>
                    <a:gd name="connsiteX0" fmla="*/ 41587 w 70413"/>
                    <a:gd name="connsiteY0" fmla="*/ 42324 h 87510"/>
                    <a:gd name="connsiteX1" fmla="*/ 18584 w 70413"/>
                    <a:gd name="connsiteY1" fmla="*/ 38538 h 87510"/>
                    <a:gd name="connsiteX2" fmla="*/ 12178 w 70413"/>
                    <a:gd name="connsiteY2" fmla="*/ 25584 h 87510"/>
                    <a:gd name="connsiteX3" fmla="*/ 16989 w 70413"/>
                    <a:gd name="connsiteY3" fmla="*/ 14011 h 87510"/>
                    <a:gd name="connsiteX4" fmla="*/ 30038 w 70413"/>
                    <a:gd name="connsiteY4" fmla="*/ 9749 h 87510"/>
                    <a:gd name="connsiteX5" fmla="*/ 48326 w 70413"/>
                    <a:gd name="connsiteY5" fmla="*/ 17821 h 87510"/>
                    <a:gd name="connsiteX6" fmla="*/ 55208 w 70413"/>
                    <a:gd name="connsiteY6" fmla="*/ 39276 h 87510"/>
                    <a:gd name="connsiteX7" fmla="*/ 55208 w 70413"/>
                    <a:gd name="connsiteY7" fmla="*/ 42324 h 87510"/>
                    <a:gd name="connsiteX8" fmla="*/ 41587 w 70413"/>
                    <a:gd name="connsiteY8" fmla="*/ 42324 h 87510"/>
                    <a:gd name="connsiteX9" fmla="*/ 68900 w 70413"/>
                    <a:gd name="connsiteY9" fmla="*/ 47992 h 87510"/>
                    <a:gd name="connsiteX10" fmla="*/ 68900 w 70413"/>
                    <a:gd name="connsiteY10" fmla="*/ 438 h 87510"/>
                    <a:gd name="connsiteX11" fmla="*/ 55208 w 70413"/>
                    <a:gd name="connsiteY11" fmla="*/ 438 h 87510"/>
                    <a:gd name="connsiteX12" fmla="*/ 55208 w 70413"/>
                    <a:gd name="connsiteY12" fmla="*/ 13082 h 87510"/>
                    <a:gd name="connsiteX13" fmla="*/ 43516 w 70413"/>
                    <a:gd name="connsiteY13" fmla="*/ 1891 h 87510"/>
                    <a:gd name="connsiteX14" fmla="*/ 26395 w 70413"/>
                    <a:gd name="connsiteY14" fmla="*/ -1729 h 87510"/>
                    <a:gd name="connsiteX15" fmla="*/ 6035 w 70413"/>
                    <a:gd name="connsiteY15" fmla="*/ 5462 h 87510"/>
                    <a:gd name="connsiteX16" fmla="*/ -1514 w 70413"/>
                    <a:gd name="connsiteY16" fmla="*/ 24703 h 87510"/>
                    <a:gd name="connsiteX17" fmla="*/ 7892 w 70413"/>
                    <a:gd name="connsiteY17" fmla="*/ 45896 h 87510"/>
                    <a:gd name="connsiteX18" fmla="*/ 35991 w 70413"/>
                    <a:gd name="connsiteY18" fmla="*/ 53040 h 87510"/>
                    <a:gd name="connsiteX19" fmla="*/ 55208 w 70413"/>
                    <a:gd name="connsiteY19" fmla="*/ 53040 h 87510"/>
                    <a:gd name="connsiteX20" fmla="*/ 55208 w 70413"/>
                    <a:gd name="connsiteY20" fmla="*/ 54397 h 87510"/>
                    <a:gd name="connsiteX21" fmla="*/ 48993 w 70413"/>
                    <a:gd name="connsiteY21" fmla="*/ 69018 h 87510"/>
                    <a:gd name="connsiteX22" fmla="*/ 31538 w 70413"/>
                    <a:gd name="connsiteY22" fmla="*/ 74185 h 87510"/>
                    <a:gd name="connsiteX23" fmla="*/ 17608 w 70413"/>
                    <a:gd name="connsiteY23" fmla="*/ 72471 h 87510"/>
                    <a:gd name="connsiteX24" fmla="*/ 4606 w 70413"/>
                    <a:gd name="connsiteY24" fmla="*/ 67327 h 87510"/>
                    <a:gd name="connsiteX25" fmla="*/ 4606 w 70413"/>
                    <a:gd name="connsiteY25" fmla="*/ 79996 h 87510"/>
                    <a:gd name="connsiteX26" fmla="*/ 19179 w 70413"/>
                    <a:gd name="connsiteY26" fmla="*/ 84329 h 87510"/>
                    <a:gd name="connsiteX27" fmla="*/ 32943 w 70413"/>
                    <a:gd name="connsiteY27" fmla="*/ 85782 h 87510"/>
                    <a:gd name="connsiteX28" fmla="*/ 59970 w 70413"/>
                    <a:gd name="connsiteY28" fmla="*/ 76400 h 87510"/>
                    <a:gd name="connsiteX29" fmla="*/ 68900 w 70413"/>
                    <a:gd name="connsiteY29" fmla="*/ 47992 h 875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70413" h="87510">
                      <a:moveTo>
                        <a:pt x="41587" y="42324"/>
                      </a:moveTo>
                      <a:cubicBezTo>
                        <a:pt x="30522" y="42324"/>
                        <a:pt x="22854" y="41062"/>
                        <a:pt x="18584" y="38538"/>
                      </a:cubicBezTo>
                      <a:cubicBezTo>
                        <a:pt x="14314" y="36014"/>
                        <a:pt x="12178" y="31696"/>
                        <a:pt x="12178" y="25584"/>
                      </a:cubicBezTo>
                      <a:cubicBezTo>
                        <a:pt x="12178" y="20726"/>
                        <a:pt x="13782" y="16869"/>
                        <a:pt x="16989" y="14011"/>
                      </a:cubicBezTo>
                      <a:cubicBezTo>
                        <a:pt x="20195" y="11170"/>
                        <a:pt x="24545" y="9749"/>
                        <a:pt x="30038" y="9749"/>
                      </a:cubicBezTo>
                      <a:cubicBezTo>
                        <a:pt x="37642" y="9749"/>
                        <a:pt x="43738" y="12440"/>
                        <a:pt x="48326" y="17821"/>
                      </a:cubicBezTo>
                      <a:cubicBezTo>
                        <a:pt x="52914" y="23203"/>
                        <a:pt x="55208" y="30354"/>
                        <a:pt x="55208" y="39276"/>
                      </a:cubicBezTo>
                      <a:lnTo>
                        <a:pt x="55208" y="42324"/>
                      </a:lnTo>
                      <a:lnTo>
                        <a:pt x="41587" y="42324"/>
                      </a:lnTo>
                      <a:close/>
                      <a:moveTo>
                        <a:pt x="68900" y="47992"/>
                      </a:moveTo>
                      <a:lnTo>
                        <a:pt x="68900" y="438"/>
                      </a:lnTo>
                      <a:lnTo>
                        <a:pt x="55208" y="438"/>
                      </a:lnTo>
                      <a:lnTo>
                        <a:pt x="55208" y="13082"/>
                      </a:lnTo>
                      <a:cubicBezTo>
                        <a:pt x="52080" y="8034"/>
                        <a:pt x="48183" y="4304"/>
                        <a:pt x="43516" y="1891"/>
                      </a:cubicBezTo>
                      <a:cubicBezTo>
                        <a:pt x="38848" y="-522"/>
                        <a:pt x="33141" y="-1729"/>
                        <a:pt x="26395" y="-1729"/>
                      </a:cubicBezTo>
                      <a:cubicBezTo>
                        <a:pt x="17870" y="-1729"/>
                        <a:pt x="11083" y="668"/>
                        <a:pt x="6035" y="5462"/>
                      </a:cubicBezTo>
                      <a:cubicBezTo>
                        <a:pt x="1002" y="10257"/>
                        <a:pt x="-1514" y="16670"/>
                        <a:pt x="-1514" y="24703"/>
                      </a:cubicBezTo>
                      <a:cubicBezTo>
                        <a:pt x="-1514" y="34069"/>
                        <a:pt x="1622" y="41134"/>
                        <a:pt x="7892" y="45896"/>
                      </a:cubicBezTo>
                      <a:cubicBezTo>
                        <a:pt x="14179" y="50659"/>
                        <a:pt x="23545" y="53040"/>
                        <a:pt x="35991" y="53040"/>
                      </a:cubicBezTo>
                      <a:lnTo>
                        <a:pt x="55208" y="53040"/>
                      </a:lnTo>
                      <a:lnTo>
                        <a:pt x="55208" y="54397"/>
                      </a:lnTo>
                      <a:cubicBezTo>
                        <a:pt x="55208" y="60700"/>
                        <a:pt x="53136" y="65573"/>
                        <a:pt x="48993" y="69018"/>
                      </a:cubicBezTo>
                      <a:cubicBezTo>
                        <a:pt x="44849" y="72463"/>
                        <a:pt x="39031" y="74185"/>
                        <a:pt x="31538" y="74185"/>
                      </a:cubicBezTo>
                      <a:cubicBezTo>
                        <a:pt x="26776" y="74185"/>
                        <a:pt x="22132" y="73614"/>
                        <a:pt x="17608" y="72471"/>
                      </a:cubicBezTo>
                      <a:cubicBezTo>
                        <a:pt x="13099" y="71328"/>
                        <a:pt x="8765" y="69613"/>
                        <a:pt x="4606" y="67327"/>
                      </a:cubicBezTo>
                      <a:lnTo>
                        <a:pt x="4606" y="79996"/>
                      </a:lnTo>
                      <a:cubicBezTo>
                        <a:pt x="9607" y="81932"/>
                        <a:pt x="14464" y="83377"/>
                        <a:pt x="19179" y="84329"/>
                      </a:cubicBezTo>
                      <a:cubicBezTo>
                        <a:pt x="23894" y="85298"/>
                        <a:pt x="28482" y="85782"/>
                        <a:pt x="32943" y="85782"/>
                      </a:cubicBezTo>
                      <a:cubicBezTo>
                        <a:pt x="45008" y="85782"/>
                        <a:pt x="54017" y="82655"/>
                        <a:pt x="59970" y="76400"/>
                      </a:cubicBezTo>
                      <a:cubicBezTo>
                        <a:pt x="65923" y="70161"/>
                        <a:pt x="68900" y="60692"/>
                        <a:pt x="68900" y="47992"/>
                      </a:cubicBezTo>
                      <a:close/>
                    </a:path>
                  </a:pathLst>
                </a:custGeom>
                <a:solidFill>
                  <a:srgbClr val="000000"/>
                </a:solidFill>
                <a:ln w="24" cap="flat">
                  <a:noFill/>
                  <a:prstDash val="solid"/>
                  <a:round/>
                </a:ln>
              </p:spPr>
              <p:txBody>
                <a:bodyPr rtlCol="0" anchor="ctr"/>
                <a:lstStyle/>
                <a:p>
                  <a:endParaRPr lang="en-US"/>
                </a:p>
              </p:txBody>
            </p:sp>
            <p:sp>
              <p:nvSpPr>
                <p:cNvPr id="234" name="フリーフォーム: 図形 233">
                  <a:extLst>
                    <a:ext uri="{FF2B5EF4-FFF2-40B4-BE49-F238E27FC236}">
                      <a16:creationId xmlns:a16="http://schemas.microsoft.com/office/drawing/2014/main" id="{A5351188-BCCC-CE46-145C-4BC99E2F84B9}"/>
                    </a:ext>
                  </a:extLst>
                </p:cNvPr>
                <p:cNvSpPr/>
                <p:nvPr/>
              </p:nvSpPr>
              <p:spPr>
                <a:xfrm flipV="1">
                  <a:off x="-4426502" y="1758365"/>
                  <a:ext cx="52006" cy="107013"/>
                </a:xfrm>
                <a:custGeom>
                  <a:avLst/>
                  <a:gdLst>
                    <a:gd name="connsiteX0" fmla="*/ 22904 w 52006"/>
                    <a:gd name="connsiteY0" fmla="*/ 104783 h 107013"/>
                    <a:gd name="connsiteX1" fmla="*/ 22904 w 52006"/>
                    <a:gd name="connsiteY1" fmla="*/ 81113 h 107013"/>
                    <a:gd name="connsiteX2" fmla="*/ 51098 w 52006"/>
                    <a:gd name="connsiteY2" fmla="*/ 81113 h 107013"/>
                    <a:gd name="connsiteX3" fmla="*/ 51098 w 52006"/>
                    <a:gd name="connsiteY3" fmla="*/ 70469 h 107013"/>
                    <a:gd name="connsiteX4" fmla="*/ 22904 w 52006"/>
                    <a:gd name="connsiteY4" fmla="*/ 70469 h 107013"/>
                    <a:gd name="connsiteX5" fmla="*/ 22904 w 52006"/>
                    <a:gd name="connsiteY5" fmla="*/ 25225 h 107013"/>
                    <a:gd name="connsiteX6" fmla="*/ 25690 w 52006"/>
                    <a:gd name="connsiteY6" fmla="*/ 12129 h 107013"/>
                    <a:gd name="connsiteX7" fmla="*/ 37048 w 52006"/>
                    <a:gd name="connsiteY7" fmla="*/ 9223 h 107013"/>
                    <a:gd name="connsiteX8" fmla="*/ 51098 w 52006"/>
                    <a:gd name="connsiteY8" fmla="*/ 9223 h 107013"/>
                    <a:gd name="connsiteX9" fmla="*/ 51098 w 52006"/>
                    <a:gd name="connsiteY9" fmla="*/ -2230 h 107013"/>
                    <a:gd name="connsiteX10" fmla="*/ 37048 w 52006"/>
                    <a:gd name="connsiteY10" fmla="*/ -2230 h 107013"/>
                    <a:gd name="connsiteX11" fmla="*/ 15164 w 52006"/>
                    <a:gd name="connsiteY11" fmla="*/ 3675 h 107013"/>
                    <a:gd name="connsiteX12" fmla="*/ 9140 w 52006"/>
                    <a:gd name="connsiteY12" fmla="*/ 25225 h 107013"/>
                    <a:gd name="connsiteX13" fmla="*/ 9140 w 52006"/>
                    <a:gd name="connsiteY13" fmla="*/ 70469 h 107013"/>
                    <a:gd name="connsiteX14" fmla="*/ -909 w 52006"/>
                    <a:gd name="connsiteY14" fmla="*/ 70469 h 107013"/>
                    <a:gd name="connsiteX15" fmla="*/ -909 w 52006"/>
                    <a:gd name="connsiteY15" fmla="*/ 81113 h 107013"/>
                    <a:gd name="connsiteX16" fmla="*/ 9140 w 52006"/>
                    <a:gd name="connsiteY16" fmla="*/ 81113 h 107013"/>
                    <a:gd name="connsiteX17" fmla="*/ 9140 w 52006"/>
                    <a:gd name="connsiteY17" fmla="*/ 104783 h 107013"/>
                    <a:gd name="connsiteX18" fmla="*/ 22904 w 52006"/>
                    <a:gd name="connsiteY18" fmla="*/ 104783 h 1070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2006" h="107013">
                      <a:moveTo>
                        <a:pt x="22904" y="104783"/>
                      </a:moveTo>
                      <a:lnTo>
                        <a:pt x="22904" y="81113"/>
                      </a:lnTo>
                      <a:lnTo>
                        <a:pt x="51098" y="81113"/>
                      </a:lnTo>
                      <a:lnTo>
                        <a:pt x="51098" y="70469"/>
                      </a:lnTo>
                      <a:lnTo>
                        <a:pt x="22904" y="70469"/>
                      </a:lnTo>
                      <a:lnTo>
                        <a:pt x="22904" y="25225"/>
                      </a:lnTo>
                      <a:cubicBezTo>
                        <a:pt x="22904" y="18431"/>
                        <a:pt x="23832" y="14065"/>
                        <a:pt x="25690" y="12129"/>
                      </a:cubicBezTo>
                      <a:cubicBezTo>
                        <a:pt x="27547" y="10192"/>
                        <a:pt x="31333" y="9223"/>
                        <a:pt x="37048" y="9223"/>
                      </a:cubicBezTo>
                      <a:lnTo>
                        <a:pt x="51098" y="9223"/>
                      </a:lnTo>
                      <a:lnTo>
                        <a:pt x="51098" y="-2230"/>
                      </a:lnTo>
                      <a:lnTo>
                        <a:pt x="37048" y="-2230"/>
                      </a:lnTo>
                      <a:cubicBezTo>
                        <a:pt x="26475" y="-2230"/>
                        <a:pt x="19181" y="-262"/>
                        <a:pt x="15164" y="3675"/>
                      </a:cubicBezTo>
                      <a:cubicBezTo>
                        <a:pt x="11148" y="7628"/>
                        <a:pt x="9140" y="14811"/>
                        <a:pt x="9140" y="25225"/>
                      </a:cubicBezTo>
                      <a:lnTo>
                        <a:pt x="9140" y="70469"/>
                      </a:lnTo>
                      <a:lnTo>
                        <a:pt x="-909" y="70469"/>
                      </a:lnTo>
                      <a:lnTo>
                        <a:pt x="-909" y="81113"/>
                      </a:lnTo>
                      <a:lnTo>
                        <a:pt x="9140" y="81113"/>
                      </a:lnTo>
                      <a:lnTo>
                        <a:pt x="9140" y="104783"/>
                      </a:lnTo>
                      <a:lnTo>
                        <a:pt x="22904" y="104783"/>
                      </a:lnTo>
                      <a:close/>
                    </a:path>
                  </a:pathLst>
                </a:custGeom>
                <a:solidFill>
                  <a:srgbClr val="000000"/>
                </a:solidFill>
                <a:ln w="24" cap="flat">
                  <a:noFill/>
                  <a:prstDash val="solid"/>
                  <a:round/>
                </a:ln>
              </p:spPr>
              <p:txBody>
                <a:bodyPr rtlCol="0" anchor="ctr"/>
                <a:lstStyle/>
                <a:p>
                  <a:endParaRPr lang="en-US"/>
                </a:p>
              </p:txBody>
            </p:sp>
            <p:sp>
              <p:nvSpPr>
                <p:cNvPr id="235" name="フリーフォーム: 図形 234">
                  <a:extLst>
                    <a:ext uri="{FF2B5EF4-FFF2-40B4-BE49-F238E27FC236}">
                      <a16:creationId xmlns:a16="http://schemas.microsoft.com/office/drawing/2014/main" id="{C9A58F22-A6D3-8855-8A5F-5BF03A4587BC}"/>
                    </a:ext>
                  </a:extLst>
                </p:cNvPr>
                <p:cNvSpPr/>
                <p:nvPr/>
              </p:nvSpPr>
              <p:spPr>
                <a:xfrm flipV="1">
                  <a:off x="-4356484" y="1749578"/>
                  <a:ext cx="13692" cy="115800"/>
                </a:xfrm>
                <a:custGeom>
                  <a:avLst/>
                  <a:gdLst>
                    <a:gd name="connsiteX0" fmla="*/ -531 w 13692"/>
                    <a:gd name="connsiteY0" fmla="*/ 80929 h 115800"/>
                    <a:gd name="connsiteX1" fmla="*/ 13161 w 13692"/>
                    <a:gd name="connsiteY1" fmla="*/ 80929 h 115800"/>
                    <a:gd name="connsiteX2" fmla="*/ 13161 w 13692"/>
                    <a:gd name="connsiteY2" fmla="*/ -2415 h 115800"/>
                    <a:gd name="connsiteX3" fmla="*/ -531 w 13692"/>
                    <a:gd name="connsiteY3" fmla="*/ -2415 h 115800"/>
                    <a:gd name="connsiteX4" fmla="*/ -531 w 13692"/>
                    <a:gd name="connsiteY4" fmla="*/ 80929 h 115800"/>
                    <a:gd name="connsiteX5" fmla="*/ -531 w 13692"/>
                    <a:gd name="connsiteY5" fmla="*/ 113385 h 115800"/>
                    <a:gd name="connsiteX6" fmla="*/ 13161 w 13692"/>
                    <a:gd name="connsiteY6" fmla="*/ 113385 h 115800"/>
                    <a:gd name="connsiteX7" fmla="*/ 13161 w 13692"/>
                    <a:gd name="connsiteY7" fmla="*/ 96026 h 115800"/>
                    <a:gd name="connsiteX8" fmla="*/ -531 w 13692"/>
                    <a:gd name="connsiteY8" fmla="*/ 96026 h 115800"/>
                    <a:gd name="connsiteX9" fmla="*/ -531 w 13692"/>
                    <a:gd name="connsiteY9" fmla="*/ 113385 h 115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3692" h="115800">
                      <a:moveTo>
                        <a:pt x="-531" y="80929"/>
                      </a:moveTo>
                      <a:lnTo>
                        <a:pt x="13161" y="80929"/>
                      </a:lnTo>
                      <a:lnTo>
                        <a:pt x="13161" y="-2415"/>
                      </a:lnTo>
                      <a:lnTo>
                        <a:pt x="-531" y="-2415"/>
                      </a:lnTo>
                      <a:lnTo>
                        <a:pt x="-531" y="80929"/>
                      </a:lnTo>
                      <a:close/>
                      <a:moveTo>
                        <a:pt x="-531" y="113385"/>
                      </a:moveTo>
                      <a:lnTo>
                        <a:pt x="13161" y="113385"/>
                      </a:lnTo>
                      <a:lnTo>
                        <a:pt x="13161" y="96026"/>
                      </a:lnTo>
                      <a:lnTo>
                        <a:pt x="-531" y="96026"/>
                      </a:lnTo>
                      <a:lnTo>
                        <a:pt x="-531" y="113385"/>
                      </a:lnTo>
                      <a:close/>
                    </a:path>
                  </a:pathLst>
                </a:custGeom>
                <a:solidFill>
                  <a:srgbClr val="000000"/>
                </a:solidFill>
                <a:ln w="24" cap="flat">
                  <a:noFill/>
                  <a:prstDash val="solid"/>
                  <a:round/>
                </a:ln>
              </p:spPr>
              <p:txBody>
                <a:bodyPr rtlCol="0" anchor="ctr"/>
                <a:lstStyle/>
                <a:p>
                  <a:endParaRPr lang="en-US"/>
                </a:p>
              </p:txBody>
            </p:sp>
            <p:sp>
              <p:nvSpPr>
                <p:cNvPr id="236" name="フリーフォーム: 図形 235">
                  <a:extLst>
                    <a:ext uri="{FF2B5EF4-FFF2-40B4-BE49-F238E27FC236}">
                      <a16:creationId xmlns:a16="http://schemas.microsoft.com/office/drawing/2014/main" id="{60C9E5B2-C83C-7480-B421-6D1E008CEFF4}"/>
                    </a:ext>
                  </a:extLst>
                </p:cNvPr>
                <p:cNvSpPr/>
                <p:nvPr/>
              </p:nvSpPr>
              <p:spPr>
                <a:xfrm flipV="1">
                  <a:off x="-4320096" y="1780035"/>
                  <a:ext cx="76509" cy="87510"/>
                </a:xfrm>
                <a:custGeom>
                  <a:avLst/>
                  <a:gdLst>
                    <a:gd name="connsiteX0" fmla="*/ 36648 w 76509"/>
                    <a:gd name="connsiteY0" fmla="*/ 74185 h 87510"/>
                    <a:gd name="connsiteX1" fmla="*/ 19241 w 76509"/>
                    <a:gd name="connsiteY1" fmla="*/ 65589 h 87510"/>
                    <a:gd name="connsiteX2" fmla="*/ 12835 w 76509"/>
                    <a:gd name="connsiteY2" fmla="*/ 42038 h 87510"/>
                    <a:gd name="connsiteX3" fmla="*/ 19193 w 76509"/>
                    <a:gd name="connsiteY3" fmla="*/ 18488 h 87510"/>
                    <a:gd name="connsiteX4" fmla="*/ 36648 w 76509"/>
                    <a:gd name="connsiteY4" fmla="*/ 9892 h 87510"/>
                    <a:gd name="connsiteX5" fmla="*/ 53983 w 76509"/>
                    <a:gd name="connsiteY5" fmla="*/ 18512 h 87510"/>
                    <a:gd name="connsiteX6" fmla="*/ 60389 w 76509"/>
                    <a:gd name="connsiteY6" fmla="*/ 42038 h 87510"/>
                    <a:gd name="connsiteX7" fmla="*/ 53983 w 76509"/>
                    <a:gd name="connsiteY7" fmla="*/ 65518 h 87510"/>
                    <a:gd name="connsiteX8" fmla="*/ 36648 w 76509"/>
                    <a:gd name="connsiteY8" fmla="*/ 74185 h 87510"/>
                    <a:gd name="connsiteX9" fmla="*/ 36648 w 76509"/>
                    <a:gd name="connsiteY9" fmla="*/ 85782 h 87510"/>
                    <a:gd name="connsiteX10" fmla="*/ 64699 w 76509"/>
                    <a:gd name="connsiteY10" fmla="*/ 74162 h 87510"/>
                    <a:gd name="connsiteX11" fmla="*/ 74914 w 76509"/>
                    <a:gd name="connsiteY11" fmla="*/ 42038 h 87510"/>
                    <a:gd name="connsiteX12" fmla="*/ 64699 w 76509"/>
                    <a:gd name="connsiteY12" fmla="*/ 9915 h 87510"/>
                    <a:gd name="connsiteX13" fmla="*/ 36648 w 76509"/>
                    <a:gd name="connsiteY13" fmla="*/ -1729 h 87510"/>
                    <a:gd name="connsiteX14" fmla="*/ 8549 w 76509"/>
                    <a:gd name="connsiteY14" fmla="*/ 9915 h 87510"/>
                    <a:gd name="connsiteX15" fmla="*/ -1595 w 76509"/>
                    <a:gd name="connsiteY15" fmla="*/ 42038 h 87510"/>
                    <a:gd name="connsiteX16" fmla="*/ 8549 w 76509"/>
                    <a:gd name="connsiteY16" fmla="*/ 74162 h 87510"/>
                    <a:gd name="connsiteX17" fmla="*/ 36648 w 76509"/>
                    <a:gd name="connsiteY17" fmla="*/ 85782 h 875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6509" h="87510">
                      <a:moveTo>
                        <a:pt x="36648" y="74185"/>
                      </a:moveTo>
                      <a:cubicBezTo>
                        <a:pt x="29313" y="74185"/>
                        <a:pt x="23511" y="71320"/>
                        <a:pt x="19241" y="65589"/>
                      </a:cubicBezTo>
                      <a:cubicBezTo>
                        <a:pt x="14970" y="59858"/>
                        <a:pt x="12835" y="52008"/>
                        <a:pt x="12835" y="42038"/>
                      </a:cubicBezTo>
                      <a:cubicBezTo>
                        <a:pt x="12835" y="32069"/>
                        <a:pt x="14955" y="24219"/>
                        <a:pt x="19193" y="18488"/>
                      </a:cubicBezTo>
                      <a:cubicBezTo>
                        <a:pt x="23448" y="12757"/>
                        <a:pt x="29266" y="9892"/>
                        <a:pt x="36648" y="9892"/>
                      </a:cubicBezTo>
                      <a:cubicBezTo>
                        <a:pt x="43950" y="9892"/>
                        <a:pt x="49729" y="12765"/>
                        <a:pt x="53983" y="18512"/>
                      </a:cubicBezTo>
                      <a:cubicBezTo>
                        <a:pt x="58254" y="24274"/>
                        <a:pt x="60389" y="32117"/>
                        <a:pt x="60389" y="42038"/>
                      </a:cubicBezTo>
                      <a:cubicBezTo>
                        <a:pt x="60389" y="51913"/>
                        <a:pt x="58254" y="59739"/>
                        <a:pt x="53983" y="65518"/>
                      </a:cubicBezTo>
                      <a:cubicBezTo>
                        <a:pt x="49729" y="71296"/>
                        <a:pt x="43950" y="74185"/>
                        <a:pt x="36648" y="74185"/>
                      </a:cubicBezTo>
                      <a:close/>
                      <a:moveTo>
                        <a:pt x="36648" y="85782"/>
                      </a:moveTo>
                      <a:cubicBezTo>
                        <a:pt x="48554" y="85782"/>
                        <a:pt x="57904" y="81908"/>
                        <a:pt x="64699" y="74162"/>
                      </a:cubicBezTo>
                      <a:cubicBezTo>
                        <a:pt x="71509" y="66430"/>
                        <a:pt x="74914" y="55723"/>
                        <a:pt x="74914" y="42038"/>
                      </a:cubicBezTo>
                      <a:cubicBezTo>
                        <a:pt x="74914" y="28402"/>
                        <a:pt x="71509" y="17694"/>
                        <a:pt x="64699" y="9915"/>
                      </a:cubicBezTo>
                      <a:cubicBezTo>
                        <a:pt x="57904" y="2153"/>
                        <a:pt x="48554" y="-1729"/>
                        <a:pt x="36648" y="-1729"/>
                      </a:cubicBezTo>
                      <a:cubicBezTo>
                        <a:pt x="24694" y="-1729"/>
                        <a:pt x="15328" y="2153"/>
                        <a:pt x="8549" y="9915"/>
                      </a:cubicBezTo>
                      <a:cubicBezTo>
                        <a:pt x="1786" y="17694"/>
                        <a:pt x="-1595" y="28402"/>
                        <a:pt x="-1595" y="42038"/>
                      </a:cubicBezTo>
                      <a:cubicBezTo>
                        <a:pt x="-1595" y="55723"/>
                        <a:pt x="1786" y="66430"/>
                        <a:pt x="8549" y="74162"/>
                      </a:cubicBezTo>
                      <a:cubicBezTo>
                        <a:pt x="15328" y="81908"/>
                        <a:pt x="24694" y="85782"/>
                        <a:pt x="36648" y="85782"/>
                      </a:cubicBezTo>
                      <a:close/>
                    </a:path>
                  </a:pathLst>
                </a:custGeom>
                <a:solidFill>
                  <a:srgbClr val="000000"/>
                </a:solidFill>
                <a:ln w="24" cap="flat">
                  <a:noFill/>
                  <a:prstDash val="solid"/>
                  <a:round/>
                </a:ln>
              </p:spPr>
              <p:txBody>
                <a:bodyPr rtlCol="0" anchor="ctr"/>
                <a:lstStyle/>
                <a:p>
                  <a:endParaRPr lang="en-US"/>
                </a:p>
              </p:txBody>
            </p:sp>
            <p:sp>
              <p:nvSpPr>
                <p:cNvPr id="237" name="フリーフォーム: 図形 236">
                  <a:extLst>
                    <a:ext uri="{FF2B5EF4-FFF2-40B4-BE49-F238E27FC236}">
                      <a16:creationId xmlns:a16="http://schemas.microsoft.com/office/drawing/2014/main" id="{80E44A0B-8317-BEAA-0388-A1EF64D62C41}"/>
                    </a:ext>
                  </a:extLst>
                </p:cNvPr>
                <p:cNvSpPr/>
                <p:nvPr/>
              </p:nvSpPr>
              <p:spPr>
                <a:xfrm flipV="1">
                  <a:off x="-4221427" y="1780035"/>
                  <a:ext cx="69818" cy="85343"/>
                </a:xfrm>
                <a:custGeom>
                  <a:avLst/>
                  <a:gdLst>
                    <a:gd name="connsiteX0" fmla="*/ 68143 w 69818"/>
                    <a:gd name="connsiteY0" fmla="*/ 48541 h 85343"/>
                    <a:gd name="connsiteX1" fmla="*/ 68143 w 69818"/>
                    <a:gd name="connsiteY1" fmla="*/ -1774 h 85343"/>
                    <a:gd name="connsiteX2" fmla="*/ 54451 w 69818"/>
                    <a:gd name="connsiteY2" fmla="*/ -1774 h 85343"/>
                    <a:gd name="connsiteX3" fmla="*/ 54451 w 69818"/>
                    <a:gd name="connsiteY3" fmla="*/ 48089 h 85343"/>
                    <a:gd name="connsiteX4" fmla="*/ 49831 w 69818"/>
                    <a:gd name="connsiteY4" fmla="*/ 65782 h 85343"/>
                    <a:gd name="connsiteX5" fmla="*/ 35996 w 69818"/>
                    <a:gd name="connsiteY5" fmla="*/ 71663 h 85343"/>
                    <a:gd name="connsiteX6" fmla="*/ 18494 w 69818"/>
                    <a:gd name="connsiteY6" fmla="*/ 64591 h 85343"/>
                    <a:gd name="connsiteX7" fmla="*/ 12088 w 69818"/>
                    <a:gd name="connsiteY7" fmla="*/ 45327 h 85343"/>
                    <a:gd name="connsiteX8" fmla="*/ 12088 w 69818"/>
                    <a:gd name="connsiteY8" fmla="*/ -1774 h 85343"/>
                    <a:gd name="connsiteX9" fmla="*/ -1675 w 69818"/>
                    <a:gd name="connsiteY9" fmla="*/ -1774 h 85343"/>
                    <a:gd name="connsiteX10" fmla="*/ -1675 w 69818"/>
                    <a:gd name="connsiteY10" fmla="*/ 81569 h 85343"/>
                    <a:gd name="connsiteX11" fmla="*/ 12088 w 69818"/>
                    <a:gd name="connsiteY11" fmla="*/ 81569 h 85343"/>
                    <a:gd name="connsiteX12" fmla="*/ 12088 w 69818"/>
                    <a:gd name="connsiteY12" fmla="*/ 68615 h 85343"/>
                    <a:gd name="connsiteX13" fmla="*/ 23661 w 69818"/>
                    <a:gd name="connsiteY13" fmla="*/ 79855 h 85343"/>
                    <a:gd name="connsiteX14" fmla="*/ 39044 w 69818"/>
                    <a:gd name="connsiteY14" fmla="*/ 83570 h 85343"/>
                    <a:gd name="connsiteX15" fmla="*/ 60761 w 69818"/>
                    <a:gd name="connsiteY15" fmla="*/ 74687 h 85343"/>
                    <a:gd name="connsiteX16" fmla="*/ 68143 w 69818"/>
                    <a:gd name="connsiteY16" fmla="*/ 48541 h 85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9818" h="85343">
                      <a:moveTo>
                        <a:pt x="68143" y="48541"/>
                      </a:moveTo>
                      <a:lnTo>
                        <a:pt x="68143" y="-1774"/>
                      </a:lnTo>
                      <a:lnTo>
                        <a:pt x="54451" y="-1774"/>
                      </a:lnTo>
                      <a:lnTo>
                        <a:pt x="54451" y="48089"/>
                      </a:lnTo>
                      <a:cubicBezTo>
                        <a:pt x="54451" y="55979"/>
                        <a:pt x="52911" y="61876"/>
                        <a:pt x="49831" y="65782"/>
                      </a:cubicBezTo>
                      <a:cubicBezTo>
                        <a:pt x="46752" y="69703"/>
                        <a:pt x="42140" y="71663"/>
                        <a:pt x="35996" y="71663"/>
                      </a:cubicBezTo>
                      <a:cubicBezTo>
                        <a:pt x="28598" y="71663"/>
                        <a:pt x="22764" y="69306"/>
                        <a:pt x="18494" y="64591"/>
                      </a:cubicBezTo>
                      <a:cubicBezTo>
                        <a:pt x="14224" y="59892"/>
                        <a:pt x="12088" y="53471"/>
                        <a:pt x="12088" y="45327"/>
                      </a:cubicBezTo>
                      <a:lnTo>
                        <a:pt x="12088" y="-1774"/>
                      </a:lnTo>
                      <a:lnTo>
                        <a:pt x="-1675" y="-1774"/>
                      </a:lnTo>
                      <a:lnTo>
                        <a:pt x="-1675" y="81569"/>
                      </a:lnTo>
                      <a:lnTo>
                        <a:pt x="12088" y="81569"/>
                      </a:lnTo>
                      <a:lnTo>
                        <a:pt x="12088" y="68615"/>
                      </a:lnTo>
                      <a:cubicBezTo>
                        <a:pt x="15375" y="73632"/>
                        <a:pt x="19232" y="77378"/>
                        <a:pt x="23661" y="79855"/>
                      </a:cubicBezTo>
                      <a:cubicBezTo>
                        <a:pt x="28106" y="82331"/>
                        <a:pt x="33234" y="83570"/>
                        <a:pt x="39044" y="83570"/>
                      </a:cubicBezTo>
                      <a:cubicBezTo>
                        <a:pt x="48617" y="83570"/>
                        <a:pt x="55856" y="80609"/>
                        <a:pt x="60761" y="74687"/>
                      </a:cubicBezTo>
                      <a:cubicBezTo>
                        <a:pt x="65683" y="68766"/>
                        <a:pt x="68143" y="60051"/>
                        <a:pt x="68143" y="48541"/>
                      </a:cubicBezTo>
                      <a:close/>
                    </a:path>
                  </a:pathLst>
                </a:custGeom>
                <a:solidFill>
                  <a:srgbClr val="000000"/>
                </a:solidFill>
                <a:ln w="24" cap="flat">
                  <a:noFill/>
                  <a:prstDash val="solid"/>
                  <a:round/>
                </a:ln>
              </p:spPr>
              <p:txBody>
                <a:bodyPr rtlCol="0" anchor="ctr"/>
                <a:lstStyle/>
                <a:p>
                  <a:endParaRPr lang="en-US"/>
                </a:p>
              </p:txBody>
            </p:sp>
            <p:sp>
              <p:nvSpPr>
                <p:cNvPr id="238" name="フリーフォーム: 図形 237">
                  <a:extLst>
                    <a:ext uri="{FF2B5EF4-FFF2-40B4-BE49-F238E27FC236}">
                      <a16:creationId xmlns:a16="http://schemas.microsoft.com/office/drawing/2014/main" id="{F502795D-1B79-3A24-11F3-E4B5B13969E0}"/>
                    </a:ext>
                  </a:extLst>
                </p:cNvPr>
                <p:cNvSpPr/>
                <p:nvPr/>
              </p:nvSpPr>
              <p:spPr>
                <a:xfrm flipV="1">
                  <a:off x="-4138672" y="1865379"/>
                  <a:ext cx="12700" cy="12700"/>
                </a:xfrm>
                <a:custGeom>
                  <a:avLst/>
                  <a:gdLst/>
                  <a:ahLst/>
                  <a:cxnLst/>
                  <a:rect l="l" t="t" r="r" b="b"/>
                  <a:pathLst>
                    <a:path w="12700" h="12700"/>
                  </a:pathLst>
                </a:custGeom>
                <a:solidFill>
                  <a:srgbClr val="000000"/>
                </a:solidFill>
                <a:ln w="24" cap="flat">
                  <a:noFill/>
                  <a:prstDash val="solid"/>
                  <a:round/>
                </a:ln>
              </p:spPr>
              <p:txBody>
                <a:bodyPr rtlCol="0" anchor="ctr"/>
                <a:lstStyle/>
                <a:p>
                  <a:endParaRPr lang="en-US"/>
                </a:p>
              </p:txBody>
            </p:sp>
            <p:sp>
              <p:nvSpPr>
                <p:cNvPr id="239" name="フリーフォーム: 図形 238">
                  <a:extLst>
                    <a:ext uri="{FF2B5EF4-FFF2-40B4-BE49-F238E27FC236}">
                      <a16:creationId xmlns:a16="http://schemas.microsoft.com/office/drawing/2014/main" id="{F5D90C67-5838-75D9-DAC9-642B2323D3CA}"/>
                    </a:ext>
                  </a:extLst>
                </p:cNvPr>
                <p:cNvSpPr/>
                <p:nvPr/>
              </p:nvSpPr>
              <p:spPr>
                <a:xfrm flipV="1">
                  <a:off x="-4075275" y="1754269"/>
                  <a:ext cx="86558" cy="111109"/>
                </a:xfrm>
                <a:custGeom>
                  <a:avLst/>
                  <a:gdLst>
                    <a:gd name="connsiteX0" fmla="*/ 50636 w 86558"/>
                    <a:gd name="connsiteY0" fmla="*/ 49785 h 111109"/>
                    <a:gd name="connsiteX1" fmla="*/ 60042 w 86558"/>
                    <a:gd name="connsiteY1" fmla="*/ 42784 h 111109"/>
                    <a:gd name="connsiteX2" fmla="*/ 69233 w 86558"/>
                    <a:gd name="connsiteY2" fmla="*/ 28044 h 111109"/>
                    <a:gd name="connsiteX3" fmla="*/ 84497 w 86558"/>
                    <a:gd name="connsiteY3" fmla="*/ -2316 h 111109"/>
                    <a:gd name="connsiteX4" fmla="*/ 68328 w 86558"/>
                    <a:gd name="connsiteY4" fmla="*/ -2316 h 111109"/>
                    <a:gd name="connsiteX5" fmla="*/ 54136 w 86558"/>
                    <a:gd name="connsiteY5" fmla="*/ 26187 h 111109"/>
                    <a:gd name="connsiteX6" fmla="*/ 43444 w 86558"/>
                    <a:gd name="connsiteY6" fmla="*/ 40998 h 111109"/>
                    <a:gd name="connsiteX7" fmla="*/ 29347 w 86558"/>
                    <a:gd name="connsiteY7" fmla="*/ 44642 h 111109"/>
                    <a:gd name="connsiteX8" fmla="*/ 12964 w 86558"/>
                    <a:gd name="connsiteY8" fmla="*/ 44642 h 111109"/>
                    <a:gd name="connsiteX9" fmla="*/ 12964 w 86558"/>
                    <a:gd name="connsiteY9" fmla="*/ -2316 h 111109"/>
                    <a:gd name="connsiteX10" fmla="*/ -2061 w 86558"/>
                    <a:gd name="connsiteY10" fmla="*/ -2316 h 111109"/>
                    <a:gd name="connsiteX11" fmla="*/ -2061 w 86558"/>
                    <a:gd name="connsiteY11" fmla="*/ 108793 h 111109"/>
                    <a:gd name="connsiteX12" fmla="*/ 31871 w 86558"/>
                    <a:gd name="connsiteY12" fmla="*/ 108793 h 111109"/>
                    <a:gd name="connsiteX13" fmla="*/ 60303 w 86558"/>
                    <a:gd name="connsiteY13" fmla="*/ 100815 h 111109"/>
                    <a:gd name="connsiteX14" fmla="*/ 69686 w 86558"/>
                    <a:gd name="connsiteY14" fmla="*/ 76789 h 111109"/>
                    <a:gd name="connsiteX15" fmla="*/ 64804 w 86558"/>
                    <a:gd name="connsiteY15" fmla="*/ 59358 h 111109"/>
                    <a:gd name="connsiteX16" fmla="*/ 50636 w 86558"/>
                    <a:gd name="connsiteY16" fmla="*/ 49785 h 111109"/>
                    <a:gd name="connsiteX17" fmla="*/ 12964 w 86558"/>
                    <a:gd name="connsiteY17" fmla="*/ 96434 h 111109"/>
                    <a:gd name="connsiteX18" fmla="*/ 12964 w 86558"/>
                    <a:gd name="connsiteY18" fmla="*/ 57000 h 111109"/>
                    <a:gd name="connsiteX19" fmla="*/ 31871 w 86558"/>
                    <a:gd name="connsiteY19" fmla="*/ 57000 h 111109"/>
                    <a:gd name="connsiteX20" fmla="*/ 48278 w 86558"/>
                    <a:gd name="connsiteY20" fmla="*/ 62025 h 111109"/>
                    <a:gd name="connsiteX21" fmla="*/ 53826 w 86558"/>
                    <a:gd name="connsiteY21" fmla="*/ 76789 h 111109"/>
                    <a:gd name="connsiteX22" fmla="*/ 48278 w 86558"/>
                    <a:gd name="connsiteY22" fmla="*/ 91481 h 111109"/>
                    <a:gd name="connsiteX23" fmla="*/ 31871 w 86558"/>
                    <a:gd name="connsiteY23" fmla="*/ 96434 h 111109"/>
                    <a:gd name="connsiteX24" fmla="*/ 12964 w 86558"/>
                    <a:gd name="connsiteY24" fmla="*/ 96434 h 111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86558" h="111109">
                      <a:moveTo>
                        <a:pt x="50636" y="49785"/>
                      </a:moveTo>
                      <a:cubicBezTo>
                        <a:pt x="53858" y="48690"/>
                        <a:pt x="56994" y="46356"/>
                        <a:pt x="60042" y="42784"/>
                      </a:cubicBezTo>
                      <a:cubicBezTo>
                        <a:pt x="63090" y="39213"/>
                        <a:pt x="66153" y="34299"/>
                        <a:pt x="69233" y="28044"/>
                      </a:cubicBezTo>
                      <a:lnTo>
                        <a:pt x="84497" y="-2316"/>
                      </a:lnTo>
                      <a:lnTo>
                        <a:pt x="68328" y="-2316"/>
                      </a:lnTo>
                      <a:lnTo>
                        <a:pt x="54136" y="26187"/>
                      </a:lnTo>
                      <a:cubicBezTo>
                        <a:pt x="50453" y="33633"/>
                        <a:pt x="46889" y="38570"/>
                        <a:pt x="43444" y="40998"/>
                      </a:cubicBezTo>
                      <a:cubicBezTo>
                        <a:pt x="39999" y="43427"/>
                        <a:pt x="35300" y="44642"/>
                        <a:pt x="29347" y="44642"/>
                      </a:cubicBezTo>
                      <a:lnTo>
                        <a:pt x="12964" y="44642"/>
                      </a:lnTo>
                      <a:lnTo>
                        <a:pt x="12964" y="-2316"/>
                      </a:lnTo>
                      <a:lnTo>
                        <a:pt x="-2061" y="-2316"/>
                      </a:lnTo>
                      <a:lnTo>
                        <a:pt x="-2061" y="108793"/>
                      </a:lnTo>
                      <a:lnTo>
                        <a:pt x="31871" y="108793"/>
                      </a:lnTo>
                      <a:cubicBezTo>
                        <a:pt x="44571" y="108793"/>
                        <a:pt x="54049" y="106133"/>
                        <a:pt x="60303" y="100815"/>
                      </a:cubicBezTo>
                      <a:cubicBezTo>
                        <a:pt x="66558" y="95513"/>
                        <a:pt x="69686" y="87504"/>
                        <a:pt x="69686" y="76789"/>
                      </a:cubicBezTo>
                      <a:cubicBezTo>
                        <a:pt x="69686" y="69788"/>
                        <a:pt x="68058" y="63978"/>
                        <a:pt x="64804" y="59358"/>
                      </a:cubicBezTo>
                      <a:cubicBezTo>
                        <a:pt x="61550" y="54754"/>
                        <a:pt x="56827" y="51563"/>
                        <a:pt x="50636" y="49785"/>
                      </a:cubicBezTo>
                      <a:close/>
                      <a:moveTo>
                        <a:pt x="12964" y="96434"/>
                      </a:moveTo>
                      <a:lnTo>
                        <a:pt x="12964" y="57000"/>
                      </a:lnTo>
                      <a:lnTo>
                        <a:pt x="31871" y="57000"/>
                      </a:lnTo>
                      <a:cubicBezTo>
                        <a:pt x="39110" y="57000"/>
                        <a:pt x="44579" y="58675"/>
                        <a:pt x="48278" y="62025"/>
                      </a:cubicBezTo>
                      <a:cubicBezTo>
                        <a:pt x="51977" y="65375"/>
                        <a:pt x="53826" y="70296"/>
                        <a:pt x="53826" y="76789"/>
                      </a:cubicBezTo>
                      <a:cubicBezTo>
                        <a:pt x="53826" y="83282"/>
                        <a:pt x="51977" y="88179"/>
                        <a:pt x="48278" y="91481"/>
                      </a:cubicBezTo>
                      <a:cubicBezTo>
                        <a:pt x="44579" y="94783"/>
                        <a:pt x="39110" y="96434"/>
                        <a:pt x="31871" y="96434"/>
                      </a:cubicBezTo>
                      <a:lnTo>
                        <a:pt x="12964" y="96434"/>
                      </a:lnTo>
                      <a:close/>
                    </a:path>
                  </a:pathLst>
                </a:custGeom>
                <a:solidFill>
                  <a:srgbClr val="000000"/>
                </a:solidFill>
                <a:ln w="24" cap="flat">
                  <a:noFill/>
                  <a:prstDash val="solid"/>
                  <a:round/>
                </a:ln>
              </p:spPr>
              <p:txBody>
                <a:bodyPr rtlCol="0" anchor="ctr"/>
                <a:lstStyle/>
                <a:p>
                  <a:endParaRPr lang="en-US"/>
                </a:p>
              </p:txBody>
            </p:sp>
            <p:sp>
              <p:nvSpPr>
                <p:cNvPr id="240" name="フリーフォーム: 図形 239">
                  <a:extLst>
                    <a:ext uri="{FF2B5EF4-FFF2-40B4-BE49-F238E27FC236}">
                      <a16:creationId xmlns:a16="http://schemas.microsoft.com/office/drawing/2014/main" id="{46B5C8A0-B29B-FD9D-6ACB-AB834B4CF531}"/>
                    </a:ext>
                  </a:extLst>
                </p:cNvPr>
                <p:cNvSpPr/>
                <p:nvPr/>
              </p:nvSpPr>
              <p:spPr>
                <a:xfrm flipV="1">
                  <a:off x="-3978622" y="1780035"/>
                  <a:ext cx="70413" cy="87510"/>
                </a:xfrm>
                <a:custGeom>
                  <a:avLst/>
                  <a:gdLst>
                    <a:gd name="connsiteX0" fmla="*/ 41629 w 70413"/>
                    <a:gd name="connsiteY0" fmla="*/ 42324 h 87510"/>
                    <a:gd name="connsiteX1" fmla="*/ 18626 w 70413"/>
                    <a:gd name="connsiteY1" fmla="*/ 38538 h 87510"/>
                    <a:gd name="connsiteX2" fmla="*/ 12221 w 70413"/>
                    <a:gd name="connsiteY2" fmla="*/ 25584 h 87510"/>
                    <a:gd name="connsiteX3" fmla="*/ 17031 w 70413"/>
                    <a:gd name="connsiteY3" fmla="*/ 14011 h 87510"/>
                    <a:gd name="connsiteX4" fmla="*/ 30080 w 70413"/>
                    <a:gd name="connsiteY4" fmla="*/ 9749 h 87510"/>
                    <a:gd name="connsiteX5" fmla="*/ 48368 w 70413"/>
                    <a:gd name="connsiteY5" fmla="*/ 17821 h 87510"/>
                    <a:gd name="connsiteX6" fmla="*/ 55250 w 70413"/>
                    <a:gd name="connsiteY6" fmla="*/ 39276 h 87510"/>
                    <a:gd name="connsiteX7" fmla="*/ 55250 w 70413"/>
                    <a:gd name="connsiteY7" fmla="*/ 42324 h 87510"/>
                    <a:gd name="connsiteX8" fmla="*/ 41629 w 70413"/>
                    <a:gd name="connsiteY8" fmla="*/ 42324 h 87510"/>
                    <a:gd name="connsiteX9" fmla="*/ 68942 w 70413"/>
                    <a:gd name="connsiteY9" fmla="*/ 47992 h 87510"/>
                    <a:gd name="connsiteX10" fmla="*/ 68942 w 70413"/>
                    <a:gd name="connsiteY10" fmla="*/ 438 h 87510"/>
                    <a:gd name="connsiteX11" fmla="*/ 55250 w 70413"/>
                    <a:gd name="connsiteY11" fmla="*/ 438 h 87510"/>
                    <a:gd name="connsiteX12" fmla="*/ 55250 w 70413"/>
                    <a:gd name="connsiteY12" fmla="*/ 13082 h 87510"/>
                    <a:gd name="connsiteX13" fmla="*/ 43558 w 70413"/>
                    <a:gd name="connsiteY13" fmla="*/ 1891 h 87510"/>
                    <a:gd name="connsiteX14" fmla="*/ 26437 w 70413"/>
                    <a:gd name="connsiteY14" fmla="*/ -1729 h 87510"/>
                    <a:gd name="connsiteX15" fmla="*/ 6077 w 70413"/>
                    <a:gd name="connsiteY15" fmla="*/ 5462 h 87510"/>
                    <a:gd name="connsiteX16" fmla="*/ -1472 w 70413"/>
                    <a:gd name="connsiteY16" fmla="*/ 24703 h 87510"/>
                    <a:gd name="connsiteX17" fmla="*/ 7934 w 70413"/>
                    <a:gd name="connsiteY17" fmla="*/ 45896 h 87510"/>
                    <a:gd name="connsiteX18" fmla="*/ 36033 w 70413"/>
                    <a:gd name="connsiteY18" fmla="*/ 53040 h 87510"/>
                    <a:gd name="connsiteX19" fmla="*/ 55250 w 70413"/>
                    <a:gd name="connsiteY19" fmla="*/ 53040 h 87510"/>
                    <a:gd name="connsiteX20" fmla="*/ 55250 w 70413"/>
                    <a:gd name="connsiteY20" fmla="*/ 54397 h 87510"/>
                    <a:gd name="connsiteX21" fmla="*/ 49035 w 70413"/>
                    <a:gd name="connsiteY21" fmla="*/ 69018 h 87510"/>
                    <a:gd name="connsiteX22" fmla="*/ 31580 w 70413"/>
                    <a:gd name="connsiteY22" fmla="*/ 74185 h 87510"/>
                    <a:gd name="connsiteX23" fmla="*/ 17650 w 70413"/>
                    <a:gd name="connsiteY23" fmla="*/ 72471 h 87510"/>
                    <a:gd name="connsiteX24" fmla="*/ 4648 w 70413"/>
                    <a:gd name="connsiteY24" fmla="*/ 67327 h 87510"/>
                    <a:gd name="connsiteX25" fmla="*/ 4648 w 70413"/>
                    <a:gd name="connsiteY25" fmla="*/ 79996 h 87510"/>
                    <a:gd name="connsiteX26" fmla="*/ 19222 w 70413"/>
                    <a:gd name="connsiteY26" fmla="*/ 84329 h 87510"/>
                    <a:gd name="connsiteX27" fmla="*/ 32985 w 70413"/>
                    <a:gd name="connsiteY27" fmla="*/ 85782 h 87510"/>
                    <a:gd name="connsiteX28" fmla="*/ 60012 w 70413"/>
                    <a:gd name="connsiteY28" fmla="*/ 76400 h 87510"/>
                    <a:gd name="connsiteX29" fmla="*/ 68942 w 70413"/>
                    <a:gd name="connsiteY29" fmla="*/ 47992 h 875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70413" h="87510">
                      <a:moveTo>
                        <a:pt x="41629" y="42324"/>
                      </a:moveTo>
                      <a:cubicBezTo>
                        <a:pt x="30564" y="42324"/>
                        <a:pt x="22897" y="41062"/>
                        <a:pt x="18626" y="38538"/>
                      </a:cubicBezTo>
                      <a:cubicBezTo>
                        <a:pt x="14356" y="36014"/>
                        <a:pt x="12221" y="31696"/>
                        <a:pt x="12221" y="25584"/>
                      </a:cubicBezTo>
                      <a:cubicBezTo>
                        <a:pt x="12221" y="20726"/>
                        <a:pt x="13824" y="16869"/>
                        <a:pt x="17031" y="14011"/>
                      </a:cubicBezTo>
                      <a:cubicBezTo>
                        <a:pt x="20238" y="11170"/>
                        <a:pt x="24587" y="9749"/>
                        <a:pt x="30080" y="9749"/>
                      </a:cubicBezTo>
                      <a:cubicBezTo>
                        <a:pt x="37684" y="9749"/>
                        <a:pt x="43780" y="12440"/>
                        <a:pt x="48368" y="17821"/>
                      </a:cubicBezTo>
                      <a:cubicBezTo>
                        <a:pt x="52956" y="23203"/>
                        <a:pt x="55250" y="30354"/>
                        <a:pt x="55250" y="39276"/>
                      </a:cubicBezTo>
                      <a:lnTo>
                        <a:pt x="55250" y="42324"/>
                      </a:lnTo>
                      <a:lnTo>
                        <a:pt x="41629" y="42324"/>
                      </a:lnTo>
                      <a:close/>
                      <a:moveTo>
                        <a:pt x="68942" y="47992"/>
                      </a:moveTo>
                      <a:lnTo>
                        <a:pt x="68942" y="438"/>
                      </a:lnTo>
                      <a:lnTo>
                        <a:pt x="55250" y="438"/>
                      </a:lnTo>
                      <a:lnTo>
                        <a:pt x="55250" y="13082"/>
                      </a:lnTo>
                      <a:cubicBezTo>
                        <a:pt x="52123" y="8034"/>
                        <a:pt x="48225" y="4304"/>
                        <a:pt x="43558" y="1891"/>
                      </a:cubicBezTo>
                      <a:cubicBezTo>
                        <a:pt x="38891" y="-522"/>
                        <a:pt x="33184" y="-1729"/>
                        <a:pt x="26437" y="-1729"/>
                      </a:cubicBezTo>
                      <a:cubicBezTo>
                        <a:pt x="17912" y="-1729"/>
                        <a:pt x="11125" y="668"/>
                        <a:pt x="6077" y="5462"/>
                      </a:cubicBezTo>
                      <a:cubicBezTo>
                        <a:pt x="1045" y="10257"/>
                        <a:pt x="-1472" y="16670"/>
                        <a:pt x="-1472" y="24703"/>
                      </a:cubicBezTo>
                      <a:cubicBezTo>
                        <a:pt x="-1472" y="34069"/>
                        <a:pt x="1664" y="41134"/>
                        <a:pt x="7934" y="45896"/>
                      </a:cubicBezTo>
                      <a:cubicBezTo>
                        <a:pt x="14221" y="50659"/>
                        <a:pt x="23587" y="53040"/>
                        <a:pt x="36033" y="53040"/>
                      </a:cubicBezTo>
                      <a:lnTo>
                        <a:pt x="55250" y="53040"/>
                      </a:lnTo>
                      <a:lnTo>
                        <a:pt x="55250" y="54397"/>
                      </a:lnTo>
                      <a:cubicBezTo>
                        <a:pt x="55250" y="60700"/>
                        <a:pt x="53178" y="65573"/>
                        <a:pt x="49035" y="69018"/>
                      </a:cubicBezTo>
                      <a:cubicBezTo>
                        <a:pt x="44891" y="72463"/>
                        <a:pt x="39073" y="74185"/>
                        <a:pt x="31580" y="74185"/>
                      </a:cubicBezTo>
                      <a:cubicBezTo>
                        <a:pt x="26818" y="74185"/>
                        <a:pt x="22174" y="73614"/>
                        <a:pt x="17650" y="72471"/>
                      </a:cubicBezTo>
                      <a:cubicBezTo>
                        <a:pt x="13141" y="71328"/>
                        <a:pt x="8808" y="69613"/>
                        <a:pt x="4648" y="67327"/>
                      </a:cubicBezTo>
                      <a:lnTo>
                        <a:pt x="4648" y="79996"/>
                      </a:lnTo>
                      <a:cubicBezTo>
                        <a:pt x="9649" y="81932"/>
                        <a:pt x="14507" y="83377"/>
                        <a:pt x="19222" y="84329"/>
                      </a:cubicBezTo>
                      <a:cubicBezTo>
                        <a:pt x="23936" y="85298"/>
                        <a:pt x="28524" y="85782"/>
                        <a:pt x="32985" y="85782"/>
                      </a:cubicBezTo>
                      <a:cubicBezTo>
                        <a:pt x="45050" y="85782"/>
                        <a:pt x="54059" y="82655"/>
                        <a:pt x="60012" y="76400"/>
                      </a:cubicBezTo>
                      <a:cubicBezTo>
                        <a:pt x="65965" y="70161"/>
                        <a:pt x="68942" y="60692"/>
                        <a:pt x="68942" y="47992"/>
                      </a:cubicBezTo>
                      <a:close/>
                    </a:path>
                  </a:pathLst>
                </a:custGeom>
                <a:solidFill>
                  <a:srgbClr val="000000"/>
                </a:solidFill>
                <a:ln w="24" cap="flat">
                  <a:noFill/>
                  <a:prstDash val="solid"/>
                  <a:round/>
                </a:ln>
              </p:spPr>
              <p:txBody>
                <a:bodyPr rtlCol="0" anchor="ctr"/>
                <a:lstStyle/>
                <a:p>
                  <a:endParaRPr lang="en-US"/>
                </a:p>
              </p:txBody>
            </p:sp>
            <p:sp>
              <p:nvSpPr>
                <p:cNvPr id="241" name="フリーフォーム: 図形 240">
                  <a:extLst>
                    <a:ext uri="{FF2B5EF4-FFF2-40B4-BE49-F238E27FC236}">
                      <a16:creationId xmlns:a16="http://schemas.microsoft.com/office/drawing/2014/main" id="{7AB941EF-BA98-E850-12BB-A9B2E9238B88}"/>
                    </a:ext>
                  </a:extLst>
                </p:cNvPr>
                <p:cNvSpPr/>
                <p:nvPr/>
              </p:nvSpPr>
              <p:spPr>
                <a:xfrm flipV="1">
                  <a:off x="-3890281" y="1758365"/>
                  <a:ext cx="52006" cy="107013"/>
                </a:xfrm>
                <a:custGeom>
                  <a:avLst/>
                  <a:gdLst>
                    <a:gd name="connsiteX0" fmla="*/ 22946 w 52006"/>
                    <a:gd name="connsiteY0" fmla="*/ 104783 h 107013"/>
                    <a:gd name="connsiteX1" fmla="*/ 22946 w 52006"/>
                    <a:gd name="connsiteY1" fmla="*/ 81113 h 107013"/>
                    <a:gd name="connsiteX2" fmla="*/ 51140 w 52006"/>
                    <a:gd name="connsiteY2" fmla="*/ 81113 h 107013"/>
                    <a:gd name="connsiteX3" fmla="*/ 51140 w 52006"/>
                    <a:gd name="connsiteY3" fmla="*/ 70469 h 107013"/>
                    <a:gd name="connsiteX4" fmla="*/ 22946 w 52006"/>
                    <a:gd name="connsiteY4" fmla="*/ 70469 h 107013"/>
                    <a:gd name="connsiteX5" fmla="*/ 22946 w 52006"/>
                    <a:gd name="connsiteY5" fmla="*/ 25225 h 107013"/>
                    <a:gd name="connsiteX6" fmla="*/ 25732 w 52006"/>
                    <a:gd name="connsiteY6" fmla="*/ 12129 h 107013"/>
                    <a:gd name="connsiteX7" fmla="*/ 37090 w 52006"/>
                    <a:gd name="connsiteY7" fmla="*/ 9223 h 107013"/>
                    <a:gd name="connsiteX8" fmla="*/ 51140 w 52006"/>
                    <a:gd name="connsiteY8" fmla="*/ 9223 h 107013"/>
                    <a:gd name="connsiteX9" fmla="*/ 51140 w 52006"/>
                    <a:gd name="connsiteY9" fmla="*/ -2230 h 107013"/>
                    <a:gd name="connsiteX10" fmla="*/ 37090 w 52006"/>
                    <a:gd name="connsiteY10" fmla="*/ -2230 h 107013"/>
                    <a:gd name="connsiteX11" fmla="*/ 15207 w 52006"/>
                    <a:gd name="connsiteY11" fmla="*/ 3675 h 107013"/>
                    <a:gd name="connsiteX12" fmla="*/ 9182 w 52006"/>
                    <a:gd name="connsiteY12" fmla="*/ 25225 h 107013"/>
                    <a:gd name="connsiteX13" fmla="*/ 9182 w 52006"/>
                    <a:gd name="connsiteY13" fmla="*/ 70469 h 107013"/>
                    <a:gd name="connsiteX14" fmla="*/ -867 w 52006"/>
                    <a:gd name="connsiteY14" fmla="*/ 70469 h 107013"/>
                    <a:gd name="connsiteX15" fmla="*/ -867 w 52006"/>
                    <a:gd name="connsiteY15" fmla="*/ 81113 h 107013"/>
                    <a:gd name="connsiteX16" fmla="*/ 9182 w 52006"/>
                    <a:gd name="connsiteY16" fmla="*/ 81113 h 107013"/>
                    <a:gd name="connsiteX17" fmla="*/ 9182 w 52006"/>
                    <a:gd name="connsiteY17" fmla="*/ 104783 h 107013"/>
                    <a:gd name="connsiteX18" fmla="*/ 22946 w 52006"/>
                    <a:gd name="connsiteY18" fmla="*/ 104783 h 1070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2006" h="107013">
                      <a:moveTo>
                        <a:pt x="22946" y="104783"/>
                      </a:moveTo>
                      <a:lnTo>
                        <a:pt x="22946" y="81113"/>
                      </a:lnTo>
                      <a:lnTo>
                        <a:pt x="51140" y="81113"/>
                      </a:lnTo>
                      <a:lnTo>
                        <a:pt x="51140" y="70469"/>
                      </a:lnTo>
                      <a:lnTo>
                        <a:pt x="22946" y="70469"/>
                      </a:lnTo>
                      <a:lnTo>
                        <a:pt x="22946" y="25225"/>
                      </a:lnTo>
                      <a:cubicBezTo>
                        <a:pt x="22946" y="18431"/>
                        <a:pt x="23874" y="14065"/>
                        <a:pt x="25732" y="12129"/>
                      </a:cubicBezTo>
                      <a:cubicBezTo>
                        <a:pt x="27589" y="10192"/>
                        <a:pt x="31375" y="9223"/>
                        <a:pt x="37090" y="9223"/>
                      </a:cubicBezTo>
                      <a:lnTo>
                        <a:pt x="51140" y="9223"/>
                      </a:lnTo>
                      <a:lnTo>
                        <a:pt x="51140" y="-2230"/>
                      </a:lnTo>
                      <a:lnTo>
                        <a:pt x="37090" y="-2230"/>
                      </a:lnTo>
                      <a:cubicBezTo>
                        <a:pt x="26518" y="-2230"/>
                        <a:pt x="19223" y="-262"/>
                        <a:pt x="15207" y="3675"/>
                      </a:cubicBezTo>
                      <a:cubicBezTo>
                        <a:pt x="11190" y="7628"/>
                        <a:pt x="9182" y="14811"/>
                        <a:pt x="9182" y="25225"/>
                      </a:cubicBezTo>
                      <a:lnTo>
                        <a:pt x="9182" y="70469"/>
                      </a:lnTo>
                      <a:lnTo>
                        <a:pt x="-867" y="70469"/>
                      </a:lnTo>
                      <a:lnTo>
                        <a:pt x="-867" y="81113"/>
                      </a:lnTo>
                      <a:lnTo>
                        <a:pt x="9182" y="81113"/>
                      </a:lnTo>
                      <a:lnTo>
                        <a:pt x="9182" y="104783"/>
                      </a:lnTo>
                      <a:lnTo>
                        <a:pt x="22946" y="104783"/>
                      </a:lnTo>
                      <a:close/>
                    </a:path>
                  </a:pathLst>
                </a:custGeom>
                <a:solidFill>
                  <a:srgbClr val="000000"/>
                </a:solidFill>
                <a:ln w="24" cap="flat">
                  <a:noFill/>
                  <a:prstDash val="solid"/>
                  <a:round/>
                </a:ln>
              </p:spPr>
              <p:txBody>
                <a:bodyPr rtlCol="0" anchor="ctr"/>
                <a:lstStyle/>
                <a:p>
                  <a:endParaRPr lang="en-US"/>
                </a:p>
              </p:txBody>
            </p:sp>
            <p:sp>
              <p:nvSpPr>
                <p:cNvPr id="242" name="フリーフォーム: 図形 241">
                  <a:extLst>
                    <a:ext uri="{FF2B5EF4-FFF2-40B4-BE49-F238E27FC236}">
                      <a16:creationId xmlns:a16="http://schemas.microsoft.com/office/drawing/2014/main" id="{8086A272-6B2B-0534-CE94-AE218D731FA1}"/>
                    </a:ext>
                  </a:extLst>
                </p:cNvPr>
                <p:cNvSpPr/>
                <p:nvPr/>
              </p:nvSpPr>
              <p:spPr>
                <a:xfrm flipV="1">
                  <a:off x="-3820263" y="1749578"/>
                  <a:ext cx="13692" cy="115800"/>
                </a:xfrm>
                <a:custGeom>
                  <a:avLst/>
                  <a:gdLst>
                    <a:gd name="connsiteX0" fmla="*/ -489 w 13692"/>
                    <a:gd name="connsiteY0" fmla="*/ 80929 h 115800"/>
                    <a:gd name="connsiteX1" fmla="*/ 13203 w 13692"/>
                    <a:gd name="connsiteY1" fmla="*/ 80929 h 115800"/>
                    <a:gd name="connsiteX2" fmla="*/ 13203 w 13692"/>
                    <a:gd name="connsiteY2" fmla="*/ -2415 h 115800"/>
                    <a:gd name="connsiteX3" fmla="*/ -489 w 13692"/>
                    <a:gd name="connsiteY3" fmla="*/ -2415 h 115800"/>
                    <a:gd name="connsiteX4" fmla="*/ -489 w 13692"/>
                    <a:gd name="connsiteY4" fmla="*/ 80929 h 115800"/>
                    <a:gd name="connsiteX5" fmla="*/ -489 w 13692"/>
                    <a:gd name="connsiteY5" fmla="*/ 113385 h 115800"/>
                    <a:gd name="connsiteX6" fmla="*/ 13203 w 13692"/>
                    <a:gd name="connsiteY6" fmla="*/ 113385 h 115800"/>
                    <a:gd name="connsiteX7" fmla="*/ 13203 w 13692"/>
                    <a:gd name="connsiteY7" fmla="*/ 96026 h 115800"/>
                    <a:gd name="connsiteX8" fmla="*/ -489 w 13692"/>
                    <a:gd name="connsiteY8" fmla="*/ 96026 h 115800"/>
                    <a:gd name="connsiteX9" fmla="*/ -489 w 13692"/>
                    <a:gd name="connsiteY9" fmla="*/ 113385 h 115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3692" h="115800">
                      <a:moveTo>
                        <a:pt x="-489" y="80929"/>
                      </a:moveTo>
                      <a:lnTo>
                        <a:pt x="13203" y="80929"/>
                      </a:lnTo>
                      <a:lnTo>
                        <a:pt x="13203" y="-2415"/>
                      </a:lnTo>
                      <a:lnTo>
                        <a:pt x="-489" y="-2415"/>
                      </a:lnTo>
                      <a:lnTo>
                        <a:pt x="-489" y="80929"/>
                      </a:lnTo>
                      <a:close/>
                      <a:moveTo>
                        <a:pt x="-489" y="113385"/>
                      </a:moveTo>
                      <a:lnTo>
                        <a:pt x="13203" y="113385"/>
                      </a:lnTo>
                      <a:lnTo>
                        <a:pt x="13203" y="96026"/>
                      </a:lnTo>
                      <a:lnTo>
                        <a:pt x="-489" y="96026"/>
                      </a:lnTo>
                      <a:lnTo>
                        <a:pt x="-489" y="113385"/>
                      </a:lnTo>
                      <a:close/>
                    </a:path>
                  </a:pathLst>
                </a:custGeom>
                <a:solidFill>
                  <a:srgbClr val="000000"/>
                </a:solidFill>
                <a:ln w="24" cap="flat">
                  <a:noFill/>
                  <a:prstDash val="solid"/>
                  <a:round/>
                </a:ln>
              </p:spPr>
              <p:txBody>
                <a:bodyPr rtlCol="0" anchor="ctr"/>
                <a:lstStyle/>
                <a:p>
                  <a:endParaRPr lang="en-US"/>
                </a:p>
              </p:txBody>
            </p:sp>
            <p:sp>
              <p:nvSpPr>
                <p:cNvPr id="243" name="フリーフォーム: 図形 242">
                  <a:extLst>
                    <a:ext uri="{FF2B5EF4-FFF2-40B4-BE49-F238E27FC236}">
                      <a16:creationId xmlns:a16="http://schemas.microsoft.com/office/drawing/2014/main" id="{6F669857-22F6-BF3D-1D66-81F88C38EF25}"/>
                    </a:ext>
                  </a:extLst>
                </p:cNvPr>
                <p:cNvSpPr/>
                <p:nvPr/>
              </p:nvSpPr>
              <p:spPr>
                <a:xfrm flipV="1">
                  <a:off x="-3783872" y="1780035"/>
                  <a:ext cx="76509" cy="87510"/>
                </a:xfrm>
                <a:custGeom>
                  <a:avLst/>
                  <a:gdLst>
                    <a:gd name="connsiteX0" fmla="*/ 36690 w 76509"/>
                    <a:gd name="connsiteY0" fmla="*/ 74185 h 87510"/>
                    <a:gd name="connsiteX1" fmla="*/ 19283 w 76509"/>
                    <a:gd name="connsiteY1" fmla="*/ 65589 h 87510"/>
                    <a:gd name="connsiteX2" fmla="*/ 12877 w 76509"/>
                    <a:gd name="connsiteY2" fmla="*/ 42038 h 87510"/>
                    <a:gd name="connsiteX3" fmla="*/ 19235 w 76509"/>
                    <a:gd name="connsiteY3" fmla="*/ 18488 h 87510"/>
                    <a:gd name="connsiteX4" fmla="*/ 36690 w 76509"/>
                    <a:gd name="connsiteY4" fmla="*/ 9892 h 87510"/>
                    <a:gd name="connsiteX5" fmla="*/ 54025 w 76509"/>
                    <a:gd name="connsiteY5" fmla="*/ 18512 h 87510"/>
                    <a:gd name="connsiteX6" fmla="*/ 60431 w 76509"/>
                    <a:gd name="connsiteY6" fmla="*/ 42038 h 87510"/>
                    <a:gd name="connsiteX7" fmla="*/ 54025 w 76509"/>
                    <a:gd name="connsiteY7" fmla="*/ 65518 h 87510"/>
                    <a:gd name="connsiteX8" fmla="*/ 36690 w 76509"/>
                    <a:gd name="connsiteY8" fmla="*/ 74185 h 87510"/>
                    <a:gd name="connsiteX9" fmla="*/ 36690 w 76509"/>
                    <a:gd name="connsiteY9" fmla="*/ 85782 h 87510"/>
                    <a:gd name="connsiteX10" fmla="*/ 64741 w 76509"/>
                    <a:gd name="connsiteY10" fmla="*/ 74162 h 87510"/>
                    <a:gd name="connsiteX11" fmla="*/ 74957 w 76509"/>
                    <a:gd name="connsiteY11" fmla="*/ 42038 h 87510"/>
                    <a:gd name="connsiteX12" fmla="*/ 64741 w 76509"/>
                    <a:gd name="connsiteY12" fmla="*/ 9915 h 87510"/>
                    <a:gd name="connsiteX13" fmla="*/ 36690 w 76509"/>
                    <a:gd name="connsiteY13" fmla="*/ -1729 h 87510"/>
                    <a:gd name="connsiteX14" fmla="*/ 8591 w 76509"/>
                    <a:gd name="connsiteY14" fmla="*/ 9915 h 87510"/>
                    <a:gd name="connsiteX15" fmla="*/ -1553 w 76509"/>
                    <a:gd name="connsiteY15" fmla="*/ 42038 h 87510"/>
                    <a:gd name="connsiteX16" fmla="*/ 8591 w 76509"/>
                    <a:gd name="connsiteY16" fmla="*/ 74162 h 87510"/>
                    <a:gd name="connsiteX17" fmla="*/ 36690 w 76509"/>
                    <a:gd name="connsiteY17" fmla="*/ 85782 h 875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6509" h="87510">
                      <a:moveTo>
                        <a:pt x="36690" y="74185"/>
                      </a:moveTo>
                      <a:cubicBezTo>
                        <a:pt x="29356" y="74185"/>
                        <a:pt x="23553" y="71320"/>
                        <a:pt x="19283" y="65589"/>
                      </a:cubicBezTo>
                      <a:cubicBezTo>
                        <a:pt x="15013" y="59858"/>
                        <a:pt x="12877" y="52008"/>
                        <a:pt x="12877" y="42038"/>
                      </a:cubicBezTo>
                      <a:cubicBezTo>
                        <a:pt x="12877" y="32069"/>
                        <a:pt x="14997" y="24219"/>
                        <a:pt x="19235" y="18488"/>
                      </a:cubicBezTo>
                      <a:cubicBezTo>
                        <a:pt x="23490" y="12757"/>
                        <a:pt x="29308" y="9892"/>
                        <a:pt x="36690" y="9892"/>
                      </a:cubicBezTo>
                      <a:cubicBezTo>
                        <a:pt x="43993" y="9892"/>
                        <a:pt x="49771" y="12765"/>
                        <a:pt x="54025" y="18512"/>
                      </a:cubicBezTo>
                      <a:cubicBezTo>
                        <a:pt x="58296" y="24274"/>
                        <a:pt x="60431" y="32117"/>
                        <a:pt x="60431" y="42038"/>
                      </a:cubicBezTo>
                      <a:cubicBezTo>
                        <a:pt x="60431" y="51913"/>
                        <a:pt x="58296" y="59739"/>
                        <a:pt x="54025" y="65518"/>
                      </a:cubicBezTo>
                      <a:cubicBezTo>
                        <a:pt x="49771" y="71296"/>
                        <a:pt x="43993" y="74185"/>
                        <a:pt x="36690" y="74185"/>
                      </a:cubicBezTo>
                      <a:close/>
                      <a:moveTo>
                        <a:pt x="36690" y="85782"/>
                      </a:moveTo>
                      <a:cubicBezTo>
                        <a:pt x="48596" y="85782"/>
                        <a:pt x="57947" y="81908"/>
                        <a:pt x="64741" y="74162"/>
                      </a:cubicBezTo>
                      <a:cubicBezTo>
                        <a:pt x="71551" y="66430"/>
                        <a:pt x="74957" y="55723"/>
                        <a:pt x="74957" y="42038"/>
                      </a:cubicBezTo>
                      <a:cubicBezTo>
                        <a:pt x="74957" y="28402"/>
                        <a:pt x="71551" y="17694"/>
                        <a:pt x="64741" y="9915"/>
                      </a:cubicBezTo>
                      <a:cubicBezTo>
                        <a:pt x="57947" y="2153"/>
                        <a:pt x="48596" y="-1729"/>
                        <a:pt x="36690" y="-1729"/>
                      </a:cubicBezTo>
                      <a:cubicBezTo>
                        <a:pt x="24736" y="-1729"/>
                        <a:pt x="15370" y="2153"/>
                        <a:pt x="8591" y="9915"/>
                      </a:cubicBezTo>
                      <a:cubicBezTo>
                        <a:pt x="1828" y="17694"/>
                        <a:pt x="-1553" y="28402"/>
                        <a:pt x="-1553" y="42038"/>
                      </a:cubicBezTo>
                      <a:cubicBezTo>
                        <a:pt x="-1553" y="55723"/>
                        <a:pt x="1828" y="66430"/>
                        <a:pt x="8591" y="74162"/>
                      </a:cubicBezTo>
                      <a:cubicBezTo>
                        <a:pt x="15370" y="81908"/>
                        <a:pt x="24736" y="85782"/>
                        <a:pt x="36690" y="85782"/>
                      </a:cubicBezTo>
                      <a:close/>
                    </a:path>
                  </a:pathLst>
                </a:custGeom>
                <a:solidFill>
                  <a:srgbClr val="000000"/>
                </a:solidFill>
                <a:ln w="24" cap="flat">
                  <a:noFill/>
                  <a:prstDash val="solid"/>
                  <a:round/>
                </a:ln>
              </p:spPr>
              <p:txBody>
                <a:bodyPr rtlCol="0" anchor="ctr"/>
                <a:lstStyle/>
                <a:p>
                  <a:endParaRPr lang="en-US"/>
                </a:p>
              </p:txBody>
            </p:sp>
            <p:sp>
              <p:nvSpPr>
                <p:cNvPr id="244" name="フリーフォーム: 図形 243">
                  <a:extLst>
                    <a:ext uri="{FF2B5EF4-FFF2-40B4-BE49-F238E27FC236}">
                      <a16:creationId xmlns:a16="http://schemas.microsoft.com/office/drawing/2014/main" id="{99B1EAF1-1ABA-C4D8-485A-D699472E3160}"/>
                    </a:ext>
                  </a:extLst>
                </p:cNvPr>
                <p:cNvSpPr/>
                <p:nvPr/>
              </p:nvSpPr>
              <p:spPr>
                <a:xfrm flipV="1">
                  <a:off x="-3699040" y="1865379"/>
                  <a:ext cx="12700" cy="12700"/>
                </a:xfrm>
                <a:custGeom>
                  <a:avLst/>
                  <a:gdLst/>
                  <a:ahLst/>
                  <a:cxnLst/>
                  <a:rect l="l" t="t" r="r" b="b"/>
                  <a:pathLst>
                    <a:path w="12700" h="12700"/>
                  </a:pathLst>
                </a:custGeom>
                <a:solidFill>
                  <a:srgbClr val="000000"/>
                </a:solidFill>
                <a:ln w="24" cap="flat">
                  <a:noFill/>
                  <a:prstDash val="solid"/>
                  <a:round/>
                </a:ln>
              </p:spPr>
              <p:txBody>
                <a:bodyPr rtlCol="0" anchor="ctr"/>
                <a:lstStyle/>
                <a:p>
                  <a:endParaRPr lang="en-US"/>
                </a:p>
              </p:txBody>
            </p:sp>
            <p:sp>
              <p:nvSpPr>
                <p:cNvPr id="245" name="フリーフォーム: 図形 244">
                  <a:extLst>
                    <a:ext uri="{FF2B5EF4-FFF2-40B4-BE49-F238E27FC236}">
                      <a16:creationId xmlns:a16="http://schemas.microsoft.com/office/drawing/2014/main" id="{325D1670-C503-CFCF-0A7E-CAE53BAC6559}"/>
                    </a:ext>
                  </a:extLst>
                </p:cNvPr>
                <p:cNvSpPr/>
                <p:nvPr/>
              </p:nvSpPr>
              <p:spPr>
                <a:xfrm flipV="1">
                  <a:off x="-3636757" y="1780035"/>
                  <a:ext cx="74580" cy="117038"/>
                </a:xfrm>
                <a:custGeom>
                  <a:avLst/>
                  <a:gdLst>
                    <a:gd name="connsiteX0" fmla="*/ 12035 w 74580"/>
                    <a:gd name="connsiteY0" fmla="*/ 43088 h 117038"/>
                    <a:gd name="connsiteX1" fmla="*/ 12035 w 74580"/>
                    <a:gd name="connsiteY1" fmla="*/ -1108 h 117038"/>
                    <a:gd name="connsiteX2" fmla="*/ -1729 w 74580"/>
                    <a:gd name="connsiteY2" fmla="*/ -1108 h 117038"/>
                    <a:gd name="connsiteX3" fmla="*/ -1729 w 74580"/>
                    <a:gd name="connsiteY3" fmla="*/ 113930 h 117038"/>
                    <a:gd name="connsiteX4" fmla="*/ 12035 w 74580"/>
                    <a:gd name="connsiteY4" fmla="*/ 113930 h 117038"/>
                    <a:gd name="connsiteX5" fmla="*/ 12035 w 74580"/>
                    <a:gd name="connsiteY5" fmla="*/ 101286 h 117038"/>
                    <a:gd name="connsiteX6" fmla="*/ 22941 w 74580"/>
                    <a:gd name="connsiteY6" fmla="*/ 112311 h 117038"/>
                    <a:gd name="connsiteX7" fmla="*/ 38681 w 74580"/>
                    <a:gd name="connsiteY7" fmla="*/ 115931 h 117038"/>
                    <a:gd name="connsiteX8" fmla="*/ 63351 w 74580"/>
                    <a:gd name="connsiteY8" fmla="*/ 103882 h 117038"/>
                    <a:gd name="connsiteX9" fmla="*/ 72852 w 74580"/>
                    <a:gd name="connsiteY9" fmla="*/ 72187 h 117038"/>
                    <a:gd name="connsiteX10" fmla="*/ 63351 w 74580"/>
                    <a:gd name="connsiteY10" fmla="*/ 40469 h 117038"/>
                    <a:gd name="connsiteX11" fmla="*/ 38681 w 74580"/>
                    <a:gd name="connsiteY11" fmla="*/ 28420 h 117038"/>
                    <a:gd name="connsiteX12" fmla="*/ 22941 w 74580"/>
                    <a:gd name="connsiteY12" fmla="*/ 32039 h 117038"/>
                    <a:gd name="connsiteX13" fmla="*/ 12035 w 74580"/>
                    <a:gd name="connsiteY13" fmla="*/ 43088 h 117038"/>
                    <a:gd name="connsiteX14" fmla="*/ 58636 w 74580"/>
                    <a:gd name="connsiteY14" fmla="*/ 72187 h 117038"/>
                    <a:gd name="connsiteX15" fmla="*/ 52421 w 74580"/>
                    <a:gd name="connsiteY15" fmla="*/ 95881 h 117038"/>
                    <a:gd name="connsiteX16" fmla="*/ 35347 w 74580"/>
                    <a:gd name="connsiteY16" fmla="*/ 104477 h 117038"/>
                    <a:gd name="connsiteX17" fmla="*/ 18250 w 74580"/>
                    <a:gd name="connsiteY17" fmla="*/ 95881 h 117038"/>
                    <a:gd name="connsiteX18" fmla="*/ 12035 w 74580"/>
                    <a:gd name="connsiteY18" fmla="*/ 72187 h 117038"/>
                    <a:gd name="connsiteX19" fmla="*/ 18250 w 74580"/>
                    <a:gd name="connsiteY19" fmla="*/ 48494 h 117038"/>
                    <a:gd name="connsiteX20" fmla="*/ 35347 w 74580"/>
                    <a:gd name="connsiteY20" fmla="*/ 39897 h 117038"/>
                    <a:gd name="connsiteX21" fmla="*/ 52421 w 74580"/>
                    <a:gd name="connsiteY21" fmla="*/ 48494 h 117038"/>
                    <a:gd name="connsiteX22" fmla="*/ 58636 w 74580"/>
                    <a:gd name="connsiteY22" fmla="*/ 72187 h 1170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74580" h="117038">
                      <a:moveTo>
                        <a:pt x="12035" y="43088"/>
                      </a:moveTo>
                      <a:lnTo>
                        <a:pt x="12035" y="-1108"/>
                      </a:lnTo>
                      <a:lnTo>
                        <a:pt x="-1729" y="-1108"/>
                      </a:lnTo>
                      <a:lnTo>
                        <a:pt x="-1729" y="113930"/>
                      </a:lnTo>
                      <a:lnTo>
                        <a:pt x="12035" y="113930"/>
                      </a:lnTo>
                      <a:lnTo>
                        <a:pt x="12035" y="101286"/>
                      </a:lnTo>
                      <a:cubicBezTo>
                        <a:pt x="14924" y="106239"/>
                        <a:pt x="18559" y="109914"/>
                        <a:pt x="22941" y="112311"/>
                      </a:cubicBezTo>
                      <a:cubicBezTo>
                        <a:pt x="27338" y="114724"/>
                        <a:pt x="32585" y="115931"/>
                        <a:pt x="38681" y="115931"/>
                      </a:cubicBezTo>
                      <a:cubicBezTo>
                        <a:pt x="48809" y="115931"/>
                        <a:pt x="57032" y="111914"/>
                        <a:pt x="63351" y="103882"/>
                      </a:cubicBezTo>
                      <a:cubicBezTo>
                        <a:pt x="69685" y="95849"/>
                        <a:pt x="72852" y="85284"/>
                        <a:pt x="72852" y="72187"/>
                      </a:cubicBezTo>
                      <a:cubicBezTo>
                        <a:pt x="72852" y="59090"/>
                        <a:pt x="69685" y="48518"/>
                        <a:pt x="63351" y="40469"/>
                      </a:cubicBezTo>
                      <a:cubicBezTo>
                        <a:pt x="57032" y="32436"/>
                        <a:pt x="48809" y="28420"/>
                        <a:pt x="38681" y="28420"/>
                      </a:cubicBezTo>
                      <a:cubicBezTo>
                        <a:pt x="32585" y="28420"/>
                        <a:pt x="27338" y="29626"/>
                        <a:pt x="22941" y="32039"/>
                      </a:cubicBezTo>
                      <a:cubicBezTo>
                        <a:pt x="18559" y="34452"/>
                        <a:pt x="14924" y="38135"/>
                        <a:pt x="12035" y="43088"/>
                      </a:cubicBezTo>
                      <a:close/>
                      <a:moveTo>
                        <a:pt x="58636" y="72187"/>
                      </a:moveTo>
                      <a:cubicBezTo>
                        <a:pt x="58636" y="82252"/>
                        <a:pt x="56564" y="90150"/>
                        <a:pt x="52421" y="95881"/>
                      </a:cubicBezTo>
                      <a:cubicBezTo>
                        <a:pt x="48277" y="101612"/>
                        <a:pt x="42586" y="104477"/>
                        <a:pt x="35347" y="104477"/>
                      </a:cubicBezTo>
                      <a:cubicBezTo>
                        <a:pt x="28092" y="104477"/>
                        <a:pt x="22393" y="101612"/>
                        <a:pt x="18250" y="95881"/>
                      </a:cubicBezTo>
                      <a:cubicBezTo>
                        <a:pt x="14106" y="90150"/>
                        <a:pt x="12035" y="82252"/>
                        <a:pt x="12035" y="72187"/>
                      </a:cubicBezTo>
                      <a:cubicBezTo>
                        <a:pt x="12035" y="62122"/>
                        <a:pt x="14106" y="54225"/>
                        <a:pt x="18250" y="48494"/>
                      </a:cubicBezTo>
                      <a:cubicBezTo>
                        <a:pt x="22393" y="42763"/>
                        <a:pt x="28092" y="39897"/>
                        <a:pt x="35347" y="39897"/>
                      </a:cubicBezTo>
                      <a:cubicBezTo>
                        <a:pt x="42586" y="39897"/>
                        <a:pt x="48277" y="42763"/>
                        <a:pt x="52421" y="48494"/>
                      </a:cubicBezTo>
                      <a:cubicBezTo>
                        <a:pt x="56564" y="54225"/>
                        <a:pt x="58636" y="62122"/>
                        <a:pt x="58636" y="72187"/>
                      </a:cubicBezTo>
                      <a:close/>
                    </a:path>
                  </a:pathLst>
                </a:custGeom>
                <a:solidFill>
                  <a:srgbClr val="000000"/>
                </a:solidFill>
                <a:ln w="24" cap="flat">
                  <a:noFill/>
                  <a:prstDash val="solid"/>
                  <a:round/>
                </a:ln>
              </p:spPr>
              <p:txBody>
                <a:bodyPr rtlCol="0" anchor="ctr"/>
                <a:lstStyle/>
                <a:p>
                  <a:endParaRPr lang="en-US"/>
                </a:p>
              </p:txBody>
            </p:sp>
            <p:sp>
              <p:nvSpPr>
                <p:cNvPr id="246" name="フリーフォーム: 図形 245">
                  <a:extLst>
                    <a:ext uri="{FF2B5EF4-FFF2-40B4-BE49-F238E27FC236}">
                      <a16:creationId xmlns:a16="http://schemas.microsoft.com/office/drawing/2014/main" id="{56274220-8C41-1496-C0FF-D051FB35CBBC}"/>
                    </a:ext>
                  </a:extLst>
                </p:cNvPr>
                <p:cNvSpPr/>
                <p:nvPr/>
              </p:nvSpPr>
              <p:spPr>
                <a:xfrm flipV="1">
                  <a:off x="-3545458" y="1780035"/>
                  <a:ext cx="77247" cy="87510"/>
                </a:xfrm>
                <a:custGeom>
                  <a:avLst/>
                  <a:gdLst>
                    <a:gd name="connsiteX0" fmla="*/ 75698 w 77247"/>
                    <a:gd name="connsiteY0" fmla="*/ 45539 h 87510"/>
                    <a:gd name="connsiteX1" fmla="*/ 75698 w 77247"/>
                    <a:gd name="connsiteY1" fmla="*/ 38848 h 87510"/>
                    <a:gd name="connsiteX2" fmla="*/ 12738 w 77247"/>
                    <a:gd name="connsiteY2" fmla="*/ 38848 h 87510"/>
                    <a:gd name="connsiteX3" fmla="*/ 21263 w 77247"/>
                    <a:gd name="connsiteY3" fmla="*/ 17297 h 87510"/>
                    <a:gd name="connsiteX4" fmla="*/ 42503 w 77247"/>
                    <a:gd name="connsiteY4" fmla="*/ 9892 h 87510"/>
                    <a:gd name="connsiteX5" fmla="*/ 57791 w 77247"/>
                    <a:gd name="connsiteY5" fmla="*/ 11820 h 87510"/>
                    <a:gd name="connsiteX6" fmla="*/ 72507 w 77247"/>
                    <a:gd name="connsiteY6" fmla="*/ 17631 h 87510"/>
                    <a:gd name="connsiteX7" fmla="*/ 72507 w 77247"/>
                    <a:gd name="connsiteY7" fmla="*/ 4677 h 87510"/>
                    <a:gd name="connsiteX8" fmla="*/ 57386 w 77247"/>
                    <a:gd name="connsiteY8" fmla="*/ -86 h 87510"/>
                    <a:gd name="connsiteX9" fmla="*/ 41694 w 77247"/>
                    <a:gd name="connsiteY9" fmla="*/ -1729 h 87510"/>
                    <a:gd name="connsiteX10" fmla="*/ 10095 w 77247"/>
                    <a:gd name="connsiteY10" fmla="*/ 9868 h 87510"/>
                    <a:gd name="connsiteX11" fmla="*/ -1550 w 77247"/>
                    <a:gd name="connsiteY11" fmla="*/ 41300 h 87510"/>
                    <a:gd name="connsiteX12" fmla="*/ 9499 w 77247"/>
                    <a:gd name="connsiteY12" fmla="*/ 73757 h 87510"/>
                    <a:gd name="connsiteX13" fmla="*/ 39313 w 77247"/>
                    <a:gd name="connsiteY13" fmla="*/ 85782 h 87510"/>
                    <a:gd name="connsiteX14" fmla="*/ 65911 w 77247"/>
                    <a:gd name="connsiteY14" fmla="*/ 74947 h 87510"/>
                    <a:gd name="connsiteX15" fmla="*/ 75698 w 77247"/>
                    <a:gd name="connsiteY15" fmla="*/ 45539 h 87510"/>
                    <a:gd name="connsiteX16" fmla="*/ 62006 w 77247"/>
                    <a:gd name="connsiteY16" fmla="*/ 49563 h 87510"/>
                    <a:gd name="connsiteX17" fmla="*/ 55719 w 77247"/>
                    <a:gd name="connsiteY17" fmla="*/ 67470 h 87510"/>
                    <a:gd name="connsiteX18" fmla="*/ 39455 w 77247"/>
                    <a:gd name="connsiteY18" fmla="*/ 74185 h 87510"/>
                    <a:gd name="connsiteX19" fmla="*/ 21120 w 77247"/>
                    <a:gd name="connsiteY19" fmla="*/ 67708 h 87510"/>
                    <a:gd name="connsiteX20" fmla="*/ 13190 w 77247"/>
                    <a:gd name="connsiteY20" fmla="*/ 49468 h 87510"/>
                    <a:gd name="connsiteX21" fmla="*/ 62006 w 77247"/>
                    <a:gd name="connsiteY21" fmla="*/ 49563 h 875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77247" h="87510">
                      <a:moveTo>
                        <a:pt x="75698" y="45539"/>
                      </a:moveTo>
                      <a:lnTo>
                        <a:pt x="75698" y="38848"/>
                      </a:lnTo>
                      <a:lnTo>
                        <a:pt x="12738" y="38848"/>
                      </a:lnTo>
                      <a:cubicBezTo>
                        <a:pt x="13341" y="29418"/>
                        <a:pt x="16183" y="22234"/>
                        <a:pt x="21263" y="17297"/>
                      </a:cubicBezTo>
                      <a:cubicBezTo>
                        <a:pt x="26343" y="12360"/>
                        <a:pt x="33423" y="9892"/>
                        <a:pt x="42503" y="9892"/>
                      </a:cubicBezTo>
                      <a:cubicBezTo>
                        <a:pt x="47758" y="9892"/>
                        <a:pt x="52854" y="10535"/>
                        <a:pt x="57791" y="11820"/>
                      </a:cubicBezTo>
                      <a:cubicBezTo>
                        <a:pt x="62728" y="13106"/>
                        <a:pt x="67634" y="15043"/>
                        <a:pt x="72507" y="17631"/>
                      </a:cubicBezTo>
                      <a:lnTo>
                        <a:pt x="72507" y="4677"/>
                      </a:lnTo>
                      <a:cubicBezTo>
                        <a:pt x="67586" y="2597"/>
                        <a:pt x="62546" y="1010"/>
                        <a:pt x="57386" y="-86"/>
                      </a:cubicBezTo>
                      <a:cubicBezTo>
                        <a:pt x="52227" y="-1181"/>
                        <a:pt x="46996" y="-1729"/>
                        <a:pt x="41694" y="-1729"/>
                      </a:cubicBezTo>
                      <a:cubicBezTo>
                        <a:pt x="28391" y="-1729"/>
                        <a:pt x="17858" y="2137"/>
                        <a:pt x="10095" y="9868"/>
                      </a:cubicBezTo>
                      <a:cubicBezTo>
                        <a:pt x="2332" y="17615"/>
                        <a:pt x="-1550" y="28092"/>
                        <a:pt x="-1550" y="41300"/>
                      </a:cubicBezTo>
                      <a:cubicBezTo>
                        <a:pt x="-1550" y="54937"/>
                        <a:pt x="2133" y="65756"/>
                        <a:pt x="9499" y="73757"/>
                      </a:cubicBezTo>
                      <a:cubicBezTo>
                        <a:pt x="16865" y="81774"/>
                        <a:pt x="26803" y="85782"/>
                        <a:pt x="39313" y="85782"/>
                      </a:cubicBezTo>
                      <a:cubicBezTo>
                        <a:pt x="50520" y="85782"/>
                        <a:pt x="59387" y="82170"/>
                        <a:pt x="65911" y="74947"/>
                      </a:cubicBezTo>
                      <a:cubicBezTo>
                        <a:pt x="72436" y="67740"/>
                        <a:pt x="75698" y="57937"/>
                        <a:pt x="75698" y="45539"/>
                      </a:cubicBezTo>
                      <a:close/>
                      <a:moveTo>
                        <a:pt x="62006" y="49563"/>
                      </a:moveTo>
                      <a:cubicBezTo>
                        <a:pt x="61911" y="57040"/>
                        <a:pt x="59815" y="63009"/>
                        <a:pt x="55719" y="67470"/>
                      </a:cubicBezTo>
                      <a:cubicBezTo>
                        <a:pt x="51624" y="71947"/>
                        <a:pt x="46202" y="74185"/>
                        <a:pt x="39455" y="74185"/>
                      </a:cubicBezTo>
                      <a:cubicBezTo>
                        <a:pt x="31820" y="74185"/>
                        <a:pt x="25708" y="72026"/>
                        <a:pt x="21120" y="67708"/>
                      </a:cubicBezTo>
                      <a:cubicBezTo>
                        <a:pt x="16532" y="63390"/>
                        <a:pt x="13889" y="57310"/>
                        <a:pt x="13190" y="49468"/>
                      </a:cubicBezTo>
                      <a:lnTo>
                        <a:pt x="62006" y="49563"/>
                      </a:lnTo>
                      <a:close/>
                    </a:path>
                  </a:pathLst>
                </a:custGeom>
                <a:solidFill>
                  <a:srgbClr val="000000"/>
                </a:solidFill>
                <a:ln w="24" cap="flat">
                  <a:noFill/>
                  <a:prstDash val="solid"/>
                  <a:round/>
                </a:ln>
              </p:spPr>
              <p:txBody>
                <a:bodyPr rtlCol="0" anchor="ctr"/>
                <a:lstStyle/>
                <a:p>
                  <a:endParaRPr lang="en-US"/>
                </a:p>
              </p:txBody>
            </p:sp>
            <p:sp>
              <p:nvSpPr>
                <p:cNvPr id="247" name="フリーフォーム: 図形 246">
                  <a:extLst>
                    <a:ext uri="{FF2B5EF4-FFF2-40B4-BE49-F238E27FC236}">
                      <a16:creationId xmlns:a16="http://schemas.microsoft.com/office/drawing/2014/main" id="{3519F46F-8CBE-5C64-AA7D-B021AA8F566A}"/>
                    </a:ext>
                  </a:extLst>
                </p:cNvPr>
                <p:cNvSpPr/>
                <p:nvPr/>
              </p:nvSpPr>
              <p:spPr>
                <a:xfrm flipV="1">
                  <a:off x="-3446257" y="1780035"/>
                  <a:ext cx="48815" cy="85343"/>
                </a:xfrm>
                <a:custGeom>
                  <a:avLst/>
                  <a:gdLst>
                    <a:gd name="connsiteX0" fmla="*/ 47642 w 48815"/>
                    <a:gd name="connsiteY0" fmla="*/ 68782 h 85343"/>
                    <a:gd name="connsiteX1" fmla="*/ 42617 w 48815"/>
                    <a:gd name="connsiteY1" fmla="*/ 70735 h 85343"/>
                    <a:gd name="connsiteX2" fmla="*/ 36640 w 48815"/>
                    <a:gd name="connsiteY2" fmla="*/ 71378 h 85343"/>
                    <a:gd name="connsiteX3" fmla="*/ 18805 w 48815"/>
                    <a:gd name="connsiteY3" fmla="*/ 63829 h 85343"/>
                    <a:gd name="connsiteX4" fmla="*/ 12590 w 48815"/>
                    <a:gd name="connsiteY4" fmla="*/ 42136 h 85343"/>
                    <a:gd name="connsiteX5" fmla="*/ 12590 w 48815"/>
                    <a:gd name="connsiteY5" fmla="*/ -1774 h 85343"/>
                    <a:gd name="connsiteX6" fmla="*/ -1174 w 48815"/>
                    <a:gd name="connsiteY6" fmla="*/ -1774 h 85343"/>
                    <a:gd name="connsiteX7" fmla="*/ -1174 w 48815"/>
                    <a:gd name="connsiteY7" fmla="*/ 81569 h 85343"/>
                    <a:gd name="connsiteX8" fmla="*/ 12590 w 48815"/>
                    <a:gd name="connsiteY8" fmla="*/ 81569 h 85343"/>
                    <a:gd name="connsiteX9" fmla="*/ 12590 w 48815"/>
                    <a:gd name="connsiteY9" fmla="*/ 68615 h 85343"/>
                    <a:gd name="connsiteX10" fmla="*/ 23829 w 48815"/>
                    <a:gd name="connsiteY10" fmla="*/ 79879 h 85343"/>
                    <a:gd name="connsiteX11" fmla="*/ 40665 w 48815"/>
                    <a:gd name="connsiteY11" fmla="*/ 83570 h 85343"/>
                    <a:gd name="connsiteX12" fmla="*/ 43784 w 48815"/>
                    <a:gd name="connsiteY12" fmla="*/ 83379 h 85343"/>
                    <a:gd name="connsiteX13" fmla="*/ 47570 w 48815"/>
                    <a:gd name="connsiteY13" fmla="*/ 82831 h 85343"/>
                    <a:gd name="connsiteX14" fmla="*/ 47642 w 48815"/>
                    <a:gd name="connsiteY14" fmla="*/ 68782 h 85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8815" h="85343">
                      <a:moveTo>
                        <a:pt x="47642" y="68782"/>
                      </a:moveTo>
                      <a:cubicBezTo>
                        <a:pt x="46102" y="69671"/>
                        <a:pt x="44427" y="70322"/>
                        <a:pt x="42617" y="70735"/>
                      </a:cubicBezTo>
                      <a:cubicBezTo>
                        <a:pt x="40808" y="71163"/>
                        <a:pt x="38815" y="71378"/>
                        <a:pt x="36640" y="71378"/>
                      </a:cubicBezTo>
                      <a:cubicBezTo>
                        <a:pt x="28893" y="71378"/>
                        <a:pt x="22948" y="68861"/>
                        <a:pt x="18805" y="63829"/>
                      </a:cubicBezTo>
                      <a:cubicBezTo>
                        <a:pt x="14661" y="58797"/>
                        <a:pt x="12590" y="51566"/>
                        <a:pt x="12590" y="42136"/>
                      </a:cubicBezTo>
                      <a:lnTo>
                        <a:pt x="12590" y="-1774"/>
                      </a:lnTo>
                      <a:lnTo>
                        <a:pt x="-1174" y="-1774"/>
                      </a:lnTo>
                      <a:lnTo>
                        <a:pt x="-1174" y="81569"/>
                      </a:lnTo>
                      <a:lnTo>
                        <a:pt x="12590" y="81569"/>
                      </a:lnTo>
                      <a:lnTo>
                        <a:pt x="12590" y="68615"/>
                      </a:lnTo>
                      <a:cubicBezTo>
                        <a:pt x="15479" y="73679"/>
                        <a:pt x="19226" y="77434"/>
                        <a:pt x="23829" y="79879"/>
                      </a:cubicBezTo>
                      <a:cubicBezTo>
                        <a:pt x="28449" y="82339"/>
                        <a:pt x="34061" y="83570"/>
                        <a:pt x="40665" y="83570"/>
                      </a:cubicBezTo>
                      <a:cubicBezTo>
                        <a:pt x="41601" y="83570"/>
                        <a:pt x="42641" y="83506"/>
                        <a:pt x="43784" y="83379"/>
                      </a:cubicBezTo>
                      <a:cubicBezTo>
                        <a:pt x="44927" y="83268"/>
                        <a:pt x="46189" y="83085"/>
                        <a:pt x="47570" y="82831"/>
                      </a:cubicBezTo>
                      <a:lnTo>
                        <a:pt x="47642" y="68782"/>
                      </a:lnTo>
                      <a:close/>
                    </a:path>
                  </a:pathLst>
                </a:custGeom>
                <a:solidFill>
                  <a:srgbClr val="000000"/>
                </a:solidFill>
                <a:ln w="24" cap="flat">
                  <a:noFill/>
                  <a:prstDash val="solid"/>
                  <a:round/>
                </a:ln>
              </p:spPr>
              <p:txBody>
                <a:bodyPr rtlCol="0" anchor="ctr"/>
                <a:lstStyle/>
                <a:p>
                  <a:endParaRPr lang="en-US"/>
                </a:p>
              </p:txBody>
            </p:sp>
            <p:sp>
              <p:nvSpPr>
                <p:cNvPr id="248" name="フリーフォーム: 図形 247">
                  <a:extLst>
                    <a:ext uri="{FF2B5EF4-FFF2-40B4-BE49-F238E27FC236}">
                      <a16:creationId xmlns:a16="http://schemas.microsoft.com/office/drawing/2014/main" id="{D8029D55-44C8-C619-3341-08CEF35E2015}"/>
                    </a:ext>
                  </a:extLst>
                </p:cNvPr>
                <p:cNvSpPr/>
                <p:nvPr/>
              </p:nvSpPr>
              <p:spPr>
                <a:xfrm flipV="1">
                  <a:off x="-3397440" y="1865379"/>
                  <a:ext cx="12700" cy="12700"/>
                </a:xfrm>
                <a:custGeom>
                  <a:avLst/>
                  <a:gdLst/>
                  <a:ahLst/>
                  <a:cxnLst/>
                  <a:rect l="l" t="t" r="r" b="b"/>
                  <a:pathLst>
                    <a:path w="12700" h="12700"/>
                  </a:pathLst>
                </a:custGeom>
                <a:solidFill>
                  <a:srgbClr val="000000"/>
                </a:solidFill>
                <a:ln w="24" cap="flat">
                  <a:noFill/>
                  <a:prstDash val="solid"/>
                  <a:round/>
                </a:ln>
              </p:spPr>
              <p:txBody>
                <a:bodyPr rtlCol="0" anchor="ctr"/>
                <a:lstStyle/>
                <a:p>
                  <a:endParaRPr lang="en-US"/>
                </a:p>
              </p:txBody>
            </p:sp>
            <p:sp>
              <p:nvSpPr>
                <p:cNvPr id="249" name="フリーフォーム: 図形 248">
                  <a:extLst>
                    <a:ext uri="{FF2B5EF4-FFF2-40B4-BE49-F238E27FC236}">
                      <a16:creationId xmlns:a16="http://schemas.microsoft.com/office/drawing/2014/main" id="{27C7D29E-C019-1622-616B-ABF11A83FD4D}"/>
                    </a:ext>
                  </a:extLst>
                </p:cNvPr>
                <p:cNvSpPr/>
                <p:nvPr/>
              </p:nvSpPr>
              <p:spPr>
                <a:xfrm flipV="1">
                  <a:off x="-3334038" y="1754269"/>
                  <a:ext cx="101655" cy="111109"/>
                </a:xfrm>
                <a:custGeom>
                  <a:avLst/>
                  <a:gdLst>
                    <a:gd name="connsiteX0" fmla="*/ -2320 w 101655"/>
                    <a:gd name="connsiteY0" fmla="*/ 108793 h 111109"/>
                    <a:gd name="connsiteX1" fmla="*/ 20088 w 101655"/>
                    <a:gd name="connsiteY1" fmla="*/ 108793 h 111109"/>
                    <a:gd name="connsiteX2" fmla="*/ 48425 w 101655"/>
                    <a:gd name="connsiteY2" fmla="*/ 33188 h 111109"/>
                    <a:gd name="connsiteX3" fmla="*/ 76928 w 101655"/>
                    <a:gd name="connsiteY3" fmla="*/ 108793 h 111109"/>
                    <a:gd name="connsiteX4" fmla="*/ 99336 w 101655"/>
                    <a:gd name="connsiteY4" fmla="*/ 108793 h 111109"/>
                    <a:gd name="connsiteX5" fmla="*/ 99336 w 101655"/>
                    <a:gd name="connsiteY5" fmla="*/ -2316 h 111109"/>
                    <a:gd name="connsiteX6" fmla="*/ 84668 w 101655"/>
                    <a:gd name="connsiteY6" fmla="*/ -2316 h 111109"/>
                    <a:gd name="connsiteX7" fmla="*/ 84668 w 101655"/>
                    <a:gd name="connsiteY7" fmla="*/ 95243 h 111109"/>
                    <a:gd name="connsiteX8" fmla="*/ 56021 w 101655"/>
                    <a:gd name="connsiteY8" fmla="*/ 19043 h 111109"/>
                    <a:gd name="connsiteX9" fmla="*/ 40924 w 101655"/>
                    <a:gd name="connsiteY9" fmla="*/ 19043 h 111109"/>
                    <a:gd name="connsiteX10" fmla="*/ 12278 w 101655"/>
                    <a:gd name="connsiteY10" fmla="*/ 95243 h 111109"/>
                    <a:gd name="connsiteX11" fmla="*/ 12278 w 101655"/>
                    <a:gd name="connsiteY11" fmla="*/ -2316 h 111109"/>
                    <a:gd name="connsiteX12" fmla="*/ -2320 w 101655"/>
                    <a:gd name="connsiteY12" fmla="*/ -2316 h 111109"/>
                    <a:gd name="connsiteX13" fmla="*/ -2320 w 101655"/>
                    <a:gd name="connsiteY13" fmla="*/ 108793 h 111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1655" h="111109">
                      <a:moveTo>
                        <a:pt x="-2320" y="108793"/>
                      </a:moveTo>
                      <a:lnTo>
                        <a:pt x="20088" y="108793"/>
                      </a:lnTo>
                      <a:lnTo>
                        <a:pt x="48425" y="33188"/>
                      </a:lnTo>
                      <a:lnTo>
                        <a:pt x="76928" y="108793"/>
                      </a:lnTo>
                      <a:lnTo>
                        <a:pt x="99336" y="108793"/>
                      </a:lnTo>
                      <a:lnTo>
                        <a:pt x="99336" y="-2316"/>
                      </a:lnTo>
                      <a:lnTo>
                        <a:pt x="84668" y="-2316"/>
                      </a:lnTo>
                      <a:lnTo>
                        <a:pt x="84668" y="95243"/>
                      </a:lnTo>
                      <a:lnTo>
                        <a:pt x="56021" y="19043"/>
                      </a:lnTo>
                      <a:lnTo>
                        <a:pt x="40924" y="19043"/>
                      </a:lnTo>
                      <a:lnTo>
                        <a:pt x="12278" y="95243"/>
                      </a:lnTo>
                      <a:lnTo>
                        <a:pt x="12278" y="-2316"/>
                      </a:lnTo>
                      <a:lnTo>
                        <a:pt x="-2320" y="-2316"/>
                      </a:lnTo>
                      <a:lnTo>
                        <a:pt x="-2320" y="108793"/>
                      </a:lnTo>
                      <a:close/>
                    </a:path>
                  </a:pathLst>
                </a:custGeom>
                <a:solidFill>
                  <a:srgbClr val="000000"/>
                </a:solidFill>
                <a:ln w="24" cap="flat">
                  <a:noFill/>
                  <a:prstDash val="solid"/>
                  <a:round/>
                </a:ln>
              </p:spPr>
              <p:txBody>
                <a:bodyPr rtlCol="0" anchor="ctr"/>
                <a:lstStyle/>
                <a:p>
                  <a:endParaRPr lang="en-US"/>
                </a:p>
              </p:txBody>
            </p:sp>
            <p:sp>
              <p:nvSpPr>
                <p:cNvPr id="250" name="フリーフォーム: 図形 249">
                  <a:extLst>
                    <a:ext uri="{FF2B5EF4-FFF2-40B4-BE49-F238E27FC236}">
                      <a16:creationId xmlns:a16="http://schemas.microsoft.com/office/drawing/2014/main" id="{0FDE638A-C609-5BA6-1C10-A44BF29F44D7}"/>
                    </a:ext>
                  </a:extLst>
                </p:cNvPr>
                <p:cNvSpPr/>
                <p:nvPr/>
              </p:nvSpPr>
              <p:spPr>
                <a:xfrm flipV="1">
                  <a:off x="-3209096" y="1780035"/>
                  <a:ext cx="76509" cy="87510"/>
                </a:xfrm>
                <a:custGeom>
                  <a:avLst/>
                  <a:gdLst>
                    <a:gd name="connsiteX0" fmla="*/ 36735 w 76509"/>
                    <a:gd name="connsiteY0" fmla="*/ 74185 h 87510"/>
                    <a:gd name="connsiteX1" fmla="*/ 19328 w 76509"/>
                    <a:gd name="connsiteY1" fmla="*/ 65589 h 87510"/>
                    <a:gd name="connsiteX2" fmla="*/ 12923 w 76509"/>
                    <a:gd name="connsiteY2" fmla="*/ 42038 h 87510"/>
                    <a:gd name="connsiteX3" fmla="*/ 19281 w 76509"/>
                    <a:gd name="connsiteY3" fmla="*/ 18488 h 87510"/>
                    <a:gd name="connsiteX4" fmla="*/ 36735 w 76509"/>
                    <a:gd name="connsiteY4" fmla="*/ 9892 h 87510"/>
                    <a:gd name="connsiteX5" fmla="*/ 54071 w 76509"/>
                    <a:gd name="connsiteY5" fmla="*/ 18512 h 87510"/>
                    <a:gd name="connsiteX6" fmla="*/ 60476 w 76509"/>
                    <a:gd name="connsiteY6" fmla="*/ 42038 h 87510"/>
                    <a:gd name="connsiteX7" fmla="*/ 54071 w 76509"/>
                    <a:gd name="connsiteY7" fmla="*/ 65518 h 87510"/>
                    <a:gd name="connsiteX8" fmla="*/ 36735 w 76509"/>
                    <a:gd name="connsiteY8" fmla="*/ 74185 h 87510"/>
                    <a:gd name="connsiteX9" fmla="*/ 36735 w 76509"/>
                    <a:gd name="connsiteY9" fmla="*/ 85782 h 87510"/>
                    <a:gd name="connsiteX10" fmla="*/ 64786 w 76509"/>
                    <a:gd name="connsiteY10" fmla="*/ 74162 h 87510"/>
                    <a:gd name="connsiteX11" fmla="*/ 75002 w 76509"/>
                    <a:gd name="connsiteY11" fmla="*/ 42038 h 87510"/>
                    <a:gd name="connsiteX12" fmla="*/ 64786 w 76509"/>
                    <a:gd name="connsiteY12" fmla="*/ 9915 h 87510"/>
                    <a:gd name="connsiteX13" fmla="*/ 36735 w 76509"/>
                    <a:gd name="connsiteY13" fmla="*/ -1729 h 87510"/>
                    <a:gd name="connsiteX14" fmla="*/ 8636 w 76509"/>
                    <a:gd name="connsiteY14" fmla="*/ 9915 h 87510"/>
                    <a:gd name="connsiteX15" fmla="*/ -1508 w 76509"/>
                    <a:gd name="connsiteY15" fmla="*/ 42038 h 87510"/>
                    <a:gd name="connsiteX16" fmla="*/ 8636 w 76509"/>
                    <a:gd name="connsiteY16" fmla="*/ 74162 h 87510"/>
                    <a:gd name="connsiteX17" fmla="*/ 36735 w 76509"/>
                    <a:gd name="connsiteY17" fmla="*/ 85782 h 875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6509" h="87510">
                      <a:moveTo>
                        <a:pt x="36735" y="74185"/>
                      </a:moveTo>
                      <a:cubicBezTo>
                        <a:pt x="29401" y="74185"/>
                        <a:pt x="23599" y="71320"/>
                        <a:pt x="19328" y="65589"/>
                      </a:cubicBezTo>
                      <a:cubicBezTo>
                        <a:pt x="15058" y="59858"/>
                        <a:pt x="12923" y="52008"/>
                        <a:pt x="12923" y="42038"/>
                      </a:cubicBezTo>
                      <a:cubicBezTo>
                        <a:pt x="12923" y="32069"/>
                        <a:pt x="15042" y="24219"/>
                        <a:pt x="19281" y="18488"/>
                      </a:cubicBezTo>
                      <a:cubicBezTo>
                        <a:pt x="23535" y="12757"/>
                        <a:pt x="29353" y="9892"/>
                        <a:pt x="36735" y="9892"/>
                      </a:cubicBezTo>
                      <a:cubicBezTo>
                        <a:pt x="44038" y="9892"/>
                        <a:pt x="49816" y="12765"/>
                        <a:pt x="54071" y="18512"/>
                      </a:cubicBezTo>
                      <a:cubicBezTo>
                        <a:pt x="58341" y="24274"/>
                        <a:pt x="60476" y="32117"/>
                        <a:pt x="60476" y="42038"/>
                      </a:cubicBezTo>
                      <a:cubicBezTo>
                        <a:pt x="60476" y="51913"/>
                        <a:pt x="58341" y="59739"/>
                        <a:pt x="54071" y="65518"/>
                      </a:cubicBezTo>
                      <a:cubicBezTo>
                        <a:pt x="49816" y="71296"/>
                        <a:pt x="44038" y="74185"/>
                        <a:pt x="36735" y="74185"/>
                      </a:cubicBezTo>
                      <a:close/>
                      <a:moveTo>
                        <a:pt x="36735" y="85782"/>
                      </a:moveTo>
                      <a:cubicBezTo>
                        <a:pt x="48641" y="85782"/>
                        <a:pt x="57992" y="81908"/>
                        <a:pt x="64786" y="74162"/>
                      </a:cubicBezTo>
                      <a:cubicBezTo>
                        <a:pt x="71597" y="66430"/>
                        <a:pt x="75002" y="55723"/>
                        <a:pt x="75002" y="42038"/>
                      </a:cubicBezTo>
                      <a:cubicBezTo>
                        <a:pt x="75002" y="28402"/>
                        <a:pt x="71597" y="17694"/>
                        <a:pt x="64786" y="9915"/>
                      </a:cubicBezTo>
                      <a:cubicBezTo>
                        <a:pt x="57992" y="2153"/>
                        <a:pt x="48641" y="-1729"/>
                        <a:pt x="36735" y="-1729"/>
                      </a:cubicBezTo>
                      <a:cubicBezTo>
                        <a:pt x="24781" y="-1729"/>
                        <a:pt x="15415" y="2153"/>
                        <a:pt x="8636" y="9915"/>
                      </a:cubicBezTo>
                      <a:cubicBezTo>
                        <a:pt x="1874" y="17694"/>
                        <a:pt x="-1508" y="28402"/>
                        <a:pt x="-1508" y="42038"/>
                      </a:cubicBezTo>
                      <a:cubicBezTo>
                        <a:pt x="-1508" y="55723"/>
                        <a:pt x="1874" y="66430"/>
                        <a:pt x="8636" y="74162"/>
                      </a:cubicBezTo>
                      <a:cubicBezTo>
                        <a:pt x="15415" y="81908"/>
                        <a:pt x="24781" y="85782"/>
                        <a:pt x="36735" y="85782"/>
                      </a:cubicBezTo>
                      <a:close/>
                    </a:path>
                  </a:pathLst>
                </a:custGeom>
                <a:solidFill>
                  <a:srgbClr val="000000"/>
                </a:solidFill>
                <a:ln w="24" cap="flat">
                  <a:noFill/>
                  <a:prstDash val="solid"/>
                  <a:round/>
                </a:ln>
              </p:spPr>
              <p:txBody>
                <a:bodyPr rtlCol="0" anchor="ctr"/>
                <a:lstStyle/>
                <a:p>
                  <a:endParaRPr lang="en-US"/>
                </a:p>
              </p:txBody>
            </p:sp>
            <p:sp>
              <p:nvSpPr>
                <p:cNvPr id="251" name="フリーフォーム: 図形 250">
                  <a:extLst>
                    <a:ext uri="{FF2B5EF4-FFF2-40B4-BE49-F238E27FC236}">
                      <a16:creationId xmlns:a16="http://schemas.microsoft.com/office/drawing/2014/main" id="{28913E11-4E3D-F622-876E-F49C191F2FF7}"/>
                    </a:ext>
                  </a:extLst>
                </p:cNvPr>
                <p:cNvSpPr/>
                <p:nvPr/>
              </p:nvSpPr>
              <p:spPr>
                <a:xfrm flipV="1">
                  <a:off x="-3110428" y="1780035"/>
                  <a:ext cx="69818" cy="85343"/>
                </a:xfrm>
                <a:custGeom>
                  <a:avLst/>
                  <a:gdLst>
                    <a:gd name="connsiteX0" fmla="*/ 68231 w 69818"/>
                    <a:gd name="connsiteY0" fmla="*/ 48541 h 85343"/>
                    <a:gd name="connsiteX1" fmla="*/ 68231 w 69818"/>
                    <a:gd name="connsiteY1" fmla="*/ -1774 h 85343"/>
                    <a:gd name="connsiteX2" fmla="*/ 54538 w 69818"/>
                    <a:gd name="connsiteY2" fmla="*/ -1774 h 85343"/>
                    <a:gd name="connsiteX3" fmla="*/ 54538 w 69818"/>
                    <a:gd name="connsiteY3" fmla="*/ 48089 h 85343"/>
                    <a:gd name="connsiteX4" fmla="*/ 49919 w 69818"/>
                    <a:gd name="connsiteY4" fmla="*/ 65782 h 85343"/>
                    <a:gd name="connsiteX5" fmla="*/ 36084 w 69818"/>
                    <a:gd name="connsiteY5" fmla="*/ 71663 h 85343"/>
                    <a:gd name="connsiteX6" fmla="*/ 18582 w 69818"/>
                    <a:gd name="connsiteY6" fmla="*/ 64591 h 85343"/>
                    <a:gd name="connsiteX7" fmla="*/ 12176 w 69818"/>
                    <a:gd name="connsiteY7" fmla="*/ 45327 h 85343"/>
                    <a:gd name="connsiteX8" fmla="*/ 12176 w 69818"/>
                    <a:gd name="connsiteY8" fmla="*/ -1774 h 85343"/>
                    <a:gd name="connsiteX9" fmla="*/ -1588 w 69818"/>
                    <a:gd name="connsiteY9" fmla="*/ -1774 h 85343"/>
                    <a:gd name="connsiteX10" fmla="*/ -1588 w 69818"/>
                    <a:gd name="connsiteY10" fmla="*/ 81569 h 85343"/>
                    <a:gd name="connsiteX11" fmla="*/ 12176 w 69818"/>
                    <a:gd name="connsiteY11" fmla="*/ 81569 h 85343"/>
                    <a:gd name="connsiteX12" fmla="*/ 12176 w 69818"/>
                    <a:gd name="connsiteY12" fmla="*/ 68615 h 85343"/>
                    <a:gd name="connsiteX13" fmla="*/ 23749 w 69818"/>
                    <a:gd name="connsiteY13" fmla="*/ 79855 h 85343"/>
                    <a:gd name="connsiteX14" fmla="*/ 39132 w 69818"/>
                    <a:gd name="connsiteY14" fmla="*/ 83570 h 85343"/>
                    <a:gd name="connsiteX15" fmla="*/ 60849 w 69818"/>
                    <a:gd name="connsiteY15" fmla="*/ 74687 h 85343"/>
                    <a:gd name="connsiteX16" fmla="*/ 68231 w 69818"/>
                    <a:gd name="connsiteY16" fmla="*/ 48541 h 85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9818" h="85343">
                      <a:moveTo>
                        <a:pt x="68231" y="48541"/>
                      </a:moveTo>
                      <a:lnTo>
                        <a:pt x="68231" y="-1774"/>
                      </a:lnTo>
                      <a:lnTo>
                        <a:pt x="54538" y="-1774"/>
                      </a:lnTo>
                      <a:lnTo>
                        <a:pt x="54538" y="48089"/>
                      </a:lnTo>
                      <a:cubicBezTo>
                        <a:pt x="54538" y="55979"/>
                        <a:pt x="52998" y="61876"/>
                        <a:pt x="49919" y="65782"/>
                      </a:cubicBezTo>
                      <a:cubicBezTo>
                        <a:pt x="46839" y="69703"/>
                        <a:pt x="42227" y="71663"/>
                        <a:pt x="36084" y="71663"/>
                      </a:cubicBezTo>
                      <a:cubicBezTo>
                        <a:pt x="28686" y="71663"/>
                        <a:pt x="22852" y="69306"/>
                        <a:pt x="18582" y="64591"/>
                      </a:cubicBezTo>
                      <a:cubicBezTo>
                        <a:pt x="14311" y="59892"/>
                        <a:pt x="12176" y="53471"/>
                        <a:pt x="12176" y="45327"/>
                      </a:cubicBezTo>
                      <a:lnTo>
                        <a:pt x="12176" y="-1774"/>
                      </a:lnTo>
                      <a:lnTo>
                        <a:pt x="-1588" y="-1774"/>
                      </a:lnTo>
                      <a:lnTo>
                        <a:pt x="-1588" y="81569"/>
                      </a:lnTo>
                      <a:lnTo>
                        <a:pt x="12176" y="81569"/>
                      </a:lnTo>
                      <a:lnTo>
                        <a:pt x="12176" y="68615"/>
                      </a:lnTo>
                      <a:cubicBezTo>
                        <a:pt x="15462" y="73632"/>
                        <a:pt x="19320" y="77378"/>
                        <a:pt x="23749" y="79855"/>
                      </a:cubicBezTo>
                      <a:cubicBezTo>
                        <a:pt x="28194" y="82331"/>
                        <a:pt x="33321" y="83570"/>
                        <a:pt x="39132" y="83570"/>
                      </a:cubicBezTo>
                      <a:cubicBezTo>
                        <a:pt x="48704" y="83570"/>
                        <a:pt x="55943" y="80609"/>
                        <a:pt x="60849" y="74687"/>
                      </a:cubicBezTo>
                      <a:cubicBezTo>
                        <a:pt x="65770" y="68766"/>
                        <a:pt x="68231" y="60051"/>
                        <a:pt x="68231" y="48541"/>
                      </a:cubicBezTo>
                      <a:close/>
                    </a:path>
                  </a:pathLst>
                </a:custGeom>
                <a:solidFill>
                  <a:srgbClr val="000000"/>
                </a:solidFill>
                <a:ln w="24" cap="flat">
                  <a:noFill/>
                  <a:prstDash val="solid"/>
                  <a:round/>
                </a:ln>
              </p:spPr>
              <p:txBody>
                <a:bodyPr rtlCol="0" anchor="ctr"/>
                <a:lstStyle/>
                <a:p>
                  <a:endParaRPr lang="en-US"/>
                </a:p>
              </p:txBody>
            </p:sp>
            <p:sp>
              <p:nvSpPr>
                <p:cNvPr id="252" name="フリーフォーム: 図形 251">
                  <a:extLst>
                    <a:ext uri="{FF2B5EF4-FFF2-40B4-BE49-F238E27FC236}">
                      <a16:creationId xmlns:a16="http://schemas.microsoft.com/office/drawing/2014/main" id="{46E4EEF8-877F-1F73-6BB3-0E39665C1C37}"/>
                    </a:ext>
                  </a:extLst>
                </p:cNvPr>
                <p:cNvSpPr/>
                <p:nvPr/>
              </p:nvSpPr>
              <p:spPr>
                <a:xfrm flipV="1">
                  <a:off x="-3023576" y="1758365"/>
                  <a:ext cx="52006" cy="107013"/>
                </a:xfrm>
                <a:custGeom>
                  <a:avLst/>
                  <a:gdLst>
                    <a:gd name="connsiteX0" fmla="*/ 23014 w 52006"/>
                    <a:gd name="connsiteY0" fmla="*/ 104783 h 107013"/>
                    <a:gd name="connsiteX1" fmla="*/ 23014 w 52006"/>
                    <a:gd name="connsiteY1" fmla="*/ 81113 h 107013"/>
                    <a:gd name="connsiteX2" fmla="*/ 51208 w 52006"/>
                    <a:gd name="connsiteY2" fmla="*/ 81113 h 107013"/>
                    <a:gd name="connsiteX3" fmla="*/ 51208 w 52006"/>
                    <a:gd name="connsiteY3" fmla="*/ 70469 h 107013"/>
                    <a:gd name="connsiteX4" fmla="*/ 23014 w 52006"/>
                    <a:gd name="connsiteY4" fmla="*/ 70469 h 107013"/>
                    <a:gd name="connsiteX5" fmla="*/ 23014 w 52006"/>
                    <a:gd name="connsiteY5" fmla="*/ 25225 h 107013"/>
                    <a:gd name="connsiteX6" fmla="*/ 25800 w 52006"/>
                    <a:gd name="connsiteY6" fmla="*/ 12129 h 107013"/>
                    <a:gd name="connsiteX7" fmla="*/ 37159 w 52006"/>
                    <a:gd name="connsiteY7" fmla="*/ 9223 h 107013"/>
                    <a:gd name="connsiteX8" fmla="*/ 51208 w 52006"/>
                    <a:gd name="connsiteY8" fmla="*/ 9223 h 107013"/>
                    <a:gd name="connsiteX9" fmla="*/ 51208 w 52006"/>
                    <a:gd name="connsiteY9" fmla="*/ -2230 h 107013"/>
                    <a:gd name="connsiteX10" fmla="*/ 37159 w 52006"/>
                    <a:gd name="connsiteY10" fmla="*/ -2230 h 107013"/>
                    <a:gd name="connsiteX11" fmla="*/ 15275 w 52006"/>
                    <a:gd name="connsiteY11" fmla="*/ 3675 h 107013"/>
                    <a:gd name="connsiteX12" fmla="*/ 9250 w 52006"/>
                    <a:gd name="connsiteY12" fmla="*/ 25225 h 107013"/>
                    <a:gd name="connsiteX13" fmla="*/ 9250 w 52006"/>
                    <a:gd name="connsiteY13" fmla="*/ 70469 h 107013"/>
                    <a:gd name="connsiteX14" fmla="*/ -799 w 52006"/>
                    <a:gd name="connsiteY14" fmla="*/ 70469 h 107013"/>
                    <a:gd name="connsiteX15" fmla="*/ -799 w 52006"/>
                    <a:gd name="connsiteY15" fmla="*/ 81113 h 107013"/>
                    <a:gd name="connsiteX16" fmla="*/ 9250 w 52006"/>
                    <a:gd name="connsiteY16" fmla="*/ 81113 h 107013"/>
                    <a:gd name="connsiteX17" fmla="*/ 9250 w 52006"/>
                    <a:gd name="connsiteY17" fmla="*/ 104783 h 107013"/>
                    <a:gd name="connsiteX18" fmla="*/ 23014 w 52006"/>
                    <a:gd name="connsiteY18" fmla="*/ 104783 h 1070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2006" h="107013">
                      <a:moveTo>
                        <a:pt x="23014" y="104783"/>
                      </a:moveTo>
                      <a:lnTo>
                        <a:pt x="23014" y="81113"/>
                      </a:lnTo>
                      <a:lnTo>
                        <a:pt x="51208" y="81113"/>
                      </a:lnTo>
                      <a:lnTo>
                        <a:pt x="51208" y="70469"/>
                      </a:lnTo>
                      <a:lnTo>
                        <a:pt x="23014" y="70469"/>
                      </a:lnTo>
                      <a:lnTo>
                        <a:pt x="23014" y="25225"/>
                      </a:lnTo>
                      <a:cubicBezTo>
                        <a:pt x="23014" y="18431"/>
                        <a:pt x="23943" y="14065"/>
                        <a:pt x="25800" y="12129"/>
                      </a:cubicBezTo>
                      <a:cubicBezTo>
                        <a:pt x="27657" y="10192"/>
                        <a:pt x="31444" y="9223"/>
                        <a:pt x="37159" y="9223"/>
                      </a:cubicBezTo>
                      <a:lnTo>
                        <a:pt x="51208" y="9223"/>
                      </a:lnTo>
                      <a:lnTo>
                        <a:pt x="51208" y="-2230"/>
                      </a:lnTo>
                      <a:lnTo>
                        <a:pt x="37159" y="-2230"/>
                      </a:lnTo>
                      <a:cubicBezTo>
                        <a:pt x="26586" y="-2230"/>
                        <a:pt x="19291" y="-262"/>
                        <a:pt x="15275" y="3675"/>
                      </a:cubicBezTo>
                      <a:cubicBezTo>
                        <a:pt x="11259" y="7628"/>
                        <a:pt x="9250" y="14811"/>
                        <a:pt x="9250" y="25225"/>
                      </a:cubicBezTo>
                      <a:lnTo>
                        <a:pt x="9250" y="70469"/>
                      </a:lnTo>
                      <a:lnTo>
                        <a:pt x="-799" y="70469"/>
                      </a:lnTo>
                      <a:lnTo>
                        <a:pt x="-799" y="81113"/>
                      </a:lnTo>
                      <a:lnTo>
                        <a:pt x="9250" y="81113"/>
                      </a:lnTo>
                      <a:lnTo>
                        <a:pt x="9250" y="104783"/>
                      </a:lnTo>
                      <a:lnTo>
                        <a:pt x="23014" y="104783"/>
                      </a:lnTo>
                      <a:close/>
                    </a:path>
                  </a:pathLst>
                </a:custGeom>
                <a:solidFill>
                  <a:srgbClr val="000000"/>
                </a:solidFill>
                <a:ln w="24" cap="flat">
                  <a:noFill/>
                  <a:prstDash val="solid"/>
                  <a:round/>
                </a:ln>
              </p:spPr>
              <p:txBody>
                <a:bodyPr rtlCol="0" anchor="ctr"/>
                <a:lstStyle/>
                <a:p>
                  <a:endParaRPr lang="en-US"/>
                </a:p>
              </p:txBody>
            </p:sp>
            <p:sp>
              <p:nvSpPr>
                <p:cNvPr id="253" name="フリーフォーム: 図形 252">
                  <a:extLst>
                    <a:ext uri="{FF2B5EF4-FFF2-40B4-BE49-F238E27FC236}">
                      <a16:creationId xmlns:a16="http://schemas.microsoft.com/office/drawing/2014/main" id="{590DB79D-A96B-4454-AA75-12F8DE3AEF81}"/>
                    </a:ext>
                  </a:extLst>
                </p:cNvPr>
                <p:cNvSpPr/>
                <p:nvPr/>
              </p:nvSpPr>
              <p:spPr>
                <a:xfrm flipV="1">
                  <a:off x="-2954081" y="1749578"/>
                  <a:ext cx="69818" cy="115800"/>
                </a:xfrm>
                <a:custGeom>
                  <a:avLst/>
                  <a:gdLst>
                    <a:gd name="connsiteX0" fmla="*/ 68243 w 69818"/>
                    <a:gd name="connsiteY0" fmla="*/ 47901 h 115800"/>
                    <a:gd name="connsiteX1" fmla="*/ 68243 w 69818"/>
                    <a:gd name="connsiteY1" fmla="*/ -2415 h 115800"/>
                    <a:gd name="connsiteX2" fmla="*/ 54551 w 69818"/>
                    <a:gd name="connsiteY2" fmla="*/ -2415 h 115800"/>
                    <a:gd name="connsiteX3" fmla="*/ 54551 w 69818"/>
                    <a:gd name="connsiteY3" fmla="*/ 47448 h 115800"/>
                    <a:gd name="connsiteX4" fmla="*/ 49931 w 69818"/>
                    <a:gd name="connsiteY4" fmla="*/ 65141 h 115800"/>
                    <a:gd name="connsiteX5" fmla="*/ 36096 w 69818"/>
                    <a:gd name="connsiteY5" fmla="*/ 71023 h 115800"/>
                    <a:gd name="connsiteX6" fmla="*/ 18594 w 69818"/>
                    <a:gd name="connsiteY6" fmla="*/ 63950 h 115800"/>
                    <a:gd name="connsiteX7" fmla="*/ 12188 w 69818"/>
                    <a:gd name="connsiteY7" fmla="*/ 44686 h 115800"/>
                    <a:gd name="connsiteX8" fmla="*/ 12188 w 69818"/>
                    <a:gd name="connsiteY8" fmla="*/ -2415 h 115800"/>
                    <a:gd name="connsiteX9" fmla="*/ -1575 w 69818"/>
                    <a:gd name="connsiteY9" fmla="*/ -2415 h 115800"/>
                    <a:gd name="connsiteX10" fmla="*/ -1575 w 69818"/>
                    <a:gd name="connsiteY10" fmla="*/ 113385 h 115800"/>
                    <a:gd name="connsiteX11" fmla="*/ 12188 w 69818"/>
                    <a:gd name="connsiteY11" fmla="*/ 113385 h 115800"/>
                    <a:gd name="connsiteX12" fmla="*/ 12188 w 69818"/>
                    <a:gd name="connsiteY12" fmla="*/ 67975 h 115800"/>
                    <a:gd name="connsiteX13" fmla="*/ 23761 w 69818"/>
                    <a:gd name="connsiteY13" fmla="*/ 79214 h 115800"/>
                    <a:gd name="connsiteX14" fmla="*/ 39144 w 69818"/>
                    <a:gd name="connsiteY14" fmla="*/ 82929 h 115800"/>
                    <a:gd name="connsiteX15" fmla="*/ 60861 w 69818"/>
                    <a:gd name="connsiteY15" fmla="*/ 74047 h 115800"/>
                    <a:gd name="connsiteX16" fmla="*/ 68243 w 69818"/>
                    <a:gd name="connsiteY16" fmla="*/ 47901 h 115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9818" h="115800">
                      <a:moveTo>
                        <a:pt x="68243" y="47901"/>
                      </a:moveTo>
                      <a:lnTo>
                        <a:pt x="68243" y="-2415"/>
                      </a:lnTo>
                      <a:lnTo>
                        <a:pt x="54551" y="-2415"/>
                      </a:lnTo>
                      <a:lnTo>
                        <a:pt x="54551" y="47448"/>
                      </a:lnTo>
                      <a:cubicBezTo>
                        <a:pt x="54551" y="55338"/>
                        <a:pt x="53011" y="61236"/>
                        <a:pt x="49931" y="65141"/>
                      </a:cubicBezTo>
                      <a:cubicBezTo>
                        <a:pt x="46851" y="69062"/>
                        <a:pt x="42240" y="71023"/>
                        <a:pt x="36096" y="71023"/>
                      </a:cubicBezTo>
                      <a:cubicBezTo>
                        <a:pt x="28698" y="71023"/>
                        <a:pt x="22864" y="68665"/>
                        <a:pt x="18594" y="63950"/>
                      </a:cubicBezTo>
                      <a:cubicBezTo>
                        <a:pt x="14324" y="59251"/>
                        <a:pt x="12188" y="52830"/>
                        <a:pt x="12188" y="44686"/>
                      </a:cubicBezTo>
                      <a:lnTo>
                        <a:pt x="12188" y="-2415"/>
                      </a:lnTo>
                      <a:lnTo>
                        <a:pt x="-1575" y="-2415"/>
                      </a:lnTo>
                      <a:lnTo>
                        <a:pt x="-1575" y="113385"/>
                      </a:lnTo>
                      <a:lnTo>
                        <a:pt x="12188" y="113385"/>
                      </a:lnTo>
                      <a:lnTo>
                        <a:pt x="12188" y="67975"/>
                      </a:lnTo>
                      <a:cubicBezTo>
                        <a:pt x="15474" y="72991"/>
                        <a:pt x="19332" y="76738"/>
                        <a:pt x="23761" y="79214"/>
                      </a:cubicBezTo>
                      <a:cubicBezTo>
                        <a:pt x="28206" y="81691"/>
                        <a:pt x="33334" y="82929"/>
                        <a:pt x="39144" y="82929"/>
                      </a:cubicBezTo>
                      <a:cubicBezTo>
                        <a:pt x="48717" y="82929"/>
                        <a:pt x="55956" y="79968"/>
                        <a:pt x="60861" y="74047"/>
                      </a:cubicBezTo>
                      <a:cubicBezTo>
                        <a:pt x="65782" y="68125"/>
                        <a:pt x="68243" y="59410"/>
                        <a:pt x="68243" y="47901"/>
                      </a:cubicBezTo>
                      <a:close/>
                    </a:path>
                  </a:pathLst>
                </a:custGeom>
                <a:solidFill>
                  <a:srgbClr val="000000"/>
                </a:solidFill>
                <a:ln w="24" cap="flat">
                  <a:noFill/>
                  <a:prstDash val="solid"/>
                  <a:round/>
                </a:ln>
              </p:spPr>
              <p:txBody>
                <a:bodyPr rtlCol="0" anchor="ctr"/>
                <a:lstStyle/>
                <a:p>
                  <a:endParaRPr lang="en-US"/>
                </a:p>
              </p:txBody>
            </p:sp>
          </p:grpSp>
        </p:grpSp>
      </p:grpSp>
    </p:spTree>
    <p:extLst>
      <p:ext uri="{BB962C8B-B14F-4D97-AF65-F5344CB8AC3E}">
        <p14:creationId xmlns:p14="http://schemas.microsoft.com/office/powerpoint/2010/main" val="3536421966"/>
      </p:ext>
    </p:extLst>
  </p:cSld>
  <p:clrMapOvr>
    <a:masterClrMapping/>
  </p:clrMapOvr>
</p:sld>
</file>

<file path=ppt/theme/theme1.xml><?xml version="1.0" encoding="utf-8"?>
<a:theme xmlns:a="http://schemas.openxmlformats.org/drawingml/2006/main" name="Office テーマ">
  <a:themeElements>
    <a:clrScheme name="いつもの配色">
      <a:dk1>
        <a:srgbClr val="3F3F3F"/>
      </a:dk1>
      <a:lt1>
        <a:srgbClr val="FFFFFF"/>
      </a:lt1>
      <a:dk2>
        <a:srgbClr val="44546A"/>
      </a:dk2>
      <a:lt2>
        <a:srgbClr val="E7E6E6"/>
      </a:lt2>
      <a:accent1>
        <a:srgbClr val="4472C4"/>
      </a:accent1>
      <a:accent2>
        <a:srgbClr val="BF9000"/>
      </a:accent2>
      <a:accent3>
        <a:srgbClr val="C00000"/>
      </a:accent3>
      <a:accent4>
        <a:srgbClr val="FFC000"/>
      </a:accent4>
      <a:accent5>
        <a:srgbClr val="5B9BD5"/>
      </a:accent5>
      <a:accent6>
        <a:srgbClr val="70AD47"/>
      </a:accent6>
      <a:hlink>
        <a:srgbClr val="0563C1"/>
      </a:hlink>
      <a:folHlink>
        <a:srgbClr val="954F72"/>
      </a:folHlink>
    </a:clrScheme>
    <a:fontScheme name="N's_template">
      <a:majorFont>
        <a:latin typeface="Yu Gothic UI"/>
        <a:ea typeface="Yu Gothic UI"/>
        <a:cs typeface=""/>
      </a:majorFont>
      <a:minorFont>
        <a:latin typeface="Yu Gothic UI"/>
        <a:ea typeface="Yu Gothic UI"/>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プレゼンテーション1" id="{6D0BC013-482F-4B30-A174-0D3D6146F588}" vid="{6283E58C-56B3-4DD3-9930-5C1338E79A61}"/>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2011c0e9-3633-4c68-9cbe-a638a9c53794">
      <Terms xmlns="http://schemas.microsoft.com/office/infopath/2007/PartnerControls"/>
    </lcf76f155ced4ddcb4097134ff3c332f>
    <TaxCatchAll xmlns="2d38cf78-3d67-4683-a622-6f578eb767ed"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ドキュメント" ma:contentTypeID="0x010100B973BE8A981C6645B6397ABE8EF098A5" ma:contentTypeVersion="18" ma:contentTypeDescription="新しいドキュメントを作成します。" ma:contentTypeScope="" ma:versionID="0c76d475423b2aeb327e761148d867cc">
  <xsd:schema xmlns:xsd="http://www.w3.org/2001/XMLSchema" xmlns:xs="http://www.w3.org/2001/XMLSchema" xmlns:p="http://schemas.microsoft.com/office/2006/metadata/properties" xmlns:ns2="2011c0e9-3633-4c68-9cbe-a638a9c53794" xmlns:ns3="2d38cf78-3d67-4683-a622-6f578eb767ed" targetNamespace="http://schemas.microsoft.com/office/2006/metadata/properties" ma:root="true" ma:fieldsID="7e20c96c1d4fb8ce12a9557151206c8f" ns2:_="" ns3:_="">
    <xsd:import namespace="2011c0e9-3633-4c68-9cbe-a638a9c53794"/>
    <xsd:import namespace="2d38cf78-3d67-4683-a622-6f578eb767ed"/>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element ref="ns2:MediaServiceAutoKeyPoints" minOccurs="0"/>
                <xsd:element ref="ns2:MediaServiceKeyPoints" minOccurs="0"/>
                <xsd:element ref="ns2:MediaServiceLocation"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011c0e9-3633-4c68-9cbe-a638a9c5379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画像タグ" ma:readOnly="false" ma:fieldId="{5cf76f15-5ced-4ddc-b409-7134ff3c332f}" ma:taxonomyMulti="true" ma:sspId="db8f504b-e930-4132-bd19-9e7a4baacd68"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d38cf78-3d67-4683-a622-6f578eb767ed" elementFormDefault="qualified">
    <xsd:import namespace="http://schemas.microsoft.com/office/2006/documentManagement/types"/>
    <xsd:import namespace="http://schemas.microsoft.com/office/infopath/2007/PartnerControls"/>
    <xsd:element name="SharedWithUsers" ma:index="15"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共有相手の詳細情報" ma:internalName="SharedWithDetails" ma:readOnly="true">
      <xsd:simpleType>
        <xsd:restriction base="dms:Note">
          <xsd:maxLength value="255"/>
        </xsd:restriction>
      </xsd:simpleType>
    </xsd:element>
    <xsd:element name="TaxCatchAll" ma:index="23" nillable="true" ma:displayName="Taxonomy Catch All Column" ma:hidden="true" ma:list="{b032b36a-d514-428f-a3db-afdf1b98a9ea}" ma:internalName="TaxCatchAll" ma:showField="CatchAllData" ma:web="2d38cf78-3d67-4683-a622-6f578eb767ed">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CF7B7CA-1DA5-4ED8-B94D-6A9E3BB001E8}">
  <ds:schemaRefs>
    <ds:schemaRef ds:uri="http://schemas.microsoft.com/office/2006/metadata/properties"/>
    <ds:schemaRef ds:uri="http://schemas.microsoft.com/office/infopath/2007/PartnerControls"/>
    <ds:schemaRef ds:uri="2011c0e9-3633-4c68-9cbe-a638a9c53794"/>
    <ds:schemaRef ds:uri="2d38cf78-3d67-4683-a622-6f578eb767ed"/>
  </ds:schemaRefs>
</ds:datastoreItem>
</file>

<file path=customXml/itemProps2.xml><?xml version="1.0" encoding="utf-8"?>
<ds:datastoreItem xmlns:ds="http://schemas.openxmlformats.org/officeDocument/2006/customXml" ds:itemID="{2FEEBEFA-ECD9-421D-AA2E-AB6355E9F00F}">
  <ds:schemaRefs>
    <ds:schemaRef ds:uri="http://schemas.microsoft.com/sharepoint/v3/contenttype/forms"/>
  </ds:schemaRefs>
</ds:datastoreItem>
</file>

<file path=customXml/itemProps3.xml><?xml version="1.0" encoding="utf-8"?>
<ds:datastoreItem xmlns:ds="http://schemas.openxmlformats.org/officeDocument/2006/customXml" ds:itemID="{13D5C93E-35BE-4E89-B71F-ADE94EBE953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011c0e9-3633-4c68-9cbe-a638a9c53794"/>
    <ds:schemaRef ds:uri="2d38cf78-3d67-4683-a622-6f578eb767e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4524</TotalTime>
  <Words>5131</Words>
  <Application>Microsoft Office PowerPoint</Application>
  <PresentationFormat>A4 210 x 297 mm</PresentationFormat>
  <Paragraphs>1101</Paragraphs>
  <Slides>61</Slides>
  <Notes>0</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61</vt:i4>
      </vt:variant>
    </vt:vector>
  </HeadingPairs>
  <TitlesOfParts>
    <vt:vector size="69" baseType="lpstr">
      <vt:lpstr>游ゴシック Medium</vt:lpstr>
      <vt:lpstr>Yu Gothic UI</vt:lpstr>
      <vt:lpstr>Yu Mincho</vt:lpstr>
      <vt:lpstr>Arial</vt:lpstr>
      <vt:lpstr>Calibri</vt:lpstr>
      <vt:lpstr>Cambria Math</vt:lpstr>
      <vt:lpstr>Open Sans</vt:lpstr>
      <vt:lpstr>Office テーマ</vt:lpstr>
      <vt:lpstr>マルチエージェント強化学習を用いた自律分散型マイクログリッドのデザイン   Design of Autonomous Decentralized Microgrids Using Multi-Agent Reinforcement Learning</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dc:title>
  <dc:creator>森田 雄大</dc:creator>
  <cp:lastModifiedBy>森田　雄大</cp:lastModifiedBy>
  <cp:revision>354</cp:revision>
  <dcterms:created xsi:type="dcterms:W3CDTF">2023-09-11T21:08:38Z</dcterms:created>
  <dcterms:modified xsi:type="dcterms:W3CDTF">2024-12-18T07:58:14Z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0x010100B973BE8A981C6645B6397ABE8EF098A5</vt:lpwstr>
  </property>
  <property fmtid="{D5CDD505-2E9C-101B-9397-08002B2CF9AE}" pid="3" name="MediaServiceImageTags">
    <vt:lpwstr/>
  </property>
</Properties>
</file>