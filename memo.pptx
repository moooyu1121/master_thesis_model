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sldIdLst>
    <p:sldId id="276" r:id="rId5"/>
    <p:sldId id="305" r:id="rId6"/>
    <p:sldId id="319" r:id="rId7"/>
    <p:sldId id="310" r:id="rId8"/>
    <p:sldId id="307" r:id="rId9"/>
    <p:sldId id="293" r:id="rId10"/>
    <p:sldId id="312" r:id="rId11"/>
    <p:sldId id="311" r:id="rId12"/>
    <p:sldId id="320" r:id="rId13"/>
    <p:sldId id="313" r:id="rId14"/>
    <p:sldId id="314" r:id="rId15"/>
    <p:sldId id="321" r:id="rId16"/>
    <p:sldId id="315" r:id="rId17"/>
    <p:sldId id="322" r:id="rId18"/>
    <p:sldId id="279" r:id="rId19"/>
    <p:sldId id="294" r:id="rId20"/>
    <p:sldId id="288" r:id="rId21"/>
    <p:sldId id="323" r:id="rId22"/>
    <p:sldId id="317" r:id="rId23"/>
    <p:sldId id="263" r:id="rId24"/>
    <p:sldId id="316" r:id="rId25"/>
    <p:sldId id="265" r:id="rId26"/>
    <p:sldId id="266" r:id="rId27"/>
    <p:sldId id="267" r:id="rId28"/>
    <p:sldId id="268" r:id="rId29"/>
    <p:sldId id="269" r:id="rId30"/>
    <p:sldId id="324" r:id="rId31"/>
    <p:sldId id="272" r:id="rId32"/>
    <p:sldId id="287" r:id="rId33"/>
    <p:sldId id="333" r:id="rId34"/>
    <p:sldId id="270" r:id="rId35"/>
    <p:sldId id="271" r:id="rId36"/>
    <p:sldId id="297" r:id="rId37"/>
    <p:sldId id="325" r:id="rId38"/>
    <p:sldId id="299" r:id="rId39"/>
    <p:sldId id="298" r:id="rId40"/>
    <p:sldId id="290" r:id="rId41"/>
    <p:sldId id="332" r:id="rId42"/>
    <p:sldId id="296" r:id="rId43"/>
    <p:sldId id="300" r:id="rId44"/>
    <p:sldId id="303" r:id="rId45"/>
    <p:sldId id="326" r:id="rId46"/>
    <p:sldId id="327" r:id="rId47"/>
    <p:sldId id="328" r:id="rId48"/>
    <p:sldId id="285" r:id="rId49"/>
    <p:sldId id="329" r:id="rId50"/>
    <p:sldId id="330" r:id="rId51"/>
    <p:sldId id="331" r:id="rId52"/>
    <p:sldId id="262" r:id="rId53"/>
    <p:sldId id="309" r:id="rId54"/>
    <p:sldId id="259" r:id="rId55"/>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森田　雄大" initials="森田　雄大" lastIdx="1" clrIdx="0">
    <p:extLst>
      <p:ext uri="{19B8F6BF-5375-455C-9EA6-DF929625EA0E}">
        <p15:presenceInfo xmlns:p15="http://schemas.microsoft.com/office/powerpoint/2012/main" userId="森田　雄大"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淡色スタイル 3 - アクセント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69" autoAdjust="0"/>
    <p:restoredTop sz="70445" autoAdjust="0"/>
  </p:normalViewPr>
  <p:slideViewPr>
    <p:cSldViewPr snapToGrid="0">
      <p:cViewPr varScale="1">
        <p:scale>
          <a:sx n="161" d="100"/>
          <a:sy n="161" d="100"/>
        </p:scale>
        <p:origin x="1408" y="100"/>
      </p:cViewPr>
      <p:guideLst/>
    </p:cSldViewPr>
  </p:slideViewPr>
  <p:notesTextViewPr>
    <p:cViewPr>
      <p:scale>
        <a:sx n="1" d="1"/>
        <a:sy n="1" d="1"/>
      </p:scale>
      <p:origin x="0" y="0"/>
    </p:cViewPr>
  </p:notesTextViewPr>
  <p:notesViewPr>
    <p:cSldViewPr snapToGrid="0">
      <p:cViewPr varScale="1">
        <p:scale>
          <a:sx n="101" d="100"/>
          <a:sy n="101" d="100"/>
        </p:scale>
        <p:origin x="2874"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ys11m\Documents\master\0626_opera.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C:\Users\ys11m\Documents\master\0626_opera\0626_opera.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ys11m\Documents\master\0626_opera\0626_opera.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0"/>
          <c:order val="0"/>
          <c:tx>
            <c:strRef>
              <c:f>Sheet1!$A$2</c:f>
              <c:strCache>
                <c:ptCount val="1"/>
                <c:pt idx="0">
                  <c:v>non renewable</c:v>
                </c:pt>
              </c:strCache>
            </c:strRef>
          </c:tx>
          <c:spPr>
            <a:solidFill>
              <a:schemeClr val="tx1">
                <a:lumMod val="50000"/>
                <a:lumOff val="50000"/>
              </a:schemeClr>
            </a:solidFill>
            <a:ln>
              <a:noFill/>
            </a:ln>
            <a:effectLst/>
          </c:spPr>
          <c:invertIfNegative val="0"/>
          <c:cat>
            <c:strRef>
              <c:f>Sheet1!$B$1:$D$1</c:f>
              <c:strCache>
                <c:ptCount val="3"/>
                <c:pt idx="0">
                  <c:v>2011</c:v>
                </c:pt>
                <c:pt idx="1">
                  <c:v>2022</c:v>
                </c:pt>
                <c:pt idx="2">
                  <c:v>2030 (target)</c:v>
                </c:pt>
              </c:strCache>
            </c:strRef>
          </c:cat>
          <c:val>
            <c:numRef>
              <c:f>Sheet1!$B$2:$D$2</c:f>
              <c:numCache>
                <c:formatCode>General</c:formatCode>
                <c:ptCount val="3"/>
                <c:pt idx="0">
                  <c:v>974.4</c:v>
                </c:pt>
                <c:pt idx="1">
                  <c:v>789.5</c:v>
                </c:pt>
                <c:pt idx="2">
                  <c:v>575.95000000000005</c:v>
                </c:pt>
              </c:numCache>
            </c:numRef>
          </c:val>
          <c:extLst>
            <c:ext xmlns:c16="http://schemas.microsoft.com/office/drawing/2014/chart" uri="{C3380CC4-5D6E-409C-BE32-E72D297353CC}">
              <c16:uniqueId val="{00000000-700A-4808-8775-FC271D9222AC}"/>
            </c:ext>
          </c:extLst>
        </c:ser>
        <c:ser>
          <c:idx val="3"/>
          <c:order val="1"/>
          <c:tx>
            <c:strRef>
              <c:f>Sheet1!$A$3</c:f>
              <c:strCache>
                <c:ptCount val="1"/>
                <c:pt idx="0">
                  <c:v>hydro</c:v>
                </c:pt>
              </c:strCache>
            </c:strRef>
          </c:tx>
          <c:spPr>
            <a:solidFill>
              <a:schemeClr val="accent4"/>
            </a:solidFill>
            <a:ln>
              <a:noFill/>
            </a:ln>
            <a:effectLst/>
          </c:spPr>
          <c:invertIfNegative val="0"/>
          <c:cat>
            <c:strRef>
              <c:f>Sheet1!$B$1:$D$1</c:f>
              <c:strCache>
                <c:ptCount val="3"/>
                <c:pt idx="0">
                  <c:v>2011</c:v>
                </c:pt>
                <c:pt idx="1">
                  <c:v>2022</c:v>
                </c:pt>
                <c:pt idx="2">
                  <c:v>2030 (target)</c:v>
                </c:pt>
              </c:strCache>
            </c:strRef>
          </c:cat>
          <c:val>
            <c:numRef>
              <c:f>Sheet1!$B$3:$D$3</c:f>
              <c:numCache>
                <c:formatCode>General</c:formatCode>
                <c:ptCount val="3"/>
                <c:pt idx="0">
                  <c:v>84.825000000000003</c:v>
                </c:pt>
                <c:pt idx="1">
                  <c:v>76.900000000000006</c:v>
                </c:pt>
                <c:pt idx="2">
                  <c:v>98</c:v>
                </c:pt>
              </c:numCache>
            </c:numRef>
          </c:val>
          <c:extLst>
            <c:ext xmlns:c16="http://schemas.microsoft.com/office/drawing/2014/chart" uri="{C3380CC4-5D6E-409C-BE32-E72D297353CC}">
              <c16:uniqueId val="{00000001-700A-4808-8775-FC271D9222AC}"/>
            </c:ext>
          </c:extLst>
        </c:ser>
        <c:ser>
          <c:idx val="5"/>
          <c:order val="2"/>
          <c:tx>
            <c:strRef>
              <c:f>Sheet1!$A$4</c:f>
              <c:strCache>
                <c:ptCount val="1"/>
                <c:pt idx="0">
                  <c:v>biomass</c:v>
                </c:pt>
              </c:strCache>
            </c:strRef>
          </c:tx>
          <c:spPr>
            <a:solidFill>
              <a:srgbClr val="00B050"/>
            </a:solidFill>
            <a:ln>
              <a:noFill/>
            </a:ln>
            <a:effectLst/>
          </c:spPr>
          <c:invertIfNegative val="0"/>
          <c:cat>
            <c:strRef>
              <c:f>Sheet1!$B$1:$D$1</c:f>
              <c:strCache>
                <c:ptCount val="3"/>
                <c:pt idx="0">
                  <c:v>2011</c:v>
                </c:pt>
                <c:pt idx="1">
                  <c:v>2022</c:v>
                </c:pt>
                <c:pt idx="2">
                  <c:v>2030 (target)</c:v>
                </c:pt>
              </c:strCache>
            </c:strRef>
          </c:cat>
          <c:val>
            <c:numRef>
              <c:f>Sheet1!$B$4:$D$4</c:f>
              <c:numCache>
                <c:formatCode>General</c:formatCode>
                <c:ptCount val="3"/>
                <c:pt idx="0">
                  <c:v>16.3125</c:v>
                </c:pt>
                <c:pt idx="1">
                  <c:v>37.1</c:v>
                </c:pt>
                <c:pt idx="2">
                  <c:v>47</c:v>
                </c:pt>
              </c:numCache>
            </c:numRef>
          </c:val>
          <c:extLst>
            <c:ext xmlns:c16="http://schemas.microsoft.com/office/drawing/2014/chart" uri="{C3380CC4-5D6E-409C-BE32-E72D297353CC}">
              <c16:uniqueId val="{00000002-700A-4808-8775-FC271D9222AC}"/>
            </c:ext>
          </c:extLst>
        </c:ser>
        <c:ser>
          <c:idx val="1"/>
          <c:order val="3"/>
          <c:tx>
            <c:strRef>
              <c:f>Sheet1!$A$5</c:f>
              <c:strCache>
                <c:ptCount val="1"/>
                <c:pt idx="0">
                  <c:v>solar</c:v>
                </c:pt>
              </c:strCache>
            </c:strRef>
          </c:tx>
          <c:spPr>
            <a:solidFill>
              <a:schemeClr val="accent2"/>
            </a:solidFill>
            <a:ln>
              <a:noFill/>
            </a:ln>
            <a:effectLst/>
          </c:spPr>
          <c:invertIfNegative val="0"/>
          <c:cat>
            <c:strRef>
              <c:f>Sheet1!$B$1:$D$1</c:f>
              <c:strCache>
                <c:ptCount val="3"/>
                <c:pt idx="0">
                  <c:v>2011</c:v>
                </c:pt>
                <c:pt idx="1">
                  <c:v>2022</c:v>
                </c:pt>
                <c:pt idx="2">
                  <c:v>2030 (target)</c:v>
                </c:pt>
              </c:strCache>
            </c:strRef>
          </c:cat>
          <c:val>
            <c:numRef>
              <c:f>Sheet1!$B$5:$D$5</c:f>
              <c:numCache>
                <c:formatCode>General</c:formatCode>
                <c:ptCount val="3"/>
                <c:pt idx="0">
                  <c:v>4.3499999999999996</c:v>
                </c:pt>
                <c:pt idx="1">
                  <c:v>92.6</c:v>
                </c:pt>
                <c:pt idx="2">
                  <c:v>146</c:v>
                </c:pt>
              </c:numCache>
            </c:numRef>
          </c:val>
          <c:extLst>
            <c:ext xmlns:c16="http://schemas.microsoft.com/office/drawing/2014/chart" uri="{C3380CC4-5D6E-409C-BE32-E72D297353CC}">
              <c16:uniqueId val="{00000003-700A-4808-8775-FC271D9222AC}"/>
            </c:ext>
          </c:extLst>
        </c:ser>
        <c:ser>
          <c:idx val="2"/>
          <c:order val="4"/>
          <c:tx>
            <c:strRef>
              <c:f>Sheet1!$A$6</c:f>
              <c:strCache>
                <c:ptCount val="1"/>
                <c:pt idx="0">
                  <c:v>wind</c:v>
                </c:pt>
              </c:strCache>
            </c:strRef>
          </c:tx>
          <c:spPr>
            <a:solidFill>
              <a:srgbClr val="92D050"/>
            </a:solidFill>
            <a:ln>
              <a:noFill/>
            </a:ln>
            <a:effectLst/>
          </c:spPr>
          <c:invertIfNegative val="0"/>
          <c:cat>
            <c:strRef>
              <c:f>Sheet1!$B$1:$D$1</c:f>
              <c:strCache>
                <c:ptCount val="3"/>
                <c:pt idx="0">
                  <c:v>2011</c:v>
                </c:pt>
                <c:pt idx="1">
                  <c:v>2022</c:v>
                </c:pt>
                <c:pt idx="2">
                  <c:v>2030 (target)</c:v>
                </c:pt>
              </c:strCache>
            </c:strRef>
          </c:cat>
          <c:val>
            <c:numRef>
              <c:f>Sheet1!$B$6:$D$6</c:f>
              <c:numCache>
                <c:formatCode>General</c:formatCode>
                <c:ptCount val="3"/>
                <c:pt idx="0">
                  <c:v>4.3499999999999996</c:v>
                </c:pt>
                <c:pt idx="1">
                  <c:v>9.3000000000000007</c:v>
                </c:pt>
                <c:pt idx="2">
                  <c:v>51</c:v>
                </c:pt>
              </c:numCache>
            </c:numRef>
          </c:val>
          <c:extLst>
            <c:ext xmlns:c16="http://schemas.microsoft.com/office/drawing/2014/chart" uri="{C3380CC4-5D6E-409C-BE32-E72D297353CC}">
              <c16:uniqueId val="{00000004-700A-4808-8775-FC271D9222AC}"/>
            </c:ext>
          </c:extLst>
        </c:ser>
        <c:ser>
          <c:idx val="4"/>
          <c:order val="5"/>
          <c:tx>
            <c:strRef>
              <c:f>Sheet1!$A$7</c:f>
              <c:strCache>
                <c:ptCount val="1"/>
                <c:pt idx="0">
                  <c:v>geothermal</c:v>
                </c:pt>
              </c:strCache>
            </c:strRef>
          </c:tx>
          <c:spPr>
            <a:solidFill>
              <a:srgbClr val="C00000"/>
            </a:solidFill>
            <a:ln>
              <a:noFill/>
            </a:ln>
            <a:effectLst/>
          </c:spPr>
          <c:invertIfNegative val="0"/>
          <c:cat>
            <c:strRef>
              <c:f>Sheet1!$B$1:$D$1</c:f>
              <c:strCache>
                <c:ptCount val="3"/>
                <c:pt idx="0">
                  <c:v>2011</c:v>
                </c:pt>
                <c:pt idx="1">
                  <c:v>2022</c:v>
                </c:pt>
                <c:pt idx="2">
                  <c:v>2030 (target)</c:v>
                </c:pt>
              </c:strCache>
            </c:strRef>
          </c:cat>
          <c:val>
            <c:numRef>
              <c:f>Sheet1!$B$7:$D$7</c:f>
              <c:numCache>
                <c:formatCode>General</c:formatCode>
                <c:ptCount val="3"/>
                <c:pt idx="0">
                  <c:v>2.1749999999999998</c:v>
                </c:pt>
                <c:pt idx="1">
                  <c:v>3</c:v>
                </c:pt>
                <c:pt idx="2">
                  <c:v>11</c:v>
                </c:pt>
              </c:numCache>
            </c:numRef>
          </c:val>
          <c:extLst>
            <c:ext xmlns:c16="http://schemas.microsoft.com/office/drawing/2014/chart" uri="{C3380CC4-5D6E-409C-BE32-E72D297353CC}">
              <c16:uniqueId val="{00000005-700A-4808-8775-FC271D9222AC}"/>
            </c:ext>
          </c:extLst>
        </c:ser>
        <c:dLbls>
          <c:showLegendKey val="0"/>
          <c:showVal val="0"/>
          <c:showCatName val="0"/>
          <c:showSerName val="0"/>
          <c:showPercent val="0"/>
          <c:showBubbleSize val="0"/>
        </c:dLbls>
        <c:gapWidth val="150"/>
        <c:overlap val="100"/>
        <c:axId val="226454784"/>
        <c:axId val="226455744"/>
      </c:barChart>
      <c:catAx>
        <c:axId val="226454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226455744"/>
        <c:crosses val="autoZero"/>
        <c:auto val="1"/>
        <c:lblAlgn val="ctr"/>
        <c:lblOffset val="100"/>
        <c:noMultiLvlLbl val="0"/>
      </c:catAx>
      <c:valAx>
        <c:axId val="2264557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en-US" altLang="ja-JP" dirty="0"/>
                  <a:t>annual production [TWh]</a:t>
                </a:r>
                <a:endParaRPr lang="ja-JP" altLang="en-US" dirty="0"/>
              </a:p>
            </c:rich>
          </c:tx>
          <c:overlay val="0"/>
          <c:spPr>
            <a:noFill/>
            <a:ln>
              <a:noFill/>
            </a:ln>
            <a:effectLst/>
          </c:spPr>
          <c:txPr>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22645478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sz="1000" dirty="0"/>
              <a:t>2011/4/1~2011/4/30</a:t>
            </a: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064159408294907"/>
          <c:y val="0.17878559896760651"/>
          <c:w val="0.8764173530918693"/>
          <c:h val="0.74640871108778828"/>
        </c:manualLayout>
      </c:layout>
      <c:lineChart>
        <c:grouping val="standard"/>
        <c:varyColors val="0"/>
        <c:ser>
          <c:idx val="0"/>
          <c:order val="0"/>
          <c:tx>
            <c:strRef>
              <c:f>'2011spot'!$C$1</c:f>
              <c:strCache>
                <c:ptCount val="1"/>
                <c:pt idx="0">
                  <c:v>spot price</c:v>
                </c:pt>
              </c:strCache>
            </c:strRef>
          </c:tx>
          <c:spPr>
            <a:ln w="12700" cap="rnd">
              <a:solidFill>
                <a:schemeClr val="accent1"/>
              </a:solidFill>
              <a:round/>
            </a:ln>
            <a:effectLst/>
          </c:spPr>
          <c:marker>
            <c:symbol val="none"/>
          </c:marker>
          <c:val>
            <c:numRef>
              <c:f>'2011spot'!$C$2:$C$1441</c:f>
              <c:numCache>
                <c:formatCode>General</c:formatCode>
                <c:ptCount val="1440"/>
                <c:pt idx="0">
                  <c:v>13.18</c:v>
                </c:pt>
                <c:pt idx="1">
                  <c:v>13.42</c:v>
                </c:pt>
                <c:pt idx="2">
                  <c:v>13.78</c:v>
                </c:pt>
                <c:pt idx="3">
                  <c:v>13.78</c:v>
                </c:pt>
                <c:pt idx="4">
                  <c:v>13.78</c:v>
                </c:pt>
                <c:pt idx="5">
                  <c:v>13.78</c:v>
                </c:pt>
                <c:pt idx="6">
                  <c:v>13.78</c:v>
                </c:pt>
                <c:pt idx="7">
                  <c:v>13.78</c:v>
                </c:pt>
                <c:pt idx="8">
                  <c:v>13.78</c:v>
                </c:pt>
                <c:pt idx="9">
                  <c:v>13.78</c:v>
                </c:pt>
                <c:pt idx="10">
                  <c:v>13.82</c:v>
                </c:pt>
                <c:pt idx="11">
                  <c:v>13.78</c:v>
                </c:pt>
                <c:pt idx="12">
                  <c:v>13.78</c:v>
                </c:pt>
                <c:pt idx="13">
                  <c:v>13.82</c:v>
                </c:pt>
                <c:pt idx="14">
                  <c:v>13.79</c:v>
                </c:pt>
                <c:pt idx="15">
                  <c:v>13.75</c:v>
                </c:pt>
                <c:pt idx="16">
                  <c:v>13.66</c:v>
                </c:pt>
                <c:pt idx="17">
                  <c:v>13.86</c:v>
                </c:pt>
                <c:pt idx="18">
                  <c:v>13.97</c:v>
                </c:pt>
                <c:pt idx="19">
                  <c:v>14.15</c:v>
                </c:pt>
                <c:pt idx="20">
                  <c:v>14.29</c:v>
                </c:pt>
                <c:pt idx="21">
                  <c:v>14.29</c:v>
                </c:pt>
                <c:pt idx="22">
                  <c:v>14.29</c:v>
                </c:pt>
                <c:pt idx="23">
                  <c:v>14.15</c:v>
                </c:pt>
                <c:pt idx="24">
                  <c:v>13.62</c:v>
                </c:pt>
                <c:pt idx="25">
                  <c:v>12.81</c:v>
                </c:pt>
                <c:pt idx="26">
                  <c:v>14.1</c:v>
                </c:pt>
                <c:pt idx="27">
                  <c:v>14.15</c:v>
                </c:pt>
                <c:pt idx="28">
                  <c:v>14.1</c:v>
                </c:pt>
                <c:pt idx="29">
                  <c:v>14.05</c:v>
                </c:pt>
                <c:pt idx="30">
                  <c:v>13.97</c:v>
                </c:pt>
                <c:pt idx="31">
                  <c:v>13.97</c:v>
                </c:pt>
                <c:pt idx="32">
                  <c:v>13.97</c:v>
                </c:pt>
                <c:pt idx="33">
                  <c:v>13.91</c:v>
                </c:pt>
                <c:pt idx="34">
                  <c:v>13.82</c:v>
                </c:pt>
                <c:pt idx="35">
                  <c:v>13.75</c:v>
                </c:pt>
                <c:pt idx="36">
                  <c:v>13.7</c:v>
                </c:pt>
                <c:pt idx="37">
                  <c:v>13.7</c:v>
                </c:pt>
                <c:pt idx="38">
                  <c:v>13.66</c:v>
                </c:pt>
                <c:pt idx="39">
                  <c:v>13.3</c:v>
                </c:pt>
                <c:pt idx="40">
                  <c:v>13.14</c:v>
                </c:pt>
                <c:pt idx="41">
                  <c:v>12.91</c:v>
                </c:pt>
                <c:pt idx="42">
                  <c:v>12.71</c:v>
                </c:pt>
                <c:pt idx="43">
                  <c:v>12.89</c:v>
                </c:pt>
                <c:pt idx="44">
                  <c:v>13.62</c:v>
                </c:pt>
                <c:pt idx="45">
                  <c:v>13.34</c:v>
                </c:pt>
                <c:pt idx="46">
                  <c:v>13.3</c:v>
                </c:pt>
                <c:pt idx="47">
                  <c:v>13.62</c:v>
                </c:pt>
                <c:pt idx="48">
                  <c:v>14.58</c:v>
                </c:pt>
                <c:pt idx="49">
                  <c:v>14.58</c:v>
                </c:pt>
                <c:pt idx="50">
                  <c:v>14.58</c:v>
                </c:pt>
                <c:pt idx="51">
                  <c:v>14.59</c:v>
                </c:pt>
                <c:pt idx="52">
                  <c:v>14.6</c:v>
                </c:pt>
                <c:pt idx="53">
                  <c:v>14.6</c:v>
                </c:pt>
                <c:pt idx="54">
                  <c:v>14.6</c:v>
                </c:pt>
                <c:pt idx="55">
                  <c:v>14.6</c:v>
                </c:pt>
                <c:pt idx="56">
                  <c:v>14.54</c:v>
                </c:pt>
                <c:pt idx="57">
                  <c:v>14.54</c:v>
                </c:pt>
                <c:pt idx="58">
                  <c:v>14.54</c:v>
                </c:pt>
                <c:pt idx="59">
                  <c:v>14.58</c:v>
                </c:pt>
                <c:pt idx="60">
                  <c:v>14.58</c:v>
                </c:pt>
                <c:pt idx="61">
                  <c:v>14.68</c:v>
                </c:pt>
                <c:pt idx="62">
                  <c:v>15.71</c:v>
                </c:pt>
                <c:pt idx="63">
                  <c:v>15.67</c:v>
                </c:pt>
                <c:pt idx="64">
                  <c:v>15.3</c:v>
                </c:pt>
                <c:pt idx="65">
                  <c:v>15.3</c:v>
                </c:pt>
                <c:pt idx="66">
                  <c:v>15.3</c:v>
                </c:pt>
                <c:pt idx="67">
                  <c:v>15.58</c:v>
                </c:pt>
                <c:pt idx="68">
                  <c:v>15.69</c:v>
                </c:pt>
                <c:pt idx="69">
                  <c:v>15.68</c:v>
                </c:pt>
                <c:pt idx="70">
                  <c:v>15.67</c:v>
                </c:pt>
                <c:pt idx="71">
                  <c:v>15.67</c:v>
                </c:pt>
                <c:pt idx="72">
                  <c:v>14.58</c:v>
                </c:pt>
                <c:pt idx="73">
                  <c:v>14.58</c:v>
                </c:pt>
                <c:pt idx="74">
                  <c:v>15.61</c:v>
                </c:pt>
                <c:pt idx="75">
                  <c:v>15.62</c:v>
                </c:pt>
                <c:pt idx="76">
                  <c:v>15.62</c:v>
                </c:pt>
                <c:pt idx="77">
                  <c:v>15.62</c:v>
                </c:pt>
                <c:pt idx="78">
                  <c:v>15.62</c:v>
                </c:pt>
                <c:pt idx="79">
                  <c:v>15.62</c:v>
                </c:pt>
                <c:pt idx="80">
                  <c:v>15.62</c:v>
                </c:pt>
                <c:pt idx="81">
                  <c:v>15.57</c:v>
                </c:pt>
                <c:pt idx="82">
                  <c:v>15.52</c:v>
                </c:pt>
                <c:pt idx="83">
                  <c:v>15.47</c:v>
                </c:pt>
                <c:pt idx="84">
                  <c:v>15.3</c:v>
                </c:pt>
                <c:pt idx="85">
                  <c:v>15.3</c:v>
                </c:pt>
                <c:pt idx="86">
                  <c:v>15.04</c:v>
                </c:pt>
                <c:pt idx="87">
                  <c:v>14.85</c:v>
                </c:pt>
                <c:pt idx="88">
                  <c:v>14.85</c:v>
                </c:pt>
                <c:pt idx="89">
                  <c:v>14.85</c:v>
                </c:pt>
                <c:pt idx="90">
                  <c:v>14.85</c:v>
                </c:pt>
                <c:pt idx="91">
                  <c:v>14.54</c:v>
                </c:pt>
                <c:pt idx="92">
                  <c:v>14.68</c:v>
                </c:pt>
                <c:pt idx="93">
                  <c:v>14.77</c:v>
                </c:pt>
                <c:pt idx="94">
                  <c:v>14.72</c:v>
                </c:pt>
                <c:pt idx="95">
                  <c:v>14.68</c:v>
                </c:pt>
                <c:pt idx="96">
                  <c:v>14.78</c:v>
                </c:pt>
                <c:pt idx="97">
                  <c:v>14.78</c:v>
                </c:pt>
                <c:pt idx="98">
                  <c:v>14.73</c:v>
                </c:pt>
                <c:pt idx="99">
                  <c:v>14.73</c:v>
                </c:pt>
                <c:pt idx="100">
                  <c:v>14.73</c:v>
                </c:pt>
                <c:pt idx="101">
                  <c:v>14.73</c:v>
                </c:pt>
                <c:pt idx="102">
                  <c:v>14.73</c:v>
                </c:pt>
                <c:pt idx="103">
                  <c:v>14.73</c:v>
                </c:pt>
                <c:pt idx="104">
                  <c:v>14.73</c:v>
                </c:pt>
                <c:pt idx="105">
                  <c:v>14.73</c:v>
                </c:pt>
                <c:pt idx="106">
                  <c:v>14.73</c:v>
                </c:pt>
                <c:pt idx="107">
                  <c:v>14.78</c:v>
                </c:pt>
                <c:pt idx="108">
                  <c:v>14.78</c:v>
                </c:pt>
                <c:pt idx="109">
                  <c:v>14.84</c:v>
                </c:pt>
                <c:pt idx="110">
                  <c:v>14.92</c:v>
                </c:pt>
                <c:pt idx="111">
                  <c:v>14.84</c:v>
                </c:pt>
                <c:pt idx="112">
                  <c:v>14.73</c:v>
                </c:pt>
                <c:pt idx="113">
                  <c:v>14.73</c:v>
                </c:pt>
                <c:pt idx="114">
                  <c:v>14.51</c:v>
                </c:pt>
                <c:pt idx="115">
                  <c:v>13.7</c:v>
                </c:pt>
                <c:pt idx="116">
                  <c:v>14.73</c:v>
                </c:pt>
                <c:pt idx="117">
                  <c:v>14.73</c:v>
                </c:pt>
                <c:pt idx="118">
                  <c:v>14.73</c:v>
                </c:pt>
                <c:pt idx="119">
                  <c:v>14.78</c:v>
                </c:pt>
                <c:pt idx="120">
                  <c:v>14.84</c:v>
                </c:pt>
                <c:pt idx="121">
                  <c:v>14.84</c:v>
                </c:pt>
                <c:pt idx="122">
                  <c:v>14.84</c:v>
                </c:pt>
                <c:pt idx="123">
                  <c:v>14.84</c:v>
                </c:pt>
                <c:pt idx="124">
                  <c:v>14.84</c:v>
                </c:pt>
                <c:pt idx="125">
                  <c:v>14.84</c:v>
                </c:pt>
                <c:pt idx="126">
                  <c:v>14.84</c:v>
                </c:pt>
                <c:pt idx="127">
                  <c:v>14.84</c:v>
                </c:pt>
                <c:pt idx="128">
                  <c:v>14.84</c:v>
                </c:pt>
                <c:pt idx="129">
                  <c:v>14.78</c:v>
                </c:pt>
                <c:pt idx="130">
                  <c:v>14.78</c:v>
                </c:pt>
                <c:pt idx="131">
                  <c:v>15.16</c:v>
                </c:pt>
                <c:pt idx="132">
                  <c:v>16.05</c:v>
                </c:pt>
                <c:pt idx="133">
                  <c:v>15.91</c:v>
                </c:pt>
                <c:pt idx="134">
                  <c:v>15.91</c:v>
                </c:pt>
                <c:pt idx="135">
                  <c:v>15.91</c:v>
                </c:pt>
                <c:pt idx="136">
                  <c:v>15.91</c:v>
                </c:pt>
                <c:pt idx="137">
                  <c:v>15.91</c:v>
                </c:pt>
                <c:pt idx="138">
                  <c:v>15.02</c:v>
                </c:pt>
                <c:pt idx="139">
                  <c:v>13.7</c:v>
                </c:pt>
                <c:pt idx="140">
                  <c:v>14.92</c:v>
                </c:pt>
                <c:pt idx="141">
                  <c:v>15</c:v>
                </c:pt>
                <c:pt idx="142">
                  <c:v>14.92</c:v>
                </c:pt>
                <c:pt idx="143">
                  <c:v>14.84</c:v>
                </c:pt>
                <c:pt idx="144">
                  <c:v>14.73</c:v>
                </c:pt>
                <c:pt idx="145">
                  <c:v>14.69</c:v>
                </c:pt>
                <c:pt idx="146">
                  <c:v>15.49</c:v>
                </c:pt>
                <c:pt idx="147">
                  <c:v>16.12</c:v>
                </c:pt>
                <c:pt idx="148">
                  <c:v>16.16</c:v>
                </c:pt>
                <c:pt idx="149">
                  <c:v>16.16</c:v>
                </c:pt>
                <c:pt idx="150">
                  <c:v>16.16</c:v>
                </c:pt>
                <c:pt idx="151">
                  <c:v>16.16</c:v>
                </c:pt>
                <c:pt idx="152">
                  <c:v>16.14</c:v>
                </c:pt>
                <c:pt idx="153">
                  <c:v>15.72</c:v>
                </c:pt>
                <c:pt idx="154">
                  <c:v>14.73</c:v>
                </c:pt>
                <c:pt idx="155">
                  <c:v>14.73</c:v>
                </c:pt>
                <c:pt idx="156">
                  <c:v>14.78</c:v>
                </c:pt>
                <c:pt idx="157">
                  <c:v>14.73</c:v>
                </c:pt>
                <c:pt idx="158">
                  <c:v>14.65</c:v>
                </c:pt>
                <c:pt idx="159">
                  <c:v>14.73</c:v>
                </c:pt>
                <c:pt idx="160">
                  <c:v>14.69</c:v>
                </c:pt>
                <c:pt idx="161">
                  <c:v>14.92</c:v>
                </c:pt>
                <c:pt idx="162">
                  <c:v>15.59</c:v>
                </c:pt>
                <c:pt idx="163">
                  <c:v>15.49</c:v>
                </c:pt>
                <c:pt idx="164">
                  <c:v>15.59</c:v>
                </c:pt>
                <c:pt idx="165">
                  <c:v>15.72</c:v>
                </c:pt>
                <c:pt idx="166">
                  <c:v>15.59</c:v>
                </c:pt>
                <c:pt idx="167">
                  <c:v>15.41</c:v>
                </c:pt>
                <c:pt idx="168">
                  <c:v>13.62</c:v>
                </c:pt>
                <c:pt idx="169">
                  <c:v>13.62</c:v>
                </c:pt>
                <c:pt idx="170">
                  <c:v>15.35</c:v>
                </c:pt>
                <c:pt idx="171">
                  <c:v>15.35</c:v>
                </c:pt>
                <c:pt idx="172">
                  <c:v>15.16</c:v>
                </c:pt>
                <c:pt idx="173">
                  <c:v>15.16</c:v>
                </c:pt>
                <c:pt idx="174">
                  <c:v>15.02</c:v>
                </c:pt>
                <c:pt idx="175">
                  <c:v>15.02</c:v>
                </c:pt>
                <c:pt idx="176">
                  <c:v>14.92</c:v>
                </c:pt>
                <c:pt idx="177">
                  <c:v>14.84</c:v>
                </c:pt>
                <c:pt idx="178">
                  <c:v>14.65</c:v>
                </c:pt>
                <c:pt idx="179">
                  <c:v>14.59</c:v>
                </c:pt>
                <c:pt idx="180">
                  <c:v>14.08</c:v>
                </c:pt>
                <c:pt idx="181">
                  <c:v>14</c:v>
                </c:pt>
                <c:pt idx="182">
                  <c:v>13.9</c:v>
                </c:pt>
                <c:pt idx="183">
                  <c:v>13.9</c:v>
                </c:pt>
                <c:pt idx="184">
                  <c:v>13.63</c:v>
                </c:pt>
                <c:pt idx="185">
                  <c:v>13.5</c:v>
                </c:pt>
                <c:pt idx="186">
                  <c:v>13.11</c:v>
                </c:pt>
                <c:pt idx="187">
                  <c:v>13.9</c:v>
                </c:pt>
                <c:pt idx="188">
                  <c:v>14.78</c:v>
                </c:pt>
                <c:pt idx="189">
                  <c:v>14.73</c:v>
                </c:pt>
                <c:pt idx="190">
                  <c:v>14.73</c:v>
                </c:pt>
                <c:pt idx="191">
                  <c:v>13.62</c:v>
                </c:pt>
                <c:pt idx="192">
                  <c:v>12.88</c:v>
                </c:pt>
                <c:pt idx="193">
                  <c:v>12.75</c:v>
                </c:pt>
                <c:pt idx="194">
                  <c:v>13.16</c:v>
                </c:pt>
                <c:pt idx="195">
                  <c:v>13.95</c:v>
                </c:pt>
                <c:pt idx="196">
                  <c:v>13.5</c:v>
                </c:pt>
                <c:pt idx="197">
                  <c:v>14.12</c:v>
                </c:pt>
                <c:pt idx="198">
                  <c:v>14.01</c:v>
                </c:pt>
                <c:pt idx="199">
                  <c:v>13.84</c:v>
                </c:pt>
                <c:pt idx="200">
                  <c:v>13.9</c:v>
                </c:pt>
                <c:pt idx="201">
                  <c:v>13.01</c:v>
                </c:pt>
                <c:pt idx="202">
                  <c:v>13.05</c:v>
                </c:pt>
                <c:pt idx="203">
                  <c:v>12.89</c:v>
                </c:pt>
                <c:pt idx="204">
                  <c:v>12.99</c:v>
                </c:pt>
                <c:pt idx="205">
                  <c:v>13.9</c:v>
                </c:pt>
                <c:pt idx="206">
                  <c:v>13.9</c:v>
                </c:pt>
                <c:pt idx="207">
                  <c:v>14.59</c:v>
                </c:pt>
                <c:pt idx="208">
                  <c:v>14.62</c:v>
                </c:pt>
                <c:pt idx="209">
                  <c:v>14.92</c:v>
                </c:pt>
                <c:pt idx="210">
                  <c:v>15.16</c:v>
                </c:pt>
                <c:pt idx="211">
                  <c:v>15.72</c:v>
                </c:pt>
                <c:pt idx="212">
                  <c:v>15.91</c:v>
                </c:pt>
                <c:pt idx="213">
                  <c:v>16.170000000000002</c:v>
                </c:pt>
                <c:pt idx="214">
                  <c:v>15.91</c:v>
                </c:pt>
                <c:pt idx="215">
                  <c:v>15.9</c:v>
                </c:pt>
                <c:pt idx="216">
                  <c:v>13.9</c:v>
                </c:pt>
                <c:pt idx="217">
                  <c:v>13.9</c:v>
                </c:pt>
                <c:pt idx="218">
                  <c:v>14.33</c:v>
                </c:pt>
                <c:pt idx="219">
                  <c:v>14.3</c:v>
                </c:pt>
                <c:pt idx="220">
                  <c:v>14.22</c:v>
                </c:pt>
                <c:pt idx="221">
                  <c:v>14.09</c:v>
                </c:pt>
                <c:pt idx="222">
                  <c:v>13.98</c:v>
                </c:pt>
                <c:pt idx="223">
                  <c:v>13.95</c:v>
                </c:pt>
                <c:pt idx="224">
                  <c:v>13.9</c:v>
                </c:pt>
                <c:pt idx="225">
                  <c:v>13.9</c:v>
                </c:pt>
                <c:pt idx="226">
                  <c:v>13.9</c:v>
                </c:pt>
                <c:pt idx="227">
                  <c:v>14.06</c:v>
                </c:pt>
                <c:pt idx="228">
                  <c:v>14.62</c:v>
                </c:pt>
                <c:pt idx="229">
                  <c:v>14.59</c:v>
                </c:pt>
                <c:pt idx="230">
                  <c:v>14.55</c:v>
                </c:pt>
                <c:pt idx="231">
                  <c:v>14.51</c:v>
                </c:pt>
                <c:pt idx="232">
                  <c:v>13.9</c:v>
                </c:pt>
                <c:pt idx="233">
                  <c:v>13.9</c:v>
                </c:pt>
                <c:pt idx="234">
                  <c:v>13.9</c:v>
                </c:pt>
                <c:pt idx="235">
                  <c:v>14.25</c:v>
                </c:pt>
                <c:pt idx="236">
                  <c:v>14.59</c:v>
                </c:pt>
                <c:pt idx="237">
                  <c:v>13.9</c:v>
                </c:pt>
                <c:pt idx="238">
                  <c:v>14.14</c:v>
                </c:pt>
                <c:pt idx="239">
                  <c:v>13.9</c:v>
                </c:pt>
                <c:pt idx="240">
                  <c:v>12.26</c:v>
                </c:pt>
                <c:pt idx="241">
                  <c:v>12.27</c:v>
                </c:pt>
                <c:pt idx="242">
                  <c:v>12.28</c:v>
                </c:pt>
                <c:pt idx="243">
                  <c:v>12.48</c:v>
                </c:pt>
                <c:pt idx="244">
                  <c:v>14</c:v>
                </c:pt>
                <c:pt idx="245">
                  <c:v>14.62</c:v>
                </c:pt>
                <c:pt idx="246">
                  <c:v>14.51</c:v>
                </c:pt>
                <c:pt idx="247">
                  <c:v>14.34</c:v>
                </c:pt>
                <c:pt idx="248">
                  <c:v>13.52</c:v>
                </c:pt>
                <c:pt idx="249">
                  <c:v>12.75</c:v>
                </c:pt>
                <c:pt idx="250">
                  <c:v>12.3</c:v>
                </c:pt>
                <c:pt idx="251">
                  <c:v>11.92</c:v>
                </c:pt>
                <c:pt idx="252">
                  <c:v>12.99</c:v>
                </c:pt>
                <c:pt idx="253">
                  <c:v>14.17</c:v>
                </c:pt>
                <c:pt idx="254">
                  <c:v>14.38</c:v>
                </c:pt>
                <c:pt idx="255">
                  <c:v>14.73</c:v>
                </c:pt>
                <c:pt idx="256">
                  <c:v>13.9</c:v>
                </c:pt>
                <c:pt idx="257">
                  <c:v>14.65</c:v>
                </c:pt>
                <c:pt idx="258">
                  <c:v>14.78</c:v>
                </c:pt>
                <c:pt idx="259">
                  <c:v>14.92</c:v>
                </c:pt>
                <c:pt idx="260">
                  <c:v>15.16</c:v>
                </c:pt>
                <c:pt idx="261">
                  <c:v>15.16</c:v>
                </c:pt>
                <c:pt idx="262">
                  <c:v>15.16</c:v>
                </c:pt>
                <c:pt idx="263">
                  <c:v>15.16</c:v>
                </c:pt>
                <c:pt idx="264">
                  <c:v>13.9</c:v>
                </c:pt>
                <c:pt idx="265">
                  <c:v>13.9</c:v>
                </c:pt>
                <c:pt idx="266">
                  <c:v>14.83</c:v>
                </c:pt>
                <c:pt idx="267">
                  <c:v>14.8</c:v>
                </c:pt>
                <c:pt idx="268">
                  <c:v>14.78</c:v>
                </c:pt>
                <c:pt idx="269">
                  <c:v>14.73</c:v>
                </c:pt>
                <c:pt idx="270">
                  <c:v>14.69</c:v>
                </c:pt>
                <c:pt idx="271">
                  <c:v>14.69</c:v>
                </c:pt>
                <c:pt idx="272">
                  <c:v>14.69</c:v>
                </c:pt>
                <c:pt idx="273">
                  <c:v>14.62</c:v>
                </c:pt>
                <c:pt idx="274">
                  <c:v>14.1</c:v>
                </c:pt>
                <c:pt idx="275">
                  <c:v>14.69</c:v>
                </c:pt>
                <c:pt idx="276">
                  <c:v>14.92</c:v>
                </c:pt>
                <c:pt idx="277">
                  <c:v>14.84</c:v>
                </c:pt>
                <c:pt idx="278">
                  <c:v>14.77</c:v>
                </c:pt>
                <c:pt idx="279">
                  <c:v>14.65</c:v>
                </c:pt>
                <c:pt idx="280">
                  <c:v>13.9</c:v>
                </c:pt>
                <c:pt idx="281">
                  <c:v>13</c:v>
                </c:pt>
                <c:pt idx="282">
                  <c:v>12.95</c:v>
                </c:pt>
                <c:pt idx="283">
                  <c:v>13.9</c:v>
                </c:pt>
                <c:pt idx="284">
                  <c:v>14.62</c:v>
                </c:pt>
                <c:pt idx="285">
                  <c:v>13.9</c:v>
                </c:pt>
                <c:pt idx="286">
                  <c:v>14.14</c:v>
                </c:pt>
                <c:pt idx="287">
                  <c:v>13.9</c:v>
                </c:pt>
                <c:pt idx="288">
                  <c:v>11.98</c:v>
                </c:pt>
                <c:pt idx="289">
                  <c:v>12.03</c:v>
                </c:pt>
                <c:pt idx="290">
                  <c:v>12.08</c:v>
                </c:pt>
                <c:pt idx="291">
                  <c:v>12.33</c:v>
                </c:pt>
                <c:pt idx="292">
                  <c:v>12.67</c:v>
                </c:pt>
                <c:pt idx="293">
                  <c:v>14.02</c:v>
                </c:pt>
                <c:pt idx="294">
                  <c:v>14.41</c:v>
                </c:pt>
                <c:pt idx="295">
                  <c:v>14.34</c:v>
                </c:pt>
                <c:pt idx="296">
                  <c:v>12.88</c:v>
                </c:pt>
                <c:pt idx="297">
                  <c:v>12.18</c:v>
                </c:pt>
                <c:pt idx="298">
                  <c:v>12.28</c:v>
                </c:pt>
                <c:pt idx="299">
                  <c:v>12.22</c:v>
                </c:pt>
                <c:pt idx="300">
                  <c:v>12.99</c:v>
                </c:pt>
                <c:pt idx="301">
                  <c:v>13.9</c:v>
                </c:pt>
                <c:pt idx="302">
                  <c:v>14.22</c:v>
                </c:pt>
                <c:pt idx="303">
                  <c:v>14.67</c:v>
                </c:pt>
                <c:pt idx="304">
                  <c:v>14.07</c:v>
                </c:pt>
                <c:pt idx="305">
                  <c:v>14.65</c:v>
                </c:pt>
                <c:pt idx="306">
                  <c:v>14.73</c:v>
                </c:pt>
                <c:pt idx="307">
                  <c:v>14.92</c:v>
                </c:pt>
                <c:pt idx="308">
                  <c:v>15.16</c:v>
                </c:pt>
                <c:pt idx="309">
                  <c:v>14.92</c:v>
                </c:pt>
                <c:pt idx="310">
                  <c:v>15.04</c:v>
                </c:pt>
                <c:pt idx="311">
                  <c:v>14.92</c:v>
                </c:pt>
                <c:pt idx="312">
                  <c:v>13.9</c:v>
                </c:pt>
                <c:pt idx="313">
                  <c:v>13.9</c:v>
                </c:pt>
                <c:pt idx="314">
                  <c:v>14.82</c:v>
                </c:pt>
                <c:pt idx="315">
                  <c:v>14.9</c:v>
                </c:pt>
                <c:pt idx="316">
                  <c:v>14.78</c:v>
                </c:pt>
                <c:pt idx="317">
                  <c:v>14.78</c:v>
                </c:pt>
                <c:pt idx="318">
                  <c:v>14.73</c:v>
                </c:pt>
                <c:pt idx="319">
                  <c:v>14.73</c:v>
                </c:pt>
                <c:pt idx="320">
                  <c:v>14.62</c:v>
                </c:pt>
                <c:pt idx="321">
                  <c:v>14.52</c:v>
                </c:pt>
                <c:pt idx="322">
                  <c:v>13.9</c:v>
                </c:pt>
                <c:pt idx="323">
                  <c:v>13.9</c:v>
                </c:pt>
                <c:pt idx="324">
                  <c:v>14.1</c:v>
                </c:pt>
                <c:pt idx="325">
                  <c:v>14.3</c:v>
                </c:pt>
                <c:pt idx="326">
                  <c:v>14.15</c:v>
                </c:pt>
                <c:pt idx="327">
                  <c:v>13.95</c:v>
                </c:pt>
                <c:pt idx="328">
                  <c:v>13.98</c:v>
                </c:pt>
                <c:pt idx="329">
                  <c:v>13.85</c:v>
                </c:pt>
                <c:pt idx="330">
                  <c:v>13.9</c:v>
                </c:pt>
                <c:pt idx="331">
                  <c:v>13.9</c:v>
                </c:pt>
                <c:pt idx="332">
                  <c:v>14.84</c:v>
                </c:pt>
                <c:pt idx="333">
                  <c:v>14.69</c:v>
                </c:pt>
                <c:pt idx="334">
                  <c:v>14.69</c:v>
                </c:pt>
                <c:pt idx="335">
                  <c:v>14.65</c:v>
                </c:pt>
                <c:pt idx="336">
                  <c:v>9.64</c:v>
                </c:pt>
                <c:pt idx="337">
                  <c:v>9.58</c:v>
                </c:pt>
                <c:pt idx="338">
                  <c:v>10</c:v>
                </c:pt>
                <c:pt idx="339">
                  <c:v>12.23</c:v>
                </c:pt>
                <c:pt idx="340">
                  <c:v>12.7</c:v>
                </c:pt>
                <c:pt idx="341">
                  <c:v>12.84</c:v>
                </c:pt>
                <c:pt idx="342">
                  <c:v>12.88</c:v>
                </c:pt>
                <c:pt idx="343">
                  <c:v>12.8</c:v>
                </c:pt>
                <c:pt idx="344">
                  <c:v>12.81</c:v>
                </c:pt>
                <c:pt idx="345">
                  <c:v>12.56</c:v>
                </c:pt>
                <c:pt idx="346">
                  <c:v>12.42</c:v>
                </c:pt>
                <c:pt idx="347">
                  <c:v>12.05</c:v>
                </c:pt>
                <c:pt idx="348">
                  <c:v>12.79</c:v>
                </c:pt>
                <c:pt idx="349">
                  <c:v>12.85</c:v>
                </c:pt>
                <c:pt idx="350">
                  <c:v>12.99</c:v>
                </c:pt>
                <c:pt idx="351">
                  <c:v>13.33</c:v>
                </c:pt>
                <c:pt idx="352">
                  <c:v>12.99</c:v>
                </c:pt>
                <c:pt idx="353">
                  <c:v>14.31</c:v>
                </c:pt>
                <c:pt idx="354">
                  <c:v>15.24</c:v>
                </c:pt>
                <c:pt idx="355">
                  <c:v>15.35</c:v>
                </c:pt>
                <c:pt idx="356">
                  <c:v>15.51</c:v>
                </c:pt>
                <c:pt idx="357">
                  <c:v>15.3</c:v>
                </c:pt>
                <c:pt idx="358">
                  <c:v>15.51</c:v>
                </c:pt>
                <c:pt idx="359">
                  <c:v>15.41</c:v>
                </c:pt>
                <c:pt idx="360">
                  <c:v>14.4</c:v>
                </c:pt>
                <c:pt idx="361">
                  <c:v>14.32</c:v>
                </c:pt>
                <c:pt idx="362">
                  <c:v>14.78</c:v>
                </c:pt>
                <c:pt idx="363">
                  <c:v>14.81</c:v>
                </c:pt>
                <c:pt idx="364">
                  <c:v>14.84</c:v>
                </c:pt>
                <c:pt idx="365">
                  <c:v>14.65</c:v>
                </c:pt>
                <c:pt idx="366">
                  <c:v>14.57</c:v>
                </c:pt>
                <c:pt idx="367">
                  <c:v>14.59</c:v>
                </c:pt>
                <c:pt idx="368">
                  <c:v>14.53</c:v>
                </c:pt>
                <c:pt idx="369">
                  <c:v>14.39</c:v>
                </c:pt>
                <c:pt idx="370">
                  <c:v>14.06</c:v>
                </c:pt>
                <c:pt idx="371">
                  <c:v>14.06</c:v>
                </c:pt>
                <c:pt idx="372">
                  <c:v>14.07</c:v>
                </c:pt>
                <c:pt idx="373">
                  <c:v>14.14</c:v>
                </c:pt>
                <c:pt idx="374">
                  <c:v>13.9</c:v>
                </c:pt>
                <c:pt idx="375">
                  <c:v>13.86</c:v>
                </c:pt>
                <c:pt idx="376">
                  <c:v>13.63</c:v>
                </c:pt>
                <c:pt idx="377">
                  <c:v>13.17</c:v>
                </c:pt>
                <c:pt idx="378">
                  <c:v>13.63</c:v>
                </c:pt>
                <c:pt idx="379">
                  <c:v>13.17</c:v>
                </c:pt>
                <c:pt idx="380">
                  <c:v>13.17</c:v>
                </c:pt>
                <c:pt idx="381">
                  <c:v>13.35</c:v>
                </c:pt>
                <c:pt idx="382">
                  <c:v>13.63</c:v>
                </c:pt>
                <c:pt idx="383">
                  <c:v>13.63</c:v>
                </c:pt>
                <c:pt idx="384">
                  <c:v>9.5</c:v>
                </c:pt>
                <c:pt idx="385">
                  <c:v>9.58</c:v>
                </c:pt>
                <c:pt idx="386">
                  <c:v>10</c:v>
                </c:pt>
                <c:pt idx="387">
                  <c:v>10</c:v>
                </c:pt>
                <c:pt idx="388">
                  <c:v>10</c:v>
                </c:pt>
                <c:pt idx="389">
                  <c:v>10</c:v>
                </c:pt>
                <c:pt idx="390">
                  <c:v>10</c:v>
                </c:pt>
                <c:pt idx="391">
                  <c:v>10</c:v>
                </c:pt>
                <c:pt idx="392">
                  <c:v>10.16</c:v>
                </c:pt>
                <c:pt idx="393">
                  <c:v>10</c:v>
                </c:pt>
                <c:pt idx="394">
                  <c:v>10</c:v>
                </c:pt>
                <c:pt idx="395">
                  <c:v>10</c:v>
                </c:pt>
                <c:pt idx="396">
                  <c:v>10.75</c:v>
                </c:pt>
                <c:pt idx="397">
                  <c:v>11.43</c:v>
                </c:pt>
                <c:pt idx="398">
                  <c:v>11.63</c:v>
                </c:pt>
                <c:pt idx="399">
                  <c:v>11.8</c:v>
                </c:pt>
                <c:pt idx="400">
                  <c:v>9.32</c:v>
                </c:pt>
                <c:pt idx="401">
                  <c:v>9.32</c:v>
                </c:pt>
                <c:pt idx="402">
                  <c:v>9.0299999999999994</c:v>
                </c:pt>
                <c:pt idx="403">
                  <c:v>9.32</c:v>
                </c:pt>
                <c:pt idx="404">
                  <c:v>11.33</c:v>
                </c:pt>
                <c:pt idx="405">
                  <c:v>11.24</c:v>
                </c:pt>
                <c:pt idx="406">
                  <c:v>11.88</c:v>
                </c:pt>
                <c:pt idx="407">
                  <c:v>11.77</c:v>
                </c:pt>
                <c:pt idx="408">
                  <c:v>11.65</c:v>
                </c:pt>
                <c:pt idx="409">
                  <c:v>9.58</c:v>
                </c:pt>
                <c:pt idx="410">
                  <c:v>11.71</c:v>
                </c:pt>
                <c:pt idx="411">
                  <c:v>11.84</c:v>
                </c:pt>
                <c:pt idx="412">
                  <c:v>11.91</c:v>
                </c:pt>
                <c:pt idx="413">
                  <c:v>11.66</c:v>
                </c:pt>
                <c:pt idx="414">
                  <c:v>11.09</c:v>
                </c:pt>
                <c:pt idx="415">
                  <c:v>11.6</c:v>
                </c:pt>
                <c:pt idx="416">
                  <c:v>11.83</c:v>
                </c:pt>
                <c:pt idx="417">
                  <c:v>11.81</c:v>
                </c:pt>
                <c:pt idx="418">
                  <c:v>9.58</c:v>
                </c:pt>
                <c:pt idx="419">
                  <c:v>9.58</c:v>
                </c:pt>
                <c:pt idx="420">
                  <c:v>12.8</c:v>
                </c:pt>
                <c:pt idx="421">
                  <c:v>13.9</c:v>
                </c:pt>
                <c:pt idx="422">
                  <c:v>14.06</c:v>
                </c:pt>
                <c:pt idx="423">
                  <c:v>13.9</c:v>
                </c:pt>
                <c:pt idx="424">
                  <c:v>13.9</c:v>
                </c:pt>
                <c:pt idx="425">
                  <c:v>12.92</c:v>
                </c:pt>
                <c:pt idx="426">
                  <c:v>11.92</c:v>
                </c:pt>
                <c:pt idx="427">
                  <c:v>8.98</c:v>
                </c:pt>
                <c:pt idx="428">
                  <c:v>8.6</c:v>
                </c:pt>
                <c:pt idx="429">
                  <c:v>8.6</c:v>
                </c:pt>
                <c:pt idx="430">
                  <c:v>8.6</c:v>
                </c:pt>
                <c:pt idx="431">
                  <c:v>9.58</c:v>
                </c:pt>
                <c:pt idx="432">
                  <c:v>9.6999999999999993</c:v>
                </c:pt>
                <c:pt idx="433">
                  <c:v>9.58</c:v>
                </c:pt>
                <c:pt idx="434">
                  <c:v>9.4</c:v>
                </c:pt>
                <c:pt idx="435">
                  <c:v>9.32</c:v>
                </c:pt>
                <c:pt idx="436">
                  <c:v>9.32</c:v>
                </c:pt>
                <c:pt idx="437">
                  <c:v>9.32</c:v>
                </c:pt>
                <c:pt idx="438">
                  <c:v>9.32</c:v>
                </c:pt>
                <c:pt idx="439">
                  <c:v>9.32</c:v>
                </c:pt>
                <c:pt idx="440">
                  <c:v>9.32</c:v>
                </c:pt>
                <c:pt idx="441">
                  <c:v>9.32</c:v>
                </c:pt>
                <c:pt idx="442">
                  <c:v>9.32</c:v>
                </c:pt>
                <c:pt idx="443">
                  <c:v>9.32</c:v>
                </c:pt>
                <c:pt idx="444">
                  <c:v>9.58</c:v>
                </c:pt>
                <c:pt idx="445">
                  <c:v>9.64</c:v>
                </c:pt>
                <c:pt idx="446">
                  <c:v>9.58</c:v>
                </c:pt>
                <c:pt idx="447">
                  <c:v>9.58</c:v>
                </c:pt>
                <c:pt idx="448">
                  <c:v>8.82</c:v>
                </c:pt>
                <c:pt idx="449">
                  <c:v>8.43</c:v>
                </c:pt>
                <c:pt idx="450">
                  <c:v>8.25</c:v>
                </c:pt>
                <c:pt idx="451">
                  <c:v>8.82</c:v>
                </c:pt>
                <c:pt idx="452">
                  <c:v>8.86</c:v>
                </c:pt>
                <c:pt idx="453">
                  <c:v>8.86</c:v>
                </c:pt>
                <c:pt idx="454">
                  <c:v>8.86</c:v>
                </c:pt>
                <c:pt idx="455">
                  <c:v>8.86</c:v>
                </c:pt>
                <c:pt idx="456">
                  <c:v>8</c:v>
                </c:pt>
                <c:pt idx="457">
                  <c:v>8</c:v>
                </c:pt>
                <c:pt idx="458">
                  <c:v>8.25</c:v>
                </c:pt>
                <c:pt idx="459">
                  <c:v>8.25</c:v>
                </c:pt>
                <c:pt idx="460">
                  <c:v>8.25</c:v>
                </c:pt>
                <c:pt idx="461">
                  <c:v>8.25</c:v>
                </c:pt>
                <c:pt idx="462">
                  <c:v>8.2200000000000006</c:v>
                </c:pt>
                <c:pt idx="463">
                  <c:v>8.2200000000000006</c:v>
                </c:pt>
                <c:pt idx="464">
                  <c:v>8</c:v>
                </c:pt>
                <c:pt idx="465">
                  <c:v>8</c:v>
                </c:pt>
                <c:pt idx="466">
                  <c:v>8</c:v>
                </c:pt>
                <c:pt idx="467">
                  <c:v>8.3800000000000008</c:v>
                </c:pt>
                <c:pt idx="468">
                  <c:v>8.74</c:v>
                </c:pt>
                <c:pt idx="469">
                  <c:v>8.74</c:v>
                </c:pt>
                <c:pt idx="470">
                  <c:v>11.6</c:v>
                </c:pt>
                <c:pt idx="471">
                  <c:v>11.02</c:v>
                </c:pt>
                <c:pt idx="472">
                  <c:v>9.3000000000000007</c:v>
                </c:pt>
                <c:pt idx="473">
                  <c:v>8.89</c:v>
                </c:pt>
                <c:pt idx="474">
                  <c:v>9</c:v>
                </c:pt>
                <c:pt idx="475">
                  <c:v>8.57</c:v>
                </c:pt>
                <c:pt idx="476">
                  <c:v>8.9</c:v>
                </c:pt>
                <c:pt idx="477">
                  <c:v>8.5</c:v>
                </c:pt>
                <c:pt idx="478">
                  <c:v>8.49</c:v>
                </c:pt>
                <c:pt idx="479">
                  <c:v>9.18</c:v>
                </c:pt>
                <c:pt idx="480">
                  <c:v>10</c:v>
                </c:pt>
                <c:pt idx="481">
                  <c:v>10</c:v>
                </c:pt>
                <c:pt idx="482">
                  <c:v>9.32</c:v>
                </c:pt>
                <c:pt idx="483">
                  <c:v>10.74</c:v>
                </c:pt>
                <c:pt idx="484">
                  <c:v>11</c:v>
                </c:pt>
                <c:pt idx="485">
                  <c:v>11</c:v>
                </c:pt>
                <c:pt idx="486">
                  <c:v>11</c:v>
                </c:pt>
                <c:pt idx="487">
                  <c:v>11</c:v>
                </c:pt>
                <c:pt idx="488">
                  <c:v>11</c:v>
                </c:pt>
                <c:pt idx="489">
                  <c:v>11</c:v>
                </c:pt>
                <c:pt idx="490">
                  <c:v>10</c:v>
                </c:pt>
                <c:pt idx="491">
                  <c:v>9.32</c:v>
                </c:pt>
                <c:pt idx="492">
                  <c:v>8.82</c:v>
                </c:pt>
                <c:pt idx="493">
                  <c:v>9.64</c:v>
                </c:pt>
                <c:pt idx="494">
                  <c:v>10.02</c:v>
                </c:pt>
                <c:pt idx="495">
                  <c:v>11.84</c:v>
                </c:pt>
                <c:pt idx="496">
                  <c:v>12.12</c:v>
                </c:pt>
                <c:pt idx="497">
                  <c:v>13.36</c:v>
                </c:pt>
                <c:pt idx="498">
                  <c:v>15.61</c:v>
                </c:pt>
                <c:pt idx="499">
                  <c:v>15.63</c:v>
                </c:pt>
                <c:pt idx="500">
                  <c:v>15.62</c:v>
                </c:pt>
                <c:pt idx="501">
                  <c:v>15.81</c:v>
                </c:pt>
                <c:pt idx="502">
                  <c:v>15.69</c:v>
                </c:pt>
                <c:pt idx="503">
                  <c:v>14.55</c:v>
                </c:pt>
                <c:pt idx="504">
                  <c:v>13.83</c:v>
                </c:pt>
                <c:pt idx="505">
                  <c:v>12.54</c:v>
                </c:pt>
                <c:pt idx="506">
                  <c:v>15.31</c:v>
                </c:pt>
                <c:pt idx="507">
                  <c:v>15.43</c:v>
                </c:pt>
                <c:pt idx="508">
                  <c:v>15.4</c:v>
                </c:pt>
                <c:pt idx="509">
                  <c:v>14.93</c:v>
                </c:pt>
                <c:pt idx="510">
                  <c:v>14.42</c:v>
                </c:pt>
                <c:pt idx="511">
                  <c:v>14.85</c:v>
                </c:pt>
                <c:pt idx="512">
                  <c:v>14.15</c:v>
                </c:pt>
                <c:pt idx="513">
                  <c:v>13.44</c:v>
                </c:pt>
                <c:pt idx="514">
                  <c:v>12.44</c:v>
                </c:pt>
                <c:pt idx="515">
                  <c:v>12.28</c:v>
                </c:pt>
                <c:pt idx="516">
                  <c:v>13.34</c:v>
                </c:pt>
                <c:pt idx="517">
                  <c:v>14.57</c:v>
                </c:pt>
                <c:pt idx="518">
                  <c:v>14.49</c:v>
                </c:pt>
                <c:pt idx="519">
                  <c:v>13.76</c:v>
                </c:pt>
                <c:pt idx="520">
                  <c:v>12.46</c:v>
                </c:pt>
                <c:pt idx="521">
                  <c:v>10.02</c:v>
                </c:pt>
                <c:pt idx="522">
                  <c:v>9.31</c:v>
                </c:pt>
                <c:pt idx="523">
                  <c:v>10.02</c:v>
                </c:pt>
                <c:pt idx="524">
                  <c:v>11.33</c:v>
                </c:pt>
                <c:pt idx="525">
                  <c:v>11.11</c:v>
                </c:pt>
                <c:pt idx="526">
                  <c:v>11.39</c:v>
                </c:pt>
                <c:pt idx="527">
                  <c:v>10.29</c:v>
                </c:pt>
                <c:pt idx="528">
                  <c:v>8.1</c:v>
                </c:pt>
                <c:pt idx="529">
                  <c:v>7.4</c:v>
                </c:pt>
                <c:pt idx="530">
                  <c:v>8.1</c:v>
                </c:pt>
                <c:pt idx="531">
                  <c:v>8.2899999999999991</c:v>
                </c:pt>
                <c:pt idx="532">
                  <c:v>8.57</c:v>
                </c:pt>
                <c:pt idx="533">
                  <c:v>8.57</c:v>
                </c:pt>
                <c:pt idx="534">
                  <c:v>8.57</c:v>
                </c:pt>
                <c:pt idx="535">
                  <c:v>10</c:v>
                </c:pt>
                <c:pt idx="536">
                  <c:v>9.6999999999999993</c:v>
                </c:pt>
                <c:pt idx="537">
                  <c:v>10</c:v>
                </c:pt>
                <c:pt idx="538">
                  <c:v>9.9</c:v>
                </c:pt>
                <c:pt idx="539">
                  <c:v>9.1199999999999992</c:v>
                </c:pt>
                <c:pt idx="540">
                  <c:v>8.76</c:v>
                </c:pt>
                <c:pt idx="541">
                  <c:v>9.58</c:v>
                </c:pt>
                <c:pt idx="542">
                  <c:v>9.42</c:v>
                </c:pt>
                <c:pt idx="543">
                  <c:v>11.7</c:v>
                </c:pt>
                <c:pt idx="544">
                  <c:v>10.029999999999999</c:v>
                </c:pt>
                <c:pt idx="545">
                  <c:v>13.14</c:v>
                </c:pt>
                <c:pt idx="546">
                  <c:v>13.9</c:v>
                </c:pt>
                <c:pt idx="547">
                  <c:v>14.29</c:v>
                </c:pt>
                <c:pt idx="548">
                  <c:v>14.29</c:v>
                </c:pt>
                <c:pt idx="549">
                  <c:v>14.03</c:v>
                </c:pt>
                <c:pt idx="550">
                  <c:v>13.63</c:v>
                </c:pt>
                <c:pt idx="551">
                  <c:v>13.63</c:v>
                </c:pt>
                <c:pt idx="552">
                  <c:v>10.95</c:v>
                </c:pt>
                <c:pt idx="553">
                  <c:v>10.65</c:v>
                </c:pt>
                <c:pt idx="554">
                  <c:v>13.9</c:v>
                </c:pt>
                <c:pt idx="555">
                  <c:v>13.9</c:v>
                </c:pt>
                <c:pt idx="556">
                  <c:v>13.81</c:v>
                </c:pt>
                <c:pt idx="557">
                  <c:v>13.09</c:v>
                </c:pt>
                <c:pt idx="558">
                  <c:v>12.9</c:v>
                </c:pt>
                <c:pt idx="559">
                  <c:v>13.64</c:v>
                </c:pt>
                <c:pt idx="560">
                  <c:v>13.54</c:v>
                </c:pt>
                <c:pt idx="561">
                  <c:v>11.7</c:v>
                </c:pt>
                <c:pt idx="562">
                  <c:v>10.92</c:v>
                </c:pt>
                <c:pt idx="563">
                  <c:v>10.73</c:v>
                </c:pt>
                <c:pt idx="564">
                  <c:v>11.17</c:v>
                </c:pt>
                <c:pt idx="565">
                  <c:v>13.63</c:v>
                </c:pt>
                <c:pt idx="566">
                  <c:v>12.7</c:v>
                </c:pt>
                <c:pt idx="567">
                  <c:v>12.45</c:v>
                </c:pt>
                <c:pt idx="568">
                  <c:v>11.41</c:v>
                </c:pt>
                <c:pt idx="569">
                  <c:v>9.6199999999999992</c:v>
                </c:pt>
                <c:pt idx="570">
                  <c:v>8.7200000000000006</c:v>
                </c:pt>
                <c:pt idx="571">
                  <c:v>9.58</c:v>
                </c:pt>
                <c:pt idx="572">
                  <c:v>10</c:v>
                </c:pt>
                <c:pt idx="573">
                  <c:v>9.64</c:v>
                </c:pt>
                <c:pt idx="574">
                  <c:v>9.58</c:v>
                </c:pt>
                <c:pt idx="575">
                  <c:v>9.75</c:v>
                </c:pt>
                <c:pt idx="576">
                  <c:v>7.2</c:v>
                </c:pt>
                <c:pt idx="577">
                  <c:v>7.14</c:v>
                </c:pt>
                <c:pt idx="578">
                  <c:v>8.1</c:v>
                </c:pt>
                <c:pt idx="579">
                  <c:v>8.49</c:v>
                </c:pt>
                <c:pt idx="580">
                  <c:v>8.65</c:v>
                </c:pt>
                <c:pt idx="581">
                  <c:v>8.65</c:v>
                </c:pt>
                <c:pt idx="582">
                  <c:v>8.65</c:v>
                </c:pt>
                <c:pt idx="583">
                  <c:v>10</c:v>
                </c:pt>
                <c:pt idx="584">
                  <c:v>9.9</c:v>
                </c:pt>
                <c:pt idx="585">
                  <c:v>10</c:v>
                </c:pt>
                <c:pt idx="586">
                  <c:v>10</c:v>
                </c:pt>
                <c:pt idx="587">
                  <c:v>9.8800000000000008</c:v>
                </c:pt>
                <c:pt idx="588">
                  <c:v>9.81</c:v>
                </c:pt>
                <c:pt idx="589">
                  <c:v>12.35</c:v>
                </c:pt>
                <c:pt idx="590">
                  <c:v>10.82</c:v>
                </c:pt>
                <c:pt idx="591">
                  <c:v>12.5</c:v>
                </c:pt>
                <c:pt idx="592">
                  <c:v>9.93</c:v>
                </c:pt>
                <c:pt idx="593">
                  <c:v>13.14</c:v>
                </c:pt>
                <c:pt idx="594">
                  <c:v>13.35</c:v>
                </c:pt>
                <c:pt idx="595">
                  <c:v>13.46</c:v>
                </c:pt>
                <c:pt idx="596">
                  <c:v>14.1</c:v>
                </c:pt>
                <c:pt idx="597">
                  <c:v>13.97</c:v>
                </c:pt>
                <c:pt idx="598">
                  <c:v>13.9</c:v>
                </c:pt>
                <c:pt idx="599">
                  <c:v>13.83</c:v>
                </c:pt>
                <c:pt idx="600">
                  <c:v>10.95</c:v>
                </c:pt>
                <c:pt idx="601">
                  <c:v>10.65</c:v>
                </c:pt>
                <c:pt idx="602">
                  <c:v>13.12</c:v>
                </c:pt>
                <c:pt idx="603">
                  <c:v>13.16</c:v>
                </c:pt>
                <c:pt idx="604">
                  <c:v>13.11</c:v>
                </c:pt>
                <c:pt idx="605">
                  <c:v>12.89</c:v>
                </c:pt>
                <c:pt idx="606">
                  <c:v>12.7</c:v>
                </c:pt>
                <c:pt idx="607">
                  <c:v>12.8</c:v>
                </c:pt>
                <c:pt idx="608">
                  <c:v>12.75</c:v>
                </c:pt>
                <c:pt idx="609">
                  <c:v>11.8</c:v>
                </c:pt>
                <c:pt idx="610">
                  <c:v>11.12</c:v>
                </c:pt>
                <c:pt idx="611">
                  <c:v>10.83</c:v>
                </c:pt>
                <c:pt idx="612">
                  <c:v>11.44</c:v>
                </c:pt>
                <c:pt idx="613">
                  <c:v>13.73</c:v>
                </c:pt>
                <c:pt idx="614">
                  <c:v>13.06</c:v>
                </c:pt>
                <c:pt idx="615">
                  <c:v>12.7</c:v>
                </c:pt>
                <c:pt idx="616">
                  <c:v>12.07</c:v>
                </c:pt>
                <c:pt idx="617">
                  <c:v>9.92</c:v>
                </c:pt>
                <c:pt idx="618">
                  <c:v>8.7200000000000006</c:v>
                </c:pt>
                <c:pt idx="619">
                  <c:v>9.74</c:v>
                </c:pt>
                <c:pt idx="620">
                  <c:v>10</c:v>
                </c:pt>
                <c:pt idx="621">
                  <c:v>9.32</c:v>
                </c:pt>
                <c:pt idx="622">
                  <c:v>9.58</c:v>
                </c:pt>
                <c:pt idx="623">
                  <c:v>9.58</c:v>
                </c:pt>
                <c:pt idx="624">
                  <c:v>6.93</c:v>
                </c:pt>
                <c:pt idx="625">
                  <c:v>6.81</c:v>
                </c:pt>
                <c:pt idx="626">
                  <c:v>7.62</c:v>
                </c:pt>
                <c:pt idx="627">
                  <c:v>8.42</c:v>
                </c:pt>
                <c:pt idx="628">
                  <c:v>8.4499999999999993</c:v>
                </c:pt>
                <c:pt idx="629">
                  <c:v>8.4499999999999993</c:v>
                </c:pt>
                <c:pt idx="630">
                  <c:v>8.4499999999999993</c:v>
                </c:pt>
                <c:pt idx="631">
                  <c:v>8.49</c:v>
                </c:pt>
                <c:pt idx="632">
                  <c:v>8.5299999999999994</c:v>
                </c:pt>
                <c:pt idx="633">
                  <c:v>8.5299999999999994</c:v>
                </c:pt>
                <c:pt idx="634">
                  <c:v>8.58</c:v>
                </c:pt>
                <c:pt idx="635">
                  <c:v>8.6999999999999993</c:v>
                </c:pt>
                <c:pt idx="636">
                  <c:v>9.0399999999999991</c:v>
                </c:pt>
                <c:pt idx="637">
                  <c:v>9.02</c:v>
                </c:pt>
                <c:pt idx="638">
                  <c:v>9.7100000000000009</c:v>
                </c:pt>
                <c:pt idx="639">
                  <c:v>9.7100000000000009</c:v>
                </c:pt>
                <c:pt idx="640">
                  <c:v>9.9</c:v>
                </c:pt>
                <c:pt idx="641">
                  <c:v>11.53</c:v>
                </c:pt>
                <c:pt idx="642">
                  <c:v>12.35</c:v>
                </c:pt>
                <c:pt idx="643">
                  <c:v>12.51</c:v>
                </c:pt>
                <c:pt idx="644">
                  <c:v>12.95</c:v>
                </c:pt>
                <c:pt idx="645">
                  <c:v>13.09</c:v>
                </c:pt>
                <c:pt idx="646">
                  <c:v>12.05</c:v>
                </c:pt>
                <c:pt idx="647">
                  <c:v>11.74</c:v>
                </c:pt>
                <c:pt idx="648">
                  <c:v>8.6999999999999993</c:v>
                </c:pt>
                <c:pt idx="649">
                  <c:v>8.9600000000000009</c:v>
                </c:pt>
                <c:pt idx="650">
                  <c:v>11.16</c:v>
                </c:pt>
                <c:pt idx="651">
                  <c:v>11.33</c:v>
                </c:pt>
                <c:pt idx="652">
                  <c:v>11.07</c:v>
                </c:pt>
                <c:pt idx="653">
                  <c:v>10.36</c:v>
                </c:pt>
                <c:pt idx="654">
                  <c:v>10.039999999999999</c:v>
                </c:pt>
                <c:pt idx="655">
                  <c:v>10.09</c:v>
                </c:pt>
                <c:pt idx="656">
                  <c:v>10.25</c:v>
                </c:pt>
                <c:pt idx="657">
                  <c:v>9.9</c:v>
                </c:pt>
                <c:pt idx="658">
                  <c:v>9.9</c:v>
                </c:pt>
                <c:pt idx="659">
                  <c:v>9.9</c:v>
                </c:pt>
                <c:pt idx="660">
                  <c:v>9.9</c:v>
                </c:pt>
                <c:pt idx="661">
                  <c:v>9.9</c:v>
                </c:pt>
                <c:pt idx="662">
                  <c:v>9.3800000000000008</c:v>
                </c:pt>
                <c:pt idx="663">
                  <c:v>9.3800000000000008</c:v>
                </c:pt>
                <c:pt idx="664">
                  <c:v>9.2899999999999991</c:v>
                </c:pt>
                <c:pt idx="665">
                  <c:v>9.2899999999999991</c:v>
                </c:pt>
                <c:pt idx="666">
                  <c:v>8.6300000000000008</c:v>
                </c:pt>
                <c:pt idx="667">
                  <c:v>9.5399999999999991</c:v>
                </c:pt>
                <c:pt idx="668">
                  <c:v>9.7100000000000009</c:v>
                </c:pt>
                <c:pt idx="669">
                  <c:v>9.32</c:v>
                </c:pt>
                <c:pt idx="670">
                  <c:v>9.2799999999999994</c:v>
                </c:pt>
                <c:pt idx="671">
                  <c:v>9.2799999999999994</c:v>
                </c:pt>
                <c:pt idx="672">
                  <c:v>6.73</c:v>
                </c:pt>
                <c:pt idx="673">
                  <c:v>6.61</c:v>
                </c:pt>
                <c:pt idx="674">
                  <c:v>7.15</c:v>
                </c:pt>
                <c:pt idx="675">
                  <c:v>8.32</c:v>
                </c:pt>
                <c:pt idx="676">
                  <c:v>8.35</c:v>
                </c:pt>
                <c:pt idx="677">
                  <c:v>8.35</c:v>
                </c:pt>
                <c:pt idx="678">
                  <c:v>8.35</c:v>
                </c:pt>
                <c:pt idx="679">
                  <c:v>8.39</c:v>
                </c:pt>
                <c:pt idx="680">
                  <c:v>8.43</c:v>
                </c:pt>
                <c:pt idx="681">
                  <c:v>8.39</c:v>
                </c:pt>
                <c:pt idx="682">
                  <c:v>8.42</c:v>
                </c:pt>
                <c:pt idx="683">
                  <c:v>8.49</c:v>
                </c:pt>
                <c:pt idx="684">
                  <c:v>8.6999999999999993</c:v>
                </c:pt>
                <c:pt idx="685">
                  <c:v>8.66</c:v>
                </c:pt>
                <c:pt idx="686">
                  <c:v>9.31</c:v>
                </c:pt>
                <c:pt idx="687">
                  <c:v>9.52</c:v>
                </c:pt>
                <c:pt idx="688">
                  <c:v>9.58</c:v>
                </c:pt>
                <c:pt idx="689">
                  <c:v>10.050000000000001</c:v>
                </c:pt>
                <c:pt idx="690">
                  <c:v>11.25</c:v>
                </c:pt>
                <c:pt idx="691">
                  <c:v>11.85</c:v>
                </c:pt>
                <c:pt idx="692">
                  <c:v>12.65</c:v>
                </c:pt>
                <c:pt idx="693">
                  <c:v>12.71</c:v>
                </c:pt>
                <c:pt idx="694">
                  <c:v>11.85</c:v>
                </c:pt>
                <c:pt idx="695">
                  <c:v>11.54</c:v>
                </c:pt>
                <c:pt idx="696">
                  <c:v>8.85</c:v>
                </c:pt>
                <c:pt idx="697">
                  <c:v>8.85</c:v>
                </c:pt>
                <c:pt idx="698">
                  <c:v>10.96</c:v>
                </c:pt>
                <c:pt idx="699">
                  <c:v>11.13</c:v>
                </c:pt>
                <c:pt idx="700">
                  <c:v>10.87</c:v>
                </c:pt>
                <c:pt idx="701">
                  <c:v>10.16</c:v>
                </c:pt>
                <c:pt idx="702">
                  <c:v>9.84</c:v>
                </c:pt>
                <c:pt idx="703">
                  <c:v>9.89</c:v>
                </c:pt>
                <c:pt idx="704">
                  <c:v>9.9499999999999993</c:v>
                </c:pt>
                <c:pt idx="705">
                  <c:v>9.68</c:v>
                </c:pt>
                <c:pt idx="706">
                  <c:v>9.84</c:v>
                </c:pt>
                <c:pt idx="707">
                  <c:v>9.7799999999999994</c:v>
                </c:pt>
                <c:pt idx="708">
                  <c:v>9.33</c:v>
                </c:pt>
                <c:pt idx="709">
                  <c:v>9.31</c:v>
                </c:pt>
                <c:pt idx="710">
                  <c:v>9.18</c:v>
                </c:pt>
                <c:pt idx="711">
                  <c:v>9.18</c:v>
                </c:pt>
                <c:pt idx="712">
                  <c:v>8.89</c:v>
                </c:pt>
                <c:pt idx="713">
                  <c:v>8.89</c:v>
                </c:pt>
                <c:pt idx="714">
                  <c:v>8.6</c:v>
                </c:pt>
                <c:pt idx="715">
                  <c:v>9.33</c:v>
                </c:pt>
                <c:pt idx="716">
                  <c:v>9.1999999999999993</c:v>
                </c:pt>
                <c:pt idx="717">
                  <c:v>9.2200000000000006</c:v>
                </c:pt>
                <c:pt idx="718">
                  <c:v>9.1</c:v>
                </c:pt>
                <c:pt idx="719">
                  <c:v>9.1</c:v>
                </c:pt>
                <c:pt idx="720">
                  <c:v>7.03</c:v>
                </c:pt>
                <c:pt idx="721">
                  <c:v>7.15</c:v>
                </c:pt>
                <c:pt idx="722">
                  <c:v>7.15</c:v>
                </c:pt>
                <c:pt idx="723">
                  <c:v>7.72</c:v>
                </c:pt>
                <c:pt idx="724">
                  <c:v>8.15</c:v>
                </c:pt>
                <c:pt idx="725">
                  <c:v>8.8000000000000007</c:v>
                </c:pt>
                <c:pt idx="726">
                  <c:v>8.8000000000000007</c:v>
                </c:pt>
                <c:pt idx="727">
                  <c:v>8.7899999999999991</c:v>
                </c:pt>
                <c:pt idx="728">
                  <c:v>8.43</c:v>
                </c:pt>
                <c:pt idx="729">
                  <c:v>7.63</c:v>
                </c:pt>
                <c:pt idx="730">
                  <c:v>7.82</c:v>
                </c:pt>
                <c:pt idx="731">
                  <c:v>7.25</c:v>
                </c:pt>
                <c:pt idx="732">
                  <c:v>7.23</c:v>
                </c:pt>
                <c:pt idx="733">
                  <c:v>7.13</c:v>
                </c:pt>
                <c:pt idx="734">
                  <c:v>8</c:v>
                </c:pt>
                <c:pt idx="735">
                  <c:v>8.51</c:v>
                </c:pt>
                <c:pt idx="736">
                  <c:v>7.63</c:v>
                </c:pt>
                <c:pt idx="737">
                  <c:v>7.23</c:v>
                </c:pt>
                <c:pt idx="738">
                  <c:v>8.5500000000000007</c:v>
                </c:pt>
                <c:pt idx="739">
                  <c:v>9.01</c:v>
                </c:pt>
                <c:pt idx="740">
                  <c:v>9.01</c:v>
                </c:pt>
                <c:pt idx="741">
                  <c:v>9.42</c:v>
                </c:pt>
                <c:pt idx="742">
                  <c:v>9.8699999999999992</c:v>
                </c:pt>
                <c:pt idx="743">
                  <c:v>10.35</c:v>
                </c:pt>
                <c:pt idx="744">
                  <c:v>8.23</c:v>
                </c:pt>
                <c:pt idx="745">
                  <c:v>8.25</c:v>
                </c:pt>
                <c:pt idx="746">
                  <c:v>9.0299999999999994</c:v>
                </c:pt>
                <c:pt idx="747">
                  <c:v>9.0299999999999994</c:v>
                </c:pt>
                <c:pt idx="748">
                  <c:v>9.42</c:v>
                </c:pt>
                <c:pt idx="749">
                  <c:v>9.0299999999999994</c:v>
                </c:pt>
                <c:pt idx="750">
                  <c:v>8.94</c:v>
                </c:pt>
                <c:pt idx="751">
                  <c:v>9.09</c:v>
                </c:pt>
                <c:pt idx="752">
                  <c:v>9.15</c:v>
                </c:pt>
                <c:pt idx="753">
                  <c:v>8.5500000000000007</c:v>
                </c:pt>
                <c:pt idx="754">
                  <c:v>8.59</c:v>
                </c:pt>
                <c:pt idx="755">
                  <c:v>8.59</c:v>
                </c:pt>
                <c:pt idx="756">
                  <c:v>8.6</c:v>
                </c:pt>
                <c:pt idx="757">
                  <c:v>8.6</c:v>
                </c:pt>
                <c:pt idx="758">
                  <c:v>8.6</c:v>
                </c:pt>
                <c:pt idx="759">
                  <c:v>8.6</c:v>
                </c:pt>
                <c:pt idx="760">
                  <c:v>8.39</c:v>
                </c:pt>
                <c:pt idx="761">
                  <c:v>8.06</c:v>
                </c:pt>
                <c:pt idx="762">
                  <c:v>7.89</c:v>
                </c:pt>
                <c:pt idx="763">
                  <c:v>8.5399999999999991</c:v>
                </c:pt>
                <c:pt idx="764">
                  <c:v>8.7899999999999991</c:v>
                </c:pt>
                <c:pt idx="765">
                  <c:v>9.02</c:v>
                </c:pt>
                <c:pt idx="766">
                  <c:v>8.6999999999999993</c:v>
                </c:pt>
                <c:pt idx="767">
                  <c:v>8.6999999999999993</c:v>
                </c:pt>
                <c:pt idx="768">
                  <c:v>7.99</c:v>
                </c:pt>
                <c:pt idx="769">
                  <c:v>7.53</c:v>
                </c:pt>
                <c:pt idx="770">
                  <c:v>7.58</c:v>
                </c:pt>
                <c:pt idx="771">
                  <c:v>8.3800000000000008</c:v>
                </c:pt>
                <c:pt idx="772">
                  <c:v>8.58</c:v>
                </c:pt>
                <c:pt idx="773">
                  <c:v>8.9</c:v>
                </c:pt>
                <c:pt idx="774">
                  <c:v>8.82</c:v>
                </c:pt>
                <c:pt idx="775">
                  <c:v>8.7200000000000006</c:v>
                </c:pt>
                <c:pt idx="776">
                  <c:v>8.4</c:v>
                </c:pt>
                <c:pt idx="777">
                  <c:v>8</c:v>
                </c:pt>
                <c:pt idx="778">
                  <c:v>7.87</c:v>
                </c:pt>
                <c:pt idx="779">
                  <c:v>7.53</c:v>
                </c:pt>
                <c:pt idx="780">
                  <c:v>7.48</c:v>
                </c:pt>
                <c:pt idx="781">
                  <c:v>7.48</c:v>
                </c:pt>
                <c:pt idx="782">
                  <c:v>8.18</c:v>
                </c:pt>
                <c:pt idx="783">
                  <c:v>8.18</c:v>
                </c:pt>
                <c:pt idx="784">
                  <c:v>7.58</c:v>
                </c:pt>
                <c:pt idx="785">
                  <c:v>7.38</c:v>
                </c:pt>
                <c:pt idx="786">
                  <c:v>7.86</c:v>
                </c:pt>
                <c:pt idx="787">
                  <c:v>8</c:v>
                </c:pt>
                <c:pt idx="788">
                  <c:v>8.56</c:v>
                </c:pt>
                <c:pt idx="789">
                  <c:v>7.46</c:v>
                </c:pt>
                <c:pt idx="790">
                  <c:v>7.48</c:v>
                </c:pt>
                <c:pt idx="791">
                  <c:v>7.48</c:v>
                </c:pt>
                <c:pt idx="792">
                  <c:v>8</c:v>
                </c:pt>
                <c:pt idx="793">
                  <c:v>8</c:v>
                </c:pt>
                <c:pt idx="794">
                  <c:v>8</c:v>
                </c:pt>
                <c:pt idx="795">
                  <c:v>8</c:v>
                </c:pt>
                <c:pt idx="796">
                  <c:v>8</c:v>
                </c:pt>
                <c:pt idx="797">
                  <c:v>8</c:v>
                </c:pt>
                <c:pt idx="798">
                  <c:v>8</c:v>
                </c:pt>
                <c:pt idx="799">
                  <c:v>8</c:v>
                </c:pt>
                <c:pt idx="800">
                  <c:v>8</c:v>
                </c:pt>
                <c:pt idx="801">
                  <c:v>8</c:v>
                </c:pt>
                <c:pt idx="802">
                  <c:v>7.86</c:v>
                </c:pt>
                <c:pt idx="803">
                  <c:v>8</c:v>
                </c:pt>
                <c:pt idx="804">
                  <c:v>8.5399999999999991</c:v>
                </c:pt>
                <c:pt idx="805">
                  <c:v>8.74</c:v>
                </c:pt>
                <c:pt idx="806">
                  <c:v>9.69</c:v>
                </c:pt>
                <c:pt idx="807">
                  <c:v>9.69</c:v>
                </c:pt>
                <c:pt idx="808">
                  <c:v>8.17</c:v>
                </c:pt>
                <c:pt idx="809">
                  <c:v>8</c:v>
                </c:pt>
                <c:pt idx="810">
                  <c:v>7.89</c:v>
                </c:pt>
                <c:pt idx="811">
                  <c:v>9.6</c:v>
                </c:pt>
                <c:pt idx="812">
                  <c:v>9</c:v>
                </c:pt>
                <c:pt idx="813">
                  <c:v>8.23</c:v>
                </c:pt>
                <c:pt idx="814">
                  <c:v>8.1300000000000008</c:v>
                </c:pt>
                <c:pt idx="815">
                  <c:v>8.98</c:v>
                </c:pt>
                <c:pt idx="816">
                  <c:v>7.73</c:v>
                </c:pt>
                <c:pt idx="817">
                  <c:v>7.43</c:v>
                </c:pt>
                <c:pt idx="818">
                  <c:v>7.75</c:v>
                </c:pt>
                <c:pt idx="819">
                  <c:v>8.7200000000000006</c:v>
                </c:pt>
                <c:pt idx="820">
                  <c:v>9.15</c:v>
                </c:pt>
                <c:pt idx="821">
                  <c:v>9.15</c:v>
                </c:pt>
                <c:pt idx="822">
                  <c:v>9.15</c:v>
                </c:pt>
                <c:pt idx="823">
                  <c:v>9.19</c:v>
                </c:pt>
                <c:pt idx="824">
                  <c:v>9.3000000000000007</c:v>
                </c:pt>
                <c:pt idx="825">
                  <c:v>9.48</c:v>
                </c:pt>
                <c:pt idx="826">
                  <c:v>9.02</c:v>
                </c:pt>
                <c:pt idx="827">
                  <c:v>8.84</c:v>
                </c:pt>
                <c:pt idx="828">
                  <c:v>9.0299999999999994</c:v>
                </c:pt>
                <c:pt idx="829">
                  <c:v>9.0399999999999991</c:v>
                </c:pt>
                <c:pt idx="830">
                  <c:v>9.4</c:v>
                </c:pt>
                <c:pt idx="831">
                  <c:v>10.51</c:v>
                </c:pt>
                <c:pt idx="832">
                  <c:v>10.53</c:v>
                </c:pt>
                <c:pt idx="833">
                  <c:v>12.18</c:v>
                </c:pt>
                <c:pt idx="834">
                  <c:v>13.36</c:v>
                </c:pt>
                <c:pt idx="835">
                  <c:v>13.67</c:v>
                </c:pt>
                <c:pt idx="836">
                  <c:v>14.12</c:v>
                </c:pt>
                <c:pt idx="837">
                  <c:v>14.09</c:v>
                </c:pt>
                <c:pt idx="838">
                  <c:v>13.99</c:v>
                </c:pt>
                <c:pt idx="839">
                  <c:v>13.7</c:v>
                </c:pt>
                <c:pt idx="840">
                  <c:v>10.35</c:v>
                </c:pt>
                <c:pt idx="841">
                  <c:v>12.04</c:v>
                </c:pt>
                <c:pt idx="842">
                  <c:v>13.48</c:v>
                </c:pt>
                <c:pt idx="843">
                  <c:v>13.6</c:v>
                </c:pt>
                <c:pt idx="844">
                  <c:v>13.62</c:v>
                </c:pt>
                <c:pt idx="845">
                  <c:v>13.54</c:v>
                </c:pt>
                <c:pt idx="846">
                  <c:v>13.42</c:v>
                </c:pt>
                <c:pt idx="847">
                  <c:v>13.42</c:v>
                </c:pt>
                <c:pt idx="848">
                  <c:v>13.57</c:v>
                </c:pt>
                <c:pt idx="849">
                  <c:v>13.42</c:v>
                </c:pt>
                <c:pt idx="850">
                  <c:v>11.11</c:v>
                </c:pt>
                <c:pt idx="851">
                  <c:v>10.220000000000001</c:v>
                </c:pt>
                <c:pt idx="852">
                  <c:v>9.93</c:v>
                </c:pt>
                <c:pt idx="853">
                  <c:v>9.69</c:v>
                </c:pt>
                <c:pt idx="854">
                  <c:v>9.69</c:v>
                </c:pt>
                <c:pt idx="855">
                  <c:v>9.31</c:v>
                </c:pt>
                <c:pt idx="856">
                  <c:v>8.5500000000000007</c:v>
                </c:pt>
                <c:pt idx="857">
                  <c:v>8.5500000000000007</c:v>
                </c:pt>
                <c:pt idx="858">
                  <c:v>8.5500000000000007</c:v>
                </c:pt>
                <c:pt idx="859">
                  <c:v>9.34</c:v>
                </c:pt>
                <c:pt idx="860">
                  <c:v>10.49</c:v>
                </c:pt>
                <c:pt idx="861">
                  <c:v>9.92</c:v>
                </c:pt>
                <c:pt idx="862">
                  <c:v>9.3000000000000007</c:v>
                </c:pt>
                <c:pt idx="863">
                  <c:v>9.1</c:v>
                </c:pt>
                <c:pt idx="864">
                  <c:v>7.26</c:v>
                </c:pt>
                <c:pt idx="865">
                  <c:v>7.14</c:v>
                </c:pt>
                <c:pt idx="866">
                  <c:v>7.49</c:v>
                </c:pt>
                <c:pt idx="867">
                  <c:v>8.52</c:v>
                </c:pt>
                <c:pt idx="868">
                  <c:v>9.02</c:v>
                </c:pt>
                <c:pt idx="869">
                  <c:v>8.9600000000000009</c:v>
                </c:pt>
                <c:pt idx="870">
                  <c:v>9.15</c:v>
                </c:pt>
                <c:pt idx="871">
                  <c:v>9.19</c:v>
                </c:pt>
                <c:pt idx="872">
                  <c:v>9.1999999999999993</c:v>
                </c:pt>
                <c:pt idx="873">
                  <c:v>9.3000000000000007</c:v>
                </c:pt>
                <c:pt idx="874">
                  <c:v>8.82</c:v>
                </c:pt>
                <c:pt idx="875">
                  <c:v>8.58</c:v>
                </c:pt>
                <c:pt idx="876">
                  <c:v>8.93</c:v>
                </c:pt>
                <c:pt idx="877">
                  <c:v>9.02</c:v>
                </c:pt>
                <c:pt idx="878">
                  <c:v>9.52</c:v>
                </c:pt>
                <c:pt idx="879">
                  <c:v>11.05</c:v>
                </c:pt>
                <c:pt idx="880">
                  <c:v>9.7799999999999994</c:v>
                </c:pt>
                <c:pt idx="881">
                  <c:v>13.59</c:v>
                </c:pt>
                <c:pt idx="882">
                  <c:v>14.07</c:v>
                </c:pt>
                <c:pt idx="883">
                  <c:v>15.65</c:v>
                </c:pt>
                <c:pt idx="884">
                  <c:v>15.68</c:v>
                </c:pt>
                <c:pt idx="885">
                  <c:v>15.69</c:v>
                </c:pt>
                <c:pt idx="886">
                  <c:v>15.69</c:v>
                </c:pt>
                <c:pt idx="887">
                  <c:v>15.68</c:v>
                </c:pt>
                <c:pt idx="888">
                  <c:v>11.66</c:v>
                </c:pt>
                <c:pt idx="889">
                  <c:v>11.94</c:v>
                </c:pt>
                <c:pt idx="890">
                  <c:v>15.68</c:v>
                </c:pt>
                <c:pt idx="891">
                  <c:v>15.69</c:v>
                </c:pt>
                <c:pt idx="892">
                  <c:v>15.69</c:v>
                </c:pt>
                <c:pt idx="893">
                  <c:v>15.68</c:v>
                </c:pt>
                <c:pt idx="894">
                  <c:v>15.67</c:v>
                </c:pt>
                <c:pt idx="895">
                  <c:v>15.67</c:v>
                </c:pt>
                <c:pt idx="896">
                  <c:v>15.65</c:v>
                </c:pt>
                <c:pt idx="897">
                  <c:v>15.6</c:v>
                </c:pt>
                <c:pt idx="898">
                  <c:v>13.03</c:v>
                </c:pt>
                <c:pt idx="899">
                  <c:v>10.68</c:v>
                </c:pt>
                <c:pt idx="900">
                  <c:v>12.04</c:v>
                </c:pt>
                <c:pt idx="901">
                  <c:v>13.16</c:v>
                </c:pt>
                <c:pt idx="902">
                  <c:v>13.13</c:v>
                </c:pt>
                <c:pt idx="903">
                  <c:v>13</c:v>
                </c:pt>
                <c:pt idx="904">
                  <c:v>12.97</c:v>
                </c:pt>
                <c:pt idx="905">
                  <c:v>9.69</c:v>
                </c:pt>
                <c:pt idx="906">
                  <c:v>9.5399999999999991</c:v>
                </c:pt>
                <c:pt idx="907">
                  <c:v>9.69</c:v>
                </c:pt>
                <c:pt idx="908">
                  <c:v>10.28</c:v>
                </c:pt>
                <c:pt idx="909">
                  <c:v>9.7799999999999994</c:v>
                </c:pt>
                <c:pt idx="910">
                  <c:v>9.1999999999999993</c:v>
                </c:pt>
                <c:pt idx="911">
                  <c:v>8.9</c:v>
                </c:pt>
                <c:pt idx="912">
                  <c:v>7.06</c:v>
                </c:pt>
                <c:pt idx="913">
                  <c:v>7.04</c:v>
                </c:pt>
                <c:pt idx="914">
                  <c:v>7.19</c:v>
                </c:pt>
                <c:pt idx="915">
                  <c:v>7.39</c:v>
                </c:pt>
                <c:pt idx="916">
                  <c:v>8.7200000000000006</c:v>
                </c:pt>
                <c:pt idx="917">
                  <c:v>9.02</c:v>
                </c:pt>
                <c:pt idx="918">
                  <c:v>9.15</c:v>
                </c:pt>
                <c:pt idx="919">
                  <c:v>9.0399999999999991</c:v>
                </c:pt>
                <c:pt idx="920">
                  <c:v>9.1999999999999993</c:v>
                </c:pt>
                <c:pt idx="921">
                  <c:v>9.1</c:v>
                </c:pt>
                <c:pt idx="922">
                  <c:v>8.4700000000000006</c:v>
                </c:pt>
                <c:pt idx="923">
                  <c:v>8.18</c:v>
                </c:pt>
                <c:pt idx="924">
                  <c:v>8.6300000000000008</c:v>
                </c:pt>
                <c:pt idx="925">
                  <c:v>8.9600000000000009</c:v>
                </c:pt>
                <c:pt idx="926">
                  <c:v>9.67</c:v>
                </c:pt>
                <c:pt idx="927">
                  <c:v>10.85</c:v>
                </c:pt>
                <c:pt idx="928">
                  <c:v>11.65</c:v>
                </c:pt>
                <c:pt idx="929">
                  <c:v>13.46</c:v>
                </c:pt>
                <c:pt idx="930">
                  <c:v>13.59</c:v>
                </c:pt>
                <c:pt idx="931">
                  <c:v>14.09</c:v>
                </c:pt>
                <c:pt idx="932">
                  <c:v>14.3</c:v>
                </c:pt>
                <c:pt idx="933">
                  <c:v>14.34</c:v>
                </c:pt>
                <c:pt idx="934">
                  <c:v>14.34</c:v>
                </c:pt>
                <c:pt idx="935">
                  <c:v>14.19</c:v>
                </c:pt>
                <c:pt idx="936">
                  <c:v>11.83</c:v>
                </c:pt>
                <c:pt idx="937">
                  <c:v>12.19</c:v>
                </c:pt>
                <c:pt idx="938">
                  <c:v>13.9</c:v>
                </c:pt>
                <c:pt idx="939">
                  <c:v>14.34</c:v>
                </c:pt>
                <c:pt idx="940">
                  <c:v>14.34</c:v>
                </c:pt>
                <c:pt idx="941">
                  <c:v>13.9</c:v>
                </c:pt>
                <c:pt idx="942">
                  <c:v>13.9</c:v>
                </c:pt>
                <c:pt idx="943">
                  <c:v>13.9</c:v>
                </c:pt>
                <c:pt idx="944">
                  <c:v>13.9</c:v>
                </c:pt>
                <c:pt idx="945">
                  <c:v>13.9</c:v>
                </c:pt>
                <c:pt idx="946">
                  <c:v>13.18</c:v>
                </c:pt>
                <c:pt idx="947">
                  <c:v>12.06</c:v>
                </c:pt>
                <c:pt idx="948">
                  <c:v>12.2</c:v>
                </c:pt>
                <c:pt idx="949">
                  <c:v>12.15</c:v>
                </c:pt>
                <c:pt idx="950">
                  <c:v>12.12</c:v>
                </c:pt>
                <c:pt idx="951">
                  <c:v>11.16</c:v>
                </c:pt>
                <c:pt idx="952">
                  <c:v>11.86</c:v>
                </c:pt>
                <c:pt idx="953">
                  <c:v>9.31</c:v>
                </c:pt>
                <c:pt idx="954">
                  <c:v>9.4700000000000006</c:v>
                </c:pt>
                <c:pt idx="955">
                  <c:v>9.7200000000000006</c:v>
                </c:pt>
                <c:pt idx="956">
                  <c:v>11.01</c:v>
                </c:pt>
                <c:pt idx="957">
                  <c:v>10.99</c:v>
                </c:pt>
                <c:pt idx="958">
                  <c:v>9.67</c:v>
                </c:pt>
                <c:pt idx="959">
                  <c:v>9.67</c:v>
                </c:pt>
                <c:pt idx="960">
                  <c:v>7.33</c:v>
                </c:pt>
                <c:pt idx="961">
                  <c:v>7.53</c:v>
                </c:pt>
                <c:pt idx="962">
                  <c:v>7.58</c:v>
                </c:pt>
                <c:pt idx="963">
                  <c:v>9.5</c:v>
                </c:pt>
                <c:pt idx="964">
                  <c:v>9.67</c:v>
                </c:pt>
                <c:pt idx="965">
                  <c:v>9.67</c:v>
                </c:pt>
                <c:pt idx="966">
                  <c:v>9.67</c:v>
                </c:pt>
                <c:pt idx="967">
                  <c:v>9.67</c:v>
                </c:pt>
                <c:pt idx="968">
                  <c:v>9.67</c:v>
                </c:pt>
                <c:pt idx="969">
                  <c:v>9.67</c:v>
                </c:pt>
                <c:pt idx="970">
                  <c:v>9.67</c:v>
                </c:pt>
                <c:pt idx="971">
                  <c:v>9.3000000000000007</c:v>
                </c:pt>
                <c:pt idx="972">
                  <c:v>9.67</c:v>
                </c:pt>
                <c:pt idx="973">
                  <c:v>9.67</c:v>
                </c:pt>
                <c:pt idx="974">
                  <c:v>12.67</c:v>
                </c:pt>
                <c:pt idx="975">
                  <c:v>12.95</c:v>
                </c:pt>
                <c:pt idx="976">
                  <c:v>9.6999999999999993</c:v>
                </c:pt>
                <c:pt idx="977">
                  <c:v>13.18</c:v>
                </c:pt>
                <c:pt idx="978">
                  <c:v>13.9</c:v>
                </c:pt>
                <c:pt idx="979">
                  <c:v>14.08</c:v>
                </c:pt>
                <c:pt idx="980">
                  <c:v>14.68</c:v>
                </c:pt>
                <c:pt idx="981">
                  <c:v>14.75</c:v>
                </c:pt>
                <c:pt idx="982">
                  <c:v>14.75</c:v>
                </c:pt>
                <c:pt idx="983">
                  <c:v>14.68</c:v>
                </c:pt>
                <c:pt idx="984">
                  <c:v>12.08</c:v>
                </c:pt>
                <c:pt idx="985">
                  <c:v>12.03</c:v>
                </c:pt>
                <c:pt idx="986">
                  <c:v>14.61</c:v>
                </c:pt>
                <c:pt idx="987">
                  <c:v>14.75</c:v>
                </c:pt>
                <c:pt idx="988">
                  <c:v>14.75</c:v>
                </c:pt>
                <c:pt idx="989">
                  <c:v>14.51</c:v>
                </c:pt>
                <c:pt idx="990">
                  <c:v>14.43</c:v>
                </c:pt>
                <c:pt idx="991">
                  <c:v>14.47</c:v>
                </c:pt>
                <c:pt idx="992">
                  <c:v>14.61</c:v>
                </c:pt>
                <c:pt idx="993">
                  <c:v>14.01</c:v>
                </c:pt>
                <c:pt idx="994">
                  <c:v>13.9</c:v>
                </c:pt>
                <c:pt idx="995">
                  <c:v>13.32</c:v>
                </c:pt>
                <c:pt idx="996">
                  <c:v>12.98</c:v>
                </c:pt>
                <c:pt idx="997">
                  <c:v>13.69</c:v>
                </c:pt>
                <c:pt idx="998">
                  <c:v>13.47</c:v>
                </c:pt>
                <c:pt idx="999">
                  <c:v>9.92</c:v>
                </c:pt>
                <c:pt idx="1000">
                  <c:v>12.5</c:v>
                </c:pt>
                <c:pt idx="1001">
                  <c:v>9.31</c:v>
                </c:pt>
                <c:pt idx="1002">
                  <c:v>9.5500000000000007</c:v>
                </c:pt>
                <c:pt idx="1003">
                  <c:v>13</c:v>
                </c:pt>
                <c:pt idx="1004">
                  <c:v>12.89</c:v>
                </c:pt>
                <c:pt idx="1005">
                  <c:v>11.67</c:v>
                </c:pt>
                <c:pt idx="1006">
                  <c:v>9.67</c:v>
                </c:pt>
                <c:pt idx="1007">
                  <c:v>8.7899999999999991</c:v>
                </c:pt>
                <c:pt idx="1008">
                  <c:v>7.53</c:v>
                </c:pt>
                <c:pt idx="1009">
                  <c:v>7.86</c:v>
                </c:pt>
                <c:pt idx="1010">
                  <c:v>10.85</c:v>
                </c:pt>
                <c:pt idx="1011">
                  <c:v>12.96</c:v>
                </c:pt>
                <c:pt idx="1012">
                  <c:v>12.91</c:v>
                </c:pt>
                <c:pt idx="1013">
                  <c:v>13.37</c:v>
                </c:pt>
                <c:pt idx="1014">
                  <c:v>13.37</c:v>
                </c:pt>
                <c:pt idx="1015">
                  <c:v>12.96</c:v>
                </c:pt>
                <c:pt idx="1016">
                  <c:v>12.93</c:v>
                </c:pt>
                <c:pt idx="1017">
                  <c:v>10.25</c:v>
                </c:pt>
                <c:pt idx="1018">
                  <c:v>9.81</c:v>
                </c:pt>
                <c:pt idx="1019">
                  <c:v>9.5</c:v>
                </c:pt>
                <c:pt idx="1020">
                  <c:v>9.8000000000000007</c:v>
                </c:pt>
                <c:pt idx="1021">
                  <c:v>10.85</c:v>
                </c:pt>
                <c:pt idx="1022">
                  <c:v>12.12</c:v>
                </c:pt>
                <c:pt idx="1023">
                  <c:v>12.97</c:v>
                </c:pt>
                <c:pt idx="1024">
                  <c:v>12.52</c:v>
                </c:pt>
                <c:pt idx="1025">
                  <c:v>13.89</c:v>
                </c:pt>
                <c:pt idx="1026">
                  <c:v>14.31</c:v>
                </c:pt>
                <c:pt idx="1027">
                  <c:v>13.11</c:v>
                </c:pt>
                <c:pt idx="1028">
                  <c:v>13.14</c:v>
                </c:pt>
                <c:pt idx="1029">
                  <c:v>14</c:v>
                </c:pt>
                <c:pt idx="1030">
                  <c:v>14.96</c:v>
                </c:pt>
                <c:pt idx="1031">
                  <c:v>16.18</c:v>
                </c:pt>
                <c:pt idx="1032">
                  <c:v>12.11</c:v>
                </c:pt>
                <c:pt idx="1033">
                  <c:v>12.13</c:v>
                </c:pt>
                <c:pt idx="1034">
                  <c:v>14.2</c:v>
                </c:pt>
                <c:pt idx="1035">
                  <c:v>14.96</c:v>
                </c:pt>
                <c:pt idx="1036">
                  <c:v>15</c:v>
                </c:pt>
                <c:pt idx="1037">
                  <c:v>14.24</c:v>
                </c:pt>
                <c:pt idx="1038">
                  <c:v>14.22</c:v>
                </c:pt>
                <c:pt idx="1039">
                  <c:v>14.27</c:v>
                </c:pt>
                <c:pt idx="1040">
                  <c:v>14.34</c:v>
                </c:pt>
                <c:pt idx="1041">
                  <c:v>14.28</c:v>
                </c:pt>
                <c:pt idx="1042">
                  <c:v>14.05</c:v>
                </c:pt>
                <c:pt idx="1043">
                  <c:v>13.97</c:v>
                </c:pt>
                <c:pt idx="1044">
                  <c:v>13.4</c:v>
                </c:pt>
                <c:pt idx="1045">
                  <c:v>13.75</c:v>
                </c:pt>
                <c:pt idx="1046">
                  <c:v>13.36</c:v>
                </c:pt>
                <c:pt idx="1047">
                  <c:v>12.65</c:v>
                </c:pt>
                <c:pt idx="1048">
                  <c:v>13.12</c:v>
                </c:pt>
                <c:pt idx="1049">
                  <c:v>9.76</c:v>
                </c:pt>
                <c:pt idx="1050">
                  <c:v>12.62</c:v>
                </c:pt>
                <c:pt idx="1051">
                  <c:v>11.71</c:v>
                </c:pt>
                <c:pt idx="1052">
                  <c:v>11.28</c:v>
                </c:pt>
                <c:pt idx="1053">
                  <c:v>8.5</c:v>
                </c:pt>
                <c:pt idx="1054">
                  <c:v>8.5</c:v>
                </c:pt>
                <c:pt idx="1055">
                  <c:v>8.5</c:v>
                </c:pt>
                <c:pt idx="1056">
                  <c:v>7.25</c:v>
                </c:pt>
                <c:pt idx="1057">
                  <c:v>7.26</c:v>
                </c:pt>
                <c:pt idx="1058">
                  <c:v>7.26</c:v>
                </c:pt>
                <c:pt idx="1059">
                  <c:v>7.87</c:v>
                </c:pt>
                <c:pt idx="1060">
                  <c:v>9.57</c:v>
                </c:pt>
                <c:pt idx="1061">
                  <c:v>10.85</c:v>
                </c:pt>
                <c:pt idx="1062">
                  <c:v>10.85</c:v>
                </c:pt>
                <c:pt idx="1063">
                  <c:v>10.85</c:v>
                </c:pt>
                <c:pt idx="1064">
                  <c:v>10.5</c:v>
                </c:pt>
                <c:pt idx="1065">
                  <c:v>7.63</c:v>
                </c:pt>
                <c:pt idx="1066">
                  <c:v>7.57</c:v>
                </c:pt>
                <c:pt idx="1067">
                  <c:v>9</c:v>
                </c:pt>
                <c:pt idx="1068">
                  <c:v>7.82</c:v>
                </c:pt>
                <c:pt idx="1069">
                  <c:v>9</c:v>
                </c:pt>
                <c:pt idx="1070">
                  <c:v>9.02</c:v>
                </c:pt>
                <c:pt idx="1071">
                  <c:v>7.55</c:v>
                </c:pt>
                <c:pt idx="1072">
                  <c:v>7.76</c:v>
                </c:pt>
                <c:pt idx="1073">
                  <c:v>7.81</c:v>
                </c:pt>
                <c:pt idx="1074">
                  <c:v>9.01</c:v>
                </c:pt>
                <c:pt idx="1075">
                  <c:v>9.06</c:v>
                </c:pt>
                <c:pt idx="1076">
                  <c:v>10.52</c:v>
                </c:pt>
                <c:pt idx="1077">
                  <c:v>10.75</c:v>
                </c:pt>
                <c:pt idx="1078">
                  <c:v>10.8</c:v>
                </c:pt>
                <c:pt idx="1079">
                  <c:v>10.39</c:v>
                </c:pt>
                <c:pt idx="1080">
                  <c:v>8.3000000000000007</c:v>
                </c:pt>
                <c:pt idx="1081">
                  <c:v>8.3000000000000007</c:v>
                </c:pt>
                <c:pt idx="1082">
                  <c:v>10.01</c:v>
                </c:pt>
                <c:pt idx="1083">
                  <c:v>10.01</c:v>
                </c:pt>
                <c:pt idx="1084">
                  <c:v>9.6999999999999993</c:v>
                </c:pt>
                <c:pt idx="1085">
                  <c:v>9.6999999999999993</c:v>
                </c:pt>
                <c:pt idx="1086">
                  <c:v>8.64</c:v>
                </c:pt>
                <c:pt idx="1087">
                  <c:v>9.19</c:v>
                </c:pt>
                <c:pt idx="1088">
                  <c:v>9.1999999999999993</c:v>
                </c:pt>
                <c:pt idx="1089">
                  <c:v>8.7200000000000006</c:v>
                </c:pt>
                <c:pt idx="1090">
                  <c:v>8.06</c:v>
                </c:pt>
                <c:pt idx="1091">
                  <c:v>8.34</c:v>
                </c:pt>
                <c:pt idx="1092">
                  <c:v>8.6300000000000008</c:v>
                </c:pt>
                <c:pt idx="1093">
                  <c:v>8.64</c:v>
                </c:pt>
                <c:pt idx="1094">
                  <c:v>8.82</c:v>
                </c:pt>
                <c:pt idx="1095">
                  <c:v>8.65</c:v>
                </c:pt>
                <c:pt idx="1096">
                  <c:v>8.65</c:v>
                </c:pt>
                <c:pt idx="1097">
                  <c:v>8.59</c:v>
                </c:pt>
                <c:pt idx="1098">
                  <c:v>7.94</c:v>
                </c:pt>
                <c:pt idx="1099">
                  <c:v>7.99</c:v>
                </c:pt>
                <c:pt idx="1100">
                  <c:v>9</c:v>
                </c:pt>
                <c:pt idx="1101">
                  <c:v>9.02</c:v>
                </c:pt>
                <c:pt idx="1102">
                  <c:v>7.9</c:v>
                </c:pt>
                <c:pt idx="1103">
                  <c:v>7.9</c:v>
                </c:pt>
                <c:pt idx="1104">
                  <c:v>7.86</c:v>
                </c:pt>
                <c:pt idx="1105">
                  <c:v>7.75</c:v>
                </c:pt>
                <c:pt idx="1106">
                  <c:v>9.11</c:v>
                </c:pt>
                <c:pt idx="1107">
                  <c:v>10.6</c:v>
                </c:pt>
                <c:pt idx="1108">
                  <c:v>10.77</c:v>
                </c:pt>
                <c:pt idx="1109">
                  <c:v>11</c:v>
                </c:pt>
                <c:pt idx="1110">
                  <c:v>11</c:v>
                </c:pt>
                <c:pt idx="1111">
                  <c:v>11</c:v>
                </c:pt>
                <c:pt idx="1112">
                  <c:v>10.85</c:v>
                </c:pt>
                <c:pt idx="1113">
                  <c:v>10.49</c:v>
                </c:pt>
                <c:pt idx="1114">
                  <c:v>10.6</c:v>
                </c:pt>
                <c:pt idx="1115">
                  <c:v>10.6</c:v>
                </c:pt>
                <c:pt idx="1116">
                  <c:v>10.6</c:v>
                </c:pt>
                <c:pt idx="1117">
                  <c:v>10.49</c:v>
                </c:pt>
                <c:pt idx="1118">
                  <c:v>10.49</c:v>
                </c:pt>
                <c:pt idx="1119">
                  <c:v>10.49</c:v>
                </c:pt>
                <c:pt idx="1120">
                  <c:v>8.6300000000000008</c:v>
                </c:pt>
                <c:pt idx="1121">
                  <c:v>7.63</c:v>
                </c:pt>
                <c:pt idx="1122">
                  <c:v>9.01</c:v>
                </c:pt>
                <c:pt idx="1123">
                  <c:v>9.56</c:v>
                </c:pt>
                <c:pt idx="1124">
                  <c:v>10.77</c:v>
                </c:pt>
                <c:pt idx="1125">
                  <c:v>10.9</c:v>
                </c:pt>
                <c:pt idx="1126">
                  <c:v>10.95</c:v>
                </c:pt>
                <c:pt idx="1127">
                  <c:v>10.74</c:v>
                </c:pt>
                <c:pt idx="1128">
                  <c:v>9.81</c:v>
                </c:pt>
                <c:pt idx="1129">
                  <c:v>10.6</c:v>
                </c:pt>
                <c:pt idx="1130">
                  <c:v>10.36</c:v>
                </c:pt>
                <c:pt idx="1131">
                  <c:v>10.36</c:v>
                </c:pt>
                <c:pt idx="1132">
                  <c:v>10.6</c:v>
                </c:pt>
                <c:pt idx="1133">
                  <c:v>10.6</c:v>
                </c:pt>
                <c:pt idx="1134">
                  <c:v>10.6</c:v>
                </c:pt>
                <c:pt idx="1135">
                  <c:v>10.6</c:v>
                </c:pt>
                <c:pt idx="1136">
                  <c:v>10.6</c:v>
                </c:pt>
                <c:pt idx="1137">
                  <c:v>9.57</c:v>
                </c:pt>
                <c:pt idx="1138">
                  <c:v>9.4700000000000006</c:v>
                </c:pt>
                <c:pt idx="1139">
                  <c:v>9.4</c:v>
                </c:pt>
                <c:pt idx="1140">
                  <c:v>10.130000000000001</c:v>
                </c:pt>
                <c:pt idx="1141">
                  <c:v>10.14</c:v>
                </c:pt>
                <c:pt idx="1142">
                  <c:v>9.74</c:v>
                </c:pt>
                <c:pt idx="1143">
                  <c:v>9.69</c:v>
                </c:pt>
                <c:pt idx="1144">
                  <c:v>9.2200000000000006</c:v>
                </c:pt>
                <c:pt idx="1145">
                  <c:v>8.84</c:v>
                </c:pt>
                <c:pt idx="1146">
                  <c:v>8.39</c:v>
                </c:pt>
                <c:pt idx="1147">
                  <c:v>8.49</c:v>
                </c:pt>
                <c:pt idx="1148">
                  <c:v>10.6</c:v>
                </c:pt>
                <c:pt idx="1149">
                  <c:v>10.61</c:v>
                </c:pt>
                <c:pt idx="1150">
                  <c:v>10.61</c:v>
                </c:pt>
                <c:pt idx="1151">
                  <c:v>10.6</c:v>
                </c:pt>
                <c:pt idx="1152">
                  <c:v>6.81</c:v>
                </c:pt>
                <c:pt idx="1153">
                  <c:v>6.81</c:v>
                </c:pt>
                <c:pt idx="1154">
                  <c:v>6.81</c:v>
                </c:pt>
                <c:pt idx="1155">
                  <c:v>8.1199999999999992</c:v>
                </c:pt>
                <c:pt idx="1156">
                  <c:v>8.75</c:v>
                </c:pt>
                <c:pt idx="1157">
                  <c:v>8.75</c:v>
                </c:pt>
                <c:pt idx="1158">
                  <c:v>8.75</c:v>
                </c:pt>
                <c:pt idx="1159">
                  <c:v>8.7899999999999991</c:v>
                </c:pt>
                <c:pt idx="1160">
                  <c:v>9</c:v>
                </c:pt>
                <c:pt idx="1161">
                  <c:v>9.66</c:v>
                </c:pt>
                <c:pt idx="1162">
                  <c:v>6.98</c:v>
                </c:pt>
                <c:pt idx="1163">
                  <c:v>6.81</c:v>
                </c:pt>
                <c:pt idx="1164">
                  <c:v>7.33</c:v>
                </c:pt>
                <c:pt idx="1165">
                  <c:v>10.37</c:v>
                </c:pt>
                <c:pt idx="1166">
                  <c:v>11.27</c:v>
                </c:pt>
                <c:pt idx="1167">
                  <c:v>12.69</c:v>
                </c:pt>
                <c:pt idx="1168">
                  <c:v>12.34</c:v>
                </c:pt>
                <c:pt idx="1169">
                  <c:v>13.39</c:v>
                </c:pt>
                <c:pt idx="1170">
                  <c:v>14.27</c:v>
                </c:pt>
                <c:pt idx="1171">
                  <c:v>13.08</c:v>
                </c:pt>
                <c:pt idx="1172">
                  <c:v>15.16</c:v>
                </c:pt>
                <c:pt idx="1173">
                  <c:v>15.16</c:v>
                </c:pt>
                <c:pt idx="1174">
                  <c:v>15.16</c:v>
                </c:pt>
                <c:pt idx="1175">
                  <c:v>15.16</c:v>
                </c:pt>
                <c:pt idx="1176">
                  <c:v>12</c:v>
                </c:pt>
                <c:pt idx="1177">
                  <c:v>12</c:v>
                </c:pt>
                <c:pt idx="1178">
                  <c:v>15.16</c:v>
                </c:pt>
                <c:pt idx="1179">
                  <c:v>15.16</c:v>
                </c:pt>
                <c:pt idx="1180">
                  <c:v>15.16</c:v>
                </c:pt>
                <c:pt idx="1181">
                  <c:v>15.16</c:v>
                </c:pt>
                <c:pt idx="1182">
                  <c:v>14.7</c:v>
                </c:pt>
                <c:pt idx="1183">
                  <c:v>14.73</c:v>
                </c:pt>
                <c:pt idx="1184">
                  <c:v>14.34</c:v>
                </c:pt>
                <c:pt idx="1185">
                  <c:v>14.21</c:v>
                </c:pt>
                <c:pt idx="1186">
                  <c:v>13.75</c:v>
                </c:pt>
                <c:pt idx="1187">
                  <c:v>13.45</c:v>
                </c:pt>
                <c:pt idx="1188">
                  <c:v>12.56</c:v>
                </c:pt>
                <c:pt idx="1189">
                  <c:v>12.94</c:v>
                </c:pt>
                <c:pt idx="1190">
                  <c:v>12.56</c:v>
                </c:pt>
                <c:pt idx="1191">
                  <c:v>10.68</c:v>
                </c:pt>
                <c:pt idx="1192">
                  <c:v>12.41</c:v>
                </c:pt>
                <c:pt idx="1193">
                  <c:v>11.29</c:v>
                </c:pt>
                <c:pt idx="1194">
                  <c:v>11.49</c:v>
                </c:pt>
                <c:pt idx="1195">
                  <c:v>11.67</c:v>
                </c:pt>
                <c:pt idx="1196">
                  <c:v>10.95</c:v>
                </c:pt>
                <c:pt idx="1197">
                  <c:v>9.6999999999999993</c:v>
                </c:pt>
                <c:pt idx="1198">
                  <c:v>8.48</c:v>
                </c:pt>
                <c:pt idx="1199">
                  <c:v>7.23</c:v>
                </c:pt>
                <c:pt idx="1200">
                  <c:v>6.81</c:v>
                </c:pt>
                <c:pt idx="1201">
                  <c:v>6.81</c:v>
                </c:pt>
                <c:pt idx="1202">
                  <c:v>6.97</c:v>
                </c:pt>
                <c:pt idx="1203">
                  <c:v>7.26</c:v>
                </c:pt>
                <c:pt idx="1204">
                  <c:v>7.39</c:v>
                </c:pt>
                <c:pt idx="1205">
                  <c:v>7.33</c:v>
                </c:pt>
                <c:pt idx="1206">
                  <c:v>7.33</c:v>
                </c:pt>
                <c:pt idx="1207">
                  <c:v>7.26</c:v>
                </c:pt>
                <c:pt idx="1208">
                  <c:v>7.33</c:v>
                </c:pt>
                <c:pt idx="1209">
                  <c:v>7.43</c:v>
                </c:pt>
                <c:pt idx="1210">
                  <c:v>6.83</c:v>
                </c:pt>
                <c:pt idx="1211">
                  <c:v>6.93</c:v>
                </c:pt>
                <c:pt idx="1212">
                  <c:v>7.26</c:v>
                </c:pt>
                <c:pt idx="1213">
                  <c:v>7.57</c:v>
                </c:pt>
                <c:pt idx="1214">
                  <c:v>7.56</c:v>
                </c:pt>
                <c:pt idx="1215">
                  <c:v>10.18</c:v>
                </c:pt>
                <c:pt idx="1216">
                  <c:v>10.9</c:v>
                </c:pt>
                <c:pt idx="1217">
                  <c:v>13.49</c:v>
                </c:pt>
                <c:pt idx="1218">
                  <c:v>14.11</c:v>
                </c:pt>
                <c:pt idx="1219">
                  <c:v>13.21</c:v>
                </c:pt>
                <c:pt idx="1220">
                  <c:v>14.2</c:v>
                </c:pt>
                <c:pt idx="1221">
                  <c:v>14.37</c:v>
                </c:pt>
                <c:pt idx="1222">
                  <c:v>14.44</c:v>
                </c:pt>
                <c:pt idx="1223">
                  <c:v>14.3</c:v>
                </c:pt>
                <c:pt idx="1224">
                  <c:v>9.77</c:v>
                </c:pt>
                <c:pt idx="1225">
                  <c:v>9.8699999999999992</c:v>
                </c:pt>
                <c:pt idx="1226">
                  <c:v>14.27</c:v>
                </c:pt>
                <c:pt idx="1227">
                  <c:v>14.29</c:v>
                </c:pt>
                <c:pt idx="1228">
                  <c:v>14.35</c:v>
                </c:pt>
                <c:pt idx="1229">
                  <c:v>14.27</c:v>
                </c:pt>
                <c:pt idx="1230">
                  <c:v>13.18</c:v>
                </c:pt>
                <c:pt idx="1231">
                  <c:v>13.21</c:v>
                </c:pt>
                <c:pt idx="1232">
                  <c:v>13.08</c:v>
                </c:pt>
                <c:pt idx="1233">
                  <c:v>13.02</c:v>
                </c:pt>
                <c:pt idx="1234">
                  <c:v>13.18</c:v>
                </c:pt>
                <c:pt idx="1235">
                  <c:v>10.33</c:v>
                </c:pt>
                <c:pt idx="1236">
                  <c:v>9.76</c:v>
                </c:pt>
                <c:pt idx="1237">
                  <c:v>9.76</c:v>
                </c:pt>
                <c:pt idx="1238">
                  <c:v>10.33</c:v>
                </c:pt>
                <c:pt idx="1239">
                  <c:v>10.33</c:v>
                </c:pt>
                <c:pt idx="1240">
                  <c:v>9.77</c:v>
                </c:pt>
                <c:pt idx="1241">
                  <c:v>9.6999999999999993</c:v>
                </c:pt>
                <c:pt idx="1242">
                  <c:v>9.4700000000000006</c:v>
                </c:pt>
                <c:pt idx="1243">
                  <c:v>8.69</c:v>
                </c:pt>
                <c:pt idx="1244">
                  <c:v>7.54</c:v>
                </c:pt>
                <c:pt idx="1245">
                  <c:v>9.0399999999999991</c:v>
                </c:pt>
                <c:pt idx="1246">
                  <c:v>8.4</c:v>
                </c:pt>
                <c:pt idx="1247">
                  <c:v>7.26</c:v>
                </c:pt>
                <c:pt idx="1248">
                  <c:v>6.71</c:v>
                </c:pt>
                <c:pt idx="1249">
                  <c:v>6.64</c:v>
                </c:pt>
                <c:pt idx="1250">
                  <c:v>6.97</c:v>
                </c:pt>
                <c:pt idx="1251">
                  <c:v>7.26</c:v>
                </c:pt>
                <c:pt idx="1252">
                  <c:v>7.26</c:v>
                </c:pt>
                <c:pt idx="1253">
                  <c:v>7.76</c:v>
                </c:pt>
                <c:pt idx="1254">
                  <c:v>7.53</c:v>
                </c:pt>
                <c:pt idx="1255">
                  <c:v>7.63</c:v>
                </c:pt>
                <c:pt idx="1256">
                  <c:v>7.76</c:v>
                </c:pt>
                <c:pt idx="1257">
                  <c:v>7.82</c:v>
                </c:pt>
                <c:pt idx="1258">
                  <c:v>7.82</c:v>
                </c:pt>
                <c:pt idx="1259">
                  <c:v>7.11</c:v>
                </c:pt>
                <c:pt idx="1260">
                  <c:v>8.27</c:v>
                </c:pt>
                <c:pt idx="1261">
                  <c:v>9.16</c:v>
                </c:pt>
                <c:pt idx="1262">
                  <c:v>7.43</c:v>
                </c:pt>
                <c:pt idx="1263">
                  <c:v>10</c:v>
                </c:pt>
                <c:pt idx="1264">
                  <c:v>11.18</c:v>
                </c:pt>
                <c:pt idx="1265">
                  <c:v>13.17</c:v>
                </c:pt>
                <c:pt idx="1266">
                  <c:v>12</c:v>
                </c:pt>
                <c:pt idx="1267">
                  <c:v>12.49</c:v>
                </c:pt>
                <c:pt idx="1268">
                  <c:v>13.06</c:v>
                </c:pt>
                <c:pt idx="1269">
                  <c:v>13.9</c:v>
                </c:pt>
                <c:pt idx="1270">
                  <c:v>13.9</c:v>
                </c:pt>
                <c:pt idx="1271">
                  <c:v>13.06</c:v>
                </c:pt>
                <c:pt idx="1272">
                  <c:v>9.0299999999999994</c:v>
                </c:pt>
                <c:pt idx="1273">
                  <c:v>9.0299999999999994</c:v>
                </c:pt>
                <c:pt idx="1274">
                  <c:v>13.06</c:v>
                </c:pt>
                <c:pt idx="1275">
                  <c:v>13.06</c:v>
                </c:pt>
                <c:pt idx="1276">
                  <c:v>13.06</c:v>
                </c:pt>
                <c:pt idx="1277">
                  <c:v>13.06</c:v>
                </c:pt>
                <c:pt idx="1278">
                  <c:v>12.49</c:v>
                </c:pt>
                <c:pt idx="1279">
                  <c:v>12.49</c:v>
                </c:pt>
                <c:pt idx="1280">
                  <c:v>13.08</c:v>
                </c:pt>
                <c:pt idx="1281">
                  <c:v>13.06</c:v>
                </c:pt>
                <c:pt idx="1282">
                  <c:v>13.29</c:v>
                </c:pt>
                <c:pt idx="1283">
                  <c:v>12.49</c:v>
                </c:pt>
                <c:pt idx="1284">
                  <c:v>11.2</c:v>
                </c:pt>
                <c:pt idx="1285">
                  <c:v>11.06</c:v>
                </c:pt>
                <c:pt idx="1286">
                  <c:v>11</c:v>
                </c:pt>
                <c:pt idx="1287">
                  <c:v>11</c:v>
                </c:pt>
                <c:pt idx="1288">
                  <c:v>10.68</c:v>
                </c:pt>
                <c:pt idx="1289">
                  <c:v>9.76</c:v>
                </c:pt>
                <c:pt idx="1290">
                  <c:v>11.06</c:v>
                </c:pt>
                <c:pt idx="1291">
                  <c:v>11.32</c:v>
                </c:pt>
                <c:pt idx="1292">
                  <c:v>10</c:v>
                </c:pt>
                <c:pt idx="1293">
                  <c:v>10</c:v>
                </c:pt>
                <c:pt idx="1294">
                  <c:v>10</c:v>
                </c:pt>
                <c:pt idx="1295">
                  <c:v>9.26</c:v>
                </c:pt>
                <c:pt idx="1296">
                  <c:v>6.94</c:v>
                </c:pt>
                <c:pt idx="1297">
                  <c:v>6.93</c:v>
                </c:pt>
                <c:pt idx="1298">
                  <c:v>7.32</c:v>
                </c:pt>
                <c:pt idx="1299">
                  <c:v>7.66</c:v>
                </c:pt>
                <c:pt idx="1300">
                  <c:v>7.81</c:v>
                </c:pt>
                <c:pt idx="1301">
                  <c:v>8.1300000000000008</c:v>
                </c:pt>
                <c:pt idx="1302">
                  <c:v>7.83</c:v>
                </c:pt>
                <c:pt idx="1303">
                  <c:v>8.0299999999999994</c:v>
                </c:pt>
                <c:pt idx="1304">
                  <c:v>8.41</c:v>
                </c:pt>
                <c:pt idx="1305">
                  <c:v>8.11</c:v>
                </c:pt>
                <c:pt idx="1306">
                  <c:v>7.78</c:v>
                </c:pt>
                <c:pt idx="1307">
                  <c:v>7.46</c:v>
                </c:pt>
                <c:pt idx="1308">
                  <c:v>7.53</c:v>
                </c:pt>
                <c:pt idx="1309">
                  <c:v>8.17</c:v>
                </c:pt>
                <c:pt idx="1310">
                  <c:v>7.33</c:v>
                </c:pt>
                <c:pt idx="1311">
                  <c:v>10.16</c:v>
                </c:pt>
                <c:pt idx="1312">
                  <c:v>11.78</c:v>
                </c:pt>
                <c:pt idx="1313">
                  <c:v>13.37</c:v>
                </c:pt>
                <c:pt idx="1314">
                  <c:v>12.89</c:v>
                </c:pt>
                <c:pt idx="1315">
                  <c:v>13.34</c:v>
                </c:pt>
                <c:pt idx="1316">
                  <c:v>13.9</c:v>
                </c:pt>
                <c:pt idx="1317">
                  <c:v>14.3</c:v>
                </c:pt>
                <c:pt idx="1318">
                  <c:v>14.1</c:v>
                </c:pt>
                <c:pt idx="1319">
                  <c:v>13.9</c:v>
                </c:pt>
                <c:pt idx="1320">
                  <c:v>9.85</c:v>
                </c:pt>
                <c:pt idx="1321">
                  <c:v>9.85</c:v>
                </c:pt>
                <c:pt idx="1322">
                  <c:v>13.9</c:v>
                </c:pt>
                <c:pt idx="1323">
                  <c:v>14.04</c:v>
                </c:pt>
                <c:pt idx="1324">
                  <c:v>14.04</c:v>
                </c:pt>
                <c:pt idx="1325">
                  <c:v>13.9</c:v>
                </c:pt>
                <c:pt idx="1326">
                  <c:v>13.9</c:v>
                </c:pt>
                <c:pt idx="1327">
                  <c:v>13.49</c:v>
                </c:pt>
                <c:pt idx="1328">
                  <c:v>13.9</c:v>
                </c:pt>
                <c:pt idx="1329">
                  <c:v>13.86</c:v>
                </c:pt>
                <c:pt idx="1330">
                  <c:v>13.73</c:v>
                </c:pt>
                <c:pt idx="1331">
                  <c:v>12.69</c:v>
                </c:pt>
                <c:pt idx="1332">
                  <c:v>11.69</c:v>
                </c:pt>
                <c:pt idx="1333">
                  <c:v>12.36</c:v>
                </c:pt>
                <c:pt idx="1334">
                  <c:v>12</c:v>
                </c:pt>
                <c:pt idx="1335">
                  <c:v>11.1</c:v>
                </c:pt>
                <c:pt idx="1336">
                  <c:v>10.9</c:v>
                </c:pt>
                <c:pt idx="1337">
                  <c:v>9.4700000000000006</c:v>
                </c:pt>
                <c:pt idx="1338">
                  <c:v>10.24</c:v>
                </c:pt>
                <c:pt idx="1339">
                  <c:v>11.58</c:v>
                </c:pt>
                <c:pt idx="1340">
                  <c:v>9.74</c:v>
                </c:pt>
                <c:pt idx="1341">
                  <c:v>9.74</c:v>
                </c:pt>
                <c:pt idx="1342">
                  <c:v>9.74</c:v>
                </c:pt>
                <c:pt idx="1343">
                  <c:v>9.1</c:v>
                </c:pt>
                <c:pt idx="1344">
                  <c:v>7.23</c:v>
                </c:pt>
                <c:pt idx="1345">
                  <c:v>7.35</c:v>
                </c:pt>
                <c:pt idx="1346">
                  <c:v>7.35</c:v>
                </c:pt>
                <c:pt idx="1347">
                  <c:v>7.35</c:v>
                </c:pt>
                <c:pt idx="1348">
                  <c:v>7.35</c:v>
                </c:pt>
                <c:pt idx="1349">
                  <c:v>7.53</c:v>
                </c:pt>
                <c:pt idx="1350">
                  <c:v>7.53</c:v>
                </c:pt>
                <c:pt idx="1351">
                  <c:v>7.73</c:v>
                </c:pt>
                <c:pt idx="1352">
                  <c:v>7.99</c:v>
                </c:pt>
                <c:pt idx="1353">
                  <c:v>7.81</c:v>
                </c:pt>
                <c:pt idx="1354">
                  <c:v>7.55</c:v>
                </c:pt>
                <c:pt idx="1355">
                  <c:v>7.35</c:v>
                </c:pt>
                <c:pt idx="1356">
                  <c:v>7.45</c:v>
                </c:pt>
                <c:pt idx="1357">
                  <c:v>7.84</c:v>
                </c:pt>
                <c:pt idx="1358">
                  <c:v>7.63</c:v>
                </c:pt>
                <c:pt idx="1359">
                  <c:v>9.73</c:v>
                </c:pt>
                <c:pt idx="1360">
                  <c:v>10.85</c:v>
                </c:pt>
                <c:pt idx="1361">
                  <c:v>10.85</c:v>
                </c:pt>
                <c:pt idx="1362">
                  <c:v>10.57</c:v>
                </c:pt>
                <c:pt idx="1363">
                  <c:v>10.83</c:v>
                </c:pt>
                <c:pt idx="1364">
                  <c:v>12.29</c:v>
                </c:pt>
                <c:pt idx="1365">
                  <c:v>12</c:v>
                </c:pt>
                <c:pt idx="1366">
                  <c:v>12.09</c:v>
                </c:pt>
                <c:pt idx="1367">
                  <c:v>11.98</c:v>
                </c:pt>
                <c:pt idx="1368">
                  <c:v>8.58</c:v>
                </c:pt>
                <c:pt idx="1369">
                  <c:v>8.67</c:v>
                </c:pt>
                <c:pt idx="1370">
                  <c:v>12</c:v>
                </c:pt>
                <c:pt idx="1371">
                  <c:v>10.97</c:v>
                </c:pt>
                <c:pt idx="1372">
                  <c:v>12</c:v>
                </c:pt>
                <c:pt idx="1373">
                  <c:v>10.7</c:v>
                </c:pt>
                <c:pt idx="1374">
                  <c:v>11.44</c:v>
                </c:pt>
                <c:pt idx="1375">
                  <c:v>10.24</c:v>
                </c:pt>
                <c:pt idx="1376">
                  <c:v>10.95</c:v>
                </c:pt>
                <c:pt idx="1377">
                  <c:v>10.5</c:v>
                </c:pt>
                <c:pt idx="1378">
                  <c:v>11.09</c:v>
                </c:pt>
                <c:pt idx="1379">
                  <c:v>11.09</c:v>
                </c:pt>
                <c:pt idx="1380">
                  <c:v>11.01</c:v>
                </c:pt>
                <c:pt idx="1381">
                  <c:v>12</c:v>
                </c:pt>
                <c:pt idx="1382">
                  <c:v>11.91</c:v>
                </c:pt>
                <c:pt idx="1383">
                  <c:v>10.7</c:v>
                </c:pt>
                <c:pt idx="1384">
                  <c:v>9.6999999999999993</c:v>
                </c:pt>
                <c:pt idx="1385">
                  <c:v>9.0399999999999991</c:v>
                </c:pt>
                <c:pt idx="1386">
                  <c:v>9.6999999999999993</c:v>
                </c:pt>
                <c:pt idx="1387">
                  <c:v>9.6999999999999993</c:v>
                </c:pt>
                <c:pt idx="1388">
                  <c:v>9.44</c:v>
                </c:pt>
                <c:pt idx="1389">
                  <c:v>9.74</c:v>
                </c:pt>
                <c:pt idx="1390">
                  <c:v>9.59</c:v>
                </c:pt>
                <c:pt idx="1391">
                  <c:v>9.1</c:v>
                </c:pt>
                <c:pt idx="1392">
                  <c:v>7.8</c:v>
                </c:pt>
                <c:pt idx="1393">
                  <c:v>7.61</c:v>
                </c:pt>
                <c:pt idx="1394">
                  <c:v>7.62</c:v>
                </c:pt>
                <c:pt idx="1395">
                  <c:v>7.61</c:v>
                </c:pt>
                <c:pt idx="1396">
                  <c:v>7.64</c:v>
                </c:pt>
                <c:pt idx="1397">
                  <c:v>7.73</c:v>
                </c:pt>
                <c:pt idx="1398">
                  <c:v>7.73</c:v>
                </c:pt>
                <c:pt idx="1399">
                  <c:v>7.83</c:v>
                </c:pt>
                <c:pt idx="1400">
                  <c:v>8.16</c:v>
                </c:pt>
                <c:pt idx="1401">
                  <c:v>8.01</c:v>
                </c:pt>
                <c:pt idx="1402">
                  <c:v>7.73</c:v>
                </c:pt>
                <c:pt idx="1403">
                  <c:v>7.65</c:v>
                </c:pt>
                <c:pt idx="1404">
                  <c:v>8.16</c:v>
                </c:pt>
                <c:pt idx="1405">
                  <c:v>8.14</c:v>
                </c:pt>
                <c:pt idx="1406">
                  <c:v>7.59</c:v>
                </c:pt>
                <c:pt idx="1407">
                  <c:v>8.17</c:v>
                </c:pt>
                <c:pt idx="1408">
                  <c:v>7.55</c:v>
                </c:pt>
                <c:pt idx="1409">
                  <c:v>9.23</c:v>
                </c:pt>
                <c:pt idx="1410">
                  <c:v>9.77</c:v>
                </c:pt>
                <c:pt idx="1411">
                  <c:v>10.63</c:v>
                </c:pt>
                <c:pt idx="1412">
                  <c:v>12.44</c:v>
                </c:pt>
                <c:pt idx="1413">
                  <c:v>12.09</c:v>
                </c:pt>
                <c:pt idx="1414">
                  <c:v>12.29</c:v>
                </c:pt>
                <c:pt idx="1415">
                  <c:v>12.07</c:v>
                </c:pt>
                <c:pt idx="1416">
                  <c:v>9.57</c:v>
                </c:pt>
                <c:pt idx="1417">
                  <c:v>9.27</c:v>
                </c:pt>
                <c:pt idx="1418">
                  <c:v>11.69</c:v>
                </c:pt>
                <c:pt idx="1419">
                  <c:v>11.17</c:v>
                </c:pt>
                <c:pt idx="1420">
                  <c:v>12.09</c:v>
                </c:pt>
                <c:pt idx="1421">
                  <c:v>10.9</c:v>
                </c:pt>
                <c:pt idx="1422">
                  <c:v>11.48</c:v>
                </c:pt>
                <c:pt idx="1423">
                  <c:v>10.28</c:v>
                </c:pt>
                <c:pt idx="1424">
                  <c:v>11.15</c:v>
                </c:pt>
                <c:pt idx="1425">
                  <c:v>10.5</c:v>
                </c:pt>
                <c:pt idx="1426">
                  <c:v>10.89</c:v>
                </c:pt>
                <c:pt idx="1427">
                  <c:v>10.53</c:v>
                </c:pt>
                <c:pt idx="1428">
                  <c:v>11.01</c:v>
                </c:pt>
                <c:pt idx="1429">
                  <c:v>11.98</c:v>
                </c:pt>
                <c:pt idx="1430">
                  <c:v>11.71</c:v>
                </c:pt>
                <c:pt idx="1431">
                  <c:v>10.3</c:v>
                </c:pt>
                <c:pt idx="1432">
                  <c:v>9.5</c:v>
                </c:pt>
                <c:pt idx="1433">
                  <c:v>8.69</c:v>
                </c:pt>
                <c:pt idx="1434">
                  <c:v>9.3000000000000007</c:v>
                </c:pt>
                <c:pt idx="1435">
                  <c:v>9.1</c:v>
                </c:pt>
                <c:pt idx="1436">
                  <c:v>9.0399999999999991</c:v>
                </c:pt>
                <c:pt idx="1437">
                  <c:v>9.5399999999999991</c:v>
                </c:pt>
                <c:pt idx="1438">
                  <c:v>9.19</c:v>
                </c:pt>
                <c:pt idx="1439">
                  <c:v>8.5500000000000007</c:v>
                </c:pt>
              </c:numCache>
            </c:numRef>
          </c:val>
          <c:smooth val="0"/>
          <c:extLst>
            <c:ext xmlns:c16="http://schemas.microsoft.com/office/drawing/2014/chart" uri="{C3380CC4-5D6E-409C-BE32-E72D297353CC}">
              <c16:uniqueId val="{00000000-4681-451B-A242-8620CB53D056}"/>
            </c:ext>
          </c:extLst>
        </c:ser>
        <c:dLbls>
          <c:showLegendKey val="0"/>
          <c:showVal val="0"/>
          <c:showCatName val="0"/>
          <c:showSerName val="0"/>
          <c:showPercent val="0"/>
          <c:showBubbleSize val="0"/>
        </c:dLbls>
        <c:smooth val="0"/>
        <c:axId val="697041120"/>
        <c:axId val="697037760"/>
      </c:lineChart>
      <c:catAx>
        <c:axId val="697041120"/>
        <c:scaling>
          <c:orientation val="minMax"/>
        </c:scaling>
        <c:delete val="1"/>
        <c:axPos val="b"/>
        <c:numFmt formatCode="General" sourceLinked="1"/>
        <c:majorTickMark val="none"/>
        <c:minorTickMark val="none"/>
        <c:tickLblPos val="nextTo"/>
        <c:crossAx val="697037760"/>
        <c:crosses val="autoZero"/>
        <c:auto val="1"/>
        <c:lblAlgn val="ctr"/>
        <c:lblOffset val="100"/>
        <c:noMultiLvlLbl val="0"/>
      </c:catAx>
      <c:valAx>
        <c:axId val="697037760"/>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en-US" altLang="ja-JP" sz="800" b="0" i="0" u="none" strike="noStrike" kern="1200" baseline="0">
                    <a:solidFill>
                      <a:sysClr val="windowText" lastClr="000000">
                        <a:lumMod val="65000"/>
                        <a:lumOff val="35000"/>
                      </a:sysClr>
                    </a:solidFill>
                  </a:rPr>
                  <a:t>spot price [yen/kWh]</a:t>
                </a:r>
                <a:endParaRPr lang="ja-JP" altLang="en-US"/>
              </a:p>
            </c:rich>
          </c:tx>
          <c:overlay val="0"/>
          <c:spPr>
            <a:noFill/>
            <a:ln>
              <a:noFill/>
            </a:ln>
            <a:effectLst/>
          </c:spPr>
          <c:txPr>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6970411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r>
              <a:rPr lang="en-US" altLang="ja-JP" sz="1000" dirty="0"/>
              <a:t>2022/4/1~2022/4/30</a:t>
            </a: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1162671086937708E-2"/>
          <c:y val="0.15838404716453236"/>
          <c:w val="0.88589627985518071"/>
          <c:h val="0.7668102628908624"/>
        </c:manualLayout>
      </c:layout>
      <c:lineChart>
        <c:grouping val="standard"/>
        <c:varyColors val="0"/>
        <c:ser>
          <c:idx val="0"/>
          <c:order val="0"/>
          <c:tx>
            <c:strRef>
              <c:f>'2022spot'!$C$1</c:f>
              <c:strCache>
                <c:ptCount val="1"/>
                <c:pt idx="0">
                  <c:v>spot price</c:v>
                </c:pt>
              </c:strCache>
            </c:strRef>
          </c:tx>
          <c:spPr>
            <a:ln w="12700" cap="rnd">
              <a:solidFill>
                <a:schemeClr val="accent1"/>
              </a:solidFill>
              <a:round/>
            </a:ln>
            <a:effectLst/>
          </c:spPr>
          <c:marker>
            <c:symbol val="none"/>
          </c:marker>
          <c:val>
            <c:numRef>
              <c:f>'2022spot'!$C$2:$C$1441</c:f>
              <c:numCache>
                <c:formatCode>General</c:formatCode>
                <c:ptCount val="1440"/>
                <c:pt idx="0">
                  <c:v>11.97</c:v>
                </c:pt>
                <c:pt idx="1">
                  <c:v>14.47</c:v>
                </c:pt>
                <c:pt idx="2">
                  <c:v>15</c:v>
                </c:pt>
                <c:pt idx="3">
                  <c:v>16.55</c:v>
                </c:pt>
                <c:pt idx="4">
                  <c:v>17.3</c:v>
                </c:pt>
                <c:pt idx="5">
                  <c:v>14.77</c:v>
                </c:pt>
                <c:pt idx="6">
                  <c:v>14.89</c:v>
                </c:pt>
                <c:pt idx="7">
                  <c:v>14.89</c:v>
                </c:pt>
                <c:pt idx="8">
                  <c:v>14.89</c:v>
                </c:pt>
                <c:pt idx="9">
                  <c:v>16.55</c:v>
                </c:pt>
                <c:pt idx="10">
                  <c:v>17.100000000000001</c:v>
                </c:pt>
                <c:pt idx="11">
                  <c:v>24.32</c:v>
                </c:pt>
                <c:pt idx="12">
                  <c:v>24.77</c:v>
                </c:pt>
                <c:pt idx="13">
                  <c:v>24.77</c:v>
                </c:pt>
                <c:pt idx="14">
                  <c:v>23.95</c:v>
                </c:pt>
                <c:pt idx="15">
                  <c:v>20.04</c:v>
                </c:pt>
                <c:pt idx="16">
                  <c:v>20</c:v>
                </c:pt>
                <c:pt idx="17">
                  <c:v>14.15</c:v>
                </c:pt>
                <c:pt idx="18">
                  <c:v>14.49</c:v>
                </c:pt>
                <c:pt idx="19">
                  <c:v>10.1</c:v>
                </c:pt>
                <c:pt idx="20">
                  <c:v>1</c:v>
                </c:pt>
                <c:pt idx="21">
                  <c:v>1.3</c:v>
                </c:pt>
                <c:pt idx="22">
                  <c:v>0.01</c:v>
                </c:pt>
                <c:pt idx="23">
                  <c:v>0.01</c:v>
                </c:pt>
                <c:pt idx="24">
                  <c:v>0.01</c:v>
                </c:pt>
                <c:pt idx="25">
                  <c:v>0.01</c:v>
                </c:pt>
                <c:pt idx="26">
                  <c:v>0.01</c:v>
                </c:pt>
                <c:pt idx="27">
                  <c:v>0.01</c:v>
                </c:pt>
                <c:pt idx="28">
                  <c:v>0.01</c:v>
                </c:pt>
                <c:pt idx="29">
                  <c:v>0.01</c:v>
                </c:pt>
                <c:pt idx="30">
                  <c:v>0.01</c:v>
                </c:pt>
                <c:pt idx="31">
                  <c:v>9.75</c:v>
                </c:pt>
                <c:pt idx="32">
                  <c:v>14.28</c:v>
                </c:pt>
                <c:pt idx="33">
                  <c:v>24.01</c:v>
                </c:pt>
                <c:pt idx="34">
                  <c:v>24.28</c:v>
                </c:pt>
                <c:pt idx="35">
                  <c:v>28.32</c:v>
                </c:pt>
                <c:pt idx="36">
                  <c:v>35</c:v>
                </c:pt>
                <c:pt idx="37">
                  <c:v>36.21</c:v>
                </c:pt>
                <c:pt idx="38">
                  <c:v>28.32</c:v>
                </c:pt>
                <c:pt idx="39">
                  <c:v>28.32</c:v>
                </c:pt>
                <c:pt idx="40">
                  <c:v>28.32</c:v>
                </c:pt>
                <c:pt idx="41">
                  <c:v>26.79</c:v>
                </c:pt>
                <c:pt idx="42">
                  <c:v>26.92</c:v>
                </c:pt>
                <c:pt idx="43">
                  <c:v>25.01</c:v>
                </c:pt>
                <c:pt idx="44">
                  <c:v>28.32</c:v>
                </c:pt>
                <c:pt idx="45">
                  <c:v>26.03</c:v>
                </c:pt>
                <c:pt idx="46">
                  <c:v>24.28</c:v>
                </c:pt>
                <c:pt idx="47">
                  <c:v>18.38</c:v>
                </c:pt>
                <c:pt idx="48">
                  <c:v>23.81</c:v>
                </c:pt>
                <c:pt idx="49">
                  <c:v>23.81</c:v>
                </c:pt>
                <c:pt idx="50">
                  <c:v>24.18</c:v>
                </c:pt>
                <c:pt idx="51">
                  <c:v>24.18</c:v>
                </c:pt>
                <c:pt idx="52">
                  <c:v>24.18</c:v>
                </c:pt>
                <c:pt idx="53">
                  <c:v>24.18</c:v>
                </c:pt>
                <c:pt idx="54">
                  <c:v>24.18</c:v>
                </c:pt>
                <c:pt idx="55">
                  <c:v>26.06</c:v>
                </c:pt>
                <c:pt idx="56">
                  <c:v>26.79</c:v>
                </c:pt>
                <c:pt idx="57">
                  <c:v>26.79</c:v>
                </c:pt>
                <c:pt idx="58">
                  <c:v>26.79</c:v>
                </c:pt>
                <c:pt idx="59">
                  <c:v>26.79</c:v>
                </c:pt>
                <c:pt idx="60">
                  <c:v>23.92</c:v>
                </c:pt>
                <c:pt idx="61">
                  <c:v>23.81</c:v>
                </c:pt>
                <c:pt idx="62">
                  <c:v>22.05</c:v>
                </c:pt>
                <c:pt idx="63">
                  <c:v>18.38</c:v>
                </c:pt>
                <c:pt idx="64">
                  <c:v>11.21</c:v>
                </c:pt>
                <c:pt idx="65">
                  <c:v>9.39</c:v>
                </c:pt>
                <c:pt idx="66">
                  <c:v>0.01</c:v>
                </c:pt>
                <c:pt idx="67">
                  <c:v>0.01</c:v>
                </c:pt>
                <c:pt idx="68">
                  <c:v>0.01</c:v>
                </c:pt>
                <c:pt idx="69">
                  <c:v>0.01</c:v>
                </c:pt>
                <c:pt idx="70">
                  <c:v>0.01</c:v>
                </c:pt>
                <c:pt idx="71">
                  <c:v>0.01</c:v>
                </c:pt>
                <c:pt idx="72">
                  <c:v>0.01</c:v>
                </c:pt>
                <c:pt idx="73">
                  <c:v>0.01</c:v>
                </c:pt>
                <c:pt idx="74">
                  <c:v>0.01</c:v>
                </c:pt>
                <c:pt idx="75">
                  <c:v>0.01</c:v>
                </c:pt>
                <c:pt idx="76">
                  <c:v>0.01</c:v>
                </c:pt>
                <c:pt idx="77">
                  <c:v>0.01</c:v>
                </c:pt>
                <c:pt idx="78">
                  <c:v>0.01</c:v>
                </c:pt>
                <c:pt idx="79">
                  <c:v>0.01</c:v>
                </c:pt>
                <c:pt idx="80">
                  <c:v>7.61</c:v>
                </c:pt>
                <c:pt idx="81">
                  <c:v>14.99</c:v>
                </c:pt>
                <c:pt idx="82">
                  <c:v>23.81</c:v>
                </c:pt>
                <c:pt idx="83">
                  <c:v>23.91</c:v>
                </c:pt>
                <c:pt idx="84">
                  <c:v>24.28</c:v>
                </c:pt>
                <c:pt idx="85">
                  <c:v>25.91</c:v>
                </c:pt>
                <c:pt idx="86">
                  <c:v>25.87</c:v>
                </c:pt>
                <c:pt idx="87">
                  <c:v>23.92</c:v>
                </c:pt>
                <c:pt idx="88">
                  <c:v>23.92</c:v>
                </c:pt>
                <c:pt idx="89">
                  <c:v>23.92</c:v>
                </c:pt>
                <c:pt idx="90">
                  <c:v>23.92</c:v>
                </c:pt>
                <c:pt idx="91">
                  <c:v>23.91</c:v>
                </c:pt>
                <c:pt idx="92">
                  <c:v>23.81</c:v>
                </c:pt>
                <c:pt idx="93">
                  <c:v>19.13</c:v>
                </c:pt>
                <c:pt idx="94">
                  <c:v>19.13</c:v>
                </c:pt>
                <c:pt idx="95">
                  <c:v>16.440000000000001</c:v>
                </c:pt>
                <c:pt idx="96">
                  <c:v>19.27</c:v>
                </c:pt>
                <c:pt idx="97">
                  <c:v>19.27</c:v>
                </c:pt>
                <c:pt idx="98">
                  <c:v>20.21</c:v>
                </c:pt>
                <c:pt idx="99">
                  <c:v>23.81</c:v>
                </c:pt>
                <c:pt idx="100">
                  <c:v>23.81</c:v>
                </c:pt>
                <c:pt idx="101">
                  <c:v>24.02</c:v>
                </c:pt>
                <c:pt idx="102">
                  <c:v>20.21</c:v>
                </c:pt>
                <c:pt idx="103">
                  <c:v>20.21</c:v>
                </c:pt>
                <c:pt idx="104">
                  <c:v>24.18</c:v>
                </c:pt>
                <c:pt idx="105">
                  <c:v>24.18</c:v>
                </c:pt>
                <c:pt idx="106">
                  <c:v>23.81</c:v>
                </c:pt>
                <c:pt idx="107">
                  <c:v>23.81</c:v>
                </c:pt>
                <c:pt idx="108">
                  <c:v>20.21</c:v>
                </c:pt>
                <c:pt idx="109">
                  <c:v>17.13</c:v>
                </c:pt>
                <c:pt idx="110">
                  <c:v>11.39</c:v>
                </c:pt>
                <c:pt idx="111">
                  <c:v>9.75</c:v>
                </c:pt>
                <c:pt idx="112">
                  <c:v>9.75</c:v>
                </c:pt>
                <c:pt idx="113">
                  <c:v>9.18</c:v>
                </c:pt>
                <c:pt idx="114">
                  <c:v>7.61</c:v>
                </c:pt>
                <c:pt idx="115">
                  <c:v>0.01</c:v>
                </c:pt>
                <c:pt idx="116">
                  <c:v>2</c:v>
                </c:pt>
                <c:pt idx="117">
                  <c:v>5.4</c:v>
                </c:pt>
                <c:pt idx="118">
                  <c:v>7.61</c:v>
                </c:pt>
                <c:pt idx="119">
                  <c:v>5</c:v>
                </c:pt>
                <c:pt idx="120">
                  <c:v>2</c:v>
                </c:pt>
                <c:pt idx="121">
                  <c:v>4.6500000000000004</c:v>
                </c:pt>
                <c:pt idx="122">
                  <c:v>2</c:v>
                </c:pt>
                <c:pt idx="123">
                  <c:v>1</c:v>
                </c:pt>
                <c:pt idx="124">
                  <c:v>2</c:v>
                </c:pt>
                <c:pt idx="125">
                  <c:v>0.01</c:v>
                </c:pt>
                <c:pt idx="126">
                  <c:v>1</c:v>
                </c:pt>
                <c:pt idx="127">
                  <c:v>9.18</c:v>
                </c:pt>
                <c:pt idx="128">
                  <c:v>5.44</c:v>
                </c:pt>
                <c:pt idx="129">
                  <c:v>10.98</c:v>
                </c:pt>
                <c:pt idx="130">
                  <c:v>18.38</c:v>
                </c:pt>
                <c:pt idx="131">
                  <c:v>23.44</c:v>
                </c:pt>
                <c:pt idx="132">
                  <c:v>23.45</c:v>
                </c:pt>
                <c:pt idx="133">
                  <c:v>23.45</c:v>
                </c:pt>
                <c:pt idx="134">
                  <c:v>23.81</c:v>
                </c:pt>
                <c:pt idx="135">
                  <c:v>23.81</c:v>
                </c:pt>
                <c:pt idx="136">
                  <c:v>23.81</c:v>
                </c:pt>
                <c:pt idx="137">
                  <c:v>23.45</c:v>
                </c:pt>
                <c:pt idx="138">
                  <c:v>23.45</c:v>
                </c:pt>
                <c:pt idx="139">
                  <c:v>23.45</c:v>
                </c:pt>
                <c:pt idx="140">
                  <c:v>26.79</c:v>
                </c:pt>
                <c:pt idx="141">
                  <c:v>23.81</c:v>
                </c:pt>
                <c:pt idx="142">
                  <c:v>24.28</c:v>
                </c:pt>
                <c:pt idx="143">
                  <c:v>18.899999999999999</c:v>
                </c:pt>
                <c:pt idx="144">
                  <c:v>14.77</c:v>
                </c:pt>
                <c:pt idx="145">
                  <c:v>16.47</c:v>
                </c:pt>
                <c:pt idx="146">
                  <c:v>16.86</c:v>
                </c:pt>
                <c:pt idx="147">
                  <c:v>16.47</c:v>
                </c:pt>
                <c:pt idx="148">
                  <c:v>16.86</c:v>
                </c:pt>
                <c:pt idx="149">
                  <c:v>20</c:v>
                </c:pt>
                <c:pt idx="150">
                  <c:v>24.18</c:v>
                </c:pt>
                <c:pt idx="151">
                  <c:v>20.25</c:v>
                </c:pt>
                <c:pt idx="152">
                  <c:v>19.27</c:v>
                </c:pt>
                <c:pt idx="153">
                  <c:v>20.21</c:v>
                </c:pt>
                <c:pt idx="154">
                  <c:v>24.18</c:v>
                </c:pt>
                <c:pt idx="155">
                  <c:v>26.8</c:v>
                </c:pt>
                <c:pt idx="156">
                  <c:v>34.43</c:v>
                </c:pt>
                <c:pt idx="157">
                  <c:v>39.57</c:v>
                </c:pt>
                <c:pt idx="158">
                  <c:v>34.43</c:v>
                </c:pt>
                <c:pt idx="159">
                  <c:v>26.92</c:v>
                </c:pt>
                <c:pt idx="160">
                  <c:v>23.81</c:v>
                </c:pt>
                <c:pt idx="161">
                  <c:v>20.21</c:v>
                </c:pt>
                <c:pt idx="162">
                  <c:v>20.07</c:v>
                </c:pt>
                <c:pt idx="163">
                  <c:v>19.66</c:v>
                </c:pt>
                <c:pt idx="164">
                  <c:v>16.86</c:v>
                </c:pt>
                <c:pt idx="165">
                  <c:v>17.13</c:v>
                </c:pt>
                <c:pt idx="166">
                  <c:v>14.99</c:v>
                </c:pt>
                <c:pt idx="167">
                  <c:v>11.53</c:v>
                </c:pt>
                <c:pt idx="168">
                  <c:v>10.1</c:v>
                </c:pt>
                <c:pt idx="169">
                  <c:v>9.75</c:v>
                </c:pt>
                <c:pt idx="170">
                  <c:v>11.32</c:v>
                </c:pt>
                <c:pt idx="171">
                  <c:v>12.26</c:v>
                </c:pt>
                <c:pt idx="172">
                  <c:v>18.38</c:v>
                </c:pt>
                <c:pt idx="173">
                  <c:v>19.66</c:v>
                </c:pt>
                <c:pt idx="174">
                  <c:v>16.440000000000001</c:v>
                </c:pt>
                <c:pt idx="175">
                  <c:v>19.66</c:v>
                </c:pt>
                <c:pt idx="176">
                  <c:v>19.66</c:v>
                </c:pt>
                <c:pt idx="177">
                  <c:v>29.01</c:v>
                </c:pt>
                <c:pt idx="178">
                  <c:v>39.68</c:v>
                </c:pt>
                <c:pt idx="179">
                  <c:v>40.6</c:v>
                </c:pt>
                <c:pt idx="180">
                  <c:v>45</c:v>
                </c:pt>
                <c:pt idx="181">
                  <c:v>45.03</c:v>
                </c:pt>
                <c:pt idx="182">
                  <c:v>40.26</c:v>
                </c:pt>
                <c:pt idx="183">
                  <c:v>40</c:v>
                </c:pt>
                <c:pt idx="184">
                  <c:v>39.83</c:v>
                </c:pt>
                <c:pt idx="185">
                  <c:v>39.78</c:v>
                </c:pt>
                <c:pt idx="186">
                  <c:v>39.700000000000003</c:v>
                </c:pt>
                <c:pt idx="187">
                  <c:v>39.28</c:v>
                </c:pt>
                <c:pt idx="188">
                  <c:v>38.25</c:v>
                </c:pt>
                <c:pt idx="189">
                  <c:v>26.79</c:v>
                </c:pt>
                <c:pt idx="190">
                  <c:v>23.81</c:v>
                </c:pt>
                <c:pt idx="191">
                  <c:v>18.38</c:v>
                </c:pt>
                <c:pt idx="192">
                  <c:v>18.38</c:v>
                </c:pt>
                <c:pt idx="193">
                  <c:v>18.38</c:v>
                </c:pt>
                <c:pt idx="194">
                  <c:v>20</c:v>
                </c:pt>
                <c:pt idx="195">
                  <c:v>20.07</c:v>
                </c:pt>
                <c:pt idx="196">
                  <c:v>20.07</c:v>
                </c:pt>
                <c:pt idx="197">
                  <c:v>20.21</c:v>
                </c:pt>
                <c:pt idx="198">
                  <c:v>24.18</c:v>
                </c:pt>
                <c:pt idx="199">
                  <c:v>24.18</c:v>
                </c:pt>
                <c:pt idx="200">
                  <c:v>20.21</c:v>
                </c:pt>
                <c:pt idx="201">
                  <c:v>23.81</c:v>
                </c:pt>
                <c:pt idx="202">
                  <c:v>26.06</c:v>
                </c:pt>
                <c:pt idx="203">
                  <c:v>31.84</c:v>
                </c:pt>
                <c:pt idx="204">
                  <c:v>39.93</c:v>
                </c:pt>
                <c:pt idx="205">
                  <c:v>31</c:v>
                </c:pt>
                <c:pt idx="206">
                  <c:v>24.28</c:v>
                </c:pt>
                <c:pt idx="207">
                  <c:v>19.89</c:v>
                </c:pt>
                <c:pt idx="208">
                  <c:v>16.440000000000001</c:v>
                </c:pt>
                <c:pt idx="209">
                  <c:v>13.88</c:v>
                </c:pt>
                <c:pt idx="210">
                  <c:v>11.24</c:v>
                </c:pt>
                <c:pt idx="211">
                  <c:v>10.34</c:v>
                </c:pt>
                <c:pt idx="212">
                  <c:v>9.75</c:v>
                </c:pt>
                <c:pt idx="213">
                  <c:v>9.75</c:v>
                </c:pt>
                <c:pt idx="214">
                  <c:v>9.39</c:v>
                </c:pt>
                <c:pt idx="215">
                  <c:v>9.39</c:v>
                </c:pt>
                <c:pt idx="216">
                  <c:v>1.3</c:v>
                </c:pt>
                <c:pt idx="217">
                  <c:v>0.01</c:v>
                </c:pt>
                <c:pt idx="218">
                  <c:v>9.39</c:v>
                </c:pt>
                <c:pt idx="219">
                  <c:v>9.39</c:v>
                </c:pt>
                <c:pt idx="220">
                  <c:v>9.39</c:v>
                </c:pt>
                <c:pt idx="221">
                  <c:v>9.75</c:v>
                </c:pt>
                <c:pt idx="222">
                  <c:v>2</c:v>
                </c:pt>
                <c:pt idx="223">
                  <c:v>10.1</c:v>
                </c:pt>
                <c:pt idx="224">
                  <c:v>12.29</c:v>
                </c:pt>
                <c:pt idx="225">
                  <c:v>24.18</c:v>
                </c:pt>
                <c:pt idx="226">
                  <c:v>24.45</c:v>
                </c:pt>
                <c:pt idx="227">
                  <c:v>35</c:v>
                </c:pt>
                <c:pt idx="228">
                  <c:v>38.24</c:v>
                </c:pt>
                <c:pt idx="229">
                  <c:v>39.479999999999997</c:v>
                </c:pt>
                <c:pt idx="230">
                  <c:v>32.57</c:v>
                </c:pt>
                <c:pt idx="231">
                  <c:v>29.87</c:v>
                </c:pt>
                <c:pt idx="232">
                  <c:v>30</c:v>
                </c:pt>
                <c:pt idx="233">
                  <c:v>26.79</c:v>
                </c:pt>
                <c:pt idx="234">
                  <c:v>25.87</c:v>
                </c:pt>
                <c:pt idx="235">
                  <c:v>24.45</c:v>
                </c:pt>
                <c:pt idx="236">
                  <c:v>29.73</c:v>
                </c:pt>
                <c:pt idx="237">
                  <c:v>19.13</c:v>
                </c:pt>
                <c:pt idx="238">
                  <c:v>18.38</c:v>
                </c:pt>
                <c:pt idx="239">
                  <c:v>14.99</c:v>
                </c:pt>
                <c:pt idx="240">
                  <c:v>12.45</c:v>
                </c:pt>
                <c:pt idx="241">
                  <c:v>12.66</c:v>
                </c:pt>
                <c:pt idx="242">
                  <c:v>15.73</c:v>
                </c:pt>
                <c:pt idx="243">
                  <c:v>16.73</c:v>
                </c:pt>
                <c:pt idx="244">
                  <c:v>17.13</c:v>
                </c:pt>
                <c:pt idx="245">
                  <c:v>18.38</c:v>
                </c:pt>
                <c:pt idx="246">
                  <c:v>20.21</c:v>
                </c:pt>
                <c:pt idx="247">
                  <c:v>20.21</c:v>
                </c:pt>
                <c:pt idx="248">
                  <c:v>20.21</c:v>
                </c:pt>
                <c:pt idx="249">
                  <c:v>26.79</c:v>
                </c:pt>
                <c:pt idx="250">
                  <c:v>20.21</c:v>
                </c:pt>
                <c:pt idx="251">
                  <c:v>20.21</c:v>
                </c:pt>
                <c:pt idx="252">
                  <c:v>20.07</c:v>
                </c:pt>
                <c:pt idx="253">
                  <c:v>16.47</c:v>
                </c:pt>
                <c:pt idx="254">
                  <c:v>16.440000000000001</c:v>
                </c:pt>
                <c:pt idx="255">
                  <c:v>11.53</c:v>
                </c:pt>
                <c:pt idx="256">
                  <c:v>10.1</c:v>
                </c:pt>
                <c:pt idx="257">
                  <c:v>7.48</c:v>
                </c:pt>
                <c:pt idx="258">
                  <c:v>2</c:v>
                </c:pt>
                <c:pt idx="259">
                  <c:v>0.01</c:v>
                </c:pt>
                <c:pt idx="260">
                  <c:v>0.01</c:v>
                </c:pt>
                <c:pt idx="261">
                  <c:v>0.01</c:v>
                </c:pt>
                <c:pt idx="262">
                  <c:v>0.01</c:v>
                </c:pt>
                <c:pt idx="263">
                  <c:v>0.01</c:v>
                </c:pt>
                <c:pt idx="264">
                  <c:v>0.01</c:v>
                </c:pt>
                <c:pt idx="265">
                  <c:v>0.01</c:v>
                </c:pt>
                <c:pt idx="266">
                  <c:v>0.01</c:v>
                </c:pt>
                <c:pt idx="267">
                  <c:v>0.01</c:v>
                </c:pt>
                <c:pt idx="268">
                  <c:v>0.01</c:v>
                </c:pt>
                <c:pt idx="269">
                  <c:v>0.01</c:v>
                </c:pt>
                <c:pt idx="270">
                  <c:v>0.01</c:v>
                </c:pt>
                <c:pt idx="271">
                  <c:v>9.39</c:v>
                </c:pt>
                <c:pt idx="272">
                  <c:v>9.92</c:v>
                </c:pt>
                <c:pt idx="273">
                  <c:v>16.29</c:v>
                </c:pt>
                <c:pt idx="274">
                  <c:v>24.28</c:v>
                </c:pt>
                <c:pt idx="275">
                  <c:v>24.45</c:v>
                </c:pt>
                <c:pt idx="276">
                  <c:v>24.46</c:v>
                </c:pt>
                <c:pt idx="277">
                  <c:v>24.46</c:v>
                </c:pt>
                <c:pt idx="278">
                  <c:v>24.46</c:v>
                </c:pt>
                <c:pt idx="279">
                  <c:v>24.45</c:v>
                </c:pt>
                <c:pt idx="280">
                  <c:v>24.45</c:v>
                </c:pt>
                <c:pt idx="281">
                  <c:v>24.45</c:v>
                </c:pt>
                <c:pt idx="282">
                  <c:v>24.45</c:v>
                </c:pt>
                <c:pt idx="283">
                  <c:v>24.28</c:v>
                </c:pt>
                <c:pt idx="284">
                  <c:v>20.21</c:v>
                </c:pt>
                <c:pt idx="285">
                  <c:v>16.73</c:v>
                </c:pt>
                <c:pt idx="286">
                  <c:v>16.47</c:v>
                </c:pt>
                <c:pt idx="287">
                  <c:v>12.26</c:v>
                </c:pt>
                <c:pt idx="288">
                  <c:v>16.86</c:v>
                </c:pt>
                <c:pt idx="289">
                  <c:v>17.3</c:v>
                </c:pt>
                <c:pt idx="290">
                  <c:v>18.38</c:v>
                </c:pt>
                <c:pt idx="291">
                  <c:v>24.18</c:v>
                </c:pt>
                <c:pt idx="292">
                  <c:v>24.18</c:v>
                </c:pt>
                <c:pt idx="293">
                  <c:v>26.06</c:v>
                </c:pt>
                <c:pt idx="294">
                  <c:v>26.79</c:v>
                </c:pt>
                <c:pt idx="295">
                  <c:v>28.89</c:v>
                </c:pt>
                <c:pt idx="296">
                  <c:v>26.79</c:v>
                </c:pt>
                <c:pt idx="297">
                  <c:v>26.92</c:v>
                </c:pt>
                <c:pt idx="298">
                  <c:v>30</c:v>
                </c:pt>
                <c:pt idx="299">
                  <c:v>30.18</c:v>
                </c:pt>
                <c:pt idx="300">
                  <c:v>26.79</c:v>
                </c:pt>
                <c:pt idx="301">
                  <c:v>23.81</c:v>
                </c:pt>
                <c:pt idx="302">
                  <c:v>23.56</c:v>
                </c:pt>
                <c:pt idx="303">
                  <c:v>18.38</c:v>
                </c:pt>
                <c:pt idx="304">
                  <c:v>16.29</c:v>
                </c:pt>
                <c:pt idx="305">
                  <c:v>16.29</c:v>
                </c:pt>
                <c:pt idx="306">
                  <c:v>16.29</c:v>
                </c:pt>
                <c:pt idx="307">
                  <c:v>11.39</c:v>
                </c:pt>
                <c:pt idx="308">
                  <c:v>9.75</c:v>
                </c:pt>
                <c:pt idx="309">
                  <c:v>10.1</c:v>
                </c:pt>
                <c:pt idx="310">
                  <c:v>9.75</c:v>
                </c:pt>
                <c:pt idx="311">
                  <c:v>9.39</c:v>
                </c:pt>
                <c:pt idx="312">
                  <c:v>0.01</c:v>
                </c:pt>
                <c:pt idx="313">
                  <c:v>0.01</c:v>
                </c:pt>
                <c:pt idx="314">
                  <c:v>9.18</c:v>
                </c:pt>
                <c:pt idx="315">
                  <c:v>9.39</c:v>
                </c:pt>
                <c:pt idx="316">
                  <c:v>9.75</c:v>
                </c:pt>
                <c:pt idx="317">
                  <c:v>10.1</c:v>
                </c:pt>
                <c:pt idx="318">
                  <c:v>10.1</c:v>
                </c:pt>
                <c:pt idx="319">
                  <c:v>12.45</c:v>
                </c:pt>
                <c:pt idx="320">
                  <c:v>16.29</c:v>
                </c:pt>
                <c:pt idx="321">
                  <c:v>23.56</c:v>
                </c:pt>
                <c:pt idx="322">
                  <c:v>24.28</c:v>
                </c:pt>
                <c:pt idx="323">
                  <c:v>32.159999999999997</c:v>
                </c:pt>
                <c:pt idx="324">
                  <c:v>35</c:v>
                </c:pt>
                <c:pt idx="325">
                  <c:v>39.58</c:v>
                </c:pt>
                <c:pt idx="326">
                  <c:v>32.57</c:v>
                </c:pt>
                <c:pt idx="327">
                  <c:v>31.05</c:v>
                </c:pt>
                <c:pt idx="328">
                  <c:v>31.84</c:v>
                </c:pt>
                <c:pt idx="329">
                  <c:v>27.67</c:v>
                </c:pt>
                <c:pt idx="330">
                  <c:v>30.28</c:v>
                </c:pt>
                <c:pt idx="331">
                  <c:v>26.79</c:v>
                </c:pt>
                <c:pt idx="332">
                  <c:v>30.96</c:v>
                </c:pt>
                <c:pt idx="333">
                  <c:v>25.87</c:v>
                </c:pt>
                <c:pt idx="334">
                  <c:v>23.81</c:v>
                </c:pt>
                <c:pt idx="335">
                  <c:v>17.13</c:v>
                </c:pt>
                <c:pt idx="336">
                  <c:v>16.73</c:v>
                </c:pt>
                <c:pt idx="337">
                  <c:v>17.13</c:v>
                </c:pt>
                <c:pt idx="338">
                  <c:v>18.38</c:v>
                </c:pt>
                <c:pt idx="339">
                  <c:v>20.07</c:v>
                </c:pt>
                <c:pt idx="340">
                  <c:v>24.18</c:v>
                </c:pt>
                <c:pt idx="341">
                  <c:v>26.06</c:v>
                </c:pt>
                <c:pt idx="342">
                  <c:v>26.79</c:v>
                </c:pt>
                <c:pt idx="343">
                  <c:v>26.79</c:v>
                </c:pt>
                <c:pt idx="344">
                  <c:v>26.06</c:v>
                </c:pt>
                <c:pt idx="345">
                  <c:v>26.06</c:v>
                </c:pt>
                <c:pt idx="346">
                  <c:v>26.79</c:v>
                </c:pt>
                <c:pt idx="347">
                  <c:v>29.81</c:v>
                </c:pt>
                <c:pt idx="348">
                  <c:v>23.68</c:v>
                </c:pt>
                <c:pt idx="349">
                  <c:v>23.67</c:v>
                </c:pt>
                <c:pt idx="350">
                  <c:v>19.13</c:v>
                </c:pt>
                <c:pt idx="351">
                  <c:v>16.47</c:v>
                </c:pt>
                <c:pt idx="352">
                  <c:v>10.77</c:v>
                </c:pt>
                <c:pt idx="353">
                  <c:v>10.1</c:v>
                </c:pt>
                <c:pt idx="354">
                  <c:v>9.75</c:v>
                </c:pt>
                <c:pt idx="355">
                  <c:v>8.3000000000000007</c:v>
                </c:pt>
                <c:pt idx="356">
                  <c:v>1.3</c:v>
                </c:pt>
                <c:pt idx="357">
                  <c:v>2</c:v>
                </c:pt>
                <c:pt idx="358">
                  <c:v>2</c:v>
                </c:pt>
                <c:pt idx="359">
                  <c:v>0.03</c:v>
                </c:pt>
                <c:pt idx="360">
                  <c:v>0.01</c:v>
                </c:pt>
                <c:pt idx="361">
                  <c:v>0.01</c:v>
                </c:pt>
                <c:pt idx="362">
                  <c:v>0.01</c:v>
                </c:pt>
                <c:pt idx="363">
                  <c:v>0.05</c:v>
                </c:pt>
                <c:pt idx="364">
                  <c:v>4.6500000000000004</c:v>
                </c:pt>
                <c:pt idx="365">
                  <c:v>0.17</c:v>
                </c:pt>
                <c:pt idx="366">
                  <c:v>8.69</c:v>
                </c:pt>
                <c:pt idx="367">
                  <c:v>10.1</c:v>
                </c:pt>
                <c:pt idx="368">
                  <c:v>14.99</c:v>
                </c:pt>
                <c:pt idx="369">
                  <c:v>23.68</c:v>
                </c:pt>
                <c:pt idx="370">
                  <c:v>24.28</c:v>
                </c:pt>
                <c:pt idx="371">
                  <c:v>32.159999999999997</c:v>
                </c:pt>
                <c:pt idx="372">
                  <c:v>30.48</c:v>
                </c:pt>
                <c:pt idx="373">
                  <c:v>31.84</c:v>
                </c:pt>
                <c:pt idx="374">
                  <c:v>27.67</c:v>
                </c:pt>
                <c:pt idx="375">
                  <c:v>26.79</c:v>
                </c:pt>
                <c:pt idx="376">
                  <c:v>26.79</c:v>
                </c:pt>
                <c:pt idx="377">
                  <c:v>25.01</c:v>
                </c:pt>
                <c:pt idx="378">
                  <c:v>26.79</c:v>
                </c:pt>
                <c:pt idx="379">
                  <c:v>26.79</c:v>
                </c:pt>
                <c:pt idx="380">
                  <c:v>31.75</c:v>
                </c:pt>
                <c:pt idx="381">
                  <c:v>29.5</c:v>
                </c:pt>
                <c:pt idx="382">
                  <c:v>29.02</c:v>
                </c:pt>
                <c:pt idx="383">
                  <c:v>19.13</c:v>
                </c:pt>
                <c:pt idx="384">
                  <c:v>23.27</c:v>
                </c:pt>
                <c:pt idx="385">
                  <c:v>23.27</c:v>
                </c:pt>
                <c:pt idx="386">
                  <c:v>24.47</c:v>
                </c:pt>
                <c:pt idx="387">
                  <c:v>23.27</c:v>
                </c:pt>
                <c:pt idx="388">
                  <c:v>23.27</c:v>
                </c:pt>
                <c:pt idx="389">
                  <c:v>24.94</c:v>
                </c:pt>
                <c:pt idx="390">
                  <c:v>24.23</c:v>
                </c:pt>
                <c:pt idx="391">
                  <c:v>20.58</c:v>
                </c:pt>
                <c:pt idx="392">
                  <c:v>20.58</c:v>
                </c:pt>
                <c:pt idx="393">
                  <c:v>21.67</c:v>
                </c:pt>
                <c:pt idx="394">
                  <c:v>20.25</c:v>
                </c:pt>
                <c:pt idx="395">
                  <c:v>23.57</c:v>
                </c:pt>
                <c:pt idx="396">
                  <c:v>20.25</c:v>
                </c:pt>
                <c:pt idx="397">
                  <c:v>10.85</c:v>
                </c:pt>
                <c:pt idx="398">
                  <c:v>0.16</c:v>
                </c:pt>
                <c:pt idx="399">
                  <c:v>0.01</c:v>
                </c:pt>
                <c:pt idx="400">
                  <c:v>0.01</c:v>
                </c:pt>
                <c:pt idx="401">
                  <c:v>0.01</c:v>
                </c:pt>
                <c:pt idx="402">
                  <c:v>0.01</c:v>
                </c:pt>
                <c:pt idx="403">
                  <c:v>0.01</c:v>
                </c:pt>
                <c:pt idx="404">
                  <c:v>0.01</c:v>
                </c:pt>
                <c:pt idx="405">
                  <c:v>0.01</c:v>
                </c:pt>
                <c:pt idx="406">
                  <c:v>0.01</c:v>
                </c:pt>
                <c:pt idx="407">
                  <c:v>0.01</c:v>
                </c:pt>
                <c:pt idx="408">
                  <c:v>0.01</c:v>
                </c:pt>
                <c:pt idx="409">
                  <c:v>0.01</c:v>
                </c:pt>
                <c:pt idx="410">
                  <c:v>0.01</c:v>
                </c:pt>
                <c:pt idx="411">
                  <c:v>0.01</c:v>
                </c:pt>
                <c:pt idx="412">
                  <c:v>0.01</c:v>
                </c:pt>
                <c:pt idx="413">
                  <c:v>0.01</c:v>
                </c:pt>
                <c:pt idx="414">
                  <c:v>0.01</c:v>
                </c:pt>
                <c:pt idx="415">
                  <c:v>0.01</c:v>
                </c:pt>
                <c:pt idx="416">
                  <c:v>0.01</c:v>
                </c:pt>
                <c:pt idx="417">
                  <c:v>0.45</c:v>
                </c:pt>
                <c:pt idx="418">
                  <c:v>11.36</c:v>
                </c:pt>
                <c:pt idx="419">
                  <c:v>23.27</c:v>
                </c:pt>
                <c:pt idx="420">
                  <c:v>23.39</c:v>
                </c:pt>
                <c:pt idx="421">
                  <c:v>23.39</c:v>
                </c:pt>
                <c:pt idx="422">
                  <c:v>23.39</c:v>
                </c:pt>
                <c:pt idx="423">
                  <c:v>23.38</c:v>
                </c:pt>
                <c:pt idx="424">
                  <c:v>23.38</c:v>
                </c:pt>
                <c:pt idx="425">
                  <c:v>23.27</c:v>
                </c:pt>
                <c:pt idx="426">
                  <c:v>19.48</c:v>
                </c:pt>
                <c:pt idx="427">
                  <c:v>18.38</c:v>
                </c:pt>
                <c:pt idx="428">
                  <c:v>18.38</c:v>
                </c:pt>
                <c:pt idx="429">
                  <c:v>16.78</c:v>
                </c:pt>
                <c:pt idx="430">
                  <c:v>16.55</c:v>
                </c:pt>
                <c:pt idx="431">
                  <c:v>11.21</c:v>
                </c:pt>
                <c:pt idx="432">
                  <c:v>9.5299999999999994</c:v>
                </c:pt>
                <c:pt idx="433">
                  <c:v>11.21</c:v>
                </c:pt>
                <c:pt idx="434">
                  <c:v>16.55</c:v>
                </c:pt>
                <c:pt idx="435">
                  <c:v>17.04</c:v>
                </c:pt>
                <c:pt idx="436">
                  <c:v>17.45</c:v>
                </c:pt>
                <c:pt idx="437">
                  <c:v>17.45</c:v>
                </c:pt>
                <c:pt idx="438">
                  <c:v>17.170000000000002</c:v>
                </c:pt>
                <c:pt idx="439">
                  <c:v>18.38</c:v>
                </c:pt>
                <c:pt idx="440">
                  <c:v>19.63</c:v>
                </c:pt>
                <c:pt idx="441">
                  <c:v>19.48</c:v>
                </c:pt>
                <c:pt idx="442">
                  <c:v>19.48</c:v>
                </c:pt>
                <c:pt idx="443">
                  <c:v>17.04</c:v>
                </c:pt>
                <c:pt idx="444">
                  <c:v>17.45</c:v>
                </c:pt>
                <c:pt idx="445">
                  <c:v>8.3000000000000007</c:v>
                </c:pt>
                <c:pt idx="446">
                  <c:v>8.41</c:v>
                </c:pt>
                <c:pt idx="447">
                  <c:v>0.01</c:v>
                </c:pt>
                <c:pt idx="448">
                  <c:v>0.01</c:v>
                </c:pt>
                <c:pt idx="449">
                  <c:v>0.01</c:v>
                </c:pt>
                <c:pt idx="450">
                  <c:v>0.01</c:v>
                </c:pt>
                <c:pt idx="451">
                  <c:v>0.01</c:v>
                </c:pt>
                <c:pt idx="452">
                  <c:v>0.01</c:v>
                </c:pt>
                <c:pt idx="453">
                  <c:v>0.01</c:v>
                </c:pt>
                <c:pt idx="454">
                  <c:v>0.01</c:v>
                </c:pt>
                <c:pt idx="455">
                  <c:v>0.01</c:v>
                </c:pt>
                <c:pt idx="456">
                  <c:v>0.01</c:v>
                </c:pt>
                <c:pt idx="457">
                  <c:v>0.01</c:v>
                </c:pt>
                <c:pt idx="458">
                  <c:v>0.01</c:v>
                </c:pt>
                <c:pt idx="459">
                  <c:v>0.01</c:v>
                </c:pt>
                <c:pt idx="460">
                  <c:v>0.01</c:v>
                </c:pt>
                <c:pt idx="461">
                  <c:v>0.01</c:v>
                </c:pt>
                <c:pt idx="462">
                  <c:v>0.01</c:v>
                </c:pt>
                <c:pt idx="463">
                  <c:v>0.01</c:v>
                </c:pt>
                <c:pt idx="464">
                  <c:v>0.03</c:v>
                </c:pt>
                <c:pt idx="465">
                  <c:v>14.76</c:v>
                </c:pt>
                <c:pt idx="466">
                  <c:v>16.78</c:v>
                </c:pt>
                <c:pt idx="467">
                  <c:v>20</c:v>
                </c:pt>
                <c:pt idx="468">
                  <c:v>18.38</c:v>
                </c:pt>
                <c:pt idx="469">
                  <c:v>22.74</c:v>
                </c:pt>
                <c:pt idx="470">
                  <c:v>22.74</c:v>
                </c:pt>
                <c:pt idx="471">
                  <c:v>22.74</c:v>
                </c:pt>
                <c:pt idx="472">
                  <c:v>22.74</c:v>
                </c:pt>
                <c:pt idx="473">
                  <c:v>19.23</c:v>
                </c:pt>
                <c:pt idx="474">
                  <c:v>18.28</c:v>
                </c:pt>
                <c:pt idx="475">
                  <c:v>16.11</c:v>
                </c:pt>
                <c:pt idx="476">
                  <c:v>14.99</c:v>
                </c:pt>
                <c:pt idx="477">
                  <c:v>10.72</c:v>
                </c:pt>
                <c:pt idx="478">
                  <c:v>10.76</c:v>
                </c:pt>
                <c:pt idx="479">
                  <c:v>8.92</c:v>
                </c:pt>
                <c:pt idx="480">
                  <c:v>10</c:v>
                </c:pt>
                <c:pt idx="481">
                  <c:v>17.170000000000002</c:v>
                </c:pt>
                <c:pt idx="482">
                  <c:v>18.38</c:v>
                </c:pt>
                <c:pt idx="483">
                  <c:v>18.38</c:v>
                </c:pt>
                <c:pt idx="484">
                  <c:v>18.38</c:v>
                </c:pt>
                <c:pt idx="485">
                  <c:v>18.38</c:v>
                </c:pt>
                <c:pt idx="486">
                  <c:v>19.600000000000001</c:v>
                </c:pt>
                <c:pt idx="487">
                  <c:v>19.63</c:v>
                </c:pt>
                <c:pt idx="488">
                  <c:v>19.23</c:v>
                </c:pt>
                <c:pt idx="489">
                  <c:v>19.63</c:v>
                </c:pt>
                <c:pt idx="490">
                  <c:v>19.63</c:v>
                </c:pt>
                <c:pt idx="491">
                  <c:v>17.45</c:v>
                </c:pt>
                <c:pt idx="492">
                  <c:v>17.57</c:v>
                </c:pt>
                <c:pt idx="493">
                  <c:v>17.04</c:v>
                </c:pt>
                <c:pt idx="494">
                  <c:v>15</c:v>
                </c:pt>
                <c:pt idx="495">
                  <c:v>11.02</c:v>
                </c:pt>
                <c:pt idx="496">
                  <c:v>11.3</c:v>
                </c:pt>
                <c:pt idx="497">
                  <c:v>11.57</c:v>
                </c:pt>
                <c:pt idx="498">
                  <c:v>12.29</c:v>
                </c:pt>
                <c:pt idx="499">
                  <c:v>10.73</c:v>
                </c:pt>
                <c:pt idx="500">
                  <c:v>4.6500000000000004</c:v>
                </c:pt>
                <c:pt idx="501">
                  <c:v>8.93</c:v>
                </c:pt>
                <c:pt idx="502">
                  <c:v>8.41</c:v>
                </c:pt>
                <c:pt idx="503">
                  <c:v>4.6500000000000004</c:v>
                </c:pt>
                <c:pt idx="504">
                  <c:v>0.01</c:v>
                </c:pt>
                <c:pt idx="505">
                  <c:v>0.01</c:v>
                </c:pt>
                <c:pt idx="506">
                  <c:v>7.66</c:v>
                </c:pt>
                <c:pt idx="507">
                  <c:v>10</c:v>
                </c:pt>
                <c:pt idx="508">
                  <c:v>4.6500000000000004</c:v>
                </c:pt>
                <c:pt idx="509">
                  <c:v>4.6500000000000004</c:v>
                </c:pt>
                <c:pt idx="510">
                  <c:v>8.41</c:v>
                </c:pt>
                <c:pt idx="511">
                  <c:v>11.69</c:v>
                </c:pt>
                <c:pt idx="512">
                  <c:v>16.739999999999998</c:v>
                </c:pt>
                <c:pt idx="513">
                  <c:v>19.63</c:v>
                </c:pt>
                <c:pt idx="514">
                  <c:v>20.98</c:v>
                </c:pt>
                <c:pt idx="515">
                  <c:v>24.94</c:v>
                </c:pt>
                <c:pt idx="516">
                  <c:v>29.03</c:v>
                </c:pt>
                <c:pt idx="517">
                  <c:v>32.43</c:v>
                </c:pt>
                <c:pt idx="518">
                  <c:v>25.38</c:v>
                </c:pt>
                <c:pt idx="519">
                  <c:v>22.9</c:v>
                </c:pt>
                <c:pt idx="520">
                  <c:v>24.94</c:v>
                </c:pt>
                <c:pt idx="521">
                  <c:v>23.27</c:v>
                </c:pt>
                <c:pt idx="522">
                  <c:v>20.98</c:v>
                </c:pt>
                <c:pt idx="523">
                  <c:v>19.63</c:v>
                </c:pt>
                <c:pt idx="524">
                  <c:v>19.63</c:v>
                </c:pt>
                <c:pt idx="525">
                  <c:v>17.45</c:v>
                </c:pt>
                <c:pt idx="526">
                  <c:v>14.99</c:v>
                </c:pt>
                <c:pt idx="527">
                  <c:v>11.91</c:v>
                </c:pt>
                <c:pt idx="528">
                  <c:v>12.8</c:v>
                </c:pt>
                <c:pt idx="529">
                  <c:v>13.45</c:v>
                </c:pt>
                <c:pt idx="530">
                  <c:v>16.739999999999998</c:v>
                </c:pt>
                <c:pt idx="531">
                  <c:v>17.170000000000002</c:v>
                </c:pt>
                <c:pt idx="532">
                  <c:v>17.04</c:v>
                </c:pt>
                <c:pt idx="533">
                  <c:v>16.78</c:v>
                </c:pt>
                <c:pt idx="534">
                  <c:v>16.739999999999998</c:v>
                </c:pt>
                <c:pt idx="535">
                  <c:v>16.739999999999998</c:v>
                </c:pt>
                <c:pt idx="536">
                  <c:v>14.99</c:v>
                </c:pt>
                <c:pt idx="537">
                  <c:v>15.4</c:v>
                </c:pt>
                <c:pt idx="538">
                  <c:v>17.04</c:v>
                </c:pt>
                <c:pt idx="539">
                  <c:v>17.04</c:v>
                </c:pt>
                <c:pt idx="540">
                  <c:v>15.74</c:v>
                </c:pt>
                <c:pt idx="541">
                  <c:v>11.16</c:v>
                </c:pt>
                <c:pt idx="542">
                  <c:v>10.82</c:v>
                </c:pt>
                <c:pt idx="543">
                  <c:v>7.93</c:v>
                </c:pt>
                <c:pt idx="544">
                  <c:v>8.41</c:v>
                </c:pt>
                <c:pt idx="545">
                  <c:v>2</c:v>
                </c:pt>
                <c:pt idx="546">
                  <c:v>0.01</c:v>
                </c:pt>
                <c:pt idx="547">
                  <c:v>0.01</c:v>
                </c:pt>
                <c:pt idx="548">
                  <c:v>0.01</c:v>
                </c:pt>
                <c:pt idx="549">
                  <c:v>0.01</c:v>
                </c:pt>
                <c:pt idx="550">
                  <c:v>0.01</c:v>
                </c:pt>
                <c:pt idx="551">
                  <c:v>0.01</c:v>
                </c:pt>
                <c:pt idx="552">
                  <c:v>0.01</c:v>
                </c:pt>
                <c:pt idx="553">
                  <c:v>0.01</c:v>
                </c:pt>
                <c:pt idx="554">
                  <c:v>0.01</c:v>
                </c:pt>
                <c:pt idx="555">
                  <c:v>0.01</c:v>
                </c:pt>
                <c:pt idx="556">
                  <c:v>0.01</c:v>
                </c:pt>
                <c:pt idx="557">
                  <c:v>3</c:v>
                </c:pt>
                <c:pt idx="558">
                  <c:v>1.8</c:v>
                </c:pt>
                <c:pt idx="559">
                  <c:v>9.23</c:v>
                </c:pt>
                <c:pt idx="560">
                  <c:v>11.45</c:v>
                </c:pt>
                <c:pt idx="561">
                  <c:v>19.48</c:v>
                </c:pt>
                <c:pt idx="562">
                  <c:v>20.25</c:v>
                </c:pt>
                <c:pt idx="563">
                  <c:v>22.51</c:v>
                </c:pt>
                <c:pt idx="564">
                  <c:v>22.51</c:v>
                </c:pt>
                <c:pt idx="565">
                  <c:v>22.9</c:v>
                </c:pt>
                <c:pt idx="566">
                  <c:v>22.9</c:v>
                </c:pt>
                <c:pt idx="567">
                  <c:v>22.9</c:v>
                </c:pt>
                <c:pt idx="568">
                  <c:v>22.51</c:v>
                </c:pt>
                <c:pt idx="569">
                  <c:v>22.51</c:v>
                </c:pt>
                <c:pt idx="570">
                  <c:v>22.51</c:v>
                </c:pt>
                <c:pt idx="571">
                  <c:v>22.5</c:v>
                </c:pt>
                <c:pt idx="572">
                  <c:v>24.43</c:v>
                </c:pt>
                <c:pt idx="573">
                  <c:v>18.760000000000002</c:v>
                </c:pt>
                <c:pt idx="574">
                  <c:v>16.75</c:v>
                </c:pt>
                <c:pt idx="575">
                  <c:v>11.31</c:v>
                </c:pt>
                <c:pt idx="576">
                  <c:v>11.24</c:v>
                </c:pt>
                <c:pt idx="577">
                  <c:v>11.94</c:v>
                </c:pt>
                <c:pt idx="578">
                  <c:v>12.14</c:v>
                </c:pt>
                <c:pt idx="579">
                  <c:v>14.99</c:v>
                </c:pt>
                <c:pt idx="580">
                  <c:v>15</c:v>
                </c:pt>
                <c:pt idx="581">
                  <c:v>16.78</c:v>
                </c:pt>
                <c:pt idx="582">
                  <c:v>17.3</c:v>
                </c:pt>
                <c:pt idx="583">
                  <c:v>17.3</c:v>
                </c:pt>
                <c:pt idx="584">
                  <c:v>17.04</c:v>
                </c:pt>
                <c:pt idx="585">
                  <c:v>17.170000000000002</c:v>
                </c:pt>
                <c:pt idx="586">
                  <c:v>17.45</c:v>
                </c:pt>
                <c:pt idx="587">
                  <c:v>17.3</c:v>
                </c:pt>
                <c:pt idx="588">
                  <c:v>17.3</c:v>
                </c:pt>
                <c:pt idx="589">
                  <c:v>18.38</c:v>
                </c:pt>
                <c:pt idx="590">
                  <c:v>19.23</c:v>
                </c:pt>
                <c:pt idx="591">
                  <c:v>18.38</c:v>
                </c:pt>
                <c:pt idx="592">
                  <c:v>18.38</c:v>
                </c:pt>
                <c:pt idx="593">
                  <c:v>18.38</c:v>
                </c:pt>
                <c:pt idx="594">
                  <c:v>19.48</c:v>
                </c:pt>
                <c:pt idx="595">
                  <c:v>18.38</c:v>
                </c:pt>
                <c:pt idx="596">
                  <c:v>17.04</c:v>
                </c:pt>
                <c:pt idx="597">
                  <c:v>19.23</c:v>
                </c:pt>
                <c:pt idx="598">
                  <c:v>18.38</c:v>
                </c:pt>
                <c:pt idx="599">
                  <c:v>18.38</c:v>
                </c:pt>
                <c:pt idx="600">
                  <c:v>11.57</c:v>
                </c:pt>
                <c:pt idx="601">
                  <c:v>11.57</c:v>
                </c:pt>
                <c:pt idx="602">
                  <c:v>18.38</c:v>
                </c:pt>
                <c:pt idx="603">
                  <c:v>18.38</c:v>
                </c:pt>
                <c:pt idx="604">
                  <c:v>20</c:v>
                </c:pt>
                <c:pt idx="605">
                  <c:v>20</c:v>
                </c:pt>
                <c:pt idx="606">
                  <c:v>18.38</c:v>
                </c:pt>
                <c:pt idx="607">
                  <c:v>22.44</c:v>
                </c:pt>
                <c:pt idx="608">
                  <c:v>22.44</c:v>
                </c:pt>
                <c:pt idx="609">
                  <c:v>23.27</c:v>
                </c:pt>
                <c:pt idx="610">
                  <c:v>23.27</c:v>
                </c:pt>
                <c:pt idx="611">
                  <c:v>26.79</c:v>
                </c:pt>
                <c:pt idx="612">
                  <c:v>26.99</c:v>
                </c:pt>
                <c:pt idx="613">
                  <c:v>31.41</c:v>
                </c:pt>
                <c:pt idx="614">
                  <c:v>26.92</c:v>
                </c:pt>
                <c:pt idx="615">
                  <c:v>22.9</c:v>
                </c:pt>
                <c:pt idx="616">
                  <c:v>23.27</c:v>
                </c:pt>
                <c:pt idx="617">
                  <c:v>23.27</c:v>
                </c:pt>
                <c:pt idx="618">
                  <c:v>22.44</c:v>
                </c:pt>
                <c:pt idx="619">
                  <c:v>20.58</c:v>
                </c:pt>
                <c:pt idx="620">
                  <c:v>22.9</c:v>
                </c:pt>
                <c:pt idx="621">
                  <c:v>17.45</c:v>
                </c:pt>
                <c:pt idx="622">
                  <c:v>17.04</c:v>
                </c:pt>
                <c:pt idx="623">
                  <c:v>11.97</c:v>
                </c:pt>
                <c:pt idx="624">
                  <c:v>16.78</c:v>
                </c:pt>
                <c:pt idx="625">
                  <c:v>16.78</c:v>
                </c:pt>
                <c:pt idx="626">
                  <c:v>16.920000000000002</c:v>
                </c:pt>
                <c:pt idx="627">
                  <c:v>14.99</c:v>
                </c:pt>
                <c:pt idx="628">
                  <c:v>16.78</c:v>
                </c:pt>
                <c:pt idx="629">
                  <c:v>17.45</c:v>
                </c:pt>
                <c:pt idx="630">
                  <c:v>17.170000000000002</c:v>
                </c:pt>
                <c:pt idx="631">
                  <c:v>17.3</c:v>
                </c:pt>
                <c:pt idx="632">
                  <c:v>17.28</c:v>
                </c:pt>
                <c:pt idx="633">
                  <c:v>17.309999999999999</c:v>
                </c:pt>
                <c:pt idx="634">
                  <c:v>19.48</c:v>
                </c:pt>
                <c:pt idx="635">
                  <c:v>18.38</c:v>
                </c:pt>
                <c:pt idx="636">
                  <c:v>19.48</c:v>
                </c:pt>
                <c:pt idx="637">
                  <c:v>19.48</c:v>
                </c:pt>
                <c:pt idx="638">
                  <c:v>22.9</c:v>
                </c:pt>
                <c:pt idx="639">
                  <c:v>23.94</c:v>
                </c:pt>
                <c:pt idx="640">
                  <c:v>24.28</c:v>
                </c:pt>
                <c:pt idx="641">
                  <c:v>32.69</c:v>
                </c:pt>
                <c:pt idx="642">
                  <c:v>26.79</c:v>
                </c:pt>
                <c:pt idx="643">
                  <c:v>25.9</c:v>
                </c:pt>
                <c:pt idx="644">
                  <c:v>25.92</c:v>
                </c:pt>
                <c:pt idx="645">
                  <c:v>32.69</c:v>
                </c:pt>
                <c:pt idx="646">
                  <c:v>32.69</c:v>
                </c:pt>
                <c:pt idx="647">
                  <c:v>32.69</c:v>
                </c:pt>
                <c:pt idx="648">
                  <c:v>24.75</c:v>
                </c:pt>
                <c:pt idx="649">
                  <c:v>24.38</c:v>
                </c:pt>
                <c:pt idx="650">
                  <c:v>24.39</c:v>
                </c:pt>
                <c:pt idx="651">
                  <c:v>24.39</c:v>
                </c:pt>
                <c:pt idx="652">
                  <c:v>24.75</c:v>
                </c:pt>
                <c:pt idx="653">
                  <c:v>24.39</c:v>
                </c:pt>
                <c:pt idx="654">
                  <c:v>24.39</c:v>
                </c:pt>
                <c:pt idx="655">
                  <c:v>32.69</c:v>
                </c:pt>
                <c:pt idx="656">
                  <c:v>32.69</c:v>
                </c:pt>
                <c:pt idx="657">
                  <c:v>36.42</c:v>
                </c:pt>
                <c:pt idx="658">
                  <c:v>35.770000000000003</c:v>
                </c:pt>
                <c:pt idx="659">
                  <c:v>36.42</c:v>
                </c:pt>
                <c:pt idx="660">
                  <c:v>36.51</c:v>
                </c:pt>
                <c:pt idx="661">
                  <c:v>36.590000000000003</c:v>
                </c:pt>
                <c:pt idx="662">
                  <c:v>35</c:v>
                </c:pt>
                <c:pt idx="663">
                  <c:v>32.69</c:v>
                </c:pt>
                <c:pt idx="664">
                  <c:v>28.58</c:v>
                </c:pt>
                <c:pt idx="665">
                  <c:v>26.79</c:v>
                </c:pt>
                <c:pt idx="666">
                  <c:v>24.39</c:v>
                </c:pt>
                <c:pt idx="667">
                  <c:v>24.38</c:v>
                </c:pt>
                <c:pt idx="668">
                  <c:v>22.9</c:v>
                </c:pt>
                <c:pt idx="669">
                  <c:v>18.38</c:v>
                </c:pt>
                <c:pt idx="670">
                  <c:v>16.78</c:v>
                </c:pt>
                <c:pt idx="671">
                  <c:v>12.1</c:v>
                </c:pt>
                <c:pt idx="672">
                  <c:v>14.52</c:v>
                </c:pt>
                <c:pt idx="673">
                  <c:v>18.38</c:v>
                </c:pt>
                <c:pt idx="674">
                  <c:v>18.2</c:v>
                </c:pt>
                <c:pt idx="675">
                  <c:v>18.2</c:v>
                </c:pt>
                <c:pt idx="676">
                  <c:v>19.48</c:v>
                </c:pt>
                <c:pt idx="677">
                  <c:v>19.489999999999998</c:v>
                </c:pt>
                <c:pt idx="678">
                  <c:v>22.37</c:v>
                </c:pt>
                <c:pt idx="679">
                  <c:v>23</c:v>
                </c:pt>
                <c:pt idx="680">
                  <c:v>20.25</c:v>
                </c:pt>
                <c:pt idx="681">
                  <c:v>20.25</c:v>
                </c:pt>
                <c:pt idx="682">
                  <c:v>22.9</c:v>
                </c:pt>
                <c:pt idx="683">
                  <c:v>22.9</c:v>
                </c:pt>
                <c:pt idx="684">
                  <c:v>23</c:v>
                </c:pt>
                <c:pt idx="685">
                  <c:v>23</c:v>
                </c:pt>
                <c:pt idx="686">
                  <c:v>22.9</c:v>
                </c:pt>
                <c:pt idx="687">
                  <c:v>22.9</c:v>
                </c:pt>
                <c:pt idx="688">
                  <c:v>27.86</c:v>
                </c:pt>
                <c:pt idx="689">
                  <c:v>32.69</c:v>
                </c:pt>
                <c:pt idx="690">
                  <c:v>28.82</c:v>
                </c:pt>
                <c:pt idx="691">
                  <c:v>28.82</c:v>
                </c:pt>
                <c:pt idx="692">
                  <c:v>28.82</c:v>
                </c:pt>
                <c:pt idx="693">
                  <c:v>28.82</c:v>
                </c:pt>
                <c:pt idx="694">
                  <c:v>30.49</c:v>
                </c:pt>
                <c:pt idx="695">
                  <c:v>24.75</c:v>
                </c:pt>
                <c:pt idx="696">
                  <c:v>23</c:v>
                </c:pt>
                <c:pt idx="697">
                  <c:v>22.9</c:v>
                </c:pt>
                <c:pt idx="698">
                  <c:v>24.28</c:v>
                </c:pt>
                <c:pt idx="699">
                  <c:v>24.37</c:v>
                </c:pt>
                <c:pt idx="700">
                  <c:v>24.28</c:v>
                </c:pt>
                <c:pt idx="701">
                  <c:v>24.37</c:v>
                </c:pt>
                <c:pt idx="702">
                  <c:v>24.28</c:v>
                </c:pt>
                <c:pt idx="703">
                  <c:v>24.37</c:v>
                </c:pt>
                <c:pt idx="704">
                  <c:v>24.38</c:v>
                </c:pt>
                <c:pt idx="705">
                  <c:v>32.33</c:v>
                </c:pt>
                <c:pt idx="706">
                  <c:v>32.43</c:v>
                </c:pt>
                <c:pt idx="707">
                  <c:v>36.409999999999997</c:v>
                </c:pt>
                <c:pt idx="708">
                  <c:v>36.24</c:v>
                </c:pt>
                <c:pt idx="709">
                  <c:v>36.590000000000003</c:v>
                </c:pt>
                <c:pt idx="710">
                  <c:v>36.86</c:v>
                </c:pt>
                <c:pt idx="711">
                  <c:v>36.47</c:v>
                </c:pt>
                <c:pt idx="712">
                  <c:v>37</c:v>
                </c:pt>
                <c:pt idx="713">
                  <c:v>36.47</c:v>
                </c:pt>
                <c:pt idx="714">
                  <c:v>35.97</c:v>
                </c:pt>
                <c:pt idx="715">
                  <c:v>32.43</c:v>
                </c:pt>
                <c:pt idx="716">
                  <c:v>35.9</c:v>
                </c:pt>
                <c:pt idx="717">
                  <c:v>26</c:v>
                </c:pt>
                <c:pt idx="718">
                  <c:v>23</c:v>
                </c:pt>
                <c:pt idx="719">
                  <c:v>19.48</c:v>
                </c:pt>
                <c:pt idx="720">
                  <c:v>18.38</c:v>
                </c:pt>
                <c:pt idx="721">
                  <c:v>19.489999999999998</c:v>
                </c:pt>
                <c:pt idx="722">
                  <c:v>12.18</c:v>
                </c:pt>
                <c:pt idx="723">
                  <c:v>18.38</c:v>
                </c:pt>
                <c:pt idx="724">
                  <c:v>19.489999999999998</c:v>
                </c:pt>
                <c:pt idx="725">
                  <c:v>19.899999999999999</c:v>
                </c:pt>
                <c:pt idx="726">
                  <c:v>19.489999999999998</c:v>
                </c:pt>
                <c:pt idx="727">
                  <c:v>20.54</c:v>
                </c:pt>
                <c:pt idx="728">
                  <c:v>20.54</c:v>
                </c:pt>
                <c:pt idx="729">
                  <c:v>22.18</c:v>
                </c:pt>
                <c:pt idx="730">
                  <c:v>22.99</c:v>
                </c:pt>
                <c:pt idx="731">
                  <c:v>21.14</c:v>
                </c:pt>
                <c:pt idx="732">
                  <c:v>18.38</c:v>
                </c:pt>
                <c:pt idx="733">
                  <c:v>13.19</c:v>
                </c:pt>
                <c:pt idx="734">
                  <c:v>13.95</c:v>
                </c:pt>
                <c:pt idx="735">
                  <c:v>9.75</c:v>
                </c:pt>
                <c:pt idx="736">
                  <c:v>9.75</c:v>
                </c:pt>
                <c:pt idx="737">
                  <c:v>5.7</c:v>
                </c:pt>
                <c:pt idx="738">
                  <c:v>1</c:v>
                </c:pt>
                <c:pt idx="739">
                  <c:v>0.01</c:v>
                </c:pt>
                <c:pt idx="740">
                  <c:v>0.01</c:v>
                </c:pt>
                <c:pt idx="741">
                  <c:v>0.01</c:v>
                </c:pt>
                <c:pt idx="742">
                  <c:v>0.01</c:v>
                </c:pt>
                <c:pt idx="743">
                  <c:v>0.01</c:v>
                </c:pt>
                <c:pt idx="744">
                  <c:v>0.01</c:v>
                </c:pt>
                <c:pt idx="745">
                  <c:v>0.01</c:v>
                </c:pt>
                <c:pt idx="746">
                  <c:v>0.01</c:v>
                </c:pt>
                <c:pt idx="747">
                  <c:v>0.01</c:v>
                </c:pt>
                <c:pt idx="748">
                  <c:v>0.01</c:v>
                </c:pt>
                <c:pt idx="749">
                  <c:v>0.01</c:v>
                </c:pt>
                <c:pt idx="750">
                  <c:v>0.01</c:v>
                </c:pt>
                <c:pt idx="751">
                  <c:v>0.02</c:v>
                </c:pt>
                <c:pt idx="752">
                  <c:v>8.11</c:v>
                </c:pt>
                <c:pt idx="753">
                  <c:v>9.75</c:v>
                </c:pt>
                <c:pt idx="754">
                  <c:v>17.3</c:v>
                </c:pt>
                <c:pt idx="755">
                  <c:v>23.02</c:v>
                </c:pt>
                <c:pt idx="756">
                  <c:v>25.1</c:v>
                </c:pt>
                <c:pt idx="757">
                  <c:v>26.79</c:v>
                </c:pt>
                <c:pt idx="758">
                  <c:v>25.25</c:v>
                </c:pt>
                <c:pt idx="759">
                  <c:v>24.43</c:v>
                </c:pt>
                <c:pt idx="760">
                  <c:v>23.02</c:v>
                </c:pt>
                <c:pt idx="761">
                  <c:v>23.01</c:v>
                </c:pt>
                <c:pt idx="762">
                  <c:v>23.01</c:v>
                </c:pt>
                <c:pt idx="763">
                  <c:v>22.62</c:v>
                </c:pt>
                <c:pt idx="764">
                  <c:v>22.62</c:v>
                </c:pt>
                <c:pt idx="765">
                  <c:v>21.98</c:v>
                </c:pt>
                <c:pt idx="766">
                  <c:v>22.62</c:v>
                </c:pt>
                <c:pt idx="767">
                  <c:v>19.489999999999998</c:v>
                </c:pt>
                <c:pt idx="768">
                  <c:v>14.09</c:v>
                </c:pt>
                <c:pt idx="769">
                  <c:v>17.3</c:v>
                </c:pt>
                <c:pt idx="770">
                  <c:v>19.489999999999998</c:v>
                </c:pt>
                <c:pt idx="771">
                  <c:v>18.38</c:v>
                </c:pt>
                <c:pt idx="772">
                  <c:v>19.489999999999998</c:v>
                </c:pt>
                <c:pt idx="773">
                  <c:v>20.54</c:v>
                </c:pt>
                <c:pt idx="774">
                  <c:v>20.54</c:v>
                </c:pt>
                <c:pt idx="775">
                  <c:v>19.489999999999998</c:v>
                </c:pt>
                <c:pt idx="776">
                  <c:v>21.92</c:v>
                </c:pt>
                <c:pt idx="777">
                  <c:v>21.38</c:v>
                </c:pt>
                <c:pt idx="778">
                  <c:v>20.54</c:v>
                </c:pt>
                <c:pt idx="779">
                  <c:v>17.3</c:v>
                </c:pt>
                <c:pt idx="780">
                  <c:v>8.08</c:v>
                </c:pt>
                <c:pt idx="781">
                  <c:v>0.09</c:v>
                </c:pt>
                <c:pt idx="782">
                  <c:v>0.01</c:v>
                </c:pt>
                <c:pt idx="783">
                  <c:v>0.01</c:v>
                </c:pt>
                <c:pt idx="784">
                  <c:v>0.01</c:v>
                </c:pt>
                <c:pt idx="785">
                  <c:v>0.01</c:v>
                </c:pt>
                <c:pt idx="786">
                  <c:v>0.01</c:v>
                </c:pt>
                <c:pt idx="787">
                  <c:v>0.01</c:v>
                </c:pt>
                <c:pt idx="788">
                  <c:v>0.01</c:v>
                </c:pt>
                <c:pt idx="789">
                  <c:v>0.01</c:v>
                </c:pt>
                <c:pt idx="790">
                  <c:v>0.01</c:v>
                </c:pt>
                <c:pt idx="791">
                  <c:v>0.01</c:v>
                </c:pt>
                <c:pt idx="792">
                  <c:v>0.01</c:v>
                </c:pt>
                <c:pt idx="793">
                  <c:v>0.01</c:v>
                </c:pt>
                <c:pt idx="794">
                  <c:v>0.01</c:v>
                </c:pt>
                <c:pt idx="795">
                  <c:v>0.01</c:v>
                </c:pt>
                <c:pt idx="796">
                  <c:v>0.01</c:v>
                </c:pt>
                <c:pt idx="797">
                  <c:v>0.01</c:v>
                </c:pt>
                <c:pt idx="798">
                  <c:v>0.01</c:v>
                </c:pt>
                <c:pt idx="799">
                  <c:v>0.01</c:v>
                </c:pt>
                <c:pt idx="800">
                  <c:v>0.01</c:v>
                </c:pt>
                <c:pt idx="801">
                  <c:v>0.02</c:v>
                </c:pt>
                <c:pt idx="802">
                  <c:v>8.06</c:v>
                </c:pt>
                <c:pt idx="803">
                  <c:v>15.86</c:v>
                </c:pt>
                <c:pt idx="804">
                  <c:v>23.03</c:v>
                </c:pt>
                <c:pt idx="805">
                  <c:v>23.04</c:v>
                </c:pt>
                <c:pt idx="806">
                  <c:v>23.03</c:v>
                </c:pt>
                <c:pt idx="807">
                  <c:v>23.03</c:v>
                </c:pt>
                <c:pt idx="808">
                  <c:v>22.62</c:v>
                </c:pt>
                <c:pt idx="809">
                  <c:v>20.309999999999999</c:v>
                </c:pt>
                <c:pt idx="810">
                  <c:v>18.38</c:v>
                </c:pt>
                <c:pt idx="811">
                  <c:v>14.99</c:v>
                </c:pt>
                <c:pt idx="812">
                  <c:v>15</c:v>
                </c:pt>
                <c:pt idx="813">
                  <c:v>14.24</c:v>
                </c:pt>
                <c:pt idx="814">
                  <c:v>18.38</c:v>
                </c:pt>
                <c:pt idx="815">
                  <c:v>13.19</c:v>
                </c:pt>
                <c:pt idx="816">
                  <c:v>17.39</c:v>
                </c:pt>
                <c:pt idx="817">
                  <c:v>16</c:v>
                </c:pt>
                <c:pt idx="818">
                  <c:v>16.43</c:v>
                </c:pt>
                <c:pt idx="819">
                  <c:v>17.57</c:v>
                </c:pt>
                <c:pt idx="820">
                  <c:v>12.52</c:v>
                </c:pt>
                <c:pt idx="821">
                  <c:v>19.48</c:v>
                </c:pt>
                <c:pt idx="822">
                  <c:v>19.489999999999998</c:v>
                </c:pt>
                <c:pt idx="823">
                  <c:v>19.71</c:v>
                </c:pt>
                <c:pt idx="824">
                  <c:v>19.489999999999998</c:v>
                </c:pt>
                <c:pt idx="825">
                  <c:v>22.99</c:v>
                </c:pt>
                <c:pt idx="826">
                  <c:v>22.99</c:v>
                </c:pt>
                <c:pt idx="827">
                  <c:v>23.59</c:v>
                </c:pt>
                <c:pt idx="828">
                  <c:v>23</c:v>
                </c:pt>
                <c:pt idx="829">
                  <c:v>19.489999999999998</c:v>
                </c:pt>
                <c:pt idx="830">
                  <c:v>14.76</c:v>
                </c:pt>
                <c:pt idx="831">
                  <c:v>11.58</c:v>
                </c:pt>
                <c:pt idx="832">
                  <c:v>16</c:v>
                </c:pt>
                <c:pt idx="833">
                  <c:v>18.38</c:v>
                </c:pt>
                <c:pt idx="834">
                  <c:v>20.49</c:v>
                </c:pt>
                <c:pt idx="835">
                  <c:v>18.38</c:v>
                </c:pt>
                <c:pt idx="836">
                  <c:v>15.97</c:v>
                </c:pt>
                <c:pt idx="837">
                  <c:v>18.38</c:v>
                </c:pt>
                <c:pt idx="838">
                  <c:v>18.38</c:v>
                </c:pt>
                <c:pt idx="839">
                  <c:v>16.29</c:v>
                </c:pt>
                <c:pt idx="840">
                  <c:v>10.1</c:v>
                </c:pt>
                <c:pt idx="841">
                  <c:v>10.1</c:v>
                </c:pt>
                <c:pt idx="842">
                  <c:v>19.489999999999998</c:v>
                </c:pt>
                <c:pt idx="843">
                  <c:v>19.489999999999998</c:v>
                </c:pt>
                <c:pt idx="844">
                  <c:v>19.489999999999998</c:v>
                </c:pt>
                <c:pt idx="845">
                  <c:v>22.99</c:v>
                </c:pt>
                <c:pt idx="846">
                  <c:v>22.99</c:v>
                </c:pt>
                <c:pt idx="847">
                  <c:v>23.01</c:v>
                </c:pt>
                <c:pt idx="848">
                  <c:v>24.28</c:v>
                </c:pt>
                <c:pt idx="849">
                  <c:v>24.28</c:v>
                </c:pt>
                <c:pt idx="850">
                  <c:v>23.01</c:v>
                </c:pt>
                <c:pt idx="851">
                  <c:v>24.62</c:v>
                </c:pt>
                <c:pt idx="852">
                  <c:v>26.79</c:v>
                </c:pt>
                <c:pt idx="853">
                  <c:v>26.79</c:v>
                </c:pt>
                <c:pt idx="854">
                  <c:v>25.85</c:v>
                </c:pt>
                <c:pt idx="855">
                  <c:v>23.01</c:v>
                </c:pt>
                <c:pt idx="856">
                  <c:v>23</c:v>
                </c:pt>
                <c:pt idx="857">
                  <c:v>23</c:v>
                </c:pt>
                <c:pt idx="858">
                  <c:v>22.62</c:v>
                </c:pt>
                <c:pt idx="859">
                  <c:v>20.170000000000002</c:v>
                </c:pt>
                <c:pt idx="860">
                  <c:v>21.32</c:v>
                </c:pt>
                <c:pt idx="861">
                  <c:v>21.89</c:v>
                </c:pt>
                <c:pt idx="862">
                  <c:v>20.54</c:v>
                </c:pt>
                <c:pt idx="863">
                  <c:v>13.87</c:v>
                </c:pt>
                <c:pt idx="864">
                  <c:v>16.23</c:v>
                </c:pt>
                <c:pt idx="865">
                  <c:v>17.399999999999999</c:v>
                </c:pt>
                <c:pt idx="866">
                  <c:v>18.940000000000001</c:v>
                </c:pt>
                <c:pt idx="867">
                  <c:v>18.38</c:v>
                </c:pt>
                <c:pt idx="868">
                  <c:v>19.489999999999998</c:v>
                </c:pt>
                <c:pt idx="869">
                  <c:v>20.54</c:v>
                </c:pt>
                <c:pt idx="870">
                  <c:v>20.54</c:v>
                </c:pt>
                <c:pt idx="871">
                  <c:v>22.35</c:v>
                </c:pt>
                <c:pt idx="872">
                  <c:v>20.54</c:v>
                </c:pt>
                <c:pt idx="873">
                  <c:v>21.47</c:v>
                </c:pt>
                <c:pt idx="874">
                  <c:v>23</c:v>
                </c:pt>
                <c:pt idx="875">
                  <c:v>22.62</c:v>
                </c:pt>
                <c:pt idx="876">
                  <c:v>22.62</c:v>
                </c:pt>
                <c:pt idx="877">
                  <c:v>18.38</c:v>
                </c:pt>
                <c:pt idx="878">
                  <c:v>13.87</c:v>
                </c:pt>
                <c:pt idx="879">
                  <c:v>10.93</c:v>
                </c:pt>
                <c:pt idx="880">
                  <c:v>13.22</c:v>
                </c:pt>
                <c:pt idx="881">
                  <c:v>10.71</c:v>
                </c:pt>
                <c:pt idx="882">
                  <c:v>9.39</c:v>
                </c:pt>
                <c:pt idx="883">
                  <c:v>9.18</c:v>
                </c:pt>
                <c:pt idx="884">
                  <c:v>0.02</c:v>
                </c:pt>
                <c:pt idx="885">
                  <c:v>0.01</c:v>
                </c:pt>
                <c:pt idx="886">
                  <c:v>0.01</c:v>
                </c:pt>
                <c:pt idx="887">
                  <c:v>0.01</c:v>
                </c:pt>
                <c:pt idx="888">
                  <c:v>0.01</c:v>
                </c:pt>
                <c:pt idx="889">
                  <c:v>0.01</c:v>
                </c:pt>
                <c:pt idx="890">
                  <c:v>0.01</c:v>
                </c:pt>
                <c:pt idx="891">
                  <c:v>0.01</c:v>
                </c:pt>
                <c:pt idx="892">
                  <c:v>2</c:v>
                </c:pt>
                <c:pt idx="893">
                  <c:v>8.9600000000000009</c:v>
                </c:pt>
                <c:pt idx="894">
                  <c:v>9.57</c:v>
                </c:pt>
                <c:pt idx="895">
                  <c:v>10.34</c:v>
                </c:pt>
                <c:pt idx="896">
                  <c:v>18.38</c:v>
                </c:pt>
                <c:pt idx="897">
                  <c:v>23.81</c:v>
                </c:pt>
                <c:pt idx="898">
                  <c:v>23.81</c:v>
                </c:pt>
                <c:pt idx="899">
                  <c:v>23.82</c:v>
                </c:pt>
                <c:pt idx="900">
                  <c:v>23.82</c:v>
                </c:pt>
                <c:pt idx="901">
                  <c:v>24.43</c:v>
                </c:pt>
                <c:pt idx="902">
                  <c:v>23.82</c:v>
                </c:pt>
                <c:pt idx="903">
                  <c:v>23.81</c:v>
                </c:pt>
                <c:pt idx="904">
                  <c:v>23.81</c:v>
                </c:pt>
                <c:pt idx="905">
                  <c:v>22.62</c:v>
                </c:pt>
                <c:pt idx="906">
                  <c:v>22.62</c:v>
                </c:pt>
                <c:pt idx="907">
                  <c:v>19.86</c:v>
                </c:pt>
                <c:pt idx="908">
                  <c:v>22.38</c:v>
                </c:pt>
                <c:pt idx="909">
                  <c:v>22.62</c:v>
                </c:pt>
                <c:pt idx="910">
                  <c:v>22.62</c:v>
                </c:pt>
                <c:pt idx="911">
                  <c:v>19.489999999999998</c:v>
                </c:pt>
                <c:pt idx="912">
                  <c:v>18.38</c:v>
                </c:pt>
                <c:pt idx="913">
                  <c:v>18.38</c:v>
                </c:pt>
                <c:pt idx="914">
                  <c:v>19.670000000000002</c:v>
                </c:pt>
                <c:pt idx="915">
                  <c:v>21.38</c:v>
                </c:pt>
                <c:pt idx="916">
                  <c:v>21.72</c:v>
                </c:pt>
                <c:pt idx="917">
                  <c:v>22.99</c:v>
                </c:pt>
                <c:pt idx="918">
                  <c:v>22.99</c:v>
                </c:pt>
                <c:pt idx="919">
                  <c:v>23</c:v>
                </c:pt>
                <c:pt idx="920">
                  <c:v>22.99</c:v>
                </c:pt>
                <c:pt idx="921">
                  <c:v>23</c:v>
                </c:pt>
                <c:pt idx="922">
                  <c:v>24.05</c:v>
                </c:pt>
                <c:pt idx="923">
                  <c:v>24.08</c:v>
                </c:pt>
                <c:pt idx="924">
                  <c:v>22.62</c:v>
                </c:pt>
                <c:pt idx="925">
                  <c:v>19.489999999999998</c:v>
                </c:pt>
                <c:pt idx="926">
                  <c:v>18.38</c:v>
                </c:pt>
                <c:pt idx="927">
                  <c:v>11.58</c:v>
                </c:pt>
                <c:pt idx="928">
                  <c:v>10.1</c:v>
                </c:pt>
                <c:pt idx="929">
                  <c:v>10.1</c:v>
                </c:pt>
                <c:pt idx="930">
                  <c:v>8.9600000000000009</c:v>
                </c:pt>
                <c:pt idx="931">
                  <c:v>8.69</c:v>
                </c:pt>
                <c:pt idx="932">
                  <c:v>1</c:v>
                </c:pt>
                <c:pt idx="933">
                  <c:v>1.05</c:v>
                </c:pt>
                <c:pt idx="934">
                  <c:v>0.02</c:v>
                </c:pt>
                <c:pt idx="935">
                  <c:v>0.02</c:v>
                </c:pt>
                <c:pt idx="936">
                  <c:v>0.01</c:v>
                </c:pt>
                <c:pt idx="937">
                  <c:v>0.01</c:v>
                </c:pt>
                <c:pt idx="938">
                  <c:v>4.6500000000000004</c:v>
                </c:pt>
                <c:pt idx="939">
                  <c:v>8</c:v>
                </c:pt>
                <c:pt idx="940">
                  <c:v>9.39</c:v>
                </c:pt>
                <c:pt idx="941">
                  <c:v>9.83</c:v>
                </c:pt>
                <c:pt idx="942">
                  <c:v>9.75</c:v>
                </c:pt>
                <c:pt idx="943">
                  <c:v>10.1</c:v>
                </c:pt>
                <c:pt idx="944">
                  <c:v>15</c:v>
                </c:pt>
                <c:pt idx="945">
                  <c:v>22.99</c:v>
                </c:pt>
                <c:pt idx="946">
                  <c:v>22.99</c:v>
                </c:pt>
                <c:pt idx="947">
                  <c:v>26.07</c:v>
                </c:pt>
                <c:pt idx="948">
                  <c:v>26.79</c:v>
                </c:pt>
                <c:pt idx="949">
                  <c:v>26.79</c:v>
                </c:pt>
                <c:pt idx="950">
                  <c:v>26.73</c:v>
                </c:pt>
                <c:pt idx="951">
                  <c:v>24.79</c:v>
                </c:pt>
                <c:pt idx="952">
                  <c:v>24.62</c:v>
                </c:pt>
                <c:pt idx="953">
                  <c:v>24.43</c:v>
                </c:pt>
                <c:pt idx="954">
                  <c:v>24.21</c:v>
                </c:pt>
                <c:pt idx="955">
                  <c:v>22.99</c:v>
                </c:pt>
                <c:pt idx="956">
                  <c:v>24.28</c:v>
                </c:pt>
                <c:pt idx="957">
                  <c:v>23</c:v>
                </c:pt>
                <c:pt idx="958">
                  <c:v>22.62</c:v>
                </c:pt>
                <c:pt idx="959">
                  <c:v>18.38</c:v>
                </c:pt>
                <c:pt idx="960">
                  <c:v>18.38</c:v>
                </c:pt>
                <c:pt idx="961">
                  <c:v>15.7</c:v>
                </c:pt>
                <c:pt idx="962">
                  <c:v>18.38</c:v>
                </c:pt>
                <c:pt idx="963">
                  <c:v>17.649999999999999</c:v>
                </c:pt>
                <c:pt idx="964">
                  <c:v>18.38</c:v>
                </c:pt>
                <c:pt idx="965">
                  <c:v>19.489999999999998</c:v>
                </c:pt>
                <c:pt idx="966">
                  <c:v>19.489999999999998</c:v>
                </c:pt>
                <c:pt idx="967">
                  <c:v>19.489999999999998</c:v>
                </c:pt>
                <c:pt idx="968">
                  <c:v>19.05</c:v>
                </c:pt>
                <c:pt idx="969">
                  <c:v>20.2</c:v>
                </c:pt>
                <c:pt idx="970">
                  <c:v>21.71</c:v>
                </c:pt>
                <c:pt idx="971">
                  <c:v>19.489999999999998</c:v>
                </c:pt>
                <c:pt idx="972">
                  <c:v>19.489999999999998</c:v>
                </c:pt>
                <c:pt idx="973">
                  <c:v>19.489999999999998</c:v>
                </c:pt>
                <c:pt idx="974">
                  <c:v>18.38</c:v>
                </c:pt>
                <c:pt idx="975">
                  <c:v>17.309999999999999</c:v>
                </c:pt>
                <c:pt idx="976">
                  <c:v>17.309999999999999</c:v>
                </c:pt>
                <c:pt idx="977">
                  <c:v>18.38</c:v>
                </c:pt>
                <c:pt idx="978">
                  <c:v>18.38</c:v>
                </c:pt>
                <c:pt idx="979">
                  <c:v>18.38</c:v>
                </c:pt>
                <c:pt idx="980">
                  <c:v>18.38</c:v>
                </c:pt>
                <c:pt idx="981">
                  <c:v>21.01</c:v>
                </c:pt>
                <c:pt idx="982">
                  <c:v>21.03</c:v>
                </c:pt>
                <c:pt idx="983">
                  <c:v>21.15</c:v>
                </c:pt>
                <c:pt idx="984">
                  <c:v>15.97</c:v>
                </c:pt>
                <c:pt idx="985">
                  <c:v>15.97</c:v>
                </c:pt>
                <c:pt idx="986">
                  <c:v>22.98</c:v>
                </c:pt>
                <c:pt idx="987">
                  <c:v>21.94</c:v>
                </c:pt>
                <c:pt idx="988">
                  <c:v>22.99</c:v>
                </c:pt>
                <c:pt idx="989">
                  <c:v>22.99</c:v>
                </c:pt>
                <c:pt idx="990">
                  <c:v>22.99</c:v>
                </c:pt>
                <c:pt idx="991">
                  <c:v>23.63</c:v>
                </c:pt>
                <c:pt idx="992">
                  <c:v>26.23</c:v>
                </c:pt>
                <c:pt idx="993">
                  <c:v>32.18</c:v>
                </c:pt>
                <c:pt idx="994">
                  <c:v>32.200000000000003</c:v>
                </c:pt>
                <c:pt idx="995">
                  <c:v>32.270000000000003</c:v>
                </c:pt>
                <c:pt idx="996">
                  <c:v>32.67</c:v>
                </c:pt>
                <c:pt idx="997">
                  <c:v>32.76</c:v>
                </c:pt>
                <c:pt idx="998">
                  <c:v>32.22</c:v>
                </c:pt>
                <c:pt idx="999">
                  <c:v>32.06</c:v>
                </c:pt>
                <c:pt idx="1000">
                  <c:v>24.96</c:v>
                </c:pt>
                <c:pt idx="1001">
                  <c:v>24.43</c:v>
                </c:pt>
                <c:pt idx="1002">
                  <c:v>22.98</c:v>
                </c:pt>
                <c:pt idx="1003">
                  <c:v>22.98</c:v>
                </c:pt>
                <c:pt idx="1004">
                  <c:v>23.97</c:v>
                </c:pt>
                <c:pt idx="1005">
                  <c:v>22.62</c:v>
                </c:pt>
                <c:pt idx="1006">
                  <c:v>20.51</c:v>
                </c:pt>
                <c:pt idx="1007">
                  <c:v>13.19</c:v>
                </c:pt>
                <c:pt idx="1008">
                  <c:v>16.75</c:v>
                </c:pt>
                <c:pt idx="1009">
                  <c:v>15</c:v>
                </c:pt>
                <c:pt idx="1010">
                  <c:v>17.04</c:v>
                </c:pt>
                <c:pt idx="1011">
                  <c:v>17.18</c:v>
                </c:pt>
                <c:pt idx="1012">
                  <c:v>18.38</c:v>
                </c:pt>
                <c:pt idx="1013">
                  <c:v>20.59</c:v>
                </c:pt>
                <c:pt idx="1014">
                  <c:v>20.11</c:v>
                </c:pt>
                <c:pt idx="1015">
                  <c:v>22.99</c:v>
                </c:pt>
                <c:pt idx="1016">
                  <c:v>20.59</c:v>
                </c:pt>
                <c:pt idx="1017">
                  <c:v>22.99</c:v>
                </c:pt>
                <c:pt idx="1018">
                  <c:v>22.99</c:v>
                </c:pt>
                <c:pt idx="1019">
                  <c:v>22.99</c:v>
                </c:pt>
                <c:pt idx="1020">
                  <c:v>22.62</c:v>
                </c:pt>
                <c:pt idx="1021">
                  <c:v>18.38</c:v>
                </c:pt>
                <c:pt idx="1022">
                  <c:v>18.38</c:v>
                </c:pt>
                <c:pt idx="1023">
                  <c:v>17.18</c:v>
                </c:pt>
                <c:pt idx="1024">
                  <c:v>14.03</c:v>
                </c:pt>
                <c:pt idx="1025">
                  <c:v>11.35</c:v>
                </c:pt>
                <c:pt idx="1026">
                  <c:v>10.1</c:v>
                </c:pt>
                <c:pt idx="1027">
                  <c:v>9.75</c:v>
                </c:pt>
                <c:pt idx="1028">
                  <c:v>9.39</c:v>
                </c:pt>
                <c:pt idx="1029">
                  <c:v>9.18</c:v>
                </c:pt>
                <c:pt idx="1030">
                  <c:v>8.41</c:v>
                </c:pt>
                <c:pt idx="1031">
                  <c:v>3</c:v>
                </c:pt>
                <c:pt idx="1032">
                  <c:v>0.01</c:v>
                </c:pt>
                <c:pt idx="1033">
                  <c:v>0.01</c:v>
                </c:pt>
                <c:pt idx="1034">
                  <c:v>7.67</c:v>
                </c:pt>
                <c:pt idx="1035">
                  <c:v>3</c:v>
                </c:pt>
                <c:pt idx="1036">
                  <c:v>2</c:v>
                </c:pt>
                <c:pt idx="1037">
                  <c:v>8.69</c:v>
                </c:pt>
                <c:pt idx="1038">
                  <c:v>8.9600000000000009</c:v>
                </c:pt>
                <c:pt idx="1039">
                  <c:v>10.1</c:v>
                </c:pt>
                <c:pt idx="1040">
                  <c:v>17.04</c:v>
                </c:pt>
                <c:pt idx="1041">
                  <c:v>23.95</c:v>
                </c:pt>
                <c:pt idx="1042">
                  <c:v>23.96</c:v>
                </c:pt>
                <c:pt idx="1043">
                  <c:v>24.28</c:v>
                </c:pt>
                <c:pt idx="1044">
                  <c:v>25.25</c:v>
                </c:pt>
                <c:pt idx="1045">
                  <c:v>26.79</c:v>
                </c:pt>
                <c:pt idx="1046">
                  <c:v>26.04</c:v>
                </c:pt>
                <c:pt idx="1047">
                  <c:v>26.73</c:v>
                </c:pt>
                <c:pt idx="1048">
                  <c:v>26.04</c:v>
                </c:pt>
                <c:pt idx="1049">
                  <c:v>23.96</c:v>
                </c:pt>
                <c:pt idx="1050">
                  <c:v>23.96</c:v>
                </c:pt>
                <c:pt idx="1051">
                  <c:v>23.77</c:v>
                </c:pt>
                <c:pt idx="1052">
                  <c:v>23.89</c:v>
                </c:pt>
                <c:pt idx="1053">
                  <c:v>22.62</c:v>
                </c:pt>
                <c:pt idx="1054">
                  <c:v>22.35</c:v>
                </c:pt>
                <c:pt idx="1055">
                  <c:v>17.45</c:v>
                </c:pt>
                <c:pt idx="1056">
                  <c:v>18.38</c:v>
                </c:pt>
                <c:pt idx="1057">
                  <c:v>18.38</c:v>
                </c:pt>
                <c:pt idx="1058">
                  <c:v>18.38</c:v>
                </c:pt>
                <c:pt idx="1059">
                  <c:v>18.38</c:v>
                </c:pt>
                <c:pt idx="1060">
                  <c:v>19.809999999999999</c:v>
                </c:pt>
                <c:pt idx="1061">
                  <c:v>18.38</c:v>
                </c:pt>
                <c:pt idx="1062">
                  <c:v>18.38</c:v>
                </c:pt>
                <c:pt idx="1063">
                  <c:v>20.14</c:v>
                </c:pt>
                <c:pt idx="1064">
                  <c:v>19.920000000000002</c:v>
                </c:pt>
                <c:pt idx="1065">
                  <c:v>21.46</c:v>
                </c:pt>
                <c:pt idx="1066">
                  <c:v>20.93</c:v>
                </c:pt>
                <c:pt idx="1067">
                  <c:v>18.38</c:v>
                </c:pt>
                <c:pt idx="1068">
                  <c:v>22.52</c:v>
                </c:pt>
                <c:pt idx="1069">
                  <c:v>22.43</c:v>
                </c:pt>
                <c:pt idx="1070">
                  <c:v>20.93</c:v>
                </c:pt>
                <c:pt idx="1071">
                  <c:v>17.059999999999999</c:v>
                </c:pt>
                <c:pt idx="1072">
                  <c:v>15.96</c:v>
                </c:pt>
                <c:pt idx="1073">
                  <c:v>13.94</c:v>
                </c:pt>
                <c:pt idx="1074">
                  <c:v>14.93</c:v>
                </c:pt>
                <c:pt idx="1075">
                  <c:v>14.95</c:v>
                </c:pt>
                <c:pt idx="1076">
                  <c:v>11.53</c:v>
                </c:pt>
                <c:pt idx="1077">
                  <c:v>9.76</c:v>
                </c:pt>
                <c:pt idx="1078">
                  <c:v>8.83</c:v>
                </c:pt>
                <c:pt idx="1079">
                  <c:v>8.17</c:v>
                </c:pt>
                <c:pt idx="1080">
                  <c:v>0.21</c:v>
                </c:pt>
                <c:pt idx="1081">
                  <c:v>0.02</c:v>
                </c:pt>
                <c:pt idx="1082">
                  <c:v>2</c:v>
                </c:pt>
                <c:pt idx="1083">
                  <c:v>4.6500000000000004</c:v>
                </c:pt>
                <c:pt idx="1084">
                  <c:v>7.93</c:v>
                </c:pt>
                <c:pt idx="1085">
                  <c:v>9.43</c:v>
                </c:pt>
                <c:pt idx="1086">
                  <c:v>11.26</c:v>
                </c:pt>
                <c:pt idx="1087">
                  <c:v>13.94</c:v>
                </c:pt>
                <c:pt idx="1088">
                  <c:v>11.58</c:v>
                </c:pt>
                <c:pt idx="1089">
                  <c:v>18.27</c:v>
                </c:pt>
                <c:pt idx="1090">
                  <c:v>21.48</c:v>
                </c:pt>
                <c:pt idx="1091">
                  <c:v>23.31</c:v>
                </c:pt>
                <c:pt idx="1092">
                  <c:v>23.6</c:v>
                </c:pt>
                <c:pt idx="1093">
                  <c:v>23.92</c:v>
                </c:pt>
                <c:pt idx="1094">
                  <c:v>23.92</c:v>
                </c:pt>
                <c:pt idx="1095">
                  <c:v>23.47</c:v>
                </c:pt>
                <c:pt idx="1096">
                  <c:v>23.38</c:v>
                </c:pt>
                <c:pt idx="1097">
                  <c:v>23.19</c:v>
                </c:pt>
                <c:pt idx="1098">
                  <c:v>21.46</c:v>
                </c:pt>
                <c:pt idx="1099">
                  <c:v>18.38</c:v>
                </c:pt>
                <c:pt idx="1100">
                  <c:v>20.85</c:v>
                </c:pt>
                <c:pt idx="1101">
                  <c:v>19.809999999999999</c:v>
                </c:pt>
                <c:pt idx="1102">
                  <c:v>18.38</c:v>
                </c:pt>
                <c:pt idx="1103">
                  <c:v>18.38</c:v>
                </c:pt>
                <c:pt idx="1104">
                  <c:v>18.38</c:v>
                </c:pt>
                <c:pt idx="1105">
                  <c:v>19.809999999999999</c:v>
                </c:pt>
                <c:pt idx="1106">
                  <c:v>18.38</c:v>
                </c:pt>
                <c:pt idx="1107">
                  <c:v>18</c:v>
                </c:pt>
                <c:pt idx="1108">
                  <c:v>18.38</c:v>
                </c:pt>
                <c:pt idx="1109">
                  <c:v>19.809999999999999</c:v>
                </c:pt>
                <c:pt idx="1110">
                  <c:v>21.47</c:v>
                </c:pt>
                <c:pt idx="1111">
                  <c:v>22.6</c:v>
                </c:pt>
                <c:pt idx="1112">
                  <c:v>21.54</c:v>
                </c:pt>
                <c:pt idx="1113">
                  <c:v>20.93</c:v>
                </c:pt>
                <c:pt idx="1114">
                  <c:v>20.93</c:v>
                </c:pt>
                <c:pt idx="1115">
                  <c:v>18.38</c:v>
                </c:pt>
                <c:pt idx="1116">
                  <c:v>17.739999999999998</c:v>
                </c:pt>
                <c:pt idx="1117">
                  <c:v>17.02</c:v>
                </c:pt>
                <c:pt idx="1118">
                  <c:v>13.94</c:v>
                </c:pt>
                <c:pt idx="1119">
                  <c:v>11.31</c:v>
                </c:pt>
                <c:pt idx="1120">
                  <c:v>8.5500000000000007</c:v>
                </c:pt>
                <c:pt idx="1121">
                  <c:v>9.39</c:v>
                </c:pt>
                <c:pt idx="1122">
                  <c:v>9.34</c:v>
                </c:pt>
                <c:pt idx="1123">
                  <c:v>7.93</c:v>
                </c:pt>
                <c:pt idx="1124">
                  <c:v>7.93</c:v>
                </c:pt>
                <c:pt idx="1125">
                  <c:v>9.35</c:v>
                </c:pt>
                <c:pt idx="1126">
                  <c:v>9.4</c:v>
                </c:pt>
                <c:pt idx="1127">
                  <c:v>10.31</c:v>
                </c:pt>
                <c:pt idx="1128">
                  <c:v>11.57</c:v>
                </c:pt>
                <c:pt idx="1129">
                  <c:v>10.71</c:v>
                </c:pt>
                <c:pt idx="1130">
                  <c:v>11.35</c:v>
                </c:pt>
                <c:pt idx="1131">
                  <c:v>11.35</c:v>
                </c:pt>
                <c:pt idx="1132">
                  <c:v>11.31</c:v>
                </c:pt>
                <c:pt idx="1133">
                  <c:v>11.17</c:v>
                </c:pt>
                <c:pt idx="1134">
                  <c:v>11.17</c:v>
                </c:pt>
                <c:pt idx="1135">
                  <c:v>17.02</c:v>
                </c:pt>
                <c:pt idx="1136">
                  <c:v>18.38</c:v>
                </c:pt>
                <c:pt idx="1137">
                  <c:v>19.809999999999999</c:v>
                </c:pt>
                <c:pt idx="1138">
                  <c:v>24.28</c:v>
                </c:pt>
                <c:pt idx="1139">
                  <c:v>25.01</c:v>
                </c:pt>
                <c:pt idx="1140">
                  <c:v>25.47</c:v>
                </c:pt>
                <c:pt idx="1141">
                  <c:v>25.47</c:v>
                </c:pt>
                <c:pt idx="1142">
                  <c:v>25.47</c:v>
                </c:pt>
                <c:pt idx="1143">
                  <c:v>25.05</c:v>
                </c:pt>
                <c:pt idx="1144">
                  <c:v>25.05</c:v>
                </c:pt>
                <c:pt idx="1145">
                  <c:v>24.12</c:v>
                </c:pt>
                <c:pt idx="1146">
                  <c:v>23.47</c:v>
                </c:pt>
                <c:pt idx="1147">
                  <c:v>23</c:v>
                </c:pt>
                <c:pt idx="1148">
                  <c:v>22.9</c:v>
                </c:pt>
                <c:pt idx="1149">
                  <c:v>19.96</c:v>
                </c:pt>
                <c:pt idx="1150">
                  <c:v>19.809999999999999</c:v>
                </c:pt>
                <c:pt idx="1151">
                  <c:v>17.059999999999999</c:v>
                </c:pt>
                <c:pt idx="1152">
                  <c:v>19.809999999999999</c:v>
                </c:pt>
                <c:pt idx="1153">
                  <c:v>17.32</c:v>
                </c:pt>
                <c:pt idx="1154">
                  <c:v>17.46</c:v>
                </c:pt>
                <c:pt idx="1155">
                  <c:v>17.059999999999999</c:v>
                </c:pt>
                <c:pt idx="1156">
                  <c:v>18.2</c:v>
                </c:pt>
                <c:pt idx="1157">
                  <c:v>19.809999999999999</c:v>
                </c:pt>
                <c:pt idx="1158">
                  <c:v>19.96</c:v>
                </c:pt>
                <c:pt idx="1159">
                  <c:v>22.57</c:v>
                </c:pt>
                <c:pt idx="1160">
                  <c:v>20.25</c:v>
                </c:pt>
                <c:pt idx="1161">
                  <c:v>22.97</c:v>
                </c:pt>
                <c:pt idx="1162">
                  <c:v>23.3</c:v>
                </c:pt>
                <c:pt idx="1163">
                  <c:v>22.99</c:v>
                </c:pt>
                <c:pt idx="1164">
                  <c:v>22.95</c:v>
                </c:pt>
                <c:pt idx="1165">
                  <c:v>17.739999999999998</c:v>
                </c:pt>
                <c:pt idx="1166">
                  <c:v>13.94</c:v>
                </c:pt>
                <c:pt idx="1167">
                  <c:v>9.98</c:v>
                </c:pt>
                <c:pt idx="1168">
                  <c:v>9.69</c:v>
                </c:pt>
                <c:pt idx="1169">
                  <c:v>11.57</c:v>
                </c:pt>
                <c:pt idx="1170">
                  <c:v>10.8</c:v>
                </c:pt>
                <c:pt idx="1171">
                  <c:v>9.6999999999999993</c:v>
                </c:pt>
                <c:pt idx="1172">
                  <c:v>8</c:v>
                </c:pt>
                <c:pt idx="1173">
                  <c:v>10</c:v>
                </c:pt>
                <c:pt idx="1174">
                  <c:v>9.5299999999999994</c:v>
                </c:pt>
                <c:pt idx="1175">
                  <c:v>9.6999999999999993</c:v>
                </c:pt>
                <c:pt idx="1176">
                  <c:v>3</c:v>
                </c:pt>
                <c:pt idx="1177">
                  <c:v>4.6500000000000004</c:v>
                </c:pt>
                <c:pt idx="1178">
                  <c:v>10.039999999999999</c:v>
                </c:pt>
                <c:pt idx="1179">
                  <c:v>10.039999999999999</c:v>
                </c:pt>
                <c:pt idx="1180">
                  <c:v>11.2</c:v>
                </c:pt>
                <c:pt idx="1181">
                  <c:v>11.96</c:v>
                </c:pt>
                <c:pt idx="1182">
                  <c:v>17.02</c:v>
                </c:pt>
                <c:pt idx="1183">
                  <c:v>20.190000000000001</c:v>
                </c:pt>
                <c:pt idx="1184">
                  <c:v>24.28</c:v>
                </c:pt>
                <c:pt idx="1185">
                  <c:v>25.62</c:v>
                </c:pt>
                <c:pt idx="1186">
                  <c:v>26.47</c:v>
                </c:pt>
                <c:pt idx="1187">
                  <c:v>30</c:v>
                </c:pt>
                <c:pt idx="1188">
                  <c:v>31</c:v>
                </c:pt>
                <c:pt idx="1189">
                  <c:v>31.17</c:v>
                </c:pt>
                <c:pt idx="1190">
                  <c:v>29.52</c:v>
                </c:pt>
                <c:pt idx="1191">
                  <c:v>26.79</c:v>
                </c:pt>
                <c:pt idx="1192">
                  <c:v>26.47</c:v>
                </c:pt>
                <c:pt idx="1193">
                  <c:v>25.63</c:v>
                </c:pt>
                <c:pt idx="1194">
                  <c:v>25.62</c:v>
                </c:pt>
                <c:pt idx="1195">
                  <c:v>23.84</c:v>
                </c:pt>
                <c:pt idx="1196">
                  <c:v>23.95</c:v>
                </c:pt>
                <c:pt idx="1197">
                  <c:v>23.39</c:v>
                </c:pt>
                <c:pt idx="1198">
                  <c:v>23.3</c:v>
                </c:pt>
                <c:pt idx="1199">
                  <c:v>20.25</c:v>
                </c:pt>
                <c:pt idx="1200">
                  <c:v>23.88</c:v>
                </c:pt>
                <c:pt idx="1201">
                  <c:v>23</c:v>
                </c:pt>
                <c:pt idx="1202">
                  <c:v>23</c:v>
                </c:pt>
                <c:pt idx="1203">
                  <c:v>19.96</c:v>
                </c:pt>
                <c:pt idx="1204">
                  <c:v>20.170000000000002</c:v>
                </c:pt>
                <c:pt idx="1205">
                  <c:v>21.34</c:v>
                </c:pt>
                <c:pt idx="1206">
                  <c:v>23</c:v>
                </c:pt>
                <c:pt idx="1207">
                  <c:v>23.23</c:v>
                </c:pt>
                <c:pt idx="1208">
                  <c:v>20.93</c:v>
                </c:pt>
                <c:pt idx="1209">
                  <c:v>20.93</c:v>
                </c:pt>
                <c:pt idx="1210">
                  <c:v>23</c:v>
                </c:pt>
                <c:pt idx="1211">
                  <c:v>20.93</c:v>
                </c:pt>
                <c:pt idx="1212">
                  <c:v>20.93</c:v>
                </c:pt>
                <c:pt idx="1213">
                  <c:v>20.93</c:v>
                </c:pt>
                <c:pt idx="1214">
                  <c:v>19.96</c:v>
                </c:pt>
                <c:pt idx="1215">
                  <c:v>19.96</c:v>
                </c:pt>
                <c:pt idx="1216">
                  <c:v>20.68</c:v>
                </c:pt>
                <c:pt idx="1217">
                  <c:v>23.23</c:v>
                </c:pt>
                <c:pt idx="1218">
                  <c:v>24.28</c:v>
                </c:pt>
                <c:pt idx="1219">
                  <c:v>23.6</c:v>
                </c:pt>
                <c:pt idx="1220">
                  <c:v>24.18</c:v>
                </c:pt>
                <c:pt idx="1221">
                  <c:v>24.85</c:v>
                </c:pt>
                <c:pt idx="1222">
                  <c:v>25.05</c:v>
                </c:pt>
                <c:pt idx="1223">
                  <c:v>25.02</c:v>
                </c:pt>
                <c:pt idx="1224">
                  <c:v>23.52</c:v>
                </c:pt>
                <c:pt idx="1225">
                  <c:v>23.51</c:v>
                </c:pt>
                <c:pt idx="1226">
                  <c:v>26.72</c:v>
                </c:pt>
                <c:pt idx="1227">
                  <c:v>26.72</c:v>
                </c:pt>
                <c:pt idx="1228">
                  <c:v>26.72</c:v>
                </c:pt>
                <c:pt idx="1229">
                  <c:v>26.73</c:v>
                </c:pt>
                <c:pt idx="1230">
                  <c:v>26.72</c:v>
                </c:pt>
                <c:pt idx="1231">
                  <c:v>28.72</c:v>
                </c:pt>
                <c:pt idx="1232">
                  <c:v>30.14</c:v>
                </c:pt>
                <c:pt idx="1233">
                  <c:v>31.09</c:v>
                </c:pt>
                <c:pt idx="1234">
                  <c:v>26.79</c:v>
                </c:pt>
                <c:pt idx="1235">
                  <c:v>31.17</c:v>
                </c:pt>
                <c:pt idx="1236">
                  <c:v>31.32</c:v>
                </c:pt>
                <c:pt idx="1237">
                  <c:v>31.42</c:v>
                </c:pt>
                <c:pt idx="1238">
                  <c:v>30</c:v>
                </c:pt>
                <c:pt idx="1239">
                  <c:v>26.72</c:v>
                </c:pt>
                <c:pt idx="1240">
                  <c:v>26.72</c:v>
                </c:pt>
                <c:pt idx="1241">
                  <c:v>26.72</c:v>
                </c:pt>
                <c:pt idx="1242">
                  <c:v>24.84</c:v>
                </c:pt>
                <c:pt idx="1243">
                  <c:v>23.23</c:v>
                </c:pt>
                <c:pt idx="1244">
                  <c:v>23</c:v>
                </c:pt>
                <c:pt idx="1245">
                  <c:v>20.75</c:v>
                </c:pt>
                <c:pt idx="1246">
                  <c:v>17.32</c:v>
                </c:pt>
                <c:pt idx="1247">
                  <c:v>17.02</c:v>
                </c:pt>
                <c:pt idx="1248">
                  <c:v>17.059999999999999</c:v>
                </c:pt>
                <c:pt idx="1249">
                  <c:v>17.46</c:v>
                </c:pt>
                <c:pt idx="1250">
                  <c:v>20.190000000000001</c:v>
                </c:pt>
                <c:pt idx="1251">
                  <c:v>20</c:v>
                </c:pt>
                <c:pt idx="1252">
                  <c:v>19.809999999999999</c:v>
                </c:pt>
                <c:pt idx="1253">
                  <c:v>20.25</c:v>
                </c:pt>
                <c:pt idx="1254">
                  <c:v>19.809999999999999</c:v>
                </c:pt>
                <c:pt idx="1255">
                  <c:v>20.93</c:v>
                </c:pt>
                <c:pt idx="1256">
                  <c:v>19.96</c:v>
                </c:pt>
                <c:pt idx="1257">
                  <c:v>19.96</c:v>
                </c:pt>
                <c:pt idx="1258">
                  <c:v>19.96</c:v>
                </c:pt>
                <c:pt idx="1259">
                  <c:v>21.31</c:v>
                </c:pt>
                <c:pt idx="1260">
                  <c:v>23</c:v>
                </c:pt>
                <c:pt idx="1261">
                  <c:v>23.21</c:v>
                </c:pt>
                <c:pt idx="1262">
                  <c:v>23.88</c:v>
                </c:pt>
                <c:pt idx="1263">
                  <c:v>23.21</c:v>
                </c:pt>
                <c:pt idx="1264">
                  <c:v>23</c:v>
                </c:pt>
                <c:pt idx="1265">
                  <c:v>23</c:v>
                </c:pt>
                <c:pt idx="1266">
                  <c:v>23.21</c:v>
                </c:pt>
                <c:pt idx="1267">
                  <c:v>23</c:v>
                </c:pt>
                <c:pt idx="1268">
                  <c:v>23</c:v>
                </c:pt>
                <c:pt idx="1269">
                  <c:v>19.809999999999999</c:v>
                </c:pt>
                <c:pt idx="1270">
                  <c:v>18.03</c:v>
                </c:pt>
                <c:pt idx="1271">
                  <c:v>17.739999999999998</c:v>
                </c:pt>
                <c:pt idx="1272">
                  <c:v>11.57</c:v>
                </c:pt>
                <c:pt idx="1273">
                  <c:v>10.85</c:v>
                </c:pt>
                <c:pt idx="1274">
                  <c:v>18.38</c:v>
                </c:pt>
                <c:pt idx="1275">
                  <c:v>17.739999999999998</c:v>
                </c:pt>
                <c:pt idx="1276">
                  <c:v>20.93</c:v>
                </c:pt>
                <c:pt idx="1277">
                  <c:v>23</c:v>
                </c:pt>
                <c:pt idx="1278">
                  <c:v>23</c:v>
                </c:pt>
                <c:pt idx="1279">
                  <c:v>23.1</c:v>
                </c:pt>
                <c:pt idx="1280">
                  <c:v>24.28</c:v>
                </c:pt>
                <c:pt idx="1281">
                  <c:v>28.41</c:v>
                </c:pt>
                <c:pt idx="1282">
                  <c:v>28.55</c:v>
                </c:pt>
                <c:pt idx="1283">
                  <c:v>27</c:v>
                </c:pt>
                <c:pt idx="1284">
                  <c:v>31.46</c:v>
                </c:pt>
                <c:pt idx="1285">
                  <c:v>31.48</c:v>
                </c:pt>
                <c:pt idx="1286">
                  <c:v>31.46</c:v>
                </c:pt>
                <c:pt idx="1287">
                  <c:v>30</c:v>
                </c:pt>
                <c:pt idx="1288">
                  <c:v>26.79</c:v>
                </c:pt>
                <c:pt idx="1289">
                  <c:v>26.47</c:v>
                </c:pt>
                <c:pt idx="1290">
                  <c:v>23</c:v>
                </c:pt>
                <c:pt idx="1291">
                  <c:v>23</c:v>
                </c:pt>
                <c:pt idx="1292">
                  <c:v>23</c:v>
                </c:pt>
                <c:pt idx="1293">
                  <c:v>20.85</c:v>
                </c:pt>
                <c:pt idx="1294">
                  <c:v>17.059999999999999</c:v>
                </c:pt>
                <c:pt idx="1295">
                  <c:v>13.94</c:v>
                </c:pt>
                <c:pt idx="1296">
                  <c:v>17.739999999999998</c:v>
                </c:pt>
                <c:pt idx="1297">
                  <c:v>18.71</c:v>
                </c:pt>
                <c:pt idx="1298">
                  <c:v>20.85</c:v>
                </c:pt>
                <c:pt idx="1299">
                  <c:v>19.809999999999999</c:v>
                </c:pt>
                <c:pt idx="1300">
                  <c:v>23.02</c:v>
                </c:pt>
                <c:pt idx="1301">
                  <c:v>23.13</c:v>
                </c:pt>
                <c:pt idx="1302">
                  <c:v>23.04</c:v>
                </c:pt>
                <c:pt idx="1303">
                  <c:v>23.23</c:v>
                </c:pt>
                <c:pt idx="1304">
                  <c:v>23.06</c:v>
                </c:pt>
                <c:pt idx="1305">
                  <c:v>23.06</c:v>
                </c:pt>
                <c:pt idx="1306">
                  <c:v>23.1</c:v>
                </c:pt>
                <c:pt idx="1307">
                  <c:v>23</c:v>
                </c:pt>
                <c:pt idx="1308">
                  <c:v>20.6</c:v>
                </c:pt>
                <c:pt idx="1309">
                  <c:v>17.97</c:v>
                </c:pt>
                <c:pt idx="1310">
                  <c:v>17.02</c:v>
                </c:pt>
                <c:pt idx="1311">
                  <c:v>14.99</c:v>
                </c:pt>
                <c:pt idx="1312">
                  <c:v>11.37</c:v>
                </c:pt>
                <c:pt idx="1313">
                  <c:v>11.55</c:v>
                </c:pt>
                <c:pt idx="1314">
                  <c:v>10.039999999999999</c:v>
                </c:pt>
                <c:pt idx="1315">
                  <c:v>10.039999999999999</c:v>
                </c:pt>
                <c:pt idx="1316">
                  <c:v>9.6999999999999993</c:v>
                </c:pt>
                <c:pt idx="1317">
                  <c:v>10.039999999999999</c:v>
                </c:pt>
                <c:pt idx="1318">
                  <c:v>10.039999999999999</c:v>
                </c:pt>
                <c:pt idx="1319">
                  <c:v>9.6999999999999993</c:v>
                </c:pt>
                <c:pt idx="1320">
                  <c:v>1.3</c:v>
                </c:pt>
                <c:pt idx="1321">
                  <c:v>2</c:v>
                </c:pt>
                <c:pt idx="1322">
                  <c:v>9.6999999999999993</c:v>
                </c:pt>
                <c:pt idx="1323">
                  <c:v>9.6999999999999993</c:v>
                </c:pt>
                <c:pt idx="1324">
                  <c:v>10.039999999999999</c:v>
                </c:pt>
                <c:pt idx="1325">
                  <c:v>10.039999999999999</c:v>
                </c:pt>
                <c:pt idx="1326">
                  <c:v>9.6300000000000008</c:v>
                </c:pt>
                <c:pt idx="1327">
                  <c:v>11.59</c:v>
                </c:pt>
                <c:pt idx="1328">
                  <c:v>18.27</c:v>
                </c:pt>
                <c:pt idx="1329">
                  <c:v>23.31</c:v>
                </c:pt>
                <c:pt idx="1330">
                  <c:v>24.28</c:v>
                </c:pt>
                <c:pt idx="1331">
                  <c:v>27.89</c:v>
                </c:pt>
                <c:pt idx="1332">
                  <c:v>28.81</c:v>
                </c:pt>
                <c:pt idx="1333">
                  <c:v>31.21</c:v>
                </c:pt>
                <c:pt idx="1334">
                  <c:v>29.19</c:v>
                </c:pt>
                <c:pt idx="1335">
                  <c:v>28.36</c:v>
                </c:pt>
                <c:pt idx="1336">
                  <c:v>29.79</c:v>
                </c:pt>
                <c:pt idx="1337">
                  <c:v>26.87</c:v>
                </c:pt>
                <c:pt idx="1338">
                  <c:v>25.48</c:v>
                </c:pt>
                <c:pt idx="1339">
                  <c:v>25.48</c:v>
                </c:pt>
                <c:pt idx="1340">
                  <c:v>26.47</c:v>
                </c:pt>
                <c:pt idx="1341">
                  <c:v>24.69</c:v>
                </c:pt>
                <c:pt idx="1342">
                  <c:v>24.28</c:v>
                </c:pt>
                <c:pt idx="1343">
                  <c:v>21.39</c:v>
                </c:pt>
                <c:pt idx="1344">
                  <c:v>18.38</c:v>
                </c:pt>
                <c:pt idx="1345">
                  <c:v>18.38</c:v>
                </c:pt>
                <c:pt idx="1346">
                  <c:v>18.38</c:v>
                </c:pt>
                <c:pt idx="1347">
                  <c:v>18.38</c:v>
                </c:pt>
                <c:pt idx="1348">
                  <c:v>18.38</c:v>
                </c:pt>
                <c:pt idx="1349">
                  <c:v>19.809999999999999</c:v>
                </c:pt>
                <c:pt idx="1350">
                  <c:v>20.93</c:v>
                </c:pt>
                <c:pt idx="1351">
                  <c:v>24.28</c:v>
                </c:pt>
                <c:pt idx="1352">
                  <c:v>23</c:v>
                </c:pt>
                <c:pt idx="1353">
                  <c:v>23</c:v>
                </c:pt>
                <c:pt idx="1354">
                  <c:v>23</c:v>
                </c:pt>
                <c:pt idx="1355">
                  <c:v>19.809999999999999</c:v>
                </c:pt>
                <c:pt idx="1356">
                  <c:v>17.46</c:v>
                </c:pt>
                <c:pt idx="1357">
                  <c:v>16.920000000000002</c:v>
                </c:pt>
                <c:pt idx="1358">
                  <c:v>11.99</c:v>
                </c:pt>
                <c:pt idx="1359">
                  <c:v>13.18</c:v>
                </c:pt>
                <c:pt idx="1360">
                  <c:v>14.52</c:v>
                </c:pt>
                <c:pt idx="1361">
                  <c:v>17.32</c:v>
                </c:pt>
                <c:pt idx="1362">
                  <c:v>17.739999999999998</c:v>
                </c:pt>
                <c:pt idx="1363">
                  <c:v>19.809999999999999</c:v>
                </c:pt>
                <c:pt idx="1364">
                  <c:v>17.739999999999998</c:v>
                </c:pt>
                <c:pt idx="1365">
                  <c:v>20.93</c:v>
                </c:pt>
                <c:pt idx="1366">
                  <c:v>23.34</c:v>
                </c:pt>
                <c:pt idx="1367">
                  <c:v>24.28</c:v>
                </c:pt>
                <c:pt idx="1368">
                  <c:v>24.28</c:v>
                </c:pt>
                <c:pt idx="1369">
                  <c:v>24.28</c:v>
                </c:pt>
                <c:pt idx="1370">
                  <c:v>26.47</c:v>
                </c:pt>
                <c:pt idx="1371">
                  <c:v>26.47</c:v>
                </c:pt>
                <c:pt idx="1372">
                  <c:v>28.33</c:v>
                </c:pt>
                <c:pt idx="1373">
                  <c:v>28.33</c:v>
                </c:pt>
                <c:pt idx="1374">
                  <c:v>24.28</c:v>
                </c:pt>
                <c:pt idx="1375">
                  <c:v>24.28</c:v>
                </c:pt>
                <c:pt idx="1376">
                  <c:v>25.05</c:v>
                </c:pt>
                <c:pt idx="1377">
                  <c:v>26.47</c:v>
                </c:pt>
                <c:pt idx="1378">
                  <c:v>26.12</c:v>
                </c:pt>
                <c:pt idx="1379">
                  <c:v>30.13</c:v>
                </c:pt>
                <c:pt idx="1380">
                  <c:v>31.88</c:v>
                </c:pt>
                <c:pt idx="1381">
                  <c:v>32.24</c:v>
                </c:pt>
                <c:pt idx="1382">
                  <c:v>31.93</c:v>
                </c:pt>
                <c:pt idx="1383">
                  <c:v>31.46</c:v>
                </c:pt>
                <c:pt idx="1384">
                  <c:v>31.43</c:v>
                </c:pt>
                <c:pt idx="1385">
                  <c:v>31.43</c:v>
                </c:pt>
                <c:pt idx="1386">
                  <c:v>30.26</c:v>
                </c:pt>
                <c:pt idx="1387">
                  <c:v>25.05</c:v>
                </c:pt>
                <c:pt idx="1388">
                  <c:v>24.28</c:v>
                </c:pt>
                <c:pt idx="1389">
                  <c:v>23.67</c:v>
                </c:pt>
                <c:pt idx="1390">
                  <c:v>23.34</c:v>
                </c:pt>
                <c:pt idx="1391">
                  <c:v>23.34</c:v>
                </c:pt>
                <c:pt idx="1392">
                  <c:v>17.100000000000001</c:v>
                </c:pt>
                <c:pt idx="1393">
                  <c:v>17.13</c:v>
                </c:pt>
                <c:pt idx="1394">
                  <c:v>17.850000000000001</c:v>
                </c:pt>
                <c:pt idx="1395">
                  <c:v>19.7</c:v>
                </c:pt>
                <c:pt idx="1396">
                  <c:v>20.399999999999999</c:v>
                </c:pt>
                <c:pt idx="1397">
                  <c:v>20.59</c:v>
                </c:pt>
                <c:pt idx="1398">
                  <c:v>20.72</c:v>
                </c:pt>
                <c:pt idx="1399">
                  <c:v>21.34</c:v>
                </c:pt>
                <c:pt idx="1400">
                  <c:v>21.16</c:v>
                </c:pt>
                <c:pt idx="1401">
                  <c:v>21.44</c:v>
                </c:pt>
                <c:pt idx="1402">
                  <c:v>20.39</c:v>
                </c:pt>
                <c:pt idx="1403">
                  <c:v>17.850000000000001</c:v>
                </c:pt>
                <c:pt idx="1404">
                  <c:v>16.37</c:v>
                </c:pt>
                <c:pt idx="1405">
                  <c:v>7.61</c:v>
                </c:pt>
                <c:pt idx="1406">
                  <c:v>0.21</c:v>
                </c:pt>
                <c:pt idx="1407">
                  <c:v>0.01</c:v>
                </c:pt>
                <c:pt idx="1408">
                  <c:v>0.01</c:v>
                </c:pt>
                <c:pt idx="1409">
                  <c:v>0.01</c:v>
                </c:pt>
                <c:pt idx="1410">
                  <c:v>0.01</c:v>
                </c:pt>
                <c:pt idx="1411">
                  <c:v>0.01</c:v>
                </c:pt>
                <c:pt idx="1412">
                  <c:v>0.01</c:v>
                </c:pt>
                <c:pt idx="1413">
                  <c:v>0.01</c:v>
                </c:pt>
                <c:pt idx="1414">
                  <c:v>0.01</c:v>
                </c:pt>
                <c:pt idx="1415">
                  <c:v>0.01</c:v>
                </c:pt>
                <c:pt idx="1416">
                  <c:v>0.01</c:v>
                </c:pt>
                <c:pt idx="1417">
                  <c:v>0.01</c:v>
                </c:pt>
                <c:pt idx="1418">
                  <c:v>0.01</c:v>
                </c:pt>
                <c:pt idx="1419">
                  <c:v>0.01</c:v>
                </c:pt>
                <c:pt idx="1420">
                  <c:v>0.01</c:v>
                </c:pt>
                <c:pt idx="1421">
                  <c:v>0.01</c:v>
                </c:pt>
                <c:pt idx="1422">
                  <c:v>0.01</c:v>
                </c:pt>
                <c:pt idx="1423">
                  <c:v>0.01</c:v>
                </c:pt>
                <c:pt idx="1424">
                  <c:v>2</c:v>
                </c:pt>
                <c:pt idx="1425">
                  <c:v>14.99</c:v>
                </c:pt>
                <c:pt idx="1426">
                  <c:v>23.02</c:v>
                </c:pt>
                <c:pt idx="1427">
                  <c:v>25.12</c:v>
                </c:pt>
                <c:pt idx="1428">
                  <c:v>26.97</c:v>
                </c:pt>
                <c:pt idx="1429">
                  <c:v>26.98</c:v>
                </c:pt>
                <c:pt idx="1430">
                  <c:v>27.8</c:v>
                </c:pt>
                <c:pt idx="1431">
                  <c:v>26.98</c:v>
                </c:pt>
                <c:pt idx="1432">
                  <c:v>26.97</c:v>
                </c:pt>
                <c:pt idx="1433">
                  <c:v>26.97</c:v>
                </c:pt>
                <c:pt idx="1434">
                  <c:v>26.97</c:v>
                </c:pt>
                <c:pt idx="1435">
                  <c:v>26.97</c:v>
                </c:pt>
                <c:pt idx="1436">
                  <c:v>28.03</c:v>
                </c:pt>
                <c:pt idx="1437">
                  <c:v>25.04</c:v>
                </c:pt>
                <c:pt idx="1438">
                  <c:v>21.57</c:v>
                </c:pt>
                <c:pt idx="1439">
                  <c:v>18.38</c:v>
                </c:pt>
              </c:numCache>
            </c:numRef>
          </c:val>
          <c:smooth val="0"/>
          <c:extLst>
            <c:ext xmlns:c16="http://schemas.microsoft.com/office/drawing/2014/chart" uri="{C3380CC4-5D6E-409C-BE32-E72D297353CC}">
              <c16:uniqueId val="{00000000-6307-4E70-838B-244EF8B972D0}"/>
            </c:ext>
          </c:extLst>
        </c:ser>
        <c:dLbls>
          <c:showLegendKey val="0"/>
          <c:showVal val="0"/>
          <c:showCatName val="0"/>
          <c:showSerName val="0"/>
          <c:showPercent val="0"/>
          <c:showBubbleSize val="0"/>
        </c:dLbls>
        <c:smooth val="0"/>
        <c:axId val="874286464"/>
        <c:axId val="874284064"/>
      </c:lineChart>
      <c:catAx>
        <c:axId val="874286464"/>
        <c:scaling>
          <c:orientation val="minMax"/>
        </c:scaling>
        <c:delete val="1"/>
        <c:axPos val="b"/>
        <c:numFmt formatCode="General" sourceLinked="1"/>
        <c:majorTickMark val="none"/>
        <c:minorTickMark val="none"/>
        <c:tickLblPos val="nextTo"/>
        <c:crossAx val="874284064"/>
        <c:crosses val="autoZero"/>
        <c:auto val="1"/>
        <c:lblAlgn val="ctr"/>
        <c:lblOffset val="100"/>
        <c:noMultiLvlLbl val="0"/>
      </c:catAx>
      <c:valAx>
        <c:axId val="8742840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en-US" altLang="ja-JP" sz="800" dirty="0"/>
                  <a:t>spot price [yen/kWh]</a:t>
                </a:r>
                <a:endParaRPr lang="ja-JP" altLang="en-US" sz="800" dirty="0"/>
              </a:p>
            </c:rich>
          </c:tx>
          <c:layout>
            <c:manualLayout>
              <c:xMode val="edge"/>
              <c:yMode val="edge"/>
              <c:x val="1.5547692503236296E-2"/>
              <c:y val="0.27083943550351941"/>
            </c:manualLayout>
          </c:layout>
          <c:overlay val="0"/>
          <c:spPr>
            <a:noFill/>
            <a:ln>
              <a:noFill/>
            </a:ln>
            <a:effectLst/>
          </c:spPr>
          <c:txPr>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lt"/>
                <a:ea typeface="+mn-ea"/>
                <a:cs typeface="+mn-cs"/>
              </a:defRPr>
            </a:pPr>
            <a:endParaRPr lang="en-US"/>
          </a:p>
        </c:txPr>
        <c:crossAx val="8742864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4108E-E9D4-467B-9B7B-0955BA4B5DD6}" type="datetimeFigureOut">
              <a:rPr lang="en-US" smtClean="0"/>
              <a:t>11/5/2024</a:t>
            </a:fld>
            <a:endParaRPr 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517ECB-A323-4F20-B0A5-9FB9A69857E2}" type="slidenum">
              <a:rPr lang="en-US" smtClean="0"/>
              <a:t>‹#›</a:t>
            </a:fld>
            <a:endParaRPr lang="en-US"/>
          </a:p>
        </p:txBody>
      </p:sp>
    </p:spTree>
    <p:extLst>
      <p:ext uri="{BB962C8B-B14F-4D97-AF65-F5344CB8AC3E}">
        <p14:creationId xmlns:p14="http://schemas.microsoft.com/office/powerpoint/2010/main" val="153416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8D21F722-56FD-42BC-AF3B-13EFFBBEA5F5}"/>
              </a:ext>
            </a:extLst>
          </p:cNvPr>
          <p:cNvSpPr>
            <a:spLocks noGrp="1"/>
          </p:cNvSpPr>
          <p:nvPr>
            <p:ph type="subTitle" idx="1"/>
          </p:nvPr>
        </p:nvSpPr>
        <p:spPr>
          <a:xfrm>
            <a:off x="1238250" y="3536052"/>
            <a:ext cx="7429500" cy="1073656"/>
          </a:xfrm>
          <a:prstGeom prst="rect">
            <a:avLst/>
          </a:prstGeom>
        </p:spPr>
        <p:txBody>
          <a:bodyPr anchor="ctr" anchorCtr="1"/>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10" name="タイトル 9">
            <a:extLst>
              <a:ext uri="{FF2B5EF4-FFF2-40B4-BE49-F238E27FC236}">
                <a16:creationId xmlns:a16="http://schemas.microsoft.com/office/drawing/2014/main" id="{C82F0508-9BC1-48D9-A7F5-332731FB3AC0}"/>
              </a:ext>
            </a:extLst>
          </p:cNvPr>
          <p:cNvSpPr>
            <a:spLocks noGrp="1"/>
          </p:cNvSpPr>
          <p:nvPr>
            <p:ph type="title"/>
          </p:nvPr>
        </p:nvSpPr>
        <p:spPr>
          <a:xfrm>
            <a:off x="766885" y="1243915"/>
            <a:ext cx="8372230" cy="2078037"/>
          </a:xfrm>
          <a:prstGeom prst="rect">
            <a:avLst/>
          </a:prstGeom>
        </p:spPr>
        <p:txBody>
          <a:bodyPr anchor="ctr" anchorCtr="1">
            <a:normAutofit/>
          </a:bodyPr>
          <a:lstStyle>
            <a:lvl1pPr>
              <a:defRPr sz="3600"/>
            </a:lvl1pPr>
          </a:lstStyle>
          <a:p>
            <a:r>
              <a:rPr lang="ja-JP" altLang="en-US"/>
              <a:t>マスター タイトルの書式設定</a:t>
            </a:r>
            <a:endParaRPr lang="en-US" dirty="0"/>
          </a:p>
        </p:txBody>
      </p:sp>
      <p:cxnSp>
        <p:nvCxnSpPr>
          <p:cNvPr id="20" name="直線コネクタ 19">
            <a:extLst>
              <a:ext uri="{FF2B5EF4-FFF2-40B4-BE49-F238E27FC236}">
                <a16:creationId xmlns:a16="http://schemas.microsoft.com/office/drawing/2014/main" id="{A35AF668-149E-41EA-8F56-12650BA0F84F}"/>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6" name="コンテンツ プレースホルダー 25">
            <a:extLst>
              <a:ext uri="{FF2B5EF4-FFF2-40B4-BE49-F238E27FC236}">
                <a16:creationId xmlns:a16="http://schemas.microsoft.com/office/drawing/2014/main" id="{0F8866CA-4AB9-4957-9BBE-9221BB6943C2}"/>
              </a:ext>
            </a:extLst>
          </p:cNvPr>
          <p:cNvSpPr>
            <a:spLocks noGrp="1"/>
          </p:cNvSpPr>
          <p:nvPr>
            <p:ph sz="quarter" idx="14" hasCustomPrompt="1"/>
          </p:nvPr>
        </p:nvSpPr>
        <p:spPr>
          <a:xfrm>
            <a:off x="5154695" y="5005634"/>
            <a:ext cx="4450040" cy="1611976"/>
          </a:xfrm>
          <a:prstGeom prst="rect">
            <a:avLst/>
          </a:prstGeom>
        </p:spPr>
        <p:txBody>
          <a:bodyPr/>
          <a:lstStyle>
            <a:lvl1pPr marL="0" indent="0">
              <a:buNone/>
              <a:defRPr/>
            </a:lvl1pPr>
          </a:lstStyle>
          <a:p>
            <a:pPr lvl="0"/>
            <a:r>
              <a:rPr lang="ja-JP" altLang="en-US" dirty="0"/>
              <a:t>名前などなど</a:t>
            </a:r>
            <a:endParaRPr lang="en-US" dirty="0"/>
          </a:p>
        </p:txBody>
      </p:sp>
      <p:sp>
        <p:nvSpPr>
          <p:cNvPr id="27" name="フッター プレースホルダー 5">
            <a:extLst>
              <a:ext uri="{FF2B5EF4-FFF2-40B4-BE49-F238E27FC236}">
                <a16:creationId xmlns:a16="http://schemas.microsoft.com/office/drawing/2014/main" id="{1BC7DA1C-B5D7-4572-BA6A-9279CF435D34}"/>
              </a:ext>
            </a:extLst>
          </p:cNvPr>
          <p:cNvSpPr>
            <a:spLocks noGrp="1"/>
          </p:cNvSpPr>
          <p:nvPr>
            <p:ph type="ftr" sz="quarter" idx="11"/>
          </p:nvPr>
        </p:nvSpPr>
        <p:spPr>
          <a:xfrm>
            <a:off x="3281363" y="6356352"/>
            <a:ext cx="3343275" cy="365125"/>
          </a:xfrm>
          <a:prstGeom prst="rect">
            <a:avLst/>
          </a:prstGeom>
        </p:spPr>
        <p:txBody>
          <a:bodyPr/>
          <a:lstStyle/>
          <a:p>
            <a:endParaRPr lang="en-US"/>
          </a:p>
        </p:txBody>
      </p:sp>
      <p:sp>
        <p:nvSpPr>
          <p:cNvPr id="31" name="コンテンツ プレースホルダー 30">
            <a:extLst>
              <a:ext uri="{FF2B5EF4-FFF2-40B4-BE49-F238E27FC236}">
                <a16:creationId xmlns:a16="http://schemas.microsoft.com/office/drawing/2014/main" id="{F7B80C78-A1F8-467A-9309-35D1629FFC88}"/>
              </a:ext>
            </a:extLst>
          </p:cNvPr>
          <p:cNvSpPr>
            <a:spLocks noGrp="1"/>
          </p:cNvSpPr>
          <p:nvPr>
            <p:ph sz="quarter" idx="16" hasCustomPrompt="1"/>
          </p:nvPr>
        </p:nvSpPr>
        <p:spPr>
          <a:xfrm>
            <a:off x="123827" y="93599"/>
            <a:ext cx="9015289"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spTree>
    <p:extLst>
      <p:ext uri="{BB962C8B-B14F-4D97-AF65-F5344CB8AC3E}">
        <p14:creationId xmlns:p14="http://schemas.microsoft.com/office/powerpoint/2010/main" val="3102093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0C0FAB2-A9F2-4B3C-B518-24524B7E5662}"/>
              </a:ext>
            </a:extLst>
          </p:cNvPr>
          <p:cNvSpPr>
            <a:spLocks noGrp="1"/>
          </p:cNvSpPr>
          <p:nvPr>
            <p:ph sz="half" idx="1" hasCustomPrompt="1"/>
          </p:nvPr>
        </p:nvSpPr>
        <p:spPr>
          <a:xfrm>
            <a:off x="569341" y="1036948"/>
            <a:ext cx="4217709" cy="5319402"/>
          </a:xfrm>
          <a:prstGeom prst="rect">
            <a:avLst/>
          </a:prstGeom>
        </p:spPr>
        <p:txBody>
          <a:bodyPr/>
          <a:lstStyle>
            <a:lvl1pPr marL="0" indent="0">
              <a:buNone/>
              <a:defRPr sz="1600"/>
            </a:lvl1pPr>
          </a:lstStyle>
          <a:p>
            <a:pPr lvl="0"/>
            <a:r>
              <a:rPr lang="ja-JP" altLang="en-US" dirty="0"/>
              <a:t>本文</a:t>
            </a:r>
            <a:endParaRPr lang="en-US" dirty="0"/>
          </a:p>
        </p:txBody>
      </p:sp>
      <p:sp>
        <p:nvSpPr>
          <p:cNvPr id="4" name="コンテンツ プレースホルダー 3">
            <a:extLst>
              <a:ext uri="{FF2B5EF4-FFF2-40B4-BE49-F238E27FC236}">
                <a16:creationId xmlns:a16="http://schemas.microsoft.com/office/drawing/2014/main" id="{A0D7B414-1B18-4F33-9452-A92B3D09ABBC}"/>
              </a:ext>
            </a:extLst>
          </p:cNvPr>
          <p:cNvSpPr>
            <a:spLocks noGrp="1"/>
          </p:cNvSpPr>
          <p:nvPr>
            <p:ph sz="half" idx="2" hasCustomPrompt="1"/>
          </p:nvPr>
        </p:nvSpPr>
        <p:spPr>
          <a:xfrm>
            <a:off x="5118951" y="1036948"/>
            <a:ext cx="4217710" cy="5319402"/>
          </a:xfrm>
          <a:prstGeom prst="rect">
            <a:avLst/>
          </a:prstGeom>
        </p:spPr>
        <p:txBody>
          <a:bodyPr/>
          <a:lstStyle>
            <a:lvl1pPr marL="0" indent="0">
              <a:buNone/>
              <a:defRPr sz="1600"/>
            </a:lvl1pPr>
          </a:lstStyle>
          <a:p>
            <a:pPr lvl="0"/>
            <a:r>
              <a:rPr lang="ja-JP" altLang="en-US" dirty="0"/>
              <a:t>本文</a:t>
            </a:r>
            <a:endParaRPr lang="en-US" dirty="0"/>
          </a:p>
        </p:txBody>
      </p:sp>
      <p:sp>
        <p:nvSpPr>
          <p:cNvPr id="6" name="フッター プレースホルダー 5">
            <a:extLst>
              <a:ext uri="{FF2B5EF4-FFF2-40B4-BE49-F238E27FC236}">
                <a16:creationId xmlns:a16="http://schemas.microsoft.com/office/drawing/2014/main" id="{35CEE59A-712E-4584-A46F-555D873EE714}"/>
              </a:ext>
            </a:extLst>
          </p:cNvPr>
          <p:cNvSpPr>
            <a:spLocks noGrp="1"/>
          </p:cNvSpPr>
          <p:nvPr>
            <p:ph type="ftr" sz="quarter" idx="11"/>
          </p:nvPr>
        </p:nvSpPr>
        <p:spPr>
          <a:xfrm>
            <a:off x="3281363" y="6356352"/>
            <a:ext cx="3343275" cy="365125"/>
          </a:xfrm>
          <a:prstGeom prst="rect">
            <a:avLst/>
          </a:prstGeom>
        </p:spPr>
        <p:txBody>
          <a:bodyPr/>
          <a:lstStyle/>
          <a:p>
            <a:endParaRPr lang="en-US"/>
          </a:p>
        </p:txBody>
      </p:sp>
      <p:sp>
        <p:nvSpPr>
          <p:cNvPr id="10" name="コンテンツ プレースホルダー 30">
            <a:extLst>
              <a:ext uri="{FF2B5EF4-FFF2-40B4-BE49-F238E27FC236}">
                <a16:creationId xmlns:a16="http://schemas.microsoft.com/office/drawing/2014/main" id="{49454B7E-400A-47A5-AB34-DCBAD0AF9668}"/>
              </a:ext>
            </a:extLst>
          </p:cNvPr>
          <p:cNvSpPr>
            <a:spLocks noGrp="1"/>
          </p:cNvSpPr>
          <p:nvPr>
            <p:ph sz="quarter" idx="16" hasCustomPrompt="1"/>
          </p:nvPr>
        </p:nvSpPr>
        <p:spPr>
          <a:xfrm>
            <a:off x="123825" y="93599"/>
            <a:ext cx="9018182"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cxnSp>
        <p:nvCxnSpPr>
          <p:cNvPr id="8" name="直線コネクタ 19">
            <a:extLst>
              <a:ext uri="{FF2B5EF4-FFF2-40B4-BE49-F238E27FC236}">
                <a16:creationId xmlns:a16="http://schemas.microsoft.com/office/drawing/2014/main" id="{E124DAD4-12E8-24CF-DDF1-EB21A2A880AD}"/>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103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つのコンテンツ">
    <p:spTree>
      <p:nvGrpSpPr>
        <p:cNvPr id="1" name=""/>
        <p:cNvGrpSpPr/>
        <p:nvPr/>
      </p:nvGrpSpPr>
      <p:grpSpPr>
        <a:xfrm>
          <a:off x="0" y="0"/>
          <a:ext cx="0" cy="0"/>
          <a:chOff x="0" y="0"/>
          <a:chExt cx="0" cy="0"/>
        </a:xfrm>
      </p:grpSpPr>
      <p:sp>
        <p:nvSpPr>
          <p:cNvPr id="9" name="フッター プレースホルダー 4">
            <a:extLst>
              <a:ext uri="{FF2B5EF4-FFF2-40B4-BE49-F238E27FC236}">
                <a16:creationId xmlns:a16="http://schemas.microsoft.com/office/drawing/2014/main" id="{EFAD21B6-C914-4376-93DE-45104B7F7B22}"/>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14" name="コンテンツ プレースホルダー 13">
            <a:extLst>
              <a:ext uri="{FF2B5EF4-FFF2-40B4-BE49-F238E27FC236}">
                <a16:creationId xmlns:a16="http://schemas.microsoft.com/office/drawing/2014/main" id="{C326FFC7-AF17-4503-9AAB-9E641C053071}"/>
              </a:ext>
            </a:extLst>
          </p:cNvPr>
          <p:cNvSpPr>
            <a:spLocks noGrp="1"/>
          </p:cNvSpPr>
          <p:nvPr>
            <p:ph sz="quarter" idx="17" hasCustomPrompt="1"/>
          </p:nvPr>
        </p:nvSpPr>
        <p:spPr>
          <a:xfrm>
            <a:off x="569341" y="1046377"/>
            <a:ext cx="8767320" cy="5309975"/>
          </a:xfrm>
          <a:prstGeom prst="rect">
            <a:avLst/>
          </a:prstGeom>
        </p:spPr>
        <p:txBody>
          <a:bodyPr/>
          <a:lstStyle>
            <a:lvl1pPr marL="0" indent="0">
              <a:buNone/>
              <a:defRPr sz="1600"/>
            </a:lvl1pPr>
          </a:lstStyle>
          <a:p>
            <a:pPr lvl="0"/>
            <a:r>
              <a:rPr lang="ja-JP" altLang="en-US" dirty="0"/>
              <a:t>本文</a:t>
            </a:r>
            <a:endParaRPr lang="en-US" dirty="0"/>
          </a:p>
        </p:txBody>
      </p:sp>
      <p:cxnSp>
        <p:nvCxnSpPr>
          <p:cNvPr id="7" name="直線コネクタ 19">
            <a:extLst>
              <a:ext uri="{FF2B5EF4-FFF2-40B4-BE49-F238E27FC236}">
                <a16:creationId xmlns:a16="http://schemas.microsoft.com/office/drawing/2014/main" id="{074EB4F2-5F06-92BD-9890-AEE1F718678C}"/>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30">
            <a:extLst>
              <a:ext uri="{FF2B5EF4-FFF2-40B4-BE49-F238E27FC236}">
                <a16:creationId xmlns:a16="http://schemas.microsoft.com/office/drawing/2014/main" id="{5C21FBAB-FD3A-E0EC-66AA-DE757C815A51}"/>
              </a:ext>
            </a:extLst>
          </p:cNvPr>
          <p:cNvSpPr>
            <a:spLocks noGrp="1"/>
          </p:cNvSpPr>
          <p:nvPr>
            <p:ph sz="quarter" idx="16" hasCustomPrompt="1"/>
          </p:nvPr>
        </p:nvSpPr>
        <p:spPr>
          <a:xfrm>
            <a:off x="123825" y="93599"/>
            <a:ext cx="9018182"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spTree>
    <p:extLst>
      <p:ext uri="{BB962C8B-B14F-4D97-AF65-F5344CB8AC3E}">
        <p14:creationId xmlns:p14="http://schemas.microsoft.com/office/powerpoint/2010/main" val="2825204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つのコンテンツ、2つまでの引用">
    <p:spTree>
      <p:nvGrpSpPr>
        <p:cNvPr id="1" name=""/>
        <p:cNvGrpSpPr/>
        <p:nvPr/>
      </p:nvGrpSpPr>
      <p:grpSpPr>
        <a:xfrm>
          <a:off x="0" y="0"/>
          <a:ext cx="0" cy="0"/>
          <a:chOff x="0" y="0"/>
          <a:chExt cx="0" cy="0"/>
        </a:xfrm>
      </p:grpSpPr>
      <p:sp>
        <p:nvSpPr>
          <p:cNvPr id="9" name="フッター プレースホルダー 4">
            <a:extLst>
              <a:ext uri="{FF2B5EF4-FFF2-40B4-BE49-F238E27FC236}">
                <a16:creationId xmlns:a16="http://schemas.microsoft.com/office/drawing/2014/main" id="{EFAD21B6-C914-4376-93DE-45104B7F7B22}"/>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14" name="コンテンツ プレースホルダー 13">
            <a:extLst>
              <a:ext uri="{FF2B5EF4-FFF2-40B4-BE49-F238E27FC236}">
                <a16:creationId xmlns:a16="http://schemas.microsoft.com/office/drawing/2014/main" id="{C326FFC7-AF17-4503-9AAB-9E641C053071}"/>
              </a:ext>
            </a:extLst>
          </p:cNvPr>
          <p:cNvSpPr>
            <a:spLocks noGrp="1"/>
          </p:cNvSpPr>
          <p:nvPr>
            <p:ph sz="quarter" idx="17" hasCustomPrompt="1"/>
          </p:nvPr>
        </p:nvSpPr>
        <p:spPr>
          <a:xfrm>
            <a:off x="569341" y="1046377"/>
            <a:ext cx="8767320" cy="5309975"/>
          </a:xfrm>
          <a:prstGeom prst="rect">
            <a:avLst/>
          </a:prstGeom>
        </p:spPr>
        <p:txBody>
          <a:bodyPr/>
          <a:lstStyle>
            <a:lvl1pPr marL="0" indent="0">
              <a:buNone/>
              <a:defRPr sz="1600"/>
            </a:lvl1pPr>
          </a:lstStyle>
          <a:p>
            <a:pPr lvl="0"/>
            <a:r>
              <a:rPr lang="ja-JP" altLang="en-US" dirty="0"/>
              <a:t>本文</a:t>
            </a:r>
            <a:endParaRPr lang="en-US" dirty="0"/>
          </a:p>
        </p:txBody>
      </p:sp>
      <p:cxnSp>
        <p:nvCxnSpPr>
          <p:cNvPr id="7" name="直線コネクタ 19">
            <a:extLst>
              <a:ext uri="{FF2B5EF4-FFF2-40B4-BE49-F238E27FC236}">
                <a16:creationId xmlns:a16="http://schemas.microsoft.com/office/drawing/2014/main" id="{074EB4F2-5F06-92BD-9890-AEE1F718678C}"/>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30">
            <a:extLst>
              <a:ext uri="{FF2B5EF4-FFF2-40B4-BE49-F238E27FC236}">
                <a16:creationId xmlns:a16="http://schemas.microsoft.com/office/drawing/2014/main" id="{5C21FBAB-FD3A-E0EC-66AA-DE757C815A51}"/>
              </a:ext>
            </a:extLst>
          </p:cNvPr>
          <p:cNvSpPr>
            <a:spLocks noGrp="1"/>
          </p:cNvSpPr>
          <p:nvPr>
            <p:ph sz="quarter" idx="16" hasCustomPrompt="1"/>
          </p:nvPr>
        </p:nvSpPr>
        <p:spPr>
          <a:xfrm>
            <a:off x="123825" y="93599"/>
            <a:ext cx="9018182"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cxnSp>
        <p:nvCxnSpPr>
          <p:cNvPr id="8" name="直線コネクタ 12">
            <a:extLst>
              <a:ext uri="{FF2B5EF4-FFF2-40B4-BE49-F238E27FC236}">
                <a16:creationId xmlns:a16="http://schemas.microsoft.com/office/drawing/2014/main" id="{3D722369-D19D-6517-D4B3-16B645F54C0E}"/>
              </a:ext>
            </a:extLst>
          </p:cNvPr>
          <p:cNvCxnSpPr>
            <a:cxnSpLocks/>
          </p:cNvCxnSpPr>
          <p:nvPr userDrawn="1"/>
        </p:nvCxnSpPr>
        <p:spPr>
          <a:xfrm>
            <a:off x="149547" y="6488772"/>
            <a:ext cx="9643242"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4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1つのコンテンツ、4つまでの引用">
    <p:spTree>
      <p:nvGrpSpPr>
        <p:cNvPr id="1" name=""/>
        <p:cNvGrpSpPr/>
        <p:nvPr/>
      </p:nvGrpSpPr>
      <p:grpSpPr>
        <a:xfrm>
          <a:off x="0" y="0"/>
          <a:ext cx="0" cy="0"/>
          <a:chOff x="0" y="0"/>
          <a:chExt cx="0" cy="0"/>
        </a:xfrm>
      </p:grpSpPr>
      <p:sp>
        <p:nvSpPr>
          <p:cNvPr id="9" name="フッター プレースホルダー 4">
            <a:extLst>
              <a:ext uri="{FF2B5EF4-FFF2-40B4-BE49-F238E27FC236}">
                <a16:creationId xmlns:a16="http://schemas.microsoft.com/office/drawing/2014/main" id="{EFAD21B6-C914-4376-93DE-45104B7F7B22}"/>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14" name="コンテンツ プレースホルダー 13">
            <a:extLst>
              <a:ext uri="{FF2B5EF4-FFF2-40B4-BE49-F238E27FC236}">
                <a16:creationId xmlns:a16="http://schemas.microsoft.com/office/drawing/2014/main" id="{C326FFC7-AF17-4503-9AAB-9E641C053071}"/>
              </a:ext>
            </a:extLst>
          </p:cNvPr>
          <p:cNvSpPr>
            <a:spLocks noGrp="1"/>
          </p:cNvSpPr>
          <p:nvPr>
            <p:ph sz="quarter" idx="17" hasCustomPrompt="1"/>
          </p:nvPr>
        </p:nvSpPr>
        <p:spPr>
          <a:xfrm>
            <a:off x="569341" y="1046378"/>
            <a:ext cx="8767320" cy="4912564"/>
          </a:xfrm>
          <a:prstGeom prst="rect">
            <a:avLst/>
          </a:prstGeom>
        </p:spPr>
        <p:txBody>
          <a:bodyPr/>
          <a:lstStyle>
            <a:lvl1pPr marL="0" indent="0">
              <a:buNone/>
              <a:defRPr sz="1600"/>
            </a:lvl1pPr>
          </a:lstStyle>
          <a:p>
            <a:pPr lvl="0"/>
            <a:r>
              <a:rPr lang="ja-JP" altLang="en-US" dirty="0"/>
              <a:t>本文</a:t>
            </a:r>
            <a:endParaRPr lang="en-US" dirty="0"/>
          </a:p>
        </p:txBody>
      </p:sp>
      <p:cxnSp>
        <p:nvCxnSpPr>
          <p:cNvPr id="7" name="直線コネクタ 19">
            <a:extLst>
              <a:ext uri="{FF2B5EF4-FFF2-40B4-BE49-F238E27FC236}">
                <a16:creationId xmlns:a16="http://schemas.microsoft.com/office/drawing/2014/main" id="{074EB4F2-5F06-92BD-9890-AEE1F718678C}"/>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30">
            <a:extLst>
              <a:ext uri="{FF2B5EF4-FFF2-40B4-BE49-F238E27FC236}">
                <a16:creationId xmlns:a16="http://schemas.microsoft.com/office/drawing/2014/main" id="{5C21FBAB-FD3A-E0EC-66AA-DE757C815A51}"/>
              </a:ext>
            </a:extLst>
          </p:cNvPr>
          <p:cNvSpPr>
            <a:spLocks noGrp="1"/>
          </p:cNvSpPr>
          <p:nvPr>
            <p:ph sz="quarter" idx="16" hasCustomPrompt="1"/>
          </p:nvPr>
        </p:nvSpPr>
        <p:spPr>
          <a:xfrm>
            <a:off x="123825" y="93599"/>
            <a:ext cx="9018182"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cxnSp>
        <p:nvCxnSpPr>
          <p:cNvPr id="8" name="直線コネクタ 12">
            <a:extLst>
              <a:ext uri="{FF2B5EF4-FFF2-40B4-BE49-F238E27FC236}">
                <a16:creationId xmlns:a16="http://schemas.microsoft.com/office/drawing/2014/main" id="{3D722369-D19D-6517-D4B3-16B645F54C0E}"/>
              </a:ext>
            </a:extLst>
          </p:cNvPr>
          <p:cNvCxnSpPr>
            <a:cxnSpLocks/>
          </p:cNvCxnSpPr>
          <p:nvPr userDrawn="1"/>
        </p:nvCxnSpPr>
        <p:spPr>
          <a:xfrm>
            <a:off x="149547" y="6126689"/>
            <a:ext cx="9643242"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8649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1つのコンテンツ、いっぱいの引用">
    <p:spTree>
      <p:nvGrpSpPr>
        <p:cNvPr id="1" name=""/>
        <p:cNvGrpSpPr/>
        <p:nvPr/>
      </p:nvGrpSpPr>
      <p:grpSpPr>
        <a:xfrm>
          <a:off x="0" y="0"/>
          <a:ext cx="0" cy="0"/>
          <a:chOff x="0" y="0"/>
          <a:chExt cx="0" cy="0"/>
        </a:xfrm>
      </p:grpSpPr>
      <p:sp>
        <p:nvSpPr>
          <p:cNvPr id="9" name="フッター プレースホルダー 4">
            <a:extLst>
              <a:ext uri="{FF2B5EF4-FFF2-40B4-BE49-F238E27FC236}">
                <a16:creationId xmlns:a16="http://schemas.microsoft.com/office/drawing/2014/main" id="{EFAD21B6-C914-4376-93DE-45104B7F7B22}"/>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14" name="コンテンツ プレースホルダー 13">
            <a:extLst>
              <a:ext uri="{FF2B5EF4-FFF2-40B4-BE49-F238E27FC236}">
                <a16:creationId xmlns:a16="http://schemas.microsoft.com/office/drawing/2014/main" id="{C326FFC7-AF17-4503-9AAB-9E641C053071}"/>
              </a:ext>
            </a:extLst>
          </p:cNvPr>
          <p:cNvSpPr>
            <a:spLocks noGrp="1"/>
          </p:cNvSpPr>
          <p:nvPr>
            <p:ph sz="quarter" idx="17" hasCustomPrompt="1"/>
          </p:nvPr>
        </p:nvSpPr>
        <p:spPr>
          <a:xfrm>
            <a:off x="569341" y="1046378"/>
            <a:ext cx="8767320" cy="4046995"/>
          </a:xfrm>
          <a:prstGeom prst="rect">
            <a:avLst/>
          </a:prstGeom>
        </p:spPr>
        <p:txBody>
          <a:bodyPr/>
          <a:lstStyle>
            <a:lvl1pPr marL="0" indent="0">
              <a:buNone/>
              <a:defRPr sz="1600"/>
            </a:lvl1pPr>
          </a:lstStyle>
          <a:p>
            <a:pPr lvl="0"/>
            <a:r>
              <a:rPr lang="ja-JP" altLang="en-US" dirty="0"/>
              <a:t>本文</a:t>
            </a:r>
            <a:endParaRPr lang="en-US" dirty="0"/>
          </a:p>
        </p:txBody>
      </p:sp>
      <p:cxnSp>
        <p:nvCxnSpPr>
          <p:cNvPr id="7" name="直線コネクタ 19">
            <a:extLst>
              <a:ext uri="{FF2B5EF4-FFF2-40B4-BE49-F238E27FC236}">
                <a16:creationId xmlns:a16="http://schemas.microsoft.com/office/drawing/2014/main" id="{074EB4F2-5F06-92BD-9890-AEE1F718678C}"/>
              </a:ext>
            </a:extLst>
          </p:cNvPr>
          <p:cNvCxnSpPr>
            <a:cxnSpLocks/>
          </p:cNvCxnSpPr>
          <p:nvPr userDrawn="1"/>
        </p:nvCxnSpPr>
        <p:spPr>
          <a:xfrm>
            <a:off x="0" y="72586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 name="コンテンツ プレースホルダー 30">
            <a:extLst>
              <a:ext uri="{FF2B5EF4-FFF2-40B4-BE49-F238E27FC236}">
                <a16:creationId xmlns:a16="http://schemas.microsoft.com/office/drawing/2014/main" id="{5C21FBAB-FD3A-E0EC-66AA-DE757C815A51}"/>
              </a:ext>
            </a:extLst>
          </p:cNvPr>
          <p:cNvSpPr>
            <a:spLocks noGrp="1"/>
          </p:cNvSpPr>
          <p:nvPr>
            <p:ph sz="quarter" idx="16" hasCustomPrompt="1"/>
          </p:nvPr>
        </p:nvSpPr>
        <p:spPr>
          <a:xfrm>
            <a:off x="123825" y="93599"/>
            <a:ext cx="9018182" cy="525214"/>
          </a:xfrm>
          <a:prstGeom prst="rect">
            <a:avLst/>
          </a:prstGeom>
        </p:spPr>
        <p:txBody>
          <a:bodyPr anchor="ctr" anchorCtr="0"/>
          <a:lstStyle>
            <a:lvl1pPr marL="0" indent="0">
              <a:buNone/>
              <a:defRPr sz="2100" b="1"/>
            </a:lvl1pPr>
          </a:lstStyle>
          <a:p>
            <a:pPr lvl="0"/>
            <a:r>
              <a:rPr lang="ja-JP" altLang="en-US" dirty="0"/>
              <a:t>タイトル</a:t>
            </a:r>
            <a:endParaRPr lang="en-US" dirty="0"/>
          </a:p>
        </p:txBody>
      </p:sp>
      <p:cxnSp>
        <p:nvCxnSpPr>
          <p:cNvPr id="8" name="直線コネクタ 12">
            <a:extLst>
              <a:ext uri="{FF2B5EF4-FFF2-40B4-BE49-F238E27FC236}">
                <a16:creationId xmlns:a16="http://schemas.microsoft.com/office/drawing/2014/main" id="{3D722369-D19D-6517-D4B3-16B645F54C0E}"/>
              </a:ext>
            </a:extLst>
          </p:cNvPr>
          <p:cNvCxnSpPr>
            <a:cxnSpLocks/>
          </p:cNvCxnSpPr>
          <p:nvPr userDrawn="1"/>
        </p:nvCxnSpPr>
        <p:spPr>
          <a:xfrm>
            <a:off x="149547" y="5200427"/>
            <a:ext cx="9643242"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257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6446EF14-7783-4EF7-AA0A-3B021F61F609}"/>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098329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フッター プレースホルダー 4">
            <a:extLst>
              <a:ext uri="{FF2B5EF4-FFF2-40B4-BE49-F238E27FC236}">
                <a16:creationId xmlns:a16="http://schemas.microsoft.com/office/drawing/2014/main" id="{5B330C0F-4F4C-4112-8E93-0FB05D046033}"/>
              </a:ext>
            </a:extLst>
          </p:cNvPr>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8" name="スライド番号プレースホルダー 8">
            <a:extLst>
              <a:ext uri="{FF2B5EF4-FFF2-40B4-BE49-F238E27FC236}">
                <a16:creationId xmlns:a16="http://schemas.microsoft.com/office/drawing/2014/main" id="{E4C20F36-0477-4157-90F1-481B3801CDAB}"/>
              </a:ext>
            </a:extLst>
          </p:cNvPr>
          <p:cNvSpPr txBox="1">
            <a:spLocks/>
          </p:cNvSpPr>
          <p:nvPr userDrawn="1"/>
        </p:nvSpPr>
        <p:spPr>
          <a:xfrm>
            <a:off x="9329617" y="68609"/>
            <a:ext cx="5080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2D2193-934F-4ABA-AF5E-BAAF841B8E8B}" type="slidenum">
              <a:rPr lang="en-US" sz="1350" smtClean="0"/>
              <a:pPr/>
              <a:t>‹#›</a:t>
            </a:fld>
            <a:endParaRPr lang="en-US" sz="1350" dirty="0"/>
          </a:p>
        </p:txBody>
      </p:sp>
      <p:sp>
        <p:nvSpPr>
          <p:cNvPr id="6" name="日付プレースホルダー 3">
            <a:extLst>
              <a:ext uri="{FF2B5EF4-FFF2-40B4-BE49-F238E27FC236}">
                <a16:creationId xmlns:a16="http://schemas.microsoft.com/office/drawing/2014/main" id="{AB37F929-A103-406E-B52C-710ACD605810}"/>
              </a:ext>
            </a:extLst>
          </p:cNvPr>
          <p:cNvSpPr txBox="1">
            <a:spLocks/>
          </p:cNvSpPr>
          <p:nvPr userDrawn="1"/>
        </p:nvSpPr>
        <p:spPr>
          <a:xfrm>
            <a:off x="8667750" y="6435048"/>
            <a:ext cx="1183596"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1C07C7-5269-4ABF-88CE-7C4B9569CDB4}" type="datetime1">
              <a:rPr lang="en-US" sz="1200" smtClean="0"/>
              <a:pPr/>
              <a:t>11/5/2024</a:t>
            </a:fld>
            <a:endParaRPr lang="en-US" sz="1200" dirty="0"/>
          </a:p>
        </p:txBody>
      </p:sp>
    </p:spTree>
    <p:extLst>
      <p:ext uri="{BB962C8B-B14F-4D97-AF65-F5344CB8AC3E}">
        <p14:creationId xmlns:p14="http://schemas.microsoft.com/office/powerpoint/2010/main" val="3483400429"/>
      </p:ext>
    </p:extLst>
  </p:cSld>
  <p:clrMap bg1="lt1" tx1="dk1" bg2="lt2" tx2="dk2" accent1="accent1" accent2="accent2" accent3="accent3" accent4="accent4" accent5="accent5" accent6="accent6" hlink="hlink" folHlink="folHlink"/>
  <p:sldLayoutIdLst>
    <p:sldLayoutId id="2147483649" r:id="rId1"/>
    <p:sldLayoutId id="2147483652" r:id="rId2"/>
    <p:sldLayoutId id="2147483655" r:id="rId3"/>
    <p:sldLayoutId id="2147483657" r:id="rId4"/>
    <p:sldLayoutId id="2147483658" r:id="rId5"/>
    <p:sldLayoutId id="2147483659" r:id="rId6"/>
    <p:sldLayoutId id="2147483656" r:id="rId7"/>
  </p:sldLayoutIdLst>
  <p:hf sldNum="0"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hyperlink" Target="https://www.nef.or.jp/keyword/ta/articles_te_01_01.html"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www.deloitte.com/nl/en/Industries/energy/blogs/peer-to-peer-energy-trading.html" TargetMode="External"/><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hyperlink" Target="https://www.jepx.jp/electricpower/market-data/spot/" TargetMode="External"/><Relationship Id="rId7" Type="http://schemas.openxmlformats.org/officeDocument/2006/relationships/chart" Target="../charts/chart2.xml"/><Relationship Id="rId2" Type="http://schemas.openxmlformats.org/officeDocument/2006/relationships/hyperlink" Target="https://www.enecho.meti.go.jp/" TargetMode="External"/><Relationship Id="rId1" Type="http://schemas.openxmlformats.org/officeDocument/2006/relationships/slideLayout" Target="../slideLayouts/slideLayout4.xml"/><Relationship Id="rId6" Type="http://schemas.openxmlformats.org/officeDocument/2006/relationships/chart" Target="../charts/chart1.xml"/><Relationship Id="rId5" Type="http://schemas.openxmlformats.org/officeDocument/2006/relationships/image" Target="../media/image2.png"/><Relationship Id="rId4" Type="http://schemas.openxmlformats.org/officeDocument/2006/relationships/hyperlink" Target="https://app.electricitymaps.com/"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nef.or.jp/keyword/ta/articles_te_01_01.html"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hyperlink" Target="https://www.nef.or.jp/keyword/ta/articles_te_01_01.html" TargetMode="Externa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hyperlink" Target="https://www.californiadgstats.ca.gov/downloads/" TargetMode="External"/><Relationship Id="rId7" Type="http://schemas.openxmlformats.org/officeDocument/2006/relationships/image" Target="../media/image5.png"/><Relationship Id="rId2" Type="http://schemas.openxmlformats.org/officeDocument/2006/relationships/hyperlink" Target="https://www.kaggle.com/code/claytonmiller/building-data-genome-project-2-overview/data" TargetMode="Externa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caiso.com/Pages/default.aspx"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from.sonysonpo.co.jp/topics/pr/2023/07/20230727_01.html"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sv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2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80.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slideLayout" Target="../slideLayouts/slideLayout4.xml"/><Relationship Id="rId5" Type="http://schemas.openxmlformats.org/officeDocument/2006/relationships/image" Target="../media/image52.sv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Layout" Target="../slideLayouts/slideLayout4.xml"/><Relationship Id="rId5" Type="http://schemas.openxmlformats.org/officeDocument/2006/relationships/image" Target="../media/image56.svg"/><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3.xml"/><Relationship Id="rId5" Type="http://schemas.openxmlformats.org/officeDocument/2006/relationships/image" Target="../media/image60.svg"/><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www.nrel.gov/docs/fy22osti/83586.pdf" TargetMode="External"/><Relationship Id="rId1" Type="http://schemas.openxmlformats.org/officeDocument/2006/relationships/slideLayout" Target="../slideLayouts/slideLayout4.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www.nrel.gov/docs/fy22osti/83586.pdf" TargetMode="Externa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1.png"/><Relationship Id="rId4" Type="http://schemas.openxmlformats.org/officeDocument/2006/relationships/hyperlink" Target="https://www.nrel.gov/docs/fy22osti/83586.pdf"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hyperlink" Target="https://www.occto.or.jp/iinkai/chouseiryoku/jukyuchousei/2019/files/jukyu_shijyo_11_04_02_02.pdf" TargetMode="External"/><Relationship Id="rId2" Type="http://schemas.openxmlformats.org/officeDocument/2006/relationships/image" Target="../media/image70.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hyperlink" Target="https://www.nef.or.jp/keyword/ta/articles_te_01_01.html"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260E93D4-C834-4EC0-854E-425ACAB431B2}"/>
              </a:ext>
            </a:extLst>
          </p:cNvPr>
          <p:cNvSpPr>
            <a:spLocks noGrp="1"/>
          </p:cNvSpPr>
          <p:nvPr>
            <p:ph type="title"/>
          </p:nvPr>
        </p:nvSpPr>
        <p:spPr>
          <a:xfrm>
            <a:off x="997630" y="1263877"/>
            <a:ext cx="7910740" cy="3422423"/>
          </a:xfrm>
        </p:spPr>
        <p:txBody>
          <a:bodyPr>
            <a:normAutofit fontScale="90000"/>
          </a:bodyPr>
          <a:lstStyle/>
          <a:p>
            <a:r>
              <a:rPr lang="ja-JP" altLang="en-US" dirty="0"/>
              <a:t>マルチエージェント強化学習を用いた自律分散型マイクログリッドのデザイン</a:t>
            </a:r>
            <a:br>
              <a:rPr lang="en-US" altLang="ja-JP" dirty="0"/>
            </a:br>
            <a:br>
              <a:rPr lang="en-US" altLang="ja-JP" dirty="0"/>
            </a:br>
            <a:br>
              <a:rPr lang="en-US" altLang="ja-JP" dirty="0"/>
            </a:br>
            <a:r>
              <a:rPr lang="en-US" altLang="ja-JP" dirty="0"/>
              <a:t>Design of Autonomous Decentralized Microgrids Using Multi-Agent Reinforcement Learning</a:t>
            </a:r>
            <a:endParaRPr lang="en-US" dirty="0"/>
          </a:p>
        </p:txBody>
      </p:sp>
      <p:sp>
        <p:nvSpPr>
          <p:cNvPr id="4" name="コンテンツ プレースホルダー 3">
            <a:extLst>
              <a:ext uri="{FF2B5EF4-FFF2-40B4-BE49-F238E27FC236}">
                <a16:creationId xmlns:a16="http://schemas.microsoft.com/office/drawing/2014/main" id="{CA00FC3D-C692-4913-B44A-2B5CBECFD5BE}"/>
              </a:ext>
            </a:extLst>
          </p:cNvPr>
          <p:cNvSpPr>
            <a:spLocks noGrp="1"/>
          </p:cNvSpPr>
          <p:nvPr>
            <p:ph sz="quarter" idx="14"/>
          </p:nvPr>
        </p:nvSpPr>
        <p:spPr>
          <a:xfrm>
            <a:off x="6654140" y="5005634"/>
            <a:ext cx="2950595" cy="1611976"/>
          </a:xfrm>
        </p:spPr>
        <p:txBody>
          <a:bodyPr/>
          <a:lstStyle/>
          <a:p>
            <a:r>
              <a:rPr lang="en-US" altLang="ja-JP" sz="2400" dirty="0"/>
              <a:t>M2 Morita Yudai</a:t>
            </a:r>
            <a:endParaRPr lang="en-US" sz="2400" dirty="0"/>
          </a:p>
        </p:txBody>
      </p:sp>
      <p:sp>
        <p:nvSpPr>
          <p:cNvPr id="5" name="コンテンツ プレースホルダー 4">
            <a:extLst>
              <a:ext uri="{FF2B5EF4-FFF2-40B4-BE49-F238E27FC236}">
                <a16:creationId xmlns:a16="http://schemas.microsoft.com/office/drawing/2014/main" id="{229ABE75-C320-4EDA-A47B-69A10A2CFB0F}"/>
              </a:ext>
            </a:extLst>
          </p:cNvPr>
          <p:cNvSpPr>
            <a:spLocks noGrp="1"/>
          </p:cNvSpPr>
          <p:nvPr>
            <p:ph sz="quarter" idx="16"/>
          </p:nvPr>
        </p:nvSpPr>
        <p:spPr/>
        <p:txBody>
          <a:bodyPr/>
          <a:lstStyle/>
          <a:p>
            <a:r>
              <a:rPr lang="en-US" sz="2400" dirty="0"/>
              <a:t>Weekly seminar @Nakata Lab.</a:t>
            </a:r>
          </a:p>
        </p:txBody>
      </p:sp>
    </p:spTree>
    <p:extLst>
      <p:ext uri="{BB962C8B-B14F-4D97-AF65-F5344CB8AC3E}">
        <p14:creationId xmlns:p14="http://schemas.microsoft.com/office/powerpoint/2010/main" val="3847767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t>1. Introduction and background</a:t>
            </a:r>
          </a:p>
          <a:p>
            <a:pPr marL="342900" indent="-342900">
              <a:buAutoNum type="arabicPeriod"/>
            </a:pPr>
            <a:endParaRPr kumimoji="1" lang="en-US" altLang="ja-JP" dirty="0"/>
          </a:p>
          <a:p>
            <a:r>
              <a:rPr kumimoji="1" lang="en-US" altLang="ja-JP" dirty="0"/>
              <a:t>2. Objective</a:t>
            </a:r>
          </a:p>
          <a:p>
            <a:endParaRPr kumimoji="1" lang="en-US" altLang="ja-JP" dirty="0"/>
          </a:p>
          <a:p>
            <a:r>
              <a:rPr kumimoji="1" lang="en-US" altLang="ja-JP" dirty="0"/>
              <a:t>3. Methodology</a:t>
            </a:r>
          </a:p>
          <a:p>
            <a:r>
              <a:rPr kumimoji="1" lang="en-US" altLang="ja-JP" sz="1200" dirty="0"/>
              <a:t>3.1 Step 1: </a:t>
            </a:r>
            <a:r>
              <a:rPr lang="en-US" altLang="ja-JP" sz="1200" dirty="0"/>
              <a:t>Data collection</a:t>
            </a:r>
          </a:p>
          <a:p>
            <a:r>
              <a:rPr kumimoji="1" lang="en-US" altLang="ja-JP" sz="1200" dirty="0"/>
              <a:t>       3.1.1 Data (demand, PV supply, wholesale price)</a:t>
            </a:r>
            <a:endParaRPr kumimoji="1" lang="ja-JP" altLang="en-US" sz="1200" dirty="0"/>
          </a:p>
          <a:p>
            <a:r>
              <a:rPr kumimoji="1" lang="en-US" altLang="ja-JP" sz="1200" dirty="0"/>
              <a:t>       3.1.2 Car usage survey </a:t>
            </a:r>
            <a:r>
              <a:rPr kumimoji="1" lang="ja-JP" altLang="en-US" sz="1200" dirty="0"/>
              <a:t>→ </a:t>
            </a:r>
            <a:r>
              <a:rPr kumimoji="1" lang="en-US" altLang="ja-JP" sz="1200" dirty="0"/>
              <a:t>Car usage data</a:t>
            </a:r>
          </a:p>
          <a:p>
            <a:r>
              <a:rPr kumimoji="1" lang="en-US" altLang="ja-JP" sz="1200" dirty="0"/>
              <a:t>       3.1.3 Technology parameter (battery charge/discharge speed limit, efficiency)</a:t>
            </a:r>
          </a:p>
          <a:p>
            <a:r>
              <a:rPr kumimoji="1" lang="en-US" altLang="ja-JP" sz="1200" dirty="0"/>
              <a:t>3.2 Step 2: </a:t>
            </a:r>
            <a:r>
              <a:rPr lang="en-US" altLang="ja-JP" sz="1200" dirty="0"/>
              <a:t>Model construction </a:t>
            </a:r>
            <a:r>
              <a:rPr kumimoji="1" lang="en-US" altLang="ja-JP" sz="1200" dirty="0"/>
              <a:t>	</a:t>
            </a:r>
          </a:p>
          <a:p>
            <a:r>
              <a:rPr kumimoji="1" lang="en-US" altLang="ja-JP" sz="1200" dirty="0"/>
              <a:t>       3.2.1 Generate agent</a:t>
            </a:r>
          </a:p>
          <a:p>
            <a:r>
              <a:rPr kumimoji="1" lang="en-US" altLang="ja-JP" sz="1200" dirty="0"/>
              <a:t>       3.2.2 Design P2P energy trading model</a:t>
            </a:r>
          </a:p>
          <a:p>
            <a:r>
              <a:rPr kumimoji="1" lang="en-US" altLang="ja-JP" sz="1200" dirty="0"/>
              <a:t>3.3 Step 3: Train agents</a:t>
            </a:r>
          </a:p>
          <a:p>
            <a:r>
              <a:rPr kumimoji="1" lang="en-US" altLang="ja-JP" sz="1200" dirty="0"/>
              <a:t>       3.3.1 Q table</a:t>
            </a:r>
          </a:p>
          <a:p>
            <a:r>
              <a:rPr kumimoji="1" lang="en-US" altLang="ja-JP" sz="1200" dirty="0"/>
              <a:t>       3.3.2 Reward</a:t>
            </a:r>
          </a:p>
          <a:p>
            <a:endParaRPr kumimoji="1" lang="en-US" altLang="ja-JP" sz="1200" dirty="0"/>
          </a:p>
          <a:p>
            <a:r>
              <a:rPr kumimoji="1" lang="en-US" altLang="ja-JP" dirty="0"/>
              <a:t>4. Results and analysis</a:t>
            </a:r>
          </a:p>
          <a:p>
            <a:endParaRPr kumimoji="1" lang="en-US" altLang="ja-JP" dirty="0"/>
          </a:p>
          <a:p>
            <a:r>
              <a:rPr kumimoji="1" lang="en-US" altLang="ja-JP" dirty="0"/>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1251585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t>1. Introduction and background</a:t>
            </a:r>
          </a:p>
          <a:p>
            <a:pPr marL="342900" indent="-342900">
              <a:buAutoNum type="arabicPeriod"/>
            </a:pPr>
            <a:endParaRPr kumimoji="1" lang="en-US" altLang="ja-JP" dirty="0"/>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952467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E6268AB-47CD-7B46-2E65-B96DEF547A8D}"/>
              </a:ext>
            </a:extLst>
          </p:cNvPr>
          <p:cNvSpPr>
            <a:spLocks noGrp="1"/>
          </p:cNvSpPr>
          <p:nvPr>
            <p:ph sz="quarter" idx="16"/>
          </p:nvPr>
        </p:nvSpPr>
        <p:spPr/>
        <p:txBody>
          <a:bodyPr/>
          <a:lstStyle/>
          <a:p>
            <a:r>
              <a:rPr lang="en-US" altLang="ja-JP" dirty="0"/>
              <a:t>1. Introduction and background</a:t>
            </a:r>
          </a:p>
        </p:txBody>
      </p:sp>
      <p:sp>
        <p:nvSpPr>
          <p:cNvPr id="4" name="正方形/長方形 19">
            <a:extLst>
              <a:ext uri="{FF2B5EF4-FFF2-40B4-BE49-F238E27FC236}">
                <a16:creationId xmlns:a16="http://schemas.microsoft.com/office/drawing/2014/main" id="{BDD8722F-8082-748C-56F7-B157749239C8}"/>
              </a:ext>
            </a:extLst>
          </p:cNvPr>
          <p:cNvSpPr/>
          <p:nvPr/>
        </p:nvSpPr>
        <p:spPr>
          <a:xfrm>
            <a:off x="5011155" y="2027319"/>
            <a:ext cx="537412" cy="217169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矢印: 下 13">
            <a:extLst>
              <a:ext uri="{FF2B5EF4-FFF2-40B4-BE49-F238E27FC236}">
                <a16:creationId xmlns:a16="http://schemas.microsoft.com/office/drawing/2014/main" id="{C94EFCBD-0B5E-96AC-A061-303DDED74BA9}"/>
              </a:ext>
            </a:extLst>
          </p:cNvPr>
          <p:cNvSpPr/>
          <p:nvPr/>
        </p:nvSpPr>
        <p:spPr>
          <a:xfrm>
            <a:off x="1227225" y="1999572"/>
            <a:ext cx="1016666" cy="3456747"/>
          </a:xfrm>
          <a:prstGeom prst="downArrow">
            <a:avLst>
              <a:gd name="adj1" fmla="val 50000"/>
              <a:gd name="adj2" fmla="val 39941"/>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線コネクタ 4">
            <a:extLst>
              <a:ext uri="{FF2B5EF4-FFF2-40B4-BE49-F238E27FC236}">
                <a16:creationId xmlns:a16="http://schemas.microsoft.com/office/drawing/2014/main" id="{F99C6207-090C-06C2-7D69-A4A461113417}"/>
              </a:ext>
            </a:extLst>
          </p:cNvPr>
          <p:cNvCxnSpPr>
            <a:cxnSpLocks/>
          </p:cNvCxnSpPr>
          <p:nvPr/>
        </p:nvCxnSpPr>
        <p:spPr>
          <a:xfrm flipV="1">
            <a:off x="3080086" y="824161"/>
            <a:ext cx="0" cy="5245768"/>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テキスト ボックス 10">
            <a:extLst>
              <a:ext uri="{FF2B5EF4-FFF2-40B4-BE49-F238E27FC236}">
                <a16:creationId xmlns:a16="http://schemas.microsoft.com/office/drawing/2014/main" id="{AF043FFC-7CD0-4EC2-924E-BDD6BC74C22A}"/>
              </a:ext>
            </a:extLst>
          </p:cNvPr>
          <p:cNvSpPr txBox="1"/>
          <p:nvPr/>
        </p:nvSpPr>
        <p:spPr>
          <a:xfrm>
            <a:off x="716689" y="819180"/>
            <a:ext cx="2037737" cy="307777"/>
          </a:xfrm>
          <a:prstGeom prst="rect">
            <a:avLst/>
          </a:prstGeom>
          <a:noFill/>
        </p:spPr>
        <p:txBody>
          <a:bodyPr wrap="none" rtlCol="0">
            <a:spAutoFit/>
          </a:bodyPr>
          <a:lstStyle/>
          <a:p>
            <a:r>
              <a:rPr lang="en-US" sz="1400" b="1" dirty="0"/>
              <a:t>Conventional</a:t>
            </a:r>
            <a:r>
              <a:rPr lang="ja-JP" altLang="en-US" sz="1400" b="1" dirty="0"/>
              <a:t> </a:t>
            </a:r>
            <a:r>
              <a:rPr lang="en-US" altLang="ja-JP" sz="1400" b="1" dirty="0"/>
              <a:t>structure</a:t>
            </a:r>
            <a:endParaRPr lang="en-US" sz="1400" b="1" dirty="0"/>
          </a:p>
        </p:txBody>
      </p:sp>
      <p:sp>
        <p:nvSpPr>
          <p:cNvPr id="8" name="テキスト ボックス 11">
            <a:extLst>
              <a:ext uri="{FF2B5EF4-FFF2-40B4-BE49-F238E27FC236}">
                <a16:creationId xmlns:a16="http://schemas.microsoft.com/office/drawing/2014/main" id="{D787FE96-5EC8-E025-F7AD-D495A70F1FB6}"/>
              </a:ext>
            </a:extLst>
          </p:cNvPr>
          <p:cNvSpPr txBox="1"/>
          <p:nvPr/>
        </p:nvSpPr>
        <p:spPr>
          <a:xfrm>
            <a:off x="552381" y="1486992"/>
            <a:ext cx="2438488" cy="276999"/>
          </a:xfrm>
          <a:prstGeom prst="rect">
            <a:avLst/>
          </a:prstGeom>
          <a:noFill/>
        </p:spPr>
        <p:txBody>
          <a:bodyPr wrap="none" rtlCol="0">
            <a:spAutoFit/>
          </a:bodyPr>
          <a:lstStyle/>
          <a:p>
            <a:r>
              <a:rPr lang="en-US" altLang="ja-JP" sz="1200" dirty="0"/>
              <a:t>Electric companies in each region</a:t>
            </a:r>
            <a:endParaRPr lang="en-US" sz="1200" dirty="0"/>
          </a:p>
        </p:txBody>
      </p:sp>
      <p:sp>
        <p:nvSpPr>
          <p:cNvPr id="9" name="テキスト ボックス 12">
            <a:extLst>
              <a:ext uri="{FF2B5EF4-FFF2-40B4-BE49-F238E27FC236}">
                <a16:creationId xmlns:a16="http://schemas.microsoft.com/office/drawing/2014/main" id="{8D506B38-B182-99E5-D72C-44A86A82B3A5}"/>
              </a:ext>
            </a:extLst>
          </p:cNvPr>
          <p:cNvSpPr txBox="1"/>
          <p:nvPr/>
        </p:nvSpPr>
        <p:spPr>
          <a:xfrm>
            <a:off x="1123301" y="1793314"/>
            <a:ext cx="1239252" cy="2800767"/>
          </a:xfrm>
          <a:prstGeom prst="rect">
            <a:avLst/>
          </a:prstGeom>
          <a:noFill/>
          <a:ln w="28575">
            <a:solidFill>
              <a:schemeClr val="accent1"/>
            </a:solidFill>
          </a:ln>
        </p:spPr>
        <p:txBody>
          <a:bodyPr wrap="square" rtlCol="0">
            <a:spAutoFit/>
          </a:bodyPr>
          <a:lstStyle/>
          <a:p>
            <a:pPr algn="ctr"/>
            <a:endParaRPr lang="en-US" altLang="ja-JP" dirty="0"/>
          </a:p>
          <a:p>
            <a:pPr algn="ctr"/>
            <a:r>
              <a:rPr lang="en-US" altLang="ja-JP" sz="1400" dirty="0"/>
              <a:t>Generation</a:t>
            </a:r>
          </a:p>
          <a:p>
            <a:pPr algn="ctr"/>
            <a:endParaRPr lang="en-US" sz="1400" dirty="0"/>
          </a:p>
          <a:p>
            <a:pPr algn="ctr"/>
            <a:endParaRPr lang="en-US" sz="1400" dirty="0"/>
          </a:p>
          <a:p>
            <a:pPr algn="ctr"/>
            <a:r>
              <a:rPr lang="en-US" altLang="ja-JP" sz="1400" dirty="0"/>
              <a:t>Transmission</a:t>
            </a:r>
          </a:p>
          <a:p>
            <a:pPr algn="ctr"/>
            <a:endParaRPr lang="en-US" sz="1400" dirty="0"/>
          </a:p>
          <a:p>
            <a:pPr algn="ctr"/>
            <a:endParaRPr lang="en-US" sz="1400" dirty="0"/>
          </a:p>
          <a:p>
            <a:pPr algn="ctr"/>
            <a:r>
              <a:rPr lang="en-US" altLang="ja-JP" sz="1400" dirty="0"/>
              <a:t>Distribution</a:t>
            </a:r>
          </a:p>
          <a:p>
            <a:pPr algn="ctr"/>
            <a:endParaRPr lang="en-US" sz="1400" dirty="0"/>
          </a:p>
          <a:p>
            <a:pPr algn="ctr"/>
            <a:endParaRPr lang="en-US" sz="1400" dirty="0"/>
          </a:p>
          <a:p>
            <a:pPr algn="ctr"/>
            <a:r>
              <a:rPr lang="en-US" altLang="ja-JP" sz="1400" dirty="0"/>
              <a:t>Retail</a:t>
            </a:r>
          </a:p>
          <a:p>
            <a:pPr algn="ctr"/>
            <a:endParaRPr lang="en-US" dirty="0"/>
          </a:p>
        </p:txBody>
      </p:sp>
      <p:sp>
        <p:nvSpPr>
          <p:cNvPr id="10" name="テキスト ボックス 14">
            <a:extLst>
              <a:ext uri="{FF2B5EF4-FFF2-40B4-BE49-F238E27FC236}">
                <a16:creationId xmlns:a16="http://schemas.microsoft.com/office/drawing/2014/main" id="{2530AD59-ADEF-DCCC-A29A-6A465351E5A1}"/>
              </a:ext>
            </a:extLst>
          </p:cNvPr>
          <p:cNvSpPr txBox="1"/>
          <p:nvPr/>
        </p:nvSpPr>
        <p:spPr>
          <a:xfrm>
            <a:off x="1123301" y="5553617"/>
            <a:ext cx="1239250" cy="433553"/>
          </a:xfrm>
          <a:prstGeom prst="rect">
            <a:avLst/>
          </a:prstGeom>
          <a:noFill/>
          <a:ln w="28575">
            <a:solidFill>
              <a:schemeClr val="tx1"/>
            </a:solidFill>
          </a:ln>
        </p:spPr>
        <p:txBody>
          <a:bodyPr wrap="square" tIns="108000" bIns="108000" rtlCol="0">
            <a:spAutoFit/>
          </a:bodyPr>
          <a:lstStyle/>
          <a:p>
            <a:pPr algn="ctr"/>
            <a:r>
              <a:rPr lang="en-US" sz="1400" dirty="0"/>
              <a:t>Consumers</a:t>
            </a:r>
          </a:p>
        </p:txBody>
      </p:sp>
      <p:sp>
        <p:nvSpPr>
          <p:cNvPr id="11" name="テキスト ボックス 15">
            <a:extLst>
              <a:ext uri="{FF2B5EF4-FFF2-40B4-BE49-F238E27FC236}">
                <a16:creationId xmlns:a16="http://schemas.microsoft.com/office/drawing/2014/main" id="{D8D2F725-E6E8-F137-22E6-F86F735BA25B}"/>
              </a:ext>
            </a:extLst>
          </p:cNvPr>
          <p:cNvSpPr txBox="1"/>
          <p:nvPr/>
        </p:nvSpPr>
        <p:spPr>
          <a:xfrm>
            <a:off x="279447" y="4588948"/>
            <a:ext cx="2908168" cy="646331"/>
          </a:xfrm>
          <a:prstGeom prst="rect">
            <a:avLst/>
          </a:prstGeom>
          <a:noFill/>
        </p:spPr>
        <p:txBody>
          <a:bodyPr wrap="none" rtlCol="0">
            <a:spAutoFit/>
          </a:bodyPr>
          <a:lstStyle/>
          <a:p>
            <a:pPr algn="ctr"/>
            <a:r>
              <a:rPr lang="en-US" sz="1200" dirty="0"/>
              <a:t>Supply obligations, regional monopolies</a:t>
            </a:r>
            <a:br>
              <a:rPr lang="en-US" sz="1200" dirty="0"/>
            </a:br>
            <a:r>
              <a:rPr lang="en-US" sz="1200" dirty="0"/>
              <a:t>Price regulation based on </a:t>
            </a:r>
            <a:br>
              <a:rPr lang="en-US" sz="1200" dirty="0"/>
            </a:br>
            <a:r>
              <a:rPr lang="en-US" sz="1200" dirty="0"/>
              <a:t>the full-cost method</a:t>
            </a:r>
          </a:p>
        </p:txBody>
      </p:sp>
      <p:sp>
        <p:nvSpPr>
          <p:cNvPr id="12" name="テキスト ボックス 16">
            <a:extLst>
              <a:ext uri="{FF2B5EF4-FFF2-40B4-BE49-F238E27FC236}">
                <a16:creationId xmlns:a16="http://schemas.microsoft.com/office/drawing/2014/main" id="{2F2E4D56-4CD6-4054-9295-7ABDAE8E6E26}"/>
              </a:ext>
            </a:extLst>
          </p:cNvPr>
          <p:cNvSpPr txBox="1"/>
          <p:nvPr/>
        </p:nvSpPr>
        <p:spPr>
          <a:xfrm>
            <a:off x="5516325" y="812977"/>
            <a:ext cx="2292615" cy="307777"/>
          </a:xfrm>
          <a:prstGeom prst="rect">
            <a:avLst/>
          </a:prstGeom>
          <a:noFill/>
        </p:spPr>
        <p:txBody>
          <a:bodyPr wrap="none" rtlCol="0">
            <a:spAutoFit/>
          </a:bodyPr>
          <a:lstStyle/>
          <a:p>
            <a:r>
              <a:rPr lang="en-US" altLang="ja-JP" sz="1400" b="1" dirty="0"/>
              <a:t>Current structure (2016</a:t>
            </a:r>
            <a:r>
              <a:rPr lang="ja-JP" altLang="en-US" sz="1400" b="1" dirty="0"/>
              <a:t>～</a:t>
            </a:r>
            <a:r>
              <a:rPr lang="en-US" altLang="ja-JP" sz="1400" b="1" dirty="0"/>
              <a:t>)</a:t>
            </a:r>
            <a:endParaRPr lang="en-US" sz="1400" b="1" dirty="0"/>
          </a:p>
        </p:txBody>
      </p:sp>
      <p:sp>
        <p:nvSpPr>
          <p:cNvPr id="13" name="テキスト ボックス 17">
            <a:extLst>
              <a:ext uri="{FF2B5EF4-FFF2-40B4-BE49-F238E27FC236}">
                <a16:creationId xmlns:a16="http://schemas.microsoft.com/office/drawing/2014/main" id="{521FD049-D40A-1887-C0F5-F92A6394B7C4}"/>
              </a:ext>
            </a:extLst>
          </p:cNvPr>
          <p:cNvSpPr txBox="1"/>
          <p:nvPr/>
        </p:nvSpPr>
        <p:spPr>
          <a:xfrm>
            <a:off x="3588795" y="1793314"/>
            <a:ext cx="2262157" cy="2585323"/>
          </a:xfrm>
          <a:prstGeom prst="rect">
            <a:avLst/>
          </a:prstGeom>
          <a:noFill/>
          <a:ln w="28575">
            <a:solidFill>
              <a:schemeClr val="accent1"/>
            </a:solidFill>
          </a:ln>
        </p:spPr>
        <p:txBody>
          <a:bodyPr wrap="square" rtlCol="0">
            <a:spAutoFit/>
          </a:bodyPr>
          <a:lstStyle/>
          <a:p>
            <a:endParaRPr lang="en-US" altLang="ja-JP" dirty="0"/>
          </a:p>
          <a:p>
            <a:r>
              <a:rPr lang="ja-JP" altLang="en-US" dirty="0"/>
              <a:t>　　　　　　</a:t>
            </a:r>
            <a:endParaRPr lang="en-US" altLang="ja-JP" dirty="0"/>
          </a:p>
          <a:p>
            <a:endParaRPr lang="en-US" dirty="0"/>
          </a:p>
          <a:p>
            <a:r>
              <a:rPr lang="ja-JP" altLang="en-US" dirty="0"/>
              <a:t>　 </a:t>
            </a:r>
            <a:r>
              <a:rPr lang="en-US" altLang="ja-JP" dirty="0"/>
              <a:t>TSO</a:t>
            </a:r>
          </a:p>
          <a:p>
            <a:r>
              <a:rPr lang="ja-JP" altLang="en-US" dirty="0"/>
              <a:t>　 </a:t>
            </a:r>
            <a:r>
              <a:rPr lang="en-US" altLang="ja-JP" dirty="0"/>
              <a:t>DSO</a:t>
            </a:r>
          </a:p>
          <a:p>
            <a:endParaRPr lang="en-US" dirty="0"/>
          </a:p>
          <a:p>
            <a:endParaRPr lang="en-US" dirty="0"/>
          </a:p>
          <a:p>
            <a:r>
              <a:rPr lang="ja-JP" altLang="en-US" dirty="0"/>
              <a:t>　　　　　　</a:t>
            </a:r>
            <a:endParaRPr lang="en-US" altLang="ja-JP" dirty="0"/>
          </a:p>
          <a:p>
            <a:endParaRPr lang="en-US" dirty="0"/>
          </a:p>
        </p:txBody>
      </p:sp>
      <p:sp>
        <p:nvSpPr>
          <p:cNvPr id="14" name="正方形/長方形 18">
            <a:extLst>
              <a:ext uri="{FF2B5EF4-FFF2-40B4-BE49-F238E27FC236}">
                <a16:creationId xmlns:a16="http://schemas.microsoft.com/office/drawing/2014/main" id="{5D02BDF8-953C-5BAF-E88D-8F677959B388}"/>
              </a:ext>
            </a:extLst>
          </p:cNvPr>
          <p:cNvSpPr/>
          <p:nvPr/>
        </p:nvSpPr>
        <p:spPr>
          <a:xfrm>
            <a:off x="3717760" y="2436393"/>
            <a:ext cx="1028700" cy="10226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テキスト ボックス 20">
            <a:extLst>
              <a:ext uri="{FF2B5EF4-FFF2-40B4-BE49-F238E27FC236}">
                <a16:creationId xmlns:a16="http://schemas.microsoft.com/office/drawing/2014/main" id="{AC15B645-4841-4E78-F1AE-9FCCC9C93F36}"/>
              </a:ext>
            </a:extLst>
          </p:cNvPr>
          <p:cNvSpPr txBox="1"/>
          <p:nvPr/>
        </p:nvSpPr>
        <p:spPr>
          <a:xfrm>
            <a:off x="4678690" y="2382249"/>
            <a:ext cx="711086" cy="707886"/>
          </a:xfrm>
          <a:prstGeom prst="rect">
            <a:avLst/>
          </a:prstGeom>
          <a:noFill/>
        </p:spPr>
        <p:txBody>
          <a:bodyPr wrap="square" rtlCol="0">
            <a:spAutoFit/>
          </a:bodyPr>
          <a:lstStyle/>
          <a:p>
            <a:r>
              <a:rPr lang="en-US" altLang="ja-JP" sz="800" dirty="0"/>
              <a:t>Legal</a:t>
            </a:r>
            <a:br>
              <a:rPr lang="en-US" altLang="ja-JP" sz="800" dirty="0"/>
            </a:br>
            <a:r>
              <a:rPr lang="en-US" altLang="ja-JP" sz="800" dirty="0"/>
              <a:t>Separation</a:t>
            </a:r>
          </a:p>
          <a:p>
            <a:r>
              <a:rPr lang="ja-JP" altLang="en-US" sz="2400" dirty="0">
                <a:solidFill>
                  <a:schemeClr val="accent2"/>
                </a:solidFill>
              </a:rPr>
              <a:t>←</a:t>
            </a:r>
            <a:endParaRPr lang="en-US" sz="1000" dirty="0">
              <a:solidFill>
                <a:schemeClr val="accent2"/>
              </a:solidFill>
            </a:endParaRPr>
          </a:p>
        </p:txBody>
      </p:sp>
      <p:sp>
        <p:nvSpPr>
          <p:cNvPr id="16" name="テキスト ボックス 21">
            <a:extLst>
              <a:ext uri="{FF2B5EF4-FFF2-40B4-BE49-F238E27FC236}">
                <a16:creationId xmlns:a16="http://schemas.microsoft.com/office/drawing/2014/main" id="{E52C4B86-49CD-60B1-91ED-F5123001ACA0}"/>
              </a:ext>
            </a:extLst>
          </p:cNvPr>
          <p:cNvSpPr txBox="1"/>
          <p:nvPr/>
        </p:nvSpPr>
        <p:spPr>
          <a:xfrm>
            <a:off x="3937141" y="1486992"/>
            <a:ext cx="1483098" cy="276999"/>
          </a:xfrm>
          <a:prstGeom prst="rect">
            <a:avLst/>
          </a:prstGeom>
          <a:noFill/>
        </p:spPr>
        <p:txBody>
          <a:bodyPr wrap="none" rtlCol="0">
            <a:spAutoFit/>
          </a:bodyPr>
          <a:lstStyle/>
          <a:p>
            <a:r>
              <a:rPr lang="en-US" altLang="ja-JP" sz="1200" dirty="0"/>
              <a:t>Electric</a:t>
            </a:r>
            <a:r>
              <a:rPr lang="ja-JP" altLang="en-US" sz="1200" dirty="0"/>
              <a:t> </a:t>
            </a:r>
            <a:r>
              <a:rPr lang="en-US" altLang="ja-JP" sz="1200" dirty="0"/>
              <a:t>companies</a:t>
            </a:r>
            <a:endParaRPr lang="en-US" sz="1200" dirty="0"/>
          </a:p>
        </p:txBody>
      </p:sp>
      <p:sp>
        <p:nvSpPr>
          <p:cNvPr id="17" name="テキスト ボックス 22">
            <a:extLst>
              <a:ext uri="{FF2B5EF4-FFF2-40B4-BE49-F238E27FC236}">
                <a16:creationId xmlns:a16="http://schemas.microsoft.com/office/drawing/2014/main" id="{44A871DD-44E4-DC39-4A5E-A5A25CDBE244}"/>
              </a:ext>
            </a:extLst>
          </p:cNvPr>
          <p:cNvSpPr txBox="1"/>
          <p:nvPr/>
        </p:nvSpPr>
        <p:spPr>
          <a:xfrm>
            <a:off x="6365550" y="1794829"/>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8" name="テキスト ボックス 23">
            <a:extLst>
              <a:ext uri="{FF2B5EF4-FFF2-40B4-BE49-F238E27FC236}">
                <a16:creationId xmlns:a16="http://schemas.microsoft.com/office/drawing/2014/main" id="{DA959842-FBB3-0A51-D2EF-CF8B3E83D7DF}"/>
              </a:ext>
            </a:extLst>
          </p:cNvPr>
          <p:cNvSpPr txBox="1"/>
          <p:nvPr/>
        </p:nvSpPr>
        <p:spPr>
          <a:xfrm>
            <a:off x="7343290"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9" name="テキスト ボックス 24">
            <a:extLst>
              <a:ext uri="{FF2B5EF4-FFF2-40B4-BE49-F238E27FC236}">
                <a16:creationId xmlns:a16="http://schemas.microsoft.com/office/drawing/2014/main" id="{058C1461-BBF8-D112-D7D3-EFEB66121B78}"/>
              </a:ext>
            </a:extLst>
          </p:cNvPr>
          <p:cNvSpPr txBox="1"/>
          <p:nvPr/>
        </p:nvSpPr>
        <p:spPr>
          <a:xfrm>
            <a:off x="8319284"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20" name="テキスト ボックス 25">
            <a:extLst>
              <a:ext uri="{FF2B5EF4-FFF2-40B4-BE49-F238E27FC236}">
                <a16:creationId xmlns:a16="http://schemas.microsoft.com/office/drawing/2014/main" id="{41D41CF5-0D73-9DB0-2FFF-84E30E113AD7}"/>
              </a:ext>
            </a:extLst>
          </p:cNvPr>
          <p:cNvSpPr txBox="1"/>
          <p:nvPr/>
        </p:nvSpPr>
        <p:spPr>
          <a:xfrm>
            <a:off x="6396149" y="2829262"/>
            <a:ext cx="2829151" cy="567811"/>
          </a:xfrm>
          <a:prstGeom prst="rect">
            <a:avLst/>
          </a:prstGeom>
          <a:noFill/>
          <a:ln w="28575">
            <a:solidFill>
              <a:schemeClr val="accent2"/>
            </a:solidFill>
          </a:ln>
        </p:spPr>
        <p:txBody>
          <a:bodyPr wrap="square" tIns="144000" bIns="144000" rtlCol="0" anchor="ctr" anchorCtr="1">
            <a:spAutoFit/>
          </a:bodyPr>
          <a:lstStyle/>
          <a:p>
            <a:pPr algn="ctr"/>
            <a:r>
              <a:rPr lang="en-US" altLang="ja-JP" dirty="0"/>
              <a:t>Wholesale Market(JEPX)</a:t>
            </a:r>
          </a:p>
        </p:txBody>
      </p:sp>
      <p:sp>
        <p:nvSpPr>
          <p:cNvPr id="21" name="テキスト ボックス 26">
            <a:extLst>
              <a:ext uri="{FF2B5EF4-FFF2-40B4-BE49-F238E27FC236}">
                <a16:creationId xmlns:a16="http://schemas.microsoft.com/office/drawing/2014/main" id="{2B201FB3-BD84-CD77-8678-144196C94976}"/>
              </a:ext>
            </a:extLst>
          </p:cNvPr>
          <p:cNvSpPr txBox="1"/>
          <p:nvPr/>
        </p:nvSpPr>
        <p:spPr>
          <a:xfrm>
            <a:off x="6499417" y="3727945"/>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2" name="テキスト ボックス 27">
            <a:extLst>
              <a:ext uri="{FF2B5EF4-FFF2-40B4-BE49-F238E27FC236}">
                <a16:creationId xmlns:a16="http://schemas.microsoft.com/office/drawing/2014/main" id="{5A762BD2-1FEF-1EC6-098E-985AEE392017}"/>
              </a:ext>
            </a:extLst>
          </p:cNvPr>
          <p:cNvSpPr txBox="1"/>
          <p:nvPr/>
        </p:nvSpPr>
        <p:spPr>
          <a:xfrm>
            <a:off x="7475875" y="3727945"/>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3" name="テキスト ボックス 28">
            <a:extLst>
              <a:ext uri="{FF2B5EF4-FFF2-40B4-BE49-F238E27FC236}">
                <a16:creationId xmlns:a16="http://schemas.microsoft.com/office/drawing/2014/main" id="{64BD5305-2E62-301E-95F2-4843EF33A262}"/>
              </a:ext>
            </a:extLst>
          </p:cNvPr>
          <p:cNvSpPr txBox="1"/>
          <p:nvPr/>
        </p:nvSpPr>
        <p:spPr>
          <a:xfrm>
            <a:off x="8452333" y="3727944"/>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5" name="テキスト ボックス 30">
            <a:extLst>
              <a:ext uri="{FF2B5EF4-FFF2-40B4-BE49-F238E27FC236}">
                <a16:creationId xmlns:a16="http://schemas.microsoft.com/office/drawing/2014/main" id="{759007AC-357A-2005-EFD2-0C0DDFB01852}"/>
              </a:ext>
            </a:extLst>
          </p:cNvPr>
          <p:cNvSpPr txBox="1"/>
          <p:nvPr/>
        </p:nvSpPr>
        <p:spPr>
          <a:xfrm>
            <a:off x="6208633" y="5254982"/>
            <a:ext cx="751657" cy="330072"/>
          </a:xfrm>
          <a:prstGeom prst="rect">
            <a:avLst/>
          </a:prstGeom>
          <a:noFill/>
          <a:ln w="28575">
            <a:solidFill>
              <a:schemeClr val="tx1"/>
            </a:solidFill>
          </a:ln>
        </p:spPr>
        <p:txBody>
          <a:bodyPr wrap="square" lIns="36000" tIns="72000" rIns="36000" bIns="72000" rtlCol="0">
            <a:spAutoFit/>
          </a:bodyPr>
          <a:lstStyle/>
          <a:p>
            <a:pPr algn="ctr"/>
            <a:r>
              <a:rPr lang="en-US" sz="1200" dirty="0"/>
              <a:t>Prosumer</a:t>
            </a:r>
          </a:p>
        </p:txBody>
      </p:sp>
      <p:cxnSp>
        <p:nvCxnSpPr>
          <p:cNvPr id="27" name="直線矢印コネクタ 38">
            <a:extLst>
              <a:ext uri="{FF2B5EF4-FFF2-40B4-BE49-F238E27FC236}">
                <a16:creationId xmlns:a16="http://schemas.microsoft.com/office/drawing/2014/main" id="{AFC9443D-F739-3591-7C9E-8795F25915E5}"/>
              </a:ext>
            </a:extLst>
          </p:cNvPr>
          <p:cNvCxnSpPr>
            <a:cxnSpLocks/>
          </p:cNvCxnSpPr>
          <p:nvPr/>
        </p:nvCxnSpPr>
        <p:spPr>
          <a:xfrm>
            <a:off x="5590762" y="2337201"/>
            <a:ext cx="870198" cy="5114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46">
            <a:extLst>
              <a:ext uri="{FF2B5EF4-FFF2-40B4-BE49-F238E27FC236}">
                <a16:creationId xmlns:a16="http://schemas.microsoft.com/office/drawing/2014/main" id="{F26AC27C-2123-7977-2644-0543F584D9A6}"/>
              </a:ext>
            </a:extLst>
          </p:cNvPr>
          <p:cNvCxnSpPr>
            <a:cxnSpLocks/>
            <a:stCxn id="18" idx="2"/>
          </p:cNvCxnSpPr>
          <p:nvPr/>
        </p:nvCxnSpPr>
        <p:spPr>
          <a:xfrm flipH="1">
            <a:off x="7810724" y="2067061"/>
            <a:ext cx="2" cy="7622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47">
            <a:extLst>
              <a:ext uri="{FF2B5EF4-FFF2-40B4-BE49-F238E27FC236}">
                <a16:creationId xmlns:a16="http://schemas.microsoft.com/office/drawing/2014/main" id="{334130E8-6ACF-FE5D-290C-66B439D4310B}"/>
              </a:ext>
            </a:extLst>
          </p:cNvPr>
          <p:cNvCxnSpPr>
            <a:cxnSpLocks/>
            <a:stCxn id="19" idx="2"/>
          </p:cNvCxnSpPr>
          <p:nvPr/>
        </p:nvCxnSpPr>
        <p:spPr>
          <a:xfrm flipH="1">
            <a:off x="8626699" y="2067061"/>
            <a:ext cx="160021" cy="7924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54">
            <a:extLst>
              <a:ext uri="{FF2B5EF4-FFF2-40B4-BE49-F238E27FC236}">
                <a16:creationId xmlns:a16="http://schemas.microsoft.com/office/drawing/2014/main" id="{C9B805AF-83A1-5221-D538-07656843E8AF}"/>
              </a:ext>
            </a:extLst>
          </p:cNvPr>
          <p:cNvCxnSpPr>
            <a:cxnSpLocks/>
            <a:endCxn id="21" idx="0"/>
          </p:cNvCxnSpPr>
          <p:nvPr/>
        </p:nvCxnSpPr>
        <p:spPr>
          <a:xfrm flipH="1">
            <a:off x="6834268" y="3408562"/>
            <a:ext cx="219754"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56">
            <a:extLst>
              <a:ext uri="{FF2B5EF4-FFF2-40B4-BE49-F238E27FC236}">
                <a16:creationId xmlns:a16="http://schemas.microsoft.com/office/drawing/2014/main" id="{C0AD633A-1D0F-E4C8-BF82-83DD974E46B7}"/>
              </a:ext>
            </a:extLst>
          </p:cNvPr>
          <p:cNvCxnSpPr>
            <a:cxnSpLocks/>
            <a:endCxn id="23" idx="0"/>
          </p:cNvCxnSpPr>
          <p:nvPr/>
        </p:nvCxnSpPr>
        <p:spPr>
          <a:xfrm>
            <a:off x="8626699" y="3397933"/>
            <a:ext cx="160485" cy="3300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58">
            <a:extLst>
              <a:ext uri="{FF2B5EF4-FFF2-40B4-BE49-F238E27FC236}">
                <a16:creationId xmlns:a16="http://schemas.microsoft.com/office/drawing/2014/main" id="{27BDAEC2-7EA4-F12B-600F-08C3A42F8264}"/>
              </a:ext>
            </a:extLst>
          </p:cNvPr>
          <p:cNvCxnSpPr>
            <a:cxnSpLocks/>
            <a:endCxn id="22" idx="0"/>
          </p:cNvCxnSpPr>
          <p:nvPr/>
        </p:nvCxnSpPr>
        <p:spPr>
          <a:xfrm>
            <a:off x="7810724" y="3408562"/>
            <a:ext cx="2"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60">
            <a:extLst>
              <a:ext uri="{FF2B5EF4-FFF2-40B4-BE49-F238E27FC236}">
                <a16:creationId xmlns:a16="http://schemas.microsoft.com/office/drawing/2014/main" id="{66619850-B5B6-E1F0-DED1-FF2E2856D745}"/>
              </a:ext>
            </a:extLst>
          </p:cNvPr>
          <p:cNvCxnSpPr>
            <a:cxnSpLocks/>
          </p:cNvCxnSpPr>
          <p:nvPr/>
        </p:nvCxnSpPr>
        <p:spPr>
          <a:xfrm flipH="1">
            <a:off x="5548567" y="3418991"/>
            <a:ext cx="874284" cy="4846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62">
            <a:extLst>
              <a:ext uri="{FF2B5EF4-FFF2-40B4-BE49-F238E27FC236}">
                <a16:creationId xmlns:a16="http://schemas.microsoft.com/office/drawing/2014/main" id="{D5B52400-2294-2285-604B-15E0228B64A5}"/>
              </a:ext>
            </a:extLst>
          </p:cNvPr>
          <p:cNvCxnSpPr>
            <a:cxnSpLocks/>
            <a:stCxn id="58" idx="3"/>
            <a:endCxn id="48" idx="0"/>
          </p:cNvCxnSpPr>
          <p:nvPr/>
        </p:nvCxnSpPr>
        <p:spPr>
          <a:xfrm>
            <a:off x="5590762" y="4040180"/>
            <a:ext cx="2681238" cy="121984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64">
            <a:extLst>
              <a:ext uri="{FF2B5EF4-FFF2-40B4-BE49-F238E27FC236}">
                <a16:creationId xmlns:a16="http://schemas.microsoft.com/office/drawing/2014/main" id="{79AF9451-D871-A397-BABD-3E9D8EF57223}"/>
              </a:ext>
            </a:extLst>
          </p:cNvPr>
          <p:cNvCxnSpPr>
            <a:cxnSpLocks/>
            <a:stCxn id="21" idx="2"/>
            <a:endCxn id="68" idx="0"/>
          </p:cNvCxnSpPr>
          <p:nvPr/>
        </p:nvCxnSpPr>
        <p:spPr>
          <a:xfrm>
            <a:off x="6834268" y="4130720"/>
            <a:ext cx="2275107" cy="11297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69">
            <a:extLst>
              <a:ext uri="{FF2B5EF4-FFF2-40B4-BE49-F238E27FC236}">
                <a16:creationId xmlns:a16="http://schemas.microsoft.com/office/drawing/2014/main" id="{B748EA8F-F270-70B7-9076-7D5DF5495321}"/>
              </a:ext>
            </a:extLst>
          </p:cNvPr>
          <p:cNvCxnSpPr>
            <a:cxnSpLocks/>
            <a:stCxn id="22" idx="2"/>
            <a:endCxn id="47" idx="0"/>
          </p:cNvCxnSpPr>
          <p:nvPr/>
        </p:nvCxnSpPr>
        <p:spPr>
          <a:xfrm flipH="1">
            <a:off x="7418880" y="4130720"/>
            <a:ext cx="391846" cy="11293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70">
            <a:extLst>
              <a:ext uri="{FF2B5EF4-FFF2-40B4-BE49-F238E27FC236}">
                <a16:creationId xmlns:a16="http://schemas.microsoft.com/office/drawing/2014/main" id="{0C604D6C-7C65-90EB-E35D-7485257DF15D}"/>
              </a:ext>
            </a:extLst>
          </p:cNvPr>
          <p:cNvCxnSpPr>
            <a:cxnSpLocks/>
            <a:stCxn id="23" idx="2"/>
            <a:endCxn id="25" idx="0"/>
          </p:cNvCxnSpPr>
          <p:nvPr/>
        </p:nvCxnSpPr>
        <p:spPr>
          <a:xfrm flipH="1">
            <a:off x="6584462" y="4130719"/>
            <a:ext cx="2202722" cy="112426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95">
            <a:extLst>
              <a:ext uri="{FF2B5EF4-FFF2-40B4-BE49-F238E27FC236}">
                <a16:creationId xmlns:a16="http://schemas.microsoft.com/office/drawing/2014/main" id="{D516FDEA-FBA3-904A-9CBC-9B4CB00137C9}"/>
              </a:ext>
            </a:extLst>
          </p:cNvPr>
          <p:cNvCxnSpPr>
            <a:cxnSpLocks/>
            <a:endCxn id="14" idx="0"/>
          </p:cNvCxnSpPr>
          <p:nvPr/>
        </p:nvCxnSpPr>
        <p:spPr>
          <a:xfrm rot="10800000" flipV="1">
            <a:off x="4232111" y="1925049"/>
            <a:ext cx="2160677" cy="511343"/>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100">
            <a:extLst>
              <a:ext uri="{FF2B5EF4-FFF2-40B4-BE49-F238E27FC236}">
                <a16:creationId xmlns:a16="http://schemas.microsoft.com/office/drawing/2014/main" id="{B4E4FC3A-691A-2608-FC90-59B8BED8BF66}"/>
              </a:ext>
            </a:extLst>
          </p:cNvPr>
          <p:cNvCxnSpPr>
            <a:cxnSpLocks/>
            <a:stCxn id="17" idx="1"/>
            <a:endCxn id="21" idx="1"/>
          </p:cNvCxnSpPr>
          <p:nvPr/>
        </p:nvCxnSpPr>
        <p:spPr>
          <a:xfrm rot="10800000" flipH="1" flipV="1">
            <a:off x="6365549" y="1933329"/>
            <a:ext cx="133867" cy="1996004"/>
          </a:xfrm>
          <a:prstGeom prst="bentConnector3">
            <a:avLst>
              <a:gd name="adj1" fmla="val -170767"/>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105">
            <a:extLst>
              <a:ext uri="{FF2B5EF4-FFF2-40B4-BE49-F238E27FC236}">
                <a16:creationId xmlns:a16="http://schemas.microsoft.com/office/drawing/2014/main" id="{F5D67FED-F4FA-6621-C199-EED55D6E51B4}"/>
              </a:ext>
            </a:extLst>
          </p:cNvPr>
          <p:cNvSpPr txBox="1"/>
          <p:nvPr/>
        </p:nvSpPr>
        <p:spPr>
          <a:xfrm>
            <a:off x="5182027" y="5148542"/>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5" name="テキスト ボックス 106">
            <a:extLst>
              <a:ext uri="{FF2B5EF4-FFF2-40B4-BE49-F238E27FC236}">
                <a16:creationId xmlns:a16="http://schemas.microsoft.com/office/drawing/2014/main" id="{7609A01B-E8FA-8625-B66D-81C33305995E}"/>
              </a:ext>
            </a:extLst>
          </p:cNvPr>
          <p:cNvSpPr txBox="1"/>
          <p:nvPr/>
        </p:nvSpPr>
        <p:spPr>
          <a:xfrm>
            <a:off x="5850950" y="1663734"/>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6" name="テキスト ボックス 107">
            <a:extLst>
              <a:ext uri="{FF2B5EF4-FFF2-40B4-BE49-F238E27FC236}">
                <a16:creationId xmlns:a16="http://schemas.microsoft.com/office/drawing/2014/main" id="{3F6E944E-D673-26F8-B09E-DF3727525607}"/>
              </a:ext>
            </a:extLst>
          </p:cNvPr>
          <p:cNvSpPr txBox="1"/>
          <p:nvPr/>
        </p:nvSpPr>
        <p:spPr>
          <a:xfrm rot="16200000">
            <a:off x="5813641" y="2967526"/>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47" name="テキスト ボックス 51">
            <a:extLst>
              <a:ext uri="{FF2B5EF4-FFF2-40B4-BE49-F238E27FC236}">
                <a16:creationId xmlns:a16="http://schemas.microsoft.com/office/drawing/2014/main" id="{C81DE99E-D8E4-45DC-70F7-095CDFE8FAE2}"/>
              </a:ext>
            </a:extLst>
          </p:cNvPr>
          <p:cNvSpPr txBox="1"/>
          <p:nvPr/>
        </p:nvSpPr>
        <p:spPr>
          <a:xfrm>
            <a:off x="7023323" y="5260024"/>
            <a:ext cx="791113" cy="330072"/>
          </a:xfrm>
          <a:prstGeom prst="rect">
            <a:avLst/>
          </a:prstGeom>
          <a:noFill/>
          <a:ln w="28575">
            <a:solidFill>
              <a:schemeClr val="tx1"/>
            </a:solidFill>
          </a:ln>
        </p:spPr>
        <p:txBody>
          <a:bodyPr wrap="square" lIns="36000" tIns="72000" rIns="36000" bIns="72000" rtlCol="0">
            <a:spAutoFit/>
          </a:bodyPr>
          <a:lstStyle/>
          <a:p>
            <a:pPr algn="ctr"/>
            <a:r>
              <a:rPr lang="en-US" sz="1200" dirty="0"/>
              <a:t>Consumer</a:t>
            </a:r>
          </a:p>
        </p:txBody>
      </p:sp>
      <p:sp>
        <p:nvSpPr>
          <p:cNvPr id="48" name="テキスト ボックス 52">
            <a:extLst>
              <a:ext uri="{FF2B5EF4-FFF2-40B4-BE49-F238E27FC236}">
                <a16:creationId xmlns:a16="http://schemas.microsoft.com/office/drawing/2014/main" id="{4370FD7A-DBAC-FE87-5219-EBB00CB4ACEF}"/>
              </a:ext>
            </a:extLst>
          </p:cNvPr>
          <p:cNvSpPr txBox="1"/>
          <p:nvPr/>
        </p:nvSpPr>
        <p:spPr>
          <a:xfrm>
            <a:off x="7877469" y="5260024"/>
            <a:ext cx="789061"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Consumer</a:t>
            </a:r>
            <a:endParaRPr lang="en-US" sz="1200" dirty="0"/>
          </a:p>
        </p:txBody>
      </p:sp>
      <p:cxnSp>
        <p:nvCxnSpPr>
          <p:cNvPr id="49" name="コネクタ: カギ線 57">
            <a:extLst>
              <a:ext uri="{FF2B5EF4-FFF2-40B4-BE49-F238E27FC236}">
                <a16:creationId xmlns:a16="http://schemas.microsoft.com/office/drawing/2014/main" id="{4BB1A0A8-5C7E-D655-C2F1-DA505892E6E7}"/>
              </a:ext>
            </a:extLst>
          </p:cNvPr>
          <p:cNvCxnSpPr>
            <a:cxnSpLocks/>
            <a:stCxn id="25" idx="1"/>
          </p:cNvCxnSpPr>
          <p:nvPr/>
        </p:nvCxnSpPr>
        <p:spPr>
          <a:xfrm rot="10800000">
            <a:off x="4555475" y="3459078"/>
            <a:ext cx="1653158" cy="1960941"/>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66">
            <a:extLst>
              <a:ext uri="{FF2B5EF4-FFF2-40B4-BE49-F238E27FC236}">
                <a16:creationId xmlns:a16="http://schemas.microsoft.com/office/drawing/2014/main" id="{EFAD3B79-283C-AE5A-305D-31B30E12ABB5}"/>
              </a:ext>
            </a:extLst>
          </p:cNvPr>
          <p:cNvCxnSpPr>
            <a:cxnSpLocks/>
            <a:stCxn id="17" idx="2"/>
          </p:cNvCxnSpPr>
          <p:nvPr/>
        </p:nvCxnSpPr>
        <p:spPr>
          <a:xfrm>
            <a:off x="6832986" y="2071828"/>
            <a:ext cx="161819" cy="718248"/>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67">
            <a:extLst>
              <a:ext uri="{FF2B5EF4-FFF2-40B4-BE49-F238E27FC236}">
                <a16:creationId xmlns:a16="http://schemas.microsoft.com/office/drawing/2014/main" id="{EF804D4E-21B4-5877-5510-D912A8D6074A}"/>
              </a:ext>
            </a:extLst>
          </p:cNvPr>
          <p:cNvSpPr txBox="1"/>
          <p:nvPr/>
        </p:nvSpPr>
        <p:spPr>
          <a:xfrm>
            <a:off x="6889585" y="2419596"/>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57" name="テキスト ボックス 56">
            <a:extLst>
              <a:ext uri="{FF2B5EF4-FFF2-40B4-BE49-F238E27FC236}">
                <a16:creationId xmlns:a16="http://schemas.microsoft.com/office/drawing/2014/main" id="{27B3D961-6B31-5D59-A36D-61EC20106635}"/>
              </a:ext>
            </a:extLst>
          </p:cNvPr>
          <p:cNvSpPr txBox="1"/>
          <p:nvPr/>
        </p:nvSpPr>
        <p:spPr>
          <a:xfrm>
            <a:off x="4746460" y="2069489"/>
            <a:ext cx="1063112" cy="307777"/>
          </a:xfrm>
          <a:prstGeom prst="rect">
            <a:avLst/>
          </a:prstGeom>
          <a:noFill/>
        </p:spPr>
        <p:txBody>
          <a:bodyPr wrap="none" rtlCol="0">
            <a:spAutoFit/>
          </a:bodyPr>
          <a:lstStyle/>
          <a:p>
            <a:r>
              <a:rPr kumimoji="1" lang="en-US" altLang="ja-JP" sz="1400" dirty="0"/>
              <a:t>Generation</a:t>
            </a:r>
            <a:endParaRPr kumimoji="1" lang="ja-JP" altLang="en-US" sz="1400" dirty="0"/>
          </a:p>
        </p:txBody>
      </p:sp>
      <p:sp>
        <p:nvSpPr>
          <p:cNvPr id="58" name="テキスト ボックス 57">
            <a:extLst>
              <a:ext uri="{FF2B5EF4-FFF2-40B4-BE49-F238E27FC236}">
                <a16:creationId xmlns:a16="http://schemas.microsoft.com/office/drawing/2014/main" id="{B9FA4AB5-FC65-0E26-2EDD-185181C0180C}"/>
              </a:ext>
            </a:extLst>
          </p:cNvPr>
          <p:cNvSpPr txBox="1"/>
          <p:nvPr/>
        </p:nvSpPr>
        <p:spPr>
          <a:xfrm>
            <a:off x="4965270" y="3886291"/>
            <a:ext cx="625492" cy="307777"/>
          </a:xfrm>
          <a:prstGeom prst="rect">
            <a:avLst/>
          </a:prstGeom>
          <a:noFill/>
        </p:spPr>
        <p:txBody>
          <a:bodyPr wrap="none" rtlCol="0">
            <a:spAutoFit/>
          </a:bodyPr>
          <a:lstStyle/>
          <a:p>
            <a:pPr algn="r"/>
            <a:r>
              <a:rPr kumimoji="1" lang="en-US" altLang="ja-JP" sz="1400" dirty="0"/>
              <a:t>Retail</a:t>
            </a:r>
            <a:endParaRPr kumimoji="1" lang="ja-JP" altLang="en-US" sz="1400" dirty="0"/>
          </a:p>
        </p:txBody>
      </p:sp>
      <p:sp>
        <p:nvSpPr>
          <p:cNvPr id="68" name="テキスト ボックス 52">
            <a:extLst>
              <a:ext uri="{FF2B5EF4-FFF2-40B4-BE49-F238E27FC236}">
                <a16:creationId xmlns:a16="http://schemas.microsoft.com/office/drawing/2014/main" id="{9AA1CCA2-6CA2-3491-EBDC-B081E16E0D14}"/>
              </a:ext>
            </a:extLst>
          </p:cNvPr>
          <p:cNvSpPr txBox="1"/>
          <p:nvPr/>
        </p:nvSpPr>
        <p:spPr>
          <a:xfrm>
            <a:off x="8713818" y="5260490"/>
            <a:ext cx="791113"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Consumer</a:t>
            </a:r>
            <a:endParaRPr lang="en-US" sz="1200" dirty="0"/>
          </a:p>
        </p:txBody>
      </p:sp>
      <p:sp>
        <p:nvSpPr>
          <p:cNvPr id="79" name="テキスト ボックス 15">
            <a:extLst>
              <a:ext uri="{FF2B5EF4-FFF2-40B4-BE49-F238E27FC236}">
                <a16:creationId xmlns:a16="http://schemas.microsoft.com/office/drawing/2014/main" id="{9C253855-5E36-EC07-DF40-3EE9B52B4215}"/>
              </a:ext>
            </a:extLst>
          </p:cNvPr>
          <p:cNvSpPr txBox="1"/>
          <p:nvPr/>
        </p:nvSpPr>
        <p:spPr>
          <a:xfrm>
            <a:off x="6334765" y="5641848"/>
            <a:ext cx="2890535" cy="461665"/>
          </a:xfrm>
          <a:prstGeom prst="rect">
            <a:avLst/>
          </a:prstGeom>
          <a:noFill/>
        </p:spPr>
        <p:txBody>
          <a:bodyPr wrap="none" rtlCol="0">
            <a:spAutoFit/>
          </a:bodyPr>
          <a:lstStyle/>
          <a:p>
            <a:pPr algn="ctr"/>
            <a:r>
              <a:rPr lang="en-US" sz="1200" dirty="0"/>
              <a:t>Each consumers/prosumers can choose </a:t>
            </a:r>
            <a:br>
              <a:rPr lang="en-US" sz="1200" dirty="0"/>
            </a:br>
            <a:r>
              <a:rPr lang="en-US" sz="1200" dirty="0"/>
              <a:t>appropriate Energy Retailer</a:t>
            </a:r>
          </a:p>
        </p:txBody>
      </p:sp>
      <p:sp>
        <p:nvSpPr>
          <p:cNvPr id="80" name="TextBox 16">
            <a:extLst>
              <a:ext uri="{FF2B5EF4-FFF2-40B4-BE49-F238E27FC236}">
                <a16:creationId xmlns:a16="http://schemas.microsoft.com/office/drawing/2014/main" id="{08A316E5-56FE-EFCD-ACB6-386FD9DAE18A}"/>
              </a:ext>
            </a:extLst>
          </p:cNvPr>
          <p:cNvSpPr txBox="1"/>
          <p:nvPr/>
        </p:nvSpPr>
        <p:spPr>
          <a:xfrm>
            <a:off x="123825" y="6558580"/>
            <a:ext cx="2719014" cy="338554"/>
          </a:xfrm>
          <a:prstGeom prst="rect">
            <a:avLst/>
          </a:prstGeom>
          <a:noFill/>
        </p:spPr>
        <p:txBody>
          <a:bodyPr wrap="none" rtlCol="0">
            <a:spAutoFit/>
          </a:bodyPr>
          <a:lstStyle/>
          <a:p>
            <a:r>
              <a:rPr lang="ja-JP" altLang="en-US" sz="800" dirty="0">
                <a:hlinkClick r:id="rId2"/>
              </a:rPr>
              <a:t>一般財団法人 新エネルギー財団 電力市場の概要</a:t>
            </a:r>
            <a:r>
              <a:rPr lang="en-US" altLang="ja-JP" sz="800" dirty="0">
                <a:hlinkClick r:id="rId2"/>
              </a:rPr>
              <a:t>(</a:t>
            </a:r>
            <a:r>
              <a:rPr lang="ja-JP" altLang="en-US" sz="800" dirty="0">
                <a:hlinkClick r:id="rId2"/>
              </a:rPr>
              <a:t>その</a:t>
            </a:r>
            <a:r>
              <a:rPr lang="en-US" altLang="ja-JP" sz="800" dirty="0">
                <a:hlinkClick r:id="rId2"/>
              </a:rPr>
              <a:t>1)</a:t>
            </a:r>
            <a:endParaRPr lang="en-US" sz="800" dirty="0"/>
          </a:p>
          <a:p>
            <a:endParaRPr lang="en-US" sz="800" dirty="0"/>
          </a:p>
        </p:txBody>
      </p:sp>
    </p:spTree>
    <p:extLst>
      <p:ext uri="{BB962C8B-B14F-4D97-AF65-F5344CB8AC3E}">
        <p14:creationId xmlns:p14="http://schemas.microsoft.com/office/powerpoint/2010/main" val="677373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F6D67A2-F760-053F-3EF5-70907742BEF5}"/>
              </a:ext>
            </a:extLst>
          </p:cNvPr>
          <p:cNvSpPr>
            <a:spLocks noGrp="1"/>
          </p:cNvSpPr>
          <p:nvPr>
            <p:ph sz="quarter" idx="16"/>
          </p:nvPr>
        </p:nvSpPr>
        <p:spPr/>
        <p:txBody>
          <a:bodyPr/>
          <a:lstStyle/>
          <a:p>
            <a:r>
              <a:rPr lang="en-US" dirty="0"/>
              <a:t>1. Introduction and background</a:t>
            </a:r>
          </a:p>
        </p:txBody>
      </p:sp>
      <p:pic>
        <p:nvPicPr>
          <p:cNvPr id="4" name="図 3">
            <a:extLst>
              <a:ext uri="{FF2B5EF4-FFF2-40B4-BE49-F238E27FC236}">
                <a16:creationId xmlns:a16="http://schemas.microsoft.com/office/drawing/2014/main" id="{B0C3E1FD-7DD8-E9C8-B18F-348445EF4264}"/>
              </a:ext>
            </a:extLst>
          </p:cNvPr>
          <p:cNvPicPr>
            <a:picLocks noChangeAspect="1"/>
          </p:cNvPicPr>
          <p:nvPr/>
        </p:nvPicPr>
        <p:blipFill>
          <a:blip r:embed="rId2"/>
          <a:stretch>
            <a:fillRect/>
          </a:stretch>
        </p:blipFill>
        <p:spPr>
          <a:xfrm>
            <a:off x="2132575" y="1821812"/>
            <a:ext cx="5640849" cy="4346991"/>
          </a:xfrm>
          <a:prstGeom prst="rect">
            <a:avLst/>
          </a:prstGeom>
        </p:spPr>
      </p:pic>
      <p:sp>
        <p:nvSpPr>
          <p:cNvPr id="7" name="テキスト ボックス 6">
            <a:extLst>
              <a:ext uri="{FF2B5EF4-FFF2-40B4-BE49-F238E27FC236}">
                <a16:creationId xmlns:a16="http://schemas.microsoft.com/office/drawing/2014/main" id="{4167E298-6B6B-B5FE-DF66-BA0F17D6A0B7}"/>
              </a:ext>
            </a:extLst>
          </p:cNvPr>
          <p:cNvSpPr txBox="1"/>
          <p:nvPr/>
        </p:nvSpPr>
        <p:spPr>
          <a:xfrm>
            <a:off x="154378" y="6473479"/>
            <a:ext cx="6104433" cy="276999"/>
          </a:xfrm>
          <a:prstGeom prst="rect">
            <a:avLst/>
          </a:prstGeom>
          <a:noFill/>
        </p:spPr>
        <p:txBody>
          <a:bodyPr wrap="square">
            <a:spAutoFit/>
          </a:bodyPr>
          <a:lstStyle/>
          <a:p>
            <a:r>
              <a:rPr lang="en-US" sz="600" dirty="0"/>
              <a:t>[1] </a:t>
            </a:r>
            <a:r>
              <a:rPr lang="en-US" sz="600" dirty="0">
                <a:hlinkClick r:id="rId3"/>
              </a:rPr>
              <a:t>https://www.deloitte.com/nl/en/Industries/energy/blogs/peer-to-peer-energy-trading.html</a:t>
            </a:r>
            <a:endParaRPr lang="en-US" sz="600" dirty="0"/>
          </a:p>
          <a:p>
            <a:r>
              <a:rPr lang="en-US" sz="600" dirty="0"/>
              <a:t>[2] </a:t>
            </a:r>
            <a:r>
              <a:rPr lang="en-US" sz="600" dirty="0" err="1"/>
              <a:t>Chausov</a:t>
            </a:r>
            <a:r>
              <a:rPr lang="en-US" sz="600" dirty="0"/>
              <a:t>, Igor &amp; </a:t>
            </a:r>
            <a:r>
              <a:rPr lang="en-US" sz="600" dirty="0" err="1"/>
              <a:t>Burdin</a:t>
            </a:r>
            <a:r>
              <a:rPr lang="en-US" sz="600" dirty="0"/>
              <a:t>, Ilya &amp; </a:t>
            </a:r>
            <a:r>
              <a:rPr lang="en-US" sz="600" dirty="0" err="1"/>
              <a:t>Rybushkina</a:t>
            </a:r>
            <a:r>
              <a:rPr lang="en-US" sz="600" dirty="0"/>
              <a:t>, Alena &amp; </a:t>
            </a:r>
            <a:r>
              <a:rPr lang="en-US" sz="600" dirty="0" err="1"/>
              <a:t>Ermolaev</a:t>
            </a:r>
            <a:r>
              <a:rPr lang="en-US" sz="600" dirty="0"/>
              <a:t>, Kirill &amp; </a:t>
            </a:r>
            <a:r>
              <a:rPr lang="en-US" sz="600" dirty="0" err="1"/>
              <a:t>Kholkin</a:t>
            </a:r>
            <a:r>
              <a:rPr lang="en-US" sz="600" dirty="0"/>
              <a:t>, Dmitry. (2021). Internet of distributed energy architecture. Version 2.0.  </a:t>
            </a:r>
          </a:p>
        </p:txBody>
      </p:sp>
      <p:sp>
        <p:nvSpPr>
          <p:cNvPr id="8" name="テキスト ボックス 7">
            <a:extLst>
              <a:ext uri="{FF2B5EF4-FFF2-40B4-BE49-F238E27FC236}">
                <a16:creationId xmlns:a16="http://schemas.microsoft.com/office/drawing/2014/main" id="{6F1D6542-9680-F221-B71F-4B2C27EF9708}"/>
              </a:ext>
            </a:extLst>
          </p:cNvPr>
          <p:cNvSpPr txBox="1"/>
          <p:nvPr/>
        </p:nvSpPr>
        <p:spPr>
          <a:xfrm>
            <a:off x="1602091" y="6161332"/>
            <a:ext cx="6713173" cy="276999"/>
          </a:xfrm>
          <a:prstGeom prst="rect">
            <a:avLst/>
          </a:prstGeom>
          <a:noFill/>
        </p:spPr>
        <p:txBody>
          <a:bodyPr wrap="square" rtlCol="0">
            <a:spAutoFit/>
          </a:bodyPr>
          <a:lstStyle/>
          <a:p>
            <a:r>
              <a:rPr lang="en-US" altLang="ja-JP" sz="1200" dirty="0"/>
              <a:t>Comparison of the principles of arrangement of centralized and decentralized energy systems [2]</a:t>
            </a:r>
            <a:endParaRPr lang="en-US" sz="1200" dirty="0"/>
          </a:p>
        </p:txBody>
      </p:sp>
      <p:sp>
        <p:nvSpPr>
          <p:cNvPr id="10" name="テキスト ボックス 9">
            <a:extLst>
              <a:ext uri="{FF2B5EF4-FFF2-40B4-BE49-F238E27FC236}">
                <a16:creationId xmlns:a16="http://schemas.microsoft.com/office/drawing/2014/main" id="{2DE75466-1C00-30C5-9F87-CE8AF7BF6BDA}"/>
              </a:ext>
            </a:extLst>
          </p:cNvPr>
          <p:cNvSpPr txBox="1"/>
          <p:nvPr/>
        </p:nvSpPr>
        <p:spPr>
          <a:xfrm>
            <a:off x="154378" y="790866"/>
            <a:ext cx="7484741" cy="523220"/>
          </a:xfrm>
          <a:prstGeom prst="rect">
            <a:avLst/>
          </a:prstGeom>
          <a:noFill/>
        </p:spPr>
        <p:txBody>
          <a:bodyPr wrap="none" rtlCol="0">
            <a:spAutoFit/>
          </a:bodyPr>
          <a:lstStyle/>
          <a:p>
            <a:r>
              <a:rPr lang="ja-JP" altLang="en-US" sz="1400" dirty="0"/>
              <a:t>・</a:t>
            </a:r>
            <a:r>
              <a:rPr lang="en-US" altLang="ja-JP" sz="1400" dirty="0"/>
              <a:t>Increasing need for electricity in consumer’s everyday life, such as electrification of mobility</a:t>
            </a:r>
          </a:p>
          <a:p>
            <a:r>
              <a:rPr lang="ja-JP" altLang="en-US" sz="1400" dirty="0"/>
              <a:t>・</a:t>
            </a:r>
            <a:r>
              <a:rPr lang="en-US" altLang="ja-JP" sz="1400" dirty="0"/>
              <a:t>Increasing decentralized and intermittent renewable electricity generation</a:t>
            </a:r>
          </a:p>
        </p:txBody>
      </p:sp>
      <p:cxnSp>
        <p:nvCxnSpPr>
          <p:cNvPr id="13" name="コネクタ: カギ線 12">
            <a:extLst>
              <a:ext uri="{FF2B5EF4-FFF2-40B4-BE49-F238E27FC236}">
                <a16:creationId xmlns:a16="http://schemas.microsoft.com/office/drawing/2014/main" id="{958EFDD4-E04C-D8B7-3826-20040B3A3F9D}"/>
              </a:ext>
            </a:extLst>
          </p:cNvPr>
          <p:cNvCxnSpPr>
            <a:cxnSpLocks/>
          </p:cNvCxnSpPr>
          <p:nvPr/>
        </p:nvCxnSpPr>
        <p:spPr>
          <a:xfrm>
            <a:off x="358119" y="1278940"/>
            <a:ext cx="165279" cy="148859"/>
          </a:xfrm>
          <a:prstGeom prst="bentConnector3">
            <a:avLst>
              <a:gd name="adj1" fmla="val 5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2BA90D80-FCF8-9E73-6BC1-5F9559EA57B1}"/>
              </a:ext>
            </a:extLst>
          </p:cNvPr>
          <p:cNvSpPr txBox="1"/>
          <p:nvPr/>
        </p:nvSpPr>
        <p:spPr>
          <a:xfrm>
            <a:off x="523398" y="1278940"/>
            <a:ext cx="7988790" cy="523220"/>
          </a:xfrm>
          <a:prstGeom prst="rect">
            <a:avLst/>
          </a:prstGeom>
          <a:noFill/>
        </p:spPr>
        <p:txBody>
          <a:bodyPr wrap="none" rtlCol="0">
            <a:spAutoFit/>
          </a:bodyPr>
          <a:lstStyle/>
          <a:p>
            <a:r>
              <a:rPr lang="en-US" sz="1400" b="0" i="0" dirty="0">
                <a:solidFill>
                  <a:srgbClr val="000000"/>
                </a:solidFill>
                <a:effectLst/>
                <a:latin typeface="Open Sans" panose="020B0606030504020204" pitchFamily="34" charset="0"/>
              </a:rPr>
              <a:t>The current system is struggling to deal with these developments, and this leads to </a:t>
            </a:r>
            <a:br>
              <a:rPr lang="en-US" sz="1400" b="0" i="0" dirty="0">
                <a:solidFill>
                  <a:srgbClr val="000000"/>
                </a:solidFill>
                <a:effectLst/>
                <a:latin typeface="Open Sans" panose="020B0606030504020204" pitchFamily="34" charset="0"/>
              </a:rPr>
            </a:br>
            <a:r>
              <a:rPr lang="en-US" sz="1400" b="0" i="0" dirty="0">
                <a:solidFill>
                  <a:srgbClr val="000000"/>
                </a:solidFill>
                <a:effectLst/>
                <a:latin typeface="Open Sans" panose="020B0606030504020204" pitchFamily="34" charset="0"/>
              </a:rPr>
              <a:t>higher energy bills, increased investment costs, and more challenges for the DSOs and TSO.[1]</a:t>
            </a:r>
            <a:endParaRPr lang="en-US" altLang="ja-JP" sz="1400" dirty="0"/>
          </a:p>
        </p:txBody>
      </p:sp>
    </p:spTree>
    <p:extLst>
      <p:ext uri="{BB962C8B-B14F-4D97-AF65-F5344CB8AC3E}">
        <p14:creationId xmlns:p14="http://schemas.microsoft.com/office/powerpoint/2010/main" val="169479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02C81A3-1FBA-9DB9-26EA-6019CCB4626D}"/>
              </a:ext>
            </a:extLst>
          </p:cNvPr>
          <p:cNvSpPr>
            <a:spLocks noGrp="1"/>
          </p:cNvSpPr>
          <p:nvPr>
            <p:ph sz="quarter" idx="16"/>
          </p:nvPr>
        </p:nvSpPr>
        <p:spPr/>
        <p:txBody>
          <a:bodyPr/>
          <a:lstStyle/>
          <a:p>
            <a:r>
              <a:rPr lang="en-US" dirty="0"/>
              <a:t>1. Introduction and background</a:t>
            </a:r>
          </a:p>
        </p:txBody>
      </p:sp>
      <p:sp>
        <p:nvSpPr>
          <p:cNvPr id="11" name="テキスト ボックス 10">
            <a:extLst>
              <a:ext uri="{FF2B5EF4-FFF2-40B4-BE49-F238E27FC236}">
                <a16:creationId xmlns:a16="http://schemas.microsoft.com/office/drawing/2014/main" id="{08C80A9E-7498-711C-03CD-AF8E0E878355}"/>
              </a:ext>
            </a:extLst>
          </p:cNvPr>
          <p:cNvSpPr txBox="1"/>
          <p:nvPr/>
        </p:nvSpPr>
        <p:spPr>
          <a:xfrm>
            <a:off x="154379" y="6473479"/>
            <a:ext cx="4959926" cy="461665"/>
          </a:xfrm>
          <a:prstGeom prst="rect">
            <a:avLst/>
          </a:prstGeom>
          <a:noFill/>
        </p:spPr>
        <p:txBody>
          <a:bodyPr wrap="square">
            <a:spAutoFit/>
          </a:bodyPr>
          <a:lstStyle/>
          <a:p>
            <a:r>
              <a:rPr lang="en-US" sz="600" dirty="0"/>
              <a:t>[1] </a:t>
            </a:r>
            <a:r>
              <a:rPr lang="en-US" sz="600" dirty="0">
                <a:hlinkClick r:id="rId2"/>
              </a:rPr>
              <a:t>https://www.enecho.meti.go.jp</a:t>
            </a:r>
            <a:endParaRPr lang="en-US" sz="600" dirty="0"/>
          </a:p>
          <a:p>
            <a:r>
              <a:rPr lang="en-US" sz="600" dirty="0"/>
              <a:t>[2] </a:t>
            </a:r>
            <a:r>
              <a:rPr lang="en-US" sz="600" dirty="0">
                <a:hlinkClick r:id="rId3"/>
              </a:rPr>
              <a:t>https://www.jepx.jp/electricpower/market-data/spot/</a:t>
            </a:r>
            <a:endParaRPr lang="en-US" sz="600" dirty="0"/>
          </a:p>
          <a:p>
            <a:r>
              <a:rPr lang="en-US" sz="600" dirty="0"/>
              <a:t>[3] </a:t>
            </a:r>
            <a:r>
              <a:rPr lang="en-US" sz="600" dirty="0">
                <a:hlinkClick r:id="rId4"/>
              </a:rPr>
              <a:t>https://app.electricitymaps.com</a:t>
            </a:r>
            <a:endParaRPr lang="en-US" sz="600" dirty="0"/>
          </a:p>
          <a:p>
            <a:endParaRPr lang="en-US" sz="600" dirty="0"/>
          </a:p>
        </p:txBody>
      </p:sp>
      <p:sp>
        <p:nvSpPr>
          <p:cNvPr id="16" name="テキスト ボックス 15">
            <a:extLst>
              <a:ext uri="{FF2B5EF4-FFF2-40B4-BE49-F238E27FC236}">
                <a16:creationId xmlns:a16="http://schemas.microsoft.com/office/drawing/2014/main" id="{B47BF35C-300A-843F-5687-BE983E03E51B}"/>
              </a:ext>
            </a:extLst>
          </p:cNvPr>
          <p:cNvSpPr txBox="1"/>
          <p:nvPr/>
        </p:nvSpPr>
        <p:spPr>
          <a:xfrm>
            <a:off x="151068" y="4264021"/>
            <a:ext cx="3501116" cy="276999"/>
          </a:xfrm>
          <a:prstGeom prst="rect">
            <a:avLst/>
          </a:prstGeom>
          <a:noFill/>
        </p:spPr>
        <p:txBody>
          <a:bodyPr wrap="square" rtlCol="0">
            <a:spAutoFit/>
          </a:bodyPr>
          <a:lstStyle/>
          <a:p>
            <a:r>
              <a:rPr lang="en-US" altLang="ja-JP" sz="1200" dirty="0"/>
              <a:t>Trends in renewable energy adoption in Japan [1]</a:t>
            </a:r>
            <a:endParaRPr lang="en-US" sz="1200" dirty="0"/>
          </a:p>
        </p:txBody>
      </p:sp>
      <p:sp>
        <p:nvSpPr>
          <p:cNvPr id="17" name="テキスト ボックス 16">
            <a:extLst>
              <a:ext uri="{FF2B5EF4-FFF2-40B4-BE49-F238E27FC236}">
                <a16:creationId xmlns:a16="http://schemas.microsoft.com/office/drawing/2014/main" id="{53956B21-19B5-0383-0712-8BB0B53F8821}"/>
              </a:ext>
            </a:extLst>
          </p:cNvPr>
          <p:cNvSpPr txBox="1"/>
          <p:nvPr/>
        </p:nvSpPr>
        <p:spPr>
          <a:xfrm>
            <a:off x="5491270" y="4499350"/>
            <a:ext cx="2744662" cy="276999"/>
          </a:xfrm>
          <a:prstGeom prst="rect">
            <a:avLst/>
          </a:prstGeom>
          <a:noFill/>
        </p:spPr>
        <p:txBody>
          <a:bodyPr wrap="none" rtlCol="0">
            <a:spAutoFit/>
          </a:bodyPr>
          <a:lstStyle/>
          <a:p>
            <a:r>
              <a:rPr lang="en-US" sz="1200" dirty="0"/>
              <a:t>JEPX </a:t>
            </a:r>
            <a:r>
              <a:rPr lang="en-US" altLang="ja-JP" sz="1200" dirty="0"/>
              <a:t>spot price (30 min resolution)</a:t>
            </a:r>
            <a:r>
              <a:rPr lang="ja-JP" altLang="en-US" sz="1200" dirty="0"/>
              <a:t> </a:t>
            </a:r>
            <a:r>
              <a:rPr lang="en-US" altLang="ja-JP" sz="1200" dirty="0"/>
              <a:t>[2]</a:t>
            </a:r>
            <a:endParaRPr lang="en-US" sz="1200" dirty="0"/>
          </a:p>
        </p:txBody>
      </p:sp>
      <p:grpSp>
        <p:nvGrpSpPr>
          <p:cNvPr id="24" name="グループ化 23">
            <a:extLst>
              <a:ext uri="{FF2B5EF4-FFF2-40B4-BE49-F238E27FC236}">
                <a16:creationId xmlns:a16="http://schemas.microsoft.com/office/drawing/2014/main" id="{40110952-182A-4246-F2E7-78B4D6F667C9}"/>
              </a:ext>
            </a:extLst>
          </p:cNvPr>
          <p:cNvGrpSpPr/>
          <p:nvPr/>
        </p:nvGrpSpPr>
        <p:grpSpPr>
          <a:xfrm>
            <a:off x="6522062" y="4942481"/>
            <a:ext cx="3324949" cy="1323111"/>
            <a:chOff x="7345348" y="4965856"/>
            <a:chExt cx="3324949" cy="1323111"/>
          </a:xfrm>
        </p:grpSpPr>
        <p:pic>
          <p:nvPicPr>
            <p:cNvPr id="22" name="図 21">
              <a:extLst>
                <a:ext uri="{FF2B5EF4-FFF2-40B4-BE49-F238E27FC236}">
                  <a16:creationId xmlns:a16="http://schemas.microsoft.com/office/drawing/2014/main" id="{59635E64-31F3-454D-D0F4-9718FC56BAC9}"/>
                </a:ext>
              </a:extLst>
            </p:cNvPr>
            <p:cNvPicPr>
              <a:picLocks noChangeAspect="1"/>
            </p:cNvPicPr>
            <p:nvPr/>
          </p:nvPicPr>
          <p:blipFill>
            <a:blip r:embed="rId5"/>
            <a:stretch>
              <a:fillRect/>
            </a:stretch>
          </p:blipFill>
          <p:spPr>
            <a:xfrm>
              <a:off x="7345348" y="4965856"/>
              <a:ext cx="3133825" cy="997354"/>
            </a:xfrm>
            <a:prstGeom prst="rect">
              <a:avLst/>
            </a:prstGeom>
          </p:spPr>
        </p:pic>
        <p:sp>
          <p:nvSpPr>
            <p:cNvPr id="23" name="テキスト ボックス 22">
              <a:extLst>
                <a:ext uri="{FF2B5EF4-FFF2-40B4-BE49-F238E27FC236}">
                  <a16:creationId xmlns:a16="http://schemas.microsoft.com/office/drawing/2014/main" id="{8E0137CA-F657-3E83-2D9A-82C4BBC63DE7}"/>
                </a:ext>
              </a:extLst>
            </p:cNvPr>
            <p:cNvSpPr txBox="1"/>
            <p:nvPr/>
          </p:nvSpPr>
          <p:spPr>
            <a:xfrm>
              <a:off x="7345348" y="6011968"/>
              <a:ext cx="3324949" cy="276999"/>
            </a:xfrm>
            <a:prstGeom prst="rect">
              <a:avLst/>
            </a:prstGeom>
            <a:noFill/>
          </p:spPr>
          <p:txBody>
            <a:bodyPr wrap="none" rtlCol="0">
              <a:spAutoFit/>
            </a:bodyPr>
            <a:lstStyle/>
            <a:p>
              <a:r>
                <a:rPr lang="en-US" altLang="ja-JP" sz="1200" dirty="0"/>
                <a:t>Energy mix of Japan </a:t>
              </a:r>
              <a:r>
                <a:rPr lang="en-US" sz="1200" dirty="0"/>
                <a:t>(2024/5/8</a:t>
              </a:r>
              <a:r>
                <a:rPr lang="ja-JP" altLang="en-US" sz="1200" dirty="0"/>
                <a:t> ～</a:t>
              </a:r>
              <a:r>
                <a:rPr lang="en-US" altLang="ja-JP" sz="1200" dirty="0"/>
                <a:t>2024/5/9)</a:t>
              </a:r>
              <a:r>
                <a:rPr lang="ja-JP" altLang="en-US" sz="1200" dirty="0"/>
                <a:t> </a:t>
              </a:r>
              <a:r>
                <a:rPr lang="en-US" altLang="ja-JP" sz="1200" dirty="0"/>
                <a:t>[3]</a:t>
              </a:r>
              <a:endParaRPr lang="en-US" sz="1200" dirty="0"/>
            </a:p>
          </p:txBody>
        </p:sp>
      </p:grpSp>
      <p:graphicFrame>
        <p:nvGraphicFramePr>
          <p:cNvPr id="4" name="グラフ 3">
            <a:extLst>
              <a:ext uri="{FF2B5EF4-FFF2-40B4-BE49-F238E27FC236}">
                <a16:creationId xmlns:a16="http://schemas.microsoft.com/office/drawing/2014/main" id="{549B9A79-B0DA-A979-6253-A6A318D502DC}"/>
              </a:ext>
            </a:extLst>
          </p:cNvPr>
          <p:cNvGraphicFramePr>
            <a:graphicFrameLocks/>
          </p:cNvGraphicFramePr>
          <p:nvPr>
            <p:extLst>
              <p:ext uri="{D42A27DB-BD31-4B8C-83A1-F6EECF244321}">
                <p14:modId xmlns:p14="http://schemas.microsoft.com/office/powerpoint/2010/main" val="137088031"/>
              </p:ext>
            </p:extLst>
          </p:nvPr>
        </p:nvGraphicFramePr>
        <p:xfrm>
          <a:off x="0" y="906940"/>
          <a:ext cx="3652838" cy="3464018"/>
        </p:xfrm>
        <a:graphic>
          <a:graphicData uri="http://schemas.openxmlformats.org/drawingml/2006/chart">
            <c:chart xmlns:c="http://schemas.openxmlformats.org/drawingml/2006/chart" xmlns:r="http://schemas.openxmlformats.org/officeDocument/2006/relationships" r:id="rId6"/>
          </a:graphicData>
        </a:graphic>
      </p:graphicFrame>
      <p:sp>
        <p:nvSpPr>
          <p:cNvPr id="5" name="テキスト ボックス 4">
            <a:extLst>
              <a:ext uri="{FF2B5EF4-FFF2-40B4-BE49-F238E27FC236}">
                <a16:creationId xmlns:a16="http://schemas.microsoft.com/office/drawing/2014/main" id="{CE1627A4-9D74-3FED-1DB6-A8362E35853B}"/>
              </a:ext>
            </a:extLst>
          </p:cNvPr>
          <p:cNvSpPr txBox="1"/>
          <p:nvPr/>
        </p:nvSpPr>
        <p:spPr>
          <a:xfrm>
            <a:off x="1906719" y="1523492"/>
            <a:ext cx="397866" cy="200055"/>
          </a:xfrm>
          <a:prstGeom prst="rect">
            <a:avLst/>
          </a:prstGeom>
          <a:noFill/>
        </p:spPr>
        <p:txBody>
          <a:bodyPr wrap="none" rtlCol="0">
            <a:spAutoFit/>
          </a:bodyPr>
          <a:lstStyle/>
          <a:p>
            <a:r>
              <a:rPr lang="en-US" sz="700" dirty="0"/>
              <a:t>9.2 %</a:t>
            </a:r>
          </a:p>
        </p:txBody>
      </p:sp>
      <p:sp>
        <p:nvSpPr>
          <p:cNvPr id="6" name="テキスト ボックス 5">
            <a:extLst>
              <a:ext uri="{FF2B5EF4-FFF2-40B4-BE49-F238E27FC236}">
                <a16:creationId xmlns:a16="http://schemas.microsoft.com/office/drawing/2014/main" id="{620AB74B-F0C2-FCCD-DA4C-D605730E0800}"/>
              </a:ext>
            </a:extLst>
          </p:cNvPr>
          <p:cNvSpPr txBox="1"/>
          <p:nvPr/>
        </p:nvSpPr>
        <p:spPr>
          <a:xfrm>
            <a:off x="2768733" y="1859179"/>
            <a:ext cx="535724" cy="200055"/>
          </a:xfrm>
          <a:prstGeom prst="rect">
            <a:avLst/>
          </a:prstGeom>
          <a:noFill/>
        </p:spPr>
        <p:txBody>
          <a:bodyPr wrap="none" rtlCol="0">
            <a:spAutoFit/>
          </a:bodyPr>
          <a:lstStyle/>
          <a:p>
            <a:r>
              <a:rPr lang="en-US" sz="700" dirty="0"/>
              <a:t>14</a:t>
            </a:r>
            <a:r>
              <a:rPr lang="en-US" altLang="ja-JP" sz="700" dirty="0"/>
              <a:t>~16</a:t>
            </a:r>
            <a:r>
              <a:rPr lang="en-US" sz="700" dirty="0"/>
              <a:t> %</a:t>
            </a:r>
          </a:p>
        </p:txBody>
      </p:sp>
      <p:graphicFrame>
        <p:nvGraphicFramePr>
          <p:cNvPr id="2" name="グラフ 1">
            <a:extLst>
              <a:ext uri="{FF2B5EF4-FFF2-40B4-BE49-F238E27FC236}">
                <a16:creationId xmlns:a16="http://schemas.microsoft.com/office/drawing/2014/main" id="{915D3A8E-85F6-51FB-DFB0-1FABE215A3F5}"/>
              </a:ext>
            </a:extLst>
          </p:cNvPr>
          <p:cNvGraphicFramePr>
            <a:graphicFrameLocks/>
          </p:cNvGraphicFramePr>
          <p:nvPr/>
        </p:nvGraphicFramePr>
        <p:xfrm>
          <a:off x="3566368" y="837692"/>
          <a:ext cx="6089520" cy="1867505"/>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グラフ 6">
            <a:extLst>
              <a:ext uri="{FF2B5EF4-FFF2-40B4-BE49-F238E27FC236}">
                <a16:creationId xmlns:a16="http://schemas.microsoft.com/office/drawing/2014/main" id="{C2B3FE47-9B15-1452-D311-C1C3C1185928}"/>
              </a:ext>
            </a:extLst>
          </p:cNvPr>
          <p:cNvGraphicFramePr>
            <a:graphicFrameLocks/>
          </p:cNvGraphicFramePr>
          <p:nvPr>
            <p:extLst>
              <p:ext uri="{D42A27DB-BD31-4B8C-83A1-F6EECF244321}">
                <p14:modId xmlns:p14="http://schemas.microsoft.com/office/powerpoint/2010/main" val="116812192"/>
              </p:ext>
            </p:extLst>
          </p:nvPr>
        </p:nvGraphicFramePr>
        <p:xfrm>
          <a:off x="3628654" y="2711392"/>
          <a:ext cx="6089521" cy="1867505"/>
        </p:xfrm>
        <a:graphic>
          <a:graphicData uri="http://schemas.openxmlformats.org/drawingml/2006/chart">
            <c:chart xmlns:c="http://schemas.openxmlformats.org/drawingml/2006/chart" xmlns:r="http://schemas.openxmlformats.org/officeDocument/2006/relationships" r:id="rId8"/>
          </a:graphicData>
        </a:graphic>
      </p:graphicFrame>
      <p:sp>
        <p:nvSpPr>
          <p:cNvPr id="8" name="テキスト ボックス 7">
            <a:extLst>
              <a:ext uri="{FF2B5EF4-FFF2-40B4-BE49-F238E27FC236}">
                <a16:creationId xmlns:a16="http://schemas.microsoft.com/office/drawing/2014/main" id="{575CF930-8F9C-6E7B-DB72-65553EB1DD23}"/>
              </a:ext>
            </a:extLst>
          </p:cNvPr>
          <p:cNvSpPr txBox="1"/>
          <p:nvPr/>
        </p:nvSpPr>
        <p:spPr>
          <a:xfrm>
            <a:off x="8831541" y="5268238"/>
            <a:ext cx="498855" cy="261610"/>
          </a:xfrm>
          <a:prstGeom prst="rect">
            <a:avLst/>
          </a:prstGeom>
          <a:noFill/>
        </p:spPr>
        <p:txBody>
          <a:bodyPr wrap="none" rtlCol="0">
            <a:spAutoFit/>
          </a:bodyPr>
          <a:lstStyle/>
          <a:p>
            <a:r>
              <a:rPr lang="en-US" sz="1100" dirty="0"/>
              <a:t>Solar</a:t>
            </a:r>
          </a:p>
        </p:txBody>
      </p:sp>
      <p:sp>
        <p:nvSpPr>
          <p:cNvPr id="10" name="テキスト ボックス 9">
            <a:extLst>
              <a:ext uri="{FF2B5EF4-FFF2-40B4-BE49-F238E27FC236}">
                <a16:creationId xmlns:a16="http://schemas.microsoft.com/office/drawing/2014/main" id="{DEEAF672-A456-3AF4-560D-1A474829DECE}"/>
              </a:ext>
            </a:extLst>
          </p:cNvPr>
          <p:cNvSpPr txBox="1"/>
          <p:nvPr/>
        </p:nvSpPr>
        <p:spPr>
          <a:xfrm>
            <a:off x="120525" y="4774551"/>
            <a:ext cx="6016391" cy="738664"/>
          </a:xfrm>
          <a:prstGeom prst="rect">
            <a:avLst/>
          </a:prstGeom>
          <a:noFill/>
        </p:spPr>
        <p:txBody>
          <a:bodyPr wrap="none" rtlCol="0">
            <a:spAutoFit/>
          </a:bodyPr>
          <a:lstStyle/>
          <a:p>
            <a:r>
              <a:rPr lang="ja-JP" altLang="en-US" sz="1400" dirty="0"/>
              <a:t>・ </a:t>
            </a:r>
            <a:r>
              <a:rPr lang="en-US" altLang="ja-JP" sz="1400" dirty="0"/>
              <a:t>Rooftop is considered as a location for installing further solar panels. [1]</a:t>
            </a:r>
          </a:p>
          <a:p>
            <a:r>
              <a:rPr lang="ja-JP" altLang="en-US" sz="1400" dirty="0"/>
              <a:t>・ </a:t>
            </a:r>
            <a:r>
              <a:rPr lang="en-US" altLang="ja-JP" sz="1400" dirty="0"/>
              <a:t>Volatility in electricity wholesale prices within a day increased.</a:t>
            </a:r>
          </a:p>
          <a:p>
            <a:r>
              <a:rPr lang="ja-JP" altLang="en-US" sz="1400" dirty="0"/>
              <a:t>・ </a:t>
            </a:r>
            <a:r>
              <a:rPr lang="en-US" altLang="ja-JP" sz="1400" dirty="0"/>
              <a:t>Up to approx.50% of electricity comes from solar panels on sunny days.</a:t>
            </a:r>
          </a:p>
        </p:txBody>
      </p:sp>
      <p:cxnSp>
        <p:nvCxnSpPr>
          <p:cNvPr id="18" name="コネクタ: カギ線 17">
            <a:extLst>
              <a:ext uri="{FF2B5EF4-FFF2-40B4-BE49-F238E27FC236}">
                <a16:creationId xmlns:a16="http://schemas.microsoft.com/office/drawing/2014/main" id="{46DB1781-A12B-9CC9-56BA-904DC4635A95}"/>
              </a:ext>
            </a:extLst>
          </p:cNvPr>
          <p:cNvCxnSpPr>
            <a:cxnSpLocks/>
          </p:cNvCxnSpPr>
          <p:nvPr/>
        </p:nvCxnSpPr>
        <p:spPr>
          <a:xfrm>
            <a:off x="301321" y="5468893"/>
            <a:ext cx="165279" cy="148859"/>
          </a:xfrm>
          <a:prstGeom prst="bentConnector3">
            <a:avLst>
              <a:gd name="adj1" fmla="val 5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F184D0B8-AA0C-3949-7C85-7FFC49521F20}"/>
              </a:ext>
            </a:extLst>
          </p:cNvPr>
          <p:cNvSpPr txBox="1"/>
          <p:nvPr/>
        </p:nvSpPr>
        <p:spPr>
          <a:xfrm>
            <a:off x="480740" y="5468798"/>
            <a:ext cx="5806398" cy="523220"/>
          </a:xfrm>
          <a:prstGeom prst="rect">
            <a:avLst/>
          </a:prstGeom>
          <a:noFill/>
        </p:spPr>
        <p:txBody>
          <a:bodyPr wrap="none" rtlCol="0">
            <a:spAutoFit/>
          </a:bodyPr>
          <a:lstStyle/>
          <a:p>
            <a:r>
              <a:rPr lang="en-US" altLang="ja-JP" sz="1400" dirty="0"/>
              <a:t>In this context, a decentralized energy system has worth being studied </a:t>
            </a:r>
            <a:br>
              <a:rPr lang="en-US" altLang="ja-JP" sz="1400" dirty="0"/>
            </a:br>
            <a:r>
              <a:rPr lang="en-US" altLang="ja-JP" sz="1400" dirty="0"/>
              <a:t>for further usage of Distributed Energy Resources (DERs).</a:t>
            </a:r>
          </a:p>
        </p:txBody>
      </p:sp>
    </p:spTree>
    <p:extLst>
      <p:ext uri="{BB962C8B-B14F-4D97-AF65-F5344CB8AC3E}">
        <p14:creationId xmlns:p14="http://schemas.microsoft.com/office/powerpoint/2010/main" val="149811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E6268AB-47CD-7B46-2E65-B96DEF547A8D}"/>
              </a:ext>
            </a:extLst>
          </p:cNvPr>
          <p:cNvSpPr>
            <a:spLocks noGrp="1"/>
          </p:cNvSpPr>
          <p:nvPr>
            <p:ph sz="quarter" idx="16"/>
          </p:nvPr>
        </p:nvSpPr>
        <p:spPr/>
        <p:txBody>
          <a:bodyPr/>
          <a:lstStyle/>
          <a:p>
            <a:r>
              <a:rPr lang="en-US" altLang="ja-JP" dirty="0"/>
              <a:t>1. Introduction and background</a:t>
            </a:r>
          </a:p>
        </p:txBody>
      </p:sp>
      <p:sp>
        <p:nvSpPr>
          <p:cNvPr id="4" name="正方形/長方形 19">
            <a:extLst>
              <a:ext uri="{FF2B5EF4-FFF2-40B4-BE49-F238E27FC236}">
                <a16:creationId xmlns:a16="http://schemas.microsoft.com/office/drawing/2014/main" id="{BDD8722F-8082-748C-56F7-B157749239C8}"/>
              </a:ext>
            </a:extLst>
          </p:cNvPr>
          <p:cNvSpPr/>
          <p:nvPr/>
        </p:nvSpPr>
        <p:spPr>
          <a:xfrm>
            <a:off x="5011155" y="2027319"/>
            <a:ext cx="537412" cy="217169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矢印: 下 13">
            <a:extLst>
              <a:ext uri="{FF2B5EF4-FFF2-40B4-BE49-F238E27FC236}">
                <a16:creationId xmlns:a16="http://schemas.microsoft.com/office/drawing/2014/main" id="{C94EFCBD-0B5E-96AC-A061-303DDED74BA9}"/>
              </a:ext>
            </a:extLst>
          </p:cNvPr>
          <p:cNvSpPr/>
          <p:nvPr/>
        </p:nvSpPr>
        <p:spPr>
          <a:xfrm>
            <a:off x="1227225" y="1999572"/>
            <a:ext cx="1016666" cy="3456747"/>
          </a:xfrm>
          <a:prstGeom prst="downArrow">
            <a:avLst>
              <a:gd name="adj1" fmla="val 50000"/>
              <a:gd name="adj2" fmla="val 39941"/>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線コネクタ 4">
            <a:extLst>
              <a:ext uri="{FF2B5EF4-FFF2-40B4-BE49-F238E27FC236}">
                <a16:creationId xmlns:a16="http://schemas.microsoft.com/office/drawing/2014/main" id="{F99C6207-090C-06C2-7D69-A4A461113417}"/>
              </a:ext>
            </a:extLst>
          </p:cNvPr>
          <p:cNvCxnSpPr>
            <a:cxnSpLocks/>
          </p:cNvCxnSpPr>
          <p:nvPr/>
        </p:nvCxnSpPr>
        <p:spPr>
          <a:xfrm flipV="1">
            <a:off x="3080086" y="824161"/>
            <a:ext cx="0" cy="5245768"/>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テキスト ボックス 10">
            <a:extLst>
              <a:ext uri="{FF2B5EF4-FFF2-40B4-BE49-F238E27FC236}">
                <a16:creationId xmlns:a16="http://schemas.microsoft.com/office/drawing/2014/main" id="{AF043FFC-7CD0-4EC2-924E-BDD6BC74C22A}"/>
              </a:ext>
            </a:extLst>
          </p:cNvPr>
          <p:cNvSpPr txBox="1"/>
          <p:nvPr/>
        </p:nvSpPr>
        <p:spPr>
          <a:xfrm>
            <a:off x="716689" y="819180"/>
            <a:ext cx="2037737" cy="307777"/>
          </a:xfrm>
          <a:prstGeom prst="rect">
            <a:avLst/>
          </a:prstGeom>
          <a:noFill/>
        </p:spPr>
        <p:txBody>
          <a:bodyPr wrap="none" rtlCol="0">
            <a:spAutoFit/>
          </a:bodyPr>
          <a:lstStyle/>
          <a:p>
            <a:r>
              <a:rPr lang="en-US" sz="1400" b="1" dirty="0"/>
              <a:t>Conventional</a:t>
            </a:r>
            <a:r>
              <a:rPr lang="ja-JP" altLang="en-US" sz="1400" b="1" dirty="0"/>
              <a:t> </a:t>
            </a:r>
            <a:r>
              <a:rPr lang="en-US" altLang="ja-JP" sz="1400" b="1" dirty="0"/>
              <a:t>structure</a:t>
            </a:r>
            <a:endParaRPr lang="en-US" sz="1400" b="1" dirty="0"/>
          </a:p>
        </p:txBody>
      </p:sp>
      <p:sp>
        <p:nvSpPr>
          <p:cNvPr id="8" name="テキスト ボックス 11">
            <a:extLst>
              <a:ext uri="{FF2B5EF4-FFF2-40B4-BE49-F238E27FC236}">
                <a16:creationId xmlns:a16="http://schemas.microsoft.com/office/drawing/2014/main" id="{D787FE96-5EC8-E025-F7AD-D495A70F1FB6}"/>
              </a:ext>
            </a:extLst>
          </p:cNvPr>
          <p:cNvSpPr txBox="1"/>
          <p:nvPr/>
        </p:nvSpPr>
        <p:spPr>
          <a:xfrm>
            <a:off x="552381" y="1486992"/>
            <a:ext cx="2438488" cy="276999"/>
          </a:xfrm>
          <a:prstGeom prst="rect">
            <a:avLst/>
          </a:prstGeom>
          <a:noFill/>
        </p:spPr>
        <p:txBody>
          <a:bodyPr wrap="none" rtlCol="0">
            <a:spAutoFit/>
          </a:bodyPr>
          <a:lstStyle/>
          <a:p>
            <a:r>
              <a:rPr lang="en-US" altLang="ja-JP" sz="1200" dirty="0"/>
              <a:t>Electric companies in each region</a:t>
            </a:r>
            <a:endParaRPr lang="en-US" sz="1200" dirty="0"/>
          </a:p>
        </p:txBody>
      </p:sp>
      <p:sp>
        <p:nvSpPr>
          <p:cNvPr id="9" name="テキスト ボックス 12">
            <a:extLst>
              <a:ext uri="{FF2B5EF4-FFF2-40B4-BE49-F238E27FC236}">
                <a16:creationId xmlns:a16="http://schemas.microsoft.com/office/drawing/2014/main" id="{8D506B38-B182-99E5-D72C-44A86A82B3A5}"/>
              </a:ext>
            </a:extLst>
          </p:cNvPr>
          <p:cNvSpPr txBox="1"/>
          <p:nvPr/>
        </p:nvSpPr>
        <p:spPr>
          <a:xfrm>
            <a:off x="1123301" y="1793314"/>
            <a:ext cx="1239252" cy="2800767"/>
          </a:xfrm>
          <a:prstGeom prst="rect">
            <a:avLst/>
          </a:prstGeom>
          <a:noFill/>
          <a:ln w="28575">
            <a:solidFill>
              <a:schemeClr val="accent1"/>
            </a:solidFill>
          </a:ln>
        </p:spPr>
        <p:txBody>
          <a:bodyPr wrap="square" rtlCol="0">
            <a:spAutoFit/>
          </a:bodyPr>
          <a:lstStyle/>
          <a:p>
            <a:pPr algn="ctr"/>
            <a:endParaRPr lang="en-US" altLang="ja-JP" dirty="0"/>
          </a:p>
          <a:p>
            <a:pPr algn="ctr"/>
            <a:r>
              <a:rPr lang="en-US" altLang="ja-JP" sz="1400" dirty="0"/>
              <a:t>Generation</a:t>
            </a:r>
          </a:p>
          <a:p>
            <a:pPr algn="ctr"/>
            <a:endParaRPr lang="en-US" sz="1400" dirty="0"/>
          </a:p>
          <a:p>
            <a:pPr algn="ctr"/>
            <a:endParaRPr lang="en-US" sz="1400" dirty="0"/>
          </a:p>
          <a:p>
            <a:pPr algn="ctr"/>
            <a:r>
              <a:rPr lang="en-US" altLang="ja-JP" sz="1400" dirty="0"/>
              <a:t>Transmission</a:t>
            </a:r>
          </a:p>
          <a:p>
            <a:pPr algn="ctr"/>
            <a:endParaRPr lang="en-US" sz="1400" dirty="0"/>
          </a:p>
          <a:p>
            <a:pPr algn="ctr"/>
            <a:endParaRPr lang="en-US" sz="1400" dirty="0"/>
          </a:p>
          <a:p>
            <a:pPr algn="ctr"/>
            <a:r>
              <a:rPr lang="en-US" altLang="ja-JP" sz="1400" dirty="0"/>
              <a:t>Distribution</a:t>
            </a:r>
          </a:p>
          <a:p>
            <a:pPr algn="ctr"/>
            <a:endParaRPr lang="en-US" sz="1400" dirty="0"/>
          </a:p>
          <a:p>
            <a:pPr algn="ctr"/>
            <a:endParaRPr lang="en-US" sz="1400" dirty="0"/>
          </a:p>
          <a:p>
            <a:pPr algn="ctr"/>
            <a:r>
              <a:rPr lang="en-US" altLang="ja-JP" sz="1400" dirty="0"/>
              <a:t>Retail</a:t>
            </a:r>
          </a:p>
          <a:p>
            <a:pPr algn="ctr"/>
            <a:endParaRPr lang="en-US" dirty="0"/>
          </a:p>
        </p:txBody>
      </p:sp>
      <p:sp>
        <p:nvSpPr>
          <p:cNvPr id="10" name="テキスト ボックス 14">
            <a:extLst>
              <a:ext uri="{FF2B5EF4-FFF2-40B4-BE49-F238E27FC236}">
                <a16:creationId xmlns:a16="http://schemas.microsoft.com/office/drawing/2014/main" id="{2530AD59-ADEF-DCCC-A29A-6A465351E5A1}"/>
              </a:ext>
            </a:extLst>
          </p:cNvPr>
          <p:cNvSpPr txBox="1"/>
          <p:nvPr/>
        </p:nvSpPr>
        <p:spPr>
          <a:xfrm>
            <a:off x="1123301" y="5553617"/>
            <a:ext cx="1239250" cy="433553"/>
          </a:xfrm>
          <a:prstGeom prst="rect">
            <a:avLst/>
          </a:prstGeom>
          <a:noFill/>
          <a:ln w="28575">
            <a:solidFill>
              <a:schemeClr val="tx1"/>
            </a:solidFill>
          </a:ln>
        </p:spPr>
        <p:txBody>
          <a:bodyPr wrap="square" tIns="108000" bIns="108000" rtlCol="0">
            <a:spAutoFit/>
          </a:bodyPr>
          <a:lstStyle/>
          <a:p>
            <a:pPr algn="ctr"/>
            <a:r>
              <a:rPr lang="en-US" sz="1400" dirty="0"/>
              <a:t>Consumers</a:t>
            </a:r>
          </a:p>
        </p:txBody>
      </p:sp>
      <p:sp>
        <p:nvSpPr>
          <p:cNvPr id="11" name="テキスト ボックス 15">
            <a:extLst>
              <a:ext uri="{FF2B5EF4-FFF2-40B4-BE49-F238E27FC236}">
                <a16:creationId xmlns:a16="http://schemas.microsoft.com/office/drawing/2014/main" id="{D8D2F725-E6E8-F137-22E6-F86F735BA25B}"/>
              </a:ext>
            </a:extLst>
          </p:cNvPr>
          <p:cNvSpPr txBox="1"/>
          <p:nvPr/>
        </p:nvSpPr>
        <p:spPr>
          <a:xfrm>
            <a:off x="279447" y="4588948"/>
            <a:ext cx="2908168" cy="646331"/>
          </a:xfrm>
          <a:prstGeom prst="rect">
            <a:avLst/>
          </a:prstGeom>
          <a:noFill/>
        </p:spPr>
        <p:txBody>
          <a:bodyPr wrap="none" rtlCol="0">
            <a:spAutoFit/>
          </a:bodyPr>
          <a:lstStyle/>
          <a:p>
            <a:pPr algn="ctr"/>
            <a:r>
              <a:rPr lang="en-US" sz="1200" dirty="0"/>
              <a:t>Supply obligations, regional monopolies</a:t>
            </a:r>
            <a:br>
              <a:rPr lang="en-US" sz="1200" dirty="0"/>
            </a:br>
            <a:r>
              <a:rPr lang="en-US" sz="1200" dirty="0"/>
              <a:t>Price regulation based on </a:t>
            </a:r>
            <a:br>
              <a:rPr lang="en-US" sz="1200" dirty="0"/>
            </a:br>
            <a:r>
              <a:rPr lang="en-US" sz="1200" dirty="0"/>
              <a:t>the full-cost method</a:t>
            </a:r>
          </a:p>
        </p:txBody>
      </p:sp>
      <p:sp>
        <p:nvSpPr>
          <p:cNvPr id="12" name="テキスト ボックス 16">
            <a:extLst>
              <a:ext uri="{FF2B5EF4-FFF2-40B4-BE49-F238E27FC236}">
                <a16:creationId xmlns:a16="http://schemas.microsoft.com/office/drawing/2014/main" id="{2F2E4D56-4CD6-4054-9295-7ABDAE8E6E26}"/>
              </a:ext>
            </a:extLst>
          </p:cNvPr>
          <p:cNvSpPr txBox="1"/>
          <p:nvPr/>
        </p:nvSpPr>
        <p:spPr>
          <a:xfrm>
            <a:off x="5516325" y="812977"/>
            <a:ext cx="2292615" cy="307777"/>
          </a:xfrm>
          <a:prstGeom prst="rect">
            <a:avLst/>
          </a:prstGeom>
          <a:noFill/>
        </p:spPr>
        <p:txBody>
          <a:bodyPr wrap="none" rtlCol="0">
            <a:spAutoFit/>
          </a:bodyPr>
          <a:lstStyle/>
          <a:p>
            <a:r>
              <a:rPr lang="en-US" altLang="ja-JP" sz="1400" b="1" dirty="0"/>
              <a:t>Current structure (2016</a:t>
            </a:r>
            <a:r>
              <a:rPr lang="ja-JP" altLang="en-US" sz="1400" b="1" dirty="0"/>
              <a:t>～</a:t>
            </a:r>
            <a:r>
              <a:rPr lang="en-US" altLang="ja-JP" sz="1400" b="1" dirty="0"/>
              <a:t>)</a:t>
            </a:r>
            <a:endParaRPr lang="en-US" sz="1400" b="1" dirty="0"/>
          </a:p>
        </p:txBody>
      </p:sp>
      <p:sp>
        <p:nvSpPr>
          <p:cNvPr id="13" name="テキスト ボックス 17">
            <a:extLst>
              <a:ext uri="{FF2B5EF4-FFF2-40B4-BE49-F238E27FC236}">
                <a16:creationId xmlns:a16="http://schemas.microsoft.com/office/drawing/2014/main" id="{521FD049-D40A-1887-C0F5-F92A6394B7C4}"/>
              </a:ext>
            </a:extLst>
          </p:cNvPr>
          <p:cNvSpPr txBox="1"/>
          <p:nvPr/>
        </p:nvSpPr>
        <p:spPr>
          <a:xfrm>
            <a:off x="3588795" y="1793314"/>
            <a:ext cx="2262157" cy="2585323"/>
          </a:xfrm>
          <a:prstGeom prst="rect">
            <a:avLst/>
          </a:prstGeom>
          <a:noFill/>
          <a:ln w="28575">
            <a:solidFill>
              <a:schemeClr val="accent1"/>
            </a:solidFill>
          </a:ln>
        </p:spPr>
        <p:txBody>
          <a:bodyPr wrap="square" rtlCol="0">
            <a:spAutoFit/>
          </a:bodyPr>
          <a:lstStyle/>
          <a:p>
            <a:endParaRPr lang="en-US" altLang="ja-JP" dirty="0"/>
          </a:p>
          <a:p>
            <a:r>
              <a:rPr lang="ja-JP" altLang="en-US" dirty="0"/>
              <a:t>　　　　　　</a:t>
            </a:r>
            <a:endParaRPr lang="en-US" altLang="ja-JP" dirty="0"/>
          </a:p>
          <a:p>
            <a:endParaRPr lang="en-US" dirty="0"/>
          </a:p>
          <a:p>
            <a:r>
              <a:rPr lang="ja-JP" altLang="en-US" dirty="0"/>
              <a:t>　 </a:t>
            </a:r>
            <a:r>
              <a:rPr lang="en-US" altLang="ja-JP" dirty="0"/>
              <a:t>TSO</a:t>
            </a:r>
          </a:p>
          <a:p>
            <a:r>
              <a:rPr lang="ja-JP" altLang="en-US" dirty="0"/>
              <a:t>　 </a:t>
            </a:r>
            <a:r>
              <a:rPr lang="en-US" altLang="ja-JP" dirty="0"/>
              <a:t>DSO</a:t>
            </a:r>
          </a:p>
          <a:p>
            <a:endParaRPr lang="en-US" dirty="0"/>
          </a:p>
          <a:p>
            <a:endParaRPr lang="en-US" dirty="0"/>
          </a:p>
          <a:p>
            <a:r>
              <a:rPr lang="ja-JP" altLang="en-US" dirty="0"/>
              <a:t>　　　　　　</a:t>
            </a:r>
            <a:endParaRPr lang="en-US" altLang="ja-JP" dirty="0"/>
          </a:p>
          <a:p>
            <a:endParaRPr lang="en-US" dirty="0"/>
          </a:p>
        </p:txBody>
      </p:sp>
      <p:sp>
        <p:nvSpPr>
          <p:cNvPr id="14" name="正方形/長方形 18">
            <a:extLst>
              <a:ext uri="{FF2B5EF4-FFF2-40B4-BE49-F238E27FC236}">
                <a16:creationId xmlns:a16="http://schemas.microsoft.com/office/drawing/2014/main" id="{5D02BDF8-953C-5BAF-E88D-8F677959B388}"/>
              </a:ext>
            </a:extLst>
          </p:cNvPr>
          <p:cNvSpPr/>
          <p:nvPr/>
        </p:nvSpPr>
        <p:spPr>
          <a:xfrm>
            <a:off x="3717760" y="2436393"/>
            <a:ext cx="1028700" cy="10226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テキスト ボックス 20">
            <a:extLst>
              <a:ext uri="{FF2B5EF4-FFF2-40B4-BE49-F238E27FC236}">
                <a16:creationId xmlns:a16="http://schemas.microsoft.com/office/drawing/2014/main" id="{AC15B645-4841-4E78-F1AE-9FCCC9C93F36}"/>
              </a:ext>
            </a:extLst>
          </p:cNvPr>
          <p:cNvSpPr txBox="1"/>
          <p:nvPr/>
        </p:nvSpPr>
        <p:spPr>
          <a:xfrm>
            <a:off x="4678690" y="2382249"/>
            <a:ext cx="711086" cy="707886"/>
          </a:xfrm>
          <a:prstGeom prst="rect">
            <a:avLst/>
          </a:prstGeom>
          <a:noFill/>
        </p:spPr>
        <p:txBody>
          <a:bodyPr wrap="square" rtlCol="0">
            <a:spAutoFit/>
          </a:bodyPr>
          <a:lstStyle/>
          <a:p>
            <a:r>
              <a:rPr lang="en-US" altLang="ja-JP" sz="800" dirty="0"/>
              <a:t>Legal</a:t>
            </a:r>
            <a:br>
              <a:rPr lang="en-US" altLang="ja-JP" sz="800" dirty="0"/>
            </a:br>
            <a:r>
              <a:rPr lang="en-US" altLang="ja-JP" sz="800" dirty="0"/>
              <a:t>Separation</a:t>
            </a:r>
          </a:p>
          <a:p>
            <a:r>
              <a:rPr lang="ja-JP" altLang="en-US" sz="2400" dirty="0">
                <a:solidFill>
                  <a:schemeClr val="accent2"/>
                </a:solidFill>
              </a:rPr>
              <a:t>←</a:t>
            </a:r>
            <a:endParaRPr lang="en-US" sz="1000" dirty="0">
              <a:solidFill>
                <a:schemeClr val="accent2"/>
              </a:solidFill>
            </a:endParaRPr>
          </a:p>
        </p:txBody>
      </p:sp>
      <p:sp>
        <p:nvSpPr>
          <p:cNvPr id="16" name="テキスト ボックス 21">
            <a:extLst>
              <a:ext uri="{FF2B5EF4-FFF2-40B4-BE49-F238E27FC236}">
                <a16:creationId xmlns:a16="http://schemas.microsoft.com/office/drawing/2014/main" id="{E52C4B86-49CD-60B1-91ED-F5123001ACA0}"/>
              </a:ext>
            </a:extLst>
          </p:cNvPr>
          <p:cNvSpPr txBox="1"/>
          <p:nvPr/>
        </p:nvSpPr>
        <p:spPr>
          <a:xfrm>
            <a:off x="3937141" y="1486992"/>
            <a:ext cx="1483098" cy="276999"/>
          </a:xfrm>
          <a:prstGeom prst="rect">
            <a:avLst/>
          </a:prstGeom>
          <a:noFill/>
        </p:spPr>
        <p:txBody>
          <a:bodyPr wrap="none" rtlCol="0">
            <a:spAutoFit/>
          </a:bodyPr>
          <a:lstStyle/>
          <a:p>
            <a:r>
              <a:rPr lang="en-US" altLang="ja-JP" sz="1200" dirty="0"/>
              <a:t>Electric</a:t>
            </a:r>
            <a:r>
              <a:rPr lang="ja-JP" altLang="en-US" sz="1200" dirty="0"/>
              <a:t> </a:t>
            </a:r>
            <a:r>
              <a:rPr lang="en-US" altLang="ja-JP" sz="1200" dirty="0"/>
              <a:t>companies</a:t>
            </a:r>
            <a:endParaRPr lang="en-US" sz="1200" dirty="0"/>
          </a:p>
        </p:txBody>
      </p:sp>
      <p:sp>
        <p:nvSpPr>
          <p:cNvPr id="17" name="テキスト ボックス 22">
            <a:extLst>
              <a:ext uri="{FF2B5EF4-FFF2-40B4-BE49-F238E27FC236}">
                <a16:creationId xmlns:a16="http://schemas.microsoft.com/office/drawing/2014/main" id="{44A871DD-44E4-DC39-4A5E-A5A25CDBE244}"/>
              </a:ext>
            </a:extLst>
          </p:cNvPr>
          <p:cNvSpPr txBox="1"/>
          <p:nvPr/>
        </p:nvSpPr>
        <p:spPr>
          <a:xfrm>
            <a:off x="6365550" y="1794829"/>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8" name="テキスト ボックス 23">
            <a:extLst>
              <a:ext uri="{FF2B5EF4-FFF2-40B4-BE49-F238E27FC236}">
                <a16:creationId xmlns:a16="http://schemas.microsoft.com/office/drawing/2014/main" id="{DA959842-FBB3-0A51-D2EF-CF8B3E83D7DF}"/>
              </a:ext>
            </a:extLst>
          </p:cNvPr>
          <p:cNvSpPr txBox="1"/>
          <p:nvPr/>
        </p:nvSpPr>
        <p:spPr>
          <a:xfrm>
            <a:off x="7343290"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9" name="テキスト ボックス 24">
            <a:extLst>
              <a:ext uri="{FF2B5EF4-FFF2-40B4-BE49-F238E27FC236}">
                <a16:creationId xmlns:a16="http://schemas.microsoft.com/office/drawing/2014/main" id="{058C1461-BBF8-D112-D7D3-EFEB66121B78}"/>
              </a:ext>
            </a:extLst>
          </p:cNvPr>
          <p:cNvSpPr txBox="1"/>
          <p:nvPr/>
        </p:nvSpPr>
        <p:spPr>
          <a:xfrm>
            <a:off x="8319284"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20" name="テキスト ボックス 25">
            <a:extLst>
              <a:ext uri="{FF2B5EF4-FFF2-40B4-BE49-F238E27FC236}">
                <a16:creationId xmlns:a16="http://schemas.microsoft.com/office/drawing/2014/main" id="{41D41CF5-0D73-9DB0-2FFF-84E30E113AD7}"/>
              </a:ext>
            </a:extLst>
          </p:cNvPr>
          <p:cNvSpPr txBox="1"/>
          <p:nvPr/>
        </p:nvSpPr>
        <p:spPr>
          <a:xfrm>
            <a:off x="6396149" y="2829262"/>
            <a:ext cx="2829151" cy="567811"/>
          </a:xfrm>
          <a:prstGeom prst="rect">
            <a:avLst/>
          </a:prstGeom>
          <a:noFill/>
          <a:ln w="28575">
            <a:solidFill>
              <a:schemeClr val="accent2"/>
            </a:solidFill>
          </a:ln>
        </p:spPr>
        <p:txBody>
          <a:bodyPr wrap="square" tIns="144000" bIns="144000" rtlCol="0" anchor="ctr" anchorCtr="1">
            <a:spAutoFit/>
          </a:bodyPr>
          <a:lstStyle/>
          <a:p>
            <a:pPr algn="ctr"/>
            <a:r>
              <a:rPr lang="en-US" altLang="ja-JP" dirty="0"/>
              <a:t>Wholesale Market(JEPX)</a:t>
            </a:r>
          </a:p>
        </p:txBody>
      </p:sp>
      <p:sp>
        <p:nvSpPr>
          <p:cNvPr id="21" name="テキスト ボックス 26">
            <a:extLst>
              <a:ext uri="{FF2B5EF4-FFF2-40B4-BE49-F238E27FC236}">
                <a16:creationId xmlns:a16="http://schemas.microsoft.com/office/drawing/2014/main" id="{2B201FB3-BD84-CD77-8678-144196C94976}"/>
              </a:ext>
            </a:extLst>
          </p:cNvPr>
          <p:cNvSpPr txBox="1"/>
          <p:nvPr/>
        </p:nvSpPr>
        <p:spPr>
          <a:xfrm>
            <a:off x="6499417" y="3727945"/>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2" name="テキスト ボックス 27">
            <a:extLst>
              <a:ext uri="{FF2B5EF4-FFF2-40B4-BE49-F238E27FC236}">
                <a16:creationId xmlns:a16="http://schemas.microsoft.com/office/drawing/2014/main" id="{5A762BD2-1FEF-1EC6-098E-985AEE392017}"/>
              </a:ext>
            </a:extLst>
          </p:cNvPr>
          <p:cNvSpPr txBox="1"/>
          <p:nvPr/>
        </p:nvSpPr>
        <p:spPr>
          <a:xfrm>
            <a:off x="7475875" y="3727945"/>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3" name="テキスト ボックス 28">
            <a:extLst>
              <a:ext uri="{FF2B5EF4-FFF2-40B4-BE49-F238E27FC236}">
                <a16:creationId xmlns:a16="http://schemas.microsoft.com/office/drawing/2014/main" id="{64BD5305-2E62-301E-95F2-4843EF33A262}"/>
              </a:ext>
            </a:extLst>
          </p:cNvPr>
          <p:cNvSpPr txBox="1"/>
          <p:nvPr/>
        </p:nvSpPr>
        <p:spPr>
          <a:xfrm>
            <a:off x="8452333" y="3727944"/>
            <a:ext cx="669702" cy="402775"/>
          </a:xfrm>
          <a:prstGeom prst="rect">
            <a:avLst/>
          </a:prstGeom>
          <a:noFill/>
          <a:ln w="28575">
            <a:solidFill>
              <a:schemeClr val="accent1"/>
            </a:solidFill>
          </a:ln>
        </p:spPr>
        <p:txBody>
          <a:bodyPr wrap="none" lIns="79200" tIns="108000" rIns="79200" bIns="108000" rtlCol="0">
            <a:spAutoFit/>
          </a:bodyPr>
          <a:lstStyle/>
          <a:p>
            <a:pPr algn="ctr"/>
            <a:r>
              <a:rPr lang="en-US" altLang="ja-JP" sz="1200" dirty="0"/>
              <a:t>Retailer</a:t>
            </a:r>
            <a:endParaRPr lang="en-US" sz="1200" dirty="0"/>
          </a:p>
        </p:txBody>
      </p:sp>
      <p:sp>
        <p:nvSpPr>
          <p:cNvPr id="25" name="テキスト ボックス 30">
            <a:extLst>
              <a:ext uri="{FF2B5EF4-FFF2-40B4-BE49-F238E27FC236}">
                <a16:creationId xmlns:a16="http://schemas.microsoft.com/office/drawing/2014/main" id="{759007AC-357A-2005-EFD2-0C0DDFB01852}"/>
              </a:ext>
            </a:extLst>
          </p:cNvPr>
          <p:cNvSpPr txBox="1"/>
          <p:nvPr/>
        </p:nvSpPr>
        <p:spPr>
          <a:xfrm>
            <a:off x="6208633" y="5254982"/>
            <a:ext cx="751657" cy="330072"/>
          </a:xfrm>
          <a:prstGeom prst="rect">
            <a:avLst/>
          </a:prstGeom>
          <a:noFill/>
          <a:ln w="28575">
            <a:solidFill>
              <a:schemeClr val="tx1"/>
            </a:solidFill>
          </a:ln>
        </p:spPr>
        <p:txBody>
          <a:bodyPr wrap="square" lIns="36000" tIns="72000" rIns="36000" bIns="72000" rtlCol="0">
            <a:spAutoFit/>
          </a:bodyPr>
          <a:lstStyle/>
          <a:p>
            <a:pPr algn="ctr"/>
            <a:r>
              <a:rPr lang="en-US" sz="1200" dirty="0"/>
              <a:t>Prosumer</a:t>
            </a:r>
          </a:p>
        </p:txBody>
      </p:sp>
      <p:cxnSp>
        <p:nvCxnSpPr>
          <p:cNvPr id="27" name="直線矢印コネクタ 38">
            <a:extLst>
              <a:ext uri="{FF2B5EF4-FFF2-40B4-BE49-F238E27FC236}">
                <a16:creationId xmlns:a16="http://schemas.microsoft.com/office/drawing/2014/main" id="{AFC9443D-F739-3591-7C9E-8795F25915E5}"/>
              </a:ext>
            </a:extLst>
          </p:cNvPr>
          <p:cNvCxnSpPr>
            <a:cxnSpLocks/>
          </p:cNvCxnSpPr>
          <p:nvPr/>
        </p:nvCxnSpPr>
        <p:spPr>
          <a:xfrm>
            <a:off x="5590762" y="2337201"/>
            <a:ext cx="870198" cy="5114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46">
            <a:extLst>
              <a:ext uri="{FF2B5EF4-FFF2-40B4-BE49-F238E27FC236}">
                <a16:creationId xmlns:a16="http://schemas.microsoft.com/office/drawing/2014/main" id="{F26AC27C-2123-7977-2644-0543F584D9A6}"/>
              </a:ext>
            </a:extLst>
          </p:cNvPr>
          <p:cNvCxnSpPr>
            <a:cxnSpLocks/>
            <a:stCxn id="18" idx="2"/>
          </p:cNvCxnSpPr>
          <p:nvPr/>
        </p:nvCxnSpPr>
        <p:spPr>
          <a:xfrm flipH="1">
            <a:off x="7810724" y="2067061"/>
            <a:ext cx="2" cy="7622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47">
            <a:extLst>
              <a:ext uri="{FF2B5EF4-FFF2-40B4-BE49-F238E27FC236}">
                <a16:creationId xmlns:a16="http://schemas.microsoft.com/office/drawing/2014/main" id="{334130E8-6ACF-FE5D-290C-66B439D4310B}"/>
              </a:ext>
            </a:extLst>
          </p:cNvPr>
          <p:cNvCxnSpPr>
            <a:cxnSpLocks/>
            <a:stCxn id="19" idx="2"/>
          </p:cNvCxnSpPr>
          <p:nvPr/>
        </p:nvCxnSpPr>
        <p:spPr>
          <a:xfrm flipH="1">
            <a:off x="8626699" y="2067061"/>
            <a:ext cx="160021" cy="7924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54">
            <a:extLst>
              <a:ext uri="{FF2B5EF4-FFF2-40B4-BE49-F238E27FC236}">
                <a16:creationId xmlns:a16="http://schemas.microsoft.com/office/drawing/2014/main" id="{C9B805AF-83A1-5221-D538-07656843E8AF}"/>
              </a:ext>
            </a:extLst>
          </p:cNvPr>
          <p:cNvCxnSpPr>
            <a:cxnSpLocks/>
            <a:endCxn id="21" idx="0"/>
          </p:cNvCxnSpPr>
          <p:nvPr/>
        </p:nvCxnSpPr>
        <p:spPr>
          <a:xfrm flipH="1">
            <a:off x="6834268" y="3408562"/>
            <a:ext cx="219754"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56">
            <a:extLst>
              <a:ext uri="{FF2B5EF4-FFF2-40B4-BE49-F238E27FC236}">
                <a16:creationId xmlns:a16="http://schemas.microsoft.com/office/drawing/2014/main" id="{C0AD633A-1D0F-E4C8-BF82-83DD974E46B7}"/>
              </a:ext>
            </a:extLst>
          </p:cNvPr>
          <p:cNvCxnSpPr>
            <a:cxnSpLocks/>
            <a:endCxn id="23" idx="0"/>
          </p:cNvCxnSpPr>
          <p:nvPr/>
        </p:nvCxnSpPr>
        <p:spPr>
          <a:xfrm>
            <a:off x="8626699" y="3397933"/>
            <a:ext cx="160485" cy="3300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58">
            <a:extLst>
              <a:ext uri="{FF2B5EF4-FFF2-40B4-BE49-F238E27FC236}">
                <a16:creationId xmlns:a16="http://schemas.microsoft.com/office/drawing/2014/main" id="{27BDAEC2-7EA4-F12B-600F-08C3A42F8264}"/>
              </a:ext>
            </a:extLst>
          </p:cNvPr>
          <p:cNvCxnSpPr>
            <a:cxnSpLocks/>
            <a:endCxn id="22" idx="0"/>
          </p:cNvCxnSpPr>
          <p:nvPr/>
        </p:nvCxnSpPr>
        <p:spPr>
          <a:xfrm>
            <a:off x="7810724" y="3408562"/>
            <a:ext cx="2"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60">
            <a:extLst>
              <a:ext uri="{FF2B5EF4-FFF2-40B4-BE49-F238E27FC236}">
                <a16:creationId xmlns:a16="http://schemas.microsoft.com/office/drawing/2014/main" id="{66619850-B5B6-E1F0-DED1-FF2E2856D745}"/>
              </a:ext>
            </a:extLst>
          </p:cNvPr>
          <p:cNvCxnSpPr>
            <a:cxnSpLocks/>
          </p:cNvCxnSpPr>
          <p:nvPr/>
        </p:nvCxnSpPr>
        <p:spPr>
          <a:xfrm flipH="1">
            <a:off x="5548567" y="3418991"/>
            <a:ext cx="874284" cy="4846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62">
            <a:extLst>
              <a:ext uri="{FF2B5EF4-FFF2-40B4-BE49-F238E27FC236}">
                <a16:creationId xmlns:a16="http://schemas.microsoft.com/office/drawing/2014/main" id="{D5B52400-2294-2285-604B-15E0228B64A5}"/>
              </a:ext>
            </a:extLst>
          </p:cNvPr>
          <p:cNvCxnSpPr>
            <a:cxnSpLocks/>
            <a:stCxn id="58" idx="3"/>
            <a:endCxn id="48" idx="0"/>
          </p:cNvCxnSpPr>
          <p:nvPr/>
        </p:nvCxnSpPr>
        <p:spPr>
          <a:xfrm>
            <a:off x="5590762" y="4040180"/>
            <a:ext cx="2681238" cy="121984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64">
            <a:extLst>
              <a:ext uri="{FF2B5EF4-FFF2-40B4-BE49-F238E27FC236}">
                <a16:creationId xmlns:a16="http://schemas.microsoft.com/office/drawing/2014/main" id="{79AF9451-D871-A397-BABD-3E9D8EF57223}"/>
              </a:ext>
            </a:extLst>
          </p:cNvPr>
          <p:cNvCxnSpPr>
            <a:cxnSpLocks/>
            <a:stCxn id="21" idx="2"/>
            <a:endCxn id="68" idx="0"/>
          </p:cNvCxnSpPr>
          <p:nvPr/>
        </p:nvCxnSpPr>
        <p:spPr>
          <a:xfrm>
            <a:off x="6834268" y="4130720"/>
            <a:ext cx="2275107" cy="11297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69">
            <a:extLst>
              <a:ext uri="{FF2B5EF4-FFF2-40B4-BE49-F238E27FC236}">
                <a16:creationId xmlns:a16="http://schemas.microsoft.com/office/drawing/2014/main" id="{B748EA8F-F270-70B7-9076-7D5DF5495321}"/>
              </a:ext>
            </a:extLst>
          </p:cNvPr>
          <p:cNvCxnSpPr>
            <a:cxnSpLocks/>
            <a:stCxn id="22" idx="2"/>
            <a:endCxn id="47" idx="0"/>
          </p:cNvCxnSpPr>
          <p:nvPr/>
        </p:nvCxnSpPr>
        <p:spPr>
          <a:xfrm flipH="1">
            <a:off x="7418880" y="4130720"/>
            <a:ext cx="391846" cy="11293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70">
            <a:extLst>
              <a:ext uri="{FF2B5EF4-FFF2-40B4-BE49-F238E27FC236}">
                <a16:creationId xmlns:a16="http://schemas.microsoft.com/office/drawing/2014/main" id="{0C604D6C-7C65-90EB-E35D-7485257DF15D}"/>
              </a:ext>
            </a:extLst>
          </p:cNvPr>
          <p:cNvCxnSpPr>
            <a:cxnSpLocks/>
            <a:stCxn id="23" idx="2"/>
            <a:endCxn id="25" idx="0"/>
          </p:cNvCxnSpPr>
          <p:nvPr/>
        </p:nvCxnSpPr>
        <p:spPr>
          <a:xfrm flipH="1">
            <a:off x="6584462" y="4130719"/>
            <a:ext cx="2202722" cy="112426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95">
            <a:extLst>
              <a:ext uri="{FF2B5EF4-FFF2-40B4-BE49-F238E27FC236}">
                <a16:creationId xmlns:a16="http://schemas.microsoft.com/office/drawing/2014/main" id="{D516FDEA-FBA3-904A-9CBC-9B4CB00137C9}"/>
              </a:ext>
            </a:extLst>
          </p:cNvPr>
          <p:cNvCxnSpPr>
            <a:cxnSpLocks/>
            <a:endCxn id="14" idx="0"/>
          </p:cNvCxnSpPr>
          <p:nvPr/>
        </p:nvCxnSpPr>
        <p:spPr>
          <a:xfrm rot="10800000" flipV="1">
            <a:off x="4232111" y="1925049"/>
            <a:ext cx="2160677" cy="511343"/>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100">
            <a:extLst>
              <a:ext uri="{FF2B5EF4-FFF2-40B4-BE49-F238E27FC236}">
                <a16:creationId xmlns:a16="http://schemas.microsoft.com/office/drawing/2014/main" id="{B4E4FC3A-691A-2608-FC90-59B8BED8BF66}"/>
              </a:ext>
            </a:extLst>
          </p:cNvPr>
          <p:cNvCxnSpPr>
            <a:cxnSpLocks/>
            <a:stCxn id="17" idx="1"/>
            <a:endCxn id="21" idx="1"/>
          </p:cNvCxnSpPr>
          <p:nvPr/>
        </p:nvCxnSpPr>
        <p:spPr>
          <a:xfrm rot="10800000" flipH="1" flipV="1">
            <a:off x="6365549" y="1933329"/>
            <a:ext cx="133867" cy="1996004"/>
          </a:xfrm>
          <a:prstGeom prst="bentConnector3">
            <a:avLst>
              <a:gd name="adj1" fmla="val -170767"/>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105">
            <a:extLst>
              <a:ext uri="{FF2B5EF4-FFF2-40B4-BE49-F238E27FC236}">
                <a16:creationId xmlns:a16="http://schemas.microsoft.com/office/drawing/2014/main" id="{F5D67FED-F4FA-6621-C199-EED55D6E51B4}"/>
              </a:ext>
            </a:extLst>
          </p:cNvPr>
          <p:cNvSpPr txBox="1"/>
          <p:nvPr/>
        </p:nvSpPr>
        <p:spPr>
          <a:xfrm>
            <a:off x="5182027" y="5148542"/>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5" name="テキスト ボックス 106">
            <a:extLst>
              <a:ext uri="{FF2B5EF4-FFF2-40B4-BE49-F238E27FC236}">
                <a16:creationId xmlns:a16="http://schemas.microsoft.com/office/drawing/2014/main" id="{7609A01B-E8FA-8625-B66D-81C33305995E}"/>
              </a:ext>
            </a:extLst>
          </p:cNvPr>
          <p:cNvSpPr txBox="1"/>
          <p:nvPr/>
        </p:nvSpPr>
        <p:spPr>
          <a:xfrm>
            <a:off x="5850950" y="1663734"/>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6" name="テキスト ボックス 107">
            <a:extLst>
              <a:ext uri="{FF2B5EF4-FFF2-40B4-BE49-F238E27FC236}">
                <a16:creationId xmlns:a16="http://schemas.microsoft.com/office/drawing/2014/main" id="{3F6E944E-D673-26F8-B09E-DF3727525607}"/>
              </a:ext>
            </a:extLst>
          </p:cNvPr>
          <p:cNvSpPr txBox="1"/>
          <p:nvPr/>
        </p:nvSpPr>
        <p:spPr>
          <a:xfrm rot="16200000">
            <a:off x="5813641" y="2967526"/>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47" name="テキスト ボックス 51">
            <a:extLst>
              <a:ext uri="{FF2B5EF4-FFF2-40B4-BE49-F238E27FC236}">
                <a16:creationId xmlns:a16="http://schemas.microsoft.com/office/drawing/2014/main" id="{C81DE99E-D8E4-45DC-70F7-095CDFE8FAE2}"/>
              </a:ext>
            </a:extLst>
          </p:cNvPr>
          <p:cNvSpPr txBox="1"/>
          <p:nvPr/>
        </p:nvSpPr>
        <p:spPr>
          <a:xfrm>
            <a:off x="7023323" y="5260024"/>
            <a:ext cx="791113" cy="330072"/>
          </a:xfrm>
          <a:prstGeom prst="rect">
            <a:avLst/>
          </a:prstGeom>
          <a:noFill/>
          <a:ln w="28575">
            <a:solidFill>
              <a:schemeClr val="tx1"/>
            </a:solidFill>
          </a:ln>
        </p:spPr>
        <p:txBody>
          <a:bodyPr wrap="square" lIns="36000" tIns="72000" rIns="36000" bIns="72000" rtlCol="0">
            <a:spAutoFit/>
          </a:bodyPr>
          <a:lstStyle/>
          <a:p>
            <a:pPr algn="ctr"/>
            <a:r>
              <a:rPr lang="en-US" sz="1200" dirty="0"/>
              <a:t>Consumer</a:t>
            </a:r>
          </a:p>
        </p:txBody>
      </p:sp>
      <p:sp>
        <p:nvSpPr>
          <p:cNvPr id="48" name="テキスト ボックス 52">
            <a:extLst>
              <a:ext uri="{FF2B5EF4-FFF2-40B4-BE49-F238E27FC236}">
                <a16:creationId xmlns:a16="http://schemas.microsoft.com/office/drawing/2014/main" id="{4370FD7A-DBAC-FE87-5219-EBB00CB4ACEF}"/>
              </a:ext>
            </a:extLst>
          </p:cNvPr>
          <p:cNvSpPr txBox="1"/>
          <p:nvPr/>
        </p:nvSpPr>
        <p:spPr>
          <a:xfrm>
            <a:off x="7877469" y="5260024"/>
            <a:ext cx="789061"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Consumer</a:t>
            </a:r>
            <a:endParaRPr lang="en-US" sz="1200" dirty="0"/>
          </a:p>
        </p:txBody>
      </p:sp>
      <p:cxnSp>
        <p:nvCxnSpPr>
          <p:cNvPr id="49" name="コネクタ: カギ線 57">
            <a:extLst>
              <a:ext uri="{FF2B5EF4-FFF2-40B4-BE49-F238E27FC236}">
                <a16:creationId xmlns:a16="http://schemas.microsoft.com/office/drawing/2014/main" id="{4BB1A0A8-5C7E-D655-C2F1-DA505892E6E7}"/>
              </a:ext>
            </a:extLst>
          </p:cNvPr>
          <p:cNvCxnSpPr>
            <a:cxnSpLocks/>
            <a:stCxn id="25" idx="1"/>
          </p:cNvCxnSpPr>
          <p:nvPr/>
        </p:nvCxnSpPr>
        <p:spPr>
          <a:xfrm rot="10800000">
            <a:off x="4555475" y="3459078"/>
            <a:ext cx="1653158" cy="1960941"/>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66">
            <a:extLst>
              <a:ext uri="{FF2B5EF4-FFF2-40B4-BE49-F238E27FC236}">
                <a16:creationId xmlns:a16="http://schemas.microsoft.com/office/drawing/2014/main" id="{EFAD3B79-283C-AE5A-305D-31B30E12ABB5}"/>
              </a:ext>
            </a:extLst>
          </p:cNvPr>
          <p:cNvCxnSpPr>
            <a:cxnSpLocks/>
            <a:stCxn id="17" idx="2"/>
          </p:cNvCxnSpPr>
          <p:nvPr/>
        </p:nvCxnSpPr>
        <p:spPr>
          <a:xfrm>
            <a:off x="6832986" y="2071828"/>
            <a:ext cx="161819" cy="718248"/>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67">
            <a:extLst>
              <a:ext uri="{FF2B5EF4-FFF2-40B4-BE49-F238E27FC236}">
                <a16:creationId xmlns:a16="http://schemas.microsoft.com/office/drawing/2014/main" id="{EF804D4E-21B4-5877-5510-D912A8D6074A}"/>
              </a:ext>
            </a:extLst>
          </p:cNvPr>
          <p:cNvSpPr txBox="1"/>
          <p:nvPr/>
        </p:nvSpPr>
        <p:spPr>
          <a:xfrm>
            <a:off x="6889585" y="2419596"/>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57" name="テキスト ボックス 56">
            <a:extLst>
              <a:ext uri="{FF2B5EF4-FFF2-40B4-BE49-F238E27FC236}">
                <a16:creationId xmlns:a16="http://schemas.microsoft.com/office/drawing/2014/main" id="{27B3D961-6B31-5D59-A36D-61EC20106635}"/>
              </a:ext>
            </a:extLst>
          </p:cNvPr>
          <p:cNvSpPr txBox="1"/>
          <p:nvPr/>
        </p:nvSpPr>
        <p:spPr>
          <a:xfrm>
            <a:off x="4746460" y="2069489"/>
            <a:ext cx="1063112" cy="307777"/>
          </a:xfrm>
          <a:prstGeom prst="rect">
            <a:avLst/>
          </a:prstGeom>
          <a:noFill/>
        </p:spPr>
        <p:txBody>
          <a:bodyPr wrap="none" rtlCol="0">
            <a:spAutoFit/>
          </a:bodyPr>
          <a:lstStyle/>
          <a:p>
            <a:r>
              <a:rPr kumimoji="1" lang="en-US" altLang="ja-JP" sz="1400" dirty="0"/>
              <a:t>Generation</a:t>
            </a:r>
            <a:endParaRPr kumimoji="1" lang="ja-JP" altLang="en-US" sz="1400" dirty="0"/>
          </a:p>
        </p:txBody>
      </p:sp>
      <p:sp>
        <p:nvSpPr>
          <p:cNvPr id="58" name="テキスト ボックス 57">
            <a:extLst>
              <a:ext uri="{FF2B5EF4-FFF2-40B4-BE49-F238E27FC236}">
                <a16:creationId xmlns:a16="http://schemas.microsoft.com/office/drawing/2014/main" id="{B9FA4AB5-FC65-0E26-2EDD-185181C0180C}"/>
              </a:ext>
            </a:extLst>
          </p:cNvPr>
          <p:cNvSpPr txBox="1"/>
          <p:nvPr/>
        </p:nvSpPr>
        <p:spPr>
          <a:xfrm>
            <a:off x="4965270" y="3886291"/>
            <a:ext cx="625492" cy="307777"/>
          </a:xfrm>
          <a:prstGeom prst="rect">
            <a:avLst/>
          </a:prstGeom>
          <a:noFill/>
        </p:spPr>
        <p:txBody>
          <a:bodyPr wrap="none" rtlCol="0">
            <a:spAutoFit/>
          </a:bodyPr>
          <a:lstStyle/>
          <a:p>
            <a:pPr algn="r"/>
            <a:r>
              <a:rPr kumimoji="1" lang="en-US" altLang="ja-JP" sz="1400" dirty="0"/>
              <a:t>Retail</a:t>
            </a:r>
            <a:endParaRPr kumimoji="1" lang="ja-JP" altLang="en-US" sz="1400" dirty="0"/>
          </a:p>
        </p:txBody>
      </p:sp>
      <p:sp>
        <p:nvSpPr>
          <p:cNvPr id="68" name="テキスト ボックス 52">
            <a:extLst>
              <a:ext uri="{FF2B5EF4-FFF2-40B4-BE49-F238E27FC236}">
                <a16:creationId xmlns:a16="http://schemas.microsoft.com/office/drawing/2014/main" id="{9AA1CCA2-6CA2-3491-EBDC-B081E16E0D14}"/>
              </a:ext>
            </a:extLst>
          </p:cNvPr>
          <p:cNvSpPr txBox="1"/>
          <p:nvPr/>
        </p:nvSpPr>
        <p:spPr>
          <a:xfrm>
            <a:off x="8713818" y="5260490"/>
            <a:ext cx="791113"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Consumer</a:t>
            </a:r>
            <a:endParaRPr lang="en-US" sz="1200" dirty="0"/>
          </a:p>
        </p:txBody>
      </p:sp>
      <p:sp>
        <p:nvSpPr>
          <p:cNvPr id="79" name="テキスト ボックス 15">
            <a:extLst>
              <a:ext uri="{FF2B5EF4-FFF2-40B4-BE49-F238E27FC236}">
                <a16:creationId xmlns:a16="http://schemas.microsoft.com/office/drawing/2014/main" id="{9C253855-5E36-EC07-DF40-3EE9B52B4215}"/>
              </a:ext>
            </a:extLst>
          </p:cNvPr>
          <p:cNvSpPr txBox="1"/>
          <p:nvPr/>
        </p:nvSpPr>
        <p:spPr>
          <a:xfrm>
            <a:off x="6334765" y="5641848"/>
            <a:ext cx="2890535" cy="461665"/>
          </a:xfrm>
          <a:prstGeom prst="rect">
            <a:avLst/>
          </a:prstGeom>
          <a:noFill/>
        </p:spPr>
        <p:txBody>
          <a:bodyPr wrap="none" rtlCol="0">
            <a:spAutoFit/>
          </a:bodyPr>
          <a:lstStyle/>
          <a:p>
            <a:pPr algn="ctr"/>
            <a:r>
              <a:rPr lang="en-US" sz="1200" dirty="0"/>
              <a:t>Each consumers/prosumers can choose </a:t>
            </a:r>
            <a:br>
              <a:rPr lang="en-US" sz="1200" dirty="0"/>
            </a:br>
            <a:r>
              <a:rPr lang="en-US" sz="1200" dirty="0"/>
              <a:t>appropriate Energy Retailer</a:t>
            </a:r>
          </a:p>
        </p:txBody>
      </p:sp>
      <p:sp>
        <p:nvSpPr>
          <p:cNvPr id="80" name="TextBox 16">
            <a:extLst>
              <a:ext uri="{FF2B5EF4-FFF2-40B4-BE49-F238E27FC236}">
                <a16:creationId xmlns:a16="http://schemas.microsoft.com/office/drawing/2014/main" id="{08A316E5-56FE-EFCD-ACB6-386FD9DAE18A}"/>
              </a:ext>
            </a:extLst>
          </p:cNvPr>
          <p:cNvSpPr txBox="1"/>
          <p:nvPr/>
        </p:nvSpPr>
        <p:spPr>
          <a:xfrm>
            <a:off x="123825" y="6558580"/>
            <a:ext cx="2719014" cy="338554"/>
          </a:xfrm>
          <a:prstGeom prst="rect">
            <a:avLst/>
          </a:prstGeom>
          <a:noFill/>
        </p:spPr>
        <p:txBody>
          <a:bodyPr wrap="none" rtlCol="0">
            <a:spAutoFit/>
          </a:bodyPr>
          <a:lstStyle/>
          <a:p>
            <a:r>
              <a:rPr lang="ja-JP" altLang="en-US" sz="800" dirty="0">
                <a:hlinkClick r:id="rId2"/>
              </a:rPr>
              <a:t>一般財団法人 新エネルギー財団 電力市場の概要</a:t>
            </a:r>
            <a:r>
              <a:rPr lang="en-US" altLang="ja-JP" sz="800" dirty="0">
                <a:hlinkClick r:id="rId2"/>
              </a:rPr>
              <a:t>(</a:t>
            </a:r>
            <a:r>
              <a:rPr lang="ja-JP" altLang="en-US" sz="800" dirty="0">
                <a:hlinkClick r:id="rId2"/>
              </a:rPr>
              <a:t>その</a:t>
            </a:r>
            <a:r>
              <a:rPr lang="en-US" altLang="ja-JP" sz="800" dirty="0">
                <a:hlinkClick r:id="rId2"/>
              </a:rPr>
              <a:t>1)</a:t>
            </a:r>
            <a:endParaRPr lang="en-US" sz="800" dirty="0"/>
          </a:p>
          <a:p>
            <a:endParaRPr lang="en-US" sz="800" dirty="0"/>
          </a:p>
        </p:txBody>
      </p:sp>
    </p:spTree>
    <p:extLst>
      <p:ext uri="{BB962C8B-B14F-4D97-AF65-F5344CB8AC3E}">
        <p14:creationId xmlns:p14="http://schemas.microsoft.com/office/powerpoint/2010/main" val="1305603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FE6268AB-47CD-7B46-2E65-B96DEF547A8D}"/>
              </a:ext>
            </a:extLst>
          </p:cNvPr>
          <p:cNvSpPr>
            <a:spLocks noGrp="1"/>
          </p:cNvSpPr>
          <p:nvPr>
            <p:ph sz="quarter" idx="16"/>
          </p:nvPr>
        </p:nvSpPr>
        <p:spPr/>
        <p:txBody>
          <a:bodyPr/>
          <a:lstStyle/>
          <a:p>
            <a:r>
              <a:rPr lang="en-US" altLang="ja-JP" dirty="0"/>
              <a:t>1. Introduction and background</a:t>
            </a:r>
          </a:p>
        </p:txBody>
      </p:sp>
      <p:sp>
        <p:nvSpPr>
          <p:cNvPr id="4" name="正方形/長方形 19">
            <a:extLst>
              <a:ext uri="{FF2B5EF4-FFF2-40B4-BE49-F238E27FC236}">
                <a16:creationId xmlns:a16="http://schemas.microsoft.com/office/drawing/2014/main" id="{BDD8722F-8082-748C-56F7-B157749239C8}"/>
              </a:ext>
            </a:extLst>
          </p:cNvPr>
          <p:cNvSpPr/>
          <p:nvPr/>
        </p:nvSpPr>
        <p:spPr>
          <a:xfrm>
            <a:off x="5011155" y="2027319"/>
            <a:ext cx="537412" cy="217169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矢印: 下 13">
            <a:extLst>
              <a:ext uri="{FF2B5EF4-FFF2-40B4-BE49-F238E27FC236}">
                <a16:creationId xmlns:a16="http://schemas.microsoft.com/office/drawing/2014/main" id="{C94EFCBD-0B5E-96AC-A061-303DDED74BA9}"/>
              </a:ext>
            </a:extLst>
          </p:cNvPr>
          <p:cNvSpPr/>
          <p:nvPr/>
        </p:nvSpPr>
        <p:spPr>
          <a:xfrm>
            <a:off x="1227225" y="1999572"/>
            <a:ext cx="1016666" cy="3456747"/>
          </a:xfrm>
          <a:prstGeom prst="downArrow">
            <a:avLst>
              <a:gd name="adj1" fmla="val 50000"/>
              <a:gd name="adj2" fmla="val 39941"/>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直線コネクタ 4">
            <a:extLst>
              <a:ext uri="{FF2B5EF4-FFF2-40B4-BE49-F238E27FC236}">
                <a16:creationId xmlns:a16="http://schemas.microsoft.com/office/drawing/2014/main" id="{F99C6207-090C-06C2-7D69-A4A461113417}"/>
              </a:ext>
            </a:extLst>
          </p:cNvPr>
          <p:cNvCxnSpPr>
            <a:cxnSpLocks/>
          </p:cNvCxnSpPr>
          <p:nvPr/>
        </p:nvCxnSpPr>
        <p:spPr>
          <a:xfrm flipV="1">
            <a:off x="3080086" y="824161"/>
            <a:ext cx="0" cy="5245768"/>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テキスト ボックス 10">
            <a:extLst>
              <a:ext uri="{FF2B5EF4-FFF2-40B4-BE49-F238E27FC236}">
                <a16:creationId xmlns:a16="http://schemas.microsoft.com/office/drawing/2014/main" id="{AF043FFC-7CD0-4EC2-924E-BDD6BC74C22A}"/>
              </a:ext>
            </a:extLst>
          </p:cNvPr>
          <p:cNvSpPr txBox="1"/>
          <p:nvPr/>
        </p:nvSpPr>
        <p:spPr>
          <a:xfrm>
            <a:off x="716689" y="819180"/>
            <a:ext cx="2037737" cy="307777"/>
          </a:xfrm>
          <a:prstGeom prst="rect">
            <a:avLst/>
          </a:prstGeom>
          <a:noFill/>
        </p:spPr>
        <p:txBody>
          <a:bodyPr wrap="none" rtlCol="0">
            <a:spAutoFit/>
          </a:bodyPr>
          <a:lstStyle/>
          <a:p>
            <a:r>
              <a:rPr lang="en-US" sz="1400" b="1" dirty="0"/>
              <a:t>Conventional</a:t>
            </a:r>
            <a:r>
              <a:rPr lang="ja-JP" altLang="en-US" sz="1400" b="1" dirty="0"/>
              <a:t> </a:t>
            </a:r>
            <a:r>
              <a:rPr lang="en-US" altLang="ja-JP" sz="1400" b="1" dirty="0"/>
              <a:t>structure</a:t>
            </a:r>
            <a:endParaRPr lang="en-US" sz="1400" b="1" dirty="0"/>
          </a:p>
        </p:txBody>
      </p:sp>
      <p:sp>
        <p:nvSpPr>
          <p:cNvPr id="8" name="テキスト ボックス 11">
            <a:extLst>
              <a:ext uri="{FF2B5EF4-FFF2-40B4-BE49-F238E27FC236}">
                <a16:creationId xmlns:a16="http://schemas.microsoft.com/office/drawing/2014/main" id="{D787FE96-5EC8-E025-F7AD-D495A70F1FB6}"/>
              </a:ext>
            </a:extLst>
          </p:cNvPr>
          <p:cNvSpPr txBox="1"/>
          <p:nvPr/>
        </p:nvSpPr>
        <p:spPr>
          <a:xfrm>
            <a:off x="552381" y="1486992"/>
            <a:ext cx="2438488" cy="276999"/>
          </a:xfrm>
          <a:prstGeom prst="rect">
            <a:avLst/>
          </a:prstGeom>
          <a:noFill/>
        </p:spPr>
        <p:txBody>
          <a:bodyPr wrap="none" rtlCol="0">
            <a:spAutoFit/>
          </a:bodyPr>
          <a:lstStyle/>
          <a:p>
            <a:r>
              <a:rPr lang="en-US" altLang="ja-JP" sz="1200" dirty="0"/>
              <a:t>Electric companies in each region</a:t>
            </a:r>
            <a:endParaRPr lang="en-US" sz="1200" dirty="0"/>
          </a:p>
        </p:txBody>
      </p:sp>
      <p:sp>
        <p:nvSpPr>
          <p:cNvPr id="9" name="テキスト ボックス 12">
            <a:extLst>
              <a:ext uri="{FF2B5EF4-FFF2-40B4-BE49-F238E27FC236}">
                <a16:creationId xmlns:a16="http://schemas.microsoft.com/office/drawing/2014/main" id="{8D506B38-B182-99E5-D72C-44A86A82B3A5}"/>
              </a:ext>
            </a:extLst>
          </p:cNvPr>
          <p:cNvSpPr txBox="1"/>
          <p:nvPr/>
        </p:nvSpPr>
        <p:spPr>
          <a:xfrm>
            <a:off x="1123301" y="1793314"/>
            <a:ext cx="1239252" cy="2800767"/>
          </a:xfrm>
          <a:prstGeom prst="rect">
            <a:avLst/>
          </a:prstGeom>
          <a:noFill/>
          <a:ln w="28575">
            <a:solidFill>
              <a:schemeClr val="accent1"/>
            </a:solidFill>
          </a:ln>
        </p:spPr>
        <p:txBody>
          <a:bodyPr wrap="square" rtlCol="0">
            <a:spAutoFit/>
          </a:bodyPr>
          <a:lstStyle/>
          <a:p>
            <a:pPr algn="ctr"/>
            <a:endParaRPr lang="en-US" altLang="ja-JP" dirty="0"/>
          </a:p>
          <a:p>
            <a:pPr algn="ctr"/>
            <a:r>
              <a:rPr lang="en-US" altLang="ja-JP" sz="1400" dirty="0"/>
              <a:t>Generation</a:t>
            </a:r>
          </a:p>
          <a:p>
            <a:pPr algn="ctr"/>
            <a:endParaRPr lang="en-US" sz="1400" dirty="0"/>
          </a:p>
          <a:p>
            <a:pPr algn="ctr"/>
            <a:endParaRPr lang="en-US" sz="1400" dirty="0"/>
          </a:p>
          <a:p>
            <a:pPr algn="ctr"/>
            <a:r>
              <a:rPr lang="en-US" altLang="ja-JP" sz="1400" dirty="0"/>
              <a:t>Transmission</a:t>
            </a:r>
          </a:p>
          <a:p>
            <a:pPr algn="ctr"/>
            <a:endParaRPr lang="en-US" sz="1400" dirty="0"/>
          </a:p>
          <a:p>
            <a:pPr algn="ctr"/>
            <a:endParaRPr lang="en-US" sz="1400" dirty="0"/>
          </a:p>
          <a:p>
            <a:pPr algn="ctr"/>
            <a:r>
              <a:rPr lang="en-US" altLang="ja-JP" sz="1400" dirty="0"/>
              <a:t>Distribution</a:t>
            </a:r>
          </a:p>
          <a:p>
            <a:pPr algn="ctr"/>
            <a:endParaRPr lang="en-US" sz="1400" dirty="0"/>
          </a:p>
          <a:p>
            <a:pPr algn="ctr"/>
            <a:endParaRPr lang="en-US" sz="1400" dirty="0"/>
          </a:p>
          <a:p>
            <a:pPr algn="ctr"/>
            <a:r>
              <a:rPr lang="en-US" altLang="ja-JP" sz="1400" dirty="0"/>
              <a:t>Retail</a:t>
            </a:r>
          </a:p>
          <a:p>
            <a:pPr algn="ctr"/>
            <a:endParaRPr lang="en-US" dirty="0"/>
          </a:p>
        </p:txBody>
      </p:sp>
      <p:sp>
        <p:nvSpPr>
          <p:cNvPr id="10" name="テキスト ボックス 14">
            <a:extLst>
              <a:ext uri="{FF2B5EF4-FFF2-40B4-BE49-F238E27FC236}">
                <a16:creationId xmlns:a16="http://schemas.microsoft.com/office/drawing/2014/main" id="{2530AD59-ADEF-DCCC-A29A-6A465351E5A1}"/>
              </a:ext>
            </a:extLst>
          </p:cNvPr>
          <p:cNvSpPr txBox="1"/>
          <p:nvPr/>
        </p:nvSpPr>
        <p:spPr>
          <a:xfrm>
            <a:off x="1123301" y="5553617"/>
            <a:ext cx="1239250" cy="433553"/>
          </a:xfrm>
          <a:prstGeom prst="rect">
            <a:avLst/>
          </a:prstGeom>
          <a:noFill/>
          <a:ln w="28575">
            <a:solidFill>
              <a:schemeClr val="tx1"/>
            </a:solidFill>
          </a:ln>
        </p:spPr>
        <p:txBody>
          <a:bodyPr wrap="square" tIns="108000" bIns="108000" rtlCol="0">
            <a:spAutoFit/>
          </a:bodyPr>
          <a:lstStyle/>
          <a:p>
            <a:pPr algn="ctr"/>
            <a:r>
              <a:rPr lang="en-US" sz="1400" dirty="0"/>
              <a:t>Consumers</a:t>
            </a:r>
          </a:p>
        </p:txBody>
      </p:sp>
      <p:sp>
        <p:nvSpPr>
          <p:cNvPr id="11" name="テキスト ボックス 15">
            <a:extLst>
              <a:ext uri="{FF2B5EF4-FFF2-40B4-BE49-F238E27FC236}">
                <a16:creationId xmlns:a16="http://schemas.microsoft.com/office/drawing/2014/main" id="{D8D2F725-E6E8-F137-22E6-F86F735BA25B}"/>
              </a:ext>
            </a:extLst>
          </p:cNvPr>
          <p:cNvSpPr txBox="1"/>
          <p:nvPr/>
        </p:nvSpPr>
        <p:spPr>
          <a:xfrm>
            <a:off x="279447" y="4588948"/>
            <a:ext cx="2908168" cy="646331"/>
          </a:xfrm>
          <a:prstGeom prst="rect">
            <a:avLst/>
          </a:prstGeom>
          <a:noFill/>
        </p:spPr>
        <p:txBody>
          <a:bodyPr wrap="none" rtlCol="0">
            <a:spAutoFit/>
          </a:bodyPr>
          <a:lstStyle/>
          <a:p>
            <a:pPr algn="ctr"/>
            <a:r>
              <a:rPr lang="en-US" sz="1200" dirty="0"/>
              <a:t>Supply obligations, regional monopolies</a:t>
            </a:r>
            <a:br>
              <a:rPr lang="en-US" sz="1200" dirty="0"/>
            </a:br>
            <a:r>
              <a:rPr lang="en-US" sz="1200" dirty="0"/>
              <a:t>Price regulation based on </a:t>
            </a:r>
            <a:br>
              <a:rPr lang="en-US" sz="1200" dirty="0"/>
            </a:br>
            <a:r>
              <a:rPr lang="en-US" sz="1200" dirty="0"/>
              <a:t>the full-cost method</a:t>
            </a:r>
          </a:p>
        </p:txBody>
      </p:sp>
      <p:sp>
        <p:nvSpPr>
          <p:cNvPr id="12" name="テキスト ボックス 16">
            <a:extLst>
              <a:ext uri="{FF2B5EF4-FFF2-40B4-BE49-F238E27FC236}">
                <a16:creationId xmlns:a16="http://schemas.microsoft.com/office/drawing/2014/main" id="{2F2E4D56-4CD6-4054-9295-7ABDAE8E6E26}"/>
              </a:ext>
            </a:extLst>
          </p:cNvPr>
          <p:cNvSpPr txBox="1"/>
          <p:nvPr/>
        </p:nvSpPr>
        <p:spPr>
          <a:xfrm>
            <a:off x="5599440" y="809923"/>
            <a:ext cx="2252540" cy="307777"/>
          </a:xfrm>
          <a:prstGeom prst="rect">
            <a:avLst/>
          </a:prstGeom>
          <a:noFill/>
        </p:spPr>
        <p:txBody>
          <a:bodyPr wrap="none" rtlCol="0">
            <a:spAutoFit/>
          </a:bodyPr>
          <a:lstStyle/>
          <a:p>
            <a:r>
              <a:rPr lang="en-US" altLang="ja-JP" sz="1400" b="1" dirty="0"/>
              <a:t>Future structure (20XX</a:t>
            </a:r>
            <a:r>
              <a:rPr lang="ja-JP" altLang="en-US" sz="1400" b="1" dirty="0"/>
              <a:t>～</a:t>
            </a:r>
            <a:r>
              <a:rPr lang="en-US" altLang="ja-JP" sz="1400" b="1" dirty="0"/>
              <a:t>)</a:t>
            </a:r>
            <a:endParaRPr lang="en-US" sz="1400" b="1" dirty="0"/>
          </a:p>
        </p:txBody>
      </p:sp>
      <p:sp>
        <p:nvSpPr>
          <p:cNvPr id="13" name="テキスト ボックス 17">
            <a:extLst>
              <a:ext uri="{FF2B5EF4-FFF2-40B4-BE49-F238E27FC236}">
                <a16:creationId xmlns:a16="http://schemas.microsoft.com/office/drawing/2014/main" id="{521FD049-D40A-1887-C0F5-F92A6394B7C4}"/>
              </a:ext>
            </a:extLst>
          </p:cNvPr>
          <p:cNvSpPr txBox="1"/>
          <p:nvPr/>
        </p:nvSpPr>
        <p:spPr>
          <a:xfrm>
            <a:off x="3588795" y="1793314"/>
            <a:ext cx="2262157" cy="2585323"/>
          </a:xfrm>
          <a:prstGeom prst="rect">
            <a:avLst/>
          </a:prstGeom>
          <a:noFill/>
          <a:ln w="28575">
            <a:solidFill>
              <a:schemeClr val="accent1"/>
            </a:solidFill>
          </a:ln>
        </p:spPr>
        <p:txBody>
          <a:bodyPr wrap="square" rtlCol="0">
            <a:spAutoFit/>
          </a:bodyPr>
          <a:lstStyle/>
          <a:p>
            <a:endParaRPr lang="en-US" altLang="ja-JP" dirty="0"/>
          </a:p>
          <a:p>
            <a:r>
              <a:rPr lang="ja-JP" altLang="en-US" dirty="0"/>
              <a:t>　　　　　　</a:t>
            </a:r>
            <a:endParaRPr lang="en-US" altLang="ja-JP" dirty="0"/>
          </a:p>
          <a:p>
            <a:endParaRPr lang="en-US" dirty="0"/>
          </a:p>
          <a:p>
            <a:r>
              <a:rPr lang="ja-JP" altLang="en-US" dirty="0"/>
              <a:t>　 </a:t>
            </a:r>
            <a:r>
              <a:rPr lang="en-US" altLang="ja-JP" dirty="0"/>
              <a:t>TSO</a:t>
            </a:r>
          </a:p>
          <a:p>
            <a:r>
              <a:rPr lang="ja-JP" altLang="en-US" dirty="0"/>
              <a:t>　 </a:t>
            </a:r>
            <a:r>
              <a:rPr lang="en-US" altLang="ja-JP" dirty="0"/>
              <a:t>DSO</a:t>
            </a:r>
          </a:p>
          <a:p>
            <a:endParaRPr lang="en-US" dirty="0"/>
          </a:p>
          <a:p>
            <a:endParaRPr lang="en-US" dirty="0"/>
          </a:p>
          <a:p>
            <a:r>
              <a:rPr lang="ja-JP" altLang="en-US" dirty="0"/>
              <a:t>　　　　　　</a:t>
            </a:r>
            <a:endParaRPr lang="en-US" altLang="ja-JP" dirty="0"/>
          </a:p>
          <a:p>
            <a:endParaRPr lang="en-US" dirty="0"/>
          </a:p>
        </p:txBody>
      </p:sp>
      <p:sp>
        <p:nvSpPr>
          <p:cNvPr id="14" name="正方形/長方形 18">
            <a:extLst>
              <a:ext uri="{FF2B5EF4-FFF2-40B4-BE49-F238E27FC236}">
                <a16:creationId xmlns:a16="http://schemas.microsoft.com/office/drawing/2014/main" id="{5D02BDF8-953C-5BAF-E88D-8F677959B388}"/>
              </a:ext>
            </a:extLst>
          </p:cNvPr>
          <p:cNvSpPr/>
          <p:nvPr/>
        </p:nvSpPr>
        <p:spPr>
          <a:xfrm>
            <a:off x="3717760" y="2436393"/>
            <a:ext cx="1028700" cy="10226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テキスト ボックス 20">
            <a:extLst>
              <a:ext uri="{FF2B5EF4-FFF2-40B4-BE49-F238E27FC236}">
                <a16:creationId xmlns:a16="http://schemas.microsoft.com/office/drawing/2014/main" id="{AC15B645-4841-4E78-F1AE-9FCCC9C93F36}"/>
              </a:ext>
            </a:extLst>
          </p:cNvPr>
          <p:cNvSpPr txBox="1"/>
          <p:nvPr/>
        </p:nvSpPr>
        <p:spPr>
          <a:xfrm>
            <a:off x="4678690" y="2382249"/>
            <a:ext cx="711086" cy="707886"/>
          </a:xfrm>
          <a:prstGeom prst="rect">
            <a:avLst/>
          </a:prstGeom>
          <a:noFill/>
        </p:spPr>
        <p:txBody>
          <a:bodyPr wrap="square" rtlCol="0">
            <a:spAutoFit/>
          </a:bodyPr>
          <a:lstStyle/>
          <a:p>
            <a:r>
              <a:rPr lang="en-US" altLang="ja-JP" sz="800" dirty="0"/>
              <a:t>Legal</a:t>
            </a:r>
            <a:br>
              <a:rPr lang="en-US" altLang="ja-JP" sz="800" dirty="0"/>
            </a:br>
            <a:r>
              <a:rPr lang="en-US" altLang="ja-JP" sz="800" dirty="0"/>
              <a:t>Separation</a:t>
            </a:r>
          </a:p>
          <a:p>
            <a:r>
              <a:rPr lang="ja-JP" altLang="en-US" sz="2400" dirty="0">
                <a:solidFill>
                  <a:schemeClr val="accent2"/>
                </a:solidFill>
              </a:rPr>
              <a:t>←</a:t>
            </a:r>
            <a:endParaRPr lang="en-US" sz="1000" dirty="0">
              <a:solidFill>
                <a:schemeClr val="accent2"/>
              </a:solidFill>
            </a:endParaRPr>
          </a:p>
        </p:txBody>
      </p:sp>
      <p:sp>
        <p:nvSpPr>
          <p:cNvPr id="16" name="テキスト ボックス 21">
            <a:extLst>
              <a:ext uri="{FF2B5EF4-FFF2-40B4-BE49-F238E27FC236}">
                <a16:creationId xmlns:a16="http://schemas.microsoft.com/office/drawing/2014/main" id="{E52C4B86-49CD-60B1-91ED-F5123001ACA0}"/>
              </a:ext>
            </a:extLst>
          </p:cNvPr>
          <p:cNvSpPr txBox="1"/>
          <p:nvPr/>
        </p:nvSpPr>
        <p:spPr>
          <a:xfrm>
            <a:off x="3937141" y="1486992"/>
            <a:ext cx="1483098" cy="276999"/>
          </a:xfrm>
          <a:prstGeom prst="rect">
            <a:avLst/>
          </a:prstGeom>
          <a:noFill/>
        </p:spPr>
        <p:txBody>
          <a:bodyPr wrap="none" rtlCol="0">
            <a:spAutoFit/>
          </a:bodyPr>
          <a:lstStyle/>
          <a:p>
            <a:r>
              <a:rPr lang="en-US" altLang="ja-JP" sz="1200" dirty="0"/>
              <a:t>Electric</a:t>
            </a:r>
            <a:r>
              <a:rPr lang="ja-JP" altLang="en-US" sz="1200" dirty="0"/>
              <a:t> </a:t>
            </a:r>
            <a:r>
              <a:rPr lang="en-US" altLang="ja-JP" sz="1200" dirty="0"/>
              <a:t>companies</a:t>
            </a:r>
            <a:endParaRPr lang="en-US" sz="1200" dirty="0"/>
          </a:p>
        </p:txBody>
      </p:sp>
      <p:sp>
        <p:nvSpPr>
          <p:cNvPr id="17" name="テキスト ボックス 22">
            <a:extLst>
              <a:ext uri="{FF2B5EF4-FFF2-40B4-BE49-F238E27FC236}">
                <a16:creationId xmlns:a16="http://schemas.microsoft.com/office/drawing/2014/main" id="{44A871DD-44E4-DC39-4A5E-A5A25CDBE244}"/>
              </a:ext>
            </a:extLst>
          </p:cNvPr>
          <p:cNvSpPr txBox="1"/>
          <p:nvPr/>
        </p:nvSpPr>
        <p:spPr>
          <a:xfrm>
            <a:off x="6365550" y="1794829"/>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8" name="テキスト ボックス 23">
            <a:extLst>
              <a:ext uri="{FF2B5EF4-FFF2-40B4-BE49-F238E27FC236}">
                <a16:creationId xmlns:a16="http://schemas.microsoft.com/office/drawing/2014/main" id="{DA959842-FBB3-0A51-D2EF-CF8B3E83D7DF}"/>
              </a:ext>
            </a:extLst>
          </p:cNvPr>
          <p:cNvSpPr txBox="1"/>
          <p:nvPr/>
        </p:nvSpPr>
        <p:spPr>
          <a:xfrm>
            <a:off x="7343290"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19" name="テキスト ボックス 24">
            <a:extLst>
              <a:ext uri="{FF2B5EF4-FFF2-40B4-BE49-F238E27FC236}">
                <a16:creationId xmlns:a16="http://schemas.microsoft.com/office/drawing/2014/main" id="{058C1461-BBF8-D112-D7D3-EFEB66121B78}"/>
              </a:ext>
            </a:extLst>
          </p:cNvPr>
          <p:cNvSpPr txBox="1"/>
          <p:nvPr/>
        </p:nvSpPr>
        <p:spPr>
          <a:xfrm>
            <a:off x="8319284" y="1790062"/>
            <a:ext cx="934871" cy="276999"/>
          </a:xfrm>
          <a:prstGeom prst="rect">
            <a:avLst/>
          </a:prstGeom>
          <a:noFill/>
          <a:ln w="28575">
            <a:solidFill>
              <a:schemeClr val="accent1"/>
            </a:solidFill>
          </a:ln>
        </p:spPr>
        <p:txBody>
          <a:bodyPr wrap="none" rtlCol="0">
            <a:spAutoFit/>
          </a:bodyPr>
          <a:lstStyle/>
          <a:p>
            <a:pPr algn="ctr"/>
            <a:r>
              <a:rPr lang="en-US" altLang="ja-JP" sz="1200" dirty="0"/>
              <a:t>Generation</a:t>
            </a:r>
            <a:endParaRPr lang="en-US" sz="1200" dirty="0"/>
          </a:p>
        </p:txBody>
      </p:sp>
      <p:sp>
        <p:nvSpPr>
          <p:cNvPr id="20" name="テキスト ボックス 25">
            <a:extLst>
              <a:ext uri="{FF2B5EF4-FFF2-40B4-BE49-F238E27FC236}">
                <a16:creationId xmlns:a16="http://schemas.microsoft.com/office/drawing/2014/main" id="{41D41CF5-0D73-9DB0-2FFF-84E30E113AD7}"/>
              </a:ext>
            </a:extLst>
          </p:cNvPr>
          <p:cNvSpPr txBox="1"/>
          <p:nvPr/>
        </p:nvSpPr>
        <p:spPr>
          <a:xfrm>
            <a:off x="6396149" y="2829262"/>
            <a:ext cx="2829151" cy="567811"/>
          </a:xfrm>
          <a:prstGeom prst="rect">
            <a:avLst/>
          </a:prstGeom>
          <a:noFill/>
          <a:ln w="28575">
            <a:solidFill>
              <a:schemeClr val="accent2"/>
            </a:solidFill>
          </a:ln>
        </p:spPr>
        <p:txBody>
          <a:bodyPr wrap="square" tIns="144000" bIns="144000" rtlCol="0" anchor="ctr" anchorCtr="1">
            <a:spAutoFit/>
          </a:bodyPr>
          <a:lstStyle/>
          <a:p>
            <a:pPr algn="ctr"/>
            <a:r>
              <a:rPr lang="en-US" altLang="ja-JP" dirty="0"/>
              <a:t>Wholesale Market</a:t>
            </a:r>
          </a:p>
        </p:txBody>
      </p:sp>
      <p:sp>
        <p:nvSpPr>
          <p:cNvPr id="25" name="テキスト ボックス 30">
            <a:extLst>
              <a:ext uri="{FF2B5EF4-FFF2-40B4-BE49-F238E27FC236}">
                <a16:creationId xmlns:a16="http://schemas.microsoft.com/office/drawing/2014/main" id="{759007AC-357A-2005-EFD2-0C0DDFB01852}"/>
              </a:ext>
            </a:extLst>
          </p:cNvPr>
          <p:cNvSpPr txBox="1"/>
          <p:nvPr/>
        </p:nvSpPr>
        <p:spPr>
          <a:xfrm>
            <a:off x="6208633" y="4759680"/>
            <a:ext cx="751657" cy="330072"/>
          </a:xfrm>
          <a:prstGeom prst="rect">
            <a:avLst/>
          </a:prstGeom>
          <a:noFill/>
          <a:ln w="28575">
            <a:solidFill>
              <a:schemeClr val="tx1"/>
            </a:solidFill>
          </a:ln>
        </p:spPr>
        <p:txBody>
          <a:bodyPr wrap="square" lIns="36000" tIns="72000" rIns="36000" bIns="72000" rtlCol="0">
            <a:spAutoFit/>
          </a:bodyPr>
          <a:lstStyle/>
          <a:p>
            <a:pPr algn="ctr"/>
            <a:r>
              <a:rPr lang="en-US" sz="1200" dirty="0"/>
              <a:t>Prosumer</a:t>
            </a:r>
          </a:p>
        </p:txBody>
      </p:sp>
      <p:cxnSp>
        <p:nvCxnSpPr>
          <p:cNvPr id="27" name="直線矢印コネクタ 38">
            <a:extLst>
              <a:ext uri="{FF2B5EF4-FFF2-40B4-BE49-F238E27FC236}">
                <a16:creationId xmlns:a16="http://schemas.microsoft.com/office/drawing/2014/main" id="{AFC9443D-F739-3591-7C9E-8795F25915E5}"/>
              </a:ext>
            </a:extLst>
          </p:cNvPr>
          <p:cNvCxnSpPr>
            <a:cxnSpLocks/>
          </p:cNvCxnSpPr>
          <p:nvPr/>
        </p:nvCxnSpPr>
        <p:spPr>
          <a:xfrm>
            <a:off x="5590762" y="2337201"/>
            <a:ext cx="870198" cy="51141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46">
            <a:extLst>
              <a:ext uri="{FF2B5EF4-FFF2-40B4-BE49-F238E27FC236}">
                <a16:creationId xmlns:a16="http://schemas.microsoft.com/office/drawing/2014/main" id="{F26AC27C-2123-7977-2644-0543F584D9A6}"/>
              </a:ext>
            </a:extLst>
          </p:cNvPr>
          <p:cNvCxnSpPr>
            <a:cxnSpLocks/>
            <a:stCxn id="18" idx="2"/>
          </p:cNvCxnSpPr>
          <p:nvPr/>
        </p:nvCxnSpPr>
        <p:spPr>
          <a:xfrm flipH="1">
            <a:off x="7810724" y="2067061"/>
            <a:ext cx="2" cy="76220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47">
            <a:extLst>
              <a:ext uri="{FF2B5EF4-FFF2-40B4-BE49-F238E27FC236}">
                <a16:creationId xmlns:a16="http://schemas.microsoft.com/office/drawing/2014/main" id="{334130E8-6ACF-FE5D-290C-66B439D4310B}"/>
              </a:ext>
            </a:extLst>
          </p:cNvPr>
          <p:cNvCxnSpPr>
            <a:cxnSpLocks/>
            <a:stCxn id="19" idx="2"/>
          </p:cNvCxnSpPr>
          <p:nvPr/>
        </p:nvCxnSpPr>
        <p:spPr>
          <a:xfrm flipH="1">
            <a:off x="8626699" y="2067061"/>
            <a:ext cx="160021" cy="7924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7" name="テキスト ボックス 51">
            <a:extLst>
              <a:ext uri="{FF2B5EF4-FFF2-40B4-BE49-F238E27FC236}">
                <a16:creationId xmlns:a16="http://schemas.microsoft.com/office/drawing/2014/main" id="{C81DE99E-D8E4-45DC-70F7-095CDFE8FAE2}"/>
              </a:ext>
            </a:extLst>
          </p:cNvPr>
          <p:cNvSpPr txBox="1"/>
          <p:nvPr/>
        </p:nvSpPr>
        <p:spPr>
          <a:xfrm>
            <a:off x="7023323" y="4764722"/>
            <a:ext cx="791113" cy="330072"/>
          </a:xfrm>
          <a:prstGeom prst="rect">
            <a:avLst/>
          </a:prstGeom>
          <a:noFill/>
          <a:ln w="28575">
            <a:solidFill>
              <a:schemeClr val="tx1"/>
            </a:solidFill>
          </a:ln>
        </p:spPr>
        <p:txBody>
          <a:bodyPr wrap="square" lIns="36000" tIns="72000" rIns="36000" bIns="72000" rtlCol="0">
            <a:spAutoFit/>
          </a:bodyPr>
          <a:lstStyle/>
          <a:p>
            <a:pPr algn="ctr"/>
            <a:r>
              <a:rPr lang="en-US" sz="1200" dirty="0"/>
              <a:t>Prosumer</a:t>
            </a:r>
          </a:p>
        </p:txBody>
      </p:sp>
      <p:sp>
        <p:nvSpPr>
          <p:cNvPr id="48" name="テキスト ボックス 52">
            <a:extLst>
              <a:ext uri="{FF2B5EF4-FFF2-40B4-BE49-F238E27FC236}">
                <a16:creationId xmlns:a16="http://schemas.microsoft.com/office/drawing/2014/main" id="{4370FD7A-DBAC-FE87-5219-EBB00CB4ACEF}"/>
              </a:ext>
            </a:extLst>
          </p:cNvPr>
          <p:cNvSpPr txBox="1"/>
          <p:nvPr/>
        </p:nvSpPr>
        <p:spPr>
          <a:xfrm>
            <a:off x="7877469" y="4764722"/>
            <a:ext cx="789061"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Prosumer</a:t>
            </a:r>
            <a:endParaRPr lang="en-US" sz="1200" dirty="0"/>
          </a:p>
        </p:txBody>
      </p:sp>
      <p:cxnSp>
        <p:nvCxnSpPr>
          <p:cNvPr id="55" name="直線矢印コネクタ 66">
            <a:extLst>
              <a:ext uri="{FF2B5EF4-FFF2-40B4-BE49-F238E27FC236}">
                <a16:creationId xmlns:a16="http://schemas.microsoft.com/office/drawing/2014/main" id="{EFAD3B79-283C-AE5A-305D-31B30E12ABB5}"/>
              </a:ext>
            </a:extLst>
          </p:cNvPr>
          <p:cNvCxnSpPr>
            <a:cxnSpLocks/>
            <a:stCxn id="17" idx="2"/>
          </p:cNvCxnSpPr>
          <p:nvPr/>
        </p:nvCxnSpPr>
        <p:spPr>
          <a:xfrm>
            <a:off x="6832986" y="2071828"/>
            <a:ext cx="161819" cy="718248"/>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27B3D961-6B31-5D59-A36D-61EC20106635}"/>
              </a:ext>
            </a:extLst>
          </p:cNvPr>
          <p:cNvSpPr txBox="1"/>
          <p:nvPr/>
        </p:nvSpPr>
        <p:spPr>
          <a:xfrm>
            <a:off x="4746460" y="2069489"/>
            <a:ext cx="1063112" cy="307777"/>
          </a:xfrm>
          <a:prstGeom prst="rect">
            <a:avLst/>
          </a:prstGeom>
          <a:noFill/>
        </p:spPr>
        <p:txBody>
          <a:bodyPr wrap="none" rtlCol="0">
            <a:spAutoFit/>
          </a:bodyPr>
          <a:lstStyle/>
          <a:p>
            <a:r>
              <a:rPr kumimoji="1" lang="en-US" altLang="ja-JP" sz="1400" dirty="0"/>
              <a:t>Generation</a:t>
            </a:r>
            <a:endParaRPr kumimoji="1" lang="ja-JP" altLang="en-US" sz="1400" dirty="0"/>
          </a:p>
        </p:txBody>
      </p:sp>
      <p:sp>
        <p:nvSpPr>
          <p:cNvPr id="68" name="テキスト ボックス 52">
            <a:extLst>
              <a:ext uri="{FF2B5EF4-FFF2-40B4-BE49-F238E27FC236}">
                <a16:creationId xmlns:a16="http://schemas.microsoft.com/office/drawing/2014/main" id="{9AA1CCA2-6CA2-3491-EBDC-B081E16E0D14}"/>
              </a:ext>
            </a:extLst>
          </p:cNvPr>
          <p:cNvSpPr txBox="1"/>
          <p:nvPr/>
        </p:nvSpPr>
        <p:spPr>
          <a:xfrm>
            <a:off x="8713818" y="4765188"/>
            <a:ext cx="791113" cy="330072"/>
          </a:xfrm>
          <a:prstGeom prst="rect">
            <a:avLst/>
          </a:prstGeom>
          <a:noFill/>
          <a:ln w="28575">
            <a:solidFill>
              <a:schemeClr val="tx1"/>
            </a:solidFill>
          </a:ln>
        </p:spPr>
        <p:txBody>
          <a:bodyPr wrap="square" lIns="36000" tIns="72000" rIns="36000" bIns="72000" rtlCol="0">
            <a:spAutoFit/>
          </a:bodyPr>
          <a:lstStyle/>
          <a:p>
            <a:pPr algn="ctr"/>
            <a:r>
              <a:rPr lang="en-US" altLang="ja-JP" sz="1200" dirty="0"/>
              <a:t>Prosumer</a:t>
            </a:r>
            <a:endParaRPr lang="en-US" sz="1200" dirty="0"/>
          </a:p>
        </p:txBody>
      </p:sp>
      <p:sp>
        <p:nvSpPr>
          <p:cNvPr id="2" name="TextBox 16">
            <a:extLst>
              <a:ext uri="{FF2B5EF4-FFF2-40B4-BE49-F238E27FC236}">
                <a16:creationId xmlns:a16="http://schemas.microsoft.com/office/drawing/2014/main" id="{7E48225E-58A6-66E6-10C3-6841090CE4C2}"/>
              </a:ext>
            </a:extLst>
          </p:cNvPr>
          <p:cNvSpPr txBox="1"/>
          <p:nvPr/>
        </p:nvSpPr>
        <p:spPr>
          <a:xfrm>
            <a:off x="123825" y="6558580"/>
            <a:ext cx="2719014" cy="338554"/>
          </a:xfrm>
          <a:prstGeom prst="rect">
            <a:avLst/>
          </a:prstGeom>
          <a:noFill/>
        </p:spPr>
        <p:txBody>
          <a:bodyPr wrap="none" rtlCol="0">
            <a:spAutoFit/>
          </a:bodyPr>
          <a:lstStyle/>
          <a:p>
            <a:r>
              <a:rPr lang="ja-JP" altLang="en-US" sz="800" dirty="0">
                <a:hlinkClick r:id="rId2"/>
              </a:rPr>
              <a:t>一般財団法人 新エネルギー財団 電力市場の概要</a:t>
            </a:r>
            <a:r>
              <a:rPr lang="en-US" altLang="ja-JP" sz="800" dirty="0">
                <a:hlinkClick r:id="rId2"/>
              </a:rPr>
              <a:t>(</a:t>
            </a:r>
            <a:r>
              <a:rPr lang="ja-JP" altLang="en-US" sz="800" dirty="0">
                <a:hlinkClick r:id="rId2"/>
              </a:rPr>
              <a:t>その</a:t>
            </a:r>
            <a:r>
              <a:rPr lang="en-US" altLang="ja-JP" sz="800" dirty="0">
                <a:hlinkClick r:id="rId2"/>
              </a:rPr>
              <a:t>1)</a:t>
            </a:r>
            <a:endParaRPr lang="en-US" sz="800" dirty="0"/>
          </a:p>
          <a:p>
            <a:endParaRPr lang="en-US" sz="800" dirty="0"/>
          </a:p>
        </p:txBody>
      </p:sp>
      <p:sp>
        <p:nvSpPr>
          <p:cNvPr id="24" name="テキスト ボックス 35">
            <a:extLst>
              <a:ext uri="{FF2B5EF4-FFF2-40B4-BE49-F238E27FC236}">
                <a16:creationId xmlns:a16="http://schemas.microsoft.com/office/drawing/2014/main" id="{C461A824-DD1F-2890-BAF7-895D4D78615D}"/>
              </a:ext>
            </a:extLst>
          </p:cNvPr>
          <p:cNvSpPr txBox="1"/>
          <p:nvPr/>
        </p:nvSpPr>
        <p:spPr>
          <a:xfrm>
            <a:off x="6616277" y="5607285"/>
            <a:ext cx="2428870" cy="307777"/>
          </a:xfrm>
          <a:prstGeom prst="rect">
            <a:avLst/>
          </a:prstGeom>
          <a:noFill/>
        </p:spPr>
        <p:txBody>
          <a:bodyPr wrap="none" rtlCol="0">
            <a:spAutoFit/>
          </a:bodyPr>
          <a:lstStyle/>
          <a:p>
            <a:r>
              <a:rPr lang="en-US" altLang="ja-JP" sz="1400" b="1" dirty="0">
                <a:solidFill>
                  <a:schemeClr val="accent6"/>
                </a:solidFill>
              </a:rPr>
              <a:t>Peer to Peer energy trading</a:t>
            </a:r>
            <a:endParaRPr lang="en-US" sz="1400" b="1" dirty="0">
              <a:solidFill>
                <a:schemeClr val="accent6"/>
              </a:solidFill>
            </a:endParaRPr>
          </a:p>
        </p:txBody>
      </p:sp>
      <p:sp>
        <p:nvSpPr>
          <p:cNvPr id="26" name="正方形/長方形 25">
            <a:extLst>
              <a:ext uri="{FF2B5EF4-FFF2-40B4-BE49-F238E27FC236}">
                <a16:creationId xmlns:a16="http://schemas.microsoft.com/office/drawing/2014/main" id="{CF566D30-1C13-1FA7-BB18-37FB352D123C}"/>
              </a:ext>
            </a:extLst>
          </p:cNvPr>
          <p:cNvSpPr/>
          <p:nvPr/>
        </p:nvSpPr>
        <p:spPr>
          <a:xfrm>
            <a:off x="6077407" y="4472557"/>
            <a:ext cx="3549146" cy="1149911"/>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8" name="直線矢印コネクタ 46">
            <a:extLst>
              <a:ext uri="{FF2B5EF4-FFF2-40B4-BE49-F238E27FC236}">
                <a16:creationId xmlns:a16="http://schemas.microsoft.com/office/drawing/2014/main" id="{993442FF-D8BD-076F-E08A-2139C4C2A260}"/>
              </a:ext>
            </a:extLst>
          </p:cNvPr>
          <p:cNvCxnSpPr>
            <a:cxnSpLocks/>
          </p:cNvCxnSpPr>
          <p:nvPr/>
        </p:nvCxnSpPr>
        <p:spPr>
          <a:xfrm>
            <a:off x="7343290" y="3397073"/>
            <a:ext cx="0" cy="10754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46">
            <a:extLst>
              <a:ext uri="{FF2B5EF4-FFF2-40B4-BE49-F238E27FC236}">
                <a16:creationId xmlns:a16="http://schemas.microsoft.com/office/drawing/2014/main" id="{F5A19C72-DDD2-3899-4121-F5B2DE2D88A9}"/>
              </a:ext>
            </a:extLst>
          </p:cNvPr>
          <p:cNvCxnSpPr>
            <a:cxnSpLocks/>
          </p:cNvCxnSpPr>
          <p:nvPr/>
        </p:nvCxnSpPr>
        <p:spPr>
          <a:xfrm flipV="1">
            <a:off x="8226753" y="3397073"/>
            <a:ext cx="0" cy="107548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コネクタ: 曲線 8">
            <a:extLst>
              <a:ext uri="{FF2B5EF4-FFF2-40B4-BE49-F238E27FC236}">
                <a16:creationId xmlns:a16="http://schemas.microsoft.com/office/drawing/2014/main" id="{D958896B-C2BF-9ED5-0CA9-77181DFBBBB0}"/>
              </a:ext>
            </a:extLst>
          </p:cNvPr>
          <p:cNvCxnSpPr>
            <a:cxnSpLocks/>
          </p:cNvCxnSpPr>
          <p:nvPr/>
        </p:nvCxnSpPr>
        <p:spPr>
          <a:xfrm rot="16200000" flipH="1">
            <a:off x="7060453" y="4747563"/>
            <a:ext cx="15261" cy="744576"/>
          </a:xfrm>
          <a:prstGeom prst="curvedConnector3">
            <a:avLst>
              <a:gd name="adj1" fmla="val 1597936"/>
            </a:avLst>
          </a:prstGeom>
          <a:ln w="1905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コネクタ: 曲線 32">
            <a:extLst>
              <a:ext uri="{FF2B5EF4-FFF2-40B4-BE49-F238E27FC236}">
                <a16:creationId xmlns:a16="http://schemas.microsoft.com/office/drawing/2014/main" id="{D4B1E52A-1626-A686-49D4-C2647B9946F2}"/>
              </a:ext>
            </a:extLst>
          </p:cNvPr>
          <p:cNvCxnSpPr/>
          <p:nvPr/>
        </p:nvCxnSpPr>
        <p:spPr>
          <a:xfrm rot="16200000" flipH="1">
            <a:off x="7812659" y="4755194"/>
            <a:ext cx="12700" cy="744576"/>
          </a:xfrm>
          <a:prstGeom prst="curvedConnector3">
            <a:avLst>
              <a:gd name="adj1" fmla="val 1800000"/>
            </a:avLst>
          </a:prstGeom>
          <a:ln w="1905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曲線 34">
            <a:extLst>
              <a:ext uri="{FF2B5EF4-FFF2-40B4-BE49-F238E27FC236}">
                <a16:creationId xmlns:a16="http://schemas.microsoft.com/office/drawing/2014/main" id="{0CC75692-8F30-FFF5-316D-DB20A811C90F}"/>
              </a:ext>
            </a:extLst>
          </p:cNvPr>
          <p:cNvCxnSpPr/>
          <p:nvPr/>
        </p:nvCxnSpPr>
        <p:spPr>
          <a:xfrm rot="5400000" flipH="1" flipV="1">
            <a:off x="8551673" y="4745976"/>
            <a:ext cx="14779" cy="748233"/>
          </a:xfrm>
          <a:prstGeom prst="curvedConnector3">
            <a:avLst>
              <a:gd name="adj1" fmla="val -1546789"/>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15">
            <a:extLst>
              <a:ext uri="{FF2B5EF4-FFF2-40B4-BE49-F238E27FC236}">
                <a16:creationId xmlns:a16="http://schemas.microsoft.com/office/drawing/2014/main" id="{4328E5AB-33A3-DFC9-1CE4-D02AD399BA39}"/>
              </a:ext>
            </a:extLst>
          </p:cNvPr>
          <p:cNvSpPr txBox="1"/>
          <p:nvPr/>
        </p:nvSpPr>
        <p:spPr>
          <a:xfrm>
            <a:off x="6004220" y="5931429"/>
            <a:ext cx="3571812" cy="276999"/>
          </a:xfrm>
          <a:prstGeom prst="rect">
            <a:avLst/>
          </a:prstGeom>
          <a:noFill/>
        </p:spPr>
        <p:txBody>
          <a:bodyPr wrap="none" rtlCol="0">
            <a:spAutoFit/>
          </a:bodyPr>
          <a:lstStyle/>
          <a:p>
            <a:pPr algn="ctr"/>
            <a:r>
              <a:rPr lang="en-US" sz="1200" dirty="0"/>
              <a:t>An Autonomous Decentralized system is required!</a:t>
            </a:r>
          </a:p>
        </p:txBody>
      </p:sp>
    </p:spTree>
    <p:extLst>
      <p:ext uri="{BB962C8B-B14F-4D97-AF65-F5344CB8AC3E}">
        <p14:creationId xmlns:p14="http://schemas.microsoft.com/office/powerpoint/2010/main" val="2313850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p>
          <a:p>
            <a:r>
              <a:rPr kumimoji="1" lang="en-US" altLang="ja-JP" dirty="0"/>
              <a:t>2. Objective</a:t>
            </a:r>
          </a:p>
          <a:p>
            <a:endParaRPr kumimoji="1" lang="en-US" altLang="ja-JP" dirty="0"/>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326053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A54CCFF-5DFE-EE48-436B-E2A379A0BFAA}"/>
              </a:ext>
            </a:extLst>
          </p:cNvPr>
          <p:cNvSpPr>
            <a:spLocks noGrp="1"/>
          </p:cNvSpPr>
          <p:nvPr>
            <p:ph sz="quarter" idx="17"/>
          </p:nvPr>
        </p:nvSpPr>
        <p:spPr>
          <a:xfrm>
            <a:off x="569340" y="2247900"/>
            <a:ext cx="8767320" cy="2160814"/>
          </a:xfrm>
        </p:spPr>
        <p:txBody>
          <a:bodyPr/>
          <a:lstStyle/>
          <a:p>
            <a:r>
              <a:rPr kumimoji="1" lang="en-US" altLang="ja-JP" sz="1800" dirty="0"/>
              <a:t>The main objective is to propose an autonomous decentralized P2P energy trading system, and investigate its impact to both prosumers and energy grid.</a:t>
            </a:r>
          </a:p>
          <a:p>
            <a:endParaRPr kumimoji="1" lang="en-US" altLang="ja-JP" sz="1800" dirty="0"/>
          </a:p>
          <a:p>
            <a:r>
              <a:rPr kumimoji="1" lang="en-US" altLang="ja-JP" sz="1800" dirty="0"/>
              <a:t>Considering 2 scenarios:</a:t>
            </a:r>
          </a:p>
          <a:p>
            <a:r>
              <a:rPr kumimoji="1" lang="en-US" altLang="ja-JP" sz="1800" dirty="0"/>
              <a:t>	1. Prosumers without P2P energy trading. (future coming consequence)</a:t>
            </a:r>
          </a:p>
          <a:p>
            <a:r>
              <a:rPr kumimoji="1" lang="en-US" altLang="ja-JP" sz="1800" dirty="0"/>
              <a:t>	2. Prosumers community with P2P energy trading. (proposed)</a:t>
            </a:r>
            <a:endParaRPr kumimoji="1" lang="ja-JP" altLang="en-US" sz="1800" dirty="0"/>
          </a:p>
        </p:txBody>
      </p:sp>
      <p:sp>
        <p:nvSpPr>
          <p:cNvPr id="3" name="コンテンツ プレースホルダー 2">
            <a:extLst>
              <a:ext uri="{FF2B5EF4-FFF2-40B4-BE49-F238E27FC236}">
                <a16:creationId xmlns:a16="http://schemas.microsoft.com/office/drawing/2014/main" id="{75DE662A-8ECE-1894-C174-58B28FAFC896}"/>
              </a:ext>
            </a:extLst>
          </p:cNvPr>
          <p:cNvSpPr>
            <a:spLocks noGrp="1"/>
          </p:cNvSpPr>
          <p:nvPr>
            <p:ph sz="quarter" idx="16"/>
          </p:nvPr>
        </p:nvSpPr>
        <p:spPr/>
        <p:txBody>
          <a:bodyPr/>
          <a:lstStyle/>
          <a:p>
            <a:r>
              <a:rPr kumimoji="1" lang="en-US" altLang="ja-JP" dirty="0"/>
              <a:t>2. Objective</a:t>
            </a:r>
            <a:endParaRPr kumimoji="1" lang="ja-JP" altLang="en-US" dirty="0"/>
          </a:p>
        </p:txBody>
      </p:sp>
    </p:spTree>
    <p:extLst>
      <p:ext uri="{BB962C8B-B14F-4D97-AF65-F5344CB8AC3E}">
        <p14:creationId xmlns:p14="http://schemas.microsoft.com/office/powerpoint/2010/main" val="3185698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A54CCFF-5DFE-EE48-436B-E2A379A0BFAA}"/>
              </a:ext>
            </a:extLst>
          </p:cNvPr>
          <p:cNvSpPr>
            <a:spLocks noGrp="1"/>
          </p:cNvSpPr>
          <p:nvPr>
            <p:ph sz="quarter" idx="17"/>
          </p:nvPr>
        </p:nvSpPr>
        <p:spPr>
          <a:xfrm>
            <a:off x="569340" y="2247900"/>
            <a:ext cx="8767320" cy="2868386"/>
          </a:xfrm>
        </p:spPr>
        <p:txBody>
          <a:bodyPr/>
          <a:lstStyle/>
          <a:p>
            <a:r>
              <a:rPr kumimoji="1" lang="en-US" altLang="ja-JP" sz="1800" dirty="0"/>
              <a:t>The main objective is to propose an autonomous decentralized P2P energy trading system, and investigate its impact to both prosumers and energy grid.</a:t>
            </a:r>
          </a:p>
          <a:p>
            <a:endParaRPr kumimoji="1" lang="en-US" altLang="ja-JP" sz="1800" dirty="0"/>
          </a:p>
          <a:p>
            <a:r>
              <a:rPr kumimoji="1" lang="en-US" altLang="ja-JP" sz="1800" dirty="0"/>
              <a:t>Considering 2 scenarios:</a:t>
            </a:r>
          </a:p>
          <a:p>
            <a:r>
              <a:rPr kumimoji="1" lang="en-US" altLang="ja-JP" sz="1800" dirty="0"/>
              <a:t>	</a:t>
            </a:r>
            <a:r>
              <a:rPr kumimoji="1" lang="en-US" altLang="ja-JP" sz="1800" dirty="0">
                <a:solidFill>
                  <a:schemeClr val="tx1">
                    <a:lumMod val="20000"/>
                    <a:lumOff val="80000"/>
                  </a:schemeClr>
                </a:solidFill>
              </a:rPr>
              <a:t>1. Prosumers without P2P energy trading. (future coming consequence)</a:t>
            </a:r>
          </a:p>
          <a:p>
            <a:r>
              <a:rPr kumimoji="1" lang="en-US" altLang="ja-JP" sz="1800" dirty="0">
                <a:solidFill>
                  <a:schemeClr val="tx1">
                    <a:lumMod val="20000"/>
                    <a:lumOff val="80000"/>
                  </a:schemeClr>
                </a:solidFill>
              </a:rPr>
              <a:t>		</a:t>
            </a:r>
            <a:r>
              <a:rPr kumimoji="1" lang="ja-JP" altLang="en-US" sz="1800" dirty="0"/>
              <a:t>➤</a:t>
            </a:r>
            <a:r>
              <a:rPr kumimoji="1" lang="en-US" altLang="ja-JP" sz="1800" dirty="0"/>
              <a:t>Constructing the model…</a:t>
            </a:r>
          </a:p>
          <a:p>
            <a:r>
              <a:rPr kumimoji="1" lang="en-US" altLang="ja-JP" sz="1800" dirty="0"/>
              <a:t>	2. Prosumers community with P2P energy trading. (proposed)</a:t>
            </a:r>
          </a:p>
          <a:p>
            <a:r>
              <a:rPr kumimoji="1" lang="en-US" altLang="ja-JP" sz="1800" dirty="0"/>
              <a:t>		</a:t>
            </a:r>
            <a:r>
              <a:rPr kumimoji="1" lang="ja-JP" altLang="en-US" sz="1800" dirty="0"/>
              <a:t>➤</a:t>
            </a:r>
            <a:r>
              <a:rPr kumimoji="1" lang="en-US" altLang="ja-JP" sz="1800" dirty="0"/>
              <a:t>On training</a:t>
            </a:r>
            <a:endParaRPr kumimoji="1" lang="ja-JP" altLang="en-US" sz="1800" dirty="0"/>
          </a:p>
        </p:txBody>
      </p:sp>
      <p:sp>
        <p:nvSpPr>
          <p:cNvPr id="3" name="コンテンツ プレースホルダー 2">
            <a:extLst>
              <a:ext uri="{FF2B5EF4-FFF2-40B4-BE49-F238E27FC236}">
                <a16:creationId xmlns:a16="http://schemas.microsoft.com/office/drawing/2014/main" id="{75DE662A-8ECE-1894-C174-58B28FAFC896}"/>
              </a:ext>
            </a:extLst>
          </p:cNvPr>
          <p:cNvSpPr>
            <a:spLocks noGrp="1"/>
          </p:cNvSpPr>
          <p:nvPr>
            <p:ph sz="quarter" idx="16"/>
          </p:nvPr>
        </p:nvSpPr>
        <p:spPr/>
        <p:txBody>
          <a:bodyPr/>
          <a:lstStyle/>
          <a:p>
            <a:r>
              <a:rPr kumimoji="1" lang="en-US" altLang="ja-JP" dirty="0"/>
              <a:t>2. Objective</a:t>
            </a:r>
            <a:endParaRPr kumimoji="1" lang="ja-JP" altLang="en-US" dirty="0"/>
          </a:p>
        </p:txBody>
      </p:sp>
    </p:spTree>
    <p:extLst>
      <p:ext uri="{BB962C8B-B14F-4D97-AF65-F5344CB8AC3E}">
        <p14:creationId xmlns:p14="http://schemas.microsoft.com/office/powerpoint/2010/main" val="466603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p>
          <a:p>
            <a:r>
              <a:rPr kumimoji="1" lang="en-US" altLang="ja-JP" dirty="0"/>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1649592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正方形/長方形 152">
            <a:extLst>
              <a:ext uri="{FF2B5EF4-FFF2-40B4-BE49-F238E27FC236}">
                <a16:creationId xmlns:a16="http://schemas.microsoft.com/office/drawing/2014/main" id="{DCFD9E45-CDFE-D983-6086-FA9E0CAC9970}"/>
              </a:ext>
            </a:extLst>
          </p:cNvPr>
          <p:cNvSpPr/>
          <p:nvPr/>
        </p:nvSpPr>
        <p:spPr>
          <a:xfrm>
            <a:off x="6441323" y="4660046"/>
            <a:ext cx="211217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2" name="正方形/長方形 151">
            <a:extLst>
              <a:ext uri="{FF2B5EF4-FFF2-40B4-BE49-F238E27FC236}">
                <a16:creationId xmlns:a16="http://schemas.microsoft.com/office/drawing/2014/main" id="{9AFEB7F5-DCE4-8547-A1BE-F083BEA040EF}"/>
              </a:ext>
            </a:extLst>
          </p:cNvPr>
          <p:cNvSpPr/>
          <p:nvPr/>
        </p:nvSpPr>
        <p:spPr>
          <a:xfrm>
            <a:off x="6359110" y="4565017"/>
            <a:ext cx="211217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4" name="正方形/長方形 133">
            <a:extLst>
              <a:ext uri="{FF2B5EF4-FFF2-40B4-BE49-F238E27FC236}">
                <a16:creationId xmlns:a16="http://schemas.microsoft.com/office/drawing/2014/main" id="{BCBBEA6D-C97C-D40C-5C95-FF80127A3292}"/>
              </a:ext>
            </a:extLst>
          </p:cNvPr>
          <p:cNvSpPr/>
          <p:nvPr/>
        </p:nvSpPr>
        <p:spPr>
          <a:xfrm>
            <a:off x="8347440" y="1677864"/>
            <a:ext cx="1248262"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3" name="正方形/長方形 132">
            <a:extLst>
              <a:ext uri="{FF2B5EF4-FFF2-40B4-BE49-F238E27FC236}">
                <a16:creationId xmlns:a16="http://schemas.microsoft.com/office/drawing/2014/main" id="{DA63E6FD-2380-6CFB-49A5-C013E6584A69}"/>
              </a:ext>
            </a:extLst>
          </p:cNvPr>
          <p:cNvSpPr/>
          <p:nvPr/>
        </p:nvSpPr>
        <p:spPr>
          <a:xfrm>
            <a:off x="8244917" y="1581923"/>
            <a:ext cx="1248262"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1" name="正方形/長方形 130">
            <a:extLst>
              <a:ext uri="{FF2B5EF4-FFF2-40B4-BE49-F238E27FC236}">
                <a16:creationId xmlns:a16="http://schemas.microsoft.com/office/drawing/2014/main" id="{44578C9D-5795-9E05-3990-DCD7CDEBBB8B}"/>
              </a:ext>
            </a:extLst>
          </p:cNvPr>
          <p:cNvSpPr/>
          <p:nvPr/>
        </p:nvSpPr>
        <p:spPr>
          <a:xfrm>
            <a:off x="6467060" y="1677864"/>
            <a:ext cx="12482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0" name="正方形/長方形 129">
            <a:extLst>
              <a:ext uri="{FF2B5EF4-FFF2-40B4-BE49-F238E27FC236}">
                <a16:creationId xmlns:a16="http://schemas.microsoft.com/office/drawing/2014/main" id="{7F73BDA7-55CF-9D84-F90D-7E1F4C8CD500}"/>
              </a:ext>
            </a:extLst>
          </p:cNvPr>
          <p:cNvSpPr/>
          <p:nvPr/>
        </p:nvSpPr>
        <p:spPr>
          <a:xfrm>
            <a:off x="6359110" y="1576264"/>
            <a:ext cx="12482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8C47CADE-12BE-6A6C-86EC-91710B1ACEC7}"/>
              </a:ext>
            </a:extLst>
          </p:cNvPr>
          <p:cNvSpPr/>
          <p:nvPr/>
        </p:nvSpPr>
        <p:spPr>
          <a:xfrm>
            <a:off x="3409948" y="1679111"/>
            <a:ext cx="20229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7" name="正方形/長方形 126">
            <a:extLst>
              <a:ext uri="{FF2B5EF4-FFF2-40B4-BE49-F238E27FC236}">
                <a16:creationId xmlns:a16="http://schemas.microsoft.com/office/drawing/2014/main" id="{8D1EDA1E-4B10-E9DB-CFEE-517C3138900F}"/>
              </a:ext>
            </a:extLst>
          </p:cNvPr>
          <p:cNvSpPr/>
          <p:nvPr/>
        </p:nvSpPr>
        <p:spPr>
          <a:xfrm>
            <a:off x="3308348" y="1583861"/>
            <a:ext cx="20229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コンテンツ プレースホルダー 2">
            <a:extLst>
              <a:ext uri="{FF2B5EF4-FFF2-40B4-BE49-F238E27FC236}">
                <a16:creationId xmlns:a16="http://schemas.microsoft.com/office/drawing/2014/main" id="{CBBC13BC-9FBD-E7C0-BA6A-9D362FED3A59}"/>
              </a:ext>
            </a:extLst>
          </p:cNvPr>
          <p:cNvSpPr>
            <a:spLocks noGrp="1"/>
          </p:cNvSpPr>
          <p:nvPr>
            <p:ph sz="quarter" idx="16"/>
          </p:nvPr>
        </p:nvSpPr>
        <p:spPr/>
        <p:txBody>
          <a:bodyPr/>
          <a:lstStyle/>
          <a:p>
            <a:r>
              <a:rPr lang="en-US" dirty="0"/>
              <a:t>3. Method description</a:t>
            </a:r>
          </a:p>
        </p:txBody>
      </p:sp>
      <p:sp>
        <p:nvSpPr>
          <p:cNvPr id="2" name="正方形/長方形 1">
            <a:extLst>
              <a:ext uri="{FF2B5EF4-FFF2-40B4-BE49-F238E27FC236}">
                <a16:creationId xmlns:a16="http://schemas.microsoft.com/office/drawing/2014/main" id="{6EB280C4-BC9E-67DE-60D7-73372A5B4FD3}"/>
              </a:ext>
            </a:extLst>
          </p:cNvPr>
          <p:cNvSpPr/>
          <p:nvPr/>
        </p:nvSpPr>
        <p:spPr>
          <a:xfrm>
            <a:off x="130943" y="1324170"/>
            <a:ext cx="2380069" cy="463044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テキスト ボックス 83">
            <a:extLst>
              <a:ext uri="{FF2B5EF4-FFF2-40B4-BE49-F238E27FC236}">
                <a16:creationId xmlns:a16="http://schemas.microsoft.com/office/drawing/2014/main" id="{AD1BE2D2-49CE-20FD-CC48-14600E8B289C}"/>
              </a:ext>
            </a:extLst>
          </p:cNvPr>
          <p:cNvSpPr txBox="1"/>
          <p:nvPr/>
        </p:nvSpPr>
        <p:spPr>
          <a:xfrm>
            <a:off x="340580" y="1003544"/>
            <a:ext cx="1960793" cy="307777"/>
          </a:xfrm>
          <a:prstGeom prst="rect">
            <a:avLst/>
          </a:prstGeom>
          <a:noFill/>
        </p:spPr>
        <p:txBody>
          <a:bodyPr wrap="none" rtlCol="0">
            <a:spAutoFit/>
          </a:bodyPr>
          <a:lstStyle/>
          <a:p>
            <a:r>
              <a:rPr lang="en-US" sz="1400" dirty="0"/>
              <a:t>Step 1: Data collection</a:t>
            </a:r>
          </a:p>
        </p:txBody>
      </p:sp>
      <p:sp>
        <p:nvSpPr>
          <p:cNvPr id="85" name="正方形/長方形 84">
            <a:extLst>
              <a:ext uri="{FF2B5EF4-FFF2-40B4-BE49-F238E27FC236}">
                <a16:creationId xmlns:a16="http://schemas.microsoft.com/office/drawing/2014/main" id="{68E5D170-78BE-70D0-24B6-7EF628E88D35}"/>
              </a:ext>
            </a:extLst>
          </p:cNvPr>
          <p:cNvSpPr/>
          <p:nvPr/>
        </p:nvSpPr>
        <p:spPr>
          <a:xfrm>
            <a:off x="263217" y="1480457"/>
            <a:ext cx="211552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テキスト ボックス 85">
            <a:extLst>
              <a:ext uri="{FF2B5EF4-FFF2-40B4-BE49-F238E27FC236}">
                <a16:creationId xmlns:a16="http://schemas.microsoft.com/office/drawing/2014/main" id="{8228B19E-91AA-1BD6-499F-9BFE974FA171}"/>
              </a:ext>
            </a:extLst>
          </p:cNvPr>
          <p:cNvSpPr txBox="1"/>
          <p:nvPr/>
        </p:nvSpPr>
        <p:spPr>
          <a:xfrm>
            <a:off x="208181" y="1730475"/>
            <a:ext cx="2234982" cy="523220"/>
          </a:xfrm>
          <a:prstGeom prst="rect">
            <a:avLst/>
          </a:prstGeom>
          <a:noFill/>
        </p:spPr>
        <p:txBody>
          <a:bodyPr wrap="square" rtlCol="0">
            <a:spAutoFit/>
          </a:bodyPr>
          <a:lstStyle/>
          <a:p>
            <a:pPr algn="ctr"/>
            <a:r>
              <a:rPr kumimoji="1" lang="en-US" altLang="ja-JP" sz="1400" dirty="0"/>
              <a:t>Data (demand, PV supply, </a:t>
            </a:r>
            <a:br>
              <a:rPr kumimoji="1" lang="en-US" altLang="ja-JP" sz="1400" dirty="0"/>
            </a:br>
            <a:r>
              <a:rPr kumimoji="1" lang="en-US" altLang="ja-JP" sz="1400" dirty="0"/>
              <a:t>wholesale price)</a:t>
            </a:r>
            <a:endParaRPr kumimoji="1" lang="ja-JP" altLang="en-US" sz="1400" dirty="0"/>
          </a:p>
        </p:txBody>
      </p:sp>
      <p:sp>
        <p:nvSpPr>
          <p:cNvPr id="90" name="正方形/長方形 89">
            <a:extLst>
              <a:ext uri="{FF2B5EF4-FFF2-40B4-BE49-F238E27FC236}">
                <a16:creationId xmlns:a16="http://schemas.microsoft.com/office/drawing/2014/main" id="{36F36BE8-E638-D2DA-5A98-2FB8285CD409}"/>
              </a:ext>
            </a:extLst>
          </p:cNvPr>
          <p:cNvSpPr/>
          <p:nvPr/>
        </p:nvSpPr>
        <p:spPr>
          <a:xfrm>
            <a:off x="263216" y="3104743"/>
            <a:ext cx="211552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テキスト ボックス 90">
            <a:extLst>
              <a:ext uri="{FF2B5EF4-FFF2-40B4-BE49-F238E27FC236}">
                <a16:creationId xmlns:a16="http://schemas.microsoft.com/office/drawing/2014/main" id="{FA0B9543-2481-E2CE-7F9C-27CABB2E0E9F}"/>
              </a:ext>
            </a:extLst>
          </p:cNvPr>
          <p:cNvSpPr txBox="1"/>
          <p:nvPr/>
        </p:nvSpPr>
        <p:spPr>
          <a:xfrm>
            <a:off x="130940" y="3351281"/>
            <a:ext cx="1718740" cy="523220"/>
          </a:xfrm>
          <a:prstGeom prst="rect">
            <a:avLst/>
          </a:prstGeom>
          <a:noFill/>
        </p:spPr>
        <p:txBody>
          <a:bodyPr wrap="none" rtlCol="0">
            <a:spAutoFit/>
          </a:bodyPr>
          <a:lstStyle/>
          <a:p>
            <a:pPr algn="ctr"/>
            <a:r>
              <a:rPr kumimoji="1" lang="en-US" altLang="ja-JP" sz="1400" dirty="0"/>
              <a:t>Car usage survey</a:t>
            </a:r>
          </a:p>
          <a:p>
            <a:r>
              <a:rPr kumimoji="1" lang="ja-JP" altLang="en-US" sz="1400" dirty="0"/>
              <a:t>    →</a:t>
            </a:r>
            <a:r>
              <a:rPr kumimoji="1" lang="en-US" altLang="ja-JP" sz="1400" dirty="0"/>
              <a:t>car usage data</a:t>
            </a:r>
            <a:endParaRPr kumimoji="1" lang="ja-JP" altLang="en-US" sz="1400" dirty="0"/>
          </a:p>
        </p:txBody>
      </p:sp>
      <p:sp>
        <p:nvSpPr>
          <p:cNvPr id="92" name="正方形/長方形 91">
            <a:extLst>
              <a:ext uri="{FF2B5EF4-FFF2-40B4-BE49-F238E27FC236}">
                <a16:creationId xmlns:a16="http://schemas.microsoft.com/office/drawing/2014/main" id="{8DAEA555-D6CD-B460-A9A6-C989F9B64383}"/>
              </a:ext>
            </a:extLst>
          </p:cNvPr>
          <p:cNvSpPr/>
          <p:nvPr/>
        </p:nvSpPr>
        <p:spPr>
          <a:xfrm>
            <a:off x="263216" y="4724553"/>
            <a:ext cx="211552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テキスト ボックス 92">
            <a:extLst>
              <a:ext uri="{FF2B5EF4-FFF2-40B4-BE49-F238E27FC236}">
                <a16:creationId xmlns:a16="http://schemas.microsoft.com/office/drawing/2014/main" id="{95C066F9-50FC-7FF2-86BC-FB2DA30055D8}"/>
              </a:ext>
            </a:extLst>
          </p:cNvPr>
          <p:cNvSpPr txBox="1"/>
          <p:nvPr/>
        </p:nvSpPr>
        <p:spPr>
          <a:xfrm>
            <a:off x="263216" y="4866849"/>
            <a:ext cx="2023311" cy="738664"/>
          </a:xfrm>
          <a:prstGeom prst="rect">
            <a:avLst/>
          </a:prstGeom>
          <a:noFill/>
        </p:spPr>
        <p:txBody>
          <a:bodyPr wrap="none" rtlCol="0">
            <a:spAutoFit/>
          </a:bodyPr>
          <a:lstStyle/>
          <a:p>
            <a:r>
              <a:rPr kumimoji="1" lang="en-US" altLang="ja-JP" sz="1400" dirty="0"/>
              <a:t>Technology parameter </a:t>
            </a:r>
            <a:br>
              <a:rPr kumimoji="1" lang="en-US" altLang="ja-JP" sz="1400" dirty="0"/>
            </a:br>
            <a:r>
              <a:rPr kumimoji="1" lang="en-US" altLang="ja-JP" sz="1400" dirty="0"/>
              <a:t>(charge/discharge </a:t>
            </a:r>
            <a:br>
              <a:rPr kumimoji="1" lang="en-US" altLang="ja-JP" sz="1400" dirty="0"/>
            </a:br>
            <a:r>
              <a:rPr kumimoji="1" lang="en-US" altLang="ja-JP" sz="1400" dirty="0"/>
              <a:t>speed limit, efficiency)</a:t>
            </a:r>
            <a:endParaRPr kumimoji="1" lang="ja-JP" altLang="en-US" sz="1400" dirty="0"/>
          </a:p>
        </p:txBody>
      </p:sp>
      <p:sp>
        <p:nvSpPr>
          <p:cNvPr id="94" name="テキスト ボックス 93">
            <a:extLst>
              <a:ext uri="{FF2B5EF4-FFF2-40B4-BE49-F238E27FC236}">
                <a16:creationId xmlns:a16="http://schemas.microsoft.com/office/drawing/2014/main" id="{D5980E91-79F5-E1B8-FFAC-9B36B4EFFB75}"/>
              </a:ext>
            </a:extLst>
          </p:cNvPr>
          <p:cNvSpPr txBox="1"/>
          <p:nvPr/>
        </p:nvSpPr>
        <p:spPr>
          <a:xfrm>
            <a:off x="3112013" y="1003543"/>
            <a:ext cx="2323072" cy="307777"/>
          </a:xfrm>
          <a:prstGeom prst="rect">
            <a:avLst/>
          </a:prstGeom>
          <a:noFill/>
        </p:spPr>
        <p:txBody>
          <a:bodyPr wrap="none" rtlCol="0">
            <a:spAutoFit/>
          </a:bodyPr>
          <a:lstStyle/>
          <a:p>
            <a:r>
              <a:rPr lang="en-US" sz="1400" dirty="0"/>
              <a:t>Step 2: Model construction</a:t>
            </a:r>
          </a:p>
        </p:txBody>
      </p:sp>
      <p:sp>
        <p:nvSpPr>
          <p:cNvPr id="95" name="正方形/長方形 94">
            <a:extLst>
              <a:ext uri="{FF2B5EF4-FFF2-40B4-BE49-F238E27FC236}">
                <a16:creationId xmlns:a16="http://schemas.microsoft.com/office/drawing/2014/main" id="{C90FC6B2-6F45-A29F-40B3-E34A8826BBBE}"/>
              </a:ext>
            </a:extLst>
          </p:cNvPr>
          <p:cNvSpPr/>
          <p:nvPr/>
        </p:nvSpPr>
        <p:spPr>
          <a:xfrm>
            <a:off x="3083515" y="1324170"/>
            <a:ext cx="2456340" cy="463044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正方形/長方形 95">
            <a:extLst>
              <a:ext uri="{FF2B5EF4-FFF2-40B4-BE49-F238E27FC236}">
                <a16:creationId xmlns:a16="http://schemas.microsoft.com/office/drawing/2014/main" id="{EF82C2B3-C559-2D2D-7FD9-F9DCAFD9D3E9}"/>
              </a:ext>
            </a:extLst>
          </p:cNvPr>
          <p:cNvSpPr/>
          <p:nvPr/>
        </p:nvSpPr>
        <p:spPr>
          <a:xfrm>
            <a:off x="3215789" y="1480457"/>
            <a:ext cx="20229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テキスト ボックス 96">
            <a:extLst>
              <a:ext uri="{FF2B5EF4-FFF2-40B4-BE49-F238E27FC236}">
                <a16:creationId xmlns:a16="http://schemas.microsoft.com/office/drawing/2014/main" id="{25F3F05A-3DB7-B2C4-14E0-02942FF19F1A}"/>
              </a:ext>
            </a:extLst>
          </p:cNvPr>
          <p:cNvSpPr txBox="1"/>
          <p:nvPr/>
        </p:nvSpPr>
        <p:spPr>
          <a:xfrm>
            <a:off x="3474209" y="1780470"/>
            <a:ext cx="1410964" cy="307777"/>
          </a:xfrm>
          <a:prstGeom prst="rect">
            <a:avLst/>
          </a:prstGeom>
          <a:noFill/>
        </p:spPr>
        <p:txBody>
          <a:bodyPr wrap="none" rtlCol="0">
            <a:spAutoFit/>
          </a:bodyPr>
          <a:lstStyle/>
          <a:p>
            <a:r>
              <a:rPr kumimoji="1" lang="en-US" altLang="ja-JP" sz="1400" dirty="0"/>
              <a:t>Generate agent</a:t>
            </a:r>
            <a:endParaRPr kumimoji="1" lang="ja-JP" altLang="en-US" sz="1400" dirty="0"/>
          </a:p>
        </p:txBody>
      </p:sp>
      <p:cxnSp>
        <p:nvCxnSpPr>
          <p:cNvPr id="99" name="直線矢印コネクタ 98">
            <a:extLst>
              <a:ext uri="{FF2B5EF4-FFF2-40B4-BE49-F238E27FC236}">
                <a16:creationId xmlns:a16="http://schemas.microsoft.com/office/drawing/2014/main" id="{3554FC2B-1619-DB13-E251-A813486F9968}"/>
              </a:ext>
            </a:extLst>
          </p:cNvPr>
          <p:cNvCxnSpPr>
            <a:cxnSpLocks/>
            <a:stCxn id="85" idx="3"/>
            <a:endCxn id="96" idx="1"/>
          </p:cNvCxnSpPr>
          <p:nvPr/>
        </p:nvCxnSpPr>
        <p:spPr>
          <a:xfrm>
            <a:off x="2378737" y="1992086"/>
            <a:ext cx="83705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コネクタ: カギ線 108">
            <a:extLst>
              <a:ext uri="{FF2B5EF4-FFF2-40B4-BE49-F238E27FC236}">
                <a16:creationId xmlns:a16="http://schemas.microsoft.com/office/drawing/2014/main" id="{5E1FC696-6456-EF1E-A329-B719DF839DC4}"/>
              </a:ext>
            </a:extLst>
          </p:cNvPr>
          <p:cNvCxnSpPr>
            <a:cxnSpLocks/>
            <a:stCxn id="90" idx="3"/>
            <a:endCxn id="96" idx="1"/>
          </p:cNvCxnSpPr>
          <p:nvPr/>
        </p:nvCxnSpPr>
        <p:spPr>
          <a:xfrm flipV="1">
            <a:off x="2378736" y="1992086"/>
            <a:ext cx="837053" cy="1624286"/>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コネクタ: カギ線 110">
            <a:extLst>
              <a:ext uri="{FF2B5EF4-FFF2-40B4-BE49-F238E27FC236}">
                <a16:creationId xmlns:a16="http://schemas.microsoft.com/office/drawing/2014/main" id="{4CDBC0B5-F7ED-2AB5-9222-77484A1F8BF8}"/>
              </a:ext>
            </a:extLst>
          </p:cNvPr>
          <p:cNvCxnSpPr>
            <a:cxnSpLocks/>
            <a:stCxn id="92" idx="3"/>
            <a:endCxn id="96" idx="1"/>
          </p:cNvCxnSpPr>
          <p:nvPr/>
        </p:nvCxnSpPr>
        <p:spPr>
          <a:xfrm flipV="1">
            <a:off x="2378736" y="1992086"/>
            <a:ext cx="837053" cy="3244096"/>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正方形/長方形 111">
            <a:extLst>
              <a:ext uri="{FF2B5EF4-FFF2-40B4-BE49-F238E27FC236}">
                <a16:creationId xmlns:a16="http://schemas.microsoft.com/office/drawing/2014/main" id="{5BB2FA8C-62B9-8594-DA5D-328A7AF47ACB}"/>
              </a:ext>
            </a:extLst>
          </p:cNvPr>
          <p:cNvSpPr/>
          <p:nvPr/>
        </p:nvSpPr>
        <p:spPr>
          <a:xfrm>
            <a:off x="3216855" y="3104743"/>
            <a:ext cx="2216053" cy="264306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3" name="テキスト ボックス 112">
            <a:extLst>
              <a:ext uri="{FF2B5EF4-FFF2-40B4-BE49-F238E27FC236}">
                <a16:creationId xmlns:a16="http://schemas.microsoft.com/office/drawing/2014/main" id="{4B24583F-E787-0788-584D-60FCAE471040}"/>
              </a:ext>
            </a:extLst>
          </p:cNvPr>
          <p:cNvSpPr txBox="1"/>
          <p:nvPr/>
        </p:nvSpPr>
        <p:spPr>
          <a:xfrm>
            <a:off x="3432391" y="4164666"/>
            <a:ext cx="1713027" cy="523220"/>
          </a:xfrm>
          <a:prstGeom prst="rect">
            <a:avLst/>
          </a:prstGeom>
          <a:noFill/>
        </p:spPr>
        <p:txBody>
          <a:bodyPr wrap="square" rtlCol="0">
            <a:spAutoFit/>
          </a:bodyPr>
          <a:lstStyle/>
          <a:p>
            <a:r>
              <a:rPr kumimoji="1" lang="en-US" altLang="ja-JP" sz="1400" dirty="0"/>
              <a:t>Design P2P energy trading model</a:t>
            </a:r>
            <a:endParaRPr kumimoji="1" lang="ja-JP" altLang="en-US" sz="1400" dirty="0"/>
          </a:p>
        </p:txBody>
      </p:sp>
      <p:sp>
        <p:nvSpPr>
          <p:cNvPr id="117" name="正方形/長方形 116">
            <a:extLst>
              <a:ext uri="{FF2B5EF4-FFF2-40B4-BE49-F238E27FC236}">
                <a16:creationId xmlns:a16="http://schemas.microsoft.com/office/drawing/2014/main" id="{89C71ECD-63CA-F76C-19C7-68668EF38C28}"/>
              </a:ext>
            </a:extLst>
          </p:cNvPr>
          <p:cNvSpPr/>
          <p:nvPr/>
        </p:nvSpPr>
        <p:spPr>
          <a:xfrm>
            <a:off x="6112357" y="1324170"/>
            <a:ext cx="3662699" cy="4630448"/>
          </a:xfrm>
          <a:prstGeom prst="rect">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テキスト ボックス 117">
            <a:extLst>
              <a:ext uri="{FF2B5EF4-FFF2-40B4-BE49-F238E27FC236}">
                <a16:creationId xmlns:a16="http://schemas.microsoft.com/office/drawing/2014/main" id="{83569EDB-B886-1E07-0078-ED27CB1197AD}"/>
              </a:ext>
            </a:extLst>
          </p:cNvPr>
          <p:cNvSpPr txBox="1"/>
          <p:nvPr/>
        </p:nvSpPr>
        <p:spPr>
          <a:xfrm>
            <a:off x="6905120" y="1004100"/>
            <a:ext cx="1749197" cy="307777"/>
          </a:xfrm>
          <a:prstGeom prst="rect">
            <a:avLst/>
          </a:prstGeom>
          <a:noFill/>
        </p:spPr>
        <p:txBody>
          <a:bodyPr wrap="none" rtlCol="0">
            <a:spAutoFit/>
          </a:bodyPr>
          <a:lstStyle/>
          <a:p>
            <a:r>
              <a:rPr lang="en-US" sz="1400" dirty="0"/>
              <a:t>Step 3: Train agents</a:t>
            </a:r>
          </a:p>
        </p:txBody>
      </p:sp>
      <p:sp>
        <p:nvSpPr>
          <p:cNvPr id="120" name="正方形/長方形 119">
            <a:extLst>
              <a:ext uri="{FF2B5EF4-FFF2-40B4-BE49-F238E27FC236}">
                <a16:creationId xmlns:a16="http://schemas.microsoft.com/office/drawing/2014/main" id="{37634806-0E8E-F537-3DD0-F4CBC5A02D30}"/>
              </a:ext>
            </a:extLst>
          </p:cNvPr>
          <p:cNvSpPr/>
          <p:nvPr/>
        </p:nvSpPr>
        <p:spPr>
          <a:xfrm>
            <a:off x="6270210" y="1481014"/>
            <a:ext cx="1248261"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1" name="テキスト ボックス 120">
            <a:extLst>
              <a:ext uri="{FF2B5EF4-FFF2-40B4-BE49-F238E27FC236}">
                <a16:creationId xmlns:a16="http://schemas.microsoft.com/office/drawing/2014/main" id="{3399F792-0BF6-B866-CD58-3ACA884DF626}"/>
              </a:ext>
            </a:extLst>
          </p:cNvPr>
          <p:cNvSpPr txBox="1"/>
          <p:nvPr/>
        </p:nvSpPr>
        <p:spPr>
          <a:xfrm>
            <a:off x="6534029" y="1831714"/>
            <a:ext cx="662361" cy="307777"/>
          </a:xfrm>
          <a:prstGeom prst="rect">
            <a:avLst/>
          </a:prstGeom>
          <a:noFill/>
        </p:spPr>
        <p:txBody>
          <a:bodyPr wrap="none" rtlCol="0">
            <a:spAutoFit/>
          </a:bodyPr>
          <a:lstStyle/>
          <a:p>
            <a:r>
              <a:rPr kumimoji="1" lang="en-US" altLang="ja-JP" sz="1400" dirty="0"/>
              <a:t>Agent</a:t>
            </a:r>
            <a:endParaRPr kumimoji="1" lang="ja-JP" altLang="en-US" sz="1400" dirty="0"/>
          </a:p>
        </p:txBody>
      </p:sp>
      <p:sp>
        <p:nvSpPr>
          <p:cNvPr id="122" name="正方形/長方形 121">
            <a:extLst>
              <a:ext uri="{FF2B5EF4-FFF2-40B4-BE49-F238E27FC236}">
                <a16:creationId xmlns:a16="http://schemas.microsoft.com/office/drawing/2014/main" id="{55B66007-298C-0055-8728-14CF7AD3771D}"/>
              </a:ext>
            </a:extLst>
          </p:cNvPr>
          <p:cNvSpPr/>
          <p:nvPr/>
        </p:nvSpPr>
        <p:spPr>
          <a:xfrm>
            <a:off x="8133234" y="1480456"/>
            <a:ext cx="1248262"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3" name="テキスト ボックス 122">
            <a:extLst>
              <a:ext uri="{FF2B5EF4-FFF2-40B4-BE49-F238E27FC236}">
                <a16:creationId xmlns:a16="http://schemas.microsoft.com/office/drawing/2014/main" id="{6E4E576F-E3AF-2719-A443-6D540A457953}"/>
              </a:ext>
            </a:extLst>
          </p:cNvPr>
          <p:cNvSpPr txBox="1"/>
          <p:nvPr/>
        </p:nvSpPr>
        <p:spPr>
          <a:xfrm>
            <a:off x="8358172" y="1829674"/>
            <a:ext cx="776175" cy="307777"/>
          </a:xfrm>
          <a:prstGeom prst="rect">
            <a:avLst/>
          </a:prstGeom>
          <a:noFill/>
        </p:spPr>
        <p:txBody>
          <a:bodyPr wrap="none" rtlCol="0">
            <a:spAutoFit/>
          </a:bodyPr>
          <a:lstStyle/>
          <a:p>
            <a:r>
              <a:rPr kumimoji="1" lang="en-US" altLang="ja-JP" sz="1400" dirty="0"/>
              <a:t>Reward</a:t>
            </a:r>
            <a:endParaRPr kumimoji="1" lang="ja-JP" altLang="en-US" sz="1400" dirty="0"/>
          </a:p>
        </p:txBody>
      </p:sp>
      <p:sp>
        <p:nvSpPr>
          <p:cNvPr id="129" name="テキスト ボックス 128">
            <a:extLst>
              <a:ext uri="{FF2B5EF4-FFF2-40B4-BE49-F238E27FC236}">
                <a16:creationId xmlns:a16="http://schemas.microsoft.com/office/drawing/2014/main" id="{514004B4-7740-7DE7-0340-02EF47EB52A5}"/>
              </a:ext>
            </a:extLst>
          </p:cNvPr>
          <p:cNvSpPr txBox="1"/>
          <p:nvPr/>
        </p:nvSpPr>
        <p:spPr>
          <a:xfrm rot="1776148">
            <a:off x="5277527" y="2596292"/>
            <a:ext cx="316112" cy="307777"/>
          </a:xfrm>
          <a:prstGeom prst="rect">
            <a:avLst/>
          </a:prstGeom>
          <a:noFill/>
        </p:spPr>
        <p:txBody>
          <a:bodyPr wrap="none" rtlCol="0">
            <a:spAutoFit/>
          </a:bodyPr>
          <a:lstStyle/>
          <a:p>
            <a:r>
              <a:rPr kumimoji="1" lang="en-US" altLang="ja-JP" sz="1400" dirty="0"/>
              <a:t>…</a:t>
            </a:r>
            <a:endParaRPr kumimoji="1" lang="ja-JP" altLang="en-US" sz="1400" dirty="0"/>
          </a:p>
        </p:txBody>
      </p:sp>
      <p:sp>
        <p:nvSpPr>
          <p:cNvPr id="132" name="テキスト ボックス 131">
            <a:extLst>
              <a:ext uri="{FF2B5EF4-FFF2-40B4-BE49-F238E27FC236}">
                <a16:creationId xmlns:a16="http://schemas.microsoft.com/office/drawing/2014/main" id="{14DFAF1C-3A7C-A663-9402-A5ED39534905}"/>
              </a:ext>
            </a:extLst>
          </p:cNvPr>
          <p:cNvSpPr txBox="1"/>
          <p:nvPr/>
        </p:nvSpPr>
        <p:spPr>
          <a:xfrm rot="1776148">
            <a:off x="7621936" y="2596849"/>
            <a:ext cx="316112" cy="307777"/>
          </a:xfrm>
          <a:prstGeom prst="rect">
            <a:avLst/>
          </a:prstGeom>
          <a:noFill/>
        </p:spPr>
        <p:txBody>
          <a:bodyPr wrap="none" rtlCol="0">
            <a:spAutoFit/>
          </a:bodyPr>
          <a:lstStyle/>
          <a:p>
            <a:r>
              <a:rPr kumimoji="1" lang="en-US" altLang="ja-JP" sz="1400" dirty="0"/>
              <a:t>…</a:t>
            </a:r>
            <a:endParaRPr kumimoji="1" lang="ja-JP" altLang="en-US" sz="1400" dirty="0"/>
          </a:p>
        </p:txBody>
      </p:sp>
      <p:sp>
        <p:nvSpPr>
          <p:cNvPr id="135" name="テキスト ボックス 134">
            <a:extLst>
              <a:ext uri="{FF2B5EF4-FFF2-40B4-BE49-F238E27FC236}">
                <a16:creationId xmlns:a16="http://schemas.microsoft.com/office/drawing/2014/main" id="{A22E6715-D675-ACA9-855B-CDAAD0EA212D}"/>
              </a:ext>
            </a:extLst>
          </p:cNvPr>
          <p:cNvSpPr txBox="1"/>
          <p:nvPr/>
        </p:nvSpPr>
        <p:spPr>
          <a:xfrm rot="1776148">
            <a:off x="9501924" y="2598663"/>
            <a:ext cx="316112" cy="307777"/>
          </a:xfrm>
          <a:prstGeom prst="rect">
            <a:avLst/>
          </a:prstGeom>
          <a:noFill/>
        </p:spPr>
        <p:txBody>
          <a:bodyPr wrap="none" rtlCol="0">
            <a:spAutoFit/>
          </a:bodyPr>
          <a:lstStyle/>
          <a:p>
            <a:r>
              <a:rPr kumimoji="1" lang="en-US" altLang="ja-JP" sz="1400" dirty="0"/>
              <a:t>…</a:t>
            </a:r>
            <a:endParaRPr kumimoji="1" lang="ja-JP" altLang="en-US" sz="1400" dirty="0"/>
          </a:p>
        </p:txBody>
      </p:sp>
      <p:cxnSp>
        <p:nvCxnSpPr>
          <p:cNvPr id="136" name="直線矢印コネクタ 135">
            <a:extLst>
              <a:ext uri="{FF2B5EF4-FFF2-40B4-BE49-F238E27FC236}">
                <a16:creationId xmlns:a16="http://schemas.microsoft.com/office/drawing/2014/main" id="{4680E282-22D1-5EF6-43D0-667080AB2C2B}"/>
              </a:ext>
            </a:extLst>
          </p:cNvPr>
          <p:cNvCxnSpPr>
            <a:cxnSpLocks/>
          </p:cNvCxnSpPr>
          <p:nvPr/>
        </p:nvCxnSpPr>
        <p:spPr>
          <a:xfrm flipH="1">
            <a:off x="7753350" y="2126791"/>
            <a:ext cx="3049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正方形/長方形 138">
            <a:extLst>
              <a:ext uri="{FF2B5EF4-FFF2-40B4-BE49-F238E27FC236}">
                <a16:creationId xmlns:a16="http://schemas.microsoft.com/office/drawing/2014/main" id="{EEA6BBD9-CD22-DFEB-E73C-F167CD5C1559}"/>
              </a:ext>
            </a:extLst>
          </p:cNvPr>
          <p:cNvSpPr/>
          <p:nvPr/>
        </p:nvSpPr>
        <p:spPr>
          <a:xfrm>
            <a:off x="6273490" y="3080148"/>
            <a:ext cx="211552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0" name="テキスト ボックス 139">
            <a:extLst>
              <a:ext uri="{FF2B5EF4-FFF2-40B4-BE49-F238E27FC236}">
                <a16:creationId xmlns:a16="http://schemas.microsoft.com/office/drawing/2014/main" id="{A24EF358-0338-F2D2-F85E-1F56F48933C2}"/>
              </a:ext>
            </a:extLst>
          </p:cNvPr>
          <p:cNvSpPr txBox="1"/>
          <p:nvPr/>
        </p:nvSpPr>
        <p:spPr>
          <a:xfrm>
            <a:off x="7018016" y="3437887"/>
            <a:ext cx="626468" cy="307777"/>
          </a:xfrm>
          <a:prstGeom prst="rect">
            <a:avLst/>
          </a:prstGeom>
          <a:noFill/>
        </p:spPr>
        <p:txBody>
          <a:bodyPr wrap="square" rtlCol="0">
            <a:spAutoFit/>
          </a:bodyPr>
          <a:lstStyle/>
          <a:p>
            <a:r>
              <a:rPr kumimoji="1" lang="en-US" altLang="ja-JP" sz="1400" dirty="0"/>
              <a:t>State</a:t>
            </a:r>
            <a:endParaRPr kumimoji="1" lang="ja-JP" altLang="en-US" sz="1400" dirty="0"/>
          </a:p>
        </p:txBody>
      </p:sp>
      <p:cxnSp>
        <p:nvCxnSpPr>
          <p:cNvPr id="141" name="直線矢印コネクタ 140">
            <a:extLst>
              <a:ext uri="{FF2B5EF4-FFF2-40B4-BE49-F238E27FC236}">
                <a16:creationId xmlns:a16="http://schemas.microsoft.com/office/drawing/2014/main" id="{AF13D220-105D-8336-4A96-08F9226CDACC}"/>
              </a:ext>
            </a:extLst>
          </p:cNvPr>
          <p:cNvCxnSpPr>
            <a:cxnSpLocks/>
          </p:cNvCxnSpPr>
          <p:nvPr/>
        </p:nvCxnSpPr>
        <p:spPr>
          <a:xfrm>
            <a:off x="6983240" y="2731130"/>
            <a:ext cx="0" cy="35456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4" name="正方形/長方形 143">
            <a:extLst>
              <a:ext uri="{FF2B5EF4-FFF2-40B4-BE49-F238E27FC236}">
                <a16:creationId xmlns:a16="http://schemas.microsoft.com/office/drawing/2014/main" id="{A6020973-0065-6030-B13E-F36061033B36}"/>
              </a:ext>
            </a:extLst>
          </p:cNvPr>
          <p:cNvSpPr/>
          <p:nvPr/>
        </p:nvSpPr>
        <p:spPr>
          <a:xfrm>
            <a:off x="6276840" y="4467358"/>
            <a:ext cx="2112170" cy="1023257"/>
          </a:xfrm>
          <a:prstGeom prst="rect">
            <a:avLst/>
          </a:prstGeom>
          <a:solidFill>
            <a:schemeClr val="tx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5" name="コネクタ: カギ線 144">
            <a:extLst>
              <a:ext uri="{FF2B5EF4-FFF2-40B4-BE49-F238E27FC236}">
                <a16:creationId xmlns:a16="http://schemas.microsoft.com/office/drawing/2014/main" id="{6B587A83-6758-B51E-7A2A-C3F18857FC7E}"/>
              </a:ext>
            </a:extLst>
          </p:cNvPr>
          <p:cNvCxnSpPr>
            <a:cxnSpLocks/>
            <a:stCxn id="112" idx="3"/>
            <a:endCxn id="144" idx="1"/>
          </p:cNvCxnSpPr>
          <p:nvPr/>
        </p:nvCxnSpPr>
        <p:spPr>
          <a:xfrm>
            <a:off x="5432908" y="4426277"/>
            <a:ext cx="843932" cy="552710"/>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線矢印コネクタ 147">
            <a:extLst>
              <a:ext uri="{FF2B5EF4-FFF2-40B4-BE49-F238E27FC236}">
                <a16:creationId xmlns:a16="http://schemas.microsoft.com/office/drawing/2014/main" id="{6813027A-BFF3-3212-63A5-A2D9D4735F9B}"/>
              </a:ext>
            </a:extLst>
          </p:cNvPr>
          <p:cNvCxnSpPr>
            <a:cxnSpLocks/>
            <a:stCxn id="128" idx="3"/>
          </p:cNvCxnSpPr>
          <p:nvPr/>
        </p:nvCxnSpPr>
        <p:spPr>
          <a:xfrm>
            <a:off x="5432909" y="2190740"/>
            <a:ext cx="8145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1" name="テキスト ボックス 150">
            <a:extLst>
              <a:ext uri="{FF2B5EF4-FFF2-40B4-BE49-F238E27FC236}">
                <a16:creationId xmlns:a16="http://schemas.microsoft.com/office/drawing/2014/main" id="{2FF76309-767F-AF1A-9E21-C92678E679AB}"/>
              </a:ext>
            </a:extLst>
          </p:cNvPr>
          <p:cNvSpPr txBox="1"/>
          <p:nvPr/>
        </p:nvSpPr>
        <p:spPr>
          <a:xfrm>
            <a:off x="6949295" y="4825097"/>
            <a:ext cx="772447" cy="307777"/>
          </a:xfrm>
          <a:prstGeom prst="rect">
            <a:avLst/>
          </a:prstGeom>
          <a:noFill/>
        </p:spPr>
        <p:txBody>
          <a:bodyPr wrap="square" rtlCol="0">
            <a:spAutoFit/>
          </a:bodyPr>
          <a:lstStyle/>
          <a:p>
            <a:r>
              <a:rPr kumimoji="1" lang="en-US" altLang="ja-JP" sz="1400" dirty="0"/>
              <a:t>Action</a:t>
            </a:r>
            <a:endParaRPr kumimoji="1" lang="ja-JP" altLang="en-US" sz="1400" dirty="0"/>
          </a:p>
        </p:txBody>
      </p:sp>
      <p:sp>
        <p:nvSpPr>
          <p:cNvPr id="154" name="テキスト ボックス 153">
            <a:extLst>
              <a:ext uri="{FF2B5EF4-FFF2-40B4-BE49-F238E27FC236}">
                <a16:creationId xmlns:a16="http://schemas.microsoft.com/office/drawing/2014/main" id="{E005A408-CDC4-44B7-4699-7C406F3544EE}"/>
              </a:ext>
            </a:extLst>
          </p:cNvPr>
          <p:cNvSpPr txBox="1"/>
          <p:nvPr/>
        </p:nvSpPr>
        <p:spPr>
          <a:xfrm rot="1776148">
            <a:off x="8504319" y="5548605"/>
            <a:ext cx="316112" cy="307777"/>
          </a:xfrm>
          <a:prstGeom prst="rect">
            <a:avLst/>
          </a:prstGeom>
          <a:noFill/>
        </p:spPr>
        <p:txBody>
          <a:bodyPr wrap="none" rtlCol="0">
            <a:spAutoFit/>
          </a:bodyPr>
          <a:lstStyle/>
          <a:p>
            <a:r>
              <a:rPr kumimoji="1" lang="en-US" altLang="ja-JP" sz="1400" dirty="0"/>
              <a:t>…</a:t>
            </a:r>
            <a:endParaRPr kumimoji="1" lang="ja-JP" altLang="en-US" sz="1400" dirty="0"/>
          </a:p>
        </p:txBody>
      </p:sp>
      <p:cxnSp>
        <p:nvCxnSpPr>
          <p:cNvPr id="155" name="直線矢印コネクタ 154">
            <a:extLst>
              <a:ext uri="{FF2B5EF4-FFF2-40B4-BE49-F238E27FC236}">
                <a16:creationId xmlns:a16="http://schemas.microsoft.com/office/drawing/2014/main" id="{818A510B-EE30-E452-8E85-AF37D0439B3E}"/>
              </a:ext>
            </a:extLst>
          </p:cNvPr>
          <p:cNvCxnSpPr>
            <a:cxnSpLocks/>
            <a:stCxn id="139" idx="2"/>
          </p:cNvCxnSpPr>
          <p:nvPr/>
        </p:nvCxnSpPr>
        <p:spPr>
          <a:xfrm>
            <a:off x="7331250" y="4103405"/>
            <a:ext cx="0" cy="32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コネクタ: カギ線 161">
            <a:extLst>
              <a:ext uri="{FF2B5EF4-FFF2-40B4-BE49-F238E27FC236}">
                <a16:creationId xmlns:a16="http://schemas.microsoft.com/office/drawing/2014/main" id="{F728C510-0CAC-60E9-6D1E-677449D79007}"/>
              </a:ext>
            </a:extLst>
          </p:cNvPr>
          <p:cNvCxnSpPr>
            <a:cxnSpLocks/>
          </p:cNvCxnSpPr>
          <p:nvPr/>
        </p:nvCxnSpPr>
        <p:spPr>
          <a:xfrm rot="5400000" flipH="1" flipV="1">
            <a:off x="7601571" y="3747159"/>
            <a:ext cx="2382695" cy="388739"/>
          </a:xfrm>
          <a:prstGeom prst="bentConnector3">
            <a:avLst>
              <a:gd name="adj1" fmla="val 43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コネクタ: カギ線 173">
            <a:extLst>
              <a:ext uri="{FF2B5EF4-FFF2-40B4-BE49-F238E27FC236}">
                <a16:creationId xmlns:a16="http://schemas.microsoft.com/office/drawing/2014/main" id="{8F4F1661-C48D-77C0-B60C-BC16BAFFFB7D}"/>
              </a:ext>
            </a:extLst>
          </p:cNvPr>
          <p:cNvCxnSpPr>
            <a:stCxn id="112" idx="3"/>
            <a:endCxn id="139" idx="1"/>
          </p:cNvCxnSpPr>
          <p:nvPr/>
        </p:nvCxnSpPr>
        <p:spPr>
          <a:xfrm flipV="1">
            <a:off x="5432908" y="3591777"/>
            <a:ext cx="840582" cy="834500"/>
          </a:xfrm>
          <a:prstGeom prst="bentConnector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2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t>3.1 Step 1: </a:t>
            </a:r>
            <a:r>
              <a:rPr lang="en-US" altLang="ja-JP" sz="1200" dirty="0"/>
              <a:t>Data collection</a:t>
            </a:r>
          </a:p>
          <a:p>
            <a:r>
              <a:rPr kumimoji="1" lang="en-US" altLang="ja-JP" sz="1200" dirty="0"/>
              <a:t>       3.1.1 Data (demand, PV supply, wholesale price)</a:t>
            </a:r>
            <a:endParaRPr kumimoji="1" lang="ja-JP" altLang="en-US" sz="1200" dirty="0"/>
          </a:p>
          <a:p>
            <a:r>
              <a:rPr kumimoji="1" lang="en-US" altLang="ja-JP" sz="1200" dirty="0"/>
              <a:t>       3.1.2 Car usage survey </a:t>
            </a:r>
            <a:r>
              <a:rPr kumimoji="1" lang="ja-JP" altLang="en-US" sz="1200" dirty="0"/>
              <a:t>→ </a:t>
            </a:r>
            <a:r>
              <a:rPr kumimoji="1" lang="en-US" altLang="ja-JP" sz="1200" dirty="0"/>
              <a:t>Car usage data</a:t>
            </a:r>
          </a:p>
          <a:p>
            <a:r>
              <a:rPr kumimoji="1" lang="en-US" altLang="ja-JP" sz="1200" dirty="0"/>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8906571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4C74A73-0A1E-4D88-1FAE-69EF86217424}"/>
              </a:ext>
            </a:extLst>
          </p:cNvPr>
          <p:cNvSpPr>
            <a:spLocks noGrp="1"/>
          </p:cNvSpPr>
          <p:nvPr>
            <p:ph sz="quarter" idx="16"/>
          </p:nvPr>
        </p:nvSpPr>
        <p:spPr/>
        <p:txBody>
          <a:bodyPr/>
          <a:lstStyle/>
          <a:p>
            <a:r>
              <a:rPr lang="en-US" dirty="0"/>
              <a:t>3.1.1 Data</a:t>
            </a:r>
          </a:p>
        </p:txBody>
      </p:sp>
      <p:graphicFrame>
        <p:nvGraphicFramePr>
          <p:cNvPr id="4" name="表 3">
            <a:extLst>
              <a:ext uri="{FF2B5EF4-FFF2-40B4-BE49-F238E27FC236}">
                <a16:creationId xmlns:a16="http://schemas.microsoft.com/office/drawing/2014/main" id="{4C64BD87-FB7E-6275-1700-13FFD63909E3}"/>
              </a:ext>
            </a:extLst>
          </p:cNvPr>
          <p:cNvGraphicFramePr>
            <a:graphicFrameLocks noGrp="1"/>
          </p:cNvGraphicFramePr>
          <p:nvPr>
            <p:extLst>
              <p:ext uri="{D42A27DB-BD31-4B8C-83A1-F6EECF244321}">
                <p14:modId xmlns:p14="http://schemas.microsoft.com/office/powerpoint/2010/main" val="703169722"/>
              </p:ext>
            </p:extLst>
          </p:nvPr>
        </p:nvGraphicFramePr>
        <p:xfrm>
          <a:off x="827314" y="1203365"/>
          <a:ext cx="8138556" cy="4661216"/>
        </p:xfrm>
        <a:graphic>
          <a:graphicData uri="http://schemas.openxmlformats.org/drawingml/2006/table">
            <a:tbl>
              <a:tblPr firstRow="1" firstCol="1" bandRow="1">
                <a:tableStyleId>{073A0DAA-6AF3-43AB-8588-CEC1D06C72B9}</a:tableStyleId>
              </a:tblPr>
              <a:tblGrid>
                <a:gridCol w="2118936">
                  <a:extLst>
                    <a:ext uri="{9D8B030D-6E8A-4147-A177-3AD203B41FA5}">
                      <a16:colId xmlns:a16="http://schemas.microsoft.com/office/drawing/2014/main" val="1028031971"/>
                    </a:ext>
                  </a:extLst>
                </a:gridCol>
                <a:gridCol w="2118936">
                  <a:extLst>
                    <a:ext uri="{9D8B030D-6E8A-4147-A177-3AD203B41FA5}">
                      <a16:colId xmlns:a16="http://schemas.microsoft.com/office/drawing/2014/main" val="2277309603"/>
                    </a:ext>
                  </a:extLst>
                </a:gridCol>
                <a:gridCol w="2006811">
                  <a:extLst>
                    <a:ext uri="{9D8B030D-6E8A-4147-A177-3AD203B41FA5}">
                      <a16:colId xmlns:a16="http://schemas.microsoft.com/office/drawing/2014/main" val="3991979406"/>
                    </a:ext>
                  </a:extLst>
                </a:gridCol>
                <a:gridCol w="1893873">
                  <a:extLst>
                    <a:ext uri="{9D8B030D-6E8A-4147-A177-3AD203B41FA5}">
                      <a16:colId xmlns:a16="http://schemas.microsoft.com/office/drawing/2014/main" val="124853328"/>
                    </a:ext>
                  </a:extLst>
                </a:gridCol>
              </a:tblGrid>
              <a:tr h="506743">
                <a:tc>
                  <a:txBody>
                    <a:bodyPr/>
                    <a:lstStyle/>
                    <a:p>
                      <a:endParaRPr lang="en-US" sz="1200" dirty="0"/>
                    </a:p>
                  </a:txBody>
                  <a:tcPr/>
                </a:tc>
                <a:tc>
                  <a:txBody>
                    <a:bodyPr/>
                    <a:lstStyle/>
                    <a:p>
                      <a:r>
                        <a:rPr lang="en-US" sz="1200" dirty="0"/>
                        <a:t>Consumption</a:t>
                      </a:r>
                    </a:p>
                  </a:txBody>
                  <a:tcPr/>
                </a:tc>
                <a:tc>
                  <a:txBody>
                    <a:bodyPr/>
                    <a:lstStyle/>
                    <a:p>
                      <a:r>
                        <a:rPr lang="en-US" sz="1200" dirty="0"/>
                        <a:t>PV production</a:t>
                      </a:r>
                    </a:p>
                  </a:txBody>
                  <a:tcPr/>
                </a:tc>
                <a:tc>
                  <a:txBody>
                    <a:bodyPr/>
                    <a:lstStyle/>
                    <a:p>
                      <a:r>
                        <a:rPr lang="en-US" sz="1200" dirty="0"/>
                        <a:t>Wholesale electricity price</a:t>
                      </a:r>
                    </a:p>
                  </a:txBody>
                  <a:tcPr/>
                </a:tc>
                <a:extLst>
                  <a:ext uri="{0D108BD9-81ED-4DB2-BD59-A6C34878D82A}">
                    <a16:rowId xmlns:a16="http://schemas.microsoft.com/office/drawing/2014/main" val="3683012988"/>
                  </a:ext>
                </a:extLst>
              </a:tr>
              <a:tr h="509349">
                <a:tc>
                  <a:txBody>
                    <a:bodyPr/>
                    <a:lstStyle/>
                    <a:p>
                      <a:r>
                        <a:rPr lang="en-US" dirty="0"/>
                        <a:t>Location</a:t>
                      </a:r>
                    </a:p>
                  </a:txBody>
                  <a:tcPr/>
                </a:tc>
                <a:tc>
                  <a:txBody>
                    <a:bodyPr/>
                    <a:lstStyle/>
                    <a:p>
                      <a:r>
                        <a:rPr lang="en-US" dirty="0"/>
                        <a:t>UC Barkley (California)</a:t>
                      </a:r>
                    </a:p>
                  </a:txBody>
                  <a:tcPr/>
                </a:tc>
                <a:tc>
                  <a:txBody>
                    <a:bodyPr/>
                    <a:lstStyle/>
                    <a:p>
                      <a:r>
                        <a:rPr lang="en-US" dirty="0"/>
                        <a:t>California (For each </a:t>
                      </a:r>
                      <a:r>
                        <a:rPr lang="en-US" dirty="0" err="1"/>
                        <a:t>zipcode</a:t>
                      </a:r>
                      <a:r>
                        <a:rPr lang="en-US" dirty="0"/>
                        <a:t>)</a:t>
                      </a:r>
                    </a:p>
                  </a:txBody>
                  <a:tcPr/>
                </a:tc>
                <a:tc>
                  <a:txBody>
                    <a:bodyPr/>
                    <a:lstStyle/>
                    <a:p>
                      <a:r>
                        <a:rPr lang="en-US" dirty="0"/>
                        <a:t>California (For each zone)</a:t>
                      </a:r>
                    </a:p>
                  </a:txBody>
                  <a:tcPr/>
                </a:tc>
                <a:extLst>
                  <a:ext uri="{0D108BD9-81ED-4DB2-BD59-A6C34878D82A}">
                    <a16:rowId xmlns:a16="http://schemas.microsoft.com/office/drawing/2014/main" val="3210442989"/>
                  </a:ext>
                </a:extLst>
              </a:tr>
              <a:tr h="1288808">
                <a:tc>
                  <a:txBody>
                    <a:bodyPr/>
                    <a:lstStyle/>
                    <a:p>
                      <a:r>
                        <a:rPr lang="en-US" dirty="0"/>
                        <a:t>Number of columns</a:t>
                      </a:r>
                    </a:p>
                  </a:txBody>
                  <a:tcPr/>
                </a:tc>
                <a:tc>
                  <a:txBody>
                    <a:bodyPr/>
                    <a:lstStyle/>
                    <a:p>
                      <a:r>
                        <a:rPr lang="en-US" dirty="0"/>
                        <a:t>62 (93)</a:t>
                      </a:r>
                    </a:p>
                    <a:p>
                      <a:r>
                        <a:rPr lang="en-US" sz="800" dirty="0"/>
                        <a:t>Columns with more than 10% missing values are discarded, and the remaining columns are linearly interpolated.</a:t>
                      </a:r>
                    </a:p>
                    <a:p>
                      <a:r>
                        <a:rPr lang="en-US" sz="800" dirty="0"/>
                        <a:t>Data columns with average value of more than 30 [</a:t>
                      </a:r>
                      <a:r>
                        <a:rPr lang="en-US" sz="800" dirty="0" err="1"/>
                        <a:t>Wh</a:t>
                      </a:r>
                      <a:r>
                        <a:rPr lang="en-US" sz="800" dirty="0"/>
                        <a:t>/m^2*h] and less than </a:t>
                      </a:r>
                      <a:br>
                        <a:rPr lang="en-US" sz="800" dirty="0"/>
                      </a:br>
                      <a:r>
                        <a:rPr lang="en-US" sz="800" dirty="0"/>
                        <a:t>1 </a:t>
                      </a:r>
                      <a:r>
                        <a:rPr lang="en-US" altLang="ja-JP" sz="800" dirty="0"/>
                        <a:t>[</a:t>
                      </a:r>
                      <a:r>
                        <a:rPr lang="en-US" altLang="ja-JP" sz="800" dirty="0" err="1"/>
                        <a:t>Wh</a:t>
                      </a:r>
                      <a:r>
                        <a:rPr lang="en-US" altLang="ja-JP" sz="800" dirty="0"/>
                        <a:t>/m^2*h] are discarded.</a:t>
                      </a:r>
                    </a:p>
                    <a:p>
                      <a:endParaRPr lang="en-US" sz="800" dirty="0"/>
                    </a:p>
                    <a:p>
                      <a:endParaRPr lang="en-US" sz="800" dirty="0"/>
                    </a:p>
                  </a:txBody>
                  <a:tcPr/>
                </a:tc>
                <a:tc>
                  <a:txBody>
                    <a:bodyPr/>
                    <a:lstStyle/>
                    <a:p>
                      <a:r>
                        <a:rPr lang="en-US" dirty="0"/>
                        <a:t>267</a:t>
                      </a:r>
                    </a:p>
                  </a:txBody>
                  <a:tcPr/>
                </a:tc>
                <a:tc>
                  <a:txBody>
                    <a:bodyPr/>
                    <a:lstStyle/>
                    <a:p>
                      <a:r>
                        <a:rPr lang="en-US" dirty="0"/>
                        <a:t>1 (4)</a:t>
                      </a:r>
                    </a:p>
                    <a:p>
                      <a:r>
                        <a:rPr lang="en-US" sz="800" dirty="0"/>
                        <a:t>Price data from</a:t>
                      </a:r>
                      <a:br>
                        <a:rPr lang="en-US" sz="800" dirty="0"/>
                      </a:br>
                      <a:r>
                        <a:rPr lang="en-US" sz="800" dirty="0"/>
                        <a:t>Pacific Gas &amp;</a:t>
                      </a:r>
                      <a:br>
                        <a:rPr lang="en-US" sz="800" dirty="0"/>
                      </a:br>
                      <a:r>
                        <a:rPr lang="en-US" sz="800" dirty="0"/>
                        <a:t>Electric is </a:t>
                      </a:r>
                      <a:br>
                        <a:rPr lang="en-US" sz="800" dirty="0"/>
                      </a:br>
                      <a:r>
                        <a:rPr lang="en-US" sz="800" dirty="0"/>
                        <a:t>selected.</a:t>
                      </a:r>
                    </a:p>
                  </a:txBody>
                  <a:tcPr/>
                </a:tc>
                <a:extLst>
                  <a:ext uri="{0D108BD9-81ED-4DB2-BD59-A6C34878D82A}">
                    <a16:rowId xmlns:a16="http://schemas.microsoft.com/office/drawing/2014/main" val="4094834131"/>
                  </a:ext>
                </a:extLst>
              </a:tr>
              <a:tr h="506743">
                <a:tc>
                  <a:txBody>
                    <a:bodyPr/>
                    <a:lstStyle/>
                    <a:p>
                      <a:r>
                        <a:rPr lang="en-US" dirty="0"/>
                        <a:t>Year</a:t>
                      </a:r>
                    </a:p>
                  </a:txBody>
                  <a:tcPr/>
                </a:tc>
                <a:tc>
                  <a:txBody>
                    <a:bodyPr/>
                    <a:lstStyle/>
                    <a:p>
                      <a:r>
                        <a:rPr lang="en-US" dirty="0"/>
                        <a:t>2016/1/1~2017/12/31</a:t>
                      </a:r>
                    </a:p>
                  </a:txBody>
                  <a:tcPr/>
                </a:tc>
                <a:tc>
                  <a:txBody>
                    <a:bodyPr/>
                    <a:lstStyle/>
                    <a:p>
                      <a:r>
                        <a:rPr lang="en-US" dirty="0"/>
                        <a:t>2011/1/1~2016/12/31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2016/1/1~</a:t>
                      </a:r>
                    </a:p>
                  </a:txBody>
                  <a:tcPr/>
                </a:tc>
                <a:extLst>
                  <a:ext uri="{0D108BD9-81ED-4DB2-BD59-A6C34878D82A}">
                    <a16:rowId xmlns:a16="http://schemas.microsoft.com/office/drawing/2014/main" val="3325424039"/>
                  </a:ext>
                </a:extLst>
              </a:tr>
              <a:tr h="506743">
                <a:tc>
                  <a:txBody>
                    <a:bodyPr/>
                    <a:lstStyle/>
                    <a:p>
                      <a:r>
                        <a:rPr lang="en-US" dirty="0"/>
                        <a:t>Source</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1374433075"/>
                  </a:ext>
                </a:extLst>
              </a:tr>
              <a:tr h="1342830">
                <a:tc>
                  <a:txBody>
                    <a:bodyPr/>
                    <a:lstStyle/>
                    <a:p>
                      <a:r>
                        <a:rPr lang="en-US" dirty="0"/>
                        <a:t>Histogram (average)</a:t>
                      </a:r>
                    </a:p>
                  </a:txBody>
                  <a:tcPr/>
                </a:tc>
                <a:tc>
                  <a:txBody>
                    <a:bodyPr/>
                    <a:lstStyle/>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21101085"/>
                  </a:ext>
                </a:extLst>
              </a:tr>
            </a:tbl>
          </a:graphicData>
        </a:graphic>
      </p:graphicFrame>
      <p:sp>
        <p:nvSpPr>
          <p:cNvPr id="9" name="テキスト ボックス 8">
            <a:extLst>
              <a:ext uri="{FF2B5EF4-FFF2-40B4-BE49-F238E27FC236}">
                <a16:creationId xmlns:a16="http://schemas.microsoft.com/office/drawing/2014/main" id="{33E7633F-E11C-1FAA-9EA3-C0FFFA4E11ED}"/>
              </a:ext>
            </a:extLst>
          </p:cNvPr>
          <p:cNvSpPr txBox="1"/>
          <p:nvPr/>
        </p:nvSpPr>
        <p:spPr>
          <a:xfrm>
            <a:off x="123825" y="6176596"/>
            <a:ext cx="9669359" cy="461665"/>
          </a:xfrm>
          <a:prstGeom prst="rect">
            <a:avLst/>
          </a:prstGeom>
          <a:noFill/>
        </p:spPr>
        <p:txBody>
          <a:bodyPr wrap="square">
            <a:spAutoFit/>
          </a:bodyPr>
          <a:lstStyle/>
          <a:p>
            <a:r>
              <a:rPr lang="en-US" sz="600" dirty="0"/>
              <a:t>[1] </a:t>
            </a:r>
            <a:r>
              <a:rPr lang="en-US" sz="600" dirty="0">
                <a:hlinkClick r:id="rId2"/>
              </a:rPr>
              <a:t>https://www.kaggle.com/code/claytonmiller/building-data-genome-project-2-overview/data</a:t>
            </a:r>
            <a:endParaRPr lang="en-US" sz="600" dirty="0"/>
          </a:p>
          <a:p>
            <a:r>
              <a:rPr lang="en-US" sz="600" dirty="0"/>
              <a:t>[2] </a:t>
            </a:r>
            <a:r>
              <a:rPr lang="en-US" sz="600" dirty="0">
                <a:hlinkClick r:id="rId3"/>
              </a:rPr>
              <a:t>https://www.californiadgstats.ca.gov/downloads/</a:t>
            </a:r>
            <a:endParaRPr lang="en-US" sz="600" dirty="0"/>
          </a:p>
          <a:p>
            <a:r>
              <a:rPr lang="en-US" sz="600" dirty="0"/>
              <a:t>[3] </a:t>
            </a:r>
            <a:r>
              <a:rPr lang="en-US" sz="600" dirty="0">
                <a:hlinkClick r:id="rId4"/>
              </a:rPr>
              <a:t>https://www.caiso.com/Pages/default.aspx</a:t>
            </a:r>
            <a:endParaRPr lang="en-US" sz="600" dirty="0"/>
          </a:p>
          <a:p>
            <a:endParaRPr lang="en-US" sz="600" dirty="0"/>
          </a:p>
        </p:txBody>
      </p:sp>
      <p:grpSp>
        <p:nvGrpSpPr>
          <p:cNvPr id="19" name="グループ化 18">
            <a:extLst>
              <a:ext uri="{FF2B5EF4-FFF2-40B4-BE49-F238E27FC236}">
                <a16:creationId xmlns:a16="http://schemas.microsoft.com/office/drawing/2014/main" id="{ADB93099-DD10-5FC9-97C7-16AFD58D09B6}"/>
              </a:ext>
            </a:extLst>
          </p:cNvPr>
          <p:cNvGrpSpPr/>
          <p:nvPr/>
        </p:nvGrpSpPr>
        <p:grpSpPr>
          <a:xfrm>
            <a:off x="3148724" y="2253429"/>
            <a:ext cx="5817146" cy="3616650"/>
            <a:chOff x="3148724" y="2253429"/>
            <a:chExt cx="5817146" cy="3616650"/>
          </a:xfrm>
        </p:grpSpPr>
        <p:pic>
          <p:nvPicPr>
            <p:cNvPr id="8" name="図 7" descr="マップ&#10;&#10;自動的に生成された説明">
              <a:extLst>
                <a:ext uri="{FF2B5EF4-FFF2-40B4-BE49-F238E27FC236}">
                  <a16:creationId xmlns:a16="http://schemas.microsoft.com/office/drawing/2014/main" id="{74DAF10F-F72D-EAC7-5A64-C098530DEF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17600" y="2253429"/>
              <a:ext cx="1031891" cy="1175572"/>
            </a:xfrm>
            <a:prstGeom prst="rect">
              <a:avLst/>
            </a:prstGeom>
          </p:spPr>
        </p:pic>
        <p:sp>
          <p:nvSpPr>
            <p:cNvPr id="12" name="テキスト ボックス 11">
              <a:extLst>
                <a:ext uri="{FF2B5EF4-FFF2-40B4-BE49-F238E27FC236}">
                  <a16:creationId xmlns:a16="http://schemas.microsoft.com/office/drawing/2014/main" id="{3927BEDA-F31D-EF01-0200-5B088585225F}"/>
                </a:ext>
              </a:extLst>
            </p:cNvPr>
            <p:cNvSpPr txBox="1"/>
            <p:nvPr/>
          </p:nvSpPr>
          <p:spPr>
            <a:xfrm>
              <a:off x="3148724" y="5654635"/>
              <a:ext cx="1706521" cy="215444"/>
            </a:xfrm>
            <a:prstGeom prst="rect">
              <a:avLst/>
            </a:prstGeom>
            <a:noFill/>
          </p:spPr>
          <p:txBody>
            <a:bodyPr wrap="square">
              <a:spAutoFit/>
            </a:bodyPr>
            <a:lstStyle/>
            <a:p>
              <a:r>
                <a:rPr lang="en-US" sz="800" dirty="0"/>
                <a:t>Consumption [</a:t>
              </a:r>
              <a:r>
                <a:rPr lang="en-US" sz="800" dirty="0" err="1"/>
                <a:t>Wh</a:t>
              </a:r>
              <a:r>
                <a:rPr lang="en-US" sz="800" dirty="0"/>
                <a:t>/m^2 per hour]</a:t>
              </a:r>
            </a:p>
          </p:txBody>
        </p:sp>
        <p:pic>
          <p:nvPicPr>
            <p:cNvPr id="14" name="図 13">
              <a:extLst>
                <a:ext uri="{FF2B5EF4-FFF2-40B4-BE49-F238E27FC236}">
                  <a16:creationId xmlns:a16="http://schemas.microsoft.com/office/drawing/2014/main" id="{32467222-DBCB-4892-A245-F734E254CE88}"/>
                </a:ext>
              </a:extLst>
            </p:cNvPr>
            <p:cNvPicPr>
              <a:picLocks noChangeAspect="1"/>
            </p:cNvPicPr>
            <p:nvPr/>
          </p:nvPicPr>
          <p:blipFill>
            <a:blip r:embed="rId6"/>
            <a:stretch>
              <a:fillRect/>
            </a:stretch>
          </p:blipFill>
          <p:spPr>
            <a:xfrm>
              <a:off x="5072095" y="4691121"/>
              <a:ext cx="1993723" cy="987262"/>
            </a:xfrm>
            <a:prstGeom prst="rect">
              <a:avLst/>
            </a:prstGeom>
          </p:spPr>
        </p:pic>
        <p:sp>
          <p:nvSpPr>
            <p:cNvPr id="15" name="テキスト ボックス 14">
              <a:extLst>
                <a:ext uri="{FF2B5EF4-FFF2-40B4-BE49-F238E27FC236}">
                  <a16:creationId xmlns:a16="http://schemas.microsoft.com/office/drawing/2014/main" id="{61512E75-A90A-044D-B7F8-21C8A30B1E45}"/>
                </a:ext>
              </a:extLst>
            </p:cNvPr>
            <p:cNvSpPr txBox="1"/>
            <p:nvPr/>
          </p:nvSpPr>
          <p:spPr>
            <a:xfrm>
              <a:off x="5204036" y="5649139"/>
              <a:ext cx="1706521" cy="215444"/>
            </a:xfrm>
            <a:prstGeom prst="rect">
              <a:avLst/>
            </a:prstGeom>
            <a:noFill/>
          </p:spPr>
          <p:txBody>
            <a:bodyPr wrap="square">
              <a:spAutoFit/>
            </a:bodyPr>
            <a:lstStyle/>
            <a:p>
              <a:r>
                <a:rPr lang="en-US" sz="800" dirty="0"/>
                <a:t>Production [kWh/kW per hour]</a:t>
              </a:r>
            </a:p>
          </p:txBody>
        </p:sp>
        <p:pic>
          <p:nvPicPr>
            <p:cNvPr id="17" name="図 16">
              <a:extLst>
                <a:ext uri="{FF2B5EF4-FFF2-40B4-BE49-F238E27FC236}">
                  <a16:creationId xmlns:a16="http://schemas.microsoft.com/office/drawing/2014/main" id="{6187F7CB-D594-1C56-A64C-19D3A7BD9F17}"/>
                </a:ext>
              </a:extLst>
            </p:cNvPr>
            <p:cNvPicPr>
              <a:picLocks noChangeAspect="1"/>
            </p:cNvPicPr>
            <p:nvPr/>
          </p:nvPicPr>
          <p:blipFill>
            <a:blip r:embed="rId7"/>
            <a:stretch>
              <a:fillRect/>
            </a:stretch>
          </p:blipFill>
          <p:spPr>
            <a:xfrm>
              <a:off x="7086941" y="4691121"/>
              <a:ext cx="1878929" cy="987262"/>
            </a:xfrm>
            <a:prstGeom prst="rect">
              <a:avLst/>
            </a:prstGeom>
          </p:spPr>
        </p:pic>
        <p:sp>
          <p:nvSpPr>
            <p:cNvPr id="18" name="テキスト ボックス 17">
              <a:extLst>
                <a:ext uri="{FF2B5EF4-FFF2-40B4-BE49-F238E27FC236}">
                  <a16:creationId xmlns:a16="http://schemas.microsoft.com/office/drawing/2014/main" id="{6D002208-BCAF-E4FD-623E-8F7A56BC4041}"/>
                </a:ext>
              </a:extLst>
            </p:cNvPr>
            <p:cNvSpPr txBox="1"/>
            <p:nvPr/>
          </p:nvSpPr>
          <p:spPr>
            <a:xfrm>
              <a:off x="7525004" y="5649139"/>
              <a:ext cx="1002801" cy="215444"/>
            </a:xfrm>
            <a:prstGeom prst="rect">
              <a:avLst/>
            </a:prstGeom>
            <a:noFill/>
          </p:spPr>
          <p:txBody>
            <a:bodyPr wrap="square">
              <a:spAutoFit/>
            </a:bodyPr>
            <a:lstStyle/>
            <a:p>
              <a:r>
                <a:rPr lang="en-US" sz="800" dirty="0"/>
                <a:t>Price [cents/kWh]</a:t>
              </a:r>
            </a:p>
          </p:txBody>
        </p:sp>
      </p:grpSp>
      <p:pic>
        <p:nvPicPr>
          <p:cNvPr id="5" name="図 4">
            <a:extLst>
              <a:ext uri="{FF2B5EF4-FFF2-40B4-BE49-F238E27FC236}">
                <a16:creationId xmlns:a16="http://schemas.microsoft.com/office/drawing/2014/main" id="{9244025A-8830-BFB2-F8C4-E36946F264EB}"/>
              </a:ext>
            </a:extLst>
          </p:cNvPr>
          <p:cNvPicPr>
            <a:picLocks noChangeAspect="1"/>
          </p:cNvPicPr>
          <p:nvPr/>
        </p:nvPicPr>
        <p:blipFill>
          <a:blip r:embed="rId8"/>
          <a:srcRect t="5436"/>
          <a:stretch/>
        </p:blipFill>
        <p:spPr>
          <a:xfrm>
            <a:off x="2969839" y="4544786"/>
            <a:ext cx="2069593" cy="1137556"/>
          </a:xfrm>
          <a:prstGeom prst="rect">
            <a:avLst/>
          </a:prstGeom>
        </p:spPr>
      </p:pic>
    </p:spTree>
    <p:extLst>
      <p:ext uri="{BB962C8B-B14F-4D97-AF65-F5344CB8AC3E}">
        <p14:creationId xmlns:p14="http://schemas.microsoft.com/office/powerpoint/2010/main" val="6928956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B2859CD-DD42-C74E-0251-BCA6ABC71D8E}"/>
              </a:ext>
            </a:extLst>
          </p:cNvPr>
          <p:cNvSpPr>
            <a:spLocks noGrp="1"/>
          </p:cNvSpPr>
          <p:nvPr>
            <p:ph sz="quarter" idx="16"/>
          </p:nvPr>
        </p:nvSpPr>
        <p:spPr/>
        <p:txBody>
          <a:bodyPr/>
          <a:lstStyle/>
          <a:p>
            <a:r>
              <a:rPr lang="en-US" altLang="ja-JP" dirty="0"/>
              <a:t>3.1.2 Car usage survey </a:t>
            </a:r>
            <a:r>
              <a:rPr lang="ja-JP" altLang="en-US" dirty="0"/>
              <a:t>→ </a:t>
            </a:r>
            <a:r>
              <a:rPr lang="en-US" altLang="ja-JP" dirty="0"/>
              <a:t>car usage data</a:t>
            </a:r>
          </a:p>
        </p:txBody>
      </p:sp>
      <p:graphicFrame>
        <p:nvGraphicFramePr>
          <p:cNvPr id="4" name="表 3">
            <a:extLst>
              <a:ext uri="{FF2B5EF4-FFF2-40B4-BE49-F238E27FC236}">
                <a16:creationId xmlns:a16="http://schemas.microsoft.com/office/drawing/2014/main" id="{67E6FA68-1F99-E885-10BC-2A1318AFB7C4}"/>
              </a:ext>
            </a:extLst>
          </p:cNvPr>
          <p:cNvGraphicFramePr>
            <a:graphicFrameLocks noGrp="1"/>
          </p:cNvGraphicFramePr>
          <p:nvPr>
            <p:extLst>
              <p:ext uri="{D42A27DB-BD31-4B8C-83A1-F6EECF244321}">
                <p14:modId xmlns:p14="http://schemas.microsoft.com/office/powerpoint/2010/main" val="1089471599"/>
              </p:ext>
            </p:extLst>
          </p:nvPr>
        </p:nvGraphicFramePr>
        <p:xfrm>
          <a:off x="379828" y="1096278"/>
          <a:ext cx="8661373" cy="3030824"/>
        </p:xfrm>
        <a:graphic>
          <a:graphicData uri="http://schemas.openxmlformats.org/drawingml/2006/table">
            <a:tbl>
              <a:tblPr firstRow="1" bandRow="1">
                <a:tableStyleId>{073A0DAA-6AF3-43AB-8588-CEC1D06C72B9}</a:tableStyleId>
              </a:tblPr>
              <a:tblGrid>
                <a:gridCol w="2243797">
                  <a:extLst>
                    <a:ext uri="{9D8B030D-6E8A-4147-A177-3AD203B41FA5}">
                      <a16:colId xmlns:a16="http://schemas.microsoft.com/office/drawing/2014/main" val="2081844268"/>
                    </a:ext>
                  </a:extLst>
                </a:gridCol>
                <a:gridCol w="5412544">
                  <a:extLst>
                    <a:ext uri="{9D8B030D-6E8A-4147-A177-3AD203B41FA5}">
                      <a16:colId xmlns:a16="http://schemas.microsoft.com/office/drawing/2014/main" val="2099169623"/>
                    </a:ext>
                  </a:extLst>
                </a:gridCol>
                <a:gridCol w="1005032">
                  <a:extLst>
                    <a:ext uri="{9D8B030D-6E8A-4147-A177-3AD203B41FA5}">
                      <a16:colId xmlns:a16="http://schemas.microsoft.com/office/drawing/2014/main" val="838983769"/>
                    </a:ext>
                  </a:extLst>
                </a:gridCol>
              </a:tblGrid>
              <a:tr h="378853">
                <a:tc>
                  <a:txBody>
                    <a:bodyPr/>
                    <a:lstStyle/>
                    <a:p>
                      <a:r>
                        <a:rPr lang="en-US" dirty="0"/>
                        <a:t>Annual mileage [km/year]</a:t>
                      </a:r>
                    </a:p>
                  </a:txBody>
                  <a:tcPr/>
                </a:tc>
                <a:tc>
                  <a:txBody>
                    <a:bodyPr/>
                    <a:lstStyle/>
                    <a:p>
                      <a:r>
                        <a:rPr lang="en-US" dirty="0"/>
                        <a:t>Usage frequency</a:t>
                      </a:r>
                    </a:p>
                  </a:txBody>
                  <a:tcPr/>
                </a:tc>
                <a:tc>
                  <a:txBody>
                    <a:bodyPr/>
                    <a:lstStyle/>
                    <a:p>
                      <a:r>
                        <a:rPr lang="en-US" dirty="0"/>
                        <a:t>Ratio [%]</a:t>
                      </a:r>
                    </a:p>
                  </a:txBody>
                  <a:tcPr/>
                </a:tc>
                <a:extLst>
                  <a:ext uri="{0D108BD9-81ED-4DB2-BD59-A6C34878D82A}">
                    <a16:rowId xmlns:a16="http://schemas.microsoft.com/office/drawing/2014/main" val="1061694334"/>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 3000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Do not ride often</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12.9</a:t>
                      </a:r>
                    </a:p>
                  </a:txBody>
                  <a:tcPr/>
                </a:tc>
                <a:extLst>
                  <a:ext uri="{0D108BD9-81ED-4DB2-BD59-A6C34878D82A}">
                    <a16:rowId xmlns:a16="http://schemas.microsoft.com/office/drawing/2014/main" val="484519250"/>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3000 ~ 5000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Mostly for nearby shopping</a:t>
                      </a:r>
                    </a:p>
                  </a:txBody>
                  <a:tcPr/>
                </a:tc>
                <a:tc>
                  <a:txBody>
                    <a:bodyPr/>
                    <a:lstStyle/>
                    <a:p>
                      <a:r>
                        <a:rPr lang="en-US" dirty="0"/>
                        <a:t>25.8</a:t>
                      </a:r>
                    </a:p>
                  </a:txBody>
                  <a:tcPr/>
                </a:tc>
                <a:extLst>
                  <a:ext uri="{0D108BD9-81ED-4DB2-BD59-A6C34878D82A}">
                    <a16:rowId xmlns:a16="http://schemas.microsoft.com/office/drawing/2014/main" val="2329611386"/>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5000 ~ 7000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Mostly for commuting to work or school (approx. 30 min/one way)</a:t>
                      </a:r>
                    </a:p>
                  </a:txBody>
                  <a:tcPr/>
                </a:tc>
                <a:tc>
                  <a:txBody>
                    <a:bodyPr/>
                    <a:lstStyle/>
                    <a:p>
                      <a:r>
                        <a:rPr lang="en-US" dirty="0"/>
                        <a:t>22.5</a:t>
                      </a:r>
                    </a:p>
                  </a:txBody>
                  <a:tcPr/>
                </a:tc>
                <a:extLst>
                  <a:ext uri="{0D108BD9-81ED-4DB2-BD59-A6C34878D82A}">
                    <a16:rowId xmlns:a16="http://schemas.microsoft.com/office/drawing/2014/main" val="2435684139"/>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7000 ~ 9000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Mostly used on weekends, sometimes trips</a:t>
                      </a:r>
                    </a:p>
                  </a:txBody>
                  <a:tcPr/>
                </a:tc>
                <a:tc>
                  <a:txBody>
                    <a:bodyPr/>
                    <a:lstStyle/>
                    <a:p>
                      <a:r>
                        <a:rPr lang="en-US" dirty="0"/>
                        <a:t>14.8</a:t>
                      </a:r>
                    </a:p>
                  </a:txBody>
                  <a:tcPr/>
                </a:tc>
                <a:extLst>
                  <a:ext uri="{0D108BD9-81ED-4DB2-BD59-A6C34878D82A}">
                    <a16:rowId xmlns:a16="http://schemas.microsoft.com/office/drawing/2014/main" val="3916366717"/>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9000 ~ 11000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Mostly for commuting to work or school (approx. 60 min/one way)</a:t>
                      </a:r>
                    </a:p>
                  </a:txBody>
                  <a:tcPr/>
                </a:tc>
                <a:tc>
                  <a:txBody>
                    <a:bodyPr/>
                    <a:lstStyle/>
                    <a:p>
                      <a:r>
                        <a:rPr lang="en-US" dirty="0"/>
                        <a:t>13.8</a:t>
                      </a:r>
                    </a:p>
                  </a:txBody>
                  <a:tcPr/>
                </a:tc>
                <a:extLst>
                  <a:ext uri="{0D108BD9-81ED-4DB2-BD59-A6C34878D82A}">
                    <a16:rowId xmlns:a16="http://schemas.microsoft.com/office/drawing/2014/main" val="1247754287"/>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11000 ~ 16000</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Long drive every day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6.0</a:t>
                      </a:r>
                    </a:p>
                  </a:txBody>
                  <a:tcPr/>
                </a:tc>
                <a:extLst>
                  <a:ext uri="{0D108BD9-81ED-4DB2-BD59-A6C34878D82A}">
                    <a16:rowId xmlns:a16="http://schemas.microsoft.com/office/drawing/2014/main" val="2028647967"/>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16000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Super long drive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4.2</a:t>
                      </a:r>
                    </a:p>
                  </a:txBody>
                  <a:tcPr/>
                </a:tc>
                <a:extLst>
                  <a:ext uri="{0D108BD9-81ED-4DB2-BD59-A6C34878D82A}">
                    <a16:rowId xmlns:a16="http://schemas.microsoft.com/office/drawing/2014/main" val="2549589444"/>
                  </a:ext>
                </a:extLst>
              </a:tr>
            </a:tbl>
          </a:graphicData>
        </a:graphic>
      </p:graphicFrame>
      <p:sp>
        <p:nvSpPr>
          <p:cNvPr id="5" name="テキスト ボックス 4">
            <a:extLst>
              <a:ext uri="{FF2B5EF4-FFF2-40B4-BE49-F238E27FC236}">
                <a16:creationId xmlns:a16="http://schemas.microsoft.com/office/drawing/2014/main" id="{A552A0DD-78E9-5081-CD99-956033DCF3B6}"/>
              </a:ext>
            </a:extLst>
          </p:cNvPr>
          <p:cNvSpPr txBox="1"/>
          <p:nvPr/>
        </p:nvSpPr>
        <p:spPr>
          <a:xfrm>
            <a:off x="3910441" y="788501"/>
            <a:ext cx="1831720" cy="307777"/>
          </a:xfrm>
          <a:prstGeom prst="rect">
            <a:avLst/>
          </a:prstGeom>
          <a:noFill/>
        </p:spPr>
        <p:txBody>
          <a:bodyPr wrap="square" rtlCol="0">
            <a:spAutoFit/>
          </a:bodyPr>
          <a:lstStyle/>
          <a:p>
            <a:r>
              <a:rPr lang="en-US" altLang="ja-JP" sz="1400" dirty="0"/>
              <a:t>Car usage survey [1]</a:t>
            </a:r>
            <a:endParaRPr lang="en-US" sz="1400" dirty="0"/>
          </a:p>
        </p:txBody>
      </p:sp>
      <p:sp>
        <p:nvSpPr>
          <p:cNvPr id="6" name="テキスト ボックス 5">
            <a:extLst>
              <a:ext uri="{FF2B5EF4-FFF2-40B4-BE49-F238E27FC236}">
                <a16:creationId xmlns:a16="http://schemas.microsoft.com/office/drawing/2014/main" id="{410031BC-7903-602C-6D7D-337BDEABF343}"/>
              </a:ext>
            </a:extLst>
          </p:cNvPr>
          <p:cNvSpPr txBox="1"/>
          <p:nvPr/>
        </p:nvSpPr>
        <p:spPr>
          <a:xfrm>
            <a:off x="118320" y="6488668"/>
            <a:ext cx="9669359" cy="276999"/>
          </a:xfrm>
          <a:prstGeom prst="rect">
            <a:avLst/>
          </a:prstGeom>
          <a:noFill/>
        </p:spPr>
        <p:txBody>
          <a:bodyPr wrap="square">
            <a:spAutoFit/>
          </a:bodyPr>
          <a:lstStyle/>
          <a:p>
            <a:r>
              <a:rPr lang="en-US" sz="600" dirty="0"/>
              <a:t>[1] </a:t>
            </a:r>
            <a:r>
              <a:rPr lang="en-US" sz="600" dirty="0">
                <a:hlinkClick r:id="rId2"/>
              </a:rPr>
              <a:t>https://from.sonysonpo.co.jp/topics/pr/2023/07/20230727_01.html</a:t>
            </a:r>
            <a:endParaRPr lang="en-US" sz="600" dirty="0"/>
          </a:p>
          <a:p>
            <a:endParaRPr lang="en-US" sz="600" dirty="0"/>
          </a:p>
        </p:txBody>
      </p:sp>
      <p:sp>
        <p:nvSpPr>
          <p:cNvPr id="8" name="テキスト ボックス 7">
            <a:extLst>
              <a:ext uri="{FF2B5EF4-FFF2-40B4-BE49-F238E27FC236}">
                <a16:creationId xmlns:a16="http://schemas.microsoft.com/office/drawing/2014/main" id="{385258E9-B945-C378-3D97-59E9E318AB90}"/>
              </a:ext>
            </a:extLst>
          </p:cNvPr>
          <p:cNvSpPr txBox="1"/>
          <p:nvPr/>
        </p:nvSpPr>
        <p:spPr>
          <a:xfrm>
            <a:off x="5799311" y="5126562"/>
            <a:ext cx="3810784" cy="523220"/>
          </a:xfrm>
          <a:prstGeom prst="rect">
            <a:avLst/>
          </a:prstGeom>
          <a:noFill/>
        </p:spPr>
        <p:txBody>
          <a:bodyPr wrap="square" rtlCol="0">
            <a:spAutoFit/>
          </a:bodyPr>
          <a:lstStyle/>
          <a:p>
            <a:r>
              <a:rPr lang="en-US" altLang="ja-JP" sz="1400" dirty="0"/>
              <a:t>1000 car usage profile are made according to the distribution of the car usage frequency</a:t>
            </a:r>
          </a:p>
        </p:txBody>
      </p:sp>
      <p:pic>
        <p:nvPicPr>
          <p:cNvPr id="7" name="図 6">
            <a:extLst>
              <a:ext uri="{FF2B5EF4-FFF2-40B4-BE49-F238E27FC236}">
                <a16:creationId xmlns:a16="http://schemas.microsoft.com/office/drawing/2014/main" id="{D50A3784-EB91-C1F7-CDFA-B527D924B7C6}"/>
              </a:ext>
            </a:extLst>
          </p:cNvPr>
          <p:cNvPicPr>
            <a:picLocks noChangeAspect="1"/>
          </p:cNvPicPr>
          <p:nvPr/>
        </p:nvPicPr>
        <p:blipFill>
          <a:blip r:embed="rId3"/>
          <a:stretch>
            <a:fillRect/>
          </a:stretch>
        </p:blipFill>
        <p:spPr>
          <a:xfrm>
            <a:off x="379828" y="4459573"/>
            <a:ext cx="5362333" cy="1857199"/>
          </a:xfrm>
          <a:prstGeom prst="rect">
            <a:avLst/>
          </a:prstGeom>
        </p:spPr>
      </p:pic>
    </p:spTree>
    <p:extLst>
      <p:ext uri="{BB962C8B-B14F-4D97-AF65-F5344CB8AC3E}">
        <p14:creationId xmlns:p14="http://schemas.microsoft.com/office/powerpoint/2010/main" val="1111544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2B9D8B1-86F2-2078-723C-6005DDAF6484}"/>
              </a:ext>
            </a:extLst>
          </p:cNvPr>
          <p:cNvSpPr>
            <a:spLocks noGrp="1"/>
          </p:cNvSpPr>
          <p:nvPr>
            <p:ph sz="quarter" idx="16"/>
          </p:nvPr>
        </p:nvSpPr>
        <p:spPr/>
        <p:txBody>
          <a:bodyPr/>
          <a:lstStyle/>
          <a:p>
            <a:r>
              <a:rPr lang="en-US" dirty="0"/>
              <a:t>3.1.3 Technology parameter </a:t>
            </a:r>
          </a:p>
        </p:txBody>
      </p:sp>
      <p:graphicFrame>
        <p:nvGraphicFramePr>
          <p:cNvPr id="5" name="表 4">
            <a:extLst>
              <a:ext uri="{FF2B5EF4-FFF2-40B4-BE49-F238E27FC236}">
                <a16:creationId xmlns:a16="http://schemas.microsoft.com/office/drawing/2014/main" id="{682B2C5C-1569-1AA9-9CDD-91D7FF025808}"/>
              </a:ext>
            </a:extLst>
          </p:cNvPr>
          <p:cNvGraphicFramePr>
            <a:graphicFrameLocks noGrp="1"/>
          </p:cNvGraphicFramePr>
          <p:nvPr>
            <p:extLst>
              <p:ext uri="{D42A27DB-BD31-4B8C-83A1-F6EECF244321}">
                <p14:modId xmlns:p14="http://schemas.microsoft.com/office/powerpoint/2010/main" val="1282470143"/>
              </p:ext>
            </p:extLst>
          </p:nvPr>
        </p:nvGraphicFramePr>
        <p:xfrm>
          <a:off x="1629350" y="1430991"/>
          <a:ext cx="6783130" cy="3788530"/>
        </p:xfrm>
        <a:graphic>
          <a:graphicData uri="http://schemas.openxmlformats.org/drawingml/2006/table">
            <a:tbl>
              <a:tblPr firstRow="1" bandRow="1">
                <a:tableStyleId>{073A0DAA-6AF3-43AB-8588-CEC1D06C72B9}</a:tableStyleId>
              </a:tblPr>
              <a:tblGrid>
                <a:gridCol w="3064513">
                  <a:extLst>
                    <a:ext uri="{9D8B030D-6E8A-4147-A177-3AD203B41FA5}">
                      <a16:colId xmlns:a16="http://schemas.microsoft.com/office/drawing/2014/main" val="2081844268"/>
                    </a:ext>
                  </a:extLst>
                </a:gridCol>
                <a:gridCol w="3718617">
                  <a:extLst>
                    <a:ext uri="{9D8B030D-6E8A-4147-A177-3AD203B41FA5}">
                      <a16:colId xmlns:a16="http://schemas.microsoft.com/office/drawing/2014/main" val="2099169623"/>
                    </a:ext>
                  </a:extLst>
                </a:gridCol>
              </a:tblGrid>
              <a:tr h="378853">
                <a:tc>
                  <a:txBody>
                    <a:bodyPr/>
                    <a:lstStyle/>
                    <a:p>
                      <a:r>
                        <a:rPr lang="en-US" dirty="0"/>
                        <a:t>Parameter</a:t>
                      </a:r>
                    </a:p>
                  </a:txBody>
                  <a:tcPr/>
                </a:tc>
                <a:tc>
                  <a:txBody>
                    <a:bodyPr/>
                    <a:lstStyle/>
                    <a:p>
                      <a:r>
                        <a:rPr lang="en-US" dirty="0"/>
                        <a:t>Value</a:t>
                      </a:r>
                    </a:p>
                  </a:txBody>
                  <a:tcPr/>
                </a:tc>
                <a:extLst>
                  <a:ext uri="{0D108BD9-81ED-4DB2-BD59-A6C34878D82A}">
                    <a16:rowId xmlns:a16="http://schemas.microsoft.com/office/drawing/2014/main" val="1061694334"/>
                  </a:ext>
                </a:extLst>
              </a:tr>
              <a:tr h="378853">
                <a:tc>
                  <a:txBody>
                    <a:bodyPr/>
                    <a:lstStyle/>
                    <a:p>
                      <a:r>
                        <a:rPr lang="en-US" dirty="0"/>
                        <a:t>Battery charge efficiency [-]</a:t>
                      </a:r>
                    </a:p>
                  </a:txBody>
                  <a:tcPr/>
                </a:tc>
                <a:tc>
                  <a:txBody>
                    <a:bodyPr/>
                    <a:lstStyle/>
                    <a:p>
                      <a:r>
                        <a:rPr lang="en-US" dirty="0"/>
                        <a:t>0.9</a:t>
                      </a:r>
                    </a:p>
                  </a:txBody>
                  <a:tcPr/>
                </a:tc>
                <a:extLst>
                  <a:ext uri="{0D108BD9-81ED-4DB2-BD59-A6C34878D82A}">
                    <a16:rowId xmlns:a16="http://schemas.microsoft.com/office/drawing/2014/main" val="3916366717"/>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Battery discharge efficiency [-]</a:t>
                      </a:r>
                    </a:p>
                  </a:txBody>
                  <a:tcPr/>
                </a:tc>
                <a:tc>
                  <a:txBody>
                    <a:bodyPr/>
                    <a:lstStyle/>
                    <a:p>
                      <a:r>
                        <a:rPr lang="en-US" dirty="0"/>
                        <a:t>0.9</a:t>
                      </a:r>
                    </a:p>
                  </a:txBody>
                  <a:tcPr/>
                </a:tc>
                <a:extLst>
                  <a:ext uri="{0D108BD9-81ED-4DB2-BD59-A6C34878D82A}">
                    <a16:rowId xmlns:a16="http://schemas.microsoft.com/office/drawing/2014/main" val="1247754287"/>
                  </a:ext>
                </a:extLst>
              </a:tr>
              <a:tr h="378853">
                <a:tc>
                  <a:txBody>
                    <a:bodyPr/>
                    <a:lstStyle/>
                    <a:p>
                      <a:r>
                        <a:rPr lang="en-US" dirty="0"/>
                        <a:t>EV battery charge efficiency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0.9</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028647967"/>
                  </a:ext>
                </a:extLst>
              </a:tr>
              <a:tr h="378853">
                <a:tc>
                  <a:txBody>
                    <a:bodyPr/>
                    <a:lstStyle/>
                    <a:p>
                      <a:r>
                        <a:rPr lang="en-US" dirty="0"/>
                        <a:t>EV battery discharge efficiency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0.9</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549589444"/>
                  </a:ext>
                </a:extLst>
              </a:tr>
              <a:tr h="378853">
                <a:tc>
                  <a:txBody>
                    <a:bodyPr/>
                    <a:lstStyle/>
                    <a:p>
                      <a:r>
                        <a:rPr lang="en-US" dirty="0"/>
                        <a:t>EV efficiency [km/kWh]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7</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329001356"/>
                  </a:ext>
                </a:extLst>
              </a:tr>
              <a:tr h="378853">
                <a:tc>
                  <a:txBody>
                    <a:bodyPr/>
                    <a:lstStyle/>
                    <a:p>
                      <a:r>
                        <a:rPr lang="en-US" dirty="0"/>
                        <a:t>Max battery charge speed [kW]</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3.0</a:t>
                      </a:r>
                    </a:p>
                  </a:txBody>
                  <a:tcPr/>
                </a:tc>
                <a:extLst>
                  <a:ext uri="{0D108BD9-81ED-4DB2-BD59-A6C34878D82A}">
                    <a16:rowId xmlns:a16="http://schemas.microsoft.com/office/drawing/2014/main" val="3409587564"/>
                  </a:ext>
                </a:extLst>
              </a:tr>
              <a:tr h="378853">
                <a:tc>
                  <a:txBody>
                    <a:bodyPr/>
                    <a:lstStyle/>
                    <a:p>
                      <a:r>
                        <a:rPr lang="en-US" dirty="0"/>
                        <a:t>Max battery discharge speed [kW]</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3.0</a:t>
                      </a:r>
                    </a:p>
                  </a:txBody>
                  <a:tcPr/>
                </a:tc>
                <a:extLst>
                  <a:ext uri="{0D108BD9-81ED-4DB2-BD59-A6C34878D82A}">
                    <a16:rowId xmlns:a16="http://schemas.microsoft.com/office/drawing/2014/main" val="3750085775"/>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dirty="0"/>
                        <a:t>Max EV charge speed [kW]</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6.0</a:t>
                      </a:r>
                    </a:p>
                  </a:txBody>
                  <a:tcPr/>
                </a:tc>
                <a:extLst>
                  <a:ext uri="{0D108BD9-81ED-4DB2-BD59-A6C34878D82A}">
                    <a16:rowId xmlns:a16="http://schemas.microsoft.com/office/drawing/2014/main" val="2995265036"/>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dirty="0"/>
                        <a:t>Max EV discharge speed [kW]</a:t>
                      </a:r>
                    </a:p>
                  </a:txBody>
                  <a:tcPr/>
                </a:tc>
                <a:tc>
                  <a:txBody>
                    <a:bodyPr/>
                    <a:lstStyle/>
                    <a:p>
                      <a:r>
                        <a:rPr lang="en-US" altLang="ja-JP" sz="1350" b="0" kern="1200" dirty="0">
                          <a:solidFill>
                            <a:schemeClr val="dk1"/>
                          </a:solidFill>
                          <a:effectLst/>
                          <a:latin typeface="+mn-lt"/>
                          <a:ea typeface="+mn-ea"/>
                          <a:cs typeface="+mn-cs"/>
                        </a:rPr>
                        <a:t>3.0</a:t>
                      </a:r>
                    </a:p>
                  </a:txBody>
                  <a:tcPr/>
                </a:tc>
                <a:extLst>
                  <a:ext uri="{0D108BD9-81ED-4DB2-BD59-A6C34878D82A}">
                    <a16:rowId xmlns:a16="http://schemas.microsoft.com/office/drawing/2014/main" val="2956947660"/>
                  </a:ext>
                </a:extLst>
              </a:tr>
            </a:tbl>
          </a:graphicData>
        </a:graphic>
      </p:graphicFrame>
    </p:spTree>
    <p:extLst>
      <p:ext uri="{BB962C8B-B14F-4D97-AF65-F5344CB8AC3E}">
        <p14:creationId xmlns:p14="http://schemas.microsoft.com/office/powerpoint/2010/main" val="7896054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t>3.2 Step 2: </a:t>
            </a:r>
            <a:r>
              <a:rPr lang="en-US" altLang="ja-JP" sz="1200" dirty="0"/>
              <a:t>Model construction </a:t>
            </a:r>
            <a:r>
              <a:rPr kumimoji="1" lang="en-US" altLang="ja-JP" sz="1200" dirty="0"/>
              <a:t>	</a:t>
            </a:r>
          </a:p>
          <a:p>
            <a:r>
              <a:rPr kumimoji="1" lang="en-US" altLang="ja-JP" sz="1200" dirty="0"/>
              <a:t>       3.2.1 Generate agent</a:t>
            </a:r>
          </a:p>
          <a:p>
            <a:r>
              <a:rPr kumimoji="1" lang="en-US" altLang="ja-JP" sz="1200" dirty="0"/>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3512536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BBC13BC-9FBD-E7C0-BA6A-9D362FED3A59}"/>
              </a:ext>
            </a:extLst>
          </p:cNvPr>
          <p:cNvSpPr>
            <a:spLocks noGrp="1"/>
          </p:cNvSpPr>
          <p:nvPr>
            <p:ph sz="quarter" idx="16"/>
          </p:nvPr>
        </p:nvSpPr>
        <p:spPr/>
        <p:txBody>
          <a:bodyPr/>
          <a:lstStyle/>
          <a:p>
            <a:r>
              <a:rPr lang="en-US" dirty="0"/>
              <a:t>3.2.1 Generate prosumer (agent)</a:t>
            </a:r>
          </a:p>
        </p:txBody>
      </p:sp>
      <p:graphicFrame>
        <p:nvGraphicFramePr>
          <p:cNvPr id="2" name="表 1">
            <a:extLst>
              <a:ext uri="{FF2B5EF4-FFF2-40B4-BE49-F238E27FC236}">
                <a16:creationId xmlns:a16="http://schemas.microsoft.com/office/drawing/2014/main" id="{8EC546BE-F62D-AB77-C2EF-5712B26746A9}"/>
              </a:ext>
            </a:extLst>
          </p:cNvPr>
          <p:cNvGraphicFramePr>
            <a:graphicFrameLocks noGrp="1"/>
          </p:cNvGraphicFramePr>
          <p:nvPr>
            <p:extLst>
              <p:ext uri="{D42A27DB-BD31-4B8C-83A1-F6EECF244321}">
                <p14:modId xmlns:p14="http://schemas.microsoft.com/office/powerpoint/2010/main" val="2471044333"/>
              </p:ext>
            </p:extLst>
          </p:nvPr>
        </p:nvGraphicFramePr>
        <p:xfrm>
          <a:off x="123825" y="804607"/>
          <a:ext cx="6647299" cy="5303942"/>
        </p:xfrm>
        <a:graphic>
          <a:graphicData uri="http://schemas.openxmlformats.org/drawingml/2006/table">
            <a:tbl>
              <a:tblPr firstRow="1" bandRow="1">
                <a:tableStyleId>{073A0DAA-6AF3-43AB-8588-CEC1D06C72B9}</a:tableStyleId>
              </a:tblPr>
              <a:tblGrid>
                <a:gridCol w="3003147">
                  <a:extLst>
                    <a:ext uri="{9D8B030D-6E8A-4147-A177-3AD203B41FA5}">
                      <a16:colId xmlns:a16="http://schemas.microsoft.com/office/drawing/2014/main" val="2081844268"/>
                    </a:ext>
                  </a:extLst>
                </a:gridCol>
                <a:gridCol w="3644152">
                  <a:extLst>
                    <a:ext uri="{9D8B030D-6E8A-4147-A177-3AD203B41FA5}">
                      <a16:colId xmlns:a16="http://schemas.microsoft.com/office/drawing/2014/main" val="2099169623"/>
                    </a:ext>
                  </a:extLst>
                </a:gridCol>
              </a:tblGrid>
              <a:tr h="378853">
                <a:tc>
                  <a:txBody>
                    <a:bodyPr/>
                    <a:lstStyle/>
                    <a:p>
                      <a:r>
                        <a:rPr lang="en-US" dirty="0"/>
                        <a:t>Parameter</a:t>
                      </a:r>
                    </a:p>
                  </a:txBody>
                  <a:tcPr/>
                </a:tc>
                <a:tc>
                  <a:txBody>
                    <a:bodyPr/>
                    <a:lstStyle/>
                    <a:p>
                      <a:r>
                        <a:rPr lang="en-US" dirty="0"/>
                        <a:t>Value</a:t>
                      </a:r>
                    </a:p>
                  </a:txBody>
                  <a:tcPr/>
                </a:tc>
                <a:extLst>
                  <a:ext uri="{0D108BD9-81ED-4DB2-BD59-A6C34878D82A}">
                    <a16:rowId xmlns:a16="http://schemas.microsoft.com/office/drawing/2014/main" val="1061694334"/>
                  </a:ext>
                </a:extLst>
              </a:tr>
              <a:tr h="378853">
                <a:tc>
                  <a:txBody>
                    <a:bodyPr/>
                    <a:lstStyle/>
                    <a:p>
                      <a:r>
                        <a:rPr lang="en-US" dirty="0"/>
                        <a:t>Demand Response (DR)</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True, False</a:t>
                      </a:r>
                    </a:p>
                  </a:txBody>
                  <a:tcPr/>
                </a:tc>
                <a:extLst>
                  <a:ext uri="{0D108BD9-81ED-4DB2-BD59-A6C34878D82A}">
                    <a16:rowId xmlns:a16="http://schemas.microsoft.com/office/drawing/2014/main" val="2502884538"/>
                  </a:ext>
                </a:extLst>
              </a:tr>
              <a:tr h="378853">
                <a:tc>
                  <a:txBody>
                    <a:bodyPr/>
                    <a:lstStyle/>
                    <a:p>
                      <a:r>
                        <a:rPr lang="en-US" dirty="0"/>
                        <a:t>DR shift limit [h]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6.0, 12.0, 18.0, or 24.0</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84519250"/>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dirty="0"/>
                        <a:t>Elastic ratio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b="0" kern="1200" dirty="0">
                          <a:solidFill>
                            <a:schemeClr val="dk1"/>
                          </a:solidFill>
                          <a:effectLst/>
                          <a:latin typeface="+mn-lt"/>
                          <a:ea typeface="+mn-ea"/>
                          <a:cs typeface="+mn-cs"/>
                        </a:rPr>
                        <a:t>off-peak: 0.5, mid-peak: 0.3, on-peak: 0.1※</a:t>
                      </a:r>
                    </a:p>
                  </a:txBody>
                  <a:tcPr/>
                </a:tc>
                <a:extLst>
                  <a:ext uri="{0D108BD9-81ED-4DB2-BD59-A6C34878D82A}">
                    <a16:rowId xmlns:a16="http://schemas.microsoft.com/office/drawing/2014/main" val="3281549562"/>
                  </a:ext>
                </a:extLst>
              </a:tr>
              <a:tr h="378853">
                <a:tc>
                  <a:txBody>
                    <a:bodyPr/>
                    <a:lstStyle/>
                    <a:p>
                      <a:r>
                        <a:rPr lang="en-US" dirty="0"/>
                        <a:t>Battery capacity [kWh]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 or 13.5</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220848720"/>
                  </a:ext>
                </a:extLst>
              </a:tr>
              <a:tr h="378853">
                <a:tc>
                  <a:txBody>
                    <a:bodyPr/>
                    <a:lstStyle/>
                    <a:p>
                      <a:r>
                        <a:rPr lang="en-US" dirty="0"/>
                        <a:t>EV battery capacity [kWh]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 or 40</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161999932"/>
                  </a:ext>
                </a:extLst>
              </a:tr>
              <a:tr h="378853">
                <a:tc>
                  <a:txBody>
                    <a:bodyPr/>
                    <a:lstStyle/>
                    <a:p>
                      <a:r>
                        <a:rPr lang="en-US" dirty="0"/>
                        <a:t>PV install capacity [kW]</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0 or 5</a:t>
                      </a:r>
                    </a:p>
                  </a:txBody>
                  <a:tcPr/>
                </a:tc>
                <a:extLst>
                  <a:ext uri="{0D108BD9-81ED-4DB2-BD59-A6C34878D82A}">
                    <a16:rowId xmlns:a16="http://schemas.microsoft.com/office/drawing/2014/main" val="2940053055"/>
                  </a:ext>
                </a:extLst>
              </a:tr>
              <a:tr h="37885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dirty="0"/>
                        <a:t>Car speed [km/h]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30</a:t>
                      </a:r>
                    </a:p>
                  </a:txBody>
                  <a:tcPr/>
                </a:tc>
                <a:extLst>
                  <a:ext uri="{0D108BD9-81ED-4DB2-BD59-A6C34878D82A}">
                    <a16:rowId xmlns:a16="http://schemas.microsoft.com/office/drawing/2014/main" val="3914295053"/>
                  </a:ext>
                </a:extLst>
              </a:tr>
              <a:tr h="378853">
                <a:tc>
                  <a:txBody>
                    <a:bodyPr/>
                    <a:lstStyle/>
                    <a:p>
                      <a:r>
                        <a:rPr lang="en-US" dirty="0"/>
                        <a:t>Alpha</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1, 1.5, 2, 2.5, 3, 3.5, or 4</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477692932"/>
                  </a:ext>
                </a:extLst>
              </a:tr>
              <a:tr h="378853">
                <a:tc>
                  <a:txBody>
                    <a:bodyPr/>
                    <a:lstStyle/>
                    <a:p>
                      <a:r>
                        <a:rPr lang="en-US" dirty="0"/>
                        <a:t>Beta </a:t>
                      </a:r>
                    </a:p>
                  </a:txBody>
                  <a:tcPr/>
                </a:tc>
                <a:tc>
                  <a:txBody>
                    <a:bodyPr/>
                    <a:lstStyle/>
                    <a:p>
                      <a:r>
                        <a:rPr lang="en-US" dirty="0"/>
                        <a:t>1, 1.5, or 2</a:t>
                      </a:r>
                    </a:p>
                  </a:txBody>
                  <a:tcPr/>
                </a:tc>
                <a:extLst>
                  <a:ext uri="{0D108BD9-81ED-4DB2-BD59-A6C34878D82A}">
                    <a16:rowId xmlns:a16="http://schemas.microsoft.com/office/drawing/2014/main" val="782122007"/>
                  </a:ext>
                </a:extLst>
              </a:tr>
              <a:tr h="378853">
                <a:tc>
                  <a:txBody>
                    <a:bodyPr/>
                    <a:lstStyle/>
                    <a:p>
                      <a:r>
                        <a:rPr lang="en-US" dirty="0"/>
                        <a:t>Gamma</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1, 1.5, 2, 2.5, 3, 3.5, or 4</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54557495"/>
                  </a:ext>
                </a:extLst>
              </a:tr>
              <a:tr h="378853">
                <a:tc>
                  <a:txBody>
                    <a:bodyPr/>
                    <a:lstStyle/>
                    <a:p>
                      <a:r>
                        <a:rPr lang="en-US" dirty="0"/>
                        <a:t>Epsilon</a:t>
                      </a:r>
                    </a:p>
                  </a:txBody>
                  <a:tcPr/>
                </a:tc>
                <a:tc>
                  <a:txBody>
                    <a:bodyPr/>
                    <a:lstStyle/>
                    <a:p>
                      <a:r>
                        <a:rPr lang="en-US" dirty="0"/>
                        <a:t>1</a:t>
                      </a:r>
                      <a:r>
                        <a:rPr lang="en-US" altLang="ja-JP" dirty="0"/>
                        <a:t>, 1.5, or 2</a:t>
                      </a:r>
                      <a:endParaRPr lang="en-US" dirty="0"/>
                    </a:p>
                  </a:txBody>
                  <a:tcPr/>
                </a:tc>
                <a:extLst>
                  <a:ext uri="{0D108BD9-81ED-4DB2-BD59-A6C34878D82A}">
                    <a16:rowId xmlns:a16="http://schemas.microsoft.com/office/drawing/2014/main" val="562707049"/>
                  </a:ext>
                </a:extLst>
              </a:tr>
              <a:tr h="378853">
                <a:tc>
                  <a:txBody>
                    <a:bodyPr/>
                    <a:lstStyle/>
                    <a:p>
                      <a:r>
                        <a:rPr lang="en-US" dirty="0"/>
                        <a:t>Psi</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1, 1.5, 2, 2.5, 3, 3.5, or 4</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380039872"/>
                  </a:ext>
                </a:extLst>
              </a:tr>
              <a:tr h="378853">
                <a:tc>
                  <a:txBody>
                    <a:bodyPr/>
                    <a:lstStyle/>
                    <a:p>
                      <a:r>
                        <a:rPr lang="en-US" dirty="0"/>
                        <a:t>Omega</a:t>
                      </a:r>
                    </a:p>
                  </a:txBody>
                  <a:tcPr/>
                </a:tc>
                <a:tc>
                  <a:txBody>
                    <a:bodyPr/>
                    <a:lstStyle/>
                    <a:p>
                      <a:r>
                        <a:rPr lang="en-US" dirty="0"/>
                        <a:t>1</a:t>
                      </a:r>
                      <a:r>
                        <a:rPr lang="en-US" altLang="ja-JP" dirty="0"/>
                        <a:t>, 1.5, or 2</a:t>
                      </a:r>
                      <a:endParaRPr lang="en-US" dirty="0"/>
                    </a:p>
                  </a:txBody>
                  <a:tcPr/>
                </a:tc>
                <a:extLst>
                  <a:ext uri="{0D108BD9-81ED-4DB2-BD59-A6C34878D82A}">
                    <a16:rowId xmlns:a16="http://schemas.microsoft.com/office/drawing/2014/main" val="3916063151"/>
                  </a:ext>
                </a:extLst>
              </a:tr>
            </a:tbl>
          </a:graphicData>
        </a:graphic>
      </p:graphicFrame>
      <p:sp>
        <p:nvSpPr>
          <p:cNvPr id="84" name="テキスト ボックス 83">
            <a:extLst>
              <a:ext uri="{FF2B5EF4-FFF2-40B4-BE49-F238E27FC236}">
                <a16:creationId xmlns:a16="http://schemas.microsoft.com/office/drawing/2014/main" id="{84F1F0F1-5EFD-FE31-50F2-14774AF6719D}"/>
              </a:ext>
            </a:extLst>
          </p:cNvPr>
          <p:cNvSpPr txBox="1"/>
          <p:nvPr/>
        </p:nvSpPr>
        <p:spPr>
          <a:xfrm>
            <a:off x="3075517" y="6183309"/>
            <a:ext cx="4889663" cy="276999"/>
          </a:xfrm>
          <a:prstGeom prst="rect">
            <a:avLst/>
          </a:prstGeom>
          <a:noFill/>
        </p:spPr>
        <p:txBody>
          <a:bodyPr wrap="square" rtlCol="0">
            <a:spAutoFit/>
          </a:bodyPr>
          <a:lstStyle/>
          <a:p>
            <a:r>
              <a:rPr lang="en-US" altLang="ja-JP" sz="1200" dirty="0"/>
              <a:t>※22PM-6AM: off-peak, 7AM-16PM: mid-peak, 17PM-21PM: on-peak</a:t>
            </a:r>
          </a:p>
        </p:txBody>
      </p:sp>
      <p:sp>
        <p:nvSpPr>
          <p:cNvPr id="85" name="テキスト ボックス 84">
            <a:extLst>
              <a:ext uri="{FF2B5EF4-FFF2-40B4-BE49-F238E27FC236}">
                <a16:creationId xmlns:a16="http://schemas.microsoft.com/office/drawing/2014/main" id="{000205A6-52AE-5199-16D3-A930621B4E95}"/>
              </a:ext>
            </a:extLst>
          </p:cNvPr>
          <p:cNvSpPr txBox="1"/>
          <p:nvPr/>
        </p:nvSpPr>
        <p:spPr>
          <a:xfrm>
            <a:off x="6794103" y="1675824"/>
            <a:ext cx="3048000" cy="1169551"/>
          </a:xfrm>
          <a:prstGeom prst="rect">
            <a:avLst/>
          </a:prstGeom>
          <a:noFill/>
        </p:spPr>
        <p:txBody>
          <a:bodyPr wrap="square" rtlCol="0">
            <a:spAutoFit/>
          </a:bodyPr>
          <a:lstStyle/>
          <a:p>
            <a:r>
              <a:rPr lang="en-US" altLang="ja-JP" sz="1400" dirty="0"/>
              <a:t>Demand, PV Supply, Car usage data are randomly chosen for each agent.</a:t>
            </a:r>
          </a:p>
          <a:p>
            <a:endParaRPr lang="en-US" altLang="ja-JP" sz="1400" dirty="0"/>
          </a:p>
          <a:p>
            <a:r>
              <a:rPr lang="en-US" altLang="ja-JP" sz="1400" dirty="0"/>
              <a:t>Other parameters for each agent are showed in the table</a:t>
            </a:r>
          </a:p>
        </p:txBody>
      </p:sp>
      <p:sp>
        <p:nvSpPr>
          <p:cNvPr id="88" name="円弧 87">
            <a:extLst>
              <a:ext uri="{FF2B5EF4-FFF2-40B4-BE49-F238E27FC236}">
                <a16:creationId xmlns:a16="http://schemas.microsoft.com/office/drawing/2014/main" id="{ECC75F2C-246E-3C3E-EC73-861B77BC11AC}"/>
              </a:ext>
            </a:extLst>
          </p:cNvPr>
          <p:cNvSpPr/>
          <p:nvPr/>
        </p:nvSpPr>
        <p:spPr>
          <a:xfrm rot="3284018">
            <a:off x="3960482" y="3568990"/>
            <a:ext cx="3212941" cy="3136571"/>
          </a:xfrm>
          <a:prstGeom prst="arc">
            <a:avLst>
              <a:gd name="adj1" fmla="val 16200000"/>
              <a:gd name="adj2" fmla="val 20513151"/>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9" name="テキスト ボックス 88">
            <a:extLst>
              <a:ext uri="{FF2B5EF4-FFF2-40B4-BE49-F238E27FC236}">
                <a16:creationId xmlns:a16="http://schemas.microsoft.com/office/drawing/2014/main" id="{D1D3ED61-85A2-6379-EECA-FD05F9538BD6}"/>
              </a:ext>
            </a:extLst>
          </p:cNvPr>
          <p:cNvSpPr txBox="1"/>
          <p:nvPr/>
        </p:nvSpPr>
        <p:spPr>
          <a:xfrm>
            <a:off x="7168753" y="4992808"/>
            <a:ext cx="2613422" cy="307777"/>
          </a:xfrm>
          <a:prstGeom prst="rect">
            <a:avLst/>
          </a:prstGeom>
          <a:noFill/>
        </p:spPr>
        <p:txBody>
          <a:bodyPr wrap="square" rtlCol="0">
            <a:spAutoFit/>
          </a:bodyPr>
          <a:lstStyle/>
          <a:p>
            <a:r>
              <a:rPr lang="en-US" altLang="ja-JP" sz="1400" dirty="0"/>
              <a:t>Described in 3.3.2 reward</a:t>
            </a:r>
          </a:p>
        </p:txBody>
      </p:sp>
    </p:spTree>
    <p:extLst>
      <p:ext uri="{BB962C8B-B14F-4D97-AF65-F5344CB8AC3E}">
        <p14:creationId xmlns:p14="http://schemas.microsoft.com/office/powerpoint/2010/main" val="3621730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BBC13BC-9FBD-E7C0-BA6A-9D362FED3A59}"/>
              </a:ext>
            </a:extLst>
          </p:cNvPr>
          <p:cNvSpPr>
            <a:spLocks noGrp="1"/>
          </p:cNvSpPr>
          <p:nvPr>
            <p:ph sz="quarter" idx="16"/>
          </p:nvPr>
        </p:nvSpPr>
        <p:spPr/>
        <p:txBody>
          <a:bodyPr/>
          <a:lstStyle/>
          <a:p>
            <a:r>
              <a:rPr lang="en-US" dirty="0"/>
              <a:t>3.2.2 Design P2P energy trading model</a:t>
            </a:r>
          </a:p>
        </p:txBody>
      </p:sp>
      <p:grpSp>
        <p:nvGrpSpPr>
          <p:cNvPr id="4" name="グループ化 3">
            <a:extLst>
              <a:ext uri="{FF2B5EF4-FFF2-40B4-BE49-F238E27FC236}">
                <a16:creationId xmlns:a16="http://schemas.microsoft.com/office/drawing/2014/main" id="{BC6B52DD-52C6-0CE2-5C15-E568C7FB271B}"/>
              </a:ext>
            </a:extLst>
          </p:cNvPr>
          <p:cNvGrpSpPr/>
          <p:nvPr/>
        </p:nvGrpSpPr>
        <p:grpSpPr>
          <a:xfrm>
            <a:off x="443909" y="1039347"/>
            <a:ext cx="9018182" cy="5236494"/>
            <a:chOff x="237469" y="930235"/>
            <a:chExt cx="9535917" cy="5834166"/>
          </a:xfrm>
        </p:grpSpPr>
        <p:grpSp>
          <p:nvGrpSpPr>
            <p:cNvPr id="5" name="グループ化 4">
              <a:extLst>
                <a:ext uri="{FF2B5EF4-FFF2-40B4-BE49-F238E27FC236}">
                  <a16:creationId xmlns:a16="http://schemas.microsoft.com/office/drawing/2014/main" id="{9B1891B1-7BC8-FCDB-9238-AE6D98B35AD4}"/>
                </a:ext>
              </a:extLst>
            </p:cNvPr>
            <p:cNvGrpSpPr/>
            <p:nvPr/>
          </p:nvGrpSpPr>
          <p:grpSpPr>
            <a:xfrm>
              <a:off x="4207819" y="1096495"/>
              <a:ext cx="5186760" cy="5501657"/>
              <a:chOff x="3511139" y="1262743"/>
              <a:chExt cx="5186760" cy="5501657"/>
            </a:xfrm>
          </p:grpSpPr>
          <p:grpSp>
            <p:nvGrpSpPr>
              <p:cNvPr id="13" name="グループ化 12">
                <a:extLst>
                  <a:ext uri="{FF2B5EF4-FFF2-40B4-BE49-F238E27FC236}">
                    <a16:creationId xmlns:a16="http://schemas.microsoft.com/office/drawing/2014/main" id="{ED4C03A0-7AE8-3F22-6EA9-359396062D76}"/>
                  </a:ext>
                </a:extLst>
              </p:cNvPr>
              <p:cNvGrpSpPr/>
              <p:nvPr/>
            </p:nvGrpSpPr>
            <p:grpSpPr>
              <a:xfrm>
                <a:off x="3511139" y="1262743"/>
                <a:ext cx="5186760" cy="5501657"/>
                <a:chOff x="3400045" y="817493"/>
                <a:chExt cx="5297853" cy="5946908"/>
              </a:xfrm>
            </p:grpSpPr>
            <p:pic>
              <p:nvPicPr>
                <p:cNvPr id="30" name="図 29" descr="グラフ&#10;&#10;自動的に生成された説明">
                  <a:extLst>
                    <a:ext uri="{FF2B5EF4-FFF2-40B4-BE49-F238E27FC236}">
                      <a16:creationId xmlns:a16="http://schemas.microsoft.com/office/drawing/2014/main" id="{7A61B408-0415-C15B-C20F-4375CEFD90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1260" y="2886516"/>
                  <a:ext cx="2431732" cy="1823799"/>
                </a:xfrm>
                <a:prstGeom prst="rect">
                  <a:avLst/>
                </a:prstGeom>
              </p:spPr>
            </p:pic>
            <p:grpSp>
              <p:nvGrpSpPr>
                <p:cNvPr id="31" name="グループ化 30">
                  <a:extLst>
                    <a:ext uri="{FF2B5EF4-FFF2-40B4-BE49-F238E27FC236}">
                      <a16:creationId xmlns:a16="http://schemas.microsoft.com/office/drawing/2014/main" id="{1171532A-BB97-56AC-AE1A-D7C22A8848B6}"/>
                    </a:ext>
                  </a:extLst>
                </p:cNvPr>
                <p:cNvGrpSpPr/>
                <p:nvPr/>
              </p:nvGrpSpPr>
              <p:grpSpPr>
                <a:xfrm>
                  <a:off x="3400045" y="4734467"/>
                  <a:ext cx="2606904" cy="2029934"/>
                  <a:chOff x="358879" y="4079106"/>
                  <a:chExt cx="2835582" cy="2503781"/>
                </a:xfrm>
              </p:grpSpPr>
              <p:pic>
                <p:nvPicPr>
                  <p:cNvPr id="73" name="グラフィックス 72" descr="ホーム 枠線">
                    <a:extLst>
                      <a:ext uri="{FF2B5EF4-FFF2-40B4-BE49-F238E27FC236}">
                        <a16:creationId xmlns:a16="http://schemas.microsoft.com/office/drawing/2014/main" id="{1FE372E7-FE1F-88DC-3A6D-00FCD1EF6B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53045" y="4954988"/>
                    <a:ext cx="1023256" cy="1023256"/>
                  </a:xfrm>
                  <a:prstGeom prst="rect">
                    <a:avLst/>
                  </a:prstGeom>
                </p:spPr>
              </p:pic>
              <p:pic>
                <p:nvPicPr>
                  <p:cNvPr id="74" name="グラフィックス 73" descr="電池を充電中 単色塗りつぶし">
                    <a:extLst>
                      <a:ext uri="{FF2B5EF4-FFF2-40B4-BE49-F238E27FC236}">
                        <a16:creationId xmlns:a16="http://schemas.microsoft.com/office/drawing/2014/main" id="{321B5240-327A-40DC-5A90-AB9A6388436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1299" y="5807047"/>
                    <a:ext cx="566056" cy="566056"/>
                  </a:xfrm>
                  <a:prstGeom prst="rect">
                    <a:avLst/>
                  </a:prstGeom>
                </p:spPr>
              </p:pic>
              <p:pic>
                <p:nvPicPr>
                  <p:cNvPr id="75" name="グラフィックス 74" descr="ランプ 単色塗りつぶし">
                    <a:extLst>
                      <a:ext uri="{FF2B5EF4-FFF2-40B4-BE49-F238E27FC236}">
                        <a16:creationId xmlns:a16="http://schemas.microsoft.com/office/drawing/2014/main" id="{19D414B7-DE68-CF98-3F23-EE6062FFC05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32561" y="4847118"/>
                    <a:ext cx="566056" cy="566056"/>
                  </a:xfrm>
                  <a:prstGeom prst="rect">
                    <a:avLst/>
                  </a:prstGeom>
                </p:spPr>
              </p:pic>
              <p:grpSp>
                <p:nvGrpSpPr>
                  <p:cNvPr id="76" name="グループ化 75">
                    <a:extLst>
                      <a:ext uri="{FF2B5EF4-FFF2-40B4-BE49-F238E27FC236}">
                        <a16:creationId xmlns:a16="http://schemas.microsoft.com/office/drawing/2014/main" id="{E7988ACD-E572-4888-B393-220E7C9B1A04}"/>
                      </a:ext>
                    </a:extLst>
                  </p:cNvPr>
                  <p:cNvGrpSpPr/>
                  <p:nvPr/>
                </p:nvGrpSpPr>
                <p:grpSpPr>
                  <a:xfrm>
                    <a:off x="2146218" y="4278087"/>
                    <a:ext cx="912915" cy="852059"/>
                    <a:chOff x="1819894" y="4173191"/>
                    <a:chExt cx="914400" cy="914400"/>
                  </a:xfrm>
                </p:grpSpPr>
                <p:pic>
                  <p:nvPicPr>
                    <p:cNvPr id="82" name="グラフィックス 81" descr="ソーラー パネル 単色塗りつぶし">
                      <a:extLst>
                        <a:ext uri="{FF2B5EF4-FFF2-40B4-BE49-F238E27FC236}">
                          <a16:creationId xmlns:a16="http://schemas.microsoft.com/office/drawing/2014/main" id="{0A2C30A0-6B4E-4173-113E-ED1C2D015242}"/>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19894" y="4173191"/>
                      <a:ext cx="914400" cy="914400"/>
                    </a:xfrm>
                    <a:prstGeom prst="rect">
                      <a:avLst/>
                    </a:prstGeom>
                  </p:spPr>
                </p:pic>
                <p:pic>
                  <p:nvPicPr>
                    <p:cNvPr id="83" name="Picture 4" descr="真っ白な壁紙イラストのフリー素材｜イラストイメージ">
                      <a:extLst>
                        <a:ext uri="{FF2B5EF4-FFF2-40B4-BE49-F238E27FC236}">
                          <a16:creationId xmlns:a16="http://schemas.microsoft.com/office/drawing/2014/main" id="{7103100D-5B63-6F2F-D3C6-1280E9631C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7810" y="4216730"/>
                      <a:ext cx="281052" cy="268187"/>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77" name="テキスト ボックス 76">
                    <a:extLst>
                      <a:ext uri="{FF2B5EF4-FFF2-40B4-BE49-F238E27FC236}">
                        <a16:creationId xmlns:a16="http://schemas.microsoft.com/office/drawing/2014/main" id="{A58D2E13-568B-7F81-79D8-529D1079D613}"/>
                      </a:ext>
                    </a:extLst>
                  </p:cNvPr>
                  <p:cNvSpPr txBox="1"/>
                  <p:nvPr/>
                </p:nvSpPr>
                <p:spPr>
                  <a:xfrm>
                    <a:off x="374763" y="5003188"/>
                    <a:ext cx="960519" cy="253916"/>
                  </a:xfrm>
                  <a:prstGeom prst="rect">
                    <a:avLst/>
                  </a:prstGeom>
                  <a:noFill/>
                </p:spPr>
                <p:txBody>
                  <a:bodyPr wrap="none" rtlCol="0">
                    <a:spAutoFit/>
                  </a:bodyPr>
                  <a:lstStyle/>
                  <a:p>
                    <a:r>
                      <a:rPr lang="en-US" sz="1050" dirty="0"/>
                      <a:t>Inelastic load</a:t>
                    </a:r>
                  </a:p>
                </p:txBody>
              </p:sp>
              <p:sp>
                <p:nvSpPr>
                  <p:cNvPr id="78" name="テキスト ボックス 77">
                    <a:extLst>
                      <a:ext uri="{FF2B5EF4-FFF2-40B4-BE49-F238E27FC236}">
                        <a16:creationId xmlns:a16="http://schemas.microsoft.com/office/drawing/2014/main" id="{91B90F30-2CD3-4F01-1D1E-235085AAD713}"/>
                      </a:ext>
                    </a:extLst>
                  </p:cNvPr>
                  <p:cNvSpPr txBox="1"/>
                  <p:nvPr/>
                </p:nvSpPr>
                <p:spPr>
                  <a:xfrm>
                    <a:off x="1744305" y="6245159"/>
                    <a:ext cx="603050" cy="253916"/>
                  </a:xfrm>
                  <a:prstGeom prst="rect">
                    <a:avLst/>
                  </a:prstGeom>
                  <a:noFill/>
                </p:spPr>
                <p:txBody>
                  <a:bodyPr wrap="none" rtlCol="0">
                    <a:spAutoFit/>
                  </a:bodyPr>
                  <a:lstStyle/>
                  <a:p>
                    <a:r>
                      <a:rPr lang="en-US" sz="1050" dirty="0"/>
                      <a:t>Battery</a:t>
                    </a:r>
                  </a:p>
                </p:txBody>
              </p:sp>
              <p:sp>
                <p:nvSpPr>
                  <p:cNvPr id="79" name="テキスト ボックス 78">
                    <a:extLst>
                      <a:ext uri="{FF2B5EF4-FFF2-40B4-BE49-F238E27FC236}">
                        <a16:creationId xmlns:a16="http://schemas.microsoft.com/office/drawing/2014/main" id="{D0492AD4-9EAE-5ECA-79D1-0FF28A331C9B}"/>
                      </a:ext>
                    </a:extLst>
                  </p:cNvPr>
                  <p:cNvSpPr txBox="1"/>
                  <p:nvPr/>
                </p:nvSpPr>
                <p:spPr>
                  <a:xfrm>
                    <a:off x="2091354" y="4412038"/>
                    <a:ext cx="343364" cy="253917"/>
                  </a:xfrm>
                  <a:prstGeom prst="rect">
                    <a:avLst/>
                  </a:prstGeom>
                  <a:noFill/>
                </p:spPr>
                <p:txBody>
                  <a:bodyPr wrap="none" rtlCol="0">
                    <a:spAutoFit/>
                  </a:bodyPr>
                  <a:lstStyle/>
                  <a:p>
                    <a:r>
                      <a:rPr lang="en-US" sz="1050" dirty="0"/>
                      <a:t>PV</a:t>
                    </a:r>
                  </a:p>
                </p:txBody>
              </p:sp>
              <p:sp>
                <p:nvSpPr>
                  <p:cNvPr id="80" name="テキスト ボックス 79">
                    <a:extLst>
                      <a:ext uri="{FF2B5EF4-FFF2-40B4-BE49-F238E27FC236}">
                        <a16:creationId xmlns:a16="http://schemas.microsoft.com/office/drawing/2014/main" id="{FC602629-6F62-C31B-3F48-3EBA25B60488}"/>
                      </a:ext>
                    </a:extLst>
                  </p:cNvPr>
                  <p:cNvSpPr txBox="1"/>
                  <p:nvPr/>
                </p:nvSpPr>
                <p:spPr>
                  <a:xfrm>
                    <a:off x="488976" y="4145468"/>
                    <a:ext cx="1299345" cy="379621"/>
                  </a:xfrm>
                  <a:prstGeom prst="rect">
                    <a:avLst/>
                  </a:prstGeom>
                  <a:noFill/>
                </p:spPr>
                <p:txBody>
                  <a:bodyPr wrap="none" rtlCol="0">
                    <a:spAutoFit/>
                  </a:bodyPr>
                  <a:lstStyle/>
                  <a:p>
                    <a:r>
                      <a:rPr lang="en-US" sz="1400" dirty="0"/>
                      <a:t>Prosumer #3</a:t>
                    </a:r>
                  </a:p>
                </p:txBody>
              </p:sp>
              <p:sp>
                <p:nvSpPr>
                  <p:cNvPr id="81" name="四角形: 角を丸くする 80">
                    <a:extLst>
                      <a:ext uri="{FF2B5EF4-FFF2-40B4-BE49-F238E27FC236}">
                        <a16:creationId xmlns:a16="http://schemas.microsoft.com/office/drawing/2014/main" id="{BE909F0B-3504-C1CD-D862-FE75D977CE84}"/>
                      </a:ext>
                    </a:extLst>
                  </p:cNvPr>
                  <p:cNvSpPr/>
                  <p:nvPr/>
                </p:nvSpPr>
                <p:spPr>
                  <a:xfrm>
                    <a:off x="358879" y="4079106"/>
                    <a:ext cx="2835582" cy="250378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グループ化 31">
                  <a:extLst>
                    <a:ext uri="{FF2B5EF4-FFF2-40B4-BE49-F238E27FC236}">
                      <a16:creationId xmlns:a16="http://schemas.microsoft.com/office/drawing/2014/main" id="{4F2E4B93-FA58-D856-FF3E-34FED7EB2388}"/>
                    </a:ext>
                  </a:extLst>
                </p:cNvPr>
                <p:cNvGrpSpPr/>
                <p:nvPr/>
              </p:nvGrpSpPr>
              <p:grpSpPr>
                <a:xfrm>
                  <a:off x="6090993" y="4734467"/>
                  <a:ext cx="2606905" cy="2029934"/>
                  <a:chOff x="358879" y="4079106"/>
                  <a:chExt cx="2835582" cy="2503781"/>
                </a:xfrm>
              </p:grpSpPr>
              <p:pic>
                <p:nvPicPr>
                  <p:cNvPr id="63" name="グラフィックス 62" descr="ホーム 枠線">
                    <a:extLst>
                      <a:ext uri="{FF2B5EF4-FFF2-40B4-BE49-F238E27FC236}">
                        <a16:creationId xmlns:a16="http://schemas.microsoft.com/office/drawing/2014/main" id="{AB926459-A97F-7492-7F15-C6DBF7332C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53045" y="4954988"/>
                    <a:ext cx="1023256" cy="1023256"/>
                  </a:xfrm>
                  <a:prstGeom prst="rect">
                    <a:avLst/>
                  </a:prstGeom>
                </p:spPr>
              </p:pic>
              <p:pic>
                <p:nvPicPr>
                  <p:cNvPr id="64" name="グラフィックス 63" descr="電気自動車 単色塗りつぶし">
                    <a:extLst>
                      <a:ext uri="{FF2B5EF4-FFF2-40B4-BE49-F238E27FC236}">
                        <a16:creationId xmlns:a16="http://schemas.microsoft.com/office/drawing/2014/main" id="{C0A4F695-6461-55E9-6DAA-D11C92A1556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01661" y="5807047"/>
                    <a:ext cx="566056" cy="566056"/>
                  </a:xfrm>
                  <a:prstGeom prst="rect">
                    <a:avLst/>
                  </a:prstGeom>
                </p:spPr>
              </p:pic>
              <p:pic>
                <p:nvPicPr>
                  <p:cNvPr id="65" name="グラフィックス 64" descr="洗濯機 単色塗りつぶし">
                    <a:extLst>
                      <a:ext uri="{FF2B5EF4-FFF2-40B4-BE49-F238E27FC236}">
                        <a16:creationId xmlns:a16="http://schemas.microsoft.com/office/drawing/2014/main" id="{4FB2F9A5-3512-5808-11F6-042772424B9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32561" y="5413174"/>
                    <a:ext cx="566056" cy="566056"/>
                  </a:xfrm>
                  <a:prstGeom prst="rect">
                    <a:avLst/>
                  </a:prstGeom>
                </p:spPr>
              </p:pic>
              <p:pic>
                <p:nvPicPr>
                  <p:cNvPr id="66" name="グラフィックス 65" descr="ランプ 単色塗りつぶし">
                    <a:extLst>
                      <a:ext uri="{FF2B5EF4-FFF2-40B4-BE49-F238E27FC236}">
                        <a16:creationId xmlns:a16="http://schemas.microsoft.com/office/drawing/2014/main" id="{976A9300-FA76-4C57-B21D-B506D172EFE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32561" y="4847118"/>
                    <a:ext cx="566056" cy="566056"/>
                  </a:xfrm>
                  <a:prstGeom prst="rect">
                    <a:avLst/>
                  </a:prstGeom>
                </p:spPr>
              </p:pic>
              <p:pic>
                <p:nvPicPr>
                  <p:cNvPr id="67" name="Picture 4" descr="真っ白な壁紙イラストのフリー素材｜イラストイメージ">
                    <a:extLst>
                      <a:ext uri="{FF2B5EF4-FFF2-40B4-BE49-F238E27FC236}">
                        <a16:creationId xmlns:a16="http://schemas.microsoft.com/office/drawing/2014/main" id="{A267A726-8920-2AEC-6027-E705DF259F9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4121" y="4318658"/>
                    <a:ext cx="280596" cy="24990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68" name="テキスト ボックス 67">
                    <a:extLst>
                      <a:ext uri="{FF2B5EF4-FFF2-40B4-BE49-F238E27FC236}">
                        <a16:creationId xmlns:a16="http://schemas.microsoft.com/office/drawing/2014/main" id="{DD6F952B-CC93-181C-D865-A4D31F06206B}"/>
                      </a:ext>
                    </a:extLst>
                  </p:cNvPr>
                  <p:cNvSpPr txBox="1"/>
                  <p:nvPr/>
                </p:nvSpPr>
                <p:spPr>
                  <a:xfrm>
                    <a:off x="374763" y="5003188"/>
                    <a:ext cx="960519" cy="253916"/>
                  </a:xfrm>
                  <a:prstGeom prst="rect">
                    <a:avLst/>
                  </a:prstGeom>
                  <a:noFill/>
                </p:spPr>
                <p:txBody>
                  <a:bodyPr wrap="none" rtlCol="0">
                    <a:spAutoFit/>
                  </a:bodyPr>
                  <a:lstStyle/>
                  <a:p>
                    <a:r>
                      <a:rPr lang="en-US" sz="1050" dirty="0"/>
                      <a:t>Inelastic load</a:t>
                    </a:r>
                  </a:p>
                </p:txBody>
              </p:sp>
              <p:sp>
                <p:nvSpPr>
                  <p:cNvPr id="69" name="テキスト ボックス 68">
                    <a:extLst>
                      <a:ext uri="{FF2B5EF4-FFF2-40B4-BE49-F238E27FC236}">
                        <a16:creationId xmlns:a16="http://schemas.microsoft.com/office/drawing/2014/main" id="{EAF43B66-83B4-5BE3-C83D-BDA76F049AC7}"/>
                      </a:ext>
                    </a:extLst>
                  </p:cNvPr>
                  <p:cNvSpPr txBox="1"/>
                  <p:nvPr/>
                </p:nvSpPr>
                <p:spPr>
                  <a:xfrm>
                    <a:off x="358879" y="5628475"/>
                    <a:ext cx="845103" cy="253916"/>
                  </a:xfrm>
                  <a:prstGeom prst="rect">
                    <a:avLst/>
                  </a:prstGeom>
                  <a:noFill/>
                </p:spPr>
                <p:txBody>
                  <a:bodyPr wrap="none" rtlCol="0">
                    <a:spAutoFit/>
                  </a:bodyPr>
                  <a:lstStyle/>
                  <a:p>
                    <a:r>
                      <a:rPr lang="en-US" sz="1050" dirty="0"/>
                      <a:t>Elastic load</a:t>
                    </a:r>
                  </a:p>
                </p:txBody>
              </p:sp>
              <p:sp>
                <p:nvSpPr>
                  <p:cNvPr id="70" name="テキスト ボックス 69">
                    <a:extLst>
                      <a:ext uri="{FF2B5EF4-FFF2-40B4-BE49-F238E27FC236}">
                        <a16:creationId xmlns:a16="http://schemas.microsoft.com/office/drawing/2014/main" id="{DA6A979E-9025-B868-D13E-9C049E929185}"/>
                      </a:ext>
                    </a:extLst>
                  </p:cNvPr>
                  <p:cNvSpPr txBox="1"/>
                  <p:nvPr/>
                </p:nvSpPr>
                <p:spPr>
                  <a:xfrm>
                    <a:off x="2514110" y="6245159"/>
                    <a:ext cx="335348" cy="253916"/>
                  </a:xfrm>
                  <a:prstGeom prst="rect">
                    <a:avLst/>
                  </a:prstGeom>
                  <a:noFill/>
                </p:spPr>
                <p:txBody>
                  <a:bodyPr wrap="none" rtlCol="0">
                    <a:spAutoFit/>
                  </a:bodyPr>
                  <a:lstStyle/>
                  <a:p>
                    <a:r>
                      <a:rPr lang="en-US" sz="1050" dirty="0"/>
                      <a:t>EV</a:t>
                    </a:r>
                  </a:p>
                </p:txBody>
              </p:sp>
              <p:sp>
                <p:nvSpPr>
                  <p:cNvPr id="71" name="テキスト ボックス 70">
                    <a:extLst>
                      <a:ext uri="{FF2B5EF4-FFF2-40B4-BE49-F238E27FC236}">
                        <a16:creationId xmlns:a16="http://schemas.microsoft.com/office/drawing/2014/main" id="{8C7E70C5-EA40-40DB-7FC3-A60C59B70961}"/>
                      </a:ext>
                    </a:extLst>
                  </p:cNvPr>
                  <p:cNvSpPr txBox="1"/>
                  <p:nvPr/>
                </p:nvSpPr>
                <p:spPr>
                  <a:xfrm>
                    <a:off x="488976" y="4145468"/>
                    <a:ext cx="1299344" cy="379621"/>
                  </a:xfrm>
                  <a:prstGeom prst="rect">
                    <a:avLst/>
                  </a:prstGeom>
                  <a:noFill/>
                </p:spPr>
                <p:txBody>
                  <a:bodyPr wrap="none" rtlCol="0">
                    <a:spAutoFit/>
                  </a:bodyPr>
                  <a:lstStyle/>
                  <a:p>
                    <a:r>
                      <a:rPr lang="en-US" sz="1400" dirty="0"/>
                      <a:t>Prosumer #4</a:t>
                    </a:r>
                  </a:p>
                </p:txBody>
              </p:sp>
              <p:sp>
                <p:nvSpPr>
                  <p:cNvPr id="72" name="四角形: 角を丸くする 71">
                    <a:extLst>
                      <a:ext uri="{FF2B5EF4-FFF2-40B4-BE49-F238E27FC236}">
                        <a16:creationId xmlns:a16="http://schemas.microsoft.com/office/drawing/2014/main" id="{993989E6-4D67-534C-49C4-A7BE84845A45}"/>
                      </a:ext>
                    </a:extLst>
                  </p:cNvPr>
                  <p:cNvSpPr/>
                  <p:nvPr/>
                </p:nvSpPr>
                <p:spPr>
                  <a:xfrm>
                    <a:off x="358879" y="4079106"/>
                    <a:ext cx="2835582" cy="250378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グループ化 32">
                  <a:extLst>
                    <a:ext uri="{FF2B5EF4-FFF2-40B4-BE49-F238E27FC236}">
                      <a16:creationId xmlns:a16="http://schemas.microsoft.com/office/drawing/2014/main" id="{F667C6D0-A1CE-B148-51E8-DC87A1EAAA33}"/>
                    </a:ext>
                  </a:extLst>
                </p:cNvPr>
                <p:cNvGrpSpPr/>
                <p:nvPr/>
              </p:nvGrpSpPr>
              <p:grpSpPr>
                <a:xfrm>
                  <a:off x="3420222" y="817493"/>
                  <a:ext cx="2606904" cy="2029934"/>
                  <a:chOff x="358879" y="4079106"/>
                  <a:chExt cx="2835582" cy="2503781"/>
                </a:xfrm>
              </p:grpSpPr>
              <p:pic>
                <p:nvPicPr>
                  <p:cNvPr id="48" name="グラフィックス 47" descr="ホーム 枠線">
                    <a:extLst>
                      <a:ext uri="{FF2B5EF4-FFF2-40B4-BE49-F238E27FC236}">
                        <a16:creationId xmlns:a16="http://schemas.microsoft.com/office/drawing/2014/main" id="{2462E3EF-2B5A-3ED5-A032-B0BEE693CD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53045" y="4954988"/>
                    <a:ext cx="1023256" cy="1023256"/>
                  </a:xfrm>
                  <a:prstGeom prst="rect">
                    <a:avLst/>
                  </a:prstGeom>
                </p:spPr>
              </p:pic>
              <p:pic>
                <p:nvPicPr>
                  <p:cNvPr id="49" name="グラフィックス 48" descr="電池を充電中 単色塗りつぶし">
                    <a:extLst>
                      <a:ext uri="{FF2B5EF4-FFF2-40B4-BE49-F238E27FC236}">
                        <a16:creationId xmlns:a16="http://schemas.microsoft.com/office/drawing/2014/main" id="{7A356070-0200-33FA-83DF-A10AFFF0C83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1299" y="5807047"/>
                    <a:ext cx="566056" cy="566056"/>
                  </a:xfrm>
                  <a:prstGeom prst="rect">
                    <a:avLst/>
                  </a:prstGeom>
                </p:spPr>
              </p:pic>
              <p:pic>
                <p:nvPicPr>
                  <p:cNvPr id="50" name="グラフィックス 49" descr="電気自動車 単色塗りつぶし">
                    <a:extLst>
                      <a:ext uri="{FF2B5EF4-FFF2-40B4-BE49-F238E27FC236}">
                        <a16:creationId xmlns:a16="http://schemas.microsoft.com/office/drawing/2014/main" id="{81D31238-251C-96A9-CF6D-F9CFC72CACE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01661" y="5807047"/>
                    <a:ext cx="566056" cy="566056"/>
                  </a:xfrm>
                  <a:prstGeom prst="rect">
                    <a:avLst/>
                  </a:prstGeom>
                </p:spPr>
              </p:pic>
              <p:pic>
                <p:nvPicPr>
                  <p:cNvPr id="51" name="グラフィックス 50" descr="洗濯機 単色塗りつぶし">
                    <a:extLst>
                      <a:ext uri="{FF2B5EF4-FFF2-40B4-BE49-F238E27FC236}">
                        <a16:creationId xmlns:a16="http://schemas.microsoft.com/office/drawing/2014/main" id="{8F7DDBB4-185C-19D8-1C7F-83E9591ADD7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32561" y="5413174"/>
                    <a:ext cx="566056" cy="566056"/>
                  </a:xfrm>
                  <a:prstGeom prst="rect">
                    <a:avLst/>
                  </a:prstGeom>
                </p:spPr>
              </p:pic>
              <p:pic>
                <p:nvPicPr>
                  <p:cNvPr id="52" name="グラフィックス 51" descr="ランプ 単色塗りつぶし">
                    <a:extLst>
                      <a:ext uri="{FF2B5EF4-FFF2-40B4-BE49-F238E27FC236}">
                        <a16:creationId xmlns:a16="http://schemas.microsoft.com/office/drawing/2014/main" id="{8EE075A6-C33E-D616-8015-5C9BC25EA91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32561" y="4847118"/>
                    <a:ext cx="566056" cy="566056"/>
                  </a:xfrm>
                  <a:prstGeom prst="rect">
                    <a:avLst/>
                  </a:prstGeom>
                </p:spPr>
              </p:pic>
              <p:grpSp>
                <p:nvGrpSpPr>
                  <p:cNvPr id="53" name="グループ化 52">
                    <a:extLst>
                      <a:ext uri="{FF2B5EF4-FFF2-40B4-BE49-F238E27FC236}">
                        <a16:creationId xmlns:a16="http://schemas.microsoft.com/office/drawing/2014/main" id="{FCAB1A24-AC68-16DB-B10D-EF9DA260A323}"/>
                      </a:ext>
                    </a:extLst>
                  </p:cNvPr>
                  <p:cNvGrpSpPr/>
                  <p:nvPr/>
                </p:nvGrpSpPr>
                <p:grpSpPr>
                  <a:xfrm>
                    <a:off x="2146218" y="4278087"/>
                    <a:ext cx="912915" cy="852059"/>
                    <a:chOff x="1819894" y="4173191"/>
                    <a:chExt cx="914400" cy="914400"/>
                  </a:xfrm>
                </p:grpSpPr>
                <p:pic>
                  <p:nvPicPr>
                    <p:cNvPr id="61" name="グラフィックス 60" descr="ソーラー パネル 単色塗りつぶし">
                      <a:extLst>
                        <a:ext uri="{FF2B5EF4-FFF2-40B4-BE49-F238E27FC236}">
                          <a16:creationId xmlns:a16="http://schemas.microsoft.com/office/drawing/2014/main" id="{1D08A6A7-C1B5-68F0-4777-B1CB38CE7C2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19894" y="4173191"/>
                      <a:ext cx="914400" cy="914400"/>
                    </a:xfrm>
                    <a:prstGeom prst="rect">
                      <a:avLst/>
                    </a:prstGeom>
                  </p:spPr>
                </p:pic>
                <p:pic>
                  <p:nvPicPr>
                    <p:cNvPr id="62" name="Picture 4" descr="真っ白な壁紙イラストのフリー素材｜イラストイメージ">
                      <a:extLst>
                        <a:ext uri="{FF2B5EF4-FFF2-40B4-BE49-F238E27FC236}">
                          <a16:creationId xmlns:a16="http://schemas.microsoft.com/office/drawing/2014/main" id="{CE180A66-EDB6-4261-919D-A808A2181B4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7810" y="4216730"/>
                      <a:ext cx="281052" cy="268187"/>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54" name="テキスト ボックス 53">
                    <a:extLst>
                      <a:ext uri="{FF2B5EF4-FFF2-40B4-BE49-F238E27FC236}">
                        <a16:creationId xmlns:a16="http://schemas.microsoft.com/office/drawing/2014/main" id="{FA6B1CEE-0C9F-D7B2-47CE-EE450685C3B9}"/>
                      </a:ext>
                    </a:extLst>
                  </p:cNvPr>
                  <p:cNvSpPr txBox="1"/>
                  <p:nvPr/>
                </p:nvSpPr>
                <p:spPr>
                  <a:xfrm>
                    <a:off x="374763" y="5003188"/>
                    <a:ext cx="960519" cy="253916"/>
                  </a:xfrm>
                  <a:prstGeom prst="rect">
                    <a:avLst/>
                  </a:prstGeom>
                  <a:noFill/>
                </p:spPr>
                <p:txBody>
                  <a:bodyPr wrap="none" rtlCol="0">
                    <a:spAutoFit/>
                  </a:bodyPr>
                  <a:lstStyle/>
                  <a:p>
                    <a:r>
                      <a:rPr lang="en-US" sz="1050" dirty="0"/>
                      <a:t>Inelastic load</a:t>
                    </a:r>
                  </a:p>
                </p:txBody>
              </p:sp>
              <p:sp>
                <p:nvSpPr>
                  <p:cNvPr id="55" name="テキスト ボックス 54">
                    <a:extLst>
                      <a:ext uri="{FF2B5EF4-FFF2-40B4-BE49-F238E27FC236}">
                        <a16:creationId xmlns:a16="http://schemas.microsoft.com/office/drawing/2014/main" id="{BB26C382-48A3-65F5-E2D1-B514FD215A82}"/>
                      </a:ext>
                    </a:extLst>
                  </p:cNvPr>
                  <p:cNvSpPr txBox="1"/>
                  <p:nvPr/>
                </p:nvSpPr>
                <p:spPr>
                  <a:xfrm>
                    <a:off x="358879" y="5628475"/>
                    <a:ext cx="845103" cy="253916"/>
                  </a:xfrm>
                  <a:prstGeom prst="rect">
                    <a:avLst/>
                  </a:prstGeom>
                  <a:noFill/>
                </p:spPr>
                <p:txBody>
                  <a:bodyPr wrap="none" rtlCol="0">
                    <a:spAutoFit/>
                  </a:bodyPr>
                  <a:lstStyle/>
                  <a:p>
                    <a:r>
                      <a:rPr lang="en-US" sz="1050" dirty="0"/>
                      <a:t>Elastic load</a:t>
                    </a:r>
                  </a:p>
                </p:txBody>
              </p:sp>
              <p:sp>
                <p:nvSpPr>
                  <p:cNvPr id="56" name="テキスト ボックス 55">
                    <a:extLst>
                      <a:ext uri="{FF2B5EF4-FFF2-40B4-BE49-F238E27FC236}">
                        <a16:creationId xmlns:a16="http://schemas.microsoft.com/office/drawing/2014/main" id="{9B2A916A-2C33-D602-3436-624B9F879675}"/>
                      </a:ext>
                    </a:extLst>
                  </p:cNvPr>
                  <p:cNvSpPr txBox="1"/>
                  <p:nvPr/>
                </p:nvSpPr>
                <p:spPr>
                  <a:xfrm>
                    <a:off x="1744305" y="6245159"/>
                    <a:ext cx="603050" cy="253916"/>
                  </a:xfrm>
                  <a:prstGeom prst="rect">
                    <a:avLst/>
                  </a:prstGeom>
                  <a:noFill/>
                </p:spPr>
                <p:txBody>
                  <a:bodyPr wrap="none" rtlCol="0">
                    <a:spAutoFit/>
                  </a:bodyPr>
                  <a:lstStyle/>
                  <a:p>
                    <a:r>
                      <a:rPr lang="en-US" sz="1050" dirty="0"/>
                      <a:t>Battery</a:t>
                    </a:r>
                  </a:p>
                </p:txBody>
              </p:sp>
              <p:sp>
                <p:nvSpPr>
                  <p:cNvPr id="57" name="テキスト ボックス 56">
                    <a:extLst>
                      <a:ext uri="{FF2B5EF4-FFF2-40B4-BE49-F238E27FC236}">
                        <a16:creationId xmlns:a16="http://schemas.microsoft.com/office/drawing/2014/main" id="{7919F73E-2196-D959-B889-C0F17AC02198}"/>
                      </a:ext>
                    </a:extLst>
                  </p:cNvPr>
                  <p:cNvSpPr txBox="1"/>
                  <p:nvPr/>
                </p:nvSpPr>
                <p:spPr>
                  <a:xfrm>
                    <a:off x="2514110" y="6245159"/>
                    <a:ext cx="335348" cy="253916"/>
                  </a:xfrm>
                  <a:prstGeom prst="rect">
                    <a:avLst/>
                  </a:prstGeom>
                  <a:noFill/>
                </p:spPr>
                <p:txBody>
                  <a:bodyPr wrap="none" rtlCol="0">
                    <a:spAutoFit/>
                  </a:bodyPr>
                  <a:lstStyle/>
                  <a:p>
                    <a:r>
                      <a:rPr lang="en-US" sz="1050" dirty="0"/>
                      <a:t>EV</a:t>
                    </a:r>
                  </a:p>
                </p:txBody>
              </p:sp>
              <p:sp>
                <p:nvSpPr>
                  <p:cNvPr id="58" name="テキスト ボックス 57">
                    <a:extLst>
                      <a:ext uri="{FF2B5EF4-FFF2-40B4-BE49-F238E27FC236}">
                        <a16:creationId xmlns:a16="http://schemas.microsoft.com/office/drawing/2014/main" id="{B3AB7448-0ADE-82F0-B512-18D636B6AAC5}"/>
                      </a:ext>
                    </a:extLst>
                  </p:cNvPr>
                  <p:cNvSpPr txBox="1"/>
                  <p:nvPr/>
                </p:nvSpPr>
                <p:spPr>
                  <a:xfrm>
                    <a:off x="2087382" y="4398131"/>
                    <a:ext cx="343364" cy="253917"/>
                  </a:xfrm>
                  <a:prstGeom prst="rect">
                    <a:avLst/>
                  </a:prstGeom>
                  <a:noFill/>
                </p:spPr>
                <p:txBody>
                  <a:bodyPr wrap="none" rtlCol="0">
                    <a:spAutoFit/>
                  </a:bodyPr>
                  <a:lstStyle/>
                  <a:p>
                    <a:r>
                      <a:rPr lang="en-US" sz="1050" dirty="0"/>
                      <a:t>PV</a:t>
                    </a:r>
                  </a:p>
                </p:txBody>
              </p:sp>
              <p:sp>
                <p:nvSpPr>
                  <p:cNvPr id="59" name="テキスト ボックス 58">
                    <a:extLst>
                      <a:ext uri="{FF2B5EF4-FFF2-40B4-BE49-F238E27FC236}">
                        <a16:creationId xmlns:a16="http://schemas.microsoft.com/office/drawing/2014/main" id="{86123A3D-69F8-F51C-0C74-4314EE822820}"/>
                      </a:ext>
                    </a:extLst>
                  </p:cNvPr>
                  <p:cNvSpPr txBox="1"/>
                  <p:nvPr/>
                </p:nvSpPr>
                <p:spPr>
                  <a:xfrm>
                    <a:off x="488976" y="4145468"/>
                    <a:ext cx="1194558" cy="307777"/>
                  </a:xfrm>
                  <a:prstGeom prst="rect">
                    <a:avLst/>
                  </a:prstGeom>
                  <a:noFill/>
                </p:spPr>
                <p:txBody>
                  <a:bodyPr wrap="none" rtlCol="0">
                    <a:spAutoFit/>
                  </a:bodyPr>
                  <a:lstStyle/>
                  <a:p>
                    <a:r>
                      <a:rPr lang="en-US" sz="1400" dirty="0"/>
                      <a:t>Prosumer #1</a:t>
                    </a:r>
                  </a:p>
                </p:txBody>
              </p:sp>
              <p:sp>
                <p:nvSpPr>
                  <p:cNvPr id="60" name="四角形: 角を丸くする 59">
                    <a:extLst>
                      <a:ext uri="{FF2B5EF4-FFF2-40B4-BE49-F238E27FC236}">
                        <a16:creationId xmlns:a16="http://schemas.microsoft.com/office/drawing/2014/main" id="{FF53B9DD-D398-69BD-5FC7-F630B2F63AD3}"/>
                      </a:ext>
                    </a:extLst>
                  </p:cNvPr>
                  <p:cNvSpPr/>
                  <p:nvPr/>
                </p:nvSpPr>
                <p:spPr>
                  <a:xfrm>
                    <a:off x="358879" y="4079106"/>
                    <a:ext cx="2835582" cy="250378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グループ化 33">
                  <a:extLst>
                    <a:ext uri="{FF2B5EF4-FFF2-40B4-BE49-F238E27FC236}">
                      <a16:creationId xmlns:a16="http://schemas.microsoft.com/office/drawing/2014/main" id="{28C6BC3E-E185-DA56-01D7-4CF465E28077}"/>
                    </a:ext>
                  </a:extLst>
                </p:cNvPr>
                <p:cNvGrpSpPr/>
                <p:nvPr/>
              </p:nvGrpSpPr>
              <p:grpSpPr>
                <a:xfrm>
                  <a:off x="6090994" y="817493"/>
                  <a:ext cx="2606904" cy="2029934"/>
                  <a:chOff x="358879" y="4079106"/>
                  <a:chExt cx="2835582" cy="2503781"/>
                </a:xfrm>
              </p:grpSpPr>
              <p:pic>
                <p:nvPicPr>
                  <p:cNvPr id="35" name="グラフィックス 34" descr="ホーム 枠線">
                    <a:extLst>
                      <a:ext uri="{FF2B5EF4-FFF2-40B4-BE49-F238E27FC236}">
                        <a16:creationId xmlns:a16="http://schemas.microsoft.com/office/drawing/2014/main" id="{C576E8C8-72BD-C01E-F582-1D27D9C069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53045" y="4954988"/>
                    <a:ext cx="1023256" cy="1023256"/>
                  </a:xfrm>
                  <a:prstGeom prst="rect">
                    <a:avLst/>
                  </a:prstGeom>
                </p:spPr>
              </p:pic>
              <p:pic>
                <p:nvPicPr>
                  <p:cNvPr id="36" name="グラフィックス 35" descr="電気自動車 単色塗りつぶし">
                    <a:extLst>
                      <a:ext uri="{FF2B5EF4-FFF2-40B4-BE49-F238E27FC236}">
                        <a16:creationId xmlns:a16="http://schemas.microsoft.com/office/drawing/2014/main" id="{AA890960-78E4-D10D-BD7E-58E306AB316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401661" y="5807047"/>
                    <a:ext cx="566056" cy="566056"/>
                  </a:xfrm>
                  <a:prstGeom prst="rect">
                    <a:avLst/>
                  </a:prstGeom>
                </p:spPr>
              </p:pic>
              <p:pic>
                <p:nvPicPr>
                  <p:cNvPr id="37" name="グラフィックス 36" descr="洗濯機 単色塗りつぶし">
                    <a:extLst>
                      <a:ext uri="{FF2B5EF4-FFF2-40B4-BE49-F238E27FC236}">
                        <a16:creationId xmlns:a16="http://schemas.microsoft.com/office/drawing/2014/main" id="{F5128FBC-849A-D868-0D72-F2E38233914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232561" y="5413174"/>
                    <a:ext cx="566056" cy="566056"/>
                  </a:xfrm>
                  <a:prstGeom prst="rect">
                    <a:avLst/>
                  </a:prstGeom>
                </p:spPr>
              </p:pic>
              <p:pic>
                <p:nvPicPr>
                  <p:cNvPr id="38" name="グラフィックス 37" descr="ランプ 単色塗りつぶし">
                    <a:extLst>
                      <a:ext uri="{FF2B5EF4-FFF2-40B4-BE49-F238E27FC236}">
                        <a16:creationId xmlns:a16="http://schemas.microsoft.com/office/drawing/2014/main" id="{99004AE8-6E1B-7A2E-929C-6FE4CBABDE8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32561" y="4847118"/>
                    <a:ext cx="566056" cy="566056"/>
                  </a:xfrm>
                  <a:prstGeom prst="rect">
                    <a:avLst/>
                  </a:prstGeom>
                </p:spPr>
              </p:pic>
              <p:grpSp>
                <p:nvGrpSpPr>
                  <p:cNvPr id="39" name="グループ化 38">
                    <a:extLst>
                      <a:ext uri="{FF2B5EF4-FFF2-40B4-BE49-F238E27FC236}">
                        <a16:creationId xmlns:a16="http://schemas.microsoft.com/office/drawing/2014/main" id="{4483CB32-F5A1-42BC-53D2-1735884C5077}"/>
                      </a:ext>
                    </a:extLst>
                  </p:cNvPr>
                  <p:cNvGrpSpPr/>
                  <p:nvPr/>
                </p:nvGrpSpPr>
                <p:grpSpPr>
                  <a:xfrm>
                    <a:off x="2146218" y="4278087"/>
                    <a:ext cx="912915" cy="852059"/>
                    <a:chOff x="1819894" y="4173191"/>
                    <a:chExt cx="914400" cy="914400"/>
                  </a:xfrm>
                </p:grpSpPr>
                <p:pic>
                  <p:nvPicPr>
                    <p:cNvPr id="46" name="グラフィックス 45" descr="ソーラー パネル 単色塗りつぶし">
                      <a:extLst>
                        <a:ext uri="{FF2B5EF4-FFF2-40B4-BE49-F238E27FC236}">
                          <a16:creationId xmlns:a16="http://schemas.microsoft.com/office/drawing/2014/main" id="{9A386972-0195-2921-6AAE-DBE0DE449BE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19894" y="4173191"/>
                      <a:ext cx="914400" cy="914400"/>
                    </a:xfrm>
                    <a:prstGeom prst="rect">
                      <a:avLst/>
                    </a:prstGeom>
                  </p:spPr>
                </p:pic>
                <p:pic>
                  <p:nvPicPr>
                    <p:cNvPr id="47" name="Picture 4" descr="真っ白な壁紙イラストのフリー素材｜イラストイメージ">
                      <a:extLst>
                        <a:ext uri="{FF2B5EF4-FFF2-40B4-BE49-F238E27FC236}">
                          <a16:creationId xmlns:a16="http://schemas.microsoft.com/office/drawing/2014/main" id="{5C8841B1-6345-F330-A24C-6EF48A1B0F6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27810" y="4216730"/>
                      <a:ext cx="281052" cy="268187"/>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40" name="テキスト ボックス 39">
                    <a:extLst>
                      <a:ext uri="{FF2B5EF4-FFF2-40B4-BE49-F238E27FC236}">
                        <a16:creationId xmlns:a16="http://schemas.microsoft.com/office/drawing/2014/main" id="{D7F2D2D0-CBA7-8D8C-F5AB-01EEE0C654C8}"/>
                      </a:ext>
                    </a:extLst>
                  </p:cNvPr>
                  <p:cNvSpPr txBox="1"/>
                  <p:nvPr/>
                </p:nvSpPr>
                <p:spPr>
                  <a:xfrm>
                    <a:off x="374763" y="5003188"/>
                    <a:ext cx="960519" cy="253916"/>
                  </a:xfrm>
                  <a:prstGeom prst="rect">
                    <a:avLst/>
                  </a:prstGeom>
                  <a:noFill/>
                </p:spPr>
                <p:txBody>
                  <a:bodyPr wrap="none" rtlCol="0">
                    <a:spAutoFit/>
                  </a:bodyPr>
                  <a:lstStyle/>
                  <a:p>
                    <a:r>
                      <a:rPr lang="en-US" sz="1050" dirty="0"/>
                      <a:t>Inelastic load</a:t>
                    </a:r>
                  </a:p>
                </p:txBody>
              </p:sp>
              <p:sp>
                <p:nvSpPr>
                  <p:cNvPr id="41" name="テキスト ボックス 40">
                    <a:extLst>
                      <a:ext uri="{FF2B5EF4-FFF2-40B4-BE49-F238E27FC236}">
                        <a16:creationId xmlns:a16="http://schemas.microsoft.com/office/drawing/2014/main" id="{CDBEBE0D-AB41-44A5-6FBD-3656F96226AA}"/>
                      </a:ext>
                    </a:extLst>
                  </p:cNvPr>
                  <p:cNvSpPr txBox="1"/>
                  <p:nvPr/>
                </p:nvSpPr>
                <p:spPr>
                  <a:xfrm>
                    <a:off x="358879" y="5628475"/>
                    <a:ext cx="845103" cy="253916"/>
                  </a:xfrm>
                  <a:prstGeom prst="rect">
                    <a:avLst/>
                  </a:prstGeom>
                  <a:noFill/>
                </p:spPr>
                <p:txBody>
                  <a:bodyPr wrap="none" rtlCol="0">
                    <a:spAutoFit/>
                  </a:bodyPr>
                  <a:lstStyle/>
                  <a:p>
                    <a:r>
                      <a:rPr lang="en-US" sz="1050" dirty="0"/>
                      <a:t>Elastic load</a:t>
                    </a:r>
                  </a:p>
                </p:txBody>
              </p:sp>
              <p:sp>
                <p:nvSpPr>
                  <p:cNvPr id="42" name="テキスト ボックス 41">
                    <a:extLst>
                      <a:ext uri="{FF2B5EF4-FFF2-40B4-BE49-F238E27FC236}">
                        <a16:creationId xmlns:a16="http://schemas.microsoft.com/office/drawing/2014/main" id="{805D0280-E7BA-B661-C49A-5D6A2452116F}"/>
                      </a:ext>
                    </a:extLst>
                  </p:cNvPr>
                  <p:cNvSpPr txBox="1"/>
                  <p:nvPr/>
                </p:nvSpPr>
                <p:spPr>
                  <a:xfrm>
                    <a:off x="2514110" y="6245159"/>
                    <a:ext cx="335348" cy="253916"/>
                  </a:xfrm>
                  <a:prstGeom prst="rect">
                    <a:avLst/>
                  </a:prstGeom>
                  <a:noFill/>
                </p:spPr>
                <p:txBody>
                  <a:bodyPr wrap="none" rtlCol="0">
                    <a:spAutoFit/>
                  </a:bodyPr>
                  <a:lstStyle/>
                  <a:p>
                    <a:r>
                      <a:rPr lang="en-US" sz="1050" dirty="0"/>
                      <a:t>EV</a:t>
                    </a:r>
                  </a:p>
                </p:txBody>
              </p:sp>
              <p:sp>
                <p:nvSpPr>
                  <p:cNvPr id="43" name="テキスト ボックス 42">
                    <a:extLst>
                      <a:ext uri="{FF2B5EF4-FFF2-40B4-BE49-F238E27FC236}">
                        <a16:creationId xmlns:a16="http://schemas.microsoft.com/office/drawing/2014/main" id="{1AD84234-E765-34FB-F9F6-53DFC9220472}"/>
                      </a:ext>
                    </a:extLst>
                  </p:cNvPr>
                  <p:cNvSpPr txBox="1"/>
                  <p:nvPr/>
                </p:nvSpPr>
                <p:spPr>
                  <a:xfrm>
                    <a:off x="2099257" y="4419537"/>
                    <a:ext cx="343364" cy="253917"/>
                  </a:xfrm>
                  <a:prstGeom prst="rect">
                    <a:avLst/>
                  </a:prstGeom>
                  <a:noFill/>
                </p:spPr>
                <p:txBody>
                  <a:bodyPr wrap="none" rtlCol="0">
                    <a:spAutoFit/>
                  </a:bodyPr>
                  <a:lstStyle/>
                  <a:p>
                    <a:r>
                      <a:rPr lang="en-US" sz="1050" dirty="0"/>
                      <a:t>PV</a:t>
                    </a:r>
                  </a:p>
                </p:txBody>
              </p:sp>
              <p:sp>
                <p:nvSpPr>
                  <p:cNvPr id="44" name="テキスト ボックス 43">
                    <a:extLst>
                      <a:ext uri="{FF2B5EF4-FFF2-40B4-BE49-F238E27FC236}">
                        <a16:creationId xmlns:a16="http://schemas.microsoft.com/office/drawing/2014/main" id="{2F2F08FB-1342-037D-BD9F-0BB23186ADA6}"/>
                      </a:ext>
                    </a:extLst>
                  </p:cNvPr>
                  <p:cNvSpPr txBox="1"/>
                  <p:nvPr/>
                </p:nvSpPr>
                <p:spPr>
                  <a:xfrm>
                    <a:off x="488976" y="4145468"/>
                    <a:ext cx="1299345" cy="379621"/>
                  </a:xfrm>
                  <a:prstGeom prst="rect">
                    <a:avLst/>
                  </a:prstGeom>
                  <a:noFill/>
                </p:spPr>
                <p:txBody>
                  <a:bodyPr wrap="none" rtlCol="0">
                    <a:spAutoFit/>
                  </a:bodyPr>
                  <a:lstStyle/>
                  <a:p>
                    <a:r>
                      <a:rPr lang="en-US" sz="1400" dirty="0"/>
                      <a:t>Prosumer #2</a:t>
                    </a:r>
                  </a:p>
                </p:txBody>
              </p:sp>
              <p:sp>
                <p:nvSpPr>
                  <p:cNvPr id="45" name="四角形: 角を丸くする 44">
                    <a:extLst>
                      <a:ext uri="{FF2B5EF4-FFF2-40B4-BE49-F238E27FC236}">
                        <a16:creationId xmlns:a16="http://schemas.microsoft.com/office/drawing/2014/main" id="{911A9F85-D07C-0416-90DE-9073CA49B388}"/>
                      </a:ext>
                    </a:extLst>
                  </p:cNvPr>
                  <p:cNvSpPr/>
                  <p:nvPr/>
                </p:nvSpPr>
                <p:spPr>
                  <a:xfrm>
                    <a:off x="358879" y="4079106"/>
                    <a:ext cx="2835582" cy="2503781"/>
                  </a:xfrm>
                  <a:prstGeom prst="round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4" name="直線矢印コネクタ 13">
                <a:extLst>
                  <a:ext uri="{FF2B5EF4-FFF2-40B4-BE49-F238E27FC236}">
                    <a16:creationId xmlns:a16="http://schemas.microsoft.com/office/drawing/2014/main" id="{2C278EC1-9E3F-9B90-E213-B241DB7F8959}"/>
                  </a:ext>
                </a:extLst>
              </p:cNvPr>
              <p:cNvCxnSpPr>
                <a:cxnSpLocks/>
                <a:stCxn id="81" idx="0"/>
              </p:cNvCxnSpPr>
              <p:nvPr/>
            </p:nvCxnSpPr>
            <p:spPr>
              <a:xfrm flipV="1">
                <a:off x="4787259" y="4373866"/>
                <a:ext cx="258912" cy="51258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B6CE5F41-00BE-5C39-BB34-F078C057E094}"/>
                  </a:ext>
                </a:extLst>
              </p:cNvPr>
              <p:cNvCxnSpPr>
                <a:cxnSpLocks/>
                <a:stCxn id="72" idx="0"/>
              </p:cNvCxnSpPr>
              <p:nvPr/>
            </p:nvCxnSpPr>
            <p:spPr>
              <a:xfrm flipH="1" flipV="1">
                <a:off x="7073735" y="4352165"/>
                <a:ext cx="348044" cy="53428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A0395DDC-1676-D539-79C4-91DD9E92756F}"/>
                  </a:ext>
                </a:extLst>
              </p:cNvPr>
              <p:cNvCxnSpPr>
                <a:cxnSpLocks/>
                <a:stCxn id="60" idx="2"/>
              </p:cNvCxnSpPr>
              <p:nvPr/>
            </p:nvCxnSpPr>
            <p:spPr>
              <a:xfrm>
                <a:off x="4807013" y="3140694"/>
                <a:ext cx="222510" cy="5212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9ABB1F0C-A250-370A-E141-AC0302DF90AF}"/>
                  </a:ext>
                </a:extLst>
              </p:cNvPr>
              <p:cNvCxnSpPr>
                <a:cxnSpLocks/>
                <a:stCxn id="45" idx="2"/>
              </p:cNvCxnSpPr>
              <p:nvPr/>
            </p:nvCxnSpPr>
            <p:spPr>
              <a:xfrm flipH="1">
                <a:off x="7073735" y="3140694"/>
                <a:ext cx="348045" cy="5615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82BF994B-F05C-71B2-FB7D-40D445525D73}"/>
                  </a:ext>
                </a:extLst>
              </p:cNvPr>
              <p:cNvSpPr txBox="1"/>
              <p:nvPr/>
            </p:nvSpPr>
            <p:spPr>
              <a:xfrm>
                <a:off x="4843379" y="3170875"/>
                <a:ext cx="372218" cy="253916"/>
              </a:xfrm>
              <a:prstGeom prst="rect">
                <a:avLst/>
              </a:prstGeom>
              <a:noFill/>
            </p:spPr>
            <p:txBody>
              <a:bodyPr wrap="none" rtlCol="0">
                <a:spAutoFit/>
              </a:bodyPr>
              <a:lstStyle/>
              <a:p>
                <a:r>
                  <a:rPr lang="en-US" sz="1050" dirty="0"/>
                  <a:t>Bid</a:t>
                </a:r>
              </a:p>
            </p:txBody>
          </p:sp>
          <p:sp>
            <p:nvSpPr>
              <p:cNvPr id="19" name="テキスト ボックス 18">
                <a:extLst>
                  <a:ext uri="{FF2B5EF4-FFF2-40B4-BE49-F238E27FC236}">
                    <a16:creationId xmlns:a16="http://schemas.microsoft.com/office/drawing/2014/main" id="{F8ADE94B-69A4-D6E6-0E5F-D9F27E5D2870}"/>
                  </a:ext>
                </a:extLst>
              </p:cNvPr>
              <p:cNvSpPr txBox="1"/>
              <p:nvPr/>
            </p:nvSpPr>
            <p:spPr>
              <a:xfrm>
                <a:off x="4826766" y="4591960"/>
                <a:ext cx="372218" cy="253916"/>
              </a:xfrm>
              <a:prstGeom prst="rect">
                <a:avLst/>
              </a:prstGeom>
              <a:noFill/>
            </p:spPr>
            <p:txBody>
              <a:bodyPr wrap="none" rtlCol="0">
                <a:spAutoFit/>
              </a:bodyPr>
              <a:lstStyle/>
              <a:p>
                <a:r>
                  <a:rPr lang="en-US" sz="1050" dirty="0"/>
                  <a:t>Bid</a:t>
                </a:r>
              </a:p>
            </p:txBody>
          </p:sp>
          <p:sp>
            <p:nvSpPr>
              <p:cNvPr id="20" name="テキスト ボックス 19">
                <a:extLst>
                  <a:ext uri="{FF2B5EF4-FFF2-40B4-BE49-F238E27FC236}">
                    <a16:creationId xmlns:a16="http://schemas.microsoft.com/office/drawing/2014/main" id="{AE7836CE-47C8-8163-4941-EEFDABD62E8D}"/>
                  </a:ext>
                </a:extLst>
              </p:cNvPr>
              <p:cNvSpPr txBox="1"/>
              <p:nvPr/>
            </p:nvSpPr>
            <p:spPr>
              <a:xfrm>
                <a:off x="6965041" y="3181442"/>
                <a:ext cx="372218" cy="253916"/>
              </a:xfrm>
              <a:prstGeom prst="rect">
                <a:avLst/>
              </a:prstGeom>
              <a:noFill/>
            </p:spPr>
            <p:txBody>
              <a:bodyPr wrap="none" rtlCol="0">
                <a:spAutoFit/>
              </a:bodyPr>
              <a:lstStyle/>
              <a:p>
                <a:r>
                  <a:rPr lang="en-US" sz="1050" dirty="0"/>
                  <a:t>Bid</a:t>
                </a:r>
              </a:p>
            </p:txBody>
          </p:sp>
          <p:sp>
            <p:nvSpPr>
              <p:cNvPr id="21" name="テキスト ボックス 20">
                <a:extLst>
                  <a:ext uri="{FF2B5EF4-FFF2-40B4-BE49-F238E27FC236}">
                    <a16:creationId xmlns:a16="http://schemas.microsoft.com/office/drawing/2014/main" id="{C23C4F0C-BFA4-0B83-4FC8-7CB793CAEC02}"/>
                  </a:ext>
                </a:extLst>
              </p:cNvPr>
              <p:cNvSpPr txBox="1"/>
              <p:nvPr/>
            </p:nvSpPr>
            <p:spPr>
              <a:xfrm>
                <a:off x="6987033" y="4612982"/>
                <a:ext cx="372218" cy="253916"/>
              </a:xfrm>
              <a:prstGeom prst="rect">
                <a:avLst/>
              </a:prstGeom>
              <a:noFill/>
            </p:spPr>
            <p:txBody>
              <a:bodyPr wrap="none" rtlCol="0">
                <a:spAutoFit/>
              </a:bodyPr>
              <a:lstStyle/>
              <a:p>
                <a:r>
                  <a:rPr lang="en-US" sz="1050" dirty="0"/>
                  <a:t>Bid</a:t>
                </a:r>
              </a:p>
            </p:txBody>
          </p:sp>
          <p:cxnSp>
            <p:nvCxnSpPr>
              <p:cNvPr id="22" name="直線矢印コネクタ 21">
                <a:extLst>
                  <a:ext uri="{FF2B5EF4-FFF2-40B4-BE49-F238E27FC236}">
                    <a16:creationId xmlns:a16="http://schemas.microsoft.com/office/drawing/2014/main" id="{A5238979-3AAB-70E0-2780-782C71262189}"/>
                  </a:ext>
                </a:extLst>
              </p:cNvPr>
              <p:cNvCxnSpPr>
                <a:cxnSpLocks/>
              </p:cNvCxnSpPr>
              <p:nvPr/>
            </p:nvCxnSpPr>
            <p:spPr>
              <a:xfrm flipV="1">
                <a:off x="7125486" y="3139955"/>
                <a:ext cx="375266" cy="5924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D9C9DAF5-7960-D78E-3F24-C26135F8FF21}"/>
                  </a:ext>
                </a:extLst>
              </p:cNvPr>
              <p:cNvCxnSpPr>
                <a:cxnSpLocks/>
              </p:cNvCxnSpPr>
              <p:nvPr/>
            </p:nvCxnSpPr>
            <p:spPr>
              <a:xfrm>
                <a:off x="7125486" y="4322006"/>
                <a:ext cx="353328" cy="54656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31B50FEE-77C3-1BED-EC46-93A205D3CE8D}"/>
                  </a:ext>
                </a:extLst>
              </p:cNvPr>
              <p:cNvCxnSpPr>
                <a:cxnSpLocks/>
              </p:cNvCxnSpPr>
              <p:nvPr/>
            </p:nvCxnSpPr>
            <p:spPr>
              <a:xfrm flipH="1">
                <a:off x="4716265" y="4366457"/>
                <a:ext cx="267246" cy="51194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5965F4CF-6CB2-0989-6BBB-8B95D41A9B34}"/>
                  </a:ext>
                </a:extLst>
              </p:cNvPr>
              <p:cNvSpPr txBox="1"/>
              <p:nvPr/>
            </p:nvSpPr>
            <p:spPr>
              <a:xfrm>
                <a:off x="7199587" y="3454439"/>
                <a:ext cx="1088760" cy="253916"/>
              </a:xfrm>
              <a:prstGeom prst="rect">
                <a:avLst/>
              </a:prstGeom>
              <a:noFill/>
            </p:spPr>
            <p:txBody>
              <a:bodyPr wrap="none" rtlCol="0">
                <a:spAutoFit/>
              </a:bodyPr>
              <a:lstStyle/>
              <a:p>
                <a:r>
                  <a:rPr lang="en-US" sz="1050" dirty="0"/>
                  <a:t>Price, Amount</a:t>
                </a:r>
                <a:r>
                  <a:rPr lang="en-US" sz="1050" baseline="-25000" dirty="0"/>
                  <a:t>2</a:t>
                </a:r>
              </a:p>
            </p:txBody>
          </p:sp>
          <p:cxnSp>
            <p:nvCxnSpPr>
              <p:cNvPr id="26" name="直線矢印コネクタ 25">
                <a:extLst>
                  <a:ext uri="{FF2B5EF4-FFF2-40B4-BE49-F238E27FC236}">
                    <a16:creationId xmlns:a16="http://schemas.microsoft.com/office/drawing/2014/main" id="{7F866B09-A7DD-5F2A-4500-954854B282B1}"/>
                  </a:ext>
                </a:extLst>
              </p:cNvPr>
              <p:cNvCxnSpPr>
                <a:cxnSpLocks/>
              </p:cNvCxnSpPr>
              <p:nvPr/>
            </p:nvCxnSpPr>
            <p:spPr>
              <a:xfrm flipH="1" flipV="1">
                <a:off x="4744388" y="3155356"/>
                <a:ext cx="222475" cy="5354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AE7C77C6-22D7-89D8-5E14-2C0A80953BE3}"/>
                  </a:ext>
                </a:extLst>
              </p:cNvPr>
              <p:cNvSpPr txBox="1"/>
              <p:nvPr/>
            </p:nvSpPr>
            <p:spPr>
              <a:xfrm>
                <a:off x="7232662" y="4408330"/>
                <a:ext cx="1064715" cy="253916"/>
              </a:xfrm>
              <a:prstGeom prst="rect">
                <a:avLst/>
              </a:prstGeom>
              <a:noFill/>
            </p:spPr>
            <p:txBody>
              <a:bodyPr wrap="none" rtlCol="0">
                <a:spAutoFit/>
              </a:bodyPr>
              <a:lstStyle/>
              <a:p>
                <a:r>
                  <a:rPr lang="en-US" sz="1050" dirty="0"/>
                  <a:t>Price, Amount</a:t>
                </a:r>
                <a:r>
                  <a:rPr lang="en-US" sz="1050" baseline="-25000" dirty="0"/>
                  <a:t>4</a:t>
                </a:r>
              </a:p>
            </p:txBody>
          </p:sp>
          <p:sp>
            <p:nvSpPr>
              <p:cNvPr id="28" name="テキスト ボックス 27">
                <a:extLst>
                  <a:ext uri="{FF2B5EF4-FFF2-40B4-BE49-F238E27FC236}">
                    <a16:creationId xmlns:a16="http://schemas.microsoft.com/office/drawing/2014/main" id="{317A5AB4-0C8B-ECFD-2496-98C79CDB7D19}"/>
                  </a:ext>
                </a:extLst>
              </p:cNvPr>
              <p:cNvSpPr txBox="1"/>
              <p:nvPr/>
            </p:nvSpPr>
            <p:spPr>
              <a:xfrm>
                <a:off x="3795050" y="3338149"/>
                <a:ext cx="1064715" cy="253916"/>
              </a:xfrm>
              <a:prstGeom prst="rect">
                <a:avLst/>
              </a:prstGeom>
              <a:noFill/>
            </p:spPr>
            <p:txBody>
              <a:bodyPr wrap="none" rtlCol="0">
                <a:spAutoFit/>
              </a:bodyPr>
              <a:lstStyle/>
              <a:p>
                <a:r>
                  <a:rPr lang="en-US" sz="1050" dirty="0"/>
                  <a:t>Price, Amount</a:t>
                </a:r>
                <a:r>
                  <a:rPr lang="en-US" sz="1050" baseline="-25000" dirty="0"/>
                  <a:t>1</a:t>
                </a:r>
              </a:p>
            </p:txBody>
          </p:sp>
          <p:sp>
            <p:nvSpPr>
              <p:cNvPr id="29" name="テキスト ボックス 28">
                <a:extLst>
                  <a:ext uri="{FF2B5EF4-FFF2-40B4-BE49-F238E27FC236}">
                    <a16:creationId xmlns:a16="http://schemas.microsoft.com/office/drawing/2014/main" id="{DE7FAA91-61AA-DBD0-0512-F8CC54B95B15}"/>
                  </a:ext>
                </a:extLst>
              </p:cNvPr>
              <p:cNvSpPr txBox="1"/>
              <p:nvPr/>
            </p:nvSpPr>
            <p:spPr>
              <a:xfrm>
                <a:off x="3736176" y="4433680"/>
                <a:ext cx="1064715" cy="253916"/>
              </a:xfrm>
              <a:prstGeom prst="rect">
                <a:avLst/>
              </a:prstGeom>
              <a:noFill/>
            </p:spPr>
            <p:txBody>
              <a:bodyPr wrap="none" rtlCol="0">
                <a:spAutoFit/>
              </a:bodyPr>
              <a:lstStyle/>
              <a:p>
                <a:r>
                  <a:rPr lang="en-US" sz="1050" dirty="0"/>
                  <a:t>Price, Amount</a:t>
                </a:r>
                <a:r>
                  <a:rPr lang="en-US" sz="1050" baseline="-25000" dirty="0"/>
                  <a:t>3</a:t>
                </a:r>
              </a:p>
            </p:txBody>
          </p:sp>
        </p:grpSp>
        <p:sp>
          <p:nvSpPr>
            <p:cNvPr id="6" name="正方形/長方形 5">
              <a:extLst>
                <a:ext uri="{FF2B5EF4-FFF2-40B4-BE49-F238E27FC236}">
                  <a16:creationId xmlns:a16="http://schemas.microsoft.com/office/drawing/2014/main" id="{604B7C84-4FB0-7230-515C-213D863F065D}"/>
                </a:ext>
              </a:extLst>
            </p:cNvPr>
            <p:cNvSpPr/>
            <p:nvPr/>
          </p:nvSpPr>
          <p:spPr>
            <a:xfrm>
              <a:off x="237469" y="930235"/>
              <a:ext cx="2516709" cy="583416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テキスト ボックス 6">
              <a:extLst>
                <a:ext uri="{FF2B5EF4-FFF2-40B4-BE49-F238E27FC236}">
                  <a16:creationId xmlns:a16="http://schemas.microsoft.com/office/drawing/2014/main" id="{C3657563-6124-9864-6959-B384CBD9197B}"/>
                </a:ext>
              </a:extLst>
            </p:cNvPr>
            <p:cNvSpPr txBox="1"/>
            <p:nvPr/>
          </p:nvSpPr>
          <p:spPr>
            <a:xfrm>
              <a:off x="253980" y="2911471"/>
              <a:ext cx="2531462" cy="1169551"/>
            </a:xfrm>
            <a:prstGeom prst="rect">
              <a:avLst/>
            </a:prstGeom>
            <a:noFill/>
          </p:spPr>
          <p:txBody>
            <a:bodyPr wrap="none" rtlCol="0">
              <a:spAutoFit/>
            </a:bodyPr>
            <a:lstStyle/>
            <a:p>
              <a:r>
                <a:rPr lang="en-US" sz="1200" dirty="0"/>
                <a:t>Wholesale electricity market </a:t>
              </a:r>
            </a:p>
            <a:p>
              <a:endParaRPr lang="en-US" sz="1200" dirty="0"/>
            </a:p>
            <a:p>
              <a:pPr algn="ctr"/>
              <a:r>
                <a:rPr lang="en-US" sz="1200" dirty="0"/>
                <a:t>&amp; </a:t>
              </a:r>
            </a:p>
            <a:p>
              <a:endParaRPr lang="en-US" sz="1200" dirty="0"/>
            </a:p>
            <a:p>
              <a:r>
                <a:rPr lang="en-US" sz="1200" dirty="0"/>
                <a:t>independent system operator</a:t>
              </a:r>
            </a:p>
          </p:txBody>
        </p:sp>
        <p:sp>
          <p:nvSpPr>
            <p:cNvPr id="8" name="正方形/長方形 7">
              <a:extLst>
                <a:ext uri="{FF2B5EF4-FFF2-40B4-BE49-F238E27FC236}">
                  <a16:creationId xmlns:a16="http://schemas.microsoft.com/office/drawing/2014/main" id="{DAFBC932-911F-6749-825E-9C5E40855598}"/>
                </a:ext>
              </a:extLst>
            </p:cNvPr>
            <p:cNvSpPr/>
            <p:nvPr/>
          </p:nvSpPr>
          <p:spPr>
            <a:xfrm>
              <a:off x="3847599" y="930235"/>
              <a:ext cx="5925787" cy="5834166"/>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テキスト ボックス 8">
              <a:extLst>
                <a:ext uri="{FF2B5EF4-FFF2-40B4-BE49-F238E27FC236}">
                  <a16:creationId xmlns:a16="http://schemas.microsoft.com/office/drawing/2014/main" id="{6BF77438-6365-B48C-76C7-487CC25FF3DF}"/>
                </a:ext>
              </a:extLst>
            </p:cNvPr>
            <p:cNvSpPr txBox="1"/>
            <p:nvPr/>
          </p:nvSpPr>
          <p:spPr>
            <a:xfrm>
              <a:off x="2754245" y="1950816"/>
              <a:ext cx="1078010" cy="319986"/>
            </a:xfrm>
            <a:prstGeom prst="rect">
              <a:avLst/>
            </a:prstGeom>
            <a:noFill/>
          </p:spPr>
          <p:txBody>
            <a:bodyPr wrap="none" rtlCol="0">
              <a:spAutoFit/>
            </a:bodyPr>
            <a:lstStyle/>
            <a:p>
              <a:r>
                <a:rPr lang="en-US" sz="1200" dirty="0"/>
                <a:t>Grid import</a:t>
              </a:r>
            </a:p>
          </p:txBody>
        </p:sp>
        <p:sp>
          <p:nvSpPr>
            <p:cNvPr id="10" name="テキスト ボックス 9">
              <a:extLst>
                <a:ext uri="{FF2B5EF4-FFF2-40B4-BE49-F238E27FC236}">
                  <a16:creationId xmlns:a16="http://schemas.microsoft.com/office/drawing/2014/main" id="{D02B6E5D-4793-D4F8-8DB4-A8D2672E3B6C}"/>
                </a:ext>
              </a:extLst>
            </p:cNvPr>
            <p:cNvSpPr txBox="1"/>
            <p:nvPr/>
          </p:nvSpPr>
          <p:spPr>
            <a:xfrm>
              <a:off x="2780133" y="4712149"/>
              <a:ext cx="1056600" cy="319986"/>
            </a:xfrm>
            <a:prstGeom prst="rect">
              <a:avLst/>
            </a:prstGeom>
            <a:noFill/>
          </p:spPr>
          <p:txBody>
            <a:bodyPr wrap="none" rtlCol="0">
              <a:spAutoFit/>
            </a:bodyPr>
            <a:lstStyle/>
            <a:p>
              <a:r>
                <a:rPr lang="en-US" sz="1200" dirty="0"/>
                <a:t>Grid export</a:t>
              </a:r>
            </a:p>
          </p:txBody>
        </p:sp>
        <p:cxnSp>
          <p:nvCxnSpPr>
            <p:cNvPr id="11" name="直線矢印コネクタ 10">
              <a:extLst>
                <a:ext uri="{FF2B5EF4-FFF2-40B4-BE49-F238E27FC236}">
                  <a16:creationId xmlns:a16="http://schemas.microsoft.com/office/drawing/2014/main" id="{CD5DD97E-8581-FCD0-4C16-23E9B3DC049B}"/>
                </a:ext>
              </a:extLst>
            </p:cNvPr>
            <p:cNvCxnSpPr>
              <a:cxnSpLocks/>
            </p:cNvCxnSpPr>
            <p:nvPr/>
          </p:nvCxnSpPr>
          <p:spPr>
            <a:xfrm>
              <a:off x="2782198" y="2280344"/>
              <a:ext cx="105384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7A57D825-5589-0279-C971-3B718C31772B}"/>
                </a:ext>
              </a:extLst>
            </p:cNvPr>
            <p:cNvCxnSpPr>
              <a:cxnSpLocks/>
            </p:cNvCxnSpPr>
            <p:nvPr/>
          </p:nvCxnSpPr>
          <p:spPr>
            <a:xfrm flipH="1">
              <a:off x="2773925" y="5044934"/>
              <a:ext cx="108621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8093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2B9D8B1-86F2-2078-723C-6005DDAF6484}"/>
              </a:ext>
            </a:extLst>
          </p:cNvPr>
          <p:cNvSpPr>
            <a:spLocks noGrp="1"/>
          </p:cNvSpPr>
          <p:nvPr>
            <p:ph sz="quarter" idx="16"/>
          </p:nvPr>
        </p:nvSpPr>
        <p:spPr/>
        <p:txBody>
          <a:bodyPr/>
          <a:lstStyle/>
          <a:p>
            <a:r>
              <a:rPr lang="en-US" dirty="0"/>
              <a:t>3.2.2</a:t>
            </a:r>
            <a:r>
              <a:rPr lang="en-US" altLang="ja-JP" dirty="0"/>
              <a:t> Design P2P energy trading model</a:t>
            </a:r>
            <a:endParaRPr lang="en-US" dirty="0"/>
          </a:p>
        </p:txBody>
      </p:sp>
      <p:graphicFrame>
        <p:nvGraphicFramePr>
          <p:cNvPr id="5" name="表 4">
            <a:extLst>
              <a:ext uri="{FF2B5EF4-FFF2-40B4-BE49-F238E27FC236}">
                <a16:creationId xmlns:a16="http://schemas.microsoft.com/office/drawing/2014/main" id="{682B2C5C-1569-1AA9-9CDD-91D7FF025808}"/>
              </a:ext>
            </a:extLst>
          </p:cNvPr>
          <p:cNvGraphicFramePr>
            <a:graphicFrameLocks noGrp="1"/>
          </p:cNvGraphicFramePr>
          <p:nvPr>
            <p:extLst>
              <p:ext uri="{D42A27DB-BD31-4B8C-83A1-F6EECF244321}">
                <p14:modId xmlns:p14="http://schemas.microsoft.com/office/powerpoint/2010/main" val="1304926018"/>
              </p:ext>
            </p:extLst>
          </p:nvPr>
        </p:nvGraphicFramePr>
        <p:xfrm>
          <a:off x="1561435" y="2443767"/>
          <a:ext cx="6783130" cy="2651971"/>
        </p:xfrm>
        <a:graphic>
          <a:graphicData uri="http://schemas.openxmlformats.org/drawingml/2006/table">
            <a:tbl>
              <a:tblPr firstRow="1" bandRow="1">
                <a:tableStyleId>{073A0DAA-6AF3-43AB-8588-CEC1D06C72B9}</a:tableStyleId>
              </a:tblPr>
              <a:tblGrid>
                <a:gridCol w="3064513">
                  <a:extLst>
                    <a:ext uri="{9D8B030D-6E8A-4147-A177-3AD203B41FA5}">
                      <a16:colId xmlns:a16="http://schemas.microsoft.com/office/drawing/2014/main" val="2081844268"/>
                    </a:ext>
                  </a:extLst>
                </a:gridCol>
                <a:gridCol w="3718617">
                  <a:extLst>
                    <a:ext uri="{9D8B030D-6E8A-4147-A177-3AD203B41FA5}">
                      <a16:colId xmlns:a16="http://schemas.microsoft.com/office/drawing/2014/main" val="2099169623"/>
                    </a:ext>
                  </a:extLst>
                </a:gridCol>
              </a:tblGrid>
              <a:tr h="378853">
                <a:tc>
                  <a:txBody>
                    <a:bodyPr/>
                    <a:lstStyle/>
                    <a:p>
                      <a:r>
                        <a:rPr lang="en-US" dirty="0"/>
                        <a:t>Parameter</a:t>
                      </a:r>
                    </a:p>
                  </a:txBody>
                  <a:tcPr/>
                </a:tc>
                <a:tc>
                  <a:txBody>
                    <a:bodyPr/>
                    <a:lstStyle/>
                    <a:p>
                      <a:r>
                        <a:rPr lang="en-US" dirty="0"/>
                        <a:t>Value</a:t>
                      </a:r>
                    </a:p>
                  </a:txBody>
                  <a:tcPr/>
                </a:tc>
                <a:extLst>
                  <a:ext uri="{0D108BD9-81ED-4DB2-BD59-A6C34878D82A}">
                    <a16:rowId xmlns:a16="http://schemas.microsoft.com/office/drawing/2014/main" val="1061694334"/>
                  </a:ext>
                </a:extLst>
              </a:tr>
              <a:tr h="378853">
                <a:tc>
                  <a:txBody>
                    <a:bodyPr/>
                    <a:lstStyle/>
                    <a:p>
                      <a:r>
                        <a:rPr lang="en-US" dirty="0"/>
                        <a:t>Bid price max [cents/kWh]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120</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84519250"/>
                  </a:ext>
                </a:extLst>
              </a:tr>
              <a:tr h="378853">
                <a:tc>
                  <a:txBody>
                    <a:bodyPr/>
                    <a:lstStyle/>
                    <a:p>
                      <a:r>
                        <a:rPr lang="en-US" dirty="0"/>
                        <a:t>Bid price min [cents/kWh]</a:t>
                      </a:r>
                    </a:p>
                  </a:txBody>
                  <a:tcPr/>
                </a:tc>
                <a:tc>
                  <a:txBody>
                    <a:bodyPr/>
                    <a:lstStyle/>
                    <a:p>
                      <a:r>
                        <a:rPr lang="en-US" dirty="0"/>
                        <a:t>10</a:t>
                      </a:r>
                    </a:p>
                  </a:txBody>
                  <a:tcPr/>
                </a:tc>
                <a:extLst>
                  <a:ext uri="{0D108BD9-81ED-4DB2-BD59-A6C34878D82A}">
                    <a16:rowId xmlns:a16="http://schemas.microsoft.com/office/drawing/2014/main" val="2329611386"/>
                  </a:ext>
                </a:extLst>
              </a:tr>
              <a:tr h="378853">
                <a:tc>
                  <a:txBody>
                    <a:bodyPr/>
                    <a:lstStyle/>
                    <a:p>
                      <a:r>
                        <a:rPr lang="en-US" dirty="0"/>
                        <a:t>Wheeling charge [cents/kWh]</a:t>
                      </a:r>
                    </a:p>
                  </a:txBody>
                  <a:tcPr/>
                </a:tc>
                <a:tc>
                  <a:txBody>
                    <a:bodyPr/>
                    <a:lstStyle/>
                    <a:p>
                      <a:r>
                        <a:rPr lang="en-US" dirty="0"/>
                        <a:t>10</a:t>
                      </a:r>
                    </a:p>
                  </a:txBody>
                  <a:tcPr/>
                </a:tc>
                <a:extLst>
                  <a:ext uri="{0D108BD9-81ED-4DB2-BD59-A6C34878D82A}">
                    <a16:rowId xmlns:a16="http://schemas.microsoft.com/office/drawing/2014/main" val="2435684139"/>
                  </a:ext>
                </a:extLst>
              </a:tr>
              <a:tr h="378853">
                <a:tc>
                  <a:txBody>
                    <a:bodyPr/>
                    <a:lstStyle/>
                    <a:p>
                      <a:r>
                        <a:rPr lang="en-US" dirty="0"/>
                        <a:t>Sell price to grid [cents/kWh]</a:t>
                      </a:r>
                    </a:p>
                  </a:txBody>
                  <a:tcPr/>
                </a:tc>
                <a:tc>
                  <a:txBody>
                    <a:bodyPr/>
                    <a:lstStyle/>
                    <a:p>
                      <a:r>
                        <a:rPr lang="en-US" dirty="0"/>
                        <a:t>0</a:t>
                      </a:r>
                    </a:p>
                  </a:txBody>
                  <a:tcPr/>
                </a:tc>
                <a:extLst>
                  <a:ext uri="{0D108BD9-81ED-4DB2-BD59-A6C34878D82A}">
                    <a16:rowId xmlns:a16="http://schemas.microsoft.com/office/drawing/2014/main" val="3116007086"/>
                  </a:ext>
                </a:extLst>
              </a:tr>
              <a:tr h="378853">
                <a:tc>
                  <a:txBody>
                    <a:bodyPr/>
                    <a:lstStyle/>
                    <a:p>
                      <a:r>
                        <a:rPr lang="en-US" dirty="0"/>
                        <a:t>Trade frequency [h]</a:t>
                      </a:r>
                    </a:p>
                  </a:txBody>
                  <a:tcPr/>
                </a:tc>
                <a:tc>
                  <a:txBody>
                    <a:bodyPr/>
                    <a:lstStyle/>
                    <a:p>
                      <a:r>
                        <a:rPr lang="en-US" dirty="0"/>
                        <a:t>1</a:t>
                      </a:r>
                    </a:p>
                  </a:txBody>
                  <a:tcPr/>
                </a:tc>
                <a:extLst>
                  <a:ext uri="{0D108BD9-81ED-4DB2-BD59-A6C34878D82A}">
                    <a16:rowId xmlns:a16="http://schemas.microsoft.com/office/drawing/2014/main" val="1607011185"/>
                  </a:ext>
                </a:extLst>
              </a:tr>
              <a:tr h="378853">
                <a:tc>
                  <a:txBody>
                    <a:bodyPr/>
                    <a:lstStyle/>
                    <a:p>
                      <a:r>
                        <a:rPr lang="en-US" dirty="0"/>
                        <a:t>Number of agent [-]</a:t>
                      </a:r>
                    </a:p>
                  </a:txBody>
                  <a:tcPr/>
                </a:tc>
                <a:tc>
                  <a:txBody>
                    <a:bodyPr/>
                    <a:lstStyle/>
                    <a:p>
                      <a:r>
                        <a:rPr lang="en-US" dirty="0"/>
                        <a:t>100</a:t>
                      </a:r>
                    </a:p>
                  </a:txBody>
                  <a:tcPr/>
                </a:tc>
                <a:extLst>
                  <a:ext uri="{0D108BD9-81ED-4DB2-BD59-A6C34878D82A}">
                    <a16:rowId xmlns:a16="http://schemas.microsoft.com/office/drawing/2014/main" val="935211675"/>
                  </a:ext>
                </a:extLst>
              </a:tr>
            </a:tbl>
          </a:graphicData>
        </a:graphic>
      </p:graphicFrame>
    </p:spTree>
    <p:extLst>
      <p:ext uri="{BB962C8B-B14F-4D97-AF65-F5344CB8AC3E}">
        <p14:creationId xmlns:p14="http://schemas.microsoft.com/office/powerpoint/2010/main" val="1809044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3.2.2 Design P2P energy trading model</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82EA327-CF61-DB75-F8EC-C9AC0E05851B}"/>
                  </a:ext>
                </a:extLst>
              </p:cNvPr>
              <p:cNvSpPr txBox="1"/>
              <p:nvPr/>
            </p:nvSpPr>
            <p:spPr>
              <a:xfrm>
                <a:off x="1801091" y="1385927"/>
                <a:ext cx="5737760" cy="4560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en-US" i="1" smtClean="0">
                              <a:latin typeface="Cambria Math" panose="02040503050406030204" pitchFamily="18" charset="0"/>
                            </a:rPr>
                          </m:ctrlPr>
                        </m:eqArrPr>
                        <m:e>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𝑛𝑒𝑡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𝑖𝑛𝑒𝑙𝑎𝑠</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𝑒𝑙𝑎𝑠</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𝑠h𝑖𝑓𝑡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𝑃𝑉</m:t>
                              </m:r>
                            </m:sup>
                          </m:sSubSup>
                          <m:r>
                            <a:rPr lang="ja-JP" altLang="en-US" i="1">
                              <a:latin typeface="Cambria Math" panose="02040503050406030204" pitchFamily="18" charset="0"/>
                            </a:rPr>
                            <m:t>　</m:t>
                          </m:r>
                          <m:r>
                            <a:rPr lang="en-US" i="1">
                              <a:latin typeface="Cambria Math" panose="02040503050406030204" pitchFamily="18" charset="0"/>
                            </a:rPr>
                            <m:t>(1)</m:t>
                          </m:r>
                        </m:e>
                      </m:eqArr>
                    </m:oMath>
                  </m:oMathPara>
                </a14:m>
                <a:endParaRPr lang="en-US" dirty="0"/>
              </a:p>
            </p:txBody>
          </p:sp>
        </mc:Choice>
        <mc:Fallback xmlns="">
          <p:sp>
            <p:nvSpPr>
              <p:cNvPr id="5" name="テキスト ボックス 4">
                <a:extLst>
                  <a:ext uri="{FF2B5EF4-FFF2-40B4-BE49-F238E27FC236}">
                    <a16:creationId xmlns:a16="http://schemas.microsoft.com/office/drawing/2014/main" id="{A82EA327-CF61-DB75-F8EC-C9AC0E05851B}"/>
                  </a:ext>
                </a:extLst>
              </p:cNvPr>
              <p:cNvSpPr txBox="1">
                <a:spLocks noRot="1" noChangeAspect="1" noMove="1" noResize="1" noEditPoints="1" noAdjustHandles="1" noChangeArrowheads="1" noChangeShapeType="1" noTextEdit="1"/>
              </p:cNvSpPr>
              <p:nvPr/>
            </p:nvSpPr>
            <p:spPr>
              <a:xfrm>
                <a:off x="1801091" y="1385927"/>
                <a:ext cx="5737760" cy="456087"/>
              </a:xfrm>
              <a:prstGeom prst="rect">
                <a:avLst/>
              </a:prstGeom>
              <a:blipFill>
                <a:blip r:embed="rId2"/>
                <a:stretch>
                  <a:fillRect b="-5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表 8">
                <a:extLst>
                  <a:ext uri="{FF2B5EF4-FFF2-40B4-BE49-F238E27FC236}">
                    <a16:creationId xmlns:a16="http://schemas.microsoft.com/office/drawing/2014/main" id="{937BC028-F450-8528-8CA7-31ECA94F58DC}"/>
                  </a:ext>
                </a:extLst>
              </p:cNvPr>
              <p:cNvGraphicFramePr>
                <a:graphicFrameLocks noGrp="1"/>
              </p:cNvGraphicFramePr>
              <p:nvPr>
                <p:extLst>
                  <p:ext uri="{D42A27DB-BD31-4B8C-83A1-F6EECF244321}">
                    <p14:modId xmlns:p14="http://schemas.microsoft.com/office/powerpoint/2010/main" val="2262649303"/>
                  </p:ext>
                </p:extLst>
              </p:nvPr>
            </p:nvGraphicFramePr>
            <p:xfrm>
              <a:off x="1801091" y="2596736"/>
              <a:ext cx="8035634" cy="3754583"/>
            </p:xfrm>
            <a:graphic>
              <a:graphicData uri="http://schemas.openxmlformats.org/drawingml/2006/table">
                <a:tbl>
                  <a:tblPr bandRow="1">
                    <a:tableStyleId>{5C22544A-7EE6-4342-B048-85BDC9FD1C3A}</a:tableStyleId>
                  </a:tblPr>
                  <a:tblGrid>
                    <a:gridCol w="1052945">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𝑛𝑒𝑡</m:t>
                                    </m:r>
                                  </m:sup>
                                </m:sSubSup>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Net consumption</a:t>
                          </a:r>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𝑖𝑛𝑒𝑙𝑎𝑠</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Inelastic consumption</a:t>
                          </a:r>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𝑒𝑙𝑎𝑠</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Elastic consumption (Demand Response)</a:t>
                          </a:r>
                        </a:p>
                      </a:txBody>
                      <a:tcPr>
                        <a:noFill/>
                      </a:tcPr>
                    </a:tc>
                    <a:extLst>
                      <a:ext uri="{0D108BD9-81ED-4DB2-BD59-A6C34878D82A}">
                        <a16:rowId xmlns:a16="http://schemas.microsoft.com/office/drawing/2014/main" val="4272089726"/>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𝑠h𝑖𝑓𝑡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Shifted consumption from past DR</a:t>
                          </a:r>
                        </a:p>
                      </a:txBody>
                      <a:tcPr>
                        <a:noFill/>
                      </a:tcPr>
                    </a:tc>
                    <a:extLst>
                      <a:ext uri="{0D108BD9-81ED-4DB2-BD59-A6C34878D82A}">
                        <a16:rowId xmlns:a16="http://schemas.microsoft.com/office/drawing/2014/main" val="199082574"/>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Battery charge/discharge (positive value for charging)</a:t>
                          </a:r>
                          <a:endParaRPr lang="en-US" sz="1600" dirty="0"/>
                        </a:p>
                      </a:txBody>
                      <a:tcPr>
                        <a:noFill/>
                      </a:tcPr>
                    </a:tc>
                    <a:extLst>
                      <a:ext uri="{0D108BD9-81ED-4DB2-BD59-A6C34878D82A}">
                        <a16:rowId xmlns:a16="http://schemas.microsoft.com/office/drawing/2014/main" val="938949808"/>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𝐸𝑉</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EV battery charge/discharge (positive value for charging)</a:t>
                          </a:r>
                          <a:endParaRPr lang="en-US" sz="1600" dirty="0"/>
                        </a:p>
                      </a:txBody>
                      <a:tcPr>
                        <a:noFill/>
                      </a:tcPr>
                    </a:tc>
                    <a:extLst>
                      <a:ext uri="{0D108BD9-81ED-4DB2-BD59-A6C34878D82A}">
                        <a16:rowId xmlns:a16="http://schemas.microsoft.com/office/drawing/2014/main" val="92687082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𝑃𝑉</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Production from PV panel</a:t>
                          </a:r>
                          <a:endParaRPr lang="en-US" sz="1600" dirty="0"/>
                        </a:p>
                      </a:txBody>
                      <a:tcPr>
                        <a:noFill/>
                      </a:tcPr>
                    </a:tc>
                    <a:extLst>
                      <a:ext uri="{0D108BD9-81ED-4DB2-BD59-A6C34878D82A}">
                        <a16:rowId xmlns:a16="http://schemas.microsoft.com/office/drawing/2014/main" val="3815214825"/>
                      </a:ext>
                    </a:extLst>
                  </a:tr>
                </a:tbl>
              </a:graphicData>
            </a:graphic>
          </p:graphicFrame>
        </mc:Choice>
        <mc:Fallback xmlns="">
          <p:graphicFrame>
            <p:nvGraphicFramePr>
              <p:cNvPr id="9" name="表 8">
                <a:extLst>
                  <a:ext uri="{FF2B5EF4-FFF2-40B4-BE49-F238E27FC236}">
                    <a16:creationId xmlns:a16="http://schemas.microsoft.com/office/drawing/2014/main" id="{937BC028-F450-8528-8CA7-31ECA94F58DC}"/>
                  </a:ext>
                </a:extLst>
              </p:cNvPr>
              <p:cNvGraphicFramePr>
                <a:graphicFrameLocks noGrp="1"/>
              </p:cNvGraphicFramePr>
              <p:nvPr>
                <p:extLst>
                  <p:ext uri="{D42A27DB-BD31-4B8C-83A1-F6EECF244321}">
                    <p14:modId xmlns:p14="http://schemas.microsoft.com/office/powerpoint/2010/main" val="2262649303"/>
                  </p:ext>
                </p:extLst>
              </p:nvPr>
            </p:nvGraphicFramePr>
            <p:xfrm>
              <a:off x="1801091" y="2596736"/>
              <a:ext cx="8035634" cy="3754583"/>
            </p:xfrm>
            <a:graphic>
              <a:graphicData uri="http://schemas.openxmlformats.org/drawingml/2006/table">
                <a:tbl>
                  <a:tblPr bandRow="1">
                    <a:tableStyleId>{5C22544A-7EE6-4342-B048-85BDC9FD1C3A}</a:tableStyleId>
                  </a:tblPr>
                  <a:tblGrid>
                    <a:gridCol w="1052945">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3"/>
                          <a:stretch>
                            <a:fillRect l="-578" t="-3409" r="-663584" b="-6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Net consumption</a:t>
                          </a:r>
                        </a:p>
                      </a:txBody>
                      <a:tcPr>
                        <a:noFill/>
                      </a:tcPr>
                    </a:tc>
                    <a:extLst>
                      <a:ext uri="{0D108BD9-81ED-4DB2-BD59-A6C34878D82A}">
                        <a16:rowId xmlns:a16="http://schemas.microsoft.com/office/drawing/2014/main" val="2567745939"/>
                      </a:ext>
                    </a:extLst>
                  </a:tr>
                  <a:tr h="536369">
                    <a:tc>
                      <a:txBody>
                        <a:bodyPr/>
                        <a:lstStyle/>
                        <a:p>
                          <a:endParaRPr lang="en-US"/>
                        </a:p>
                      </a:txBody>
                      <a:tcPr>
                        <a:blipFill>
                          <a:blip r:embed="rId3"/>
                          <a:stretch>
                            <a:fillRect l="-578" t="-103409" r="-663584" b="-503409"/>
                          </a:stretch>
                        </a:blipFill>
                      </a:tcPr>
                    </a:tc>
                    <a:tc>
                      <a:txBody>
                        <a:bodyPr/>
                        <a:lstStyle/>
                        <a:p>
                          <a:r>
                            <a:rPr lang="en-US" sz="1600" dirty="0"/>
                            <a:t>:</a:t>
                          </a:r>
                        </a:p>
                      </a:txBody>
                      <a:tcPr>
                        <a:noFill/>
                      </a:tcPr>
                    </a:tc>
                    <a:tc>
                      <a:txBody>
                        <a:bodyPr/>
                        <a:lstStyle/>
                        <a:p>
                          <a:r>
                            <a:rPr lang="en-US" sz="1600" dirty="0"/>
                            <a:t>Inelastic consumption</a:t>
                          </a:r>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3"/>
                          <a:stretch>
                            <a:fillRect l="-578" t="-203409" r="-663584" b="-403409"/>
                          </a:stretch>
                        </a:blipFill>
                      </a:tcPr>
                    </a:tc>
                    <a:tc>
                      <a:txBody>
                        <a:bodyPr/>
                        <a:lstStyle/>
                        <a:p>
                          <a:r>
                            <a:rPr lang="en-US" sz="1600" dirty="0"/>
                            <a:t>:</a:t>
                          </a:r>
                        </a:p>
                      </a:txBody>
                      <a:tcPr>
                        <a:noFill/>
                      </a:tcPr>
                    </a:tc>
                    <a:tc>
                      <a:txBody>
                        <a:bodyPr/>
                        <a:lstStyle/>
                        <a:p>
                          <a:r>
                            <a:rPr lang="en-US" sz="1600" dirty="0"/>
                            <a:t>Elastic consumption (Demand Response)</a:t>
                          </a:r>
                        </a:p>
                      </a:txBody>
                      <a:tcPr>
                        <a:noFill/>
                      </a:tcPr>
                    </a:tc>
                    <a:extLst>
                      <a:ext uri="{0D108BD9-81ED-4DB2-BD59-A6C34878D82A}">
                        <a16:rowId xmlns:a16="http://schemas.microsoft.com/office/drawing/2014/main" val="4272089726"/>
                      </a:ext>
                    </a:extLst>
                  </a:tr>
                  <a:tr h="536369">
                    <a:tc>
                      <a:txBody>
                        <a:bodyPr/>
                        <a:lstStyle/>
                        <a:p>
                          <a:endParaRPr lang="en-US"/>
                        </a:p>
                      </a:txBody>
                      <a:tcPr>
                        <a:blipFill>
                          <a:blip r:embed="rId3"/>
                          <a:stretch>
                            <a:fillRect l="-578" t="-300000" r="-663584" b="-298876"/>
                          </a:stretch>
                        </a:blipFill>
                      </a:tcPr>
                    </a:tc>
                    <a:tc>
                      <a:txBody>
                        <a:bodyPr/>
                        <a:lstStyle/>
                        <a:p>
                          <a:r>
                            <a:rPr lang="en-US" sz="1600" dirty="0"/>
                            <a:t>:</a:t>
                          </a:r>
                        </a:p>
                      </a:txBody>
                      <a:tcPr>
                        <a:noFill/>
                      </a:tcPr>
                    </a:tc>
                    <a:tc>
                      <a:txBody>
                        <a:bodyPr/>
                        <a:lstStyle/>
                        <a:p>
                          <a:r>
                            <a:rPr lang="en-US" sz="1600" dirty="0"/>
                            <a:t>Shifted consumption from past DR</a:t>
                          </a:r>
                        </a:p>
                      </a:txBody>
                      <a:tcPr>
                        <a:noFill/>
                      </a:tcPr>
                    </a:tc>
                    <a:extLst>
                      <a:ext uri="{0D108BD9-81ED-4DB2-BD59-A6C34878D82A}">
                        <a16:rowId xmlns:a16="http://schemas.microsoft.com/office/drawing/2014/main" val="199082574"/>
                      </a:ext>
                    </a:extLst>
                  </a:tr>
                  <a:tr h="536369">
                    <a:tc>
                      <a:txBody>
                        <a:bodyPr/>
                        <a:lstStyle/>
                        <a:p>
                          <a:endParaRPr lang="en-US"/>
                        </a:p>
                      </a:txBody>
                      <a:tcPr>
                        <a:blipFill>
                          <a:blip r:embed="rId3"/>
                          <a:stretch>
                            <a:fillRect l="-578" t="-404545" r="-663584" b="-202273"/>
                          </a:stretch>
                        </a:blipFill>
                      </a:tcPr>
                    </a:tc>
                    <a:tc>
                      <a:txBody>
                        <a:bodyPr/>
                        <a:lstStyle/>
                        <a:p>
                          <a:r>
                            <a:rPr lang="en-US" sz="1600" dirty="0"/>
                            <a:t>:</a:t>
                          </a:r>
                        </a:p>
                      </a:txBody>
                      <a:tcPr>
                        <a:noFill/>
                      </a:tcPr>
                    </a:tc>
                    <a:tc>
                      <a:txBody>
                        <a:bodyPr/>
                        <a:lstStyle/>
                        <a:p>
                          <a:r>
                            <a:rPr lang="en-US" altLang="ja-JP" sz="1600" dirty="0"/>
                            <a:t>Battery charge/discharge (positive value for charging)</a:t>
                          </a:r>
                          <a:endParaRPr lang="en-US" sz="1600" dirty="0"/>
                        </a:p>
                      </a:txBody>
                      <a:tcPr>
                        <a:noFill/>
                      </a:tcPr>
                    </a:tc>
                    <a:extLst>
                      <a:ext uri="{0D108BD9-81ED-4DB2-BD59-A6C34878D82A}">
                        <a16:rowId xmlns:a16="http://schemas.microsoft.com/office/drawing/2014/main" val="938949808"/>
                      </a:ext>
                    </a:extLst>
                  </a:tr>
                  <a:tr h="536369">
                    <a:tc>
                      <a:txBody>
                        <a:bodyPr/>
                        <a:lstStyle/>
                        <a:p>
                          <a:endParaRPr lang="en-US"/>
                        </a:p>
                      </a:txBody>
                      <a:tcPr>
                        <a:blipFill>
                          <a:blip r:embed="rId3"/>
                          <a:stretch>
                            <a:fillRect l="-578" t="-504545" r="-663584" b="-102273"/>
                          </a:stretch>
                        </a:blipFill>
                      </a:tcPr>
                    </a:tc>
                    <a:tc>
                      <a:txBody>
                        <a:bodyPr/>
                        <a:lstStyle/>
                        <a:p>
                          <a:r>
                            <a:rPr lang="en-US" sz="1600" dirty="0"/>
                            <a:t>:</a:t>
                          </a:r>
                        </a:p>
                      </a:txBody>
                      <a:tcPr>
                        <a:noFill/>
                      </a:tcPr>
                    </a:tc>
                    <a:tc>
                      <a:txBody>
                        <a:bodyPr/>
                        <a:lstStyle/>
                        <a:p>
                          <a:r>
                            <a:rPr lang="en-US" altLang="ja-JP" sz="1600" dirty="0"/>
                            <a:t>EV battery charge/discharge (positive value for charging)</a:t>
                          </a:r>
                          <a:endParaRPr lang="en-US" sz="1600" dirty="0"/>
                        </a:p>
                      </a:txBody>
                      <a:tcPr>
                        <a:noFill/>
                      </a:tcPr>
                    </a:tc>
                    <a:extLst>
                      <a:ext uri="{0D108BD9-81ED-4DB2-BD59-A6C34878D82A}">
                        <a16:rowId xmlns:a16="http://schemas.microsoft.com/office/drawing/2014/main" val="926870822"/>
                      </a:ext>
                    </a:extLst>
                  </a:tr>
                  <a:tr h="536369">
                    <a:tc>
                      <a:txBody>
                        <a:bodyPr/>
                        <a:lstStyle/>
                        <a:p>
                          <a:endParaRPr lang="en-US"/>
                        </a:p>
                      </a:txBody>
                      <a:tcPr>
                        <a:blipFill>
                          <a:blip r:embed="rId3"/>
                          <a:stretch>
                            <a:fillRect l="-578" t="-604545" r="-663584" b="-2273"/>
                          </a:stretch>
                        </a:blipFill>
                      </a:tcPr>
                    </a:tc>
                    <a:tc>
                      <a:txBody>
                        <a:bodyPr/>
                        <a:lstStyle/>
                        <a:p>
                          <a:r>
                            <a:rPr lang="en-US" sz="1600" dirty="0"/>
                            <a:t>:</a:t>
                          </a:r>
                        </a:p>
                      </a:txBody>
                      <a:tcPr>
                        <a:noFill/>
                      </a:tcPr>
                    </a:tc>
                    <a:tc>
                      <a:txBody>
                        <a:bodyPr/>
                        <a:lstStyle/>
                        <a:p>
                          <a:r>
                            <a:rPr lang="en-US" altLang="ja-JP" sz="1600" dirty="0"/>
                            <a:t>Production from PV panel</a:t>
                          </a:r>
                          <a:endParaRPr lang="en-US" sz="1600" dirty="0"/>
                        </a:p>
                      </a:txBody>
                      <a:tcPr>
                        <a:noFill/>
                      </a:tcPr>
                    </a:tc>
                    <a:extLst>
                      <a:ext uri="{0D108BD9-81ED-4DB2-BD59-A6C34878D82A}">
                        <a16:rowId xmlns:a16="http://schemas.microsoft.com/office/drawing/2014/main" val="3815214825"/>
                      </a:ext>
                    </a:extLst>
                  </a:tr>
                </a:tbl>
              </a:graphicData>
            </a:graphic>
          </p:graphicFrame>
        </mc:Fallback>
      </mc:AlternateContent>
      <p:sp>
        <p:nvSpPr>
          <p:cNvPr id="2" name="コンテンツ プレースホルダー 1">
            <a:extLst>
              <a:ext uri="{FF2B5EF4-FFF2-40B4-BE49-F238E27FC236}">
                <a16:creationId xmlns:a16="http://schemas.microsoft.com/office/drawing/2014/main" id="{E94EB9E8-6C02-081F-6644-4AFD030DC94A}"/>
              </a:ext>
            </a:extLst>
          </p:cNvPr>
          <p:cNvSpPr>
            <a:spLocks noGrp="1"/>
          </p:cNvSpPr>
          <p:nvPr>
            <p:ph sz="quarter" idx="17"/>
          </p:nvPr>
        </p:nvSpPr>
        <p:spPr>
          <a:xfrm>
            <a:off x="213740" y="829951"/>
            <a:ext cx="8767320" cy="387743"/>
          </a:xfrm>
        </p:spPr>
        <p:txBody>
          <a:bodyPr/>
          <a:lstStyle/>
          <a:p>
            <a:r>
              <a:rPr kumimoji="1" lang="en-US" altLang="ja-JP" sz="1800" dirty="0"/>
              <a:t>Net demands of each agent are defined as following equation: </a:t>
            </a:r>
            <a:endParaRPr kumimoji="1" lang="ja-JP" altLang="en-US" sz="1800" dirty="0"/>
          </a:p>
        </p:txBody>
      </p:sp>
    </p:spTree>
    <p:extLst>
      <p:ext uri="{BB962C8B-B14F-4D97-AF65-F5344CB8AC3E}">
        <p14:creationId xmlns:p14="http://schemas.microsoft.com/office/powerpoint/2010/main" val="3632491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3.2.2 Design P2P energy trading model</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82EA327-CF61-DB75-F8EC-C9AC0E05851B}"/>
                  </a:ext>
                </a:extLst>
              </p:cNvPr>
              <p:cNvSpPr txBox="1"/>
              <p:nvPr/>
            </p:nvSpPr>
            <p:spPr>
              <a:xfrm>
                <a:off x="2084120" y="1017794"/>
                <a:ext cx="5737760" cy="454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en-US" i="1" smtClean="0">
                              <a:latin typeface="Cambria Math" panose="02040503050406030204" pitchFamily="18" charset="0"/>
                            </a:rPr>
                          </m:ctrlPr>
                        </m:eqArrPr>
                        <m:e>
                          <m:sSubSup>
                            <m:sSubSupPr>
                              <m:ctrlPr>
                                <a:rPr lang="en-US" i="1">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i="1">
                                  <a:latin typeface="Cambria Math" panose="02040503050406030204" pitchFamily="18" charset="0"/>
                                </a:rPr>
                                <m:t>,</m:t>
                              </m:r>
                              <m:r>
                                <a:rPr lang="en-US" i="1">
                                  <a:latin typeface="Cambria Math" panose="02040503050406030204" pitchFamily="18" charset="0"/>
                                </a:rPr>
                                <m:t>𝑖𝑛𝑒𝑙𝑎𝑠</m:t>
                              </m:r>
                              <m:r>
                                <a:rPr lang="en-US" i="1">
                                  <a:latin typeface="Cambria Math" panose="02040503050406030204" pitchFamily="18" charset="0"/>
                                </a:rPr>
                                <m:t>,</m:t>
                              </m:r>
                              <m:r>
                                <a:rPr lang="en-US" i="1">
                                  <a:latin typeface="Cambria Math" panose="02040503050406030204" pitchFamily="18" charset="0"/>
                                </a:rPr>
                                <m:t>𝑏𝑢𝑦</m:t>
                              </m:r>
                            </m:sup>
                          </m:sSub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𝑢𝑏</m:t>
                              </m:r>
                            </m:sup>
                          </m:sSup>
                          <m:r>
                            <a:rPr lang="ja-JP" altLang="en-US" i="1">
                              <a:latin typeface="Cambria Math" panose="02040503050406030204" pitchFamily="18" charset="0"/>
                            </a:rPr>
                            <m:t>　</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e>
                      </m:eqArr>
                    </m:oMath>
                  </m:oMathPara>
                </a14:m>
                <a:endParaRPr lang="en-US" dirty="0"/>
              </a:p>
            </p:txBody>
          </p:sp>
        </mc:Choice>
        <mc:Fallback xmlns="">
          <p:sp>
            <p:nvSpPr>
              <p:cNvPr id="5" name="テキスト ボックス 4">
                <a:extLst>
                  <a:ext uri="{FF2B5EF4-FFF2-40B4-BE49-F238E27FC236}">
                    <a16:creationId xmlns:a16="http://schemas.microsoft.com/office/drawing/2014/main" id="{A82EA327-CF61-DB75-F8EC-C9AC0E05851B}"/>
                  </a:ext>
                </a:extLst>
              </p:cNvPr>
              <p:cNvSpPr txBox="1">
                <a:spLocks noRot="1" noChangeAspect="1" noMove="1" noResize="1" noEditPoints="1" noAdjustHandles="1" noChangeArrowheads="1" noChangeShapeType="1" noTextEdit="1"/>
              </p:cNvSpPr>
              <p:nvPr/>
            </p:nvSpPr>
            <p:spPr>
              <a:xfrm>
                <a:off x="2084120" y="1017794"/>
                <a:ext cx="5737760" cy="454292"/>
              </a:xfrm>
              <a:prstGeom prst="rect">
                <a:avLst/>
              </a:prstGeom>
              <a:blipFill>
                <a:blip r:embed="rId2"/>
                <a:stretch>
                  <a:fillRect b="-54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表 8">
                <a:extLst>
                  <a:ext uri="{FF2B5EF4-FFF2-40B4-BE49-F238E27FC236}">
                    <a16:creationId xmlns:a16="http://schemas.microsoft.com/office/drawing/2014/main" id="{937BC028-F450-8528-8CA7-31ECA94F58DC}"/>
                  </a:ext>
                </a:extLst>
              </p:cNvPr>
              <p:cNvGraphicFramePr>
                <a:graphicFrameLocks noGrp="1"/>
              </p:cNvGraphicFramePr>
              <p:nvPr>
                <p:extLst>
                  <p:ext uri="{D42A27DB-BD31-4B8C-83A1-F6EECF244321}">
                    <p14:modId xmlns:p14="http://schemas.microsoft.com/office/powerpoint/2010/main" val="4204556354"/>
                  </p:ext>
                </p:extLst>
              </p:nvPr>
            </p:nvGraphicFramePr>
            <p:xfrm>
              <a:off x="1662545" y="1717963"/>
              <a:ext cx="8158346" cy="1072738"/>
            </p:xfrm>
            <a:graphic>
              <a:graphicData uri="http://schemas.openxmlformats.org/drawingml/2006/table">
                <a:tbl>
                  <a:tblPr bandRow="1">
                    <a:tableStyleId>{5C22544A-7EE6-4342-B048-85BDC9FD1C3A}</a:tableStyleId>
                  </a:tblPr>
                  <a:tblGrid>
                    <a:gridCol w="1240510">
                      <a:extLst>
                        <a:ext uri="{9D8B030D-6E8A-4147-A177-3AD203B41FA5}">
                          <a16:colId xmlns:a16="http://schemas.microsoft.com/office/drawing/2014/main" val="2815638221"/>
                        </a:ext>
                      </a:extLst>
                    </a:gridCol>
                    <a:gridCol w="208280">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rPr>
                                      <m:t>𝜆</m:t>
                                    </m:r>
                                  </m:e>
                                  <m:sub>
                                    <m:r>
                                      <a:rPr lang="en-US" sz="1600" i="1">
                                        <a:latin typeface="Cambria Math" panose="02040503050406030204" pitchFamily="18" charset="0"/>
                                      </a:rPr>
                                      <m:t>𝑡</m:t>
                                    </m:r>
                                    <m:r>
                                      <a:rPr lang="en-US" sz="1600" i="1">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𝑏𝑖𝑑</m:t>
                                    </m:r>
                                    <m:r>
                                      <a:rPr lang="en-US" sz="1600" i="1">
                                        <a:latin typeface="Cambria Math" panose="02040503050406030204" pitchFamily="18" charset="0"/>
                                      </a:rPr>
                                      <m:t>,</m:t>
                                    </m:r>
                                    <m:r>
                                      <a:rPr lang="en-US" sz="1600" i="1">
                                        <a:latin typeface="Cambria Math" panose="02040503050406030204" pitchFamily="18" charset="0"/>
                                      </a:rPr>
                                      <m:t>𝑖𝑛𝑒𝑙𝑎𝑠</m:t>
                                    </m:r>
                                    <m:r>
                                      <a:rPr lang="en-US" sz="1600" i="1">
                                        <a:latin typeface="Cambria Math" panose="02040503050406030204" pitchFamily="18" charset="0"/>
                                      </a:rPr>
                                      <m:t>,</m:t>
                                    </m:r>
                                    <m:r>
                                      <a:rPr lang="en-US" sz="1600" i="1">
                                        <a:latin typeface="Cambria Math" panose="02040503050406030204" pitchFamily="18" charset="0"/>
                                      </a:rPr>
                                      <m:t>𝑏𝑢𝑦</m:t>
                                    </m:r>
                                  </m:sup>
                                </m:sSubSup>
                              </m:oMath>
                            </m:oMathPara>
                          </a14:m>
                          <a:endParaRPr lang="en-US" sz="1600" dirty="0"/>
                        </a:p>
                      </a:txBody>
                      <a:tcPr>
                        <a:no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Bid price for inelastic consumption</a:t>
                          </a:r>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p>
                                  <m:sSupPr>
                                    <m:ctrlPr>
                                      <a:rPr lang="en-US" sz="1600" i="1" smtClean="0">
                                        <a:latin typeface="Cambria Math" panose="02040503050406030204" pitchFamily="18" charset="0"/>
                                      </a:rPr>
                                    </m:ctrlPr>
                                  </m:sSupPr>
                                  <m:e>
                                    <m:r>
                                      <a:rPr lang="en-US" sz="1600" i="1">
                                        <a:latin typeface="Cambria Math" panose="02040503050406030204" pitchFamily="18" charset="0"/>
                                      </a:rPr>
                                      <m:t>𝜆</m:t>
                                    </m:r>
                                  </m:e>
                                  <m:sup>
                                    <m:r>
                                      <a:rPr lang="en-US" sz="1600" i="1">
                                        <a:latin typeface="Cambria Math" panose="02040503050406030204" pitchFamily="18" charset="0"/>
                                      </a:rPr>
                                      <m:t>𝑢𝑏</m:t>
                                    </m:r>
                                  </m:sup>
                                </m:s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Upper bound of bid price</a:t>
                          </a:r>
                          <a:endParaRPr lang="en-US" sz="1600" dirty="0"/>
                        </a:p>
                      </a:txBody>
                      <a:tcPr>
                        <a:noFill/>
                      </a:tcPr>
                    </a:tc>
                    <a:extLst>
                      <a:ext uri="{0D108BD9-81ED-4DB2-BD59-A6C34878D82A}">
                        <a16:rowId xmlns:a16="http://schemas.microsoft.com/office/drawing/2014/main" val="4272089726"/>
                      </a:ext>
                    </a:extLst>
                  </a:tr>
                </a:tbl>
              </a:graphicData>
            </a:graphic>
          </p:graphicFrame>
        </mc:Choice>
        <mc:Fallback xmlns="">
          <p:graphicFrame>
            <p:nvGraphicFramePr>
              <p:cNvPr id="9" name="表 8">
                <a:extLst>
                  <a:ext uri="{FF2B5EF4-FFF2-40B4-BE49-F238E27FC236}">
                    <a16:creationId xmlns:a16="http://schemas.microsoft.com/office/drawing/2014/main" id="{937BC028-F450-8528-8CA7-31ECA94F58DC}"/>
                  </a:ext>
                </a:extLst>
              </p:cNvPr>
              <p:cNvGraphicFramePr>
                <a:graphicFrameLocks noGrp="1"/>
              </p:cNvGraphicFramePr>
              <p:nvPr>
                <p:extLst>
                  <p:ext uri="{D42A27DB-BD31-4B8C-83A1-F6EECF244321}">
                    <p14:modId xmlns:p14="http://schemas.microsoft.com/office/powerpoint/2010/main" val="4204556354"/>
                  </p:ext>
                </p:extLst>
              </p:nvPr>
            </p:nvGraphicFramePr>
            <p:xfrm>
              <a:off x="1662545" y="1717963"/>
              <a:ext cx="8158346" cy="1072738"/>
            </p:xfrm>
            <a:graphic>
              <a:graphicData uri="http://schemas.openxmlformats.org/drawingml/2006/table">
                <a:tbl>
                  <a:tblPr bandRow="1">
                    <a:tableStyleId>{5C22544A-7EE6-4342-B048-85BDC9FD1C3A}</a:tableStyleId>
                  </a:tblPr>
                  <a:tblGrid>
                    <a:gridCol w="1240510">
                      <a:extLst>
                        <a:ext uri="{9D8B030D-6E8A-4147-A177-3AD203B41FA5}">
                          <a16:colId xmlns:a16="http://schemas.microsoft.com/office/drawing/2014/main" val="2815638221"/>
                        </a:ext>
                      </a:extLst>
                    </a:gridCol>
                    <a:gridCol w="208280">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3"/>
                          <a:stretch>
                            <a:fillRect l="-490" t="-3371" r="-557843" b="-101124"/>
                          </a:stretch>
                        </a:blip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Bid price for inelastic consumption</a:t>
                          </a:r>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3"/>
                          <a:stretch>
                            <a:fillRect l="-490" t="-104545" r="-557843" b="-2273"/>
                          </a:stretch>
                        </a:blipFill>
                      </a:tcPr>
                    </a:tc>
                    <a:tc>
                      <a:txBody>
                        <a:bodyPr/>
                        <a:lstStyle/>
                        <a:p>
                          <a:r>
                            <a:rPr lang="en-US" sz="1600" dirty="0"/>
                            <a:t>:</a:t>
                          </a:r>
                        </a:p>
                      </a:txBody>
                      <a:tcPr>
                        <a:noFill/>
                      </a:tcPr>
                    </a:tc>
                    <a:tc>
                      <a:txBody>
                        <a:bodyPr/>
                        <a:lstStyle/>
                        <a:p>
                          <a:r>
                            <a:rPr lang="en-US" altLang="ja-JP" sz="1600" dirty="0"/>
                            <a:t>Upper bound of bid price</a:t>
                          </a:r>
                          <a:endParaRPr lang="en-US" sz="1600" dirty="0"/>
                        </a:p>
                      </a:txBody>
                      <a:tcPr>
                        <a:noFill/>
                      </a:tcPr>
                    </a:tc>
                    <a:extLst>
                      <a:ext uri="{0D108BD9-81ED-4DB2-BD59-A6C34878D82A}">
                        <a16:rowId xmlns:a16="http://schemas.microsoft.com/office/drawing/2014/main" val="4272089726"/>
                      </a:ext>
                    </a:extLst>
                  </a:tr>
                </a:tbl>
              </a:graphicData>
            </a:graphic>
          </p:graphicFrame>
        </mc:Fallback>
      </mc:AlternateContent>
      <p:cxnSp>
        <p:nvCxnSpPr>
          <p:cNvPr id="2" name="直線コネクタ 1">
            <a:extLst>
              <a:ext uri="{FF2B5EF4-FFF2-40B4-BE49-F238E27FC236}">
                <a16:creationId xmlns:a16="http://schemas.microsoft.com/office/drawing/2014/main" id="{9479673B-951B-8AF6-8FD3-56846133DDD9}"/>
              </a:ext>
            </a:extLst>
          </p:cNvPr>
          <p:cNvCxnSpPr>
            <a:cxnSpLocks/>
          </p:cNvCxnSpPr>
          <p:nvPr/>
        </p:nvCxnSpPr>
        <p:spPr>
          <a:xfrm>
            <a:off x="-3962" y="2834247"/>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DAD92C61-9010-E253-D11F-48373E087BB8}"/>
                  </a:ext>
                </a:extLst>
              </p:cNvPr>
              <p:cNvSpPr txBox="1"/>
              <p:nvPr/>
            </p:nvSpPr>
            <p:spPr>
              <a:xfrm>
                <a:off x="2302797" y="3164171"/>
                <a:ext cx="4960620" cy="104669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ja-JP" i="1" smtClean="0">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altLang="ja-JP" sz="18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𝐸</m:t>
                          </m:r>
                        </m:e>
                        <m:sub>
                          <m:r>
                            <a:rPr lang="en-US" altLang="ja-JP" sz="18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𝑘</m:t>
                          </m:r>
                          <m:r>
                            <a:rPr lang="en-US" altLang="ja-JP" sz="18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altLang="ja-JP" sz="18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altLang="ja-JP" sz="18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𝑒𝑙𝑎𝑠</m:t>
                          </m:r>
                        </m:sup>
                      </m:sSubSup>
                    </m:oMath>
                  </m:oMathPara>
                </a14:m>
                <a:endParaRPr lang="en-US" altLang="ja-JP" sz="1800" i="1" dirty="0">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endParaRPr>
              </a:p>
              <a:p>
                <a:endParaRPr lang="en-US" altLang="ja-JP" sz="1800" i="1" dirty="0">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endParaRPr>
              </a:p>
              <a:p>
                <a:pPr/>
                <a14:m>
                  <m:oMathPara xmlns:m="http://schemas.openxmlformats.org/officeDocument/2006/math">
                    <m:oMathParaPr>
                      <m:jc m:val="centerGroup"/>
                    </m:oMathParaPr>
                    <m:oMath xmlns:m="http://schemas.openxmlformats.org/officeDocument/2006/math">
                      <m:sSubSup>
                        <m:sSubSupPr>
                          <m:ctrlPr>
                            <a:rPr lang="en-US" altLang="ja-JP" i="1">
                              <a:solidFill>
                                <a:srgbClr val="836967"/>
                              </a:solidFill>
                              <a:highlight>
                                <a:srgbClr val="FFFFFF"/>
                              </a:highlight>
                              <a:latin typeface="Cambria Math" panose="02040503050406030204" pitchFamily="18" charset="0"/>
                            </a:rPr>
                          </m:ctrlPr>
                        </m:sSubSupPr>
                        <m:e>
                          <m:r>
                            <a:rPr lang="en-US" altLang="ja-JP" i="1">
                              <a:highlight>
                                <a:srgbClr val="FFFFFF"/>
                              </a:highlight>
                              <a:latin typeface="Cambria Math" panose="02040503050406030204" pitchFamily="18" charset="0"/>
                            </a:rPr>
                            <m:t>𝜆</m:t>
                          </m:r>
                        </m:e>
                        <m:sub>
                          <m:r>
                            <a:rPr lang="en-US" altLang="ja-JP" i="1">
                              <a:highlight>
                                <a:srgbClr val="FFFFFF"/>
                              </a:highlight>
                              <a:latin typeface="Cambria Math" panose="02040503050406030204" pitchFamily="18" charset="0"/>
                            </a:rPr>
                            <m:t>𝑡</m:t>
                          </m:r>
                          <m:r>
                            <a:rPr lang="en-US" altLang="ja-JP">
                              <a:highlight>
                                <a:srgbClr val="FFFFFF"/>
                              </a:highlight>
                              <a:latin typeface="Cambria Math" panose="02040503050406030204" pitchFamily="18" charset="0"/>
                            </a:rPr>
                            <m:t>,</m:t>
                          </m:r>
                          <m:r>
                            <a:rPr lang="en-US" altLang="ja-JP" i="1">
                              <a:highlight>
                                <a:srgbClr val="FFFFFF"/>
                              </a:highlight>
                              <a:latin typeface="Cambria Math" panose="02040503050406030204" pitchFamily="18" charset="0"/>
                            </a:rPr>
                            <m:t>𝑛</m:t>
                          </m:r>
                        </m:sub>
                        <m:sup>
                          <m:r>
                            <a:rPr lang="en-US" altLang="ja-JP" i="1">
                              <a:highlight>
                                <a:srgbClr val="FFFFFF"/>
                              </a:highlight>
                              <a:latin typeface="Cambria Math" panose="02040503050406030204" pitchFamily="18" charset="0"/>
                            </a:rPr>
                            <m:t>𝑏𝑖𝑑</m:t>
                          </m:r>
                          <m:r>
                            <a:rPr lang="en-US" altLang="ja-JP">
                              <a:highlight>
                                <a:srgbClr val="FFFFFF"/>
                              </a:highlight>
                              <a:latin typeface="Cambria Math" panose="02040503050406030204" pitchFamily="18" charset="0"/>
                            </a:rPr>
                            <m:t>,</m:t>
                          </m:r>
                          <m:r>
                            <m:rPr>
                              <m:sty m:val="p"/>
                            </m:rPr>
                            <a:rPr lang="en-US" altLang="ja-JP">
                              <a:highlight>
                                <a:srgbClr val="FFFFFF"/>
                              </a:highlight>
                              <a:latin typeface="Cambria Math" panose="02040503050406030204" pitchFamily="18" charset="0"/>
                            </a:rPr>
                            <m:t>elas</m:t>
                          </m:r>
                          <m:r>
                            <a:rPr lang="en-US" altLang="ja-JP" i="1">
                              <a:highlight>
                                <a:srgbClr val="FFFFFF"/>
                              </a:highlight>
                              <a:latin typeface="Cambria Math" panose="02040503050406030204" pitchFamily="18" charset="0"/>
                            </a:rPr>
                            <m:t>, </m:t>
                          </m:r>
                          <m:r>
                            <a:rPr lang="en-US" altLang="ja-JP" i="1">
                              <a:highlight>
                                <a:srgbClr val="FFFFFF"/>
                              </a:highlight>
                              <a:latin typeface="Cambria Math" panose="02040503050406030204" pitchFamily="18" charset="0"/>
                            </a:rPr>
                            <m:t>𝑏𝑢𝑦</m:t>
                          </m:r>
                        </m:sup>
                      </m:sSubSup>
                    </m:oMath>
                  </m:oMathPara>
                </a14:m>
                <a:endParaRPr lang="ja-JP" altLang="en-US" dirty="0"/>
              </a:p>
            </p:txBody>
          </p:sp>
        </mc:Choice>
        <mc:Fallback xmlns="">
          <p:sp>
            <p:nvSpPr>
              <p:cNvPr id="8" name="テキスト ボックス 7">
                <a:extLst>
                  <a:ext uri="{FF2B5EF4-FFF2-40B4-BE49-F238E27FC236}">
                    <a16:creationId xmlns:a16="http://schemas.microsoft.com/office/drawing/2014/main" id="{DAD92C61-9010-E253-D11F-48373E087BB8}"/>
                  </a:ext>
                </a:extLst>
              </p:cNvPr>
              <p:cNvSpPr txBox="1">
                <a:spLocks noRot="1" noChangeAspect="1" noMove="1" noResize="1" noEditPoints="1" noAdjustHandles="1" noChangeArrowheads="1" noChangeShapeType="1" noTextEdit="1"/>
              </p:cNvSpPr>
              <p:nvPr/>
            </p:nvSpPr>
            <p:spPr>
              <a:xfrm>
                <a:off x="2302797" y="3164171"/>
                <a:ext cx="4960620" cy="104669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10" name="表 9">
                <a:extLst>
                  <a:ext uri="{FF2B5EF4-FFF2-40B4-BE49-F238E27FC236}">
                    <a16:creationId xmlns:a16="http://schemas.microsoft.com/office/drawing/2014/main" id="{37A1F529-EBA1-AD29-71A9-80D6D6F22325}"/>
                  </a:ext>
                </a:extLst>
              </p:cNvPr>
              <p:cNvGraphicFramePr>
                <a:graphicFrameLocks noGrp="1"/>
              </p:cNvGraphicFramePr>
              <p:nvPr>
                <p:extLst>
                  <p:ext uri="{D42A27DB-BD31-4B8C-83A1-F6EECF244321}">
                    <p14:modId xmlns:p14="http://schemas.microsoft.com/office/powerpoint/2010/main" val="2299521552"/>
                  </p:ext>
                </p:extLst>
              </p:nvPr>
            </p:nvGraphicFramePr>
            <p:xfrm>
              <a:off x="1662545" y="4695008"/>
              <a:ext cx="8158346" cy="1072738"/>
            </p:xfrm>
            <a:graphic>
              <a:graphicData uri="http://schemas.openxmlformats.org/drawingml/2006/table">
                <a:tbl>
                  <a:tblPr bandRow="1">
                    <a:tableStyleId>{5C22544A-7EE6-4342-B048-85BDC9FD1C3A}</a:tableStyleId>
                  </a:tblPr>
                  <a:tblGrid>
                    <a:gridCol w="1240510">
                      <a:extLst>
                        <a:ext uri="{9D8B030D-6E8A-4147-A177-3AD203B41FA5}">
                          <a16:colId xmlns:a16="http://schemas.microsoft.com/office/drawing/2014/main" val="2815638221"/>
                        </a:ext>
                      </a:extLst>
                    </a:gridCol>
                    <a:gridCol w="208280">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Sup>
                                  <m:sSubSupPr>
                                    <m:ctrlPr>
                                      <a:rPr lang="en-US" altLang="ja-JP" sz="1600" i="1" smtClean="0">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altLang="ja-JP" sz="16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𝐸</m:t>
                                    </m:r>
                                  </m:e>
                                  <m:sub>
                                    <m:r>
                                      <a:rPr lang="en-US" altLang="ja-JP" sz="16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𝑘</m:t>
                                    </m:r>
                                    <m:r>
                                      <a:rPr lang="en-US" altLang="ja-JP" sz="16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altLang="ja-JP" sz="16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altLang="ja-JP" sz="1600" i="1">
                                        <a:solidFill>
                                          <a:schemeClr val="tx1"/>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𝑒𝑙𝑎𝑠</m:t>
                                    </m:r>
                                  </m:sup>
                                </m:sSubSup>
                              </m:oMath>
                            </m:oMathPara>
                          </a14:m>
                          <a:endParaRPr lang="en-US" sz="1600" dirty="0"/>
                        </a:p>
                      </a:txBody>
                      <a:tcPr>
                        <a:no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Desired elastic consumption amount</a:t>
                          </a:r>
                        </a:p>
                      </a:txBody>
                      <a:tcPr>
                        <a:noFill/>
                      </a:tcPr>
                    </a:tc>
                    <a:extLst>
                      <a:ext uri="{0D108BD9-81ED-4DB2-BD59-A6C34878D82A}">
                        <a16:rowId xmlns:a16="http://schemas.microsoft.com/office/drawing/2014/main" val="1172270262"/>
                      </a:ext>
                    </a:extLst>
                  </a:tr>
                  <a:tr h="53636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lang="en-US" altLang="ja-JP" sz="1600" i="1" smtClean="0">
                                        <a:solidFill>
                                          <a:srgbClr val="836967"/>
                                        </a:solidFill>
                                        <a:highlight>
                                          <a:srgbClr val="FFFFFF"/>
                                        </a:highlight>
                                        <a:latin typeface="Cambria Math" panose="02040503050406030204" pitchFamily="18" charset="0"/>
                                      </a:rPr>
                                    </m:ctrlPr>
                                  </m:sSubSupPr>
                                  <m:e>
                                    <m:r>
                                      <a:rPr lang="en-US" altLang="ja-JP" sz="1600" i="1">
                                        <a:highlight>
                                          <a:srgbClr val="FFFFFF"/>
                                        </a:highlight>
                                        <a:latin typeface="Cambria Math" panose="02040503050406030204" pitchFamily="18" charset="0"/>
                                      </a:rPr>
                                      <m:t>𝜆</m:t>
                                    </m:r>
                                  </m:e>
                                  <m:sub>
                                    <m:r>
                                      <a:rPr lang="en-US" altLang="ja-JP" sz="1600" i="1">
                                        <a:highlight>
                                          <a:srgbClr val="FFFFFF"/>
                                        </a:highlight>
                                        <a:latin typeface="Cambria Math" panose="02040503050406030204" pitchFamily="18" charset="0"/>
                                      </a:rPr>
                                      <m:t>𝑡</m:t>
                                    </m:r>
                                    <m:r>
                                      <a:rPr lang="en-US" altLang="ja-JP" sz="1600">
                                        <a:highlight>
                                          <a:srgbClr val="FFFFFF"/>
                                        </a:highlight>
                                        <a:latin typeface="Cambria Math" panose="02040503050406030204" pitchFamily="18" charset="0"/>
                                      </a:rPr>
                                      <m:t>,</m:t>
                                    </m:r>
                                    <m:r>
                                      <a:rPr lang="en-US" altLang="ja-JP" sz="1600" i="1">
                                        <a:highlight>
                                          <a:srgbClr val="FFFFFF"/>
                                        </a:highlight>
                                        <a:latin typeface="Cambria Math" panose="02040503050406030204" pitchFamily="18" charset="0"/>
                                      </a:rPr>
                                      <m:t>𝑛</m:t>
                                    </m:r>
                                  </m:sub>
                                  <m:sup>
                                    <m:r>
                                      <a:rPr lang="en-US" altLang="ja-JP" sz="1600" i="1">
                                        <a:highlight>
                                          <a:srgbClr val="FFFFFF"/>
                                        </a:highlight>
                                        <a:latin typeface="Cambria Math" panose="02040503050406030204" pitchFamily="18" charset="0"/>
                                      </a:rPr>
                                      <m:t>𝑏𝑖𝑑</m:t>
                                    </m:r>
                                    <m:r>
                                      <a:rPr lang="en-US" altLang="ja-JP" sz="1600">
                                        <a:highlight>
                                          <a:srgbClr val="FFFFFF"/>
                                        </a:highlight>
                                        <a:latin typeface="Cambria Math" panose="02040503050406030204" pitchFamily="18" charset="0"/>
                                      </a:rPr>
                                      <m:t>,</m:t>
                                    </m:r>
                                    <m:r>
                                      <m:rPr>
                                        <m:sty m:val="p"/>
                                      </m:rPr>
                                      <a:rPr lang="en-US" altLang="ja-JP" sz="1600">
                                        <a:highlight>
                                          <a:srgbClr val="FFFFFF"/>
                                        </a:highlight>
                                        <a:latin typeface="Cambria Math" panose="02040503050406030204" pitchFamily="18" charset="0"/>
                                      </a:rPr>
                                      <m:t>elas</m:t>
                                    </m:r>
                                    <m:r>
                                      <a:rPr lang="en-US" altLang="ja-JP" sz="1600" i="1">
                                        <a:highlight>
                                          <a:srgbClr val="FFFFFF"/>
                                        </a:highlight>
                                        <a:latin typeface="Cambria Math" panose="02040503050406030204" pitchFamily="18" charset="0"/>
                                      </a:rPr>
                                      <m:t>, </m:t>
                                    </m:r>
                                    <m:r>
                                      <a:rPr lang="en-US" altLang="ja-JP" sz="1600" i="1">
                                        <a:highlight>
                                          <a:srgbClr val="FFFFFF"/>
                                        </a:highlight>
                                        <a:latin typeface="Cambria Math" panose="02040503050406030204" pitchFamily="18" charset="0"/>
                                      </a:rPr>
                                      <m:t>𝑏𝑢𝑦</m:t>
                                    </m:r>
                                  </m:sup>
                                </m:sSubSup>
                              </m:oMath>
                            </m:oMathPara>
                          </a14:m>
                          <a:endParaRPr lang="en-US" sz="1600" dirty="0"/>
                        </a:p>
                      </a:txBody>
                      <a:tcPr>
                        <a:no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Bid price for elastic consumption</a:t>
                          </a:r>
                        </a:p>
                      </a:txBody>
                      <a:tcPr>
                        <a:noFill/>
                      </a:tcPr>
                    </a:tc>
                    <a:extLst>
                      <a:ext uri="{0D108BD9-81ED-4DB2-BD59-A6C34878D82A}">
                        <a16:rowId xmlns:a16="http://schemas.microsoft.com/office/drawing/2014/main" val="3366865991"/>
                      </a:ext>
                    </a:extLst>
                  </a:tr>
                </a:tbl>
              </a:graphicData>
            </a:graphic>
          </p:graphicFrame>
        </mc:Choice>
        <mc:Fallback>
          <p:graphicFrame>
            <p:nvGraphicFramePr>
              <p:cNvPr id="10" name="表 9">
                <a:extLst>
                  <a:ext uri="{FF2B5EF4-FFF2-40B4-BE49-F238E27FC236}">
                    <a16:creationId xmlns:a16="http://schemas.microsoft.com/office/drawing/2014/main" id="{37A1F529-EBA1-AD29-71A9-80D6D6F22325}"/>
                  </a:ext>
                </a:extLst>
              </p:cNvPr>
              <p:cNvGraphicFramePr>
                <a:graphicFrameLocks noGrp="1"/>
              </p:cNvGraphicFramePr>
              <p:nvPr>
                <p:extLst>
                  <p:ext uri="{D42A27DB-BD31-4B8C-83A1-F6EECF244321}">
                    <p14:modId xmlns:p14="http://schemas.microsoft.com/office/powerpoint/2010/main" val="2299521552"/>
                  </p:ext>
                </p:extLst>
              </p:nvPr>
            </p:nvGraphicFramePr>
            <p:xfrm>
              <a:off x="1662545" y="4695008"/>
              <a:ext cx="8158346" cy="1072738"/>
            </p:xfrm>
            <a:graphic>
              <a:graphicData uri="http://schemas.openxmlformats.org/drawingml/2006/table">
                <a:tbl>
                  <a:tblPr bandRow="1">
                    <a:tableStyleId>{5C22544A-7EE6-4342-B048-85BDC9FD1C3A}</a:tableStyleId>
                  </a:tblPr>
                  <a:tblGrid>
                    <a:gridCol w="1240510">
                      <a:extLst>
                        <a:ext uri="{9D8B030D-6E8A-4147-A177-3AD203B41FA5}">
                          <a16:colId xmlns:a16="http://schemas.microsoft.com/office/drawing/2014/main" val="2815638221"/>
                        </a:ext>
                      </a:extLst>
                    </a:gridCol>
                    <a:gridCol w="208280">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5"/>
                          <a:stretch>
                            <a:fillRect l="-490" t="-4494" r="-557843" b="-101124"/>
                          </a:stretch>
                        </a:blip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Desired elastic consumption amount</a:t>
                          </a:r>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5"/>
                          <a:stretch>
                            <a:fillRect l="-490" t="-105682" r="-557843" b="-2273"/>
                          </a:stretch>
                        </a:blipFill>
                      </a:tcPr>
                    </a:tc>
                    <a:tc>
                      <a:txBody>
                        <a:bodyPr/>
                        <a:lstStyle/>
                        <a:p>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Bid price for elastic consumption</a:t>
                          </a:r>
                        </a:p>
                      </a:txBody>
                      <a:tcPr>
                        <a:noFill/>
                      </a:tcPr>
                    </a:tc>
                    <a:extLst>
                      <a:ext uri="{0D108BD9-81ED-4DB2-BD59-A6C34878D82A}">
                        <a16:rowId xmlns:a16="http://schemas.microsoft.com/office/drawing/2014/main" val="3366865991"/>
                      </a:ext>
                    </a:extLst>
                  </a:tr>
                </a:tbl>
              </a:graphicData>
            </a:graphic>
          </p:graphicFrame>
        </mc:Fallback>
      </mc:AlternateContent>
      <p:sp>
        <p:nvSpPr>
          <p:cNvPr id="4" name="正方形/長方形 3">
            <a:extLst>
              <a:ext uri="{FF2B5EF4-FFF2-40B4-BE49-F238E27FC236}">
                <a16:creationId xmlns:a16="http://schemas.microsoft.com/office/drawing/2014/main" id="{29D6F9EB-C3D3-6BA0-C227-3F208CB926BE}"/>
              </a:ext>
            </a:extLst>
          </p:cNvPr>
          <p:cNvSpPr/>
          <p:nvPr/>
        </p:nvSpPr>
        <p:spPr>
          <a:xfrm>
            <a:off x="4085111" y="3740728"/>
            <a:ext cx="1377537" cy="514598"/>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テキスト ボックス 5">
            <a:extLst>
              <a:ext uri="{FF2B5EF4-FFF2-40B4-BE49-F238E27FC236}">
                <a16:creationId xmlns:a16="http://schemas.microsoft.com/office/drawing/2014/main" id="{DC74A48B-2610-FDD9-937F-41628DF825A7}"/>
              </a:ext>
            </a:extLst>
          </p:cNvPr>
          <p:cNvSpPr txBox="1"/>
          <p:nvPr/>
        </p:nvSpPr>
        <p:spPr>
          <a:xfrm>
            <a:off x="5522025" y="3923145"/>
            <a:ext cx="2521844" cy="369332"/>
          </a:xfrm>
          <a:prstGeom prst="rect">
            <a:avLst/>
          </a:prstGeom>
          <a:noFill/>
        </p:spPr>
        <p:txBody>
          <a:bodyPr wrap="none" rtlCol="0">
            <a:spAutoFit/>
          </a:bodyPr>
          <a:lstStyle/>
          <a:p>
            <a:r>
              <a:rPr lang="en-US" dirty="0">
                <a:solidFill>
                  <a:schemeClr val="accent1"/>
                </a:solidFill>
              </a:rPr>
              <a:t>One of the target of RL</a:t>
            </a:r>
          </a:p>
        </p:txBody>
      </p:sp>
    </p:spTree>
    <p:extLst>
      <p:ext uri="{BB962C8B-B14F-4D97-AF65-F5344CB8AC3E}">
        <p14:creationId xmlns:p14="http://schemas.microsoft.com/office/powerpoint/2010/main" val="4148069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3.2.2 Design P2P energy trading model</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82EA327-CF61-DB75-F8EC-C9AC0E05851B}"/>
                  </a:ext>
                </a:extLst>
              </p:cNvPr>
              <p:cNvSpPr txBox="1"/>
              <p:nvPr/>
            </p:nvSpPr>
            <p:spPr>
              <a:xfrm>
                <a:off x="2080158" y="1291282"/>
                <a:ext cx="5737760" cy="8704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b>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𝑠h𝑖𝑓𝑡</m:t>
                          </m:r>
                        </m:sup>
                      </m:sSub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nary>
                        <m:naryPr>
                          <m:chr m:val="∑"/>
                          <m:limLoc m:val="undOvr"/>
                          <m:ctrlPr>
                            <a:rPr lang="en-US" i="1">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naryPr>
                        <m:sub>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𝑘</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=1</m:t>
                          </m:r>
                        </m:sub>
                        <m: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−1</m:t>
                          </m:r>
                        </m:sup>
                        <m:e>
                          <m:sSubSup>
                            <m:sSubSupPr>
                              <m:ctrlPr>
                                <a:rPr lang="en-US" i="1">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𝐸</m:t>
                              </m:r>
                            </m:e>
                            <m:sub>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𝑘</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𝑒𝑙𝑎𝑠</m:t>
                              </m:r>
                            </m:sup>
                          </m:sSub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i="1">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b>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𝑘</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𝑒𝑙𝑎𝑠</m:t>
                              </m:r>
                            </m:sup>
                          </m:sSubSup>
                          <m:r>
                            <a:rPr lang="en-US" sz="1800" i="1">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ja-JP" altLang="en-US" i="1">
                              <a:solidFill>
                                <a:srgbClr val="000000"/>
                              </a:solidFill>
                              <a:highlight>
                                <a:srgbClr val="FFFFFF"/>
                              </a:highlight>
                              <a:latin typeface="Cambria Math" panose="02040503050406030204" pitchFamily="18" charset="0"/>
                              <a:ea typeface="Yu Mincho" panose="02020400000000000000" pitchFamily="18" charset="-128"/>
                              <a:cs typeface="Segoe UI" panose="020B0502040204020203" pitchFamily="34" charset="0"/>
                            </a:rPr>
                            <m:t>　</m:t>
                          </m:r>
                          <m:r>
                            <a:rPr lang="en-US" altLang="ja-JP" b="0" i="1" smtClean="0">
                              <a:solidFill>
                                <a:srgbClr val="000000"/>
                              </a:solidFill>
                              <a:highlight>
                                <a:srgbClr val="FFFFFF"/>
                              </a:highlight>
                              <a:latin typeface="Cambria Math" panose="02040503050406030204" pitchFamily="18" charset="0"/>
                              <a:ea typeface="Yu Mincho" panose="02020400000000000000" pitchFamily="18" charset="-128"/>
                              <a:cs typeface="Segoe UI" panose="020B0502040204020203" pitchFamily="34" charset="0"/>
                            </a:rPr>
                            <m:t>(3)</m:t>
                          </m:r>
                        </m:e>
                      </m:nary>
                    </m:oMath>
                  </m:oMathPara>
                </a14:m>
                <a:endParaRPr lang="en-US" dirty="0"/>
              </a:p>
            </p:txBody>
          </p:sp>
        </mc:Choice>
        <mc:Fallback xmlns="">
          <p:sp>
            <p:nvSpPr>
              <p:cNvPr id="5" name="テキスト ボックス 4">
                <a:extLst>
                  <a:ext uri="{FF2B5EF4-FFF2-40B4-BE49-F238E27FC236}">
                    <a16:creationId xmlns:a16="http://schemas.microsoft.com/office/drawing/2014/main" id="{A82EA327-CF61-DB75-F8EC-C9AC0E05851B}"/>
                  </a:ext>
                </a:extLst>
              </p:cNvPr>
              <p:cNvSpPr txBox="1">
                <a:spLocks noRot="1" noChangeAspect="1" noMove="1" noResize="1" noEditPoints="1" noAdjustHandles="1" noChangeArrowheads="1" noChangeShapeType="1" noTextEdit="1"/>
              </p:cNvSpPr>
              <p:nvPr/>
            </p:nvSpPr>
            <p:spPr>
              <a:xfrm>
                <a:off x="2080158" y="1291282"/>
                <a:ext cx="5737760" cy="870495"/>
              </a:xfrm>
              <a:prstGeom prst="rect">
                <a:avLst/>
              </a:prstGeom>
              <a:blipFill>
                <a:blip r:embed="rId2"/>
                <a:stretch>
                  <a:fillRect/>
                </a:stretch>
              </a:blipFill>
            </p:spPr>
            <p:txBody>
              <a:bodyPr/>
              <a:lstStyle/>
              <a:p>
                <a:r>
                  <a:rPr lang="ja-JP" altLang="en-US">
                    <a:noFill/>
                  </a:rPr>
                  <a:t> </a:t>
                </a:r>
              </a:p>
            </p:txBody>
          </p:sp>
        </mc:Fallback>
      </mc:AlternateContent>
      <p:cxnSp>
        <p:nvCxnSpPr>
          <p:cNvPr id="7" name="直線コネクタ 6">
            <a:extLst>
              <a:ext uri="{FF2B5EF4-FFF2-40B4-BE49-F238E27FC236}">
                <a16:creationId xmlns:a16="http://schemas.microsoft.com/office/drawing/2014/main" id="{35EB88C8-696C-A35B-98F6-59814771E625}"/>
              </a:ext>
            </a:extLst>
          </p:cNvPr>
          <p:cNvCxnSpPr>
            <a:cxnSpLocks/>
          </p:cNvCxnSpPr>
          <p:nvPr/>
        </p:nvCxnSpPr>
        <p:spPr>
          <a:xfrm>
            <a:off x="-3962" y="2834247"/>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graphicFrame>
            <p:nvGraphicFramePr>
              <p:cNvPr id="12" name="表 11">
                <a:extLst>
                  <a:ext uri="{FF2B5EF4-FFF2-40B4-BE49-F238E27FC236}">
                    <a16:creationId xmlns:a16="http://schemas.microsoft.com/office/drawing/2014/main" id="{002925E7-5DEF-7A82-7992-54221DD9EF4B}"/>
                  </a:ext>
                </a:extLst>
              </p:cNvPr>
              <p:cNvGraphicFramePr>
                <a:graphicFrameLocks noGrp="1"/>
              </p:cNvGraphicFramePr>
              <p:nvPr>
                <p:extLst>
                  <p:ext uri="{D42A27DB-BD31-4B8C-83A1-F6EECF244321}">
                    <p14:modId xmlns:p14="http://schemas.microsoft.com/office/powerpoint/2010/main" val="1123834366"/>
                  </p:ext>
                </p:extLst>
              </p:nvPr>
            </p:nvGraphicFramePr>
            <p:xfrm>
              <a:off x="1615044" y="4170902"/>
              <a:ext cx="8142511" cy="1609107"/>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𝜆</m:t>
                                    </m:r>
                                  </m:e>
                                  <m:sub>
                                    <m:r>
                                      <a:rPr lang="en-US" sz="1600" i="1">
                                        <a:latin typeface="Cambria Math" panose="02040503050406030204" pitchFamily="18" charset="0"/>
                                      </a:rPr>
                                      <m:t>𝑡</m:t>
                                    </m:r>
                                    <m:r>
                                      <a:rPr lang="en-US" sz="1600" i="0">
                                        <a:latin typeface="Cambria Math" panose="02040503050406030204" pitchFamily="18" charset="0"/>
                                      </a:rPr>
                                      <m:t>,</m:t>
                                    </m:r>
                                    <m:r>
                                      <a:rPr lang="en-US" sz="1600" i="1">
                                        <a:latin typeface="Cambria Math" panose="02040503050406030204" pitchFamily="18" charset="0"/>
                                      </a:rPr>
                                      <m:t>𝑘</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𝑏𝑖𝑑</m:t>
                                    </m:r>
                                    <m:r>
                                      <a:rPr lang="en-US" sz="1600" i="0">
                                        <a:latin typeface="Cambria Math" panose="02040503050406030204" pitchFamily="18" charset="0"/>
                                      </a:rPr>
                                      <m:t>,</m:t>
                                    </m:r>
                                    <m:r>
                                      <a:rPr lang="en-US" sz="1600" i="1">
                                        <a:latin typeface="Cambria Math" panose="02040503050406030204" pitchFamily="18" charset="0"/>
                                      </a:rPr>
                                      <m:t>𝑠h𝑖𝑓𝑡</m:t>
                                    </m:r>
                                    <m:r>
                                      <a:rPr lang="en-US" sz="1600" i="0">
                                        <a:latin typeface="Cambria Math" panose="02040503050406030204" pitchFamily="18" charset="0"/>
                                      </a:rPr>
                                      <m:t>,</m:t>
                                    </m:r>
                                    <m:r>
                                      <a:rPr lang="en-US" sz="1600" i="1">
                                        <a:latin typeface="Cambria Math" panose="02040503050406030204" pitchFamily="18" charset="0"/>
                                      </a:rPr>
                                      <m:t>𝑏𝑢𝑦</m:t>
                                    </m:r>
                                  </m:sup>
                                </m:sSubSup>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600" dirty="0"/>
                            <a:t>Bid price at timeslot </a:t>
                          </a:r>
                          <a14:m>
                            <m:oMath xmlns:m="http://schemas.openxmlformats.org/officeDocument/2006/math">
                              <m:r>
                                <a:rPr lang="en-US" altLang="ja-JP" sz="1600" b="0" i="1" smtClean="0">
                                  <a:latin typeface="Cambria Math" panose="02040503050406030204" pitchFamily="18" charset="0"/>
                                </a:rPr>
                                <m:t>𝑡</m:t>
                              </m:r>
                            </m:oMath>
                          </a14:m>
                          <a:r>
                            <a:rPr lang="en-US" altLang="ja-JP" sz="1600" dirty="0"/>
                            <a:t> for shifted demand from timeslot </a:t>
                          </a:r>
                          <a14:m>
                            <m:oMath xmlns:m="http://schemas.openxmlformats.org/officeDocument/2006/math">
                              <m:r>
                                <a:rPr lang="en-US" altLang="ja-JP" sz="1600" b="0" i="1" smtClean="0">
                                  <a:latin typeface="Cambria Math" panose="02040503050406030204" pitchFamily="18" charset="0"/>
                                </a:rPr>
                                <m:t>𝑘</m:t>
                              </m:r>
                            </m:oMath>
                          </a14:m>
                          <a:endParaRPr lang="en-US" sz="1600" dirty="0"/>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p>
                                  <m:sSupPr>
                                    <m:ctrlPr>
                                      <a:rPr lang="en-US" sz="1600" i="1" smtClean="0">
                                        <a:latin typeface="Cambria Math" panose="02040503050406030204" pitchFamily="18" charset="0"/>
                                      </a:rPr>
                                    </m:ctrlPr>
                                  </m:sSupPr>
                                  <m:e>
                                    <m:r>
                                      <a:rPr lang="en-US" sz="1600" i="1">
                                        <a:latin typeface="Cambria Math" panose="02040503050406030204" pitchFamily="18" charset="0"/>
                                      </a:rPr>
                                      <m:t>𝜆</m:t>
                                    </m:r>
                                  </m:e>
                                  <m:sup>
                                    <m:r>
                                      <a:rPr lang="en-US" sz="1600" b="0" i="1" smtClean="0">
                                        <a:latin typeface="Cambria Math" panose="02040503050406030204" pitchFamily="18" charset="0"/>
                                      </a:rPr>
                                      <m:t>𝑙𝑏</m:t>
                                    </m:r>
                                  </m:sup>
                                </m:s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Lower bound of bid price</a:t>
                          </a:r>
                          <a:endParaRPr lang="en-US" sz="1600" dirty="0"/>
                        </a:p>
                      </a:txBody>
                      <a:tcPr>
                        <a:noFill/>
                      </a:tcPr>
                    </a:tc>
                    <a:extLst>
                      <a:ext uri="{0D108BD9-81ED-4DB2-BD59-A6C34878D82A}">
                        <a16:rowId xmlns:a16="http://schemas.microsoft.com/office/drawing/2014/main" val="1592314318"/>
                      </a:ext>
                    </a:extLst>
                  </a:tr>
                  <a:tr h="536369">
                    <a:tc>
                      <a:txBody>
                        <a:bodyPr/>
                        <a:lstStyle/>
                        <a:p>
                          <a:pPr/>
                          <a14:m>
                            <m:oMathPara xmlns:m="http://schemas.openxmlformats.org/officeDocument/2006/math">
                              <m:oMathParaPr>
                                <m:jc m:val="left"/>
                              </m:oMathParaPr>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𝑆</m:t>
                                    </m:r>
                                  </m:e>
                                  <m:sub>
                                    <m:r>
                                      <a:rPr lang="en-US" sz="1600" i="1">
                                        <a:latin typeface="Cambria Math" panose="02040503050406030204" pitchFamily="18" charset="0"/>
                                      </a:rPr>
                                      <m:t>𝑛</m:t>
                                    </m:r>
                                  </m:sub>
                                </m:sSub>
                              </m:oMath>
                            </m:oMathPara>
                          </a14:m>
                          <a:endParaRPr lang="en-US" sz="1600" dirty="0"/>
                        </a:p>
                      </a:txBody>
                      <a:tcPr>
                        <a:noFill/>
                      </a:tcPr>
                    </a:tc>
                    <a:tc>
                      <a:txBody>
                        <a:bodyPr/>
                        <a:lstStyle/>
                        <a:p>
                          <a:r>
                            <a:rPr lang="en-US" sz="1600" dirty="0"/>
                            <a:t>:</a:t>
                          </a:r>
                        </a:p>
                      </a:txBody>
                      <a:tcPr>
                        <a:noFill/>
                      </a:tcPr>
                    </a:tc>
                    <a:tc>
                      <a:txBody>
                        <a:bodyPr/>
                        <a:lstStyle/>
                        <a:p>
                          <a:r>
                            <a:rPr lang="en-US" sz="1600" dirty="0"/>
                            <a:t>Patience</a:t>
                          </a:r>
                          <a:r>
                            <a:rPr lang="ja-JP" altLang="en-US" sz="1600" dirty="0"/>
                            <a:t> </a:t>
                          </a:r>
                          <a:r>
                            <a:rPr lang="en-US" altLang="ja-JP" sz="1600" dirty="0"/>
                            <a:t>period</a:t>
                          </a:r>
                          <a:r>
                            <a:rPr lang="ja-JP" altLang="en-US" sz="1600" dirty="0"/>
                            <a:t> </a:t>
                          </a:r>
                          <a:r>
                            <a:rPr lang="en-US" altLang="ja-JP" sz="1600" dirty="0"/>
                            <a:t>of</a:t>
                          </a:r>
                          <a:r>
                            <a:rPr lang="ja-JP" altLang="en-US" sz="1600" dirty="0"/>
                            <a:t> </a:t>
                          </a:r>
                          <a:r>
                            <a:rPr lang="en-US" altLang="ja-JP" sz="1600" dirty="0"/>
                            <a:t>DR</a:t>
                          </a:r>
                          <a:endParaRPr lang="en-US" sz="1600" dirty="0"/>
                        </a:p>
                      </a:txBody>
                      <a:tcPr>
                        <a:noFill/>
                      </a:tcPr>
                    </a:tc>
                    <a:extLst>
                      <a:ext uri="{0D108BD9-81ED-4DB2-BD59-A6C34878D82A}">
                        <a16:rowId xmlns:a16="http://schemas.microsoft.com/office/drawing/2014/main" val="1172270262"/>
                      </a:ext>
                    </a:extLst>
                  </a:tr>
                </a:tbl>
              </a:graphicData>
            </a:graphic>
          </p:graphicFrame>
        </mc:Choice>
        <mc:Fallback>
          <p:graphicFrame>
            <p:nvGraphicFramePr>
              <p:cNvPr id="12" name="表 11">
                <a:extLst>
                  <a:ext uri="{FF2B5EF4-FFF2-40B4-BE49-F238E27FC236}">
                    <a16:creationId xmlns:a16="http://schemas.microsoft.com/office/drawing/2014/main" id="{002925E7-5DEF-7A82-7992-54221DD9EF4B}"/>
                  </a:ext>
                </a:extLst>
              </p:cNvPr>
              <p:cNvGraphicFramePr>
                <a:graphicFrameLocks noGrp="1"/>
              </p:cNvGraphicFramePr>
              <p:nvPr>
                <p:extLst>
                  <p:ext uri="{D42A27DB-BD31-4B8C-83A1-F6EECF244321}">
                    <p14:modId xmlns:p14="http://schemas.microsoft.com/office/powerpoint/2010/main" val="1123834366"/>
                  </p:ext>
                </p:extLst>
              </p:nvPr>
            </p:nvGraphicFramePr>
            <p:xfrm>
              <a:off x="1615044" y="4170902"/>
              <a:ext cx="8142511" cy="1609107"/>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3"/>
                          <a:stretch>
                            <a:fillRect l="-526" t="-4545" r="-604737" b="-2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endParaRPr lang="en-US"/>
                        </a:p>
                      </a:txBody>
                      <a:tcPr>
                        <a:blipFill>
                          <a:blip r:embed="rId3"/>
                          <a:stretch>
                            <a:fillRect l="-21416" t="-4545" r="-181" b="-203409"/>
                          </a:stretch>
                        </a:blipFill>
                      </a:tcPr>
                    </a:tc>
                    <a:extLst>
                      <a:ext uri="{0D108BD9-81ED-4DB2-BD59-A6C34878D82A}">
                        <a16:rowId xmlns:a16="http://schemas.microsoft.com/office/drawing/2014/main" val="2567745939"/>
                      </a:ext>
                    </a:extLst>
                  </a:tr>
                  <a:tr h="536369">
                    <a:tc>
                      <a:txBody>
                        <a:bodyPr/>
                        <a:lstStyle/>
                        <a:p>
                          <a:endParaRPr lang="en-US"/>
                        </a:p>
                      </a:txBody>
                      <a:tcPr>
                        <a:blipFill>
                          <a:blip r:embed="rId3"/>
                          <a:stretch>
                            <a:fillRect l="-526" t="-103371" r="-604737" b="-101124"/>
                          </a:stretch>
                        </a:blipFill>
                      </a:tcPr>
                    </a:tc>
                    <a:tc>
                      <a:txBody>
                        <a:bodyPr/>
                        <a:lstStyle/>
                        <a:p>
                          <a:r>
                            <a:rPr lang="en-US" sz="1600" dirty="0"/>
                            <a:t>:</a:t>
                          </a:r>
                        </a:p>
                      </a:txBody>
                      <a:tcPr>
                        <a:noFill/>
                      </a:tcPr>
                    </a:tc>
                    <a:tc>
                      <a:txBody>
                        <a:bodyPr/>
                        <a:lstStyle/>
                        <a:p>
                          <a:r>
                            <a:rPr lang="en-US" altLang="ja-JP" sz="1600" dirty="0"/>
                            <a:t>Lower bound of bid price</a:t>
                          </a:r>
                          <a:endParaRPr lang="en-US" sz="1600" dirty="0"/>
                        </a:p>
                      </a:txBody>
                      <a:tcPr>
                        <a:noFill/>
                      </a:tcPr>
                    </a:tc>
                    <a:extLst>
                      <a:ext uri="{0D108BD9-81ED-4DB2-BD59-A6C34878D82A}">
                        <a16:rowId xmlns:a16="http://schemas.microsoft.com/office/drawing/2014/main" val="1592314318"/>
                      </a:ext>
                    </a:extLst>
                  </a:tr>
                  <a:tr h="536369">
                    <a:tc>
                      <a:txBody>
                        <a:bodyPr/>
                        <a:lstStyle/>
                        <a:p>
                          <a:endParaRPr lang="en-US"/>
                        </a:p>
                      </a:txBody>
                      <a:tcPr>
                        <a:blipFill>
                          <a:blip r:embed="rId3"/>
                          <a:stretch>
                            <a:fillRect l="-526" t="-205682" r="-604737" b="-2273"/>
                          </a:stretch>
                        </a:blipFill>
                      </a:tcPr>
                    </a:tc>
                    <a:tc>
                      <a:txBody>
                        <a:bodyPr/>
                        <a:lstStyle/>
                        <a:p>
                          <a:r>
                            <a:rPr lang="en-US" sz="1600" dirty="0"/>
                            <a:t>:</a:t>
                          </a:r>
                        </a:p>
                      </a:txBody>
                      <a:tcPr>
                        <a:noFill/>
                      </a:tcPr>
                    </a:tc>
                    <a:tc>
                      <a:txBody>
                        <a:bodyPr/>
                        <a:lstStyle/>
                        <a:p>
                          <a:r>
                            <a:rPr lang="en-US" sz="1600" dirty="0"/>
                            <a:t>Patience</a:t>
                          </a:r>
                          <a:r>
                            <a:rPr lang="ja-JP" altLang="en-US" sz="1600" dirty="0"/>
                            <a:t> </a:t>
                          </a:r>
                          <a:r>
                            <a:rPr lang="en-US" altLang="ja-JP" sz="1600" dirty="0"/>
                            <a:t>period</a:t>
                          </a:r>
                          <a:r>
                            <a:rPr lang="ja-JP" altLang="en-US" sz="1600" dirty="0"/>
                            <a:t> </a:t>
                          </a:r>
                          <a:r>
                            <a:rPr lang="en-US" altLang="ja-JP" sz="1600" dirty="0"/>
                            <a:t>of</a:t>
                          </a:r>
                          <a:r>
                            <a:rPr lang="ja-JP" altLang="en-US" sz="1600" dirty="0"/>
                            <a:t> </a:t>
                          </a:r>
                          <a:r>
                            <a:rPr lang="en-US" altLang="ja-JP" sz="1600" dirty="0"/>
                            <a:t>DR</a:t>
                          </a:r>
                          <a:endParaRPr lang="en-US" sz="1600" dirty="0"/>
                        </a:p>
                      </a:txBody>
                      <a:tcPr>
                        <a:noFill/>
                      </a:tcPr>
                    </a:tc>
                    <a:extLst>
                      <a:ext uri="{0D108BD9-81ED-4DB2-BD59-A6C34878D82A}">
                        <a16:rowId xmlns:a16="http://schemas.microsoft.com/office/drawing/2014/main" val="1172270262"/>
                      </a:ext>
                    </a:extLst>
                  </a:tr>
                </a:tbl>
              </a:graphicData>
            </a:graphic>
          </p:graphicFrame>
        </mc:Fallback>
      </mc:AlternateContent>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CF39BD62-73B0-31C2-4922-472C658AFA5A}"/>
                  </a:ext>
                </a:extLst>
              </p:cNvPr>
              <p:cNvSpPr txBox="1"/>
              <p:nvPr/>
            </p:nvSpPr>
            <p:spPr>
              <a:xfrm>
                <a:off x="2080158" y="3005475"/>
                <a:ext cx="4960620" cy="8604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ja-JP" altLang="en-US" i="1" smtClean="0">
                              <a:solidFill>
                                <a:srgbClr val="836967"/>
                              </a:solidFill>
                              <a:latin typeface="Cambria Math" panose="02040503050406030204" pitchFamily="18" charset="0"/>
                            </a:rPr>
                          </m:ctrlPr>
                        </m:eqArrPr>
                        <m:e>
                          <m:r>
                            <a:rPr lang="ja-JP" altLang="en-US">
                              <a:latin typeface="Cambria Math" panose="02040503050406030204" pitchFamily="18" charset="0"/>
                            </a:rPr>
                            <m:t>&amp;</m:t>
                          </m:r>
                          <m:sSubSup>
                            <m:sSubSupPr>
                              <m:ctrlPr>
                                <a:rPr lang="ja-JP" altLang="en-US" i="1">
                                  <a:solidFill>
                                    <a:srgbClr val="836967"/>
                                  </a:solidFill>
                                  <a:latin typeface="Cambria Math" panose="02040503050406030204" pitchFamily="18" charset="0"/>
                                </a:rPr>
                              </m:ctrlPr>
                            </m:sSubSupPr>
                            <m:e>
                              <m:r>
                                <a:rPr lang="ja-JP" altLang="en-US" i="1">
                                  <a:latin typeface="Cambria Math" panose="02040503050406030204" pitchFamily="18" charset="0"/>
                                </a:rPr>
                                <m:t>𝜆</m:t>
                              </m:r>
                            </m:e>
                            <m:sub>
                              <m:r>
                                <a:rPr lang="ja-JP" altLang="en-US" i="1">
                                  <a:latin typeface="Cambria Math" panose="02040503050406030204" pitchFamily="18" charset="0"/>
                                </a:rPr>
                                <m:t>𝑡</m:t>
                              </m:r>
                              <m:r>
                                <a:rPr lang="ja-JP" altLang="en-US" i="0">
                                  <a:latin typeface="Cambria Math" panose="02040503050406030204" pitchFamily="18" charset="0"/>
                                </a:rPr>
                                <m:t>,</m:t>
                              </m:r>
                              <m:r>
                                <a:rPr lang="ja-JP" altLang="en-US" i="1">
                                  <a:latin typeface="Cambria Math" panose="02040503050406030204" pitchFamily="18" charset="0"/>
                                </a:rPr>
                                <m:t>𝑘</m:t>
                              </m:r>
                              <m:r>
                                <a:rPr lang="ja-JP" altLang="en-US" i="0">
                                  <a:latin typeface="Cambria Math" panose="02040503050406030204" pitchFamily="18" charset="0"/>
                                </a:rPr>
                                <m:t>,</m:t>
                              </m:r>
                              <m:r>
                                <a:rPr lang="ja-JP" altLang="en-US" i="1">
                                  <a:latin typeface="Cambria Math" panose="02040503050406030204" pitchFamily="18" charset="0"/>
                                </a:rPr>
                                <m:t>𝑛</m:t>
                              </m:r>
                            </m:sub>
                            <m:sup>
                              <m:r>
                                <a:rPr lang="ja-JP" altLang="en-US" i="1">
                                  <a:latin typeface="Cambria Math" panose="02040503050406030204" pitchFamily="18" charset="0"/>
                                </a:rPr>
                                <m:t>𝑏𝑖𝑑</m:t>
                              </m:r>
                              <m:r>
                                <a:rPr lang="ja-JP" altLang="en-US" i="0">
                                  <a:latin typeface="Cambria Math" panose="02040503050406030204" pitchFamily="18" charset="0"/>
                                </a:rPr>
                                <m:t>,</m:t>
                              </m:r>
                              <m:r>
                                <a:rPr lang="ja-JP" altLang="en-US" i="1">
                                  <a:latin typeface="Cambria Math" panose="02040503050406030204" pitchFamily="18" charset="0"/>
                                </a:rPr>
                                <m:t>𝑠h𝑖𝑓𝑡</m:t>
                              </m:r>
                              <m:r>
                                <a:rPr lang="ja-JP" altLang="en-US" i="0">
                                  <a:latin typeface="Cambria Math" panose="02040503050406030204" pitchFamily="18" charset="0"/>
                                </a:rPr>
                                <m:t>,</m:t>
                              </m:r>
                              <m:r>
                                <a:rPr lang="ja-JP" altLang="en-US" i="1">
                                  <a:latin typeface="Cambria Math" panose="02040503050406030204" pitchFamily="18" charset="0"/>
                                </a:rPr>
                                <m:t>𝑏𝑢𝑦</m:t>
                              </m:r>
                            </m:sup>
                          </m:sSubSup>
                          <m:r>
                            <a:rPr lang="ja-JP" altLang="en-US" i="0">
                              <a:latin typeface="Cambria Math" panose="02040503050406030204" pitchFamily="18" charset="0"/>
                            </a:rPr>
                            <m:t>=</m:t>
                          </m:r>
                          <m:sSubSup>
                            <m:sSubSupPr>
                              <m:ctrlPr>
                                <a:rPr lang="en-US" altLang="ja-JP" i="1">
                                  <a:solidFill>
                                    <a:srgbClr val="836967"/>
                                  </a:solidFill>
                                  <a:highlight>
                                    <a:srgbClr val="FFFFFF"/>
                                  </a:highlight>
                                  <a:latin typeface="Cambria Math" panose="02040503050406030204" pitchFamily="18" charset="0"/>
                                </a:rPr>
                              </m:ctrlPr>
                            </m:sSubSupPr>
                            <m:e>
                              <m:r>
                                <a:rPr lang="en-US" altLang="ja-JP" i="1">
                                  <a:highlight>
                                    <a:srgbClr val="FFFFFF"/>
                                  </a:highlight>
                                  <a:latin typeface="Cambria Math" panose="02040503050406030204" pitchFamily="18" charset="0"/>
                                </a:rPr>
                                <m:t>𝜆</m:t>
                              </m:r>
                            </m:e>
                            <m:sub>
                              <m:r>
                                <a:rPr lang="en-US" altLang="ja-JP" i="1">
                                  <a:highlight>
                                    <a:srgbClr val="FFFFFF"/>
                                  </a:highlight>
                                  <a:latin typeface="Cambria Math" panose="02040503050406030204" pitchFamily="18" charset="0"/>
                                </a:rPr>
                                <m:t>𝑡</m:t>
                              </m:r>
                              <m:r>
                                <a:rPr lang="en-US" altLang="ja-JP">
                                  <a:highlight>
                                    <a:srgbClr val="FFFFFF"/>
                                  </a:highlight>
                                  <a:latin typeface="Cambria Math" panose="02040503050406030204" pitchFamily="18" charset="0"/>
                                </a:rPr>
                                <m:t>,</m:t>
                              </m:r>
                              <m:r>
                                <a:rPr lang="en-US" altLang="ja-JP" i="1">
                                  <a:highlight>
                                    <a:srgbClr val="FFFFFF"/>
                                  </a:highlight>
                                  <a:latin typeface="Cambria Math" panose="02040503050406030204" pitchFamily="18" charset="0"/>
                                </a:rPr>
                                <m:t>𝑛</m:t>
                              </m:r>
                            </m:sub>
                            <m:sup>
                              <m:r>
                                <a:rPr lang="en-US" altLang="ja-JP" i="1">
                                  <a:highlight>
                                    <a:srgbClr val="FFFFFF"/>
                                  </a:highlight>
                                  <a:latin typeface="Cambria Math" panose="02040503050406030204" pitchFamily="18" charset="0"/>
                                </a:rPr>
                                <m:t>𝑏𝑖𝑑</m:t>
                              </m:r>
                              <m:r>
                                <a:rPr lang="en-US" altLang="ja-JP">
                                  <a:highlight>
                                    <a:srgbClr val="FFFFFF"/>
                                  </a:highlight>
                                  <a:latin typeface="Cambria Math" panose="02040503050406030204" pitchFamily="18" charset="0"/>
                                </a:rPr>
                                <m:t>,</m:t>
                              </m:r>
                              <m:r>
                                <m:rPr>
                                  <m:sty m:val="p"/>
                                </m:rPr>
                                <a:rPr lang="en-US" altLang="ja-JP">
                                  <a:highlight>
                                    <a:srgbClr val="FFFFFF"/>
                                  </a:highlight>
                                  <a:latin typeface="Cambria Math" panose="02040503050406030204" pitchFamily="18" charset="0"/>
                                </a:rPr>
                                <m:t>elas</m:t>
                              </m:r>
                              <m:r>
                                <a:rPr lang="en-US" altLang="ja-JP" i="1">
                                  <a:highlight>
                                    <a:srgbClr val="FFFFFF"/>
                                  </a:highlight>
                                  <a:latin typeface="Cambria Math" panose="02040503050406030204" pitchFamily="18" charset="0"/>
                                </a:rPr>
                                <m:t>, </m:t>
                              </m:r>
                              <m:r>
                                <a:rPr lang="en-US" altLang="ja-JP" i="1">
                                  <a:highlight>
                                    <a:srgbClr val="FFFFFF"/>
                                  </a:highlight>
                                  <a:latin typeface="Cambria Math" panose="02040503050406030204" pitchFamily="18" charset="0"/>
                                </a:rPr>
                                <m:t>𝑏𝑢𝑦</m:t>
                              </m:r>
                            </m:sup>
                          </m:sSubSup>
                          <m:r>
                            <a:rPr lang="ja-JP" altLang="en-US" i="0" smtClean="0">
                              <a:latin typeface="Cambria Math" panose="02040503050406030204" pitchFamily="18" charset="0"/>
                            </a:rPr>
                            <m:t>, </m:t>
                          </m:r>
                          <m:r>
                            <a:rPr lang="ja-JP" altLang="en-US" i="1" smtClean="0">
                              <a:latin typeface="Cambria Math" panose="02040503050406030204" pitchFamily="18" charset="0"/>
                            </a:rPr>
                            <m:t>𝑖𝑓</m:t>
                          </m:r>
                          <m:r>
                            <a:rPr lang="ja-JP" altLang="en-US" i="0" smtClean="0">
                              <a:latin typeface="Cambria Math" panose="02040503050406030204" pitchFamily="18" charset="0"/>
                            </a:rPr>
                            <m:t> </m:t>
                          </m:r>
                          <m:d>
                            <m:dPr>
                              <m:ctrlPr>
                                <a:rPr lang="ja-JP" altLang="en-US" i="1" smtClean="0">
                                  <a:solidFill>
                                    <a:srgbClr val="836967"/>
                                  </a:solidFill>
                                  <a:latin typeface="Cambria Math" panose="02040503050406030204" pitchFamily="18" charset="0"/>
                                </a:rPr>
                              </m:ctrlPr>
                            </m:dPr>
                            <m:e>
                              <m:r>
                                <a:rPr lang="ja-JP" altLang="en-US" i="1">
                                  <a:latin typeface="Cambria Math" panose="02040503050406030204" pitchFamily="18" charset="0"/>
                                </a:rPr>
                                <m:t>𝑡</m:t>
                              </m:r>
                              <m:r>
                                <a:rPr lang="ja-JP" altLang="en-US" i="0">
                                  <a:latin typeface="Cambria Math" panose="02040503050406030204" pitchFamily="18" charset="0"/>
                                </a:rPr>
                                <m:t>−</m:t>
                              </m:r>
                              <m:r>
                                <a:rPr lang="ja-JP" altLang="en-US" i="1">
                                  <a:latin typeface="Cambria Math" panose="02040503050406030204" pitchFamily="18" charset="0"/>
                                </a:rPr>
                                <m:t>𝑘</m:t>
                              </m:r>
                            </m:e>
                          </m:d>
                          <m:r>
                            <a:rPr lang="ja-JP" altLang="en-US" i="0" smtClean="0">
                              <a:latin typeface="Cambria Math" panose="02040503050406030204" pitchFamily="18" charset="0"/>
                            </a:rPr>
                            <m:t>&lt;</m:t>
                          </m:r>
                          <m:sSub>
                            <m:sSubPr>
                              <m:ctrlPr>
                                <a:rPr lang="ja-JP" altLang="en-US" i="1" smtClean="0">
                                  <a:solidFill>
                                    <a:srgbClr val="836967"/>
                                  </a:solidFill>
                                  <a:latin typeface="Cambria Math" panose="02040503050406030204" pitchFamily="18" charset="0"/>
                                </a:rPr>
                              </m:ctrlPr>
                            </m:sSubPr>
                            <m:e>
                              <m:r>
                                <a:rPr lang="ja-JP" altLang="en-US" i="1">
                                  <a:latin typeface="Cambria Math" panose="02040503050406030204" pitchFamily="18" charset="0"/>
                                </a:rPr>
                                <m:t>𝑆</m:t>
                              </m:r>
                            </m:e>
                            <m:sub>
                              <m:r>
                                <a:rPr lang="ja-JP" altLang="en-US" i="1">
                                  <a:latin typeface="Cambria Math" panose="02040503050406030204" pitchFamily="18" charset="0"/>
                                </a:rPr>
                                <m:t>𝑛</m:t>
                              </m:r>
                            </m:sub>
                          </m:sSub>
                          <m:r>
                            <a:rPr lang="ja-JP" altLang="en-US" i="0">
                              <a:latin typeface="Cambria Math" panose="02040503050406030204" pitchFamily="18" charset="0"/>
                            </a:rPr>
                            <m:t>,#</m:t>
                          </m:r>
                        </m:e>
                        <m:e>
                          <m:r>
                            <a:rPr lang="ja-JP" altLang="en-US" i="0">
                              <a:latin typeface="Cambria Math" panose="02040503050406030204" pitchFamily="18" charset="0"/>
                            </a:rPr>
                            <m:t>&amp;</m:t>
                          </m:r>
                          <m:sSup>
                            <m:sSupPr>
                              <m:ctrlPr>
                                <a:rPr lang="ja-JP" altLang="en-US" i="1">
                                  <a:solidFill>
                                    <a:srgbClr val="836967"/>
                                  </a:solidFill>
                                  <a:latin typeface="Cambria Math" panose="02040503050406030204" pitchFamily="18" charset="0"/>
                                </a:rPr>
                              </m:ctrlPr>
                            </m:sSupPr>
                            <m:e>
                              <m:sSubSup>
                                <m:sSubSupPr>
                                  <m:ctrlPr>
                                    <a:rPr lang="ja-JP" altLang="en-US" i="1">
                                      <a:solidFill>
                                        <a:srgbClr val="836967"/>
                                      </a:solidFill>
                                      <a:latin typeface="Cambria Math" panose="02040503050406030204" pitchFamily="18" charset="0"/>
                                    </a:rPr>
                                  </m:ctrlPr>
                                </m:sSubSupPr>
                                <m:e>
                                  <m:r>
                                    <a:rPr lang="ja-JP" altLang="en-US" i="1">
                                      <a:latin typeface="Cambria Math" panose="02040503050406030204" pitchFamily="18" charset="0"/>
                                    </a:rPr>
                                    <m:t>𝜆</m:t>
                                  </m:r>
                                </m:e>
                                <m:sub>
                                  <m:r>
                                    <a:rPr lang="ja-JP" altLang="en-US" i="1">
                                      <a:latin typeface="Cambria Math" panose="02040503050406030204" pitchFamily="18" charset="0"/>
                                    </a:rPr>
                                    <m:t>𝑡</m:t>
                                  </m:r>
                                  <m:r>
                                    <a:rPr lang="ja-JP" altLang="en-US">
                                      <a:latin typeface="Cambria Math" panose="02040503050406030204" pitchFamily="18" charset="0"/>
                                    </a:rPr>
                                    <m:t>,</m:t>
                                  </m:r>
                                  <m:r>
                                    <a:rPr lang="ja-JP" altLang="en-US" i="1">
                                      <a:latin typeface="Cambria Math" panose="02040503050406030204" pitchFamily="18" charset="0"/>
                                    </a:rPr>
                                    <m:t>𝑘</m:t>
                                  </m:r>
                                  <m:r>
                                    <a:rPr lang="ja-JP" altLang="en-US">
                                      <a:latin typeface="Cambria Math" panose="02040503050406030204" pitchFamily="18" charset="0"/>
                                    </a:rPr>
                                    <m:t>,</m:t>
                                  </m:r>
                                  <m:r>
                                    <a:rPr lang="ja-JP" altLang="en-US" i="1">
                                      <a:latin typeface="Cambria Math" panose="02040503050406030204" pitchFamily="18" charset="0"/>
                                    </a:rPr>
                                    <m:t>𝑛</m:t>
                                  </m:r>
                                </m:sub>
                                <m:sup>
                                  <m:r>
                                    <a:rPr lang="ja-JP" altLang="en-US" i="1">
                                      <a:latin typeface="Cambria Math" panose="02040503050406030204" pitchFamily="18" charset="0"/>
                                    </a:rPr>
                                    <m:t>𝑏𝑖𝑑</m:t>
                                  </m:r>
                                  <m:r>
                                    <a:rPr lang="ja-JP" altLang="en-US">
                                      <a:latin typeface="Cambria Math" panose="02040503050406030204" pitchFamily="18" charset="0"/>
                                    </a:rPr>
                                    <m:t>,</m:t>
                                  </m:r>
                                  <m:r>
                                    <a:rPr lang="ja-JP" altLang="en-US" i="1">
                                      <a:latin typeface="Cambria Math" panose="02040503050406030204" pitchFamily="18" charset="0"/>
                                    </a:rPr>
                                    <m:t>𝑠h𝑖𝑓𝑡</m:t>
                                  </m:r>
                                  <m:r>
                                    <a:rPr lang="ja-JP" altLang="en-US">
                                      <a:latin typeface="Cambria Math" panose="02040503050406030204" pitchFamily="18" charset="0"/>
                                    </a:rPr>
                                    <m:t>,</m:t>
                                  </m:r>
                                  <m:r>
                                    <a:rPr lang="ja-JP" altLang="en-US" i="1">
                                      <a:latin typeface="Cambria Math" panose="02040503050406030204" pitchFamily="18" charset="0"/>
                                    </a:rPr>
                                    <m:t>𝑏𝑢𝑦</m:t>
                                  </m:r>
                                </m:sup>
                              </m:sSubSup>
                              <m:r>
                                <a:rPr lang="en-US" altLang="ja-JP" b="0" i="1" smtClean="0">
                                  <a:latin typeface="Cambria Math" panose="02040503050406030204" pitchFamily="18" charset="0"/>
                                </a:rPr>
                                <m:t>=</m:t>
                              </m:r>
                              <m:r>
                                <a:rPr lang="ja-JP" altLang="en-US" i="1">
                                  <a:latin typeface="Cambria Math" panose="02040503050406030204" pitchFamily="18" charset="0"/>
                                </a:rPr>
                                <m:t>𝜆</m:t>
                              </m:r>
                            </m:e>
                            <m:sup>
                              <m:r>
                                <a:rPr lang="ja-JP" altLang="en-US" i="1">
                                  <a:latin typeface="Cambria Math" panose="02040503050406030204" pitchFamily="18" charset="0"/>
                                </a:rPr>
                                <m:t>𝑢𝑏</m:t>
                              </m:r>
                            </m:sup>
                          </m:sSup>
                          <m:r>
                            <a:rPr lang="ja-JP" altLang="en-US" i="0">
                              <a:latin typeface="Cambria Math" panose="02040503050406030204" pitchFamily="18" charset="0"/>
                            </a:rPr>
                            <m:t>, </m:t>
                          </m:r>
                          <m:r>
                            <a:rPr lang="ja-JP" altLang="en-US" i="1">
                              <a:latin typeface="Cambria Math" panose="02040503050406030204" pitchFamily="18" charset="0"/>
                            </a:rPr>
                            <m:t>𝑖𝑓</m:t>
                          </m:r>
                          <m:r>
                            <a:rPr lang="ja-JP" altLang="en-US" i="0">
                              <a:latin typeface="Cambria Math" panose="02040503050406030204" pitchFamily="18" charset="0"/>
                            </a:rPr>
                            <m:t> </m:t>
                          </m:r>
                          <m:d>
                            <m:dPr>
                              <m:ctrlPr>
                                <a:rPr lang="ja-JP" altLang="en-US" i="1">
                                  <a:solidFill>
                                    <a:srgbClr val="836967"/>
                                  </a:solidFill>
                                  <a:latin typeface="Cambria Math" panose="02040503050406030204" pitchFamily="18" charset="0"/>
                                </a:rPr>
                              </m:ctrlPr>
                            </m:dPr>
                            <m:e>
                              <m:r>
                                <a:rPr lang="ja-JP" altLang="en-US" i="1">
                                  <a:latin typeface="Cambria Math" panose="02040503050406030204" pitchFamily="18" charset="0"/>
                                </a:rPr>
                                <m:t>𝑡</m:t>
                              </m:r>
                              <m:r>
                                <a:rPr lang="ja-JP" altLang="en-US" i="0">
                                  <a:latin typeface="Cambria Math" panose="02040503050406030204" pitchFamily="18" charset="0"/>
                                </a:rPr>
                                <m:t>−</m:t>
                              </m:r>
                              <m:r>
                                <a:rPr lang="ja-JP" altLang="en-US" i="1">
                                  <a:latin typeface="Cambria Math" panose="02040503050406030204" pitchFamily="18" charset="0"/>
                                </a:rPr>
                                <m:t>𝑘</m:t>
                              </m:r>
                            </m:e>
                          </m:d>
                          <m:r>
                            <a:rPr lang="ja-JP" altLang="en-US" i="1">
                              <a:latin typeface="Cambria Math" panose="02040503050406030204" pitchFamily="18" charset="0"/>
                            </a:rPr>
                            <m:t>≧</m:t>
                          </m:r>
                          <m:sSub>
                            <m:sSubPr>
                              <m:ctrlPr>
                                <a:rPr lang="ja-JP" altLang="en-US" i="1">
                                  <a:solidFill>
                                    <a:srgbClr val="836967"/>
                                  </a:solidFill>
                                  <a:latin typeface="Cambria Math" panose="02040503050406030204" pitchFamily="18" charset="0"/>
                                </a:rPr>
                              </m:ctrlPr>
                            </m:sSubPr>
                            <m:e>
                              <m:r>
                                <a:rPr lang="ja-JP" altLang="en-US" i="1">
                                  <a:latin typeface="Cambria Math" panose="02040503050406030204" pitchFamily="18" charset="0"/>
                                </a:rPr>
                                <m:t>𝑆</m:t>
                              </m:r>
                            </m:e>
                            <m:sub>
                              <m:r>
                                <a:rPr lang="ja-JP" altLang="en-US" i="1">
                                  <a:latin typeface="Cambria Math" panose="02040503050406030204" pitchFamily="18" charset="0"/>
                                </a:rPr>
                                <m:t>𝑛</m:t>
                              </m:r>
                              <m:r>
                                <a:rPr lang="ja-JP" altLang="en-US" i="0">
                                  <a:latin typeface="Cambria Math" panose="02040503050406030204" pitchFamily="18" charset="0"/>
                                </a:rPr>
                                <m:t> </m:t>
                              </m:r>
                            </m:sub>
                          </m:sSub>
                          <m:r>
                            <a:rPr lang="ja-JP" altLang="en-US" i="0">
                              <a:latin typeface="Cambria Math" panose="02040503050406030204" pitchFamily="18" charset="0"/>
                            </a:rPr>
                            <m:t>#</m:t>
                          </m:r>
                          <m:d>
                            <m:dPr>
                              <m:ctrlPr>
                                <a:rPr lang="ja-JP" altLang="en-US" i="1">
                                  <a:latin typeface="Cambria Math" panose="02040503050406030204" pitchFamily="18" charset="0"/>
                                </a:rPr>
                              </m:ctrlPr>
                            </m:dPr>
                            <m:e>
                              <m:r>
                                <a:rPr lang="en-US" altLang="ja-JP" b="0" i="0" smtClean="0">
                                  <a:latin typeface="Cambria Math" panose="02040503050406030204" pitchFamily="18" charset="0"/>
                                </a:rPr>
                                <m:t>4</m:t>
                              </m:r>
                            </m:e>
                          </m:d>
                        </m:e>
                      </m:eqArr>
                    </m:oMath>
                  </m:oMathPara>
                </a14:m>
                <a:endParaRPr lang="ja-JP" altLang="en-US" dirty="0"/>
              </a:p>
            </p:txBody>
          </p:sp>
        </mc:Choice>
        <mc:Fallback>
          <p:sp>
            <p:nvSpPr>
              <p:cNvPr id="4" name="テキスト ボックス 3">
                <a:extLst>
                  <a:ext uri="{FF2B5EF4-FFF2-40B4-BE49-F238E27FC236}">
                    <a16:creationId xmlns:a16="http://schemas.microsoft.com/office/drawing/2014/main" id="{CF39BD62-73B0-31C2-4922-472C658AFA5A}"/>
                  </a:ext>
                </a:extLst>
              </p:cNvPr>
              <p:cNvSpPr txBox="1">
                <a:spLocks noRot="1" noChangeAspect="1" noMove="1" noResize="1" noEditPoints="1" noAdjustHandles="1" noChangeArrowheads="1" noChangeShapeType="1" noTextEdit="1"/>
              </p:cNvSpPr>
              <p:nvPr/>
            </p:nvSpPr>
            <p:spPr>
              <a:xfrm>
                <a:off x="2080158" y="3005475"/>
                <a:ext cx="4960620" cy="86042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42899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3.2.2 Design P2P energy trading model</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CAFBCB42-7BCB-59DF-B515-57C59F7B8E6E}"/>
                  </a:ext>
                </a:extLst>
              </p:cNvPr>
              <p:cNvSpPr txBox="1"/>
              <p:nvPr/>
            </p:nvSpPr>
            <p:spPr>
              <a:xfrm>
                <a:off x="1615535" y="982383"/>
                <a:ext cx="6724901" cy="15123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+1,</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𝑐h</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num>
                                    <m:den>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𝐶</m:t>
                                          </m:r>
                                        </m:e>
                                        <m:sub>
                                          <m:r>
                                            <a:rPr lang="en-US" i="1">
                                              <a:latin typeface="Cambria Math" panose="02040503050406030204" pitchFamily="18" charset="0"/>
                                            </a:rPr>
                                            <m:t>𝑛</m:t>
                                          </m:r>
                                        </m:sub>
                                        <m:sup>
                                          <m:r>
                                            <a:rPr lang="en-US" i="1">
                                              <a:latin typeface="Cambria Math" panose="02040503050406030204" pitchFamily="18" charset="0"/>
                                            </a:rPr>
                                            <m:t>𝑏𝑎𝑡</m:t>
                                          </m:r>
                                        </m:sup>
                                      </m:sSubSup>
                                    </m:den>
                                  </m:f>
                                  <m:r>
                                    <a:rPr lang="en-US" i="0">
                                      <a:latin typeface="Cambria Math" panose="02040503050406030204" pitchFamily="18" charset="0"/>
                                    </a:rPr>
                                    <m:t>,  </m:t>
                                  </m:r>
                                  <m:r>
                                    <a:rPr lang="en-US" i="1">
                                      <a:latin typeface="Cambria Math" panose="02040503050406030204" pitchFamily="18" charset="0"/>
                                    </a:rPr>
                                    <m:t>𝑖𝑓</m:t>
                                  </m:r>
                                  <m:r>
                                    <a:rPr lang="en-US" i="0">
                                      <a:latin typeface="Cambria Math" panose="02040503050406030204" pitchFamily="18" charset="0"/>
                                    </a:rPr>
                                    <m:t> </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≥0</m:t>
                                  </m:r>
                                </m:e>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num>
                                    <m:den>
                                      <m:sSubSup>
                                        <m:sSubSupPr>
                                          <m:ctrlPr>
                                            <a:rPr lang="en-US" i="1">
                                              <a:solidFill>
                                                <a:srgbClr val="836967"/>
                                              </a:solidFill>
                                              <a:latin typeface="Cambria Math" panose="02040503050406030204" pitchFamily="18" charset="0"/>
                                            </a:rPr>
                                          </m:ctrlPr>
                                        </m:sSubSupPr>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𝑑𝑖𝑠𝑐h</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m:t>
                                          </m:r>
                                          <m:r>
                                            <a:rPr lang="en-US" i="1">
                                              <a:latin typeface="Cambria Math" panose="02040503050406030204" pitchFamily="18" charset="0"/>
                                            </a:rPr>
                                            <m:t>𝐶</m:t>
                                          </m:r>
                                        </m:e>
                                        <m:sub>
                                          <m:r>
                                            <a:rPr lang="en-US" i="1">
                                              <a:latin typeface="Cambria Math" panose="02040503050406030204" pitchFamily="18" charset="0"/>
                                            </a:rPr>
                                            <m:t>𝑛</m:t>
                                          </m:r>
                                        </m:sub>
                                        <m:sup>
                                          <m:r>
                                            <a:rPr lang="en-US" i="1">
                                              <a:latin typeface="Cambria Math" panose="02040503050406030204" pitchFamily="18" charset="0"/>
                                            </a:rPr>
                                            <m:t>𝑏𝑎𝑡</m:t>
                                          </m:r>
                                        </m:sup>
                                      </m:sSubSup>
                                    </m:den>
                                  </m:f>
                                  <m:r>
                                    <a:rPr lang="en-US" i="0">
                                      <a:latin typeface="Cambria Math" panose="02040503050406030204" pitchFamily="18" charset="0"/>
                                    </a:rPr>
                                    <m:t>,  </m:t>
                                  </m:r>
                                  <m:r>
                                    <a:rPr lang="en-US" i="1">
                                      <a:latin typeface="Cambria Math" panose="02040503050406030204" pitchFamily="18" charset="0"/>
                                    </a:rPr>
                                    <m:t>𝑜𝑡h𝑒𝑟𝑒𝑖𝑠𝑒</m:t>
                                  </m:r>
                                </m:e>
                              </m:eqArr>
                              <m:r>
                                <a:rPr lang="en-US" i="0">
                                  <a:latin typeface="Cambria Math" panose="02040503050406030204" pitchFamily="18" charset="0"/>
                                </a:rPr>
                                <m:t>#</m:t>
                              </m:r>
                              <m:d>
                                <m:dPr>
                                  <m:ctrlPr>
                                    <a:rPr lang="en-US" i="1">
                                      <a:latin typeface="Cambria Math" panose="02040503050406030204" pitchFamily="18" charset="0"/>
                                    </a:rPr>
                                  </m:ctrlPr>
                                </m:dPr>
                                <m:e>
                                  <m:r>
                                    <a:rPr lang="en-US" b="0" i="0" smtClean="0">
                                      <a:latin typeface="Cambria Math" panose="02040503050406030204" pitchFamily="18" charset="0"/>
                                    </a:rPr>
                                    <m:t>5</m:t>
                                  </m:r>
                                </m:e>
                              </m:d>
                            </m:e>
                          </m:eqArr>
                        </m:e>
                      </m:d>
                    </m:oMath>
                  </m:oMathPara>
                </a14:m>
                <a:endParaRPr lang="en-US" dirty="0"/>
              </a:p>
            </p:txBody>
          </p:sp>
        </mc:Choice>
        <mc:Fallback xmlns="">
          <p:sp>
            <p:nvSpPr>
              <p:cNvPr id="4" name="テキスト ボックス 3">
                <a:extLst>
                  <a:ext uri="{FF2B5EF4-FFF2-40B4-BE49-F238E27FC236}">
                    <a16:creationId xmlns:a16="http://schemas.microsoft.com/office/drawing/2014/main" id="{CAFBCB42-7BCB-59DF-B515-57C59F7B8E6E}"/>
                  </a:ext>
                </a:extLst>
              </p:cNvPr>
              <p:cNvSpPr txBox="1">
                <a:spLocks noRot="1" noChangeAspect="1" noMove="1" noResize="1" noEditPoints="1" noAdjustHandles="1" noChangeArrowheads="1" noChangeShapeType="1" noTextEdit="1"/>
              </p:cNvSpPr>
              <p:nvPr/>
            </p:nvSpPr>
            <p:spPr>
              <a:xfrm>
                <a:off x="1615535" y="982383"/>
                <a:ext cx="6724901" cy="151233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8" name="表 7">
                <a:extLst>
                  <a:ext uri="{FF2B5EF4-FFF2-40B4-BE49-F238E27FC236}">
                    <a16:creationId xmlns:a16="http://schemas.microsoft.com/office/drawing/2014/main" id="{D017494D-82DD-78E0-B5AC-3B80E120A436}"/>
                  </a:ext>
                </a:extLst>
              </p:cNvPr>
              <p:cNvGraphicFramePr>
                <a:graphicFrameLocks noGrp="1"/>
              </p:cNvGraphicFramePr>
              <p:nvPr>
                <p:extLst>
                  <p:ext uri="{D42A27DB-BD31-4B8C-83A1-F6EECF244321}">
                    <p14:modId xmlns:p14="http://schemas.microsoft.com/office/powerpoint/2010/main" val="408391652"/>
                  </p:ext>
                </p:extLst>
              </p:nvPr>
            </p:nvGraphicFramePr>
            <p:xfrm>
              <a:off x="1615535" y="2556463"/>
              <a:ext cx="8142511" cy="2681845"/>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Sup>
                                  <m:sSubSupPr>
                                    <m:ctrlPr>
                                      <a:rPr lang="en-US" sz="1350" i="1" kern="1200" smtClean="0">
                                        <a:solidFill>
                                          <a:schemeClr val="dk1"/>
                                        </a:solidFill>
                                        <a:effectLst/>
                                        <a:latin typeface="Cambria Math" panose="02040503050406030204" pitchFamily="18" charset="0"/>
                                        <a:ea typeface="+mn-ea"/>
                                        <a:cs typeface="+mn-cs"/>
                                      </a:rPr>
                                    </m:ctrlPr>
                                  </m:sSubSupPr>
                                  <m:e>
                                    <m:r>
                                      <a:rPr lang="en-US" sz="1350" i="1" kern="1200">
                                        <a:solidFill>
                                          <a:schemeClr val="dk1"/>
                                        </a:solidFill>
                                        <a:effectLst/>
                                        <a:latin typeface="Cambria Math" panose="02040503050406030204" pitchFamily="18" charset="0"/>
                                        <a:ea typeface="+mn-ea"/>
                                        <a:cs typeface="+mn-cs"/>
                                      </a:rPr>
                                      <m:t>𝑆𝑂𝐶</m:t>
                                    </m:r>
                                  </m:e>
                                  <m:sub>
                                    <m:r>
                                      <a:rPr lang="en-US" sz="1350" i="1" kern="1200">
                                        <a:solidFill>
                                          <a:schemeClr val="dk1"/>
                                        </a:solidFill>
                                        <a:effectLst/>
                                        <a:latin typeface="Cambria Math" panose="02040503050406030204" pitchFamily="18" charset="0"/>
                                        <a:ea typeface="+mn-ea"/>
                                        <a:cs typeface="+mn-cs"/>
                                      </a:rPr>
                                      <m:t>𝑡</m:t>
                                    </m:r>
                                    <m:r>
                                      <a:rPr lang="en-US" sz="1350" i="1" kern="1200">
                                        <a:solidFill>
                                          <a:schemeClr val="dk1"/>
                                        </a:solidFill>
                                        <a:effectLst/>
                                        <a:latin typeface="Cambria Math" panose="02040503050406030204" pitchFamily="18" charset="0"/>
                                        <a:ea typeface="+mn-ea"/>
                                        <a:cs typeface="+mn-cs"/>
                                      </a:rPr>
                                      <m:t>,</m:t>
                                    </m:r>
                                    <m:r>
                                      <a:rPr lang="en-US" sz="1350" i="1" kern="1200">
                                        <a:solidFill>
                                          <a:schemeClr val="dk1"/>
                                        </a:solidFill>
                                        <a:effectLst/>
                                        <a:latin typeface="Cambria Math" panose="02040503050406030204" pitchFamily="18" charset="0"/>
                                        <a:ea typeface="+mn-ea"/>
                                        <a:cs typeface="+mn-cs"/>
                                      </a:rPr>
                                      <m:t>𝑛</m:t>
                                    </m:r>
                                  </m:sub>
                                  <m:sup>
                                    <m:r>
                                      <a:rPr lang="en-US" sz="1350" i="1" kern="1200">
                                        <a:solidFill>
                                          <a:schemeClr val="dk1"/>
                                        </a:solidFill>
                                        <a:effectLst/>
                                        <a:latin typeface="Cambria Math" panose="02040503050406030204" pitchFamily="18" charset="0"/>
                                        <a:ea typeface="+mn-ea"/>
                                        <a:cs typeface="+mn-cs"/>
                                      </a:rPr>
                                      <m:t>𝑏𝑎𝑡</m:t>
                                    </m:r>
                                  </m:sup>
                                </m:sSubSup>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State of charge of battery[-]</a:t>
                          </a:r>
                          <a:endParaRPr lang="en-US" sz="1600" dirty="0"/>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𝜂</m:t>
                                    </m:r>
                                  </m:e>
                                  <m:sub>
                                    <m:r>
                                      <a:rPr lang="en-US" sz="1600" i="1">
                                        <a:latin typeface="Cambria Math" panose="02040503050406030204" pitchFamily="18" charset="0"/>
                                      </a:rPr>
                                      <m:t>𝑐h</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Charging efficiency </a:t>
                          </a:r>
                          <a:r>
                            <a:rPr lang="en-US" altLang="ja-JP" sz="1600" dirty="0"/>
                            <a:t>of battery</a:t>
                          </a:r>
                          <a:endParaRPr lang="en-US" sz="1600" dirty="0"/>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𝜂</m:t>
                                    </m:r>
                                  </m:e>
                                  <m:sub>
                                    <m:r>
                                      <a:rPr lang="en-US" sz="1600" i="1">
                                        <a:latin typeface="Cambria Math" panose="02040503050406030204" pitchFamily="18" charset="0"/>
                                      </a:rPr>
                                      <m:t>𝑑𝑖𝑠𝑐h</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Discharging efficiency </a:t>
                          </a:r>
                          <a:r>
                            <a:rPr lang="en-US" altLang="ja-JP" sz="1600" dirty="0"/>
                            <a:t>of battery</a:t>
                          </a:r>
                          <a:endParaRPr lang="en-US" sz="1600" dirty="0"/>
                        </a:p>
                      </a:txBody>
                      <a:tcPr>
                        <a:noFill/>
                      </a:tcPr>
                    </a:tc>
                    <a:extLst>
                      <a:ext uri="{0D108BD9-81ED-4DB2-BD59-A6C34878D82A}">
                        <a16:rowId xmlns:a16="http://schemas.microsoft.com/office/drawing/2014/main" val="4272089726"/>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𝐶</m:t>
                                    </m:r>
                                  </m:e>
                                  <m:sub>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Battery</a:t>
                          </a:r>
                          <a:r>
                            <a:rPr lang="ja-JP" altLang="en-US" sz="1600" dirty="0"/>
                            <a:t> </a:t>
                          </a:r>
                          <a:r>
                            <a:rPr lang="en-US" altLang="ja-JP" sz="1600" dirty="0"/>
                            <a:t>capacity of battery</a:t>
                          </a:r>
                          <a:endParaRPr lang="en-US" sz="1600" dirty="0"/>
                        </a:p>
                      </a:txBody>
                      <a:tcPr>
                        <a:noFill/>
                      </a:tcPr>
                    </a:tc>
                    <a:extLst>
                      <a:ext uri="{0D108BD9-81ED-4DB2-BD59-A6C34878D82A}">
                        <a16:rowId xmlns:a16="http://schemas.microsoft.com/office/drawing/2014/main" val="199082574"/>
                      </a:ext>
                    </a:extLst>
                  </a:tr>
                  <a:tr h="536369">
                    <a:tc>
                      <a:txBody>
                        <a:bodyPr/>
                        <a:lstStyle/>
                        <a:p>
                          <a:endParaRPr lang="en-US" sz="1600" dirty="0"/>
                        </a:p>
                      </a:txBody>
                      <a:tcPr>
                        <a:noFill/>
                      </a:tcPr>
                    </a:tc>
                    <a:tc>
                      <a:txBody>
                        <a:bodyPr/>
                        <a:lstStyle/>
                        <a:p>
                          <a:endParaRPr lang="en-US" sz="1600" dirty="0"/>
                        </a:p>
                      </a:txBody>
                      <a:tcPr>
                        <a:noFill/>
                      </a:tcPr>
                    </a:tc>
                    <a:tc>
                      <a:txBody>
                        <a:bodyPr/>
                        <a:lstStyle/>
                        <a:p>
                          <a:endParaRPr lang="en-US" sz="1600" dirty="0"/>
                        </a:p>
                      </a:txBody>
                      <a:tcPr>
                        <a:noFill/>
                      </a:tcPr>
                    </a:tc>
                    <a:extLst>
                      <a:ext uri="{0D108BD9-81ED-4DB2-BD59-A6C34878D82A}">
                        <a16:rowId xmlns:a16="http://schemas.microsoft.com/office/drawing/2014/main" val="938949808"/>
                      </a:ext>
                    </a:extLst>
                  </a:tr>
                </a:tbl>
              </a:graphicData>
            </a:graphic>
          </p:graphicFrame>
        </mc:Choice>
        <mc:Fallback xmlns="">
          <p:graphicFrame>
            <p:nvGraphicFramePr>
              <p:cNvPr id="8" name="表 7">
                <a:extLst>
                  <a:ext uri="{FF2B5EF4-FFF2-40B4-BE49-F238E27FC236}">
                    <a16:creationId xmlns:a16="http://schemas.microsoft.com/office/drawing/2014/main" id="{D017494D-82DD-78E0-B5AC-3B80E120A436}"/>
                  </a:ext>
                </a:extLst>
              </p:cNvPr>
              <p:cNvGraphicFramePr>
                <a:graphicFrameLocks noGrp="1"/>
              </p:cNvGraphicFramePr>
              <p:nvPr>
                <p:extLst>
                  <p:ext uri="{D42A27DB-BD31-4B8C-83A1-F6EECF244321}">
                    <p14:modId xmlns:p14="http://schemas.microsoft.com/office/powerpoint/2010/main" val="408391652"/>
                  </p:ext>
                </p:extLst>
              </p:nvPr>
            </p:nvGraphicFramePr>
            <p:xfrm>
              <a:off x="1615535" y="2556463"/>
              <a:ext cx="8142511" cy="2681845"/>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3"/>
                          <a:stretch>
                            <a:fillRect l="-1053" t="-4545" r="-604211" b="-4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State of charge of battery[-]</a:t>
                          </a:r>
                          <a:endParaRPr lang="en-US" sz="1600" dirty="0"/>
                        </a:p>
                      </a:txBody>
                      <a:tcPr>
                        <a:noFill/>
                      </a:tcPr>
                    </a:tc>
                    <a:extLst>
                      <a:ext uri="{0D108BD9-81ED-4DB2-BD59-A6C34878D82A}">
                        <a16:rowId xmlns:a16="http://schemas.microsoft.com/office/drawing/2014/main" val="2567745939"/>
                      </a:ext>
                    </a:extLst>
                  </a:tr>
                  <a:tr h="536369">
                    <a:tc>
                      <a:txBody>
                        <a:bodyPr/>
                        <a:lstStyle/>
                        <a:p>
                          <a:endParaRPr lang="en-US"/>
                        </a:p>
                      </a:txBody>
                      <a:tcPr>
                        <a:blipFill>
                          <a:blip r:embed="rId3"/>
                          <a:stretch>
                            <a:fillRect l="-1053" t="-104545" r="-604211" b="-303409"/>
                          </a:stretch>
                        </a:blipFill>
                      </a:tcPr>
                    </a:tc>
                    <a:tc>
                      <a:txBody>
                        <a:bodyPr/>
                        <a:lstStyle/>
                        <a:p>
                          <a:r>
                            <a:rPr lang="en-US" sz="1600" dirty="0"/>
                            <a:t>:</a:t>
                          </a:r>
                        </a:p>
                      </a:txBody>
                      <a:tcPr>
                        <a:noFill/>
                      </a:tcPr>
                    </a:tc>
                    <a:tc>
                      <a:txBody>
                        <a:bodyPr/>
                        <a:lstStyle/>
                        <a:p>
                          <a:r>
                            <a:rPr lang="en-US" sz="1600" dirty="0"/>
                            <a:t>Charging efficiency </a:t>
                          </a:r>
                          <a:r>
                            <a:rPr lang="en-US" altLang="ja-JP" sz="1600" dirty="0"/>
                            <a:t>of battery</a:t>
                          </a:r>
                          <a:endParaRPr lang="en-US" sz="1600" dirty="0"/>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3"/>
                          <a:stretch>
                            <a:fillRect l="-1053" t="-202247" r="-604211" b="-200000"/>
                          </a:stretch>
                        </a:blipFill>
                      </a:tcPr>
                    </a:tc>
                    <a:tc>
                      <a:txBody>
                        <a:bodyPr/>
                        <a:lstStyle/>
                        <a:p>
                          <a:r>
                            <a:rPr lang="en-US" sz="1600" dirty="0"/>
                            <a:t>:</a:t>
                          </a:r>
                        </a:p>
                      </a:txBody>
                      <a:tcPr>
                        <a:noFill/>
                      </a:tcPr>
                    </a:tc>
                    <a:tc>
                      <a:txBody>
                        <a:bodyPr/>
                        <a:lstStyle/>
                        <a:p>
                          <a:r>
                            <a:rPr lang="en-US" sz="1600" dirty="0"/>
                            <a:t>Discharging efficiency </a:t>
                          </a:r>
                          <a:r>
                            <a:rPr lang="en-US" altLang="ja-JP" sz="1600" dirty="0"/>
                            <a:t>of battery</a:t>
                          </a:r>
                          <a:endParaRPr lang="en-US" sz="1600" dirty="0"/>
                        </a:p>
                      </a:txBody>
                      <a:tcPr>
                        <a:noFill/>
                      </a:tcPr>
                    </a:tc>
                    <a:extLst>
                      <a:ext uri="{0D108BD9-81ED-4DB2-BD59-A6C34878D82A}">
                        <a16:rowId xmlns:a16="http://schemas.microsoft.com/office/drawing/2014/main" val="4272089726"/>
                      </a:ext>
                    </a:extLst>
                  </a:tr>
                  <a:tr h="536369">
                    <a:tc>
                      <a:txBody>
                        <a:bodyPr/>
                        <a:lstStyle/>
                        <a:p>
                          <a:endParaRPr lang="en-US"/>
                        </a:p>
                      </a:txBody>
                      <a:tcPr>
                        <a:blipFill>
                          <a:blip r:embed="rId3"/>
                          <a:stretch>
                            <a:fillRect l="-1053" t="-305682" r="-604211" b="-102273"/>
                          </a:stretch>
                        </a:blipFill>
                      </a:tcPr>
                    </a:tc>
                    <a:tc>
                      <a:txBody>
                        <a:bodyPr/>
                        <a:lstStyle/>
                        <a:p>
                          <a:r>
                            <a:rPr lang="en-US" sz="1600" dirty="0"/>
                            <a:t>:</a:t>
                          </a:r>
                        </a:p>
                      </a:txBody>
                      <a:tcPr>
                        <a:noFill/>
                      </a:tcPr>
                    </a:tc>
                    <a:tc>
                      <a:txBody>
                        <a:bodyPr/>
                        <a:lstStyle/>
                        <a:p>
                          <a:r>
                            <a:rPr lang="en-US" sz="1600" dirty="0"/>
                            <a:t>Battery</a:t>
                          </a:r>
                          <a:r>
                            <a:rPr lang="ja-JP" altLang="en-US" sz="1600" dirty="0"/>
                            <a:t> </a:t>
                          </a:r>
                          <a:r>
                            <a:rPr lang="en-US" altLang="ja-JP" sz="1600" dirty="0"/>
                            <a:t>capacity of battery</a:t>
                          </a:r>
                          <a:endParaRPr lang="en-US" sz="1600" dirty="0"/>
                        </a:p>
                      </a:txBody>
                      <a:tcPr>
                        <a:noFill/>
                      </a:tcPr>
                    </a:tc>
                    <a:extLst>
                      <a:ext uri="{0D108BD9-81ED-4DB2-BD59-A6C34878D82A}">
                        <a16:rowId xmlns:a16="http://schemas.microsoft.com/office/drawing/2014/main" val="199082574"/>
                      </a:ext>
                    </a:extLst>
                  </a:tr>
                  <a:tr h="536369">
                    <a:tc>
                      <a:txBody>
                        <a:bodyPr/>
                        <a:lstStyle/>
                        <a:p>
                          <a:endParaRPr lang="en-US" sz="1600" dirty="0"/>
                        </a:p>
                      </a:txBody>
                      <a:tcPr>
                        <a:noFill/>
                      </a:tcPr>
                    </a:tc>
                    <a:tc>
                      <a:txBody>
                        <a:bodyPr/>
                        <a:lstStyle/>
                        <a:p>
                          <a:endParaRPr lang="en-US" sz="1600" dirty="0"/>
                        </a:p>
                      </a:txBody>
                      <a:tcPr>
                        <a:noFill/>
                      </a:tcPr>
                    </a:tc>
                    <a:tc>
                      <a:txBody>
                        <a:bodyPr/>
                        <a:lstStyle/>
                        <a:p>
                          <a:endParaRPr lang="en-US" sz="1600" dirty="0"/>
                        </a:p>
                      </a:txBody>
                      <a:tcPr>
                        <a:noFill/>
                      </a:tcPr>
                    </a:tc>
                    <a:extLst>
                      <a:ext uri="{0D108BD9-81ED-4DB2-BD59-A6C34878D82A}">
                        <a16:rowId xmlns:a16="http://schemas.microsoft.com/office/drawing/2014/main" val="938949808"/>
                      </a:ext>
                    </a:extLst>
                  </a:tr>
                </a:tbl>
              </a:graphicData>
            </a:graphic>
          </p:graphicFrame>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84DE8C1-8D2D-4C5E-87D1-C33824EF5BBD}"/>
                  </a:ext>
                </a:extLst>
              </p:cNvPr>
              <p:cNvSpPr txBox="1"/>
              <p:nvPr/>
            </p:nvSpPr>
            <p:spPr>
              <a:xfrm>
                <a:off x="1615535" y="4776549"/>
                <a:ext cx="6724901" cy="15056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+1,</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𝑐h</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num>
                                    <m:den>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𝐶</m:t>
                                          </m:r>
                                        </m:e>
                                        <m:sub>
                                          <m:r>
                                            <a:rPr lang="en-US" i="1">
                                              <a:latin typeface="Cambria Math" panose="02040503050406030204" pitchFamily="18" charset="0"/>
                                            </a:rPr>
                                            <m:t>𝑛</m:t>
                                          </m:r>
                                        </m:sub>
                                        <m:sup>
                                          <m:r>
                                            <a:rPr lang="en-US" b="0" i="1" smtClean="0">
                                              <a:latin typeface="Cambria Math" panose="02040503050406030204" pitchFamily="18" charset="0"/>
                                            </a:rPr>
                                            <m:t>𝐸𝑉</m:t>
                                          </m:r>
                                        </m:sup>
                                      </m:sSubSup>
                                    </m:den>
                                  </m:f>
                                  <m:r>
                                    <a:rPr lang="en-US" i="0">
                                      <a:latin typeface="Cambria Math" panose="02040503050406030204" pitchFamily="18" charset="0"/>
                                    </a:rPr>
                                    <m:t>,  </m:t>
                                  </m:r>
                                  <m:r>
                                    <a:rPr lang="en-US" i="1">
                                      <a:latin typeface="Cambria Math" panose="02040503050406030204" pitchFamily="18" charset="0"/>
                                    </a:rPr>
                                    <m:t>𝑖𝑓</m:t>
                                  </m:r>
                                  <m:r>
                                    <a:rPr lang="en-US" i="0">
                                      <a:latin typeface="Cambria Math" panose="02040503050406030204" pitchFamily="18" charset="0"/>
                                    </a:rPr>
                                    <m:t> </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≥0</m:t>
                                  </m:r>
                                </m:e>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num>
                                    <m:den>
                                      <m:sSubSup>
                                        <m:sSubSupPr>
                                          <m:ctrlPr>
                                            <a:rPr lang="en-US" i="1">
                                              <a:solidFill>
                                                <a:srgbClr val="836967"/>
                                              </a:solidFill>
                                              <a:latin typeface="Cambria Math" panose="02040503050406030204" pitchFamily="18" charset="0"/>
                                            </a:rPr>
                                          </m:ctrlPr>
                                        </m:sSubSupPr>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𝑑𝑖𝑠𝑐h</m:t>
                                              </m:r>
                                              <m:r>
                                                <a:rPr lang="en-US" i="0">
                                                  <a:latin typeface="Cambria Math" panose="02040503050406030204" pitchFamily="18" charset="0"/>
                                                </a:rPr>
                                                <m:t>,</m:t>
                                              </m:r>
                                              <m:r>
                                                <a:rPr lang="en-US" i="1">
                                                  <a:latin typeface="Cambria Math" panose="02040503050406030204" pitchFamily="18" charset="0"/>
                                                </a:rPr>
                                                <m:t>𝑛</m:t>
                                              </m:r>
                                            </m:sub>
                                            <m:sup>
                                              <m:r>
                                                <a:rPr lang="en-US" b="0" i="1" smtClean="0">
                                                  <a:latin typeface="Cambria Math" panose="02040503050406030204" pitchFamily="18" charset="0"/>
                                                </a:rPr>
                                                <m:t>𝐸𝑉</m:t>
                                              </m:r>
                                            </m:sup>
                                          </m:sSubSup>
                                          <m:r>
                                            <a:rPr lang="en-US" i="0">
                                              <a:latin typeface="Cambria Math" panose="02040503050406030204" pitchFamily="18" charset="0"/>
                                            </a:rPr>
                                            <m:t>･</m:t>
                                          </m:r>
                                          <m:r>
                                            <a:rPr lang="en-US" i="1">
                                              <a:latin typeface="Cambria Math" panose="02040503050406030204" pitchFamily="18" charset="0"/>
                                            </a:rPr>
                                            <m:t>𝐶</m:t>
                                          </m:r>
                                        </m:e>
                                        <m:sub>
                                          <m:r>
                                            <a:rPr lang="en-US" i="1">
                                              <a:latin typeface="Cambria Math" panose="02040503050406030204" pitchFamily="18" charset="0"/>
                                            </a:rPr>
                                            <m:t>𝑛</m:t>
                                          </m:r>
                                        </m:sub>
                                        <m:sup>
                                          <m:r>
                                            <a:rPr lang="en-US" b="0" i="1" smtClean="0">
                                              <a:latin typeface="Cambria Math" panose="02040503050406030204" pitchFamily="18" charset="0"/>
                                            </a:rPr>
                                            <m:t>𝐸𝑉</m:t>
                                          </m:r>
                                        </m:sup>
                                      </m:sSubSup>
                                    </m:den>
                                  </m:f>
                                  <m:r>
                                    <a:rPr lang="en-US" i="0">
                                      <a:latin typeface="Cambria Math" panose="02040503050406030204" pitchFamily="18" charset="0"/>
                                    </a:rPr>
                                    <m:t>,  </m:t>
                                  </m:r>
                                  <m:r>
                                    <a:rPr lang="en-US" i="1">
                                      <a:latin typeface="Cambria Math" panose="02040503050406030204" pitchFamily="18" charset="0"/>
                                    </a:rPr>
                                    <m:t>𝑜𝑡h𝑒𝑟𝑒𝑖𝑠𝑒</m:t>
                                  </m:r>
                                </m:e>
                              </m:eqArr>
                              <m:r>
                                <a:rPr lang="en-US" i="0">
                                  <a:latin typeface="Cambria Math" panose="02040503050406030204" pitchFamily="18" charset="0"/>
                                </a:rPr>
                                <m:t>#</m:t>
                              </m:r>
                              <m:d>
                                <m:dPr>
                                  <m:ctrlPr>
                                    <a:rPr lang="en-US" i="1">
                                      <a:latin typeface="Cambria Math" panose="02040503050406030204" pitchFamily="18" charset="0"/>
                                    </a:rPr>
                                  </m:ctrlPr>
                                </m:dPr>
                                <m:e>
                                  <m:r>
                                    <a:rPr lang="en-US" b="0" i="0" smtClean="0">
                                      <a:latin typeface="Cambria Math" panose="02040503050406030204" pitchFamily="18" charset="0"/>
                                    </a:rPr>
                                    <m:t>6</m:t>
                                  </m:r>
                                </m:e>
                              </m:d>
                            </m:e>
                          </m:eqArr>
                        </m:e>
                      </m:d>
                    </m:oMath>
                  </m:oMathPara>
                </a14:m>
                <a:endParaRPr lang="en-US" dirty="0"/>
              </a:p>
            </p:txBody>
          </p:sp>
        </mc:Choice>
        <mc:Fallback xmlns="">
          <p:sp>
            <p:nvSpPr>
              <p:cNvPr id="11" name="テキスト ボックス 10">
                <a:extLst>
                  <a:ext uri="{FF2B5EF4-FFF2-40B4-BE49-F238E27FC236}">
                    <a16:creationId xmlns:a16="http://schemas.microsoft.com/office/drawing/2014/main" id="{F84DE8C1-8D2D-4C5E-87D1-C33824EF5BBD}"/>
                  </a:ext>
                </a:extLst>
              </p:cNvPr>
              <p:cNvSpPr txBox="1">
                <a:spLocks noRot="1" noChangeAspect="1" noMove="1" noResize="1" noEditPoints="1" noAdjustHandles="1" noChangeArrowheads="1" noChangeShapeType="1" noTextEdit="1"/>
              </p:cNvSpPr>
              <p:nvPr/>
            </p:nvSpPr>
            <p:spPr>
              <a:xfrm>
                <a:off x="1615535" y="4776549"/>
                <a:ext cx="6724901" cy="1505605"/>
              </a:xfrm>
              <a:prstGeom prst="rect">
                <a:avLst/>
              </a:prstGeom>
              <a:blipFill>
                <a:blip r:embed="rId4"/>
                <a:stretch>
                  <a:fillRect/>
                </a:stretch>
              </a:blipFill>
            </p:spPr>
            <p:txBody>
              <a:bodyPr/>
              <a:lstStyle/>
              <a:p>
                <a:r>
                  <a:rPr lang="ja-JP" altLang="en-US">
                    <a:noFill/>
                  </a:rPr>
                  <a:t> </a:t>
                </a:r>
              </a:p>
            </p:txBody>
          </p:sp>
        </mc:Fallback>
      </mc:AlternateContent>
      <p:cxnSp>
        <p:nvCxnSpPr>
          <p:cNvPr id="13" name="直線コネクタ 12">
            <a:extLst>
              <a:ext uri="{FF2B5EF4-FFF2-40B4-BE49-F238E27FC236}">
                <a16:creationId xmlns:a16="http://schemas.microsoft.com/office/drawing/2014/main" id="{F75FFEFD-3D95-31F0-7ABE-C8C6A9DACBC8}"/>
              </a:ext>
            </a:extLst>
          </p:cNvPr>
          <p:cNvCxnSpPr>
            <a:cxnSpLocks/>
          </p:cNvCxnSpPr>
          <p:nvPr/>
        </p:nvCxnSpPr>
        <p:spPr>
          <a:xfrm>
            <a:off x="0" y="4702631"/>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539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3.2.2 Design P2P energy trading model</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5228D9B2-7AD1-D6A9-C5F9-B6892076EBEE}"/>
                  </a:ext>
                </a:extLst>
              </p:cNvPr>
              <p:cNvSpPr txBox="1"/>
              <p:nvPr/>
            </p:nvSpPr>
            <p:spPr>
              <a:xfrm>
                <a:off x="123825" y="763098"/>
                <a:ext cx="4959926" cy="4259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𝑆𝑂𝐶</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Sub>
                      <m:r>
                        <a:rPr lang="en-US" i="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𝐶</m:t>
                              </m:r>
                            </m:e>
                            <m:sup>
                              <m:r>
                                <a:rPr lang="en-US" i="0">
                                  <a:latin typeface="Cambria Math" panose="02040503050406030204" pitchFamily="18" charset="0"/>
                                </a:rPr>
                                <m:t>′</m:t>
                              </m:r>
                            </m:sup>
                          </m:sSup>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ja-JP" altLang="en-US" i="1">
                          <a:latin typeface="Cambria Math" panose="02040503050406030204" pitchFamily="18" charset="0"/>
                        </a:rPr>
                        <m:t>　</m:t>
                      </m:r>
                      <m:r>
                        <a:rPr lang="en-US" altLang="ja-JP" b="0" i="1" smtClean="0">
                          <a:latin typeface="Cambria Math" panose="02040503050406030204" pitchFamily="18" charset="0"/>
                        </a:rPr>
                        <m:t>(7)</m:t>
                      </m:r>
                    </m:oMath>
                  </m:oMathPara>
                </a14:m>
                <a:endParaRPr lang="en-US" dirty="0"/>
              </a:p>
            </p:txBody>
          </p:sp>
        </mc:Choice>
        <mc:Fallback xmlns="">
          <p:sp>
            <p:nvSpPr>
              <p:cNvPr id="5" name="テキスト ボックス 4">
                <a:extLst>
                  <a:ext uri="{FF2B5EF4-FFF2-40B4-BE49-F238E27FC236}">
                    <a16:creationId xmlns:a16="http://schemas.microsoft.com/office/drawing/2014/main" id="{5228D9B2-7AD1-D6A9-C5F9-B6892076EBEE}"/>
                  </a:ext>
                </a:extLst>
              </p:cNvPr>
              <p:cNvSpPr txBox="1">
                <a:spLocks noRot="1" noChangeAspect="1" noMove="1" noResize="1" noEditPoints="1" noAdjustHandles="1" noChangeArrowheads="1" noChangeShapeType="1" noTextEdit="1"/>
              </p:cNvSpPr>
              <p:nvPr/>
            </p:nvSpPr>
            <p:spPr>
              <a:xfrm>
                <a:off x="123825" y="763098"/>
                <a:ext cx="4959926" cy="425950"/>
              </a:xfrm>
              <a:prstGeom prst="rect">
                <a:avLst/>
              </a:prstGeom>
              <a:blipFill>
                <a:blip r:embed="rId2"/>
                <a:stretch>
                  <a:fillRect b="-85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B3FA184D-5F83-C863-E339-EBAE82F35617}"/>
                  </a:ext>
                </a:extLst>
              </p:cNvPr>
              <p:cNvSpPr txBox="1"/>
              <p:nvPr/>
            </p:nvSpPr>
            <p:spPr>
              <a:xfrm>
                <a:off x="752228" y="1238935"/>
                <a:ext cx="8599713" cy="154228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𝑆𝑂</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𝐶</m:t>
                              </m:r>
                            </m:e>
                            <m:sup>
                              <m:r>
                                <a:rPr lang="en-US">
                                  <a:latin typeface="Cambria Math" panose="02040503050406030204" pitchFamily="18" charset="0"/>
                                </a:rPr>
                                <m:t>′</m:t>
                              </m:r>
                            </m:sup>
                          </m:sSup>
                        </m:e>
                        <m:sub>
                          <m:r>
                            <a:rPr lang="en-US" i="1">
                              <a:latin typeface="Cambria Math" panose="02040503050406030204" pitchFamily="18" charset="0"/>
                            </a:rPr>
                            <m:t>𝑡</m:t>
                          </m:r>
                          <m:r>
                            <a:rPr lang="en-US">
                              <a:latin typeface="Cambria Math" panose="02040503050406030204" pitchFamily="18" charset="0"/>
                            </a:rPr>
                            <m:t>+1,</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eqArr>
                                <m:eqArrPr>
                                  <m:ctrlPr>
                                    <a:rPr lang="en-US" i="1">
                                      <a:solidFill>
                                        <a:srgbClr val="836967"/>
                                      </a:solidFill>
                                      <a:latin typeface="Cambria Math" panose="02040503050406030204" pitchFamily="18" charset="0"/>
                                    </a:rPr>
                                  </m:ctrlPr>
                                </m:eqArrPr>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r>
                                        <a:rPr lang="en-US" i="0">
                                          <a:latin typeface="Cambria Math" panose="02040503050406030204" pitchFamily="18" charset="0"/>
                                        </a:rPr>
                                        <m:t>′</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𝑐h</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num>
                                    <m:den>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𝐶</m:t>
                                          </m:r>
                                        </m:e>
                                        <m:sub>
                                          <m:r>
                                            <a:rPr lang="en-US" i="1">
                                              <a:latin typeface="Cambria Math" panose="02040503050406030204" pitchFamily="18" charset="0"/>
                                            </a:rPr>
                                            <m:t>𝑛</m:t>
                                          </m:r>
                                        </m:sub>
                                        <m:sup>
                                          <m:r>
                                            <a:rPr lang="en-US" i="1">
                                              <a:latin typeface="Cambria Math" panose="02040503050406030204" pitchFamily="18" charset="0"/>
                                            </a:rPr>
                                            <m:t>𝐸𝑉</m:t>
                                          </m:r>
                                        </m:sup>
                                      </m:sSubSup>
                                    </m:den>
                                  </m:f>
                                  <m:r>
                                    <a:rPr lang="en-US" i="0">
                                      <a:latin typeface="Cambria Math" panose="02040503050406030204" pitchFamily="18" charset="0"/>
                                    </a:rPr>
                                    <m:t>−</m:t>
                                  </m:r>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sub>
                                      </m:sSub>
                                    </m:e>
                                  </m:d>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r>
                                            <a:rPr lang="en-US" i="0">
                                              <a:latin typeface="Cambria Math" panose="02040503050406030204" pitchFamily="18" charset="0"/>
                                            </a:rPr>
                                            <m:t>,</m:t>
                                          </m:r>
                                          <m:r>
                                            <a:rPr lang="en-US" i="1">
                                              <a:latin typeface="Cambria Math" panose="02040503050406030204" pitchFamily="18" charset="0"/>
                                            </a:rPr>
                                            <m:t>𝑢𝑠𝑒</m:t>
                                          </m:r>
                                        </m:sup>
                                      </m:sSubSup>
                                    </m:num>
                                    <m:den>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𝐶</m:t>
                                          </m:r>
                                        </m:e>
                                        <m:sub>
                                          <m:r>
                                            <a:rPr lang="en-US" i="1">
                                              <a:latin typeface="Cambria Math" panose="02040503050406030204" pitchFamily="18" charset="0"/>
                                            </a:rPr>
                                            <m:t>𝑛</m:t>
                                          </m:r>
                                        </m:sub>
                                        <m:sup>
                                          <m:r>
                                            <a:rPr lang="en-US" b="0" i="1" smtClean="0">
                                              <a:latin typeface="Cambria Math" panose="02040503050406030204" pitchFamily="18" charset="0"/>
                                            </a:rPr>
                                            <m:t>𝐸𝑉</m:t>
                                          </m:r>
                                        </m:sup>
                                      </m:sSubSup>
                                    </m:den>
                                  </m:f>
                                  <m:r>
                                    <a:rPr lang="en-US" i="0">
                                      <a:latin typeface="Cambria Math" panose="02040503050406030204" pitchFamily="18" charset="0"/>
                                    </a:rPr>
                                    <m:t>,  </m:t>
                                  </m:r>
                                  <m:r>
                                    <a:rPr lang="en-US" i="1">
                                      <a:latin typeface="Cambria Math" panose="02040503050406030204" pitchFamily="18" charset="0"/>
                                    </a:rPr>
                                    <m:t>𝑖𝑓</m:t>
                                  </m:r>
                                  <m:r>
                                    <a:rPr lang="en-US" i="0">
                                      <a:latin typeface="Cambria Math" panose="02040503050406030204" pitchFamily="18" charset="0"/>
                                    </a:rPr>
                                    <m:t> </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i="0">
                                      <a:latin typeface="Cambria Math" panose="02040503050406030204" pitchFamily="18" charset="0"/>
                                    </a:rPr>
                                    <m:t>≥0</m:t>
                                  </m:r>
                                </m:e>
                                <m:e>
                                  <m:r>
                                    <a:rPr lang="en-US" i="0">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𝑆𝑂𝐶</m:t>
                                      </m:r>
                                      <m:r>
                                        <a:rPr lang="en-US" i="0">
                                          <a:latin typeface="Cambria Math" panose="02040503050406030204" pitchFamily="18" charset="0"/>
                                        </a:rPr>
                                        <m:t>′</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num>
                                    <m:den>
                                      <m:sSubSup>
                                        <m:sSubSupPr>
                                          <m:ctrlPr>
                                            <a:rPr lang="en-US" i="1">
                                              <a:solidFill>
                                                <a:srgbClr val="836967"/>
                                              </a:solidFill>
                                              <a:latin typeface="Cambria Math" panose="02040503050406030204" pitchFamily="18" charset="0"/>
                                            </a:rPr>
                                          </m:ctrlPr>
                                        </m:sSubSupPr>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𝜂</m:t>
                                              </m:r>
                                            </m:e>
                                            <m:sub>
                                              <m:r>
                                                <a:rPr lang="en-US" i="1">
                                                  <a:latin typeface="Cambria Math" panose="02040503050406030204" pitchFamily="18" charset="0"/>
                                                </a:rPr>
                                                <m:t>𝑑𝑖𝑠𝑐h</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r>
                                            <a:rPr lang="en-US" i="1">
                                              <a:latin typeface="Cambria Math" panose="02040503050406030204" pitchFamily="18" charset="0"/>
                                            </a:rPr>
                                            <m:t>𝐶</m:t>
                                          </m:r>
                                        </m:e>
                                        <m:sub>
                                          <m:r>
                                            <a:rPr lang="en-US" i="1">
                                              <a:latin typeface="Cambria Math" panose="02040503050406030204" pitchFamily="18" charset="0"/>
                                            </a:rPr>
                                            <m:t>𝑛</m:t>
                                          </m:r>
                                        </m:sub>
                                        <m:sup>
                                          <m:r>
                                            <a:rPr lang="en-US" i="1">
                                              <a:latin typeface="Cambria Math" panose="02040503050406030204" pitchFamily="18" charset="0"/>
                                            </a:rPr>
                                            <m:t>𝐸𝑉</m:t>
                                          </m:r>
                                        </m:sup>
                                      </m:sSubSup>
                                    </m:den>
                                  </m:f>
                                  <m:r>
                                    <a:rPr lang="en-US" i="0">
                                      <a:latin typeface="Cambria Math" panose="02040503050406030204" pitchFamily="18" charset="0"/>
                                    </a:rPr>
                                    <m:t>−</m:t>
                                  </m:r>
                                  <m:d>
                                    <m:dPr>
                                      <m:ctrlPr>
                                        <a:rPr lang="en-US" i="1">
                                          <a:latin typeface="Cambria Math" panose="02040503050406030204" pitchFamily="18" charset="0"/>
                                        </a:rPr>
                                      </m:ctrlPr>
                                    </m:dPr>
                                    <m:e>
                                      <m:r>
                                        <a:rPr lang="en-US" i="0">
                                          <a:latin typeface="Cambria Math" panose="02040503050406030204" pitchFamily="18" charset="0"/>
                                        </a:rPr>
                                        <m:t>1−</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𝑡</m:t>
                                          </m:r>
                                        </m:sub>
                                      </m:sSub>
                                    </m:e>
                                  </m:d>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r>
                                            <a:rPr lang="en-US" i="0">
                                              <a:latin typeface="Cambria Math" panose="02040503050406030204" pitchFamily="18" charset="0"/>
                                            </a:rPr>
                                            <m:t>,</m:t>
                                          </m:r>
                                          <m:r>
                                            <a:rPr lang="en-US" i="1">
                                              <a:latin typeface="Cambria Math" panose="02040503050406030204" pitchFamily="18" charset="0"/>
                                            </a:rPr>
                                            <m:t>𝑢𝑠𝑒</m:t>
                                          </m:r>
                                        </m:sup>
                                      </m:sSubSup>
                                    </m:num>
                                    <m:den>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𝐶</m:t>
                                          </m:r>
                                        </m:e>
                                        <m:sub>
                                          <m:r>
                                            <a:rPr lang="en-US" i="1">
                                              <a:latin typeface="Cambria Math" panose="02040503050406030204" pitchFamily="18" charset="0"/>
                                            </a:rPr>
                                            <m:t>𝑛</m:t>
                                          </m:r>
                                        </m:sub>
                                        <m:sup>
                                          <m:r>
                                            <a:rPr lang="en-US" b="0" i="1" smtClean="0">
                                              <a:latin typeface="Cambria Math" panose="02040503050406030204" pitchFamily="18" charset="0"/>
                                            </a:rPr>
                                            <m:t>𝐸𝑉</m:t>
                                          </m:r>
                                        </m:sup>
                                      </m:sSubSup>
                                    </m:den>
                                  </m:f>
                                  <m:r>
                                    <a:rPr lang="en-US" i="0">
                                      <a:latin typeface="Cambria Math" panose="02040503050406030204" pitchFamily="18" charset="0"/>
                                    </a:rPr>
                                    <m:t>,  </m:t>
                                  </m:r>
                                  <m:r>
                                    <a:rPr lang="en-US" i="1">
                                      <a:latin typeface="Cambria Math" panose="02040503050406030204" pitchFamily="18" charset="0"/>
                                    </a:rPr>
                                    <m:t>𝑜𝑡h𝑒𝑟𝑒𝑖𝑠𝑒</m:t>
                                  </m:r>
                                </m:e>
                              </m:eqArr>
                              <m:r>
                                <a:rPr lang="en-US" i="0">
                                  <a:latin typeface="Cambria Math" panose="02040503050406030204" pitchFamily="18" charset="0"/>
                                </a:rPr>
                                <m:t>#</m:t>
                              </m:r>
                              <m:d>
                                <m:dPr>
                                  <m:ctrlPr>
                                    <a:rPr lang="en-US" i="1">
                                      <a:latin typeface="Cambria Math" panose="02040503050406030204" pitchFamily="18" charset="0"/>
                                    </a:rPr>
                                  </m:ctrlPr>
                                </m:dPr>
                                <m:e>
                                  <m:r>
                                    <a:rPr lang="en-US" b="0" i="0" smtClean="0">
                                      <a:latin typeface="Cambria Math" panose="02040503050406030204" pitchFamily="18" charset="0"/>
                                    </a:rPr>
                                    <m:t>8</m:t>
                                  </m:r>
                                </m:e>
                              </m:d>
                            </m:e>
                          </m:eqArr>
                        </m:e>
                      </m:d>
                    </m:oMath>
                  </m:oMathPara>
                </a14:m>
                <a:endParaRPr lang="en-US" dirty="0"/>
              </a:p>
            </p:txBody>
          </p:sp>
        </mc:Choice>
        <mc:Fallback xmlns="">
          <p:sp>
            <p:nvSpPr>
              <p:cNvPr id="7" name="テキスト ボックス 6">
                <a:extLst>
                  <a:ext uri="{FF2B5EF4-FFF2-40B4-BE49-F238E27FC236}">
                    <a16:creationId xmlns:a16="http://schemas.microsoft.com/office/drawing/2014/main" id="{B3FA184D-5F83-C863-E339-EBAE82F35617}"/>
                  </a:ext>
                </a:extLst>
              </p:cNvPr>
              <p:cNvSpPr txBox="1">
                <a:spLocks noRot="1" noChangeAspect="1" noMove="1" noResize="1" noEditPoints="1" noAdjustHandles="1" noChangeArrowheads="1" noChangeShapeType="1" noTextEdit="1"/>
              </p:cNvSpPr>
              <p:nvPr/>
            </p:nvSpPr>
            <p:spPr>
              <a:xfrm>
                <a:off x="752228" y="1238935"/>
                <a:ext cx="8599713" cy="154228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9" name="表 8">
                <a:extLst>
                  <a:ext uri="{FF2B5EF4-FFF2-40B4-BE49-F238E27FC236}">
                    <a16:creationId xmlns:a16="http://schemas.microsoft.com/office/drawing/2014/main" id="{70C1DE68-E0B9-BB7F-C236-532F5FEB21B6}"/>
                  </a:ext>
                </a:extLst>
              </p:cNvPr>
              <p:cNvGraphicFramePr>
                <a:graphicFrameLocks noGrp="1"/>
              </p:cNvGraphicFramePr>
              <p:nvPr>
                <p:extLst>
                  <p:ext uri="{D42A27DB-BD31-4B8C-83A1-F6EECF244321}">
                    <p14:modId xmlns:p14="http://schemas.microsoft.com/office/powerpoint/2010/main" val="497749058"/>
                  </p:ext>
                </p:extLst>
              </p:nvPr>
            </p:nvGraphicFramePr>
            <p:xfrm>
              <a:off x="1112813" y="2728175"/>
              <a:ext cx="8142511" cy="3218214"/>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𝑢</m:t>
                                    </m:r>
                                  </m:e>
                                  <m:sub>
                                    <m:r>
                                      <a:rPr lang="en-US" sz="1600" i="1">
                                        <a:latin typeface="Cambria Math" panose="02040503050406030204" pitchFamily="18" charset="0"/>
                                      </a:rPr>
                                      <m:t>𝑡</m:t>
                                    </m:r>
                                    <m:r>
                                      <a:rPr lang="en-US" sz="1600" i="0">
                                        <a:latin typeface="Cambria Math" panose="02040503050406030204" pitchFamily="18" charset="0"/>
                                      </a:rPr>
                                      <m:t>,</m:t>
                                    </m:r>
                                    <m:r>
                                      <a:rPr lang="en-US" sz="1600" i="1">
                                        <a:latin typeface="Cambria Math" panose="02040503050406030204" pitchFamily="18" charset="0"/>
                                      </a:rPr>
                                      <m:t>𝑛</m:t>
                                    </m:r>
                                  </m:sub>
                                </m:sSub>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Binary decision variable whether EV is connected to the grid</a:t>
                          </a:r>
                          <a:endParaRPr lang="en-US" sz="1600" dirty="0"/>
                        </a:p>
                      </a:txBody>
                      <a:tcPr>
                        <a:noFill/>
                      </a:tcPr>
                    </a:tc>
                    <a:extLst>
                      <a:ext uri="{0D108BD9-81ED-4DB2-BD59-A6C34878D82A}">
                        <a16:rowId xmlns:a16="http://schemas.microsoft.com/office/drawing/2014/main" val="585328255"/>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350" i="1" kern="1200" smtClean="0">
                                        <a:solidFill>
                                          <a:schemeClr val="dk1"/>
                                        </a:solidFill>
                                        <a:effectLst/>
                                        <a:latin typeface="Cambria Math" panose="02040503050406030204" pitchFamily="18" charset="0"/>
                                        <a:ea typeface="+mn-ea"/>
                                        <a:cs typeface="+mn-cs"/>
                                      </a:rPr>
                                    </m:ctrlPr>
                                  </m:sSubSupPr>
                                  <m:e>
                                    <m:r>
                                      <a:rPr lang="en-US" sz="1350" i="1" kern="1200">
                                        <a:solidFill>
                                          <a:schemeClr val="dk1"/>
                                        </a:solidFill>
                                        <a:effectLst/>
                                        <a:latin typeface="Cambria Math" panose="02040503050406030204" pitchFamily="18" charset="0"/>
                                        <a:ea typeface="+mn-ea"/>
                                        <a:cs typeface="+mn-cs"/>
                                      </a:rPr>
                                      <m:t>𝑆𝑂𝐶</m:t>
                                    </m:r>
                                    <m:r>
                                      <a:rPr lang="en-US" sz="1350" b="0" i="1" kern="1200" smtClean="0">
                                        <a:solidFill>
                                          <a:schemeClr val="dk1"/>
                                        </a:solidFill>
                                        <a:effectLst/>
                                        <a:latin typeface="Cambria Math" panose="02040503050406030204" pitchFamily="18" charset="0"/>
                                        <a:ea typeface="+mn-ea"/>
                                        <a:cs typeface="+mn-cs"/>
                                      </a:rPr>
                                      <m:t>′</m:t>
                                    </m:r>
                                  </m:e>
                                  <m:sub>
                                    <m:r>
                                      <a:rPr lang="en-US" sz="1350" i="1" kern="1200">
                                        <a:solidFill>
                                          <a:schemeClr val="dk1"/>
                                        </a:solidFill>
                                        <a:effectLst/>
                                        <a:latin typeface="Cambria Math" panose="02040503050406030204" pitchFamily="18" charset="0"/>
                                        <a:ea typeface="+mn-ea"/>
                                        <a:cs typeface="+mn-cs"/>
                                      </a:rPr>
                                      <m:t>𝑡</m:t>
                                    </m:r>
                                    <m:r>
                                      <a:rPr lang="en-US" sz="1350" i="1" kern="1200">
                                        <a:solidFill>
                                          <a:schemeClr val="dk1"/>
                                        </a:solidFill>
                                        <a:effectLst/>
                                        <a:latin typeface="Cambria Math" panose="02040503050406030204" pitchFamily="18" charset="0"/>
                                        <a:ea typeface="+mn-ea"/>
                                        <a:cs typeface="+mn-cs"/>
                                      </a:rPr>
                                      <m:t>,</m:t>
                                    </m:r>
                                    <m:r>
                                      <a:rPr lang="en-US" sz="1350" i="1" kern="1200">
                                        <a:solidFill>
                                          <a:schemeClr val="dk1"/>
                                        </a:solidFill>
                                        <a:effectLst/>
                                        <a:latin typeface="Cambria Math" panose="02040503050406030204" pitchFamily="18" charset="0"/>
                                        <a:ea typeface="+mn-ea"/>
                                        <a:cs typeface="+mn-cs"/>
                                      </a:rPr>
                                      <m:t>𝑛</m:t>
                                    </m:r>
                                  </m:sub>
                                  <m:sup>
                                    <m:r>
                                      <a:rPr lang="en-US" sz="1350" b="0" i="1" kern="1200" smtClean="0">
                                        <a:solidFill>
                                          <a:schemeClr val="dk1"/>
                                        </a:solidFill>
                                        <a:effectLst/>
                                        <a:latin typeface="Cambria Math" panose="02040503050406030204" pitchFamily="18" charset="0"/>
                                        <a:ea typeface="+mn-ea"/>
                                        <a:cs typeface="+mn-cs"/>
                                      </a:rPr>
                                      <m:t>𝐸𝑉</m:t>
                                    </m:r>
                                  </m:sup>
                                </m:sSubSup>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State</a:t>
                          </a:r>
                          <a:r>
                            <a:rPr lang="ja-JP" altLang="en-US" sz="1600" dirty="0"/>
                            <a:t> </a:t>
                          </a:r>
                          <a:r>
                            <a:rPr lang="en-US" altLang="ja-JP" sz="1600" dirty="0"/>
                            <a:t>of</a:t>
                          </a:r>
                          <a:r>
                            <a:rPr lang="ja-JP" altLang="en-US" sz="1600" dirty="0"/>
                            <a:t> </a:t>
                          </a:r>
                          <a:r>
                            <a:rPr lang="en-US" altLang="ja-JP" sz="1600" dirty="0"/>
                            <a:t>charge</a:t>
                          </a:r>
                          <a:r>
                            <a:rPr lang="ja-JP" altLang="en-US" sz="1600" dirty="0"/>
                            <a:t> </a:t>
                          </a:r>
                          <a:r>
                            <a:rPr lang="en-US" altLang="ja-JP" sz="1600" dirty="0"/>
                            <a:t>of</a:t>
                          </a:r>
                          <a:r>
                            <a:rPr lang="ja-JP" altLang="en-US" sz="1600" dirty="0"/>
                            <a:t> </a:t>
                          </a:r>
                          <a:r>
                            <a:rPr lang="en-US" altLang="ja-JP" sz="1600" dirty="0"/>
                            <a:t>EV[-]</a:t>
                          </a:r>
                          <a:endParaRPr lang="en-US" sz="1600" dirty="0"/>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𝜂</m:t>
                                    </m:r>
                                  </m:e>
                                  <m:sub>
                                    <m:r>
                                      <a:rPr lang="en-US" sz="1600" i="1">
                                        <a:latin typeface="Cambria Math" panose="02040503050406030204" pitchFamily="18" charset="0"/>
                                      </a:rPr>
                                      <m:t>𝑐h</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Charging efficiency </a:t>
                          </a:r>
                          <a:r>
                            <a:rPr lang="en-US" altLang="ja-JP" sz="1600" dirty="0"/>
                            <a:t>of EV</a:t>
                          </a:r>
                          <a:endParaRPr lang="en-US" sz="1600" dirty="0"/>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𝜂</m:t>
                                    </m:r>
                                  </m:e>
                                  <m:sub>
                                    <m:r>
                                      <a:rPr lang="en-US" sz="1600" i="1">
                                        <a:latin typeface="Cambria Math" panose="02040503050406030204" pitchFamily="18" charset="0"/>
                                      </a:rPr>
                                      <m:t>𝑑𝑖𝑠𝑐h</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Discharging efficiency </a:t>
                          </a:r>
                          <a:r>
                            <a:rPr lang="en-US" altLang="ja-JP" sz="1600" dirty="0"/>
                            <a:t>of EV</a:t>
                          </a:r>
                          <a:endParaRPr lang="en-US" sz="1600" dirty="0"/>
                        </a:p>
                      </a:txBody>
                      <a:tcPr>
                        <a:noFill/>
                      </a:tcPr>
                    </a:tc>
                    <a:extLst>
                      <a:ext uri="{0D108BD9-81ED-4DB2-BD59-A6C34878D82A}">
                        <a16:rowId xmlns:a16="http://schemas.microsoft.com/office/drawing/2014/main" val="4272089726"/>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solidFill>
                                          <a:srgbClr val="836967"/>
                                        </a:solidFill>
                                        <a:latin typeface="Cambria Math" panose="02040503050406030204" pitchFamily="18" charset="0"/>
                                      </a:rPr>
                                    </m:ctrlPr>
                                  </m:sSubSupPr>
                                  <m:e>
                                    <m:r>
                                      <a:rPr lang="en-US" sz="1600" i="1">
                                        <a:latin typeface="Cambria Math" panose="02040503050406030204" pitchFamily="18" charset="0"/>
                                      </a:rPr>
                                      <m:t>𝑒</m:t>
                                    </m:r>
                                  </m:e>
                                  <m:sub>
                                    <m:r>
                                      <a:rPr lang="en-US" sz="1600" i="1">
                                        <a:latin typeface="Cambria Math" panose="02040503050406030204" pitchFamily="18" charset="0"/>
                                      </a:rPr>
                                      <m:t>𝑡</m:t>
                                    </m:r>
                                    <m:r>
                                      <a:rPr lang="en-US" sz="1600" i="0">
                                        <a:latin typeface="Cambria Math" panose="02040503050406030204" pitchFamily="18" charset="0"/>
                                      </a:rPr>
                                      <m:t>,</m:t>
                                    </m:r>
                                    <m:r>
                                      <a:rPr lang="en-US" sz="1600" i="1">
                                        <a:latin typeface="Cambria Math" panose="02040503050406030204" pitchFamily="18" charset="0"/>
                                      </a:rPr>
                                      <m:t>𝑛</m:t>
                                    </m:r>
                                  </m:sub>
                                  <m:sup>
                                    <m:r>
                                      <a:rPr lang="en-US" sz="1600" i="1">
                                        <a:latin typeface="Cambria Math" panose="02040503050406030204" pitchFamily="18" charset="0"/>
                                      </a:rPr>
                                      <m:t>𝐸𝑉</m:t>
                                    </m:r>
                                    <m:r>
                                      <a:rPr lang="en-US" sz="1600" i="0">
                                        <a:latin typeface="Cambria Math" panose="02040503050406030204" pitchFamily="18" charset="0"/>
                                      </a:rPr>
                                      <m:t>,</m:t>
                                    </m:r>
                                    <m:r>
                                      <a:rPr lang="en-US" sz="1600" i="1">
                                        <a:latin typeface="Cambria Math" panose="02040503050406030204" pitchFamily="18" charset="0"/>
                                      </a:rPr>
                                      <m:t>𝑢𝑠𝑒</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Consumption of EV battery for mobility</a:t>
                          </a:r>
                        </a:p>
                      </a:txBody>
                      <a:tcPr>
                        <a:noFill/>
                      </a:tcPr>
                    </a:tc>
                    <a:extLst>
                      <a:ext uri="{0D108BD9-81ED-4DB2-BD59-A6C34878D82A}">
                        <a16:rowId xmlns:a16="http://schemas.microsoft.com/office/drawing/2014/main" val="199082574"/>
                      </a:ext>
                    </a:extLst>
                  </a:tr>
                  <a:tr h="536369">
                    <a:tc>
                      <a:txBody>
                        <a:bodyPr/>
                        <a:lstStyle/>
                        <a:p>
                          <a:endParaRPr lang="en-US" sz="1600" dirty="0"/>
                        </a:p>
                      </a:txBody>
                      <a:tcPr>
                        <a:noFill/>
                      </a:tcPr>
                    </a:tc>
                    <a:tc>
                      <a:txBody>
                        <a:bodyPr/>
                        <a:lstStyle/>
                        <a:p>
                          <a:endParaRPr lang="en-US" sz="1600" dirty="0"/>
                        </a:p>
                      </a:txBody>
                      <a:tcPr>
                        <a:noFill/>
                      </a:tcPr>
                    </a:tc>
                    <a:tc>
                      <a:txBody>
                        <a:bodyPr/>
                        <a:lstStyle/>
                        <a:p>
                          <a:endParaRPr lang="en-US" sz="1600" dirty="0"/>
                        </a:p>
                      </a:txBody>
                      <a:tcPr>
                        <a:noFill/>
                      </a:tcPr>
                    </a:tc>
                    <a:extLst>
                      <a:ext uri="{0D108BD9-81ED-4DB2-BD59-A6C34878D82A}">
                        <a16:rowId xmlns:a16="http://schemas.microsoft.com/office/drawing/2014/main" val="938949808"/>
                      </a:ext>
                    </a:extLst>
                  </a:tr>
                </a:tbl>
              </a:graphicData>
            </a:graphic>
          </p:graphicFrame>
        </mc:Choice>
        <mc:Fallback xmlns="">
          <p:graphicFrame>
            <p:nvGraphicFramePr>
              <p:cNvPr id="9" name="表 8">
                <a:extLst>
                  <a:ext uri="{FF2B5EF4-FFF2-40B4-BE49-F238E27FC236}">
                    <a16:creationId xmlns:a16="http://schemas.microsoft.com/office/drawing/2014/main" id="{70C1DE68-E0B9-BB7F-C236-532F5FEB21B6}"/>
                  </a:ext>
                </a:extLst>
              </p:cNvPr>
              <p:cNvGraphicFramePr>
                <a:graphicFrameLocks noGrp="1"/>
              </p:cNvGraphicFramePr>
              <p:nvPr>
                <p:extLst>
                  <p:ext uri="{D42A27DB-BD31-4B8C-83A1-F6EECF244321}">
                    <p14:modId xmlns:p14="http://schemas.microsoft.com/office/powerpoint/2010/main" val="497749058"/>
                  </p:ext>
                </p:extLst>
              </p:nvPr>
            </p:nvGraphicFramePr>
            <p:xfrm>
              <a:off x="1112813" y="2728175"/>
              <a:ext cx="8142511" cy="3218214"/>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4"/>
                          <a:stretch>
                            <a:fillRect l="-526" t="-3409" r="-604737" b="-5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Binary decision variable whether EV is connected to the grid</a:t>
                          </a:r>
                          <a:endParaRPr lang="en-US" sz="1600" dirty="0"/>
                        </a:p>
                      </a:txBody>
                      <a:tcPr>
                        <a:noFill/>
                      </a:tcPr>
                    </a:tc>
                    <a:extLst>
                      <a:ext uri="{0D108BD9-81ED-4DB2-BD59-A6C34878D82A}">
                        <a16:rowId xmlns:a16="http://schemas.microsoft.com/office/drawing/2014/main" val="585328255"/>
                      </a:ext>
                    </a:extLst>
                  </a:tr>
                  <a:tr h="536369">
                    <a:tc>
                      <a:txBody>
                        <a:bodyPr/>
                        <a:lstStyle/>
                        <a:p>
                          <a:endParaRPr lang="en-US"/>
                        </a:p>
                      </a:txBody>
                      <a:tcPr>
                        <a:blipFill>
                          <a:blip r:embed="rId4"/>
                          <a:stretch>
                            <a:fillRect l="-526" t="-103409" r="-604737" b="-4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State</a:t>
                          </a:r>
                          <a:r>
                            <a:rPr lang="ja-JP" altLang="en-US" sz="1600" dirty="0"/>
                            <a:t> </a:t>
                          </a:r>
                          <a:r>
                            <a:rPr lang="en-US" altLang="ja-JP" sz="1600" dirty="0"/>
                            <a:t>of</a:t>
                          </a:r>
                          <a:r>
                            <a:rPr lang="ja-JP" altLang="en-US" sz="1600" dirty="0"/>
                            <a:t> </a:t>
                          </a:r>
                          <a:r>
                            <a:rPr lang="en-US" altLang="ja-JP" sz="1600" dirty="0"/>
                            <a:t>charge</a:t>
                          </a:r>
                          <a:r>
                            <a:rPr lang="ja-JP" altLang="en-US" sz="1600" dirty="0"/>
                            <a:t> </a:t>
                          </a:r>
                          <a:r>
                            <a:rPr lang="en-US" altLang="ja-JP" sz="1600" dirty="0"/>
                            <a:t>of</a:t>
                          </a:r>
                          <a:r>
                            <a:rPr lang="ja-JP" altLang="en-US" sz="1600" dirty="0"/>
                            <a:t> </a:t>
                          </a:r>
                          <a:r>
                            <a:rPr lang="en-US" altLang="ja-JP" sz="1600" dirty="0"/>
                            <a:t>EV[-]</a:t>
                          </a:r>
                          <a:endParaRPr lang="en-US" sz="1600" dirty="0"/>
                        </a:p>
                      </a:txBody>
                      <a:tcPr>
                        <a:noFill/>
                      </a:tcPr>
                    </a:tc>
                    <a:extLst>
                      <a:ext uri="{0D108BD9-81ED-4DB2-BD59-A6C34878D82A}">
                        <a16:rowId xmlns:a16="http://schemas.microsoft.com/office/drawing/2014/main" val="2567745939"/>
                      </a:ext>
                    </a:extLst>
                  </a:tr>
                  <a:tr h="536369">
                    <a:tc>
                      <a:txBody>
                        <a:bodyPr/>
                        <a:lstStyle/>
                        <a:p>
                          <a:endParaRPr lang="en-US"/>
                        </a:p>
                      </a:txBody>
                      <a:tcPr>
                        <a:blipFill>
                          <a:blip r:embed="rId4"/>
                          <a:stretch>
                            <a:fillRect l="-526" t="-201124" r="-604737" b="-298876"/>
                          </a:stretch>
                        </a:blipFill>
                      </a:tcPr>
                    </a:tc>
                    <a:tc>
                      <a:txBody>
                        <a:bodyPr/>
                        <a:lstStyle/>
                        <a:p>
                          <a:r>
                            <a:rPr lang="en-US" sz="1600" dirty="0"/>
                            <a:t>:</a:t>
                          </a:r>
                        </a:p>
                      </a:txBody>
                      <a:tcPr>
                        <a:noFill/>
                      </a:tcPr>
                    </a:tc>
                    <a:tc>
                      <a:txBody>
                        <a:bodyPr/>
                        <a:lstStyle/>
                        <a:p>
                          <a:r>
                            <a:rPr lang="en-US" sz="1600" dirty="0"/>
                            <a:t>Charging efficiency </a:t>
                          </a:r>
                          <a:r>
                            <a:rPr lang="en-US" altLang="ja-JP" sz="1600" dirty="0"/>
                            <a:t>of EV</a:t>
                          </a:r>
                          <a:endParaRPr lang="en-US" sz="1600" dirty="0"/>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4"/>
                          <a:stretch>
                            <a:fillRect l="-526" t="-304545" r="-604737" b="-202273"/>
                          </a:stretch>
                        </a:blipFill>
                      </a:tcPr>
                    </a:tc>
                    <a:tc>
                      <a:txBody>
                        <a:bodyPr/>
                        <a:lstStyle/>
                        <a:p>
                          <a:r>
                            <a:rPr lang="en-US" sz="1600" dirty="0"/>
                            <a:t>:</a:t>
                          </a:r>
                        </a:p>
                      </a:txBody>
                      <a:tcPr>
                        <a:noFill/>
                      </a:tcPr>
                    </a:tc>
                    <a:tc>
                      <a:txBody>
                        <a:bodyPr/>
                        <a:lstStyle/>
                        <a:p>
                          <a:r>
                            <a:rPr lang="en-US" sz="1600" dirty="0"/>
                            <a:t>Discharging efficiency </a:t>
                          </a:r>
                          <a:r>
                            <a:rPr lang="en-US" altLang="ja-JP" sz="1600" dirty="0"/>
                            <a:t>of EV</a:t>
                          </a:r>
                          <a:endParaRPr lang="en-US" sz="1600" dirty="0"/>
                        </a:p>
                      </a:txBody>
                      <a:tcPr>
                        <a:noFill/>
                      </a:tcPr>
                    </a:tc>
                    <a:extLst>
                      <a:ext uri="{0D108BD9-81ED-4DB2-BD59-A6C34878D82A}">
                        <a16:rowId xmlns:a16="http://schemas.microsoft.com/office/drawing/2014/main" val="4272089726"/>
                      </a:ext>
                    </a:extLst>
                  </a:tr>
                  <a:tr h="536369">
                    <a:tc>
                      <a:txBody>
                        <a:bodyPr/>
                        <a:lstStyle/>
                        <a:p>
                          <a:endParaRPr lang="en-US"/>
                        </a:p>
                      </a:txBody>
                      <a:tcPr>
                        <a:blipFill>
                          <a:blip r:embed="rId4"/>
                          <a:stretch>
                            <a:fillRect l="-526" t="-404545" r="-604737" b="-102273"/>
                          </a:stretch>
                        </a:blipFill>
                      </a:tcPr>
                    </a:tc>
                    <a:tc>
                      <a:txBody>
                        <a:bodyPr/>
                        <a:lstStyle/>
                        <a:p>
                          <a:r>
                            <a:rPr lang="en-US" sz="1600" dirty="0"/>
                            <a:t>:</a:t>
                          </a:r>
                        </a:p>
                      </a:txBody>
                      <a:tcPr>
                        <a:noFill/>
                      </a:tcPr>
                    </a:tc>
                    <a:tc>
                      <a:txBody>
                        <a:bodyPr/>
                        <a:lstStyle/>
                        <a:p>
                          <a:r>
                            <a:rPr lang="en-US" sz="1600" dirty="0"/>
                            <a:t>Consumption of EV battery for mobility</a:t>
                          </a:r>
                        </a:p>
                      </a:txBody>
                      <a:tcPr>
                        <a:noFill/>
                      </a:tcPr>
                    </a:tc>
                    <a:extLst>
                      <a:ext uri="{0D108BD9-81ED-4DB2-BD59-A6C34878D82A}">
                        <a16:rowId xmlns:a16="http://schemas.microsoft.com/office/drawing/2014/main" val="199082574"/>
                      </a:ext>
                    </a:extLst>
                  </a:tr>
                  <a:tr h="536369">
                    <a:tc>
                      <a:txBody>
                        <a:bodyPr/>
                        <a:lstStyle/>
                        <a:p>
                          <a:endParaRPr lang="en-US" sz="1600" dirty="0"/>
                        </a:p>
                      </a:txBody>
                      <a:tcPr>
                        <a:noFill/>
                      </a:tcPr>
                    </a:tc>
                    <a:tc>
                      <a:txBody>
                        <a:bodyPr/>
                        <a:lstStyle/>
                        <a:p>
                          <a:endParaRPr lang="en-US" sz="1600" dirty="0"/>
                        </a:p>
                      </a:txBody>
                      <a:tcPr>
                        <a:noFill/>
                      </a:tcPr>
                    </a:tc>
                    <a:tc>
                      <a:txBody>
                        <a:bodyPr/>
                        <a:lstStyle/>
                        <a:p>
                          <a:endParaRPr lang="en-US" sz="1600" dirty="0"/>
                        </a:p>
                      </a:txBody>
                      <a:tcPr>
                        <a:noFill/>
                      </a:tcPr>
                    </a:tc>
                    <a:extLst>
                      <a:ext uri="{0D108BD9-81ED-4DB2-BD59-A6C34878D82A}">
                        <a16:rowId xmlns:a16="http://schemas.microsoft.com/office/drawing/2014/main" val="938949808"/>
                      </a:ext>
                    </a:extLst>
                  </a:tr>
                </a:tbl>
              </a:graphicData>
            </a:graphic>
          </p:graphicFrame>
        </mc:Fallback>
      </mc:AlternateContent>
      <p:cxnSp>
        <p:nvCxnSpPr>
          <p:cNvPr id="10" name="直線コネクタ 9">
            <a:extLst>
              <a:ext uri="{FF2B5EF4-FFF2-40B4-BE49-F238E27FC236}">
                <a16:creationId xmlns:a16="http://schemas.microsoft.com/office/drawing/2014/main" id="{8176E379-61EB-0FB3-9BC7-98280C228F6F}"/>
              </a:ext>
            </a:extLst>
          </p:cNvPr>
          <p:cNvCxnSpPr>
            <a:cxnSpLocks/>
          </p:cNvCxnSpPr>
          <p:nvPr/>
        </p:nvCxnSpPr>
        <p:spPr>
          <a:xfrm>
            <a:off x="0" y="5355774"/>
            <a:ext cx="9906000" cy="0"/>
          </a:xfrm>
          <a:prstGeom prst="line">
            <a:avLst/>
          </a:prstGeom>
          <a:ln w="1905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52607E69-EE7C-3717-1BEA-26CA8506962E}"/>
                  </a:ext>
                </a:extLst>
              </p:cNvPr>
              <p:cNvSpPr txBox="1"/>
              <p:nvPr/>
            </p:nvSpPr>
            <p:spPr>
              <a:xfrm>
                <a:off x="2152953" y="5490762"/>
                <a:ext cx="4959926" cy="4352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i="0">
                              <a:latin typeface="Cambria Math" panose="02040503050406030204" pitchFamily="18" charset="0"/>
                            </a:rPr>
                            <m:t>,</m:t>
                          </m:r>
                          <m:r>
                            <a:rPr lang="en-US" i="1">
                              <a:latin typeface="Cambria Math" panose="02040503050406030204" pitchFamily="18" charset="0"/>
                            </a:rPr>
                            <m:t>𝑃𝑉</m:t>
                          </m:r>
                          <m:r>
                            <a:rPr lang="en-US" i="0">
                              <a:latin typeface="Cambria Math" panose="02040503050406030204" pitchFamily="18" charset="0"/>
                            </a:rPr>
                            <m:t>,</m:t>
                          </m:r>
                          <m:r>
                            <a:rPr lang="en-US" i="1">
                              <a:latin typeface="Cambria Math" panose="02040503050406030204" pitchFamily="18" charset="0"/>
                            </a:rPr>
                            <m:t>𝑠𝑒𝑙𝑙</m:t>
                          </m:r>
                        </m:sup>
                      </m:sSubSup>
                      <m:r>
                        <a:rPr lang="en-US" i="0">
                          <a:latin typeface="Cambria Math" panose="02040503050406030204" pitchFamily="18" charset="0"/>
                        </a:rPr>
                        <m:t>=</m:t>
                      </m:r>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𝜆</m:t>
                          </m:r>
                        </m:e>
                        <m:sup>
                          <m:r>
                            <a:rPr lang="en-US" i="1">
                              <a:latin typeface="Cambria Math" panose="02040503050406030204" pitchFamily="18" charset="0"/>
                            </a:rPr>
                            <m:t>𝑙𝑏</m:t>
                          </m:r>
                        </m:sup>
                      </m:sSup>
                      <m:r>
                        <a:rPr lang="ja-JP" altLang="en-US" i="1">
                          <a:latin typeface="Cambria Math" panose="02040503050406030204" pitchFamily="18" charset="0"/>
                        </a:rPr>
                        <m:t>　</m:t>
                      </m:r>
                      <m:r>
                        <a:rPr lang="en-US" altLang="ja-JP" b="0" i="1" smtClean="0">
                          <a:latin typeface="Cambria Math" panose="02040503050406030204" pitchFamily="18" charset="0"/>
                        </a:rPr>
                        <m:t>(9)</m:t>
                      </m:r>
                    </m:oMath>
                  </m:oMathPara>
                </a14:m>
                <a:endParaRPr lang="en-US" dirty="0"/>
              </a:p>
            </p:txBody>
          </p:sp>
        </mc:Choice>
        <mc:Fallback xmlns="">
          <p:sp>
            <p:nvSpPr>
              <p:cNvPr id="12" name="テキスト ボックス 11">
                <a:extLst>
                  <a:ext uri="{FF2B5EF4-FFF2-40B4-BE49-F238E27FC236}">
                    <a16:creationId xmlns:a16="http://schemas.microsoft.com/office/drawing/2014/main" id="{52607E69-EE7C-3717-1BEA-26CA8506962E}"/>
                  </a:ext>
                </a:extLst>
              </p:cNvPr>
              <p:cNvSpPr txBox="1">
                <a:spLocks noRot="1" noChangeAspect="1" noMove="1" noResize="1" noEditPoints="1" noAdjustHandles="1" noChangeArrowheads="1" noChangeShapeType="1" noTextEdit="1"/>
              </p:cNvSpPr>
              <p:nvPr/>
            </p:nvSpPr>
            <p:spPr>
              <a:xfrm>
                <a:off x="2152953" y="5490762"/>
                <a:ext cx="4959926" cy="435247"/>
              </a:xfrm>
              <a:prstGeom prst="rect">
                <a:avLst/>
              </a:prstGeom>
              <a:blipFill>
                <a:blip r:embed="rId5"/>
                <a:stretch>
                  <a:fillRect b="-563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71561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t>3.3 Step 3: Train agents</a:t>
            </a:r>
          </a:p>
          <a:p>
            <a:r>
              <a:rPr kumimoji="1" lang="en-US" altLang="ja-JP" sz="1200" dirty="0"/>
              <a:t>       3.3.1 Q table</a:t>
            </a:r>
          </a:p>
          <a:p>
            <a:r>
              <a:rPr kumimoji="1" lang="en-US" altLang="ja-JP" sz="1200" dirty="0"/>
              <a:t>       3.3.2 Reward</a:t>
            </a:r>
          </a:p>
          <a:p>
            <a:endParaRPr kumimoji="1" lang="en-US" altLang="ja-JP" sz="1200" dirty="0"/>
          </a:p>
          <a:p>
            <a:r>
              <a:rPr kumimoji="1" lang="en-US" altLang="ja-JP" dirty="0">
                <a:solidFill>
                  <a:schemeClr val="tx1">
                    <a:lumMod val="20000"/>
                    <a:lumOff val="80000"/>
                  </a:schemeClr>
                </a:solidFill>
              </a:rPr>
              <a:t>4. Results and analysis</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39906129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コンテンツ プレースホルダー 1">
                <a:extLst>
                  <a:ext uri="{FF2B5EF4-FFF2-40B4-BE49-F238E27FC236}">
                    <a16:creationId xmlns:a16="http://schemas.microsoft.com/office/drawing/2014/main" id="{4D51444D-7E4C-D818-3F0A-A2A19FB17305}"/>
                  </a:ext>
                </a:extLst>
              </p:cNvPr>
              <p:cNvSpPr>
                <a:spLocks noGrp="1"/>
              </p:cNvSpPr>
              <p:nvPr>
                <p:ph sz="quarter" idx="17"/>
              </p:nvPr>
            </p:nvSpPr>
            <p:spPr>
              <a:xfrm>
                <a:off x="302312" y="848455"/>
                <a:ext cx="9285210" cy="5309975"/>
              </a:xfrm>
            </p:spPr>
            <p:txBody>
              <a:bodyPr/>
              <a:lstStyle/>
              <a:p>
                <a:r>
                  <a:rPr lang="en-US" altLang="ja-JP" dirty="0"/>
                  <a:t>target</a:t>
                </a:r>
                <a:r>
                  <a:rPr lang="ja-JP" altLang="en-US" dirty="0"/>
                  <a:t>：</a:t>
                </a:r>
                <a:r>
                  <a:rPr lang="en-US" altLang="ja-JP" dirty="0"/>
                  <a:t>bid price for DR bid price		           </a:t>
                </a:r>
                <a14:m>
                  <m:oMath xmlns:m="http://schemas.openxmlformats.org/officeDocument/2006/math">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a:latin typeface="Cambria Math" panose="02040503050406030204" pitchFamily="18" charset="0"/>
                          </a:rPr>
                          <m:t>,</m:t>
                        </m:r>
                        <m:r>
                          <m:rPr>
                            <m:sty m:val="p"/>
                          </m:rPr>
                          <a:rPr lang="en-US" b="0" i="0" smtClean="0">
                            <a:latin typeface="Cambria Math" panose="02040503050406030204" pitchFamily="18" charset="0"/>
                          </a:rPr>
                          <m:t>elas</m:t>
                        </m:r>
                        <m:r>
                          <a:rPr lang="en-US" b="0" i="1" smtClean="0">
                            <a:latin typeface="Cambria Math" panose="02040503050406030204" pitchFamily="18" charset="0"/>
                          </a:rPr>
                          <m:t>, </m:t>
                        </m:r>
                        <m:r>
                          <a:rPr lang="en-US" b="0" i="1" smtClean="0">
                            <a:latin typeface="Cambria Math" panose="02040503050406030204" pitchFamily="18" charset="0"/>
                          </a:rPr>
                          <m:t>𝑏𝑢𝑦</m:t>
                        </m:r>
                      </m:sup>
                    </m:sSubSup>
                  </m:oMath>
                </a14:m>
                <a:br>
                  <a:rPr lang="en-US" altLang="ja-JP" dirty="0"/>
                </a:br>
                <a:r>
                  <a:rPr lang="en-US" altLang="ja-JP" dirty="0"/>
                  <a:t>		</a:t>
                </a:r>
                <a:r>
                  <a:rPr lang="ja-JP" altLang="en-US" dirty="0"/>
                  <a:t>　　  </a:t>
                </a:r>
                <a:r>
                  <a:rPr lang="en-US" altLang="ja-JP" dirty="0"/>
                  <a:t>buy/sell of battery/EV battery</a:t>
                </a:r>
                <a14:m>
                  <m:oMath xmlns:m="http://schemas.openxmlformats.org/officeDocument/2006/math">
                    <m:r>
                      <a:rPr lang="ja-JP" altLang="en-US" i="1" dirty="0">
                        <a:solidFill>
                          <a:srgbClr val="836967"/>
                        </a:solidFill>
                        <a:latin typeface="Cambria Math" panose="02040503050406030204" pitchFamily="18" charset="0"/>
                      </a:rPr>
                      <m:t>　</m:t>
                    </m:r>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i="0">
                            <a:latin typeface="Cambria Math" panose="02040503050406030204" pitchFamily="18" charset="0"/>
                          </a:rPr>
                          <m:t>,</m:t>
                        </m:r>
                        <m:r>
                          <m:rPr>
                            <m:sty m:val="p"/>
                          </m:rPr>
                          <a:rPr lang="en-US" b="0" i="0" smtClean="0">
                            <a:latin typeface="Cambria Math" panose="02040503050406030204" pitchFamily="18" charset="0"/>
                          </a:rPr>
                          <m:t>bat</m:t>
                        </m:r>
                        <m:r>
                          <a:rPr lang="en-US" i="0">
                            <a:latin typeface="Cambria Math" panose="02040503050406030204" pitchFamily="18" charset="0"/>
                          </a:rPr>
                          <m:t>,</m:t>
                        </m:r>
                        <m:r>
                          <a:rPr lang="en-US" i="1">
                            <a:latin typeface="Cambria Math" panose="02040503050406030204" pitchFamily="18" charset="0"/>
                          </a:rPr>
                          <m:t>𝑏𝑢𝑦</m:t>
                        </m:r>
                      </m:sup>
                    </m:sSubSup>
                    <m:r>
                      <a:rPr lang="en-US" b="0" i="1" smtClean="0">
                        <a:latin typeface="Cambria Math" panose="02040503050406030204" pitchFamily="18" charset="0"/>
                      </a:rPr>
                      <m:t>, </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a:latin typeface="Cambria Math" panose="02040503050406030204" pitchFamily="18" charset="0"/>
                          </a:rPr>
                          <m:t>,</m:t>
                        </m:r>
                        <m:r>
                          <m:rPr>
                            <m:sty m:val="p"/>
                          </m:rPr>
                          <a:rPr lang="en-US" b="0" i="0" smtClean="0">
                            <a:latin typeface="Cambria Math" panose="02040503050406030204" pitchFamily="18" charset="0"/>
                          </a:rPr>
                          <m:t>bat</m:t>
                        </m:r>
                        <m:r>
                          <a:rPr lang="en-US">
                            <a:latin typeface="Cambria Math" panose="02040503050406030204" pitchFamily="18" charset="0"/>
                          </a:rPr>
                          <m:t>,</m:t>
                        </m:r>
                        <m:r>
                          <a:rPr lang="en-US" b="0" i="1" smtClean="0">
                            <a:latin typeface="Cambria Math" panose="02040503050406030204" pitchFamily="18" charset="0"/>
                          </a:rPr>
                          <m:t>𝑠𝑒𝑙𝑙</m:t>
                        </m:r>
                      </m:sup>
                    </m:sSubSup>
                    <m:r>
                      <a:rPr lang="en-US" b="0" i="1" smtClean="0">
                        <a:latin typeface="Cambria Math" panose="02040503050406030204" pitchFamily="18" charset="0"/>
                      </a:rPr>
                      <m:t>,</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a:latin typeface="Cambria Math" panose="02040503050406030204" pitchFamily="18" charset="0"/>
                          </a:rPr>
                          <m:t>,</m:t>
                        </m:r>
                        <m:r>
                          <m:rPr>
                            <m:sty m:val="p"/>
                          </m:rPr>
                          <a:rPr lang="en-US" b="0" i="0" smtClean="0">
                            <a:latin typeface="Cambria Math" panose="02040503050406030204" pitchFamily="18" charset="0"/>
                          </a:rPr>
                          <m:t>EV</m:t>
                        </m:r>
                        <m:r>
                          <a:rPr lang="en-US">
                            <a:latin typeface="Cambria Math" panose="02040503050406030204" pitchFamily="18" charset="0"/>
                          </a:rPr>
                          <m:t>,</m:t>
                        </m:r>
                        <m:r>
                          <a:rPr lang="en-US" i="1">
                            <a:latin typeface="Cambria Math" panose="02040503050406030204" pitchFamily="18" charset="0"/>
                          </a:rPr>
                          <m:t>𝑏𝑢𝑦</m:t>
                        </m:r>
                      </m:sup>
                    </m:sSubSup>
                  </m:oMath>
                </a14:m>
                <a:r>
                  <a:rPr lang="en-US" dirty="0"/>
                  <a:t>, </a:t>
                </a:r>
                <a14:m>
                  <m:oMath xmlns:m="http://schemas.openxmlformats.org/officeDocument/2006/math">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𝜆</m:t>
                        </m:r>
                      </m:e>
                      <m:sub>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𝑏𝑖𝑑</m:t>
                        </m:r>
                        <m:r>
                          <a:rPr lang="en-US">
                            <a:latin typeface="Cambria Math" panose="02040503050406030204" pitchFamily="18" charset="0"/>
                          </a:rPr>
                          <m:t>,</m:t>
                        </m:r>
                        <m:r>
                          <m:rPr>
                            <m:sty m:val="p"/>
                          </m:rPr>
                          <a:rPr lang="en-US" b="0" i="0" smtClean="0">
                            <a:latin typeface="Cambria Math" panose="02040503050406030204" pitchFamily="18" charset="0"/>
                          </a:rPr>
                          <m:t>EV</m:t>
                        </m:r>
                        <m:r>
                          <a:rPr lang="en-US">
                            <a:latin typeface="Cambria Math" panose="02040503050406030204" pitchFamily="18" charset="0"/>
                          </a:rPr>
                          <m:t>,</m:t>
                        </m:r>
                        <m:r>
                          <a:rPr lang="en-US" i="1">
                            <a:latin typeface="Cambria Math" panose="02040503050406030204" pitchFamily="18" charset="0"/>
                          </a:rPr>
                          <m:t>𝑠𝑒𝑙𝑙</m:t>
                        </m:r>
                      </m:sup>
                    </m:sSubSup>
                  </m:oMath>
                </a14:m>
                <a:endParaRPr lang="en-US" dirty="0"/>
              </a:p>
              <a:p>
                <a:endParaRPr lang="en-US" dirty="0"/>
              </a:p>
              <a:p>
                <a:pPr/>
                <a14:m>
                  <m:oMathPara xmlns:m="http://schemas.openxmlformats.org/officeDocument/2006/math">
                    <m:oMathParaPr>
                      <m:jc m:val="centerGroup"/>
                    </m:oMathParaPr>
                    <m:oMath xmlns:m="http://schemas.openxmlformats.org/officeDocument/2006/math">
                      <m:sSup>
                        <m:sSupPr>
                          <m:ctrlPr>
                            <a:rPr lang="en-US" sz="1400" b="0" i="1" smtClean="0">
                              <a:latin typeface="Cambria Math" panose="02040503050406030204" pitchFamily="18" charset="0"/>
                            </a:rPr>
                          </m:ctrlPr>
                        </m:sSup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𝑄</m:t>
                              </m:r>
                            </m:e>
                          </m:acc>
                        </m:e>
                        <m:sup>
                          <m:r>
                            <a:rPr lang="en-US" sz="1400" b="0" i="1" smtClean="0">
                              <a:latin typeface="Cambria Math" panose="02040503050406030204" pitchFamily="18" charset="0"/>
                            </a:rPr>
                            <m:t>∗, </m:t>
                          </m:r>
                          <m:r>
                            <a:rPr lang="en-US" sz="1400" b="0" i="1" smtClean="0">
                              <a:latin typeface="Cambria Math" panose="02040503050406030204" pitchFamily="18" charset="0"/>
                            </a:rPr>
                            <m:t>𝑛𝑒𝑤</m:t>
                          </m:r>
                        </m:sup>
                      </m:sSup>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𝑎</m:t>
                              </m:r>
                            </m:e>
                            <m:sub>
                              <m:r>
                                <a:rPr lang="en-US" sz="1400" b="0" i="1" smtClean="0">
                                  <a:latin typeface="Cambria Math" panose="02040503050406030204" pitchFamily="18" charset="0"/>
                                </a:rPr>
                                <m:t>𝑡</m:t>
                              </m:r>
                            </m:sub>
                          </m:sSub>
                        </m:e>
                      </m:d>
                      <m:r>
                        <a:rPr lang="en-US" sz="1400" b="0" i="1" smtClean="0">
                          <a:latin typeface="Cambria Math" panose="02040503050406030204" pitchFamily="18" charset="0"/>
                        </a:rPr>
                        <m:t>=</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𝑄</m:t>
                              </m:r>
                            </m:e>
                          </m:acc>
                        </m:e>
                        <m:sup>
                          <m:r>
                            <a:rPr lang="en-US" i="1">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𝛿</m:t>
                          </m:r>
                        </m:e>
                        <m:sub>
                          <m:r>
                            <a:rPr lang="en-US" i="1">
                              <a:latin typeface="Cambria Math" panose="02040503050406030204" pitchFamily="18" charset="0"/>
                            </a:rPr>
                            <m:t>𝑡</m:t>
                          </m:r>
                        </m:sub>
                        <m:sup>
                          <m:r>
                            <a:rPr lang="en-US" i="1">
                              <a:latin typeface="Cambria Math" panose="02040503050406030204" pitchFamily="18" charset="0"/>
                            </a:rPr>
                            <m:t>𝑄</m:t>
                          </m:r>
                        </m:sup>
                      </m:sSubSup>
                      <m:r>
                        <a:rPr lang="ja-JP" altLang="en-US" i="1">
                          <a:latin typeface="Cambria Math" panose="02040503050406030204" pitchFamily="18" charset="0"/>
                        </a:rPr>
                        <m:t>　</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16</m:t>
                          </m:r>
                        </m:e>
                      </m:d>
                    </m:oMath>
                  </m:oMathPara>
                </a14:m>
                <a:endParaRPr lang="en-US" altLang="ja-JP" b="0" dirty="0"/>
              </a:p>
              <a:p>
                <a:endParaRPr lang="en-US" dirty="0"/>
              </a:p>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𝑡</m:t>
                          </m:r>
                        </m:sub>
                        <m:sup>
                          <m:r>
                            <a:rPr lang="en-US" b="0" i="1" smtClean="0">
                              <a:latin typeface="Cambria Math" panose="02040503050406030204" pitchFamily="18" charset="0"/>
                            </a:rPr>
                            <m:t>𝑄</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r>
                        <a:rPr lang="en-US">
                          <a:latin typeface="Cambria Math" panose="02040503050406030204" pitchFamily="18" charset="0"/>
                        </a:rPr>
                        <m:t>･</m:t>
                      </m:r>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max</m:t>
                              </m:r>
                            </m:e>
                            <m:lim>
                              <m:sSup>
                                <m:sSupPr>
                                  <m:ctrlPr>
                                    <a:rPr lang="en-US"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𝒜</m:t>
                              </m:r>
                            </m:lim>
                          </m:limLow>
                        </m:fName>
                        <m:e>
                          <m:sSup>
                            <m:sSupPr>
                              <m:ctrlPr>
                                <a:rPr lang="en-US" i="1" smtClean="0">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𝑄</m:t>
                                  </m:r>
                                </m:e>
                              </m:acc>
                            </m:e>
                            <m:sup>
                              <m:r>
                                <a:rPr lang="en-US" i="1">
                                  <a:latin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e>
                      </m:func>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𝑄</m:t>
                              </m:r>
                            </m:e>
                          </m:acc>
                        </m:e>
                        <m:sup>
                          <m:r>
                            <a:rPr lang="en-US" i="1">
                              <a:latin typeface="Cambria Math" panose="02040503050406030204" pitchFamily="18" charset="0"/>
                            </a:rPr>
                            <m:t>∗</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e>
                      </m:d>
                      <m:r>
                        <a:rPr lang="ja-JP" altLang="en-US" i="1" smtClean="0">
                          <a:latin typeface="Cambria Math" panose="02040503050406030204" pitchFamily="18" charset="0"/>
                        </a:rPr>
                        <m:t>　</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17</m:t>
                          </m:r>
                        </m:e>
                      </m:d>
                    </m:oMath>
                  </m:oMathPara>
                </a14:m>
                <a:endParaRPr lang="en-US" altLang="ja-JP" b="0" dirty="0"/>
              </a:p>
              <a:p>
                <a:endParaRPr lang="en-US" b="1" dirty="0"/>
              </a:p>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𝑛𝑒𝑤</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r>
                        <a:rPr lang="en-US" altLang="ja-JP" i="1">
                          <a:latin typeface="Cambria Math" panose="02040503050406030204" pitchFamily="18" charset="0"/>
                          <a:ea typeface="Cambria Math" panose="02040503050406030204" pitchFamily="18" charset="0"/>
                        </a:rPr>
                        <m:t>‐</m:t>
                      </m:r>
                      <m:r>
                        <m:rPr>
                          <m:sty m:val="p"/>
                        </m:rPr>
                        <a:rPr lang="en-US" altLang="ja-JP" b="0" i="0" smtClean="0">
                          <a:latin typeface="Cambria Math" panose="02040503050406030204" pitchFamily="18" charset="0"/>
                          <a:ea typeface="Cambria Math" panose="02040503050406030204" pitchFamily="18" charset="0"/>
                        </a:rPr>
                        <m:t>greedy</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𝑄</m:t>
                              </m:r>
                            </m:e>
                          </m:acc>
                        </m:e>
                        <m:sup>
                          <m:r>
                            <a:rPr lang="en-US" i="1">
                              <a:latin typeface="Cambria Math" panose="02040503050406030204" pitchFamily="18" charset="0"/>
                            </a:rPr>
                            <m:t>∗</m:t>
                          </m:r>
                        </m:sup>
                      </m:sSup>
                    </m:oMath>
                  </m:oMathPara>
                </a14:m>
                <a:endParaRPr lang="en-US" dirty="0"/>
              </a:p>
            </p:txBody>
          </p:sp>
        </mc:Choice>
        <mc:Fallback xmlns="">
          <p:sp>
            <p:nvSpPr>
              <p:cNvPr id="2" name="コンテンツ プレースホルダー 1">
                <a:extLst>
                  <a:ext uri="{FF2B5EF4-FFF2-40B4-BE49-F238E27FC236}">
                    <a16:creationId xmlns:a16="http://schemas.microsoft.com/office/drawing/2014/main" id="{4D51444D-7E4C-D818-3F0A-A2A19FB17305}"/>
                  </a:ext>
                </a:extLst>
              </p:cNvPr>
              <p:cNvSpPr>
                <a:spLocks noGrp="1" noRot="1" noChangeAspect="1" noMove="1" noResize="1" noEditPoints="1" noAdjustHandles="1" noChangeArrowheads="1" noChangeShapeType="1" noTextEdit="1"/>
              </p:cNvSpPr>
              <p:nvPr>
                <p:ph sz="quarter" idx="17"/>
              </p:nvPr>
            </p:nvSpPr>
            <p:spPr>
              <a:xfrm>
                <a:off x="302312" y="848455"/>
                <a:ext cx="9285210" cy="5309975"/>
              </a:xfrm>
              <a:blipFill>
                <a:blip r:embed="rId2"/>
                <a:stretch>
                  <a:fillRect l="-394" t="-115"/>
                </a:stretch>
              </a:blipFill>
            </p:spPr>
            <p:txBody>
              <a:bodyPr/>
              <a:lstStyle/>
              <a:p>
                <a:r>
                  <a:rPr lang="en-US">
                    <a:noFill/>
                  </a:rPr>
                  <a:t> </a:t>
                </a:r>
              </a:p>
            </p:txBody>
          </p:sp>
        </mc:Fallback>
      </mc:AlternateContent>
      <p:sp>
        <p:nvSpPr>
          <p:cNvPr id="3" name="コンテンツ プレースホルダー 2">
            <a:extLst>
              <a:ext uri="{FF2B5EF4-FFF2-40B4-BE49-F238E27FC236}">
                <a16:creationId xmlns:a16="http://schemas.microsoft.com/office/drawing/2014/main" id="{3119B244-8380-EB91-35E2-72AEB36DAC67}"/>
              </a:ext>
            </a:extLst>
          </p:cNvPr>
          <p:cNvSpPr>
            <a:spLocks noGrp="1"/>
          </p:cNvSpPr>
          <p:nvPr>
            <p:ph sz="quarter" idx="16"/>
          </p:nvPr>
        </p:nvSpPr>
        <p:spPr>
          <a:xfrm>
            <a:off x="123824" y="93599"/>
            <a:ext cx="9096375" cy="525214"/>
          </a:xfrm>
        </p:spPr>
        <p:txBody>
          <a:bodyPr/>
          <a:lstStyle/>
          <a:p>
            <a:r>
              <a:rPr lang="en-US" dirty="0"/>
              <a:t>3.3 Train agents </a:t>
            </a:r>
            <a:br>
              <a:rPr lang="en-US" dirty="0"/>
            </a:br>
            <a:r>
              <a:rPr lang="en-US" dirty="0"/>
              <a:t>	Learning</a:t>
            </a:r>
            <a:r>
              <a:rPr lang="ja-JP" altLang="en-US" dirty="0"/>
              <a:t> </a:t>
            </a:r>
            <a:r>
              <a:rPr lang="en-US" altLang="ja-JP" dirty="0"/>
              <a:t>method: Multi Agent Q Reinforcement Learning (Q-MARL)</a:t>
            </a:r>
            <a:endParaRPr lang="en-US" dirty="0"/>
          </a:p>
        </p:txBody>
      </p:sp>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C931A9E8-BC4D-C2D3-FDC4-EE4BF56B880B}"/>
                  </a:ext>
                </a:extLst>
              </p:cNvPr>
              <p:cNvGraphicFramePr>
                <a:graphicFrameLocks noGrp="1"/>
              </p:cNvGraphicFramePr>
              <p:nvPr>
                <p:extLst>
                  <p:ext uri="{D42A27DB-BD31-4B8C-83A1-F6EECF244321}">
                    <p14:modId xmlns:p14="http://schemas.microsoft.com/office/powerpoint/2010/main" val="561305313"/>
                  </p:ext>
                </p:extLst>
              </p:nvPr>
            </p:nvGraphicFramePr>
            <p:xfrm>
              <a:off x="561660" y="3253499"/>
              <a:ext cx="8142511" cy="3754583"/>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𝑠</m:t>
                                    </m:r>
                                  </m:e>
                                  <m:sub>
                                    <m:r>
                                      <a:rPr lang="en-US" sz="1600" b="0" i="1" smtClean="0">
                                        <a:latin typeface="Cambria Math" panose="02040503050406030204" pitchFamily="18" charset="0"/>
                                        <a:ea typeface="Cambria Math" panose="02040503050406030204" pitchFamily="18" charset="0"/>
                                      </a:rPr>
                                      <m:t>𝑡</m:t>
                                    </m:r>
                                  </m:sub>
                                </m:sSub>
                                <m:r>
                                  <a:rPr lang="en-US" sz="1600" b="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𝒮</m:t>
                                </m:r>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The</a:t>
                          </a:r>
                          <a:r>
                            <a:rPr lang="en-US" altLang="ja-JP" sz="1600" baseline="0" dirty="0"/>
                            <a:t> s</a:t>
                          </a:r>
                          <a:r>
                            <a:rPr lang="en-US" altLang="ja-JP" sz="1600" dirty="0"/>
                            <a:t>tate at time </a:t>
                          </a:r>
                          <a14:m>
                            <m:oMath xmlns:m="http://schemas.openxmlformats.org/officeDocument/2006/math">
                              <m:r>
                                <a:rPr lang="en-US" altLang="ja-JP" sz="1600" b="0" i="1" smtClean="0">
                                  <a:latin typeface="Cambria Math" panose="02040503050406030204" pitchFamily="18" charset="0"/>
                                </a:rPr>
                                <m:t>𝑡</m:t>
                              </m:r>
                            </m:oMath>
                          </a14:m>
                          <a:r>
                            <a:rPr lang="en-US" sz="1600" dirty="0"/>
                            <a:t> and the set of all possible states</a:t>
                          </a:r>
                        </a:p>
                      </a:txBody>
                      <a:tcPr>
                        <a:noFill/>
                      </a:tcPr>
                    </a:tc>
                    <a:extLst>
                      <a:ext uri="{0D108BD9-81ED-4DB2-BD59-A6C34878D82A}">
                        <a16:rowId xmlns:a16="http://schemas.microsoft.com/office/drawing/2014/main" val="585328255"/>
                      </a:ext>
                    </a:extLst>
                  </a:tr>
                  <a:tr h="536369">
                    <a:tc>
                      <a:txBody>
                        <a:bodyPr/>
                        <a:lstStyle/>
                        <a:p>
                          <a:pPr/>
                          <a14:m>
                            <m:oMathPara xmlns:m="http://schemas.openxmlformats.org/officeDocument/2006/math">
                              <m:oMathParaPr>
                                <m:jc m:val="left"/>
                              </m:oMathParaPr>
                              <m:oMath xmlns:m="http://schemas.openxmlformats.org/officeDocument/2006/math">
                                <m:sSub>
                                  <m:sSubPr>
                                    <m:ctrlPr>
                                      <a:rPr lang="en-US" sz="160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e>
                                  <m:sub>
                                    <m:r>
                                      <a:rPr lang="en-US" sz="1600" b="0" i="1" smtClean="0">
                                        <a:latin typeface="Cambria Math" panose="02040503050406030204" pitchFamily="18" charset="0"/>
                                        <a:ea typeface="Cambria Math" panose="02040503050406030204" pitchFamily="18" charset="0"/>
                                      </a:rPr>
                                      <m:t>𝑡</m:t>
                                    </m:r>
                                  </m:sub>
                                </m:sSub>
                                <m:r>
                                  <a:rPr lang="en-US" sz="1600" i="1" smtClean="0">
                                    <a:latin typeface="Cambria Math" panose="02040503050406030204" pitchFamily="18" charset="0"/>
                                    <a:ea typeface="Cambria Math" panose="02040503050406030204" pitchFamily="18" charset="0"/>
                                  </a:rPr>
                                  <m:t>∈</m:t>
                                </m:r>
                                <m:r>
                                  <a:rPr lang="en-US" sz="1600" i="1" smtClean="0">
                                    <a:latin typeface="Cambria Math" panose="02040503050406030204" pitchFamily="18" charset="0"/>
                                    <a:ea typeface="Cambria Math" panose="02040503050406030204" pitchFamily="18" charset="0"/>
                                  </a:rPr>
                                  <m:t>𝒜</m:t>
                                </m:r>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600" dirty="0"/>
                            <a:t>The action at time </a:t>
                          </a:r>
                          <a14:m>
                            <m:oMath xmlns:m="http://schemas.openxmlformats.org/officeDocument/2006/math">
                              <m:r>
                                <a:rPr lang="en-US" altLang="ja-JP" sz="1600" b="0" i="1" smtClean="0">
                                  <a:latin typeface="Cambria Math" panose="02040503050406030204" pitchFamily="18" charset="0"/>
                                </a:rPr>
                                <m:t>𝑡</m:t>
                              </m:r>
                            </m:oMath>
                          </a14:m>
                          <a:r>
                            <a:rPr lang="en-US" sz="1600" dirty="0"/>
                            <a:t> and the set of all possible actions</a:t>
                          </a:r>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p>
                                  <m:sSupPr>
                                    <m:ctrlPr>
                                      <a:rPr lang="en-US" sz="1600" b="0" i="1" smtClean="0">
                                        <a:latin typeface="Cambria Math" panose="02040503050406030204" pitchFamily="18" charset="0"/>
                                      </a:rPr>
                                    </m:ctrlPr>
                                  </m:sSupPr>
                                  <m:e>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𝑄</m:t>
                                        </m:r>
                                      </m:e>
                                    </m:acc>
                                  </m:e>
                                  <m:sup>
                                    <m:r>
                                      <a:rPr lang="en-US" sz="1600" b="0" i="1" smtClean="0">
                                        <a:latin typeface="Cambria Math" panose="02040503050406030204" pitchFamily="18" charset="0"/>
                                      </a:rPr>
                                      <m:t>∗</m:t>
                                    </m:r>
                                  </m:sup>
                                </m:sSup>
                              </m:oMath>
                            </m:oMathPara>
                          </a14:m>
                          <a:endParaRPr lang="en-US" sz="1600" dirty="0"/>
                        </a:p>
                      </a:txBody>
                      <a:tcPr>
                        <a:noFill/>
                      </a:tcPr>
                    </a:tc>
                    <a:tc>
                      <a:txBody>
                        <a:bodyPr/>
                        <a:lstStyle/>
                        <a:p>
                          <a:r>
                            <a:rPr lang="en-US" sz="1600" dirty="0"/>
                            <a:t>:</a:t>
                          </a:r>
                        </a:p>
                      </a:txBody>
                      <a:tcPr>
                        <a:noFill/>
                      </a:tcPr>
                    </a:tc>
                    <a:tc>
                      <a:txBody>
                        <a:bodyPr/>
                        <a:lstStyle/>
                        <a:p>
                          <a:r>
                            <a:rPr lang="en-US" sz="1600" dirty="0"/>
                            <a:t>Estimated optimal action-value function</a:t>
                          </a:r>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smtClean="0">
                                        <a:latin typeface="Cambria Math" panose="02040503050406030204" pitchFamily="18" charset="0"/>
                                      </a:rPr>
                                    </m:ctrlPr>
                                  </m:sSubSupPr>
                                  <m:e>
                                    <m:r>
                                      <a:rPr lang="en-US" sz="1600" i="1">
                                        <a:latin typeface="Cambria Math" panose="02040503050406030204" pitchFamily="18" charset="0"/>
                                        <a:ea typeface="Cambria Math" panose="02040503050406030204" pitchFamily="18" charset="0"/>
                                      </a:rPr>
                                      <m:t>𝛿</m:t>
                                    </m:r>
                                  </m:e>
                                  <m:sub>
                                    <m:r>
                                      <a:rPr lang="en-US" sz="1600" i="1">
                                        <a:latin typeface="Cambria Math" panose="02040503050406030204" pitchFamily="18" charset="0"/>
                                      </a:rPr>
                                      <m:t>𝑡</m:t>
                                    </m:r>
                                  </m:sub>
                                  <m:sup>
                                    <m:r>
                                      <a:rPr lang="en-US" sz="1600" i="1">
                                        <a:latin typeface="Cambria Math" panose="02040503050406030204" pitchFamily="18" charset="0"/>
                                      </a:rPr>
                                      <m:t>𝑄</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TD</a:t>
                          </a:r>
                          <a:r>
                            <a:rPr lang="ja-JP" altLang="en-US" sz="1600" dirty="0"/>
                            <a:t> </a:t>
                          </a:r>
                          <a:r>
                            <a:rPr lang="en-US" altLang="ja-JP" sz="1600" dirty="0"/>
                            <a:t>error</a:t>
                          </a:r>
                          <a:endParaRPr lang="en-US" sz="1600" dirty="0"/>
                        </a:p>
                      </a:txBody>
                      <a:tcPr>
                        <a:noFill/>
                      </a:tcPr>
                    </a:tc>
                    <a:extLst>
                      <a:ext uri="{0D108BD9-81ED-4DB2-BD59-A6C34878D82A}">
                        <a16:rowId xmlns:a16="http://schemas.microsoft.com/office/drawing/2014/main" val="4272089726"/>
                      </a:ext>
                    </a:extLst>
                  </a:tr>
                  <a:tr h="536369">
                    <a:tc>
                      <a:txBody>
                        <a:bodyPr/>
                        <a:lstStyle/>
                        <a:p>
                          <a:pPr/>
                          <a14:m>
                            <m:oMathPara xmlns:m="http://schemas.openxmlformats.org/officeDocument/2006/math">
                              <m:oMathParaPr>
                                <m:jc m:val="left"/>
                              </m:oMathParaPr>
                              <m:oMath xmlns:m="http://schemas.openxmlformats.org/officeDocument/2006/math">
                                <m:r>
                                  <a:rPr lang="en-US" sz="1600" i="1" smtClean="0">
                                    <a:latin typeface="Cambria Math" panose="02040503050406030204" pitchFamily="18" charset="0"/>
                                    <a:ea typeface="Cambria Math" panose="02040503050406030204" pitchFamily="18" charset="0"/>
                                  </a:rPr>
                                  <m:t>𝜋</m:t>
                                </m:r>
                              </m:oMath>
                            </m:oMathPara>
                          </a14:m>
                          <a:endParaRPr lang="en-US" sz="1600" dirty="0"/>
                        </a:p>
                      </a:txBody>
                      <a:tcPr>
                        <a:noFill/>
                      </a:tcPr>
                    </a:tc>
                    <a:tc>
                      <a:txBody>
                        <a:bodyPr/>
                        <a:lstStyle/>
                        <a:p>
                          <a:r>
                            <a:rPr lang="en-US" sz="1600" dirty="0"/>
                            <a:t>:</a:t>
                          </a:r>
                        </a:p>
                      </a:txBody>
                      <a:tcPr>
                        <a:noFill/>
                      </a:tcPr>
                    </a:tc>
                    <a:tc>
                      <a:txBody>
                        <a:bodyPr/>
                        <a:lstStyle/>
                        <a:p>
                          <a:r>
                            <a:rPr lang="en-US" sz="1600" dirty="0"/>
                            <a:t>Policy</a:t>
                          </a:r>
                        </a:p>
                      </a:txBody>
                      <a:tcPr>
                        <a:noFill/>
                      </a:tcPr>
                    </a:tc>
                    <a:extLst>
                      <a:ext uri="{0D108BD9-81ED-4DB2-BD59-A6C34878D82A}">
                        <a16:rowId xmlns:a16="http://schemas.microsoft.com/office/drawing/2014/main" val="199082574"/>
                      </a:ext>
                    </a:extLst>
                  </a:tr>
                  <a:tr h="536369">
                    <a:tc>
                      <a:txBody>
                        <a:bodyPr/>
                        <a:lstStyle/>
                        <a:p>
                          <a:pPr/>
                          <a14:m>
                            <m:oMathPara xmlns:m="http://schemas.openxmlformats.org/officeDocument/2006/math">
                              <m:oMathParaPr>
                                <m:jc m:val="left"/>
                              </m:oMathParaPr>
                              <m:oMath xmlns:m="http://schemas.openxmlformats.org/officeDocument/2006/math">
                                <m:r>
                                  <a:rPr lang="en-US" sz="1600" i="1" smtClean="0">
                                    <a:latin typeface="Cambria Math" panose="02040503050406030204" pitchFamily="18" charset="0"/>
                                    <a:ea typeface="Cambria Math" panose="02040503050406030204" pitchFamily="18" charset="0"/>
                                  </a:rPr>
                                  <m:t>𝛼</m:t>
                                </m:r>
                              </m:oMath>
                            </m:oMathPara>
                          </a14:m>
                          <a:endParaRPr lang="en-US" sz="1600" dirty="0"/>
                        </a:p>
                      </a:txBody>
                      <a:tcPr>
                        <a:noFill/>
                      </a:tcPr>
                    </a:tc>
                    <a:tc>
                      <a:txBody>
                        <a:bodyPr/>
                        <a:lstStyle/>
                        <a:p>
                          <a:r>
                            <a:rPr lang="en-US" sz="1600" dirty="0"/>
                            <a:t>:</a:t>
                          </a:r>
                        </a:p>
                      </a:txBody>
                      <a:tcPr>
                        <a:noFill/>
                      </a:tcPr>
                    </a:tc>
                    <a:tc>
                      <a:txBody>
                        <a:bodyPr/>
                        <a:lstStyle/>
                        <a:p>
                          <a:r>
                            <a:rPr lang="en-US" sz="1600" dirty="0"/>
                            <a:t>Learning</a:t>
                          </a:r>
                          <a:r>
                            <a:rPr lang="ja-JP" altLang="en-US" sz="1600" dirty="0"/>
                            <a:t> </a:t>
                          </a:r>
                          <a:r>
                            <a:rPr lang="en-US" altLang="ja-JP" sz="1600" dirty="0"/>
                            <a:t>rate</a:t>
                          </a:r>
                          <a:endParaRPr lang="en-US" sz="1600" dirty="0"/>
                        </a:p>
                      </a:txBody>
                      <a:tcPr>
                        <a:noFill/>
                      </a:tcPr>
                    </a:tc>
                    <a:extLst>
                      <a:ext uri="{0D108BD9-81ED-4DB2-BD59-A6C34878D82A}">
                        <a16:rowId xmlns:a16="http://schemas.microsoft.com/office/drawing/2014/main" val="938949808"/>
                      </a:ext>
                    </a:extLst>
                  </a:tr>
                  <a:tr h="536369">
                    <a:tc>
                      <a:txBody>
                        <a:bodyPr/>
                        <a:lstStyle/>
                        <a:p>
                          <a:pPr/>
                          <a14:m>
                            <m:oMathPara xmlns:m="http://schemas.openxmlformats.org/officeDocument/2006/math">
                              <m:oMathParaPr>
                                <m:jc m:val="left"/>
                              </m:oMathParaPr>
                              <m:oMath xmlns:m="http://schemas.openxmlformats.org/officeDocument/2006/math">
                                <m:r>
                                  <a:rPr lang="en-US" sz="1600" i="1" smtClean="0">
                                    <a:latin typeface="Cambria Math" panose="02040503050406030204" pitchFamily="18" charset="0"/>
                                    <a:ea typeface="Cambria Math" panose="02040503050406030204" pitchFamily="18" charset="0"/>
                                  </a:rPr>
                                  <m:t>𝛾</m:t>
                                </m:r>
                              </m:oMath>
                            </m:oMathPara>
                          </a14:m>
                          <a:endParaRPr lang="en-US" sz="1600" dirty="0"/>
                        </a:p>
                      </a:txBody>
                      <a:tcPr>
                        <a:noFill/>
                      </a:tcPr>
                    </a:tc>
                    <a:tc>
                      <a:txBody>
                        <a:bodyPr/>
                        <a:lstStyle/>
                        <a:p>
                          <a:r>
                            <a:rPr lang="en-US" sz="1600" dirty="0"/>
                            <a:t>:</a:t>
                          </a:r>
                        </a:p>
                      </a:txBody>
                      <a:tcPr>
                        <a:noFill/>
                      </a:tcPr>
                    </a:tc>
                    <a:tc>
                      <a:txBody>
                        <a:bodyPr/>
                        <a:lstStyle/>
                        <a:p>
                          <a:r>
                            <a:rPr lang="en-US" sz="1600" dirty="0"/>
                            <a:t>Discount</a:t>
                          </a:r>
                          <a:r>
                            <a:rPr lang="ja-JP" altLang="en-US" sz="1600" dirty="0"/>
                            <a:t> </a:t>
                          </a:r>
                          <a:r>
                            <a:rPr lang="en-US" altLang="ja-JP" sz="1600" dirty="0"/>
                            <a:t>rate</a:t>
                          </a:r>
                          <a:endParaRPr lang="en-US" sz="1600" dirty="0"/>
                        </a:p>
                      </a:txBody>
                      <a:tcPr>
                        <a:noFill/>
                      </a:tcPr>
                    </a:tc>
                    <a:extLst>
                      <a:ext uri="{0D108BD9-81ED-4DB2-BD59-A6C34878D82A}">
                        <a16:rowId xmlns:a16="http://schemas.microsoft.com/office/drawing/2014/main" val="1744219217"/>
                      </a:ext>
                    </a:extLst>
                  </a:tr>
                </a:tbl>
              </a:graphicData>
            </a:graphic>
          </p:graphicFrame>
        </mc:Choice>
        <mc:Fallback xmlns="">
          <p:graphicFrame>
            <p:nvGraphicFramePr>
              <p:cNvPr id="4" name="表 3">
                <a:extLst>
                  <a:ext uri="{FF2B5EF4-FFF2-40B4-BE49-F238E27FC236}">
                    <a16:creationId xmlns:a16="http://schemas.microsoft.com/office/drawing/2014/main" id="{C931A9E8-BC4D-C2D3-FDC4-EE4BF56B880B}"/>
                  </a:ext>
                </a:extLst>
              </p:cNvPr>
              <p:cNvGraphicFramePr>
                <a:graphicFrameLocks noGrp="1"/>
              </p:cNvGraphicFramePr>
              <p:nvPr>
                <p:extLst>
                  <p:ext uri="{D42A27DB-BD31-4B8C-83A1-F6EECF244321}">
                    <p14:modId xmlns:p14="http://schemas.microsoft.com/office/powerpoint/2010/main" val="561305313"/>
                  </p:ext>
                </p:extLst>
              </p:nvPr>
            </p:nvGraphicFramePr>
            <p:xfrm>
              <a:off x="561660" y="3253499"/>
              <a:ext cx="8142511" cy="3754583"/>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en-US"/>
                        </a:p>
                      </a:txBody>
                      <a:tcPr>
                        <a:blipFill>
                          <a:blip r:embed="rId3"/>
                          <a:stretch>
                            <a:fillRect l="-526" t="-3409" r="-604211" b="-6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endParaRPr lang="en-US"/>
                        </a:p>
                      </a:txBody>
                      <a:tcPr>
                        <a:blipFill>
                          <a:blip r:embed="rId3"/>
                          <a:stretch>
                            <a:fillRect l="-21435" t="-3409" r="-182" b="-603409"/>
                          </a:stretch>
                        </a:blipFill>
                      </a:tcPr>
                    </a:tc>
                    <a:extLst>
                      <a:ext uri="{0D108BD9-81ED-4DB2-BD59-A6C34878D82A}">
                        <a16:rowId xmlns:a16="http://schemas.microsoft.com/office/drawing/2014/main" val="585328255"/>
                      </a:ext>
                    </a:extLst>
                  </a:tr>
                  <a:tr h="536369">
                    <a:tc>
                      <a:txBody>
                        <a:bodyPr/>
                        <a:lstStyle/>
                        <a:p>
                          <a:endParaRPr lang="en-US"/>
                        </a:p>
                      </a:txBody>
                      <a:tcPr>
                        <a:blipFill>
                          <a:blip r:embed="rId3"/>
                          <a:stretch>
                            <a:fillRect l="-526" t="-103409" r="-604211" b="-5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endParaRPr lang="en-US"/>
                        </a:p>
                      </a:txBody>
                      <a:tcPr>
                        <a:blipFill>
                          <a:blip r:embed="rId3"/>
                          <a:stretch>
                            <a:fillRect l="-21435" t="-103409" r="-182" b="-503409"/>
                          </a:stretch>
                        </a:blipFill>
                      </a:tcPr>
                    </a:tc>
                    <a:extLst>
                      <a:ext uri="{0D108BD9-81ED-4DB2-BD59-A6C34878D82A}">
                        <a16:rowId xmlns:a16="http://schemas.microsoft.com/office/drawing/2014/main" val="2567745939"/>
                      </a:ext>
                    </a:extLst>
                  </a:tr>
                  <a:tr h="536369">
                    <a:tc>
                      <a:txBody>
                        <a:bodyPr/>
                        <a:lstStyle/>
                        <a:p>
                          <a:endParaRPr lang="en-US"/>
                        </a:p>
                      </a:txBody>
                      <a:tcPr>
                        <a:blipFill>
                          <a:blip r:embed="rId3"/>
                          <a:stretch>
                            <a:fillRect l="-526" t="-203409" r="-604211" b="-403409"/>
                          </a:stretch>
                        </a:blipFill>
                      </a:tcPr>
                    </a:tc>
                    <a:tc>
                      <a:txBody>
                        <a:bodyPr/>
                        <a:lstStyle/>
                        <a:p>
                          <a:r>
                            <a:rPr lang="en-US" sz="1600" dirty="0"/>
                            <a:t>:</a:t>
                          </a:r>
                        </a:p>
                      </a:txBody>
                      <a:tcPr>
                        <a:noFill/>
                      </a:tcPr>
                    </a:tc>
                    <a:tc>
                      <a:txBody>
                        <a:bodyPr/>
                        <a:lstStyle/>
                        <a:p>
                          <a:r>
                            <a:rPr lang="en-US" sz="1600" dirty="0"/>
                            <a:t>Estimated optimal action-value function</a:t>
                          </a:r>
                        </a:p>
                      </a:txBody>
                      <a:tcPr>
                        <a:noFill/>
                      </a:tcPr>
                    </a:tc>
                    <a:extLst>
                      <a:ext uri="{0D108BD9-81ED-4DB2-BD59-A6C34878D82A}">
                        <a16:rowId xmlns:a16="http://schemas.microsoft.com/office/drawing/2014/main" val="1172270262"/>
                      </a:ext>
                    </a:extLst>
                  </a:tr>
                  <a:tr h="536369">
                    <a:tc>
                      <a:txBody>
                        <a:bodyPr/>
                        <a:lstStyle/>
                        <a:p>
                          <a:endParaRPr lang="en-US"/>
                        </a:p>
                      </a:txBody>
                      <a:tcPr>
                        <a:blipFill>
                          <a:blip r:embed="rId3"/>
                          <a:stretch>
                            <a:fillRect l="-526" t="-300000" r="-604211" b="-298876"/>
                          </a:stretch>
                        </a:blipFill>
                      </a:tcPr>
                    </a:tc>
                    <a:tc>
                      <a:txBody>
                        <a:bodyPr/>
                        <a:lstStyle/>
                        <a:p>
                          <a:r>
                            <a:rPr lang="en-US" sz="1600" dirty="0"/>
                            <a:t>:</a:t>
                          </a:r>
                        </a:p>
                      </a:txBody>
                      <a:tcPr>
                        <a:noFill/>
                      </a:tcPr>
                    </a:tc>
                    <a:tc>
                      <a:txBody>
                        <a:bodyPr/>
                        <a:lstStyle/>
                        <a:p>
                          <a:r>
                            <a:rPr lang="en-US" altLang="ja-JP" sz="1600" dirty="0"/>
                            <a:t>TD</a:t>
                          </a:r>
                          <a:r>
                            <a:rPr lang="ja-JP" altLang="en-US" sz="1600" dirty="0"/>
                            <a:t> </a:t>
                          </a:r>
                          <a:r>
                            <a:rPr lang="en-US" altLang="ja-JP" sz="1600" dirty="0"/>
                            <a:t>error</a:t>
                          </a:r>
                          <a:endParaRPr lang="en-US" sz="1600" dirty="0"/>
                        </a:p>
                      </a:txBody>
                      <a:tcPr>
                        <a:noFill/>
                      </a:tcPr>
                    </a:tc>
                    <a:extLst>
                      <a:ext uri="{0D108BD9-81ED-4DB2-BD59-A6C34878D82A}">
                        <a16:rowId xmlns:a16="http://schemas.microsoft.com/office/drawing/2014/main" val="4272089726"/>
                      </a:ext>
                    </a:extLst>
                  </a:tr>
                  <a:tr h="536369">
                    <a:tc>
                      <a:txBody>
                        <a:bodyPr/>
                        <a:lstStyle/>
                        <a:p>
                          <a:endParaRPr lang="en-US"/>
                        </a:p>
                      </a:txBody>
                      <a:tcPr>
                        <a:blipFill>
                          <a:blip r:embed="rId3"/>
                          <a:stretch>
                            <a:fillRect l="-526" t="-404545" r="-604211" b="-202273"/>
                          </a:stretch>
                        </a:blipFill>
                      </a:tcPr>
                    </a:tc>
                    <a:tc>
                      <a:txBody>
                        <a:bodyPr/>
                        <a:lstStyle/>
                        <a:p>
                          <a:r>
                            <a:rPr lang="en-US" sz="1600" dirty="0"/>
                            <a:t>:</a:t>
                          </a:r>
                        </a:p>
                      </a:txBody>
                      <a:tcPr>
                        <a:noFill/>
                      </a:tcPr>
                    </a:tc>
                    <a:tc>
                      <a:txBody>
                        <a:bodyPr/>
                        <a:lstStyle/>
                        <a:p>
                          <a:r>
                            <a:rPr lang="en-US" sz="1600" dirty="0"/>
                            <a:t>Policy</a:t>
                          </a:r>
                        </a:p>
                      </a:txBody>
                      <a:tcPr>
                        <a:noFill/>
                      </a:tcPr>
                    </a:tc>
                    <a:extLst>
                      <a:ext uri="{0D108BD9-81ED-4DB2-BD59-A6C34878D82A}">
                        <a16:rowId xmlns:a16="http://schemas.microsoft.com/office/drawing/2014/main" val="199082574"/>
                      </a:ext>
                    </a:extLst>
                  </a:tr>
                  <a:tr h="536369">
                    <a:tc>
                      <a:txBody>
                        <a:bodyPr/>
                        <a:lstStyle/>
                        <a:p>
                          <a:endParaRPr lang="en-US"/>
                        </a:p>
                      </a:txBody>
                      <a:tcPr>
                        <a:blipFill>
                          <a:blip r:embed="rId3"/>
                          <a:stretch>
                            <a:fillRect l="-526" t="-504545" r="-604211" b="-102273"/>
                          </a:stretch>
                        </a:blipFill>
                      </a:tcPr>
                    </a:tc>
                    <a:tc>
                      <a:txBody>
                        <a:bodyPr/>
                        <a:lstStyle/>
                        <a:p>
                          <a:r>
                            <a:rPr lang="en-US" sz="1600" dirty="0"/>
                            <a:t>:</a:t>
                          </a:r>
                        </a:p>
                      </a:txBody>
                      <a:tcPr>
                        <a:noFill/>
                      </a:tcPr>
                    </a:tc>
                    <a:tc>
                      <a:txBody>
                        <a:bodyPr/>
                        <a:lstStyle/>
                        <a:p>
                          <a:r>
                            <a:rPr lang="en-US" sz="1600" dirty="0"/>
                            <a:t>Learning</a:t>
                          </a:r>
                          <a:r>
                            <a:rPr lang="ja-JP" altLang="en-US" sz="1600" dirty="0"/>
                            <a:t> </a:t>
                          </a:r>
                          <a:r>
                            <a:rPr lang="en-US" altLang="ja-JP" sz="1600" dirty="0"/>
                            <a:t>rate</a:t>
                          </a:r>
                          <a:endParaRPr lang="en-US" sz="1600" dirty="0"/>
                        </a:p>
                      </a:txBody>
                      <a:tcPr>
                        <a:noFill/>
                      </a:tcPr>
                    </a:tc>
                    <a:extLst>
                      <a:ext uri="{0D108BD9-81ED-4DB2-BD59-A6C34878D82A}">
                        <a16:rowId xmlns:a16="http://schemas.microsoft.com/office/drawing/2014/main" val="938949808"/>
                      </a:ext>
                    </a:extLst>
                  </a:tr>
                  <a:tr h="536369">
                    <a:tc>
                      <a:txBody>
                        <a:bodyPr/>
                        <a:lstStyle/>
                        <a:p>
                          <a:endParaRPr lang="en-US"/>
                        </a:p>
                      </a:txBody>
                      <a:tcPr>
                        <a:blipFill>
                          <a:blip r:embed="rId3"/>
                          <a:stretch>
                            <a:fillRect l="-526" t="-604545" r="-604211" b="-2273"/>
                          </a:stretch>
                        </a:blipFill>
                      </a:tcPr>
                    </a:tc>
                    <a:tc>
                      <a:txBody>
                        <a:bodyPr/>
                        <a:lstStyle/>
                        <a:p>
                          <a:r>
                            <a:rPr lang="en-US" sz="1600" dirty="0"/>
                            <a:t>:</a:t>
                          </a:r>
                        </a:p>
                      </a:txBody>
                      <a:tcPr>
                        <a:noFill/>
                      </a:tcPr>
                    </a:tc>
                    <a:tc>
                      <a:txBody>
                        <a:bodyPr/>
                        <a:lstStyle/>
                        <a:p>
                          <a:r>
                            <a:rPr lang="en-US" sz="1600" dirty="0"/>
                            <a:t>Discount</a:t>
                          </a:r>
                          <a:r>
                            <a:rPr lang="ja-JP" altLang="en-US" sz="1600" dirty="0"/>
                            <a:t> </a:t>
                          </a:r>
                          <a:r>
                            <a:rPr lang="en-US" altLang="ja-JP" sz="1600" dirty="0"/>
                            <a:t>rate</a:t>
                          </a:r>
                          <a:endParaRPr lang="en-US" sz="1600" dirty="0"/>
                        </a:p>
                      </a:txBody>
                      <a:tcPr>
                        <a:noFill/>
                      </a:tcPr>
                    </a:tc>
                    <a:extLst>
                      <a:ext uri="{0D108BD9-81ED-4DB2-BD59-A6C34878D82A}">
                        <a16:rowId xmlns:a16="http://schemas.microsoft.com/office/drawing/2014/main" val="1744219217"/>
                      </a:ext>
                    </a:extLst>
                  </a:tr>
                </a:tbl>
              </a:graphicData>
            </a:graphic>
          </p:graphicFrame>
        </mc:Fallback>
      </mc:AlternateContent>
      <p:graphicFrame>
        <p:nvGraphicFramePr>
          <p:cNvPr id="6" name="表 5">
            <a:extLst>
              <a:ext uri="{FF2B5EF4-FFF2-40B4-BE49-F238E27FC236}">
                <a16:creationId xmlns:a16="http://schemas.microsoft.com/office/drawing/2014/main" id="{16A0DEBA-F22F-8F9C-DBDC-6E6E88EF385E}"/>
              </a:ext>
            </a:extLst>
          </p:cNvPr>
          <p:cNvGraphicFramePr>
            <a:graphicFrameLocks noGrp="1"/>
          </p:cNvGraphicFramePr>
          <p:nvPr>
            <p:extLst>
              <p:ext uri="{D42A27DB-BD31-4B8C-83A1-F6EECF244321}">
                <p14:modId xmlns:p14="http://schemas.microsoft.com/office/powerpoint/2010/main" val="4191043732"/>
              </p:ext>
            </p:extLst>
          </p:nvPr>
        </p:nvGraphicFramePr>
        <p:xfrm>
          <a:off x="7255329" y="4369740"/>
          <a:ext cx="2459224" cy="2018332"/>
        </p:xfrm>
        <a:graphic>
          <a:graphicData uri="http://schemas.openxmlformats.org/drawingml/2006/table">
            <a:tbl>
              <a:tblPr firstRow="1" bandRow="1">
                <a:tableStyleId>{073A0DAA-6AF3-43AB-8588-CEC1D06C72B9}</a:tableStyleId>
              </a:tblPr>
              <a:tblGrid>
                <a:gridCol w="1758043">
                  <a:extLst>
                    <a:ext uri="{9D8B030D-6E8A-4147-A177-3AD203B41FA5}">
                      <a16:colId xmlns:a16="http://schemas.microsoft.com/office/drawing/2014/main" val="2081844268"/>
                    </a:ext>
                  </a:extLst>
                </a:gridCol>
                <a:gridCol w="701181">
                  <a:extLst>
                    <a:ext uri="{9D8B030D-6E8A-4147-A177-3AD203B41FA5}">
                      <a16:colId xmlns:a16="http://schemas.microsoft.com/office/drawing/2014/main" val="2099169623"/>
                    </a:ext>
                  </a:extLst>
                </a:gridCol>
              </a:tblGrid>
              <a:tr h="378853">
                <a:tc>
                  <a:txBody>
                    <a:bodyPr/>
                    <a:lstStyle/>
                    <a:p>
                      <a:r>
                        <a:rPr lang="en-US" dirty="0"/>
                        <a:t>Learning parameter</a:t>
                      </a:r>
                    </a:p>
                  </a:txBody>
                  <a:tcPr/>
                </a:tc>
                <a:tc>
                  <a:txBody>
                    <a:bodyPr/>
                    <a:lstStyle/>
                    <a:p>
                      <a:r>
                        <a:rPr lang="en-US" dirty="0"/>
                        <a:t>Value</a:t>
                      </a:r>
                    </a:p>
                  </a:txBody>
                  <a:tcPr/>
                </a:tc>
                <a:extLst>
                  <a:ext uri="{0D108BD9-81ED-4DB2-BD59-A6C34878D82A}">
                    <a16:rowId xmlns:a16="http://schemas.microsoft.com/office/drawing/2014/main" val="1061694334"/>
                  </a:ext>
                </a:extLst>
              </a:tr>
              <a:tr h="378853">
                <a:tc>
                  <a:txBody>
                    <a:bodyPr/>
                    <a:lstStyle/>
                    <a:p>
                      <a:r>
                        <a:rPr lang="en-US" dirty="0"/>
                        <a:t>Learning rate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latin typeface="+mn-lt"/>
                          <a:ea typeface="+mn-ea"/>
                          <a:cs typeface="+mn-cs"/>
                        </a:rPr>
                        <a:t>0.99</a:t>
                      </a:r>
                    </a:p>
                  </a:txBody>
                  <a:tcPr/>
                </a:tc>
                <a:extLst>
                  <a:ext uri="{0D108BD9-81ED-4DB2-BD59-A6C34878D82A}">
                    <a16:rowId xmlns:a16="http://schemas.microsoft.com/office/drawing/2014/main" val="484519250"/>
                  </a:ext>
                </a:extLst>
              </a:tr>
              <a:tr h="378853">
                <a:tc>
                  <a:txBody>
                    <a:bodyPr/>
                    <a:lstStyle/>
                    <a:p>
                      <a:r>
                        <a:rPr lang="en-US" dirty="0"/>
                        <a:t>Discount rate</a:t>
                      </a:r>
                    </a:p>
                  </a:txBody>
                  <a:tcPr/>
                </a:tc>
                <a:tc>
                  <a:txBody>
                    <a:bodyPr/>
                    <a:lstStyle/>
                    <a:p>
                      <a:r>
                        <a:rPr lang="en-US" dirty="0"/>
                        <a:t>0.01</a:t>
                      </a:r>
                    </a:p>
                  </a:txBody>
                  <a:tcPr/>
                </a:tc>
                <a:extLst>
                  <a:ext uri="{0D108BD9-81ED-4DB2-BD59-A6C34878D82A}">
                    <a16:rowId xmlns:a16="http://schemas.microsoft.com/office/drawing/2014/main" val="2329611386"/>
                  </a:ext>
                </a:extLst>
              </a:tr>
              <a:tr h="378853">
                <a:tc>
                  <a:txBody>
                    <a:bodyPr/>
                    <a:lstStyle/>
                    <a:p>
                      <a:r>
                        <a:rPr lang="en-US" dirty="0"/>
                        <a:t>Episode</a:t>
                      </a:r>
                    </a:p>
                  </a:txBody>
                  <a:tcPr/>
                </a:tc>
                <a:tc>
                  <a:txBody>
                    <a:bodyPr/>
                    <a:lstStyle/>
                    <a:p>
                      <a:r>
                        <a:rPr lang="en-US" dirty="0"/>
                        <a:t>100</a:t>
                      </a:r>
                    </a:p>
                  </a:txBody>
                  <a:tcPr/>
                </a:tc>
                <a:extLst>
                  <a:ext uri="{0D108BD9-81ED-4DB2-BD59-A6C34878D82A}">
                    <a16:rowId xmlns:a16="http://schemas.microsoft.com/office/drawing/2014/main" val="2435684139"/>
                  </a:ext>
                </a:extLst>
              </a:tr>
              <a:tr h="378853">
                <a:tc>
                  <a:txBody>
                    <a:bodyPr/>
                    <a:lstStyle/>
                    <a:p>
                      <a:r>
                        <a:rPr lang="en-US" dirty="0"/>
                        <a:t>Number of environment</a:t>
                      </a:r>
                    </a:p>
                  </a:txBody>
                  <a:tcPr/>
                </a:tc>
                <a:tc>
                  <a:txBody>
                    <a:bodyPr/>
                    <a:lstStyle/>
                    <a:p>
                      <a:r>
                        <a:rPr lang="en-US" dirty="0"/>
                        <a:t>16</a:t>
                      </a:r>
                    </a:p>
                  </a:txBody>
                  <a:tcPr/>
                </a:tc>
                <a:extLst>
                  <a:ext uri="{0D108BD9-81ED-4DB2-BD59-A6C34878D82A}">
                    <a16:rowId xmlns:a16="http://schemas.microsoft.com/office/drawing/2014/main" val="1607011185"/>
                  </a:ext>
                </a:extLst>
              </a:tr>
            </a:tbl>
          </a:graphicData>
        </a:graphic>
      </p:graphicFrame>
    </p:spTree>
    <p:extLst>
      <p:ext uri="{BB962C8B-B14F-4D97-AF65-F5344CB8AC3E}">
        <p14:creationId xmlns:p14="http://schemas.microsoft.com/office/powerpoint/2010/main" val="4042536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C4BF00C5-E315-9504-FB1D-20D762FE4020}"/>
              </a:ext>
            </a:extLst>
          </p:cNvPr>
          <p:cNvSpPr/>
          <p:nvPr/>
        </p:nvSpPr>
        <p:spPr>
          <a:xfrm>
            <a:off x="5413954" y="1557076"/>
            <a:ext cx="4353116" cy="4603569"/>
          </a:xfrm>
          <a:prstGeom prst="rect">
            <a:avLst/>
          </a:prstGeom>
          <a:solidFill>
            <a:schemeClr val="bg1"/>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4791B8E5-498B-86E9-467C-A039CE32E076}"/>
              </a:ext>
            </a:extLst>
          </p:cNvPr>
          <p:cNvSpPr/>
          <p:nvPr/>
        </p:nvSpPr>
        <p:spPr>
          <a:xfrm>
            <a:off x="5191491" y="1333326"/>
            <a:ext cx="4353116" cy="4603569"/>
          </a:xfrm>
          <a:prstGeom prst="rect">
            <a:avLst/>
          </a:prstGeom>
          <a:solidFill>
            <a:schemeClr val="bg1"/>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正方形/長方形 17">
            <a:extLst>
              <a:ext uri="{FF2B5EF4-FFF2-40B4-BE49-F238E27FC236}">
                <a16:creationId xmlns:a16="http://schemas.microsoft.com/office/drawing/2014/main" id="{F56FEA46-8596-8B1C-1E23-E6284ECDB136}"/>
              </a:ext>
            </a:extLst>
          </p:cNvPr>
          <p:cNvSpPr/>
          <p:nvPr/>
        </p:nvSpPr>
        <p:spPr>
          <a:xfrm>
            <a:off x="4962678" y="1105064"/>
            <a:ext cx="4353116" cy="4603569"/>
          </a:xfrm>
          <a:prstGeom prst="rect">
            <a:avLst/>
          </a:prstGeom>
          <a:solidFill>
            <a:schemeClr val="bg1"/>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011F3EE-894B-B858-8838-872B7A4332CD}"/>
              </a:ext>
            </a:extLst>
          </p:cNvPr>
          <p:cNvSpPr/>
          <p:nvPr/>
        </p:nvSpPr>
        <p:spPr>
          <a:xfrm>
            <a:off x="4746634" y="847075"/>
            <a:ext cx="4353116" cy="4603569"/>
          </a:xfrm>
          <a:prstGeom prst="rect">
            <a:avLst/>
          </a:prstGeom>
          <a:solidFill>
            <a:schemeClr val="bg1"/>
          </a:solidFill>
          <a:ln>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graphicFrame>
            <p:nvGraphicFramePr>
              <p:cNvPr id="8" name="表 7">
                <a:extLst>
                  <a:ext uri="{FF2B5EF4-FFF2-40B4-BE49-F238E27FC236}">
                    <a16:creationId xmlns:a16="http://schemas.microsoft.com/office/drawing/2014/main" id="{CF09B399-26A1-0A35-146B-A04928C2FF33}"/>
                  </a:ext>
                </a:extLst>
              </p:cNvPr>
              <p:cNvGraphicFramePr>
                <a:graphicFrameLocks noGrp="1"/>
              </p:cNvGraphicFramePr>
              <p:nvPr>
                <p:extLst>
                  <p:ext uri="{D42A27DB-BD31-4B8C-83A1-F6EECF244321}">
                    <p14:modId xmlns:p14="http://schemas.microsoft.com/office/powerpoint/2010/main" val="3306499454"/>
                  </p:ext>
                </p:extLst>
              </p:nvPr>
            </p:nvGraphicFramePr>
            <p:xfrm>
              <a:off x="4859246" y="1200195"/>
              <a:ext cx="4084996" cy="1112520"/>
            </p:xfrm>
            <a:graphic>
              <a:graphicData uri="http://schemas.openxmlformats.org/drawingml/2006/table">
                <a:tbl>
                  <a:tblPr firstRow="1" bandRow="1">
                    <a:tableStyleId>{073A0DAA-6AF3-43AB-8588-CEC1D06C72B9}</a:tableStyleId>
                  </a:tblPr>
                  <a:tblGrid>
                    <a:gridCol w="1662212">
                      <a:extLst>
                        <a:ext uri="{9D8B030D-6E8A-4147-A177-3AD203B41FA5}">
                          <a16:colId xmlns:a16="http://schemas.microsoft.com/office/drawing/2014/main" val="1174311812"/>
                        </a:ext>
                      </a:extLst>
                    </a:gridCol>
                    <a:gridCol w="2422784">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pPr/>
                          <a14:m>
                            <m:oMathPara xmlns:m="http://schemas.openxmlformats.org/officeDocument/2006/math">
                              <m:oMathParaPr>
                                <m:jc m:val="centerGroup"/>
                              </m:oMathParaPr>
                              <m:oMath xmlns:m="http://schemas.openxmlformats.org/officeDocument/2006/math">
                                <m:r>
                                  <a:rPr lang="en-US" sz="1400" smtClean="0">
                                    <a:latin typeface="Cambria Math" panose="02040503050406030204" pitchFamily="18" charset="0"/>
                                  </a:rPr>
                                  <m:t>𝒮</m:t>
                                </m:r>
                              </m:oMath>
                            </m:oMathPara>
                          </a14:m>
                          <a:endParaRPr lang="en-US" dirty="0"/>
                        </a:p>
                      </a:txBody>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r h="370840">
                    <a:tc>
                      <a:txBody>
                        <a:bodyPr/>
                        <a:lstStyle/>
                        <a:p>
                          <a:r>
                            <a:rPr lang="en-US" dirty="0"/>
                            <a:t>Battery SOC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177098339"/>
                      </a:ext>
                    </a:extLst>
                  </a:tr>
                </a:tbl>
              </a:graphicData>
            </a:graphic>
          </p:graphicFrame>
        </mc:Choice>
        <mc:Fallback xmlns="">
          <p:graphicFrame>
            <p:nvGraphicFramePr>
              <p:cNvPr id="8" name="表 7">
                <a:extLst>
                  <a:ext uri="{FF2B5EF4-FFF2-40B4-BE49-F238E27FC236}">
                    <a16:creationId xmlns:a16="http://schemas.microsoft.com/office/drawing/2014/main" id="{CF09B399-26A1-0A35-146B-A04928C2FF33}"/>
                  </a:ext>
                </a:extLst>
              </p:cNvPr>
              <p:cNvGraphicFramePr>
                <a:graphicFrameLocks noGrp="1"/>
              </p:cNvGraphicFramePr>
              <p:nvPr>
                <p:extLst>
                  <p:ext uri="{D42A27DB-BD31-4B8C-83A1-F6EECF244321}">
                    <p14:modId xmlns:p14="http://schemas.microsoft.com/office/powerpoint/2010/main" val="3306499454"/>
                  </p:ext>
                </p:extLst>
              </p:nvPr>
            </p:nvGraphicFramePr>
            <p:xfrm>
              <a:off x="4859246" y="1200195"/>
              <a:ext cx="4084996" cy="1112520"/>
            </p:xfrm>
            <a:graphic>
              <a:graphicData uri="http://schemas.openxmlformats.org/drawingml/2006/table">
                <a:tbl>
                  <a:tblPr firstRow="1" bandRow="1">
                    <a:tableStyleId>{073A0DAA-6AF3-43AB-8588-CEC1D06C72B9}</a:tableStyleId>
                  </a:tblPr>
                  <a:tblGrid>
                    <a:gridCol w="1662212">
                      <a:extLst>
                        <a:ext uri="{9D8B030D-6E8A-4147-A177-3AD203B41FA5}">
                          <a16:colId xmlns:a16="http://schemas.microsoft.com/office/drawing/2014/main" val="1174311812"/>
                        </a:ext>
                      </a:extLst>
                    </a:gridCol>
                    <a:gridCol w="2422784">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endParaRPr lang="ja-JP"/>
                        </a:p>
                      </a:txBody>
                      <a:tcPr>
                        <a:blipFill>
                          <a:blip r:embed="rId2"/>
                          <a:stretch>
                            <a:fillRect l="-68844" t="-3279" r="-1005" b="-204918"/>
                          </a:stretch>
                        </a:blipFill>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r h="370840">
                    <a:tc>
                      <a:txBody>
                        <a:bodyPr/>
                        <a:lstStyle/>
                        <a:p>
                          <a:r>
                            <a:rPr lang="en-US" dirty="0"/>
                            <a:t>Battery SOC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17709833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表 6">
                <a:extLst>
                  <a:ext uri="{FF2B5EF4-FFF2-40B4-BE49-F238E27FC236}">
                    <a16:creationId xmlns:a16="http://schemas.microsoft.com/office/drawing/2014/main" id="{6074D29D-B6F2-49C3-A557-F7E69CC03E96}"/>
                  </a:ext>
                </a:extLst>
              </p:cNvPr>
              <p:cNvGraphicFramePr>
                <a:graphicFrameLocks noGrp="1"/>
              </p:cNvGraphicFramePr>
              <p:nvPr>
                <p:extLst>
                  <p:ext uri="{D42A27DB-BD31-4B8C-83A1-F6EECF244321}">
                    <p14:modId xmlns:p14="http://schemas.microsoft.com/office/powerpoint/2010/main" val="3773386372"/>
                  </p:ext>
                </p:extLst>
              </p:nvPr>
            </p:nvGraphicFramePr>
            <p:xfrm>
              <a:off x="306289" y="1203956"/>
              <a:ext cx="4084997" cy="1112520"/>
            </p:xfrm>
            <a:graphic>
              <a:graphicData uri="http://schemas.openxmlformats.org/drawingml/2006/table">
                <a:tbl>
                  <a:tblPr firstRow="1" bandRow="1">
                    <a:tableStyleId>{073A0DAA-6AF3-43AB-8588-CEC1D06C72B9}</a:tableStyleId>
                  </a:tblPr>
                  <a:tblGrid>
                    <a:gridCol w="1662211">
                      <a:extLst>
                        <a:ext uri="{9D8B030D-6E8A-4147-A177-3AD203B41FA5}">
                          <a16:colId xmlns:a16="http://schemas.microsoft.com/office/drawing/2014/main" val="1174311812"/>
                        </a:ext>
                      </a:extLst>
                    </a:gridCol>
                    <a:gridCol w="2422786">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pPr/>
                          <a14:m>
                            <m:oMathPara xmlns:m="http://schemas.openxmlformats.org/officeDocument/2006/math">
                              <m:oMathParaPr>
                                <m:jc m:val="centerGroup"/>
                              </m:oMathParaPr>
                              <m:oMath xmlns:m="http://schemas.openxmlformats.org/officeDocument/2006/math">
                                <m:r>
                                  <a:rPr lang="en-US" sz="1400" smtClean="0">
                                    <a:latin typeface="Cambria Math" panose="02040503050406030204" pitchFamily="18" charset="0"/>
                                  </a:rPr>
                                  <m:t>𝒮</m:t>
                                </m:r>
                              </m:oMath>
                            </m:oMathPara>
                          </a14:m>
                          <a:endParaRPr lang="en-US" dirty="0"/>
                        </a:p>
                      </a:txBody>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r h="370840">
                    <a:tc>
                      <a:txBody>
                        <a:bodyPr/>
                        <a:lstStyle/>
                        <a:p>
                          <a:r>
                            <a:rPr lang="en-US" dirty="0"/>
                            <a:t>Elastic ratio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0.1, 0.3, or 0.5 -&gt; 3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177098339"/>
                      </a:ext>
                    </a:extLst>
                  </a:tr>
                </a:tbl>
              </a:graphicData>
            </a:graphic>
          </p:graphicFrame>
        </mc:Choice>
        <mc:Fallback xmlns="">
          <p:graphicFrame>
            <p:nvGraphicFramePr>
              <p:cNvPr id="7" name="表 6">
                <a:extLst>
                  <a:ext uri="{FF2B5EF4-FFF2-40B4-BE49-F238E27FC236}">
                    <a16:creationId xmlns:a16="http://schemas.microsoft.com/office/drawing/2014/main" id="{6074D29D-B6F2-49C3-A557-F7E69CC03E96}"/>
                  </a:ext>
                </a:extLst>
              </p:cNvPr>
              <p:cNvGraphicFramePr>
                <a:graphicFrameLocks noGrp="1"/>
              </p:cNvGraphicFramePr>
              <p:nvPr>
                <p:extLst>
                  <p:ext uri="{D42A27DB-BD31-4B8C-83A1-F6EECF244321}">
                    <p14:modId xmlns:p14="http://schemas.microsoft.com/office/powerpoint/2010/main" val="3773386372"/>
                  </p:ext>
                </p:extLst>
              </p:nvPr>
            </p:nvGraphicFramePr>
            <p:xfrm>
              <a:off x="306289" y="1203956"/>
              <a:ext cx="4084997" cy="1112520"/>
            </p:xfrm>
            <a:graphic>
              <a:graphicData uri="http://schemas.openxmlformats.org/drawingml/2006/table">
                <a:tbl>
                  <a:tblPr firstRow="1" bandRow="1">
                    <a:tableStyleId>{073A0DAA-6AF3-43AB-8588-CEC1D06C72B9}</a:tableStyleId>
                  </a:tblPr>
                  <a:tblGrid>
                    <a:gridCol w="1662211">
                      <a:extLst>
                        <a:ext uri="{9D8B030D-6E8A-4147-A177-3AD203B41FA5}">
                          <a16:colId xmlns:a16="http://schemas.microsoft.com/office/drawing/2014/main" val="1174311812"/>
                        </a:ext>
                      </a:extLst>
                    </a:gridCol>
                    <a:gridCol w="2422786">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endParaRPr lang="ja-JP"/>
                        </a:p>
                      </a:txBody>
                      <a:tcPr>
                        <a:blipFill>
                          <a:blip r:embed="rId3"/>
                          <a:stretch>
                            <a:fillRect l="-68844" t="-3279" r="-1005" b="-204918"/>
                          </a:stretch>
                        </a:blipFill>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r h="370840">
                    <a:tc>
                      <a:txBody>
                        <a:bodyPr/>
                        <a:lstStyle/>
                        <a:p>
                          <a:r>
                            <a:rPr lang="en-US" dirty="0"/>
                            <a:t>Elastic ratio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0.1, 0.3, or 0.5 -&gt; 3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2177098339"/>
                      </a:ext>
                    </a:extLst>
                  </a:tr>
                </a:tbl>
              </a:graphicData>
            </a:graphic>
          </p:graphicFrame>
        </mc:Fallback>
      </mc:AlternateContent>
      <p:sp>
        <p:nvSpPr>
          <p:cNvPr id="3" name="コンテンツ プレースホルダー 2">
            <a:extLst>
              <a:ext uri="{FF2B5EF4-FFF2-40B4-BE49-F238E27FC236}">
                <a16:creationId xmlns:a16="http://schemas.microsoft.com/office/drawing/2014/main" id="{4ED52CB9-C256-49E8-A1CF-D01BA761D846}"/>
              </a:ext>
            </a:extLst>
          </p:cNvPr>
          <p:cNvSpPr>
            <a:spLocks noGrp="1"/>
          </p:cNvSpPr>
          <p:nvPr>
            <p:ph sz="quarter" idx="16"/>
          </p:nvPr>
        </p:nvSpPr>
        <p:spPr/>
        <p:txBody>
          <a:bodyPr/>
          <a:lstStyle/>
          <a:p>
            <a:r>
              <a:rPr lang="en-US" altLang="ja-JP" dirty="0"/>
              <a:t>3.3.1 </a:t>
            </a:r>
            <a:r>
              <a:rPr lang="en-US" dirty="0"/>
              <a:t>Q table</a:t>
            </a:r>
          </a:p>
        </p:txBody>
      </p:sp>
      <p:sp>
        <p:nvSpPr>
          <p:cNvPr id="5" name="コンテンツ プレースホルダー 1">
            <a:extLst>
              <a:ext uri="{FF2B5EF4-FFF2-40B4-BE49-F238E27FC236}">
                <a16:creationId xmlns:a16="http://schemas.microsoft.com/office/drawing/2014/main" id="{EE82AF60-A327-8741-0484-F0D6D00B7823}"/>
              </a:ext>
            </a:extLst>
          </p:cNvPr>
          <p:cNvSpPr>
            <a:spLocks noGrp="1"/>
          </p:cNvSpPr>
          <p:nvPr>
            <p:ph sz="quarter" idx="17"/>
          </p:nvPr>
        </p:nvSpPr>
        <p:spPr>
          <a:xfrm>
            <a:off x="2082876" y="865334"/>
            <a:ext cx="531003" cy="338622"/>
          </a:xfrm>
        </p:spPr>
        <p:txBody>
          <a:bodyPr/>
          <a:lstStyle/>
          <a:p>
            <a:r>
              <a:rPr lang="en-US" altLang="ja-JP" dirty="0"/>
              <a:t>DR</a:t>
            </a:r>
            <a:r>
              <a:rPr lang="ja-JP" altLang="en-US" dirty="0"/>
              <a:t> </a:t>
            </a:r>
            <a:endParaRPr lang="en-US" dirty="0"/>
          </a:p>
        </p:txBody>
      </p:sp>
      <p:sp>
        <p:nvSpPr>
          <p:cNvPr id="6" name="コンテンツ プレースホルダー 1">
            <a:extLst>
              <a:ext uri="{FF2B5EF4-FFF2-40B4-BE49-F238E27FC236}">
                <a16:creationId xmlns:a16="http://schemas.microsoft.com/office/drawing/2014/main" id="{25AFF237-DC26-F6B8-DF49-74EF3967FE17}"/>
              </a:ext>
            </a:extLst>
          </p:cNvPr>
          <p:cNvSpPr txBox="1">
            <a:spLocks/>
          </p:cNvSpPr>
          <p:nvPr/>
        </p:nvSpPr>
        <p:spPr>
          <a:xfrm>
            <a:off x="6520778" y="865334"/>
            <a:ext cx="1260960" cy="33862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Battery buy</a:t>
            </a:r>
            <a:r>
              <a:rPr lang="ja-JP" altLang="en-US" dirty="0"/>
              <a:t> </a:t>
            </a:r>
            <a:endParaRPr lang="en-US" dirty="0"/>
          </a:p>
        </p:txBody>
      </p:sp>
      <p:sp>
        <p:nvSpPr>
          <p:cNvPr id="10" name="コンテンツ プレースホルダー 1">
            <a:extLst>
              <a:ext uri="{FF2B5EF4-FFF2-40B4-BE49-F238E27FC236}">
                <a16:creationId xmlns:a16="http://schemas.microsoft.com/office/drawing/2014/main" id="{1647F951-017D-1D9A-3F7E-5C8A5F2C7A9E}"/>
              </a:ext>
            </a:extLst>
          </p:cNvPr>
          <p:cNvSpPr txBox="1">
            <a:spLocks/>
          </p:cNvSpPr>
          <p:nvPr/>
        </p:nvSpPr>
        <p:spPr>
          <a:xfrm>
            <a:off x="306290" y="3012598"/>
            <a:ext cx="4084996" cy="940423"/>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Number of column is possible bid prices</a:t>
            </a:r>
            <a:br>
              <a:rPr lang="en-US" altLang="ja-JP" dirty="0"/>
            </a:br>
            <a:r>
              <a:rPr lang="en-US" altLang="ja-JP" dirty="0"/>
              <a:t>(</a:t>
            </a:r>
            <a:r>
              <a:rPr lang="en-US" altLang="ja-JP" dirty="0" err="1"/>
              <a:t>price_max</a:t>
            </a:r>
            <a:r>
              <a:rPr lang="en-US" altLang="ja-JP" dirty="0"/>
              <a:t> – </a:t>
            </a:r>
            <a:r>
              <a:rPr lang="en-US" altLang="ja-JP" dirty="0" err="1"/>
              <a:t>price_min</a:t>
            </a:r>
            <a:r>
              <a:rPr lang="en-US" altLang="ja-JP" dirty="0"/>
              <a:t>) +1</a:t>
            </a:r>
            <a:br>
              <a:rPr lang="en-US" altLang="ja-JP" dirty="0"/>
            </a:br>
            <a:r>
              <a:rPr lang="en-US" altLang="ja-JP" dirty="0"/>
              <a:t>= (120 - 10) +1 </a:t>
            </a:r>
            <a:br>
              <a:rPr lang="en-US" altLang="ja-JP" dirty="0"/>
            </a:br>
            <a:r>
              <a:rPr lang="en-US" altLang="ja-JP" dirty="0"/>
              <a:t>= 111</a:t>
            </a:r>
            <a:endParaRPr lang="en-US" dirty="0"/>
          </a:p>
        </p:txBody>
      </p:sp>
      <p:sp>
        <p:nvSpPr>
          <p:cNvPr id="11" name="コンテンツ プレースホルダー 1">
            <a:extLst>
              <a:ext uri="{FF2B5EF4-FFF2-40B4-BE49-F238E27FC236}">
                <a16:creationId xmlns:a16="http://schemas.microsoft.com/office/drawing/2014/main" id="{4FD5B6A6-6AED-B6CF-7133-1754647229CB}"/>
              </a:ext>
            </a:extLst>
          </p:cNvPr>
          <p:cNvSpPr txBox="1">
            <a:spLocks/>
          </p:cNvSpPr>
          <p:nvPr/>
        </p:nvSpPr>
        <p:spPr>
          <a:xfrm>
            <a:off x="306290" y="4616583"/>
            <a:ext cx="4084996" cy="83280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DR q table size  = 20*3 </a:t>
            </a:r>
            <a:r>
              <a:rPr lang="en-US" altLang="ja-JP" dirty="0"/>
              <a:t>× 111</a:t>
            </a:r>
          </a:p>
          <a:p>
            <a:r>
              <a:rPr lang="en-US" dirty="0"/>
              <a:t>	              = 60 </a:t>
            </a:r>
            <a:r>
              <a:rPr lang="en-US" altLang="ja-JP" dirty="0"/>
              <a:t>× 111</a:t>
            </a:r>
            <a:endParaRPr lang="en-US" dirty="0"/>
          </a:p>
        </p:txBody>
      </p:sp>
      <p:sp>
        <p:nvSpPr>
          <p:cNvPr id="12" name="コンテンツ プレースホルダー 1">
            <a:extLst>
              <a:ext uri="{FF2B5EF4-FFF2-40B4-BE49-F238E27FC236}">
                <a16:creationId xmlns:a16="http://schemas.microsoft.com/office/drawing/2014/main" id="{52B303C8-3158-147E-BDC8-BDE68AB56B7F}"/>
              </a:ext>
            </a:extLst>
          </p:cNvPr>
          <p:cNvSpPr txBox="1">
            <a:spLocks/>
          </p:cNvSpPr>
          <p:nvPr/>
        </p:nvSpPr>
        <p:spPr>
          <a:xfrm>
            <a:off x="4785285" y="4616583"/>
            <a:ext cx="4084996" cy="83280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Battery buy q table size  = 20*20 </a:t>
            </a:r>
            <a:r>
              <a:rPr lang="en-US" altLang="ja-JP" dirty="0"/>
              <a:t>× 111</a:t>
            </a:r>
          </a:p>
          <a:p>
            <a:r>
              <a:rPr lang="en-US" dirty="0"/>
              <a:t>		               = 400 </a:t>
            </a:r>
            <a:r>
              <a:rPr lang="en-US" altLang="ja-JP" dirty="0"/>
              <a:t>× 11</a:t>
            </a:r>
            <a:endParaRPr lang="en-US" dirty="0"/>
          </a:p>
        </p:txBody>
      </p:sp>
      <p:sp>
        <p:nvSpPr>
          <p:cNvPr id="2" name="コンテンツ プレースホルダー 1">
            <a:extLst>
              <a:ext uri="{FF2B5EF4-FFF2-40B4-BE49-F238E27FC236}">
                <a16:creationId xmlns:a16="http://schemas.microsoft.com/office/drawing/2014/main" id="{91C1B6D3-71B9-E2BB-F97D-482B3E0E9CAA}"/>
              </a:ext>
            </a:extLst>
          </p:cNvPr>
          <p:cNvSpPr txBox="1">
            <a:spLocks/>
          </p:cNvSpPr>
          <p:nvPr/>
        </p:nvSpPr>
        <p:spPr>
          <a:xfrm>
            <a:off x="4859246" y="3015040"/>
            <a:ext cx="4084996" cy="940423"/>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Number of column is possible bid prices</a:t>
            </a:r>
            <a:br>
              <a:rPr lang="en-US" altLang="ja-JP" dirty="0"/>
            </a:br>
            <a:r>
              <a:rPr lang="en-US" altLang="ja-JP" dirty="0"/>
              <a:t>(</a:t>
            </a:r>
            <a:r>
              <a:rPr lang="en-US" altLang="ja-JP" dirty="0" err="1"/>
              <a:t>price_max</a:t>
            </a:r>
            <a:r>
              <a:rPr lang="en-US" altLang="ja-JP" dirty="0"/>
              <a:t> – </a:t>
            </a:r>
            <a:r>
              <a:rPr lang="en-US" altLang="ja-JP" dirty="0" err="1"/>
              <a:t>price_min</a:t>
            </a:r>
            <a:r>
              <a:rPr lang="en-US" altLang="ja-JP" dirty="0"/>
              <a:t>) +1</a:t>
            </a:r>
            <a:br>
              <a:rPr lang="en-US" altLang="ja-JP" dirty="0"/>
            </a:br>
            <a:r>
              <a:rPr lang="en-US" altLang="ja-JP" dirty="0"/>
              <a:t>= (120 - 10) +1 </a:t>
            </a:r>
            <a:br>
              <a:rPr lang="en-US" altLang="ja-JP" dirty="0"/>
            </a:br>
            <a:r>
              <a:rPr lang="en-US" altLang="ja-JP" dirty="0"/>
              <a:t>= 111</a:t>
            </a:r>
            <a:endParaRPr lang="en-US" dirty="0"/>
          </a:p>
        </p:txBody>
      </p:sp>
      <p:sp>
        <p:nvSpPr>
          <p:cNvPr id="15" name="正方形/長方形 14">
            <a:extLst>
              <a:ext uri="{FF2B5EF4-FFF2-40B4-BE49-F238E27FC236}">
                <a16:creationId xmlns:a16="http://schemas.microsoft.com/office/drawing/2014/main" id="{E81860CB-3BBF-45DE-4969-25F00AC21A01}"/>
              </a:ext>
            </a:extLst>
          </p:cNvPr>
          <p:cNvSpPr/>
          <p:nvPr/>
        </p:nvSpPr>
        <p:spPr>
          <a:xfrm>
            <a:off x="195051" y="845815"/>
            <a:ext cx="4353117" cy="4603569"/>
          </a:xfrm>
          <a:prstGeom prst="rect">
            <a:avLst/>
          </a:prstGeom>
          <a:noFill/>
          <a:ln w="12700">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DDBDB10E-7E7B-F6C1-CF72-E101518567FD}"/>
              </a:ext>
            </a:extLst>
          </p:cNvPr>
          <p:cNvSpPr txBox="1"/>
          <p:nvPr/>
        </p:nvSpPr>
        <p:spPr>
          <a:xfrm>
            <a:off x="2249102" y="6321633"/>
            <a:ext cx="4767627" cy="369332"/>
          </a:xfrm>
          <a:prstGeom prst="rect">
            <a:avLst/>
          </a:prstGeom>
          <a:noFill/>
        </p:spPr>
        <p:txBody>
          <a:bodyPr wrap="square" rtlCol="0">
            <a:spAutoFit/>
          </a:bodyPr>
          <a:lstStyle/>
          <a:p>
            <a:r>
              <a:rPr lang="en-US" altLang="ja-JP" dirty="0"/>
              <a:t>Q tables are made for each agent individually.</a:t>
            </a:r>
          </a:p>
        </p:txBody>
      </p:sp>
      <p:sp>
        <p:nvSpPr>
          <p:cNvPr id="21" name="コンテンツ プレースホルダー 1">
            <a:extLst>
              <a:ext uri="{FF2B5EF4-FFF2-40B4-BE49-F238E27FC236}">
                <a16:creationId xmlns:a16="http://schemas.microsoft.com/office/drawing/2014/main" id="{6C9B1BD2-DFA9-A308-3BD5-2E7DD998BFFB}"/>
              </a:ext>
            </a:extLst>
          </p:cNvPr>
          <p:cNvSpPr txBox="1">
            <a:spLocks/>
          </p:cNvSpPr>
          <p:nvPr/>
        </p:nvSpPr>
        <p:spPr>
          <a:xfrm>
            <a:off x="6596978" y="5431194"/>
            <a:ext cx="1260960" cy="33862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Battery sell</a:t>
            </a:r>
            <a:r>
              <a:rPr lang="ja-JP" altLang="en-US" dirty="0"/>
              <a:t> </a:t>
            </a:r>
            <a:endParaRPr lang="en-US" dirty="0"/>
          </a:p>
        </p:txBody>
      </p:sp>
      <p:sp>
        <p:nvSpPr>
          <p:cNvPr id="22" name="コンテンツ プレースホルダー 1">
            <a:extLst>
              <a:ext uri="{FF2B5EF4-FFF2-40B4-BE49-F238E27FC236}">
                <a16:creationId xmlns:a16="http://schemas.microsoft.com/office/drawing/2014/main" id="{9B6BEEB1-1B76-EF83-4506-75B0E40C5CB0}"/>
              </a:ext>
            </a:extLst>
          </p:cNvPr>
          <p:cNvSpPr txBox="1">
            <a:spLocks/>
          </p:cNvSpPr>
          <p:nvPr/>
        </p:nvSpPr>
        <p:spPr>
          <a:xfrm>
            <a:off x="6839792" y="5672303"/>
            <a:ext cx="1586658" cy="33862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EV Battery buy</a:t>
            </a:r>
            <a:r>
              <a:rPr lang="ja-JP" altLang="en-US" dirty="0"/>
              <a:t> </a:t>
            </a:r>
            <a:endParaRPr lang="en-US" dirty="0"/>
          </a:p>
        </p:txBody>
      </p:sp>
      <p:sp>
        <p:nvSpPr>
          <p:cNvPr id="23" name="コンテンツ プレースホルダー 1">
            <a:extLst>
              <a:ext uri="{FF2B5EF4-FFF2-40B4-BE49-F238E27FC236}">
                <a16:creationId xmlns:a16="http://schemas.microsoft.com/office/drawing/2014/main" id="{2492DE0F-BA3C-C6C2-A88A-9EC73677C203}"/>
              </a:ext>
            </a:extLst>
          </p:cNvPr>
          <p:cNvSpPr txBox="1">
            <a:spLocks/>
          </p:cNvSpPr>
          <p:nvPr/>
        </p:nvSpPr>
        <p:spPr>
          <a:xfrm>
            <a:off x="7082606" y="5900512"/>
            <a:ext cx="1586658" cy="33862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EV Battery sell</a:t>
            </a:r>
            <a:endParaRPr lang="en-US" dirty="0"/>
          </a:p>
        </p:txBody>
      </p:sp>
    </p:spTree>
    <p:extLst>
      <p:ext uri="{BB962C8B-B14F-4D97-AF65-F5344CB8AC3E}">
        <p14:creationId xmlns:p14="http://schemas.microsoft.com/office/powerpoint/2010/main" val="6573886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AF40E-1129-C2B4-352B-33C543365457}"/>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7" name="表 6">
                <a:extLst>
                  <a:ext uri="{FF2B5EF4-FFF2-40B4-BE49-F238E27FC236}">
                    <a16:creationId xmlns:a16="http://schemas.microsoft.com/office/drawing/2014/main" id="{8C368CE5-ABE7-4551-00D9-4875E5AA3121}"/>
                  </a:ext>
                </a:extLst>
              </p:cNvPr>
              <p:cNvGraphicFramePr>
                <a:graphicFrameLocks noGrp="1"/>
              </p:cNvGraphicFramePr>
              <p:nvPr>
                <p:extLst>
                  <p:ext uri="{D42A27DB-BD31-4B8C-83A1-F6EECF244321}">
                    <p14:modId xmlns:p14="http://schemas.microsoft.com/office/powerpoint/2010/main" val="3921065935"/>
                  </p:ext>
                </p:extLst>
              </p:nvPr>
            </p:nvGraphicFramePr>
            <p:xfrm>
              <a:off x="306289" y="1203956"/>
              <a:ext cx="4084997" cy="741680"/>
            </p:xfrm>
            <a:graphic>
              <a:graphicData uri="http://schemas.openxmlformats.org/drawingml/2006/table">
                <a:tbl>
                  <a:tblPr firstRow="1" bandRow="1">
                    <a:tableStyleId>{073A0DAA-6AF3-43AB-8588-CEC1D06C72B9}</a:tableStyleId>
                  </a:tblPr>
                  <a:tblGrid>
                    <a:gridCol w="1662211">
                      <a:extLst>
                        <a:ext uri="{9D8B030D-6E8A-4147-A177-3AD203B41FA5}">
                          <a16:colId xmlns:a16="http://schemas.microsoft.com/office/drawing/2014/main" val="1174311812"/>
                        </a:ext>
                      </a:extLst>
                    </a:gridCol>
                    <a:gridCol w="2422786">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pPr/>
                          <a14:m>
                            <m:oMathPara xmlns:m="http://schemas.openxmlformats.org/officeDocument/2006/math">
                              <m:oMathParaPr>
                                <m:jc m:val="centerGroup"/>
                              </m:oMathParaPr>
                              <m:oMath xmlns:m="http://schemas.openxmlformats.org/officeDocument/2006/math">
                                <m:r>
                                  <a:rPr lang="en-US" sz="1400" smtClean="0">
                                    <a:latin typeface="Cambria Math" panose="02040503050406030204" pitchFamily="18" charset="0"/>
                                  </a:rPr>
                                  <m:t>𝒮</m:t>
                                </m:r>
                              </m:oMath>
                            </m:oMathPara>
                          </a14:m>
                          <a:endParaRPr lang="en-US" dirty="0"/>
                        </a:p>
                      </a:txBody>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bl>
              </a:graphicData>
            </a:graphic>
          </p:graphicFrame>
        </mc:Choice>
        <mc:Fallback>
          <p:graphicFrame>
            <p:nvGraphicFramePr>
              <p:cNvPr id="7" name="表 6">
                <a:extLst>
                  <a:ext uri="{FF2B5EF4-FFF2-40B4-BE49-F238E27FC236}">
                    <a16:creationId xmlns:a16="http://schemas.microsoft.com/office/drawing/2014/main" id="{8C368CE5-ABE7-4551-00D9-4875E5AA3121}"/>
                  </a:ext>
                </a:extLst>
              </p:cNvPr>
              <p:cNvGraphicFramePr>
                <a:graphicFrameLocks noGrp="1"/>
              </p:cNvGraphicFramePr>
              <p:nvPr>
                <p:extLst>
                  <p:ext uri="{D42A27DB-BD31-4B8C-83A1-F6EECF244321}">
                    <p14:modId xmlns:p14="http://schemas.microsoft.com/office/powerpoint/2010/main" val="3921065935"/>
                  </p:ext>
                </p:extLst>
              </p:nvPr>
            </p:nvGraphicFramePr>
            <p:xfrm>
              <a:off x="306289" y="1203956"/>
              <a:ext cx="4084997" cy="741680"/>
            </p:xfrm>
            <a:graphic>
              <a:graphicData uri="http://schemas.openxmlformats.org/drawingml/2006/table">
                <a:tbl>
                  <a:tblPr firstRow="1" bandRow="1">
                    <a:tableStyleId>{073A0DAA-6AF3-43AB-8588-CEC1D06C72B9}</a:tableStyleId>
                  </a:tblPr>
                  <a:tblGrid>
                    <a:gridCol w="1662211">
                      <a:extLst>
                        <a:ext uri="{9D8B030D-6E8A-4147-A177-3AD203B41FA5}">
                          <a16:colId xmlns:a16="http://schemas.microsoft.com/office/drawing/2014/main" val="1174311812"/>
                        </a:ext>
                      </a:extLst>
                    </a:gridCol>
                    <a:gridCol w="2422786">
                      <a:extLst>
                        <a:ext uri="{9D8B030D-6E8A-4147-A177-3AD203B41FA5}">
                          <a16:colId xmlns:a16="http://schemas.microsoft.com/office/drawing/2014/main" val="2891888585"/>
                        </a:ext>
                      </a:extLst>
                    </a:gridCol>
                  </a:tblGrid>
                  <a:tr h="370840">
                    <a:tc>
                      <a:txBody>
                        <a:bodyPr/>
                        <a:lstStyle/>
                        <a:p>
                          <a:r>
                            <a:rPr lang="en-US" dirty="0"/>
                            <a:t>Parameter</a:t>
                          </a:r>
                        </a:p>
                      </a:txBody>
                      <a:tcPr/>
                    </a:tc>
                    <a:tc>
                      <a:txBody>
                        <a:bodyPr/>
                        <a:lstStyle/>
                        <a:p>
                          <a:endParaRPr lang="en-US"/>
                        </a:p>
                      </a:txBody>
                      <a:tcPr>
                        <a:blipFill>
                          <a:blip r:embed="rId2"/>
                          <a:stretch>
                            <a:fillRect l="-68844" t="-3226" r="-1005" b="-101613"/>
                          </a:stretch>
                        </a:blipFill>
                      </a:tcPr>
                    </a:tc>
                    <a:extLst>
                      <a:ext uri="{0D108BD9-81ED-4DB2-BD59-A6C34878D82A}">
                        <a16:rowId xmlns:a16="http://schemas.microsoft.com/office/drawing/2014/main" val="2524292117"/>
                      </a:ext>
                    </a:extLst>
                  </a:tr>
                  <a:tr h="370840">
                    <a:tc>
                      <a:txBody>
                        <a:bodyPr/>
                        <a:lstStyle/>
                        <a:p>
                          <a:r>
                            <a:rPr lang="en-US" dirty="0"/>
                            <a:t>PV ratio [kW/kWh]</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350" b="0" kern="1200" dirty="0">
                              <a:solidFill>
                                <a:schemeClr val="dk1"/>
                              </a:solidFill>
                              <a:effectLst/>
                            </a:rPr>
                            <a:t>Digitized into 20 steps</a:t>
                          </a:r>
                          <a:endParaRPr lang="en-US" sz="1350" b="0" kern="1200" dirty="0">
                            <a:solidFill>
                              <a:schemeClr val="dk1"/>
                            </a:solidFill>
                            <a:effectLst/>
                            <a:latin typeface="+mn-lt"/>
                            <a:ea typeface="+mn-ea"/>
                            <a:cs typeface="+mn-cs"/>
                          </a:endParaRPr>
                        </a:p>
                      </a:txBody>
                      <a:tcPr/>
                    </a:tc>
                    <a:extLst>
                      <a:ext uri="{0D108BD9-81ED-4DB2-BD59-A6C34878D82A}">
                        <a16:rowId xmlns:a16="http://schemas.microsoft.com/office/drawing/2014/main" val="4073534977"/>
                      </a:ext>
                    </a:extLst>
                  </a:tr>
                </a:tbl>
              </a:graphicData>
            </a:graphic>
          </p:graphicFrame>
        </mc:Fallback>
      </mc:AlternateContent>
      <p:sp>
        <p:nvSpPr>
          <p:cNvPr id="3" name="コンテンツ プレースホルダー 2">
            <a:extLst>
              <a:ext uri="{FF2B5EF4-FFF2-40B4-BE49-F238E27FC236}">
                <a16:creationId xmlns:a16="http://schemas.microsoft.com/office/drawing/2014/main" id="{5E995B53-5C52-0359-7C82-77AC6F9CD83F}"/>
              </a:ext>
            </a:extLst>
          </p:cNvPr>
          <p:cNvSpPr>
            <a:spLocks noGrp="1"/>
          </p:cNvSpPr>
          <p:nvPr>
            <p:ph sz="quarter" idx="16"/>
          </p:nvPr>
        </p:nvSpPr>
        <p:spPr/>
        <p:txBody>
          <a:bodyPr/>
          <a:lstStyle/>
          <a:p>
            <a:r>
              <a:rPr lang="en-US" altLang="ja-JP" dirty="0"/>
              <a:t>3.3.1 </a:t>
            </a:r>
            <a:r>
              <a:rPr lang="en-US" dirty="0"/>
              <a:t>Q table</a:t>
            </a:r>
          </a:p>
        </p:txBody>
      </p:sp>
      <p:sp>
        <p:nvSpPr>
          <p:cNvPr id="5" name="コンテンツ プレースホルダー 1">
            <a:extLst>
              <a:ext uri="{FF2B5EF4-FFF2-40B4-BE49-F238E27FC236}">
                <a16:creationId xmlns:a16="http://schemas.microsoft.com/office/drawing/2014/main" id="{FD5F593C-DE11-371E-595E-0C534B09DFDD}"/>
              </a:ext>
            </a:extLst>
          </p:cNvPr>
          <p:cNvSpPr>
            <a:spLocks noGrp="1"/>
          </p:cNvSpPr>
          <p:nvPr>
            <p:ph sz="quarter" idx="17"/>
          </p:nvPr>
        </p:nvSpPr>
        <p:spPr>
          <a:xfrm>
            <a:off x="2082876" y="865334"/>
            <a:ext cx="531003" cy="338622"/>
          </a:xfrm>
        </p:spPr>
        <p:txBody>
          <a:bodyPr/>
          <a:lstStyle/>
          <a:p>
            <a:r>
              <a:rPr lang="en-US" altLang="ja-JP" dirty="0"/>
              <a:t>PV</a:t>
            </a:r>
            <a:r>
              <a:rPr lang="ja-JP" altLang="en-US" dirty="0"/>
              <a:t> </a:t>
            </a:r>
            <a:endParaRPr lang="en-US" dirty="0"/>
          </a:p>
        </p:txBody>
      </p:sp>
      <p:sp>
        <p:nvSpPr>
          <p:cNvPr id="10" name="コンテンツ プレースホルダー 1">
            <a:extLst>
              <a:ext uri="{FF2B5EF4-FFF2-40B4-BE49-F238E27FC236}">
                <a16:creationId xmlns:a16="http://schemas.microsoft.com/office/drawing/2014/main" id="{B2ECFE0D-BC5E-F6F1-01CB-3BCE00B7AD6E}"/>
              </a:ext>
            </a:extLst>
          </p:cNvPr>
          <p:cNvSpPr txBox="1">
            <a:spLocks/>
          </p:cNvSpPr>
          <p:nvPr/>
        </p:nvSpPr>
        <p:spPr>
          <a:xfrm>
            <a:off x="306290" y="3012598"/>
            <a:ext cx="4084996" cy="940423"/>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dirty="0"/>
              <a:t>Number of column is possible bid prices</a:t>
            </a:r>
            <a:br>
              <a:rPr lang="en-US" altLang="ja-JP" dirty="0"/>
            </a:br>
            <a:r>
              <a:rPr lang="en-US" altLang="ja-JP" dirty="0"/>
              <a:t>(</a:t>
            </a:r>
            <a:r>
              <a:rPr lang="en-US" altLang="ja-JP" dirty="0" err="1"/>
              <a:t>price_max</a:t>
            </a:r>
            <a:r>
              <a:rPr lang="en-US" altLang="ja-JP" dirty="0"/>
              <a:t> – </a:t>
            </a:r>
            <a:r>
              <a:rPr lang="en-US" altLang="ja-JP" dirty="0" err="1"/>
              <a:t>price_min</a:t>
            </a:r>
            <a:r>
              <a:rPr lang="en-US" altLang="ja-JP" dirty="0"/>
              <a:t>) +1</a:t>
            </a:r>
            <a:br>
              <a:rPr lang="en-US" altLang="ja-JP" dirty="0"/>
            </a:br>
            <a:r>
              <a:rPr lang="en-US" altLang="ja-JP" dirty="0"/>
              <a:t>= (120 - 10) +1 </a:t>
            </a:r>
            <a:br>
              <a:rPr lang="en-US" altLang="ja-JP" dirty="0"/>
            </a:br>
            <a:r>
              <a:rPr lang="en-US" altLang="ja-JP" dirty="0"/>
              <a:t>= 111</a:t>
            </a:r>
            <a:endParaRPr lang="en-US" dirty="0"/>
          </a:p>
        </p:txBody>
      </p:sp>
      <p:sp>
        <p:nvSpPr>
          <p:cNvPr id="11" name="コンテンツ プレースホルダー 1">
            <a:extLst>
              <a:ext uri="{FF2B5EF4-FFF2-40B4-BE49-F238E27FC236}">
                <a16:creationId xmlns:a16="http://schemas.microsoft.com/office/drawing/2014/main" id="{74AB67F9-8612-213C-35CD-E8C65E0C5136}"/>
              </a:ext>
            </a:extLst>
          </p:cNvPr>
          <p:cNvSpPr txBox="1">
            <a:spLocks/>
          </p:cNvSpPr>
          <p:nvPr/>
        </p:nvSpPr>
        <p:spPr>
          <a:xfrm>
            <a:off x="306290" y="4616583"/>
            <a:ext cx="4084996" cy="832802"/>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PV q table size  = 20 </a:t>
            </a:r>
            <a:r>
              <a:rPr lang="en-US" altLang="ja-JP" dirty="0"/>
              <a:t>× 111</a:t>
            </a:r>
          </a:p>
          <a:p>
            <a:r>
              <a:rPr lang="en-US" dirty="0"/>
              <a:t>	             </a:t>
            </a:r>
          </a:p>
        </p:txBody>
      </p:sp>
      <p:sp>
        <p:nvSpPr>
          <p:cNvPr id="15" name="正方形/長方形 14">
            <a:extLst>
              <a:ext uri="{FF2B5EF4-FFF2-40B4-BE49-F238E27FC236}">
                <a16:creationId xmlns:a16="http://schemas.microsoft.com/office/drawing/2014/main" id="{31D94008-23B0-AF12-CDA7-BC88847E4734}"/>
              </a:ext>
            </a:extLst>
          </p:cNvPr>
          <p:cNvSpPr/>
          <p:nvPr/>
        </p:nvSpPr>
        <p:spPr>
          <a:xfrm>
            <a:off x="195051" y="845815"/>
            <a:ext cx="4353117" cy="4603569"/>
          </a:xfrm>
          <a:prstGeom prst="rect">
            <a:avLst/>
          </a:prstGeom>
          <a:noFill/>
          <a:ln w="12700">
            <a:solidFill>
              <a:schemeClr val="tx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ED9AD84-643A-5CE8-10FE-C31F92A74EBC}"/>
              </a:ext>
            </a:extLst>
          </p:cNvPr>
          <p:cNvSpPr txBox="1"/>
          <p:nvPr/>
        </p:nvSpPr>
        <p:spPr>
          <a:xfrm>
            <a:off x="2249102" y="6321633"/>
            <a:ext cx="4767627" cy="369332"/>
          </a:xfrm>
          <a:prstGeom prst="rect">
            <a:avLst/>
          </a:prstGeom>
          <a:noFill/>
        </p:spPr>
        <p:txBody>
          <a:bodyPr wrap="square" rtlCol="0">
            <a:spAutoFit/>
          </a:bodyPr>
          <a:lstStyle/>
          <a:p>
            <a:r>
              <a:rPr lang="en-US" altLang="ja-JP" dirty="0"/>
              <a:t>Q tables are made for each agent individually.</a:t>
            </a:r>
          </a:p>
        </p:txBody>
      </p:sp>
    </p:spTree>
    <p:extLst>
      <p:ext uri="{BB962C8B-B14F-4D97-AF65-F5344CB8AC3E}">
        <p14:creationId xmlns:p14="http://schemas.microsoft.com/office/powerpoint/2010/main" val="343231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3.3.2 Reward</a:t>
            </a:r>
            <a:endParaRPr lang="en-US"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EB3AEDCC-12A9-25C8-F33A-83C5A4A93488}"/>
                  </a:ext>
                </a:extLst>
              </p:cNvPr>
              <p:cNvSpPr txBox="1"/>
              <p:nvPr/>
            </p:nvSpPr>
            <p:spPr>
              <a:xfrm>
                <a:off x="1784884" y="846845"/>
                <a:ext cx="6336231" cy="1726948"/>
              </a:xfrm>
              <a:prstGeom prst="rect">
                <a:avLst/>
              </a:prstGeom>
              <a:noFill/>
            </p:spPr>
            <p:txBody>
              <a:bodyPr wrap="square">
                <a:spAutoFit/>
              </a:bodyPr>
              <a:lstStyle/>
              <a:p>
                <a:pPr marL="0" marR="0" algn="l">
                  <a:spcBef>
                    <a:spcPts val="0"/>
                  </a:spcBef>
                  <a:spcAft>
                    <a:spcPts val="0"/>
                  </a:spcAft>
                </a:pPr>
                <a14:m>
                  <m:oMathPara xmlns:m="http://schemas.openxmlformats.org/officeDocument/2006/math">
                    <m:oMathParaPr>
                      <m:jc m:val="left"/>
                    </m:oMathParaPr>
                    <m:oMath xmlns:m="http://schemas.openxmlformats.org/officeDocument/2006/math">
                      <m:eqArr>
                        <m:eqArrPr>
                          <m:ctrlPr>
                            <a:rPr lang="en-US" sz="18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eqArrPr>
                        <m:e>
                          <m:sSub>
                            <m:sSub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𝑔</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nary>
                            <m:naryPr>
                              <m:chr m:val="∑"/>
                              <m:limLoc m:val="undOvr"/>
                              <m:supHide m:val="on"/>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naryPr>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≥0</m:t>
                              </m:r>
                            </m:sub>
                            <m:sup/>
                            <m:e>
                              <m:sSub>
                                <m:sSub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𝑟</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Sub>
                              <m:r>
                                <a:rPr lang="en-US" sz="1800" b="0" i="1" kern="100" smtClean="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                                                                                   </m:t>
                              </m:r>
                            </m:e>
                          </m:nary>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d>
                            <m:d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d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1</m:t>
                              </m:r>
                              <m:r>
                                <a:rPr lang="en-US" sz="1800" b="0" i="1" kern="100" smtClean="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0</m:t>
                              </m:r>
                            </m:e>
                          </m:d>
                        </m:e>
                      </m:eqArr>
                    </m:oMath>
                  </m:oMathPara>
                </a14:m>
                <a:endParaRPr lang="en-US" sz="1800" kern="100" dirty="0">
                  <a:effectLst/>
                  <a:latin typeface="Yu Mincho" panose="02020400000000000000" pitchFamily="18" charset="-128"/>
                  <a:ea typeface="Yu Mincho" panose="02020400000000000000" pitchFamily="18" charset="-128"/>
                  <a:cs typeface="Times New Roman" panose="02020603050405020304" pitchFamily="18" charset="0"/>
                </a:endParaRPr>
              </a:p>
              <a:p>
                <a:pPr marL="0" marR="0" algn="l">
                  <a:spcBef>
                    <a:spcPts val="0"/>
                  </a:spcBef>
                  <a:spcAft>
                    <a:spcPts val="0"/>
                  </a:spcAft>
                </a:pPr>
                <a:endParaRPr lang="en-US" sz="1800" kern="100" dirty="0">
                  <a:effectLst/>
                  <a:latin typeface="Yu Mincho" panose="02020400000000000000" pitchFamily="18" charset="-128"/>
                  <a:ea typeface="Yu Mincho" panose="02020400000000000000" pitchFamily="18" charset="-128"/>
                  <a:cs typeface="Times New Roman" panose="02020603050405020304" pitchFamily="18" charset="0"/>
                </a:endParaRPr>
              </a:p>
              <a:p>
                <a:pPr marL="0" marR="0" algn="l">
                  <a:spcBef>
                    <a:spcPts val="0"/>
                  </a:spcBef>
                  <a:spcAft>
                    <a:spcPts val="0"/>
                  </a:spcAft>
                </a:pPr>
                <a14:m>
                  <m:oMathPara xmlns:m="http://schemas.openxmlformats.org/officeDocument/2006/math">
                    <m:oMathParaPr>
                      <m:jc m:val="left"/>
                    </m:oMathParaPr>
                    <m:oMath xmlns:m="http://schemas.openxmlformats.org/officeDocument/2006/math">
                      <m:eqArr>
                        <m:eqArr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eqArrPr>
                        <m:e>
                          <m:sSub>
                            <m:sSub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𝑟</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
                            <m:sSub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𝜅</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Sub>
                          <m:r>
                            <a:rPr lang="ja-JP" sz="1600"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sSup>
                                <m:s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p>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𝑛𝑒𝑡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
                            <m:sSub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𝜇</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Sub>
                          <m:r>
                            <a:rPr lang="ja-JP" sz="1600"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sSup>
                                <m:s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p>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𝑛𝑒𝑡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𝜆</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𝑠𝑒𝑙𝑙</m:t>
                              </m:r>
                            </m:sup>
                          </m:sSubSup>
                          <m:r>
                            <a:rPr lang="ja-JP" sz="1600"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𝑃</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2</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𝑃</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𝜆</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𝑏𝑢𝑦</m:t>
                              </m:r>
                            </m:sup>
                          </m:sSubSup>
                          <m:r>
                            <a:rPr lang="ja-JP" sz="1600"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𝑒</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𝑃</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2</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𝑃</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up>
                          </m:sSubSup>
                        </m:e>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𝐷𝑅</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𝑏𝑎𝑡</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sSubSup>
                            <m:sSubSup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𝐸𝑉</m:t>
                              </m:r>
                            </m:sup>
                          </m:sSubSup>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d>
                            <m:dPr>
                              <m:ctrlPr>
                                <a:rPr lang="en-US" sz="1800" i="1" kern="10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dPr>
                            <m:e>
                              <m:r>
                                <a:rPr lang="en-US" sz="18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1</m:t>
                              </m:r>
                              <m:r>
                                <a:rPr lang="en-US" sz="1800" b="0" i="1" kern="100" smtClean="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1</m:t>
                              </m:r>
                            </m:e>
                          </m:d>
                        </m:e>
                      </m:eqArr>
                    </m:oMath>
                  </m:oMathPara>
                </a14:m>
                <a:endParaRPr lang="en-US" sz="1800" kern="100" dirty="0">
                  <a:effectLst/>
                  <a:latin typeface="Yu Mincho" panose="02020400000000000000" pitchFamily="18" charset="-128"/>
                  <a:ea typeface="Yu Mincho" panose="02020400000000000000" pitchFamily="18" charset="-128"/>
                  <a:cs typeface="Times New Roman" panose="02020603050405020304" pitchFamily="18" charset="0"/>
                </a:endParaRPr>
              </a:p>
            </p:txBody>
          </p:sp>
        </mc:Choice>
        <mc:Fallback xmlns="">
          <p:sp>
            <p:nvSpPr>
              <p:cNvPr id="4" name="テキスト ボックス 3">
                <a:extLst>
                  <a:ext uri="{FF2B5EF4-FFF2-40B4-BE49-F238E27FC236}">
                    <a16:creationId xmlns:a16="http://schemas.microsoft.com/office/drawing/2014/main" id="{EB3AEDCC-12A9-25C8-F33A-83C5A4A93488}"/>
                  </a:ext>
                </a:extLst>
              </p:cNvPr>
              <p:cNvSpPr txBox="1">
                <a:spLocks noRot="1" noChangeAspect="1" noMove="1" noResize="1" noEditPoints="1" noAdjustHandles="1" noChangeArrowheads="1" noChangeShapeType="1" noTextEdit="1"/>
              </p:cNvSpPr>
              <p:nvPr/>
            </p:nvSpPr>
            <p:spPr>
              <a:xfrm>
                <a:off x="1784884" y="846845"/>
                <a:ext cx="6336231" cy="1726948"/>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D71CC7B1-C7FA-B694-1AE3-53829590CE4A}"/>
                  </a:ext>
                </a:extLst>
              </p:cNvPr>
              <p:cNvGraphicFramePr>
                <a:graphicFrameLocks noGrp="1"/>
              </p:cNvGraphicFramePr>
              <p:nvPr>
                <p:extLst>
                  <p:ext uri="{D42A27DB-BD31-4B8C-83A1-F6EECF244321}">
                    <p14:modId xmlns:p14="http://schemas.microsoft.com/office/powerpoint/2010/main" val="3863834703"/>
                  </p:ext>
                </p:extLst>
              </p:nvPr>
            </p:nvGraphicFramePr>
            <p:xfrm>
              <a:off x="1085105" y="2573793"/>
              <a:ext cx="8142511" cy="4290952"/>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pPr/>
                          <a14:m>
                            <m:oMathPara xmlns:m="http://schemas.openxmlformats.org/officeDocument/2006/math">
                              <m:oMathParaPr>
                                <m:jc m:val="left"/>
                              </m:oMathParaPr>
                              <m:oMath xmlns:m="http://schemas.openxmlformats.org/officeDocument/2006/math">
                                <m:sSub>
                                  <m:sSub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𝑟</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Sub>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Reward of agent</a:t>
                          </a:r>
                          <a:r>
                            <a:rPr lang="ja-JP" altLang="en-US" sz="1600" baseline="0" dirty="0"/>
                            <a:t> </a:t>
                          </a:r>
                          <a14:m>
                            <m:oMath xmlns:m="http://schemas.openxmlformats.org/officeDocument/2006/math">
                              <m:r>
                                <a:rPr lang="en-US" altLang="ja-JP" sz="1600" b="0" i="1" smtClean="0">
                                  <a:latin typeface="Cambria Math" panose="02040503050406030204" pitchFamily="18" charset="0"/>
                                </a:rPr>
                                <m:t>𝑛</m:t>
                              </m:r>
                              <m:r>
                                <a:rPr lang="en-US" altLang="ja-JP" sz="1600" b="0" i="0" smtClean="0">
                                  <a:latin typeface="Cambria Math" panose="02040503050406030204" pitchFamily="18" charset="0"/>
                                </a:rPr>
                                <m:t> </m:t>
                              </m:r>
                            </m:oMath>
                          </a14:m>
                          <a:r>
                            <a:rPr lang="en-US" altLang="ja-JP" sz="1600" dirty="0"/>
                            <a:t>at timeslot </a:t>
                          </a:r>
                          <a14:m>
                            <m:oMath xmlns:m="http://schemas.openxmlformats.org/officeDocument/2006/math">
                              <m:r>
                                <a:rPr lang="en-US" altLang="ja-JP" sz="1600" b="0" i="1" smtClean="0">
                                  <a:latin typeface="Cambria Math" panose="02040503050406030204" pitchFamily="18" charset="0"/>
                                </a:rPr>
                                <m:t>𝑡</m:t>
                              </m:r>
                            </m:oMath>
                          </a14:m>
                          <a:endParaRPr lang="en-US" sz="1600" dirty="0"/>
                        </a:p>
                      </a:txBody>
                      <a:tcPr>
                        <a:noFill/>
                      </a:tcPr>
                    </a:tc>
                    <a:extLst>
                      <a:ext uri="{0D108BD9-81ED-4DB2-BD59-A6C34878D82A}">
                        <a16:rowId xmlns:a16="http://schemas.microsoft.com/office/drawing/2014/main" val="1381034736"/>
                      </a:ext>
                    </a:extLst>
                  </a:tr>
                  <a:tr h="536369">
                    <a:tc>
                      <a:txBody>
                        <a:bodyPr/>
                        <a:lstStyle/>
                        <a:p>
                          <a:pPr/>
                          <a14:m>
                            <m:oMathPara xmlns:m="http://schemas.openxmlformats.org/officeDocument/2006/math">
                              <m:oMathParaPr>
                                <m:jc m:val="left"/>
                              </m:oMathParaPr>
                              <m:oMath xmlns:m="http://schemas.openxmlformats.org/officeDocument/2006/math">
                                <m:sSub>
                                  <m:sSub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𝜅</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Sub>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Sell</a:t>
                          </a:r>
                          <a:r>
                            <a:rPr lang="ja-JP" altLang="en-US" sz="1600" dirty="0"/>
                            <a:t> </a:t>
                          </a:r>
                          <a:r>
                            <a:rPr lang="en-US" altLang="ja-JP" sz="1600" dirty="0"/>
                            <a:t>price</a:t>
                          </a:r>
                          <a:r>
                            <a:rPr lang="ja-JP" altLang="en-US" sz="1600" dirty="0"/>
                            <a:t> </a:t>
                          </a:r>
                          <a:r>
                            <a:rPr lang="en-US" altLang="ja-JP" sz="1600" dirty="0"/>
                            <a:t>to</a:t>
                          </a:r>
                          <a:r>
                            <a:rPr lang="ja-JP" altLang="en-US" sz="1600" dirty="0"/>
                            <a:t> </a:t>
                          </a:r>
                          <a:r>
                            <a:rPr lang="en-US" altLang="ja-JP" sz="1600" dirty="0"/>
                            <a:t>grid</a:t>
                          </a:r>
                          <a:endParaRPr lang="en-US" sz="1600" dirty="0"/>
                        </a:p>
                      </a:txBody>
                      <a:tcPr>
                        <a:noFill/>
                      </a:tcPr>
                    </a:tc>
                    <a:extLst>
                      <a:ext uri="{0D108BD9-81ED-4DB2-BD59-A6C34878D82A}">
                        <a16:rowId xmlns:a16="http://schemas.microsoft.com/office/drawing/2014/main" val="585328255"/>
                      </a:ext>
                    </a:extLst>
                  </a:tr>
                  <a:tr h="536369">
                    <a:tc>
                      <a:txBody>
                        <a:bodyPr/>
                        <a:lstStyle/>
                        <a:p>
                          <a:pPr/>
                          <a14:m>
                            <m:oMathPara xmlns:m="http://schemas.openxmlformats.org/officeDocument/2006/math">
                              <m:oMathParaPr>
                                <m:jc m:val="left"/>
                              </m:oMathParaPr>
                              <m:oMath xmlns:m="http://schemas.openxmlformats.org/officeDocument/2006/math">
                                <m:sSub>
                                  <m:sSub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𝜇</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Sub>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Buy</a:t>
                          </a:r>
                          <a:r>
                            <a:rPr lang="ja-JP" altLang="en-US" sz="1600" dirty="0"/>
                            <a:t> </a:t>
                          </a:r>
                          <a:r>
                            <a:rPr lang="en-US" altLang="ja-JP" sz="1600" dirty="0"/>
                            <a:t>price</a:t>
                          </a:r>
                          <a:r>
                            <a:rPr lang="ja-JP" altLang="en-US" sz="1600" dirty="0"/>
                            <a:t> </a:t>
                          </a:r>
                          <a:r>
                            <a:rPr lang="en-US" altLang="ja-JP" sz="1600" dirty="0"/>
                            <a:t>from</a:t>
                          </a:r>
                          <a:r>
                            <a:rPr lang="ja-JP" altLang="en-US" sz="1600" dirty="0"/>
                            <a:t> </a:t>
                          </a:r>
                          <a:r>
                            <a:rPr lang="en-US" altLang="ja-JP" sz="1600" dirty="0"/>
                            <a:t>grid</a:t>
                          </a:r>
                          <a:endParaRPr lang="en-US" sz="1600" dirty="0"/>
                        </a:p>
                      </a:txBody>
                      <a:tcPr>
                        <a:noFill/>
                      </a:tcPr>
                    </a:tc>
                    <a:extLst>
                      <a:ext uri="{0D108BD9-81ED-4DB2-BD59-A6C34878D82A}">
                        <a16:rowId xmlns:a16="http://schemas.microsoft.com/office/drawing/2014/main" val="2567745939"/>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𝜆</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up>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𝑠𝑒𝑙𝑙</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Sell</a:t>
                          </a:r>
                          <a:r>
                            <a:rPr lang="ja-JP" altLang="en-US" sz="1600" dirty="0"/>
                            <a:t> </a:t>
                          </a:r>
                          <a:r>
                            <a:rPr lang="en-US" altLang="ja-JP" sz="1600" dirty="0"/>
                            <a:t>price</a:t>
                          </a:r>
                          <a:r>
                            <a:rPr lang="ja-JP" altLang="en-US" sz="1600" dirty="0"/>
                            <a:t> </a:t>
                          </a:r>
                          <a:r>
                            <a:rPr lang="en-US" altLang="ja-JP" sz="1600" dirty="0"/>
                            <a:t>in</a:t>
                          </a:r>
                          <a:r>
                            <a:rPr lang="ja-JP" altLang="en-US" sz="1600" dirty="0"/>
                            <a:t> </a:t>
                          </a:r>
                          <a:r>
                            <a:rPr lang="en-US" altLang="ja-JP" sz="1600" dirty="0"/>
                            <a:t>microgrid</a:t>
                          </a:r>
                          <a:endParaRPr lang="en-US" sz="1600" dirty="0"/>
                        </a:p>
                      </a:txBody>
                      <a:tcPr>
                        <a:noFill/>
                      </a:tcPr>
                    </a:tc>
                    <a:extLst>
                      <a:ext uri="{0D108BD9-81ED-4DB2-BD59-A6C34878D82A}">
                        <a16:rowId xmlns:a16="http://schemas.microsoft.com/office/drawing/2014/main" val="1172270262"/>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𝜆</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sub>
                                  <m:sup>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𝑏𝑢𝑦</m:t>
                                    </m:r>
                                  </m:sup>
                                </m:sSubSup>
                              </m:oMath>
                            </m:oMathPara>
                          </a14:m>
                          <a:endParaRPr lang="en-US" sz="1600" dirty="0"/>
                        </a:p>
                      </a:txBody>
                      <a:tcPr>
                        <a:noFill/>
                      </a:tcPr>
                    </a:tc>
                    <a:tc>
                      <a:txBody>
                        <a:bodyPr/>
                        <a:lstStyle/>
                        <a:p>
                          <a:r>
                            <a:rPr lang="en-US" sz="1600" dirty="0"/>
                            <a:t>:</a:t>
                          </a:r>
                        </a:p>
                      </a:txBody>
                      <a:tcPr>
                        <a:noFill/>
                      </a:tcPr>
                    </a:tc>
                    <a:tc>
                      <a:txBody>
                        <a:bodyPr/>
                        <a:lstStyle/>
                        <a:p>
                          <a:r>
                            <a:rPr lang="en-US" sz="1600" dirty="0"/>
                            <a:t>Buy</a:t>
                          </a:r>
                          <a:r>
                            <a:rPr lang="ja-JP" altLang="en-US" sz="1600" dirty="0"/>
                            <a:t> </a:t>
                          </a:r>
                          <a:r>
                            <a:rPr lang="en-US" altLang="ja-JP" sz="1600" dirty="0"/>
                            <a:t>price</a:t>
                          </a:r>
                          <a:r>
                            <a:rPr lang="ja-JP" altLang="en-US" sz="1600" dirty="0"/>
                            <a:t> </a:t>
                          </a:r>
                          <a:r>
                            <a:rPr lang="en-US" altLang="ja-JP" sz="1600" dirty="0"/>
                            <a:t>in</a:t>
                          </a:r>
                          <a:r>
                            <a:rPr lang="ja-JP" altLang="en-US" sz="1600" dirty="0"/>
                            <a:t> </a:t>
                          </a:r>
                          <a:r>
                            <a:rPr lang="en-US" altLang="ja-JP" sz="1600" dirty="0"/>
                            <a:t>microgrid</a:t>
                          </a:r>
                          <a:endParaRPr lang="en-US" sz="1600" dirty="0"/>
                        </a:p>
                      </a:txBody>
                      <a:tcPr>
                        <a:noFill/>
                      </a:tcPr>
                    </a:tc>
                    <a:extLst>
                      <a:ext uri="{0D108BD9-81ED-4DB2-BD59-A6C34878D82A}">
                        <a16:rowId xmlns:a16="http://schemas.microsoft.com/office/drawing/2014/main" val="4272089726"/>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𝐷𝑅</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Dissatisfaction value by DR</a:t>
                          </a:r>
                          <a:endParaRPr lang="en-US" sz="1600" dirty="0"/>
                        </a:p>
                      </a:txBody>
                      <a:tcPr>
                        <a:noFill/>
                      </a:tcPr>
                    </a:tc>
                    <a:extLst>
                      <a:ext uri="{0D108BD9-81ED-4DB2-BD59-A6C34878D82A}">
                        <a16:rowId xmlns:a16="http://schemas.microsoft.com/office/drawing/2014/main" val="199082574"/>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𝑏𝑎𝑡</m:t>
                                    </m:r>
                                  </m:sup>
                                </m:sSubSup>
                              </m:oMath>
                            </m:oMathPara>
                          </a14:m>
                          <a:endParaRPr lang="en-US" sz="1600" dirty="0"/>
                        </a:p>
                      </a:txBody>
                      <a:tcPr>
                        <a:noFill/>
                      </a:tcPr>
                    </a:tc>
                    <a:tc>
                      <a:txBody>
                        <a:bodyPr/>
                        <a:lstStyle/>
                        <a:p>
                          <a:r>
                            <a:rPr lang="en-US" sz="1600" dirty="0"/>
                            <a:t>:</a:t>
                          </a:r>
                        </a:p>
                      </a:txBody>
                      <a:tcPr>
                        <a:noFill/>
                      </a:tcPr>
                    </a:tc>
                    <a:tc>
                      <a:txBody>
                        <a:bodyPr/>
                        <a:lstStyle/>
                        <a:p>
                          <a:r>
                            <a:rPr lang="en-US" altLang="ja-JP" sz="1600" dirty="0"/>
                            <a:t>Dissatisfaction value by battery</a:t>
                          </a:r>
                          <a:endParaRPr lang="en-US" sz="1600" dirty="0"/>
                        </a:p>
                      </a:txBody>
                      <a:tcPr>
                        <a:noFill/>
                      </a:tcPr>
                    </a:tc>
                    <a:extLst>
                      <a:ext uri="{0D108BD9-81ED-4DB2-BD59-A6C34878D82A}">
                        <a16:rowId xmlns:a16="http://schemas.microsoft.com/office/drawing/2014/main" val="938949808"/>
                      </a:ext>
                    </a:extLst>
                  </a:tr>
                  <a:tr h="536369">
                    <a:tc>
                      <a:txBody>
                        <a:bodyPr/>
                        <a:lstStyle/>
                        <a:p>
                          <a:pPr/>
                          <a14:m>
                            <m:oMathPara xmlns:m="http://schemas.openxmlformats.org/officeDocument/2006/math">
                              <m:oMathParaPr>
                                <m:jc m:val="left"/>
                              </m:oMathParaPr>
                              <m:oMath xmlns:m="http://schemas.openxmlformats.org/officeDocument/2006/math">
                                <m:sSubSup>
                                  <m:sSubSupPr>
                                    <m:ctrlPr>
                                      <a:rPr lang="en-US" sz="1600" i="1" kern="100" smtClean="0">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ctrlPr>
                                  </m:sSubSupPr>
                                  <m:e>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𝑈</m:t>
                                    </m:r>
                                  </m:e>
                                  <m:sub>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𝑡</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m:t>
                                    </m:r>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𝑛</m:t>
                                    </m:r>
                                  </m:sub>
                                  <m:sup>
                                    <m:r>
                                      <a:rPr lang="en-US" sz="1600" i="1" kern="100">
                                        <a:solidFill>
                                          <a:srgbClr val="000000"/>
                                        </a:solidFill>
                                        <a:effectLst/>
                                        <a:highlight>
                                          <a:srgbClr val="FFFFFF"/>
                                        </a:highlight>
                                        <a:latin typeface="Cambria Math" panose="02040503050406030204" pitchFamily="18" charset="0"/>
                                        <a:ea typeface="Yu Mincho" panose="02020400000000000000" pitchFamily="18" charset="-128"/>
                                        <a:cs typeface="Segoe UI" panose="020B0502040204020203" pitchFamily="34" charset="0"/>
                                      </a:rPr>
                                      <m:t>𝐸𝑉</m:t>
                                    </m:r>
                                  </m:sup>
                                </m:sSubSup>
                              </m:oMath>
                            </m:oMathPara>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Dissatisfaction value by EV</a:t>
                          </a:r>
                          <a:r>
                            <a:rPr lang="ja-JP" altLang="en-US" sz="1600" dirty="0"/>
                            <a:t> </a:t>
                          </a:r>
                          <a:r>
                            <a:rPr lang="en-US" altLang="ja-JP" sz="1600" dirty="0"/>
                            <a:t>battery</a:t>
                          </a:r>
                          <a:endParaRPr lang="en-US" sz="1600" dirty="0"/>
                        </a:p>
                      </a:txBody>
                      <a:tcPr>
                        <a:noFill/>
                      </a:tcPr>
                    </a:tc>
                    <a:extLst>
                      <a:ext uri="{0D108BD9-81ED-4DB2-BD59-A6C34878D82A}">
                        <a16:rowId xmlns:a16="http://schemas.microsoft.com/office/drawing/2014/main" val="1511097134"/>
                      </a:ext>
                    </a:extLst>
                  </a:tr>
                </a:tbl>
              </a:graphicData>
            </a:graphic>
          </p:graphicFrame>
        </mc:Choice>
        <mc:Fallback xmlns="">
          <p:graphicFrame>
            <p:nvGraphicFramePr>
              <p:cNvPr id="6" name="表 5">
                <a:extLst>
                  <a:ext uri="{FF2B5EF4-FFF2-40B4-BE49-F238E27FC236}">
                    <a16:creationId xmlns:a16="http://schemas.microsoft.com/office/drawing/2014/main" id="{D71CC7B1-C7FA-B694-1AE3-53829590CE4A}"/>
                  </a:ext>
                </a:extLst>
              </p:cNvPr>
              <p:cNvGraphicFramePr>
                <a:graphicFrameLocks noGrp="1"/>
              </p:cNvGraphicFramePr>
              <p:nvPr>
                <p:extLst>
                  <p:ext uri="{D42A27DB-BD31-4B8C-83A1-F6EECF244321}">
                    <p14:modId xmlns:p14="http://schemas.microsoft.com/office/powerpoint/2010/main" val="3863834703"/>
                  </p:ext>
                </p:extLst>
              </p:nvPr>
            </p:nvGraphicFramePr>
            <p:xfrm>
              <a:off x="1085105" y="2573793"/>
              <a:ext cx="8142511" cy="4290952"/>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ja-JP"/>
                        </a:p>
                      </a:txBody>
                      <a:tcPr>
                        <a:blipFill>
                          <a:blip r:embed="rId3"/>
                          <a:stretch>
                            <a:fillRect l="-1053" t="-4545" r="-604211" b="-7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endParaRPr lang="ja-JP"/>
                        </a:p>
                      </a:txBody>
                      <a:tcPr>
                        <a:blipFill>
                          <a:blip r:embed="rId3"/>
                          <a:stretch>
                            <a:fillRect l="-21526" t="-4545" r="-182" b="-703409"/>
                          </a:stretch>
                        </a:blipFill>
                      </a:tcPr>
                    </a:tc>
                    <a:extLst>
                      <a:ext uri="{0D108BD9-81ED-4DB2-BD59-A6C34878D82A}">
                        <a16:rowId xmlns:a16="http://schemas.microsoft.com/office/drawing/2014/main" val="1381034736"/>
                      </a:ext>
                    </a:extLst>
                  </a:tr>
                  <a:tr h="536369">
                    <a:tc>
                      <a:txBody>
                        <a:bodyPr/>
                        <a:lstStyle/>
                        <a:p>
                          <a:endParaRPr lang="ja-JP"/>
                        </a:p>
                      </a:txBody>
                      <a:tcPr>
                        <a:blipFill>
                          <a:blip r:embed="rId3"/>
                          <a:stretch>
                            <a:fillRect l="-1053" t="-104545" r="-604211" b="-6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Sell</a:t>
                          </a:r>
                          <a:r>
                            <a:rPr lang="ja-JP" altLang="en-US" sz="1600" dirty="0"/>
                            <a:t> </a:t>
                          </a:r>
                          <a:r>
                            <a:rPr lang="en-US" altLang="ja-JP" sz="1600" dirty="0"/>
                            <a:t>price</a:t>
                          </a:r>
                          <a:r>
                            <a:rPr lang="ja-JP" altLang="en-US" sz="1600" dirty="0"/>
                            <a:t> </a:t>
                          </a:r>
                          <a:r>
                            <a:rPr lang="en-US" altLang="ja-JP" sz="1600" dirty="0"/>
                            <a:t>to</a:t>
                          </a:r>
                          <a:r>
                            <a:rPr lang="ja-JP" altLang="en-US" sz="1600" dirty="0"/>
                            <a:t> </a:t>
                          </a:r>
                          <a:r>
                            <a:rPr lang="en-US" altLang="ja-JP" sz="1600" dirty="0"/>
                            <a:t>grid</a:t>
                          </a:r>
                          <a:endParaRPr lang="en-US" sz="1600" dirty="0"/>
                        </a:p>
                      </a:txBody>
                      <a:tcPr>
                        <a:noFill/>
                      </a:tcPr>
                    </a:tc>
                    <a:extLst>
                      <a:ext uri="{0D108BD9-81ED-4DB2-BD59-A6C34878D82A}">
                        <a16:rowId xmlns:a16="http://schemas.microsoft.com/office/drawing/2014/main" val="585328255"/>
                      </a:ext>
                    </a:extLst>
                  </a:tr>
                  <a:tr h="536369">
                    <a:tc>
                      <a:txBody>
                        <a:bodyPr/>
                        <a:lstStyle/>
                        <a:p>
                          <a:endParaRPr lang="ja-JP"/>
                        </a:p>
                      </a:txBody>
                      <a:tcPr>
                        <a:blipFill>
                          <a:blip r:embed="rId3"/>
                          <a:stretch>
                            <a:fillRect l="-1053" t="-204545" r="-604211" b="-5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Buy</a:t>
                          </a:r>
                          <a:r>
                            <a:rPr lang="ja-JP" altLang="en-US" sz="1600" dirty="0"/>
                            <a:t> </a:t>
                          </a:r>
                          <a:r>
                            <a:rPr lang="en-US" altLang="ja-JP" sz="1600" dirty="0"/>
                            <a:t>price</a:t>
                          </a:r>
                          <a:r>
                            <a:rPr lang="ja-JP" altLang="en-US" sz="1600" dirty="0"/>
                            <a:t> </a:t>
                          </a:r>
                          <a:r>
                            <a:rPr lang="en-US" altLang="ja-JP" sz="1600" dirty="0"/>
                            <a:t>from</a:t>
                          </a:r>
                          <a:r>
                            <a:rPr lang="ja-JP" altLang="en-US" sz="1600" dirty="0"/>
                            <a:t> </a:t>
                          </a:r>
                          <a:r>
                            <a:rPr lang="en-US" altLang="ja-JP" sz="1600" dirty="0"/>
                            <a:t>grid</a:t>
                          </a:r>
                          <a:endParaRPr lang="en-US" sz="1600" dirty="0"/>
                        </a:p>
                      </a:txBody>
                      <a:tcPr>
                        <a:noFill/>
                      </a:tcPr>
                    </a:tc>
                    <a:extLst>
                      <a:ext uri="{0D108BD9-81ED-4DB2-BD59-A6C34878D82A}">
                        <a16:rowId xmlns:a16="http://schemas.microsoft.com/office/drawing/2014/main" val="2567745939"/>
                      </a:ext>
                    </a:extLst>
                  </a:tr>
                  <a:tr h="536369">
                    <a:tc>
                      <a:txBody>
                        <a:bodyPr/>
                        <a:lstStyle/>
                        <a:p>
                          <a:endParaRPr lang="ja-JP"/>
                        </a:p>
                      </a:txBody>
                      <a:tcPr>
                        <a:blipFill>
                          <a:blip r:embed="rId3"/>
                          <a:stretch>
                            <a:fillRect l="-1053" t="-301124" r="-604211" b="-397753"/>
                          </a:stretch>
                        </a:blipFill>
                      </a:tcPr>
                    </a:tc>
                    <a:tc>
                      <a:txBody>
                        <a:bodyPr/>
                        <a:lstStyle/>
                        <a:p>
                          <a:r>
                            <a:rPr lang="en-US" sz="1600" dirty="0"/>
                            <a:t>:</a:t>
                          </a:r>
                        </a:p>
                      </a:txBody>
                      <a:tcPr>
                        <a:noFill/>
                      </a:tcPr>
                    </a:tc>
                    <a:tc>
                      <a:txBody>
                        <a:bodyPr/>
                        <a:lstStyle/>
                        <a:p>
                          <a:r>
                            <a:rPr lang="en-US" sz="1600" dirty="0"/>
                            <a:t>Sell</a:t>
                          </a:r>
                          <a:r>
                            <a:rPr lang="ja-JP" altLang="en-US" sz="1600" dirty="0"/>
                            <a:t> </a:t>
                          </a:r>
                          <a:r>
                            <a:rPr lang="en-US" altLang="ja-JP" sz="1600" dirty="0"/>
                            <a:t>price</a:t>
                          </a:r>
                          <a:r>
                            <a:rPr lang="ja-JP" altLang="en-US" sz="1600" dirty="0"/>
                            <a:t> </a:t>
                          </a:r>
                          <a:r>
                            <a:rPr lang="en-US" altLang="ja-JP" sz="1600" dirty="0"/>
                            <a:t>in</a:t>
                          </a:r>
                          <a:r>
                            <a:rPr lang="ja-JP" altLang="en-US" sz="1600" dirty="0"/>
                            <a:t> </a:t>
                          </a:r>
                          <a:r>
                            <a:rPr lang="en-US" altLang="ja-JP" sz="1600" dirty="0"/>
                            <a:t>microgrid</a:t>
                          </a:r>
                          <a:endParaRPr lang="en-US" sz="1600" dirty="0"/>
                        </a:p>
                      </a:txBody>
                      <a:tcPr>
                        <a:noFill/>
                      </a:tcPr>
                    </a:tc>
                    <a:extLst>
                      <a:ext uri="{0D108BD9-81ED-4DB2-BD59-A6C34878D82A}">
                        <a16:rowId xmlns:a16="http://schemas.microsoft.com/office/drawing/2014/main" val="1172270262"/>
                      </a:ext>
                    </a:extLst>
                  </a:tr>
                  <a:tr h="536369">
                    <a:tc>
                      <a:txBody>
                        <a:bodyPr/>
                        <a:lstStyle/>
                        <a:p>
                          <a:endParaRPr lang="ja-JP"/>
                        </a:p>
                      </a:txBody>
                      <a:tcPr>
                        <a:blipFill>
                          <a:blip r:embed="rId3"/>
                          <a:stretch>
                            <a:fillRect l="-1053" t="-405682" r="-604211" b="-302273"/>
                          </a:stretch>
                        </a:blipFill>
                      </a:tcPr>
                    </a:tc>
                    <a:tc>
                      <a:txBody>
                        <a:bodyPr/>
                        <a:lstStyle/>
                        <a:p>
                          <a:r>
                            <a:rPr lang="en-US" sz="1600" dirty="0"/>
                            <a:t>:</a:t>
                          </a:r>
                        </a:p>
                      </a:txBody>
                      <a:tcPr>
                        <a:noFill/>
                      </a:tcPr>
                    </a:tc>
                    <a:tc>
                      <a:txBody>
                        <a:bodyPr/>
                        <a:lstStyle/>
                        <a:p>
                          <a:r>
                            <a:rPr lang="en-US" sz="1600" dirty="0"/>
                            <a:t>Buy</a:t>
                          </a:r>
                          <a:r>
                            <a:rPr lang="ja-JP" altLang="en-US" sz="1600" dirty="0"/>
                            <a:t> </a:t>
                          </a:r>
                          <a:r>
                            <a:rPr lang="en-US" altLang="ja-JP" sz="1600" dirty="0"/>
                            <a:t>price</a:t>
                          </a:r>
                          <a:r>
                            <a:rPr lang="ja-JP" altLang="en-US" sz="1600" dirty="0"/>
                            <a:t> </a:t>
                          </a:r>
                          <a:r>
                            <a:rPr lang="en-US" altLang="ja-JP" sz="1600" dirty="0"/>
                            <a:t>in</a:t>
                          </a:r>
                          <a:r>
                            <a:rPr lang="ja-JP" altLang="en-US" sz="1600" dirty="0"/>
                            <a:t> </a:t>
                          </a:r>
                          <a:r>
                            <a:rPr lang="en-US" altLang="ja-JP" sz="1600" dirty="0"/>
                            <a:t>microgrid</a:t>
                          </a:r>
                          <a:endParaRPr lang="en-US" sz="1600" dirty="0"/>
                        </a:p>
                      </a:txBody>
                      <a:tcPr>
                        <a:noFill/>
                      </a:tcPr>
                    </a:tc>
                    <a:extLst>
                      <a:ext uri="{0D108BD9-81ED-4DB2-BD59-A6C34878D82A}">
                        <a16:rowId xmlns:a16="http://schemas.microsoft.com/office/drawing/2014/main" val="4272089726"/>
                      </a:ext>
                    </a:extLst>
                  </a:tr>
                  <a:tr h="536369">
                    <a:tc>
                      <a:txBody>
                        <a:bodyPr/>
                        <a:lstStyle/>
                        <a:p>
                          <a:endParaRPr lang="ja-JP"/>
                        </a:p>
                      </a:txBody>
                      <a:tcPr>
                        <a:blipFill>
                          <a:blip r:embed="rId3"/>
                          <a:stretch>
                            <a:fillRect l="-1053" t="-505682" r="-604211" b="-202273"/>
                          </a:stretch>
                        </a:blipFill>
                      </a:tcPr>
                    </a:tc>
                    <a:tc>
                      <a:txBody>
                        <a:bodyPr/>
                        <a:lstStyle/>
                        <a:p>
                          <a:r>
                            <a:rPr lang="en-US" sz="1600" dirty="0"/>
                            <a:t>:</a:t>
                          </a:r>
                        </a:p>
                      </a:txBody>
                      <a:tcPr>
                        <a:noFill/>
                      </a:tcPr>
                    </a:tc>
                    <a:tc>
                      <a:txBody>
                        <a:bodyPr/>
                        <a:lstStyle/>
                        <a:p>
                          <a:r>
                            <a:rPr lang="en-US" altLang="ja-JP" sz="1600" dirty="0"/>
                            <a:t>Dissatisfaction value by DR</a:t>
                          </a:r>
                          <a:endParaRPr lang="en-US" sz="1600" dirty="0"/>
                        </a:p>
                      </a:txBody>
                      <a:tcPr>
                        <a:noFill/>
                      </a:tcPr>
                    </a:tc>
                    <a:extLst>
                      <a:ext uri="{0D108BD9-81ED-4DB2-BD59-A6C34878D82A}">
                        <a16:rowId xmlns:a16="http://schemas.microsoft.com/office/drawing/2014/main" val="199082574"/>
                      </a:ext>
                    </a:extLst>
                  </a:tr>
                  <a:tr h="536369">
                    <a:tc>
                      <a:txBody>
                        <a:bodyPr/>
                        <a:lstStyle/>
                        <a:p>
                          <a:endParaRPr lang="ja-JP"/>
                        </a:p>
                      </a:txBody>
                      <a:tcPr>
                        <a:blipFill>
                          <a:blip r:embed="rId3"/>
                          <a:stretch>
                            <a:fillRect l="-1053" t="-605682" r="-604211" b="-102273"/>
                          </a:stretch>
                        </a:blipFill>
                      </a:tcPr>
                    </a:tc>
                    <a:tc>
                      <a:txBody>
                        <a:bodyPr/>
                        <a:lstStyle/>
                        <a:p>
                          <a:r>
                            <a:rPr lang="en-US" sz="1600" dirty="0"/>
                            <a:t>:</a:t>
                          </a:r>
                        </a:p>
                      </a:txBody>
                      <a:tcPr>
                        <a:noFill/>
                      </a:tcPr>
                    </a:tc>
                    <a:tc>
                      <a:txBody>
                        <a:bodyPr/>
                        <a:lstStyle/>
                        <a:p>
                          <a:r>
                            <a:rPr lang="en-US" altLang="ja-JP" sz="1600" dirty="0"/>
                            <a:t>Dissatisfaction value by battery</a:t>
                          </a:r>
                          <a:endParaRPr lang="en-US" sz="1600" dirty="0"/>
                        </a:p>
                      </a:txBody>
                      <a:tcPr>
                        <a:noFill/>
                      </a:tcPr>
                    </a:tc>
                    <a:extLst>
                      <a:ext uri="{0D108BD9-81ED-4DB2-BD59-A6C34878D82A}">
                        <a16:rowId xmlns:a16="http://schemas.microsoft.com/office/drawing/2014/main" val="938949808"/>
                      </a:ext>
                    </a:extLst>
                  </a:tr>
                  <a:tr h="536369">
                    <a:tc>
                      <a:txBody>
                        <a:bodyPr/>
                        <a:lstStyle/>
                        <a:p>
                          <a:endParaRPr lang="ja-JP"/>
                        </a:p>
                      </a:txBody>
                      <a:tcPr>
                        <a:blipFill>
                          <a:blip r:embed="rId3"/>
                          <a:stretch>
                            <a:fillRect l="-1053" t="-705682" r="-604211" b="-2273"/>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altLang="ja-JP" sz="1600" dirty="0"/>
                            <a:t>Dissatisfaction value by EV</a:t>
                          </a:r>
                          <a:r>
                            <a:rPr lang="ja-JP" altLang="en-US" sz="1600" dirty="0"/>
                            <a:t> </a:t>
                          </a:r>
                          <a:r>
                            <a:rPr lang="en-US" altLang="ja-JP" sz="1600" dirty="0"/>
                            <a:t>battery</a:t>
                          </a:r>
                          <a:endParaRPr lang="en-US" sz="1600" dirty="0"/>
                        </a:p>
                      </a:txBody>
                      <a:tcPr>
                        <a:noFill/>
                      </a:tcPr>
                    </a:tc>
                    <a:extLst>
                      <a:ext uri="{0D108BD9-81ED-4DB2-BD59-A6C34878D82A}">
                        <a16:rowId xmlns:a16="http://schemas.microsoft.com/office/drawing/2014/main" val="1511097134"/>
                      </a:ext>
                    </a:extLst>
                  </a:tr>
                </a:tbl>
              </a:graphicData>
            </a:graphic>
          </p:graphicFrame>
        </mc:Fallback>
      </mc:AlternateContent>
    </p:spTree>
    <p:extLst>
      <p:ext uri="{BB962C8B-B14F-4D97-AF65-F5344CB8AC3E}">
        <p14:creationId xmlns:p14="http://schemas.microsoft.com/office/powerpoint/2010/main" val="295773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076FFE9-C1BB-DE12-AC60-5CC1B7621355}"/>
              </a:ext>
            </a:extLst>
          </p:cNvPr>
          <p:cNvSpPr>
            <a:spLocks noGrp="1"/>
          </p:cNvSpPr>
          <p:nvPr>
            <p:ph sz="quarter" idx="16"/>
          </p:nvPr>
        </p:nvSpPr>
        <p:spPr/>
        <p:txBody>
          <a:bodyPr/>
          <a:lstStyle/>
          <a:p>
            <a:r>
              <a:rPr lang="en-US" altLang="ja-JP" dirty="0"/>
              <a:t>3.3.2 Reward</a:t>
            </a:r>
            <a:endParaRPr lang="en-US" dirty="0"/>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9ABE165-84F1-04E0-ED5C-73BB6D5B6A76}"/>
                  </a:ext>
                </a:extLst>
              </p:cNvPr>
              <p:cNvSpPr txBox="1"/>
              <p:nvPr/>
            </p:nvSpPr>
            <p:spPr>
              <a:xfrm>
                <a:off x="363737" y="976235"/>
                <a:ext cx="6361655"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smtClean="0">
                              <a:solidFill>
                                <a:srgbClr val="836967"/>
                              </a:solidFill>
                              <a:latin typeface="Cambria Math" panose="02040503050406030204" pitchFamily="18" charset="0"/>
                            </a:rPr>
                          </m:ctrlPr>
                        </m:sSubSupPr>
                        <m:e>
                          <m:r>
                            <a:rPr lang="en-US" i="1">
                              <a:latin typeface="Cambria Math" panose="02040503050406030204" pitchFamily="18" charset="0"/>
                            </a:rPr>
                            <m:t>𝑈</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𝐷𝑅</m:t>
                          </m:r>
                        </m:sup>
                      </m:sSubSup>
                      <m:r>
                        <a:rPr lang="en-US" i="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𝛼</m:t>
                              </m:r>
                            </m:e>
                            <m:sub>
                              <m:r>
                                <a:rPr lang="en-US" i="1">
                                  <a:latin typeface="Cambria Math" panose="02040503050406030204" pitchFamily="18" charset="0"/>
                                </a:rPr>
                                <m:t>𝑛</m:t>
                              </m:r>
                            </m:sub>
                          </m:sSub>
                        </m:num>
                        <m:den>
                          <m:r>
                            <a:rPr lang="en-US" i="1">
                              <a:latin typeface="Cambria Math" panose="02040503050406030204" pitchFamily="18" charset="0"/>
                            </a:rPr>
                            <m:t>2</m:t>
                          </m:r>
                        </m:den>
                      </m:f>
                      <m:r>
                        <a:rPr lang="ja-JP" altLang="en-US">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𝐸</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𝑒𝑙𝑎𝑠</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𝑒𝑙𝑎𝑠</m:t>
                                  </m:r>
                                </m:sup>
                              </m:sSubSup>
                            </m:e>
                          </m:d>
                        </m:e>
                        <m:sup>
                          <m:r>
                            <a:rPr lang="en-US" i="1">
                              <a:latin typeface="Cambria Math" panose="02040503050406030204" pitchFamily="18" charset="0"/>
                            </a:rPr>
                            <m:t>2</m:t>
                          </m:r>
                        </m:sup>
                      </m:s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𝑛</m:t>
                          </m:r>
                        </m:sub>
                      </m:sSub>
                      <m:r>
                        <a:rPr lang="ja-JP" altLang="en-US">
                          <a:latin typeface="Cambria Math" panose="02040503050406030204" pitchFamily="18" charset="0"/>
                        </a:rPr>
                        <m:t>･</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𝐸</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𝑒𝑙𝑎𝑠</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𝑒</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𝑒𝑙𝑎𝑠</m:t>
                              </m:r>
                            </m:sup>
                          </m:sSubSup>
                        </m:e>
                      </m:d>
                      <m:r>
                        <a:rPr lang="ja-JP" altLang="en-US" i="1">
                          <a:latin typeface="Cambria Math" panose="02040503050406030204" pitchFamily="18" charset="0"/>
                        </a:rPr>
                        <m:t>　</m:t>
                      </m:r>
                      <m:r>
                        <a:rPr lang="en-US" altLang="ja-JP" b="0" i="1" smtClean="0">
                          <a:latin typeface="Cambria Math" panose="02040503050406030204" pitchFamily="18" charset="0"/>
                        </a:rPr>
                        <m:t>(13)</m:t>
                      </m:r>
                    </m:oMath>
                  </m:oMathPara>
                </a14:m>
                <a:endParaRPr lang="en-US" dirty="0"/>
              </a:p>
            </p:txBody>
          </p:sp>
        </mc:Choice>
        <mc:Fallback xmlns="">
          <p:sp>
            <p:nvSpPr>
              <p:cNvPr id="5" name="テキスト ボックス 4">
                <a:extLst>
                  <a:ext uri="{FF2B5EF4-FFF2-40B4-BE49-F238E27FC236}">
                    <a16:creationId xmlns:a16="http://schemas.microsoft.com/office/drawing/2014/main" id="{69ABE165-84F1-04E0-ED5C-73BB6D5B6A76}"/>
                  </a:ext>
                </a:extLst>
              </p:cNvPr>
              <p:cNvSpPr txBox="1">
                <a:spLocks noRot="1" noChangeAspect="1" noMove="1" noResize="1" noEditPoints="1" noAdjustHandles="1" noChangeArrowheads="1" noChangeShapeType="1" noTextEdit="1"/>
              </p:cNvSpPr>
              <p:nvPr/>
            </p:nvSpPr>
            <p:spPr>
              <a:xfrm>
                <a:off x="363737" y="976235"/>
                <a:ext cx="6361655" cy="56483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BCA68F18-070C-67C3-7A34-68C3AC0D0AB3}"/>
                  </a:ext>
                </a:extLst>
              </p:cNvPr>
              <p:cNvSpPr txBox="1"/>
              <p:nvPr/>
            </p:nvSpPr>
            <p:spPr>
              <a:xfrm>
                <a:off x="-257908" y="1886943"/>
                <a:ext cx="8758052" cy="5648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eqArr>
                        <m:eqArrPr>
                          <m:ctrlPr>
                            <a:rPr lang="en-US" i="1" smtClean="0">
                              <a:solidFill>
                                <a:srgbClr val="836967"/>
                              </a:solidFill>
                              <a:latin typeface="Cambria Math" panose="02040503050406030204" pitchFamily="18" charset="0"/>
                            </a:rPr>
                          </m:ctrlPr>
                        </m:eqArrPr>
                        <m:e>
                          <m:r>
                            <a:rPr lang="en-US">
                              <a:latin typeface="Cambria Math" panose="02040503050406030204" pitchFamily="18" charset="0"/>
                            </a:rPr>
                            <m:t>&amp;</m:t>
                          </m:r>
                        </m:e>
                        <m:e>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𝑈</m:t>
                              </m:r>
                            </m:e>
                            <m:sub>
                              <m:r>
                                <a:rPr lang="en-US" i="1">
                                  <a:latin typeface="Cambria Math" panose="02040503050406030204" pitchFamily="18" charset="0"/>
                                </a:rPr>
                                <m:t>𝑡</m:t>
                              </m:r>
                              <m:r>
                                <a:rPr lang="en-US">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𝑏𝑎𝑡</m:t>
                              </m:r>
                            </m:sup>
                          </m:sSubSup>
                          <m:r>
                            <a:rPr lang="en-US">
                              <a:latin typeface="Cambria Math" panose="02040503050406030204" pitchFamily="18" charset="0"/>
                            </a:rPr>
                            <m:t>=</m:t>
                          </m:r>
                        </m:e>
                      </m:eqArr>
                      <m:f>
                        <m:fPr>
                          <m:ctrlPr>
                            <a:rPr lang="en-US" altLang="ja-JP" i="1">
                              <a:solidFill>
                                <a:srgbClr val="836967"/>
                              </a:solidFill>
                              <a:latin typeface="Cambria Math" panose="02040503050406030204" pitchFamily="18" charset="0"/>
                            </a:rPr>
                          </m:ctrlPr>
                        </m:fPr>
                        <m:num>
                          <m:sSub>
                            <m:sSubPr>
                              <m:ctrlPr>
                                <a:rPr lang="en-US" altLang="ja-JP" i="1">
                                  <a:solidFill>
                                    <a:srgbClr val="836967"/>
                                  </a:solidFill>
                                  <a:latin typeface="Cambria Math" panose="02040503050406030204" pitchFamily="18" charset="0"/>
                                </a:rPr>
                              </m:ctrlPr>
                            </m:sSubPr>
                            <m:e>
                              <m:r>
                                <a:rPr lang="en-US" altLang="ja-JP" i="1">
                                  <a:latin typeface="Cambria Math" panose="02040503050406030204" pitchFamily="18" charset="0"/>
                                </a:rPr>
                                <m:t>𝛾</m:t>
                              </m:r>
                            </m:e>
                            <m:sub>
                              <m:r>
                                <a:rPr lang="en-US" altLang="ja-JP" i="1">
                                  <a:latin typeface="Cambria Math" panose="02040503050406030204" pitchFamily="18" charset="0"/>
                                </a:rPr>
                                <m:t>𝑛</m:t>
                              </m:r>
                            </m:sub>
                          </m:sSub>
                        </m:num>
                        <m:den>
                          <m:r>
                            <a:rPr lang="en-US" altLang="ja-JP">
                              <a:latin typeface="Cambria Math" panose="02040503050406030204" pitchFamily="18" charset="0"/>
                            </a:rPr>
                            <m:t>2</m:t>
                          </m:r>
                        </m:den>
                      </m:f>
                      <m:sSup>
                        <m:sSupPr>
                          <m:ctrlPr>
                            <a:rPr lang="en-US" altLang="ja-JP" i="1">
                              <a:solidFill>
                                <a:srgbClr val="836967"/>
                              </a:solidFill>
                              <a:latin typeface="Cambria Math" panose="02040503050406030204" pitchFamily="18" charset="0"/>
                            </a:rPr>
                          </m:ctrlPr>
                        </m:sSupPr>
                        <m:e>
                          <m:d>
                            <m:dPr>
                              <m:ctrlPr>
                                <a:rPr lang="en-US" altLang="ja-JP" i="1">
                                  <a:solidFill>
                                    <a:srgbClr val="836967"/>
                                  </a:solidFill>
                                  <a:latin typeface="Cambria Math" panose="02040503050406030204" pitchFamily="18" charset="0"/>
                                </a:rPr>
                              </m:ctrlPr>
                            </m:dPr>
                            <m:e>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𝑛</m:t>
                                  </m:r>
                                </m:sub>
                                <m:sup>
                                  <m:r>
                                    <a:rPr lang="en-US" altLang="ja-JP" i="1">
                                      <a:latin typeface="Cambria Math" panose="02040503050406030204" pitchFamily="18" charset="0"/>
                                    </a:rPr>
                                    <m:t>𝑢𝑏</m:t>
                                  </m:r>
                                  <m:r>
                                    <a:rPr lang="en-US" altLang="ja-JP">
                                      <a:latin typeface="Cambria Math" panose="02040503050406030204" pitchFamily="18" charset="0"/>
                                    </a:rPr>
                                    <m:t>,</m:t>
                                  </m:r>
                                  <m:r>
                                    <a:rPr lang="en-US" altLang="ja-JP" i="1">
                                      <a:latin typeface="Cambria Math" panose="02040503050406030204" pitchFamily="18" charset="0"/>
                                    </a:rPr>
                                    <m:t>𝑏𝑎𝑡</m:t>
                                  </m:r>
                                </m:sup>
                              </m:sSubSup>
                              <m:r>
                                <a:rPr lang="en-US" altLang="ja-JP">
                                  <a:latin typeface="Cambria Math" panose="02040503050406030204" pitchFamily="18" charset="0"/>
                                </a:rPr>
                                <m:t>−</m:t>
                              </m:r>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𝑡</m:t>
                                  </m:r>
                                  <m:r>
                                    <a:rPr lang="en-US" altLang="ja-JP">
                                      <a:latin typeface="Cambria Math" panose="02040503050406030204" pitchFamily="18" charset="0"/>
                                    </a:rPr>
                                    <m:t>,</m:t>
                                  </m:r>
                                  <m:r>
                                    <a:rPr lang="en-US" altLang="ja-JP" i="1">
                                      <a:latin typeface="Cambria Math" panose="02040503050406030204" pitchFamily="18" charset="0"/>
                                    </a:rPr>
                                    <m:t>𝑛</m:t>
                                  </m:r>
                                </m:sub>
                                <m:sup>
                                  <m:r>
                                    <a:rPr lang="en-US" altLang="ja-JP" i="1">
                                      <a:latin typeface="Cambria Math" panose="02040503050406030204" pitchFamily="18" charset="0"/>
                                    </a:rPr>
                                    <m:t>𝑏𝑎𝑡</m:t>
                                  </m:r>
                                </m:sup>
                              </m:sSubSup>
                            </m:e>
                          </m:d>
                        </m:e>
                        <m:sup>
                          <m:r>
                            <a:rPr lang="en-US" altLang="ja-JP">
                              <a:latin typeface="Cambria Math" panose="02040503050406030204" pitchFamily="18" charset="0"/>
                            </a:rPr>
                            <m:t>2</m:t>
                          </m:r>
                        </m:sup>
                      </m:sSup>
                      <m:r>
                        <a:rPr lang="en-US" altLang="ja-JP">
                          <a:latin typeface="Cambria Math" panose="02040503050406030204" pitchFamily="18" charset="0"/>
                        </a:rPr>
                        <m:t>+</m:t>
                      </m:r>
                      <m:sSub>
                        <m:sSubPr>
                          <m:ctrlPr>
                            <a:rPr lang="en-US" altLang="ja-JP" i="1">
                              <a:solidFill>
                                <a:srgbClr val="836967"/>
                              </a:solidFill>
                              <a:latin typeface="Cambria Math" panose="02040503050406030204" pitchFamily="18" charset="0"/>
                            </a:rPr>
                          </m:ctrlPr>
                        </m:sSubPr>
                        <m:e>
                          <m:r>
                            <a:rPr lang="en-US" altLang="ja-JP" i="1">
                              <a:latin typeface="Cambria Math" panose="02040503050406030204" pitchFamily="18" charset="0"/>
                            </a:rPr>
                            <m:t>𝜀</m:t>
                          </m:r>
                        </m:e>
                        <m:sub>
                          <m:r>
                            <a:rPr lang="en-US" altLang="ja-JP" i="1">
                              <a:latin typeface="Cambria Math" panose="02040503050406030204" pitchFamily="18" charset="0"/>
                            </a:rPr>
                            <m:t>𝑛</m:t>
                          </m:r>
                        </m:sub>
                      </m:sSub>
                      <m:d>
                        <m:dPr>
                          <m:ctrlPr>
                            <a:rPr lang="en-US" altLang="ja-JP" i="1">
                              <a:solidFill>
                                <a:srgbClr val="836967"/>
                              </a:solidFill>
                              <a:latin typeface="Cambria Math" panose="02040503050406030204" pitchFamily="18" charset="0"/>
                            </a:rPr>
                          </m:ctrlPr>
                        </m:dPr>
                        <m:e>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𝑛</m:t>
                              </m:r>
                            </m:sub>
                            <m:sup>
                              <m:r>
                                <a:rPr lang="en-US" altLang="ja-JP" i="1">
                                  <a:latin typeface="Cambria Math" panose="02040503050406030204" pitchFamily="18" charset="0"/>
                                </a:rPr>
                                <m:t>𝑢𝑏</m:t>
                              </m:r>
                              <m:r>
                                <a:rPr lang="en-US" altLang="ja-JP">
                                  <a:latin typeface="Cambria Math" panose="02040503050406030204" pitchFamily="18" charset="0"/>
                                </a:rPr>
                                <m:t>,</m:t>
                              </m:r>
                              <m:r>
                                <a:rPr lang="en-US" altLang="ja-JP" i="1">
                                  <a:latin typeface="Cambria Math" panose="02040503050406030204" pitchFamily="18" charset="0"/>
                                </a:rPr>
                                <m:t>𝑏𝑎𝑡</m:t>
                              </m:r>
                            </m:sup>
                          </m:sSubSup>
                          <m:r>
                            <a:rPr lang="en-US" altLang="ja-JP">
                              <a:latin typeface="Cambria Math" panose="02040503050406030204" pitchFamily="18" charset="0"/>
                            </a:rPr>
                            <m:t>−</m:t>
                          </m:r>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𝑡</m:t>
                              </m:r>
                              <m:r>
                                <a:rPr lang="en-US" altLang="ja-JP">
                                  <a:latin typeface="Cambria Math" panose="02040503050406030204" pitchFamily="18" charset="0"/>
                                </a:rPr>
                                <m:t>,</m:t>
                              </m:r>
                              <m:r>
                                <a:rPr lang="en-US" altLang="ja-JP" i="1">
                                  <a:latin typeface="Cambria Math" panose="02040503050406030204" pitchFamily="18" charset="0"/>
                                </a:rPr>
                                <m:t>𝑛</m:t>
                              </m:r>
                            </m:sub>
                            <m:sup>
                              <m:r>
                                <a:rPr lang="en-US" altLang="ja-JP" i="1">
                                  <a:latin typeface="Cambria Math" panose="02040503050406030204" pitchFamily="18" charset="0"/>
                                </a:rPr>
                                <m:t>𝑏𝑎𝑡</m:t>
                              </m:r>
                            </m:sup>
                          </m:sSubSup>
                        </m:e>
                      </m:d>
                      <m:r>
                        <a:rPr lang="ja-JP" altLang="en-US" i="1">
                          <a:latin typeface="Cambria Math" panose="02040503050406030204" pitchFamily="18" charset="0"/>
                        </a:rPr>
                        <m:t>　</m:t>
                      </m:r>
                      <m:r>
                        <a:rPr lang="en-US" altLang="ja-JP" i="1">
                          <a:latin typeface="Cambria Math" panose="02040503050406030204" pitchFamily="18" charset="0"/>
                        </a:rPr>
                        <m:t>(1</m:t>
                      </m:r>
                      <m:r>
                        <a:rPr lang="en-US" altLang="ja-JP" b="0" i="1" smtClean="0">
                          <a:latin typeface="Cambria Math" panose="02040503050406030204" pitchFamily="18" charset="0"/>
                        </a:rPr>
                        <m:t>4</m:t>
                      </m:r>
                      <m:r>
                        <a:rPr lang="en-US" altLang="ja-JP" i="1">
                          <a:latin typeface="Cambria Math" panose="02040503050406030204" pitchFamily="18" charset="0"/>
                        </a:rPr>
                        <m:t>)</m:t>
                      </m:r>
                    </m:oMath>
                  </m:oMathPara>
                </a14:m>
                <a:endParaRPr lang="en-US" dirty="0"/>
              </a:p>
            </p:txBody>
          </p:sp>
        </mc:Choice>
        <mc:Fallback xmlns="">
          <p:sp>
            <p:nvSpPr>
              <p:cNvPr id="8" name="テキスト ボックス 7">
                <a:extLst>
                  <a:ext uri="{FF2B5EF4-FFF2-40B4-BE49-F238E27FC236}">
                    <a16:creationId xmlns:a16="http://schemas.microsoft.com/office/drawing/2014/main" id="{BCA68F18-070C-67C3-7A34-68C3AC0D0AB3}"/>
                  </a:ext>
                </a:extLst>
              </p:cNvPr>
              <p:cNvSpPr txBox="1">
                <a:spLocks noRot="1" noChangeAspect="1" noMove="1" noResize="1" noEditPoints="1" noAdjustHandles="1" noChangeArrowheads="1" noChangeShapeType="1" noTextEdit="1"/>
              </p:cNvSpPr>
              <p:nvPr/>
            </p:nvSpPr>
            <p:spPr>
              <a:xfrm>
                <a:off x="-257908" y="1886943"/>
                <a:ext cx="8758052" cy="56483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B5101D91-069E-3341-7C89-35CAEF0129C9}"/>
                  </a:ext>
                </a:extLst>
              </p:cNvPr>
              <p:cNvSpPr txBox="1"/>
              <p:nvPr/>
            </p:nvSpPr>
            <p:spPr>
              <a:xfrm>
                <a:off x="762000" y="2797652"/>
                <a:ext cx="9039101" cy="72962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eqArr>
                        <m:eqArrPr>
                          <m:ctrlPr>
                            <a:rPr lang="en-US" i="1" smtClean="0">
                              <a:solidFill>
                                <a:srgbClr val="836967"/>
                              </a:solidFill>
                              <a:latin typeface="Cambria Math" panose="02040503050406030204" pitchFamily="18" charset="0"/>
                            </a:rPr>
                          </m:ctrlPr>
                        </m:eqArrPr>
                        <m:e>
                          <m:r>
                            <a:rPr lang="en-US">
                              <a:latin typeface="Cambria Math" panose="02040503050406030204" pitchFamily="18" charset="0"/>
                            </a:rPr>
                            <m:t>&amp;</m:t>
                          </m:r>
                          <m:sSubSup>
                            <m:sSubSupPr>
                              <m:ctrlPr>
                                <a:rPr lang="en-US" i="1">
                                  <a:solidFill>
                                    <a:srgbClr val="836967"/>
                                  </a:solidFill>
                                  <a:latin typeface="Cambria Math" panose="02040503050406030204" pitchFamily="18" charset="0"/>
                                </a:rPr>
                              </m:ctrlPr>
                            </m:sSubSupPr>
                            <m:e>
                              <m:r>
                                <a:rPr lang="en-US" i="1">
                                  <a:latin typeface="Cambria Math" panose="02040503050406030204" pitchFamily="18" charset="0"/>
                                </a:rPr>
                                <m:t>𝑈</m:t>
                              </m:r>
                            </m:e>
                            <m:sub>
                              <m:r>
                                <a:rPr lang="en-US" i="1">
                                  <a:latin typeface="Cambria Math" panose="02040503050406030204" pitchFamily="18" charset="0"/>
                                </a:rPr>
                                <m:t>𝑡</m:t>
                              </m:r>
                              <m:r>
                                <a:rPr lang="en-US" i="0">
                                  <a:latin typeface="Cambria Math" panose="02040503050406030204" pitchFamily="18" charset="0"/>
                                </a:rPr>
                                <m:t>,</m:t>
                              </m:r>
                              <m:r>
                                <a:rPr lang="en-US" i="1">
                                  <a:latin typeface="Cambria Math" panose="02040503050406030204" pitchFamily="18" charset="0"/>
                                </a:rPr>
                                <m:t>𝑛</m:t>
                              </m:r>
                            </m:sub>
                            <m:sup>
                              <m:r>
                                <a:rPr lang="en-US" i="1">
                                  <a:latin typeface="Cambria Math" panose="02040503050406030204" pitchFamily="18" charset="0"/>
                                </a:rPr>
                                <m:t>𝐸𝑉</m:t>
                              </m:r>
                            </m:sup>
                          </m:sSubSup>
                          <m:r>
                            <a:rPr lang="en-US" i="0">
                              <a:latin typeface="Cambria Math" panose="02040503050406030204" pitchFamily="18" charset="0"/>
                            </a:rPr>
                            <m:t>=</m:t>
                          </m:r>
                          <m:f>
                            <m:fPr>
                              <m:ctrlPr>
                                <a:rPr lang="en-US" altLang="ja-JP" i="1">
                                  <a:solidFill>
                                    <a:srgbClr val="836967"/>
                                  </a:solidFill>
                                  <a:latin typeface="Cambria Math" panose="02040503050406030204" pitchFamily="18" charset="0"/>
                                </a:rPr>
                              </m:ctrlPr>
                            </m:fPr>
                            <m:num>
                              <m:sSub>
                                <m:sSubPr>
                                  <m:ctrlPr>
                                    <a:rPr lang="en-US" altLang="ja-JP" i="1">
                                      <a:solidFill>
                                        <a:srgbClr val="836967"/>
                                      </a:solidFill>
                                      <a:latin typeface="Cambria Math" panose="02040503050406030204" pitchFamily="18" charset="0"/>
                                    </a:rPr>
                                  </m:ctrlPr>
                                </m:sSubPr>
                                <m:e>
                                  <m:r>
                                    <a:rPr lang="en-US" altLang="ja-JP" i="1">
                                      <a:latin typeface="Cambria Math" panose="02040503050406030204" pitchFamily="18" charset="0"/>
                                    </a:rPr>
                                    <m:t>𝜓</m:t>
                                  </m:r>
                                </m:e>
                                <m:sub>
                                  <m:r>
                                    <a:rPr lang="en-US" altLang="ja-JP" i="1">
                                      <a:latin typeface="Cambria Math" panose="02040503050406030204" pitchFamily="18" charset="0"/>
                                    </a:rPr>
                                    <m:t>𝑛</m:t>
                                  </m:r>
                                </m:sub>
                              </m:sSub>
                            </m:num>
                            <m:den>
                              <m:r>
                                <a:rPr lang="en-US" altLang="ja-JP">
                                  <a:latin typeface="Cambria Math" panose="02040503050406030204" pitchFamily="18" charset="0"/>
                                </a:rPr>
                                <m:t>2</m:t>
                              </m:r>
                            </m:den>
                          </m:f>
                          <m:sSup>
                            <m:sSupPr>
                              <m:ctrlPr>
                                <a:rPr lang="en-US" altLang="ja-JP" i="1">
                                  <a:solidFill>
                                    <a:srgbClr val="836967"/>
                                  </a:solidFill>
                                  <a:latin typeface="Cambria Math" panose="02040503050406030204" pitchFamily="18" charset="0"/>
                                </a:rPr>
                              </m:ctrlPr>
                            </m:sSupPr>
                            <m:e>
                              <m:d>
                                <m:dPr>
                                  <m:ctrlPr>
                                    <a:rPr lang="en-US" altLang="ja-JP" i="1">
                                      <a:solidFill>
                                        <a:srgbClr val="836967"/>
                                      </a:solidFill>
                                      <a:latin typeface="Cambria Math" panose="02040503050406030204" pitchFamily="18" charset="0"/>
                                    </a:rPr>
                                  </m:ctrlPr>
                                </m:dPr>
                                <m:e>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𝑛</m:t>
                                      </m:r>
                                    </m:sub>
                                    <m:sup>
                                      <m:r>
                                        <a:rPr lang="en-US" altLang="ja-JP" i="1">
                                          <a:latin typeface="Cambria Math" panose="02040503050406030204" pitchFamily="18" charset="0"/>
                                        </a:rPr>
                                        <m:t>𝑢𝑏</m:t>
                                      </m:r>
                                      <m:r>
                                        <a:rPr lang="en-US" altLang="ja-JP">
                                          <a:latin typeface="Cambria Math" panose="02040503050406030204" pitchFamily="18" charset="0"/>
                                        </a:rPr>
                                        <m:t>,</m:t>
                                      </m:r>
                                      <m:r>
                                        <a:rPr lang="en-US" altLang="ja-JP" i="1">
                                          <a:latin typeface="Cambria Math" panose="02040503050406030204" pitchFamily="18" charset="0"/>
                                        </a:rPr>
                                        <m:t>𝐸𝑉</m:t>
                                      </m:r>
                                    </m:sup>
                                  </m:sSubSup>
                                  <m:r>
                                    <a:rPr lang="en-US" altLang="ja-JP">
                                      <a:latin typeface="Cambria Math" panose="02040503050406030204" pitchFamily="18" charset="0"/>
                                    </a:rPr>
                                    <m:t>−</m:t>
                                  </m:r>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𝑡</m:t>
                                      </m:r>
                                      <m:r>
                                        <a:rPr lang="en-US" altLang="ja-JP">
                                          <a:latin typeface="Cambria Math" panose="02040503050406030204" pitchFamily="18" charset="0"/>
                                        </a:rPr>
                                        <m:t>,</m:t>
                                      </m:r>
                                      <m:r>
                                        <a:rPr lang="en-US" altLang="ja-JP" i="1">
                                          <a:latin typeface="Cambria Math" panose="02040503050406030204" pitchFamily="18" charset="0"/>
                                        </a:rPr>
                                        <m:t>𝑛</m:t>
                                      </m:r>
                                    </m:sub>
                                    <m:sup>
                                      <m:r>
                                        <a:rPr lang="en-US" altLang="ja-JP" i="1">
                                          <a:latin typeface="Cambria Math" panose="02040503050406030204" pitchFamily="18" charset="0"/>
                                        </a:rPr>
                                        <m:t>𝐸𝑉</m:t>
                                      </m:r>
                                    </m:sup>
                                  </m:sSubSup>
                                </m:e>
                              </m:d>
                            </m:e>
                            <m:sup>
                              <m:r>
                                <a:rPr lang="en-US" altLang="ja-JP">
                                  <a:latin typeface="Cambria Math" panose="02040503050406030204" pitchFamily="18" charset="0"/>
                                </a:rPr>
                                <m:t>2</m:t>
                              </m:r>
                            </m:sup>
                          </m:sSup>
                          <m:r>
                            <a:rPr lang="en-US" altLang="ja-JP">
                              <a:latin typeface="Cambria Math" panose="02040503050406030204" pitchFamily="18" charset="0"/>
                            </a:rPr>
                            <m:t>+</m:t>
                          </m:r>
                          <m:sSub>
                            <m:sSubPr>
                              <m:ctrlPr>
                                <a:rPr lang="en-US" altLang="ja-JP" i="1">
                                  <a:solidFill>
                                    <a:srgbClr val="836967"/>
                                  </a:solidFill>
                                  <a:latin typeface="Cambria Math" panose="02040503050406030204" pitchFamily="18" charset="0"/>
                                </a:rPr>
                              </m:ctrlPr>
                            </m:sSubPr>
                            <m:e>
                              <m:r>
                                <a:rPr lang="en-US" altLang="ja-JP" i="1">
                                  <a:latin typeface="Cambria Math" panose="02040503050406030204" pitchFamily="18" charset="0"/>
                                </a:rPr>
                                <m:t>𝜔</m:t>
                              </m:r>
                            </m:e>
                            <m:sub>
                              <m:r>
                                <a:rPr lang="en-US" altLang="ja-JP" i="1">
                                  <a:latin typeface="Cambria Math" panose="02040503050406030204" pitchFamily="18" charset="0"/>
                                </a:rPr>
                                <m:t>𝑛</m:t>
                              </m:r>
                            </m:sub>
                          </m:sSub>
                          <m:d>
                            <m:dPr>
                              <m:ctrlPr>
                                <a:rPr lang="en-US" altLang="ja-JP" i="1">
                                  <a:solidFill>
                                    <a:srgbClr val="836967"/>
                                  </a:solidFill>
                                  <a:latin typeface="Cambria Math" panose="02040503050406030204" pitchFamily="18" charset="0"/>
                                </a:rPr>
                              </m:ctrlPr>
                            </m:dPr>
                            <m:e>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𝑛</m:t>
                                  </m:r>
                                </m:sub>
                                <m:sup>
                                  <m:r>
                                    <a:rPr lang="en-US" altLang="ja-JP" i="1">
                                      <a:latin typeface="Cambria Math" panose="02040503050406030204" pitchFamily="18" charset="0"/>
                                    </a:rPr>
                                    <m:t>𝑢𝑏</m:t>
                                  </m:r>
                                  <m:r>
                                    <a:rPr lang="en-US" altLang="ja-JP">
                                      <a:latin typeface="Cambria Math" panose="02040503050406030204" pitchFamily="18" charset="0"/>
                                    </a:rPr>
                                    <m:t>,</m:t>
                                  </m:r>
                                  <m:r>
                                    <a:rPr lang="en-US" altLang="ja-JP" i="1">
                                      <a:latin typeface="Cambria Math" panose="02040503050406030204" pitchFamily="18" charset="0"/>
                                    </a:rPr>
                                    <m:t>𝐸𝑉</m:t>
                                  </m:r>
                                </m:sup>
                              </m:sSubSup>
                              <m:r>
                                <a:rPr lang="en-US" altLang="ja-JP">
                                  <a:latin typeface="Cambria Math" panose="02040503050406030204" pitchFamily="18" charset="0"/>
                                </a:rPr>
                                <m:t>−</m:t>
                              </m:r>
                              <m:sSubSup>
                                <m:sSubSupPr>
                                  <m:ctrlPr>
                                    <a:rPr lang="en-US" altLang="ja-JP" i="1">
                                      <a:solidFill>
                                        <a:srgbClr val="836967"/>
                                      </a:solidFill>
                                      <a:latin typeface="Cambria Math" panose="02040503050406030204" pitchFamily="18" charset="0"/>
                                    </a:rPr>
                                  </m:ctrlPr>
                                </m:sSubSupPr>
                                <m:e>
                                  <m:r>
                                    <a:rPr lang="en-US" altLang="ja-JP" i="1">
                                      <a:latin typeface="Cambria Math" panose="02040503050406030204" pitchFamily="18" charset="0"/>
                                    </a:rPr>
                                    <m:t>𝑆𝑂𝐶</m:t>
                                  </m:r>
                                </m:e>
                                <m:sub>
                                  <m:r>
                                    <a:rPr lang="en-US" altLang="ja-JP" i="1">
                                      <a:latin typeface="Cambria Math" panose="02040503050406030204" pitchFamily="18" charset="0"/>
                                    </a:rPr>
                                    <m:t>𝑡</m:t>
                                  </m:r>
                                  <m:r>
                                    <a:rPr lang="en-US" altLang="ja-JP">
                                      <a:latin typeface="Cambria Math" panose="02040503050406030204" pitchFamily="18" charset="0"/>
                                    </a:rPr>
                                    <m:t>,</m:t>
                                  </m:r>
                                  <m:r>
                                    <a:rPr lang="en-US" altLang="ja-JP" i="1">
                                      <a:latin typeface="Cambria Math" panose="02040503050406030204" pitchFamily="18" charset="0"/>
                                    </a:rPr>
                                    <m:t>𝑛</m:t>
                                  </m:r>
                                </m:sub>
                                <m:sup>
                                  <m:r>
                                    <a:rPr lang="en-US" altLang="ja-JP" i="1">
                                      <a:latin typeface="Cambria Math" panose="02040503050406030204" pitchFamily="18" charset="0"/>
                                    </a:rPr>
                                    <m:t>𝐸𝑉</m:t>
                                  </m:r>
                                </m:sup>
                              </m:sSubSup>
                            </m:e>
                          </m:d>
                          <m:r>
                            <a:rPr lang="ja-JP" altLang="en-US" i="1">
                              <a:latin typeface="Cambria Math" panose="02040503050406030204" pitchFamily="18" charset="0"/>
                            </a:rPr>
                            <m:t>　</m:t>
                          </m:r>
                          <m:r>
                            <a:rPr lang="en-US" altLang="ja-JP" b="0" i="1" smtClean="0">
                              <a:latin typeface="Cambria Math" panose="02040503050406030204" pitchFamily="18" charset="0"/>
                            </a:rPr>
                            <m:t>(15)</m:t>
                          </m:r>
                        </m:e>
                        <m:e>
                          <m:r>
                            <a:rPr lang="en-US" i="0">
                              <a:latin typeface="Cambria Math" panose="02040503050406030204" pitchFamily="18" charset="0"/>
                            </a:rPr>
                            <m:t>&amp;</m:t>
                          </m:r>
                        </m:e>
                      </m:eqArr>
                    </m:oMath>
                  </m:oMathPara>
                </a14:m>
                <a:endParaRPr lang="en-US" dirty="0"/>
              </a:p>
            </p:txBody>
          </p:sp>
        </mc:Choice>
        <mc:Fallback xmlns="">
          <p:sp>
            <p:nvSpPr>
              <p:cNvPr id="10" name="テキスト ボックス 9">
                <a:extLst>
                  <a:ext uri="{FF2B5EF4-FFF2-40B4-BE49-F238E27FC236}">
                    <a16:creationId xmlns:a16="http://schemas.microsoft.com/office/drawing/2014/main" id="{B5101D91-069E-3341-7C89-35CAEF0129C9}"/>
                  </a:ext>
                </a:extLst>
              </p:cNvPr>
              <p:cNvSpPr txBox="1">
                <a:spLocks noRot="1" noChangeAspect="1" noMove="1" noResize="1" noEditPoints="1" noAdjustHandles="1" noChangeArrowheads="1" noChangeShapeType="1" noTextEdit="1"/>
              </p:cNvSpPr>
              <p:nvPr/>
            </p:nvSpPr>
            <p:spPr>
              <a:xfrm>
                <a:off x="762000" y="2797652"/>
                <a:ext cx="9039101" cy="729623"/>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graphicFrame>
            <p:nvGraphicFramePr>
              <p:cNvPr id="11" name="表 10">
                <a:extLst>
                  <a:ext uri="{FF2B5EF4-FFF2-40B4-BE49-F238E27FC236}">
                    <a16:creationId xmlns:a16="http://schemas.microsoft.com/office/drawing/2014/main" id="{CBE39B06-F69F-29EC-5F79-EA3B5A9975B9}"/>
                  </a:ext>
                </a:extLst>
              </p:cNvPr>
              <p:cNvGraphicFramePr>
                <a:graphicFrameLocks noGrp="1"/>
              </p:cNvGraphicFramePr>
              <p:nvPr>
                <p:extLst>
                  <p:ext uri="{D42A27DB-BD31-4B8C-83A1-F6EECF244321}">
                    <p14:modId xmlns:p14="http://schemas.microsoft.com/office/powerpoint/2010/main" val="1689000990"/>
                  </p:ext>
                </p:extLst>
              </p:nvPr>
            </p:nvGraphicFramePr>
            <p:xfrm>
              <a:off x="515088" y="3832580"/>
              <a:ext cx="8142511" cy="1609107"/>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𝛼</m:t>
                                  </m:r>
                                </m:e>
                                <m:sub>
                                  <m:r>
                                    <a:rPr lang="en-US" sz="1600" i="1">
                                      <a:latin typeface="Cambria Math" panose="02040503050406030204" pitchFamily="18" charset="0"/>
                                    </a:rPr>
                                    <m:t>𝑛</m:t>
                                  </m:r>
                                </m:sub>
                              </m:sSub>
                            </m:oMath>
                          </a14:m>
                          <a:r>
                            <a:rPr lang="en-US" sz="1600" dirty="0"/>
                            <a:t>, </a:t>
                          </a:r>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𝛽</m:t>
                                  </m:r>
                                </m:e>
                                <m:sub>
                                  <m:r>
                                    <a:rPr lang="en-US" sz="1600" i="1">
                                      <a:latin typeface="Cambria Math" panose="02040503050406030204" pitchFamily="18" charset="0"/>
                                    </a:rPr>
                                    <m:t>𝑛</m:t>
                                  </m:r>
                                </m:sub>
                              </m:sSub>
                            </m:oMath>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DR</a:t>
                          </a:r>
                          <a:endParaRPr lang="en-US" sz="1600" dirty="0"/>
                        </a:p>
                      </a:txBody>
                      <a:tcPr>
                        <a:noFill/>
                      </a:tcPr>
                    </a:tc>
                    <a:extLst>
                      <a:ext uri="{0D108BD9-81ED-4DB2-BD59-A6C34878D82A}">
                        <a16:rowId xmlns:a16="http://schemas.microsoft.com/office/drawing/2014/main" val="585328255"/>
                      </a:ext>
                    </a:extLst>
                  </a:tr>
                  <a:tr h="536369">
                    <a:tc>
                      <a:txBody>
                        <a:bodyPr/>
                        <a:lstStyle/>
                        <a:p>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𝛾</m:t>
                                  </m:r>
                                </m:e>
                                <m:sub>
                                  <m:r>
                                    <a:rPr lang="en-US" sz="1600" i="1">
                                      <a:latin typeface="Cambria Math" panose="02040503050406030204" pitchFamily="18" charset="0"/>
                                    </a:rPr>
                                    <m:t>𝑛</m:t>
                                  </m:r>
                                </m:sub>
                              </m:sSub>
                            </m:oMath>
                          </a14:m>
                          <a:r>
                            <a:rPr lang="en-US" sz="1600" dirty="0"/>
                            <a:t>, </a:t>
                          </a:r>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𝜀</m:t>
                                  </m:r>
                                </m:e>
                                <m:sub>
                                  <m:r>
                                    <a:rPr lang="en-US" sz="1600" i="1">
                                      <a:latin typeface="Cambria Math" panose="02040503050406030204" pitchFamily="18" charset="0"/>
                                    </a:rPr>
                                    <m:t>𝑛</m:t>
                                  </m:r>
                                </m:sub>
                              </m:sSub>
                            </m:oMath>
                          </a14:m>
                          <a:endParaRPr lang="en-US" sz="1600" dirty="0"/>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battery</a:t>
                          </a:r>
                          <a:endParaRPr lang="en-US" sz="1600" dirty="0"/>
                        </a:p>
                      </a:txBody>
                      <a:tcPr>
                        <a:noFill/>
                      </a:tcPr>
                    </a:tc>
                    <a:extLst>
                      <a:ext uri="{0D108BD9-81ED-4DB2-BD59-A6C34878D82A}">
                        <a16:rowId xmlns:a16="http://schemas.microsoft.com/office/drawing/2014/main" val="2567745939"/>
                      </a:ext>
                    </a:extLst>
                  </a:tr>
                  <a:tr h="536369">
                    <a:tc>
                      <a:txBody>
                        <a:bodyPr/>
                        <a:lstStyle/>
                        <a:p>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𝜓</m:t>
                                  </m:r>
                                </m:e>
                                <m:sub>
                                  <m:r>
                                    <a:rPr lang="en-US" sz="1600" i="1">
                                      <a:latin typeface="Cambria Math" panose="02040503050406030204" pitchFamily="18" charset="0"/>
                                    </a:rPr>
                                    <m:t>𝑛</m:t>
                                  </m:r>
                                </m:sub>
                              </m:sSub>
                            </m:oMath>
                          </a14:m>
                          <a:r>
                            <a:rPr lang="en-US" sz="1600" dirty="0"/>
                            <a:t>, </a:t>
                          </a:r>
                          <a14:m>
                            <m:oMath xmlns:m="http://schemas.openxmlformats.org/officeDocument/2006/math">
                              <m:sSub>
                                <m:sSubPr>
                                  <m:ctrlPr>
                                    <a:rPr lang="en-US" sz="1600" i="1" smtClean="0">
                                      <a:solidFill>
                                        <a:srgbClr val="836967"/>
                                      </a:solidFill>
                                      <a:latin typeface="Cambria Math" panose="02040503050406030204" pitchFamily="18" charset="0"/>
                                    </a:rPr>
                                  </m:ctrlPr>
                                </m:sSubPr>
                                <m:e>
                                  <m:r>
                                    <a:rPr lang="en-US" sz="1600" i="1">
                                      <a:latin typeface="Cambria Math" panose="02040503050406030204" pitchFamily="18" charset="0"/>
                                    </a:rPr>
                                    <m:t>𝜔</m:t>
                                  </m:r>
                                </m:e>
                                <m:sub>
                                  <m:r>
                                    <a:rPr lang="en-US" sz="1600" i="1">
                                      <a:latin typeface="Cambria Math" panose="02040503050406030204" pitchFamily="18" charset="0"/>
                                    </a:rPr>
                                    <m:t>𝑛</m:t>
                                  </m:r>
                                </m:sub>
                              </m:sSub>
                            </m:oMath>
                          </a14:m>
                          <a:endParaRPr lang="en-US" sz="1600" dirty="0"/>
                        </a:p>
                      </a:txBody>
                      <a:tcPr>
                        <a:noFill/>
                      </a:tcPr>
                    </a:tc>
                    <a:tc>
                      <a:txBody>
                        <a:bodyPr/>
                        <a:lstStyle/>
                        <a:p>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EV battery</a:t>
                          </a:r>
                          <a:endParaRPr lang="en-US" sz="1600" dirty="0"/>
                        </a:p>
                      </a:txBody>
                      <a:tcPr>
                        <a:noFill/>
                      </a:tcPr>
                    </a:tc>
                    <a:extLst>
                      <a:ext uri="{0D108BD9-81ED-4DB2-BD59-A6C34878D82A}">
                        <a16:rowId xmlns:a16="http://schemas.microsoft.com/office/drawing/2014/main" val="1172270262"/>
                      </a:ext>
                    </a:extLst>
                  </a:tr>
                </a:tbl>
              </a:graphicData>
            </a:graphic>
          </p:graphicFrame>
        </mc:Choice>
        <mc:Fallback xmlns="">
          <p:graphicFrame>
            <p:nvGraphicFramePr>
              <p:cNvPr id="11" name="表 10">
                <a:extLst>
                  <a:ext uri="{FF2B5EF4-FFF2-40B4-BE49-F238E27FC236}">
                    <a16:creationId xmlns:a16="http://schemas.microsoft.com/office/drawing/2014/main" id="{CBE39B06-F69F-29EC-5F79-EA3B5A9975B9}"/>
                  </a:ext>
                </a:extLst>
              </p:cNvPr>
              <p:cNvGraphicFramePr>
                <a:graphicFrameLocks noGrp="1"/>
              </p:cNvGraphicFramePr>
              <p:nvPr>
                <p:extLst>
                  <p:ext uri="{D42A27DB-BD31-4B8C-83A1-F6EECF244321}">
                    <p14:modId xmlns:p14="http://schemas.microsoft.com/office/powerpoint/2010/main" val="1689000990"/>
                  </p:ext>
                </p:extLst>
              </p:nvPr>
            </p:nvGraphicFramePr>
            <p:xfrm>
              <a:off x="515088" y="3832580"/>
              <a:ext cx="8142511" cy="1609107"/>
            </p:xfrm>
            <a:graphic>
              <a:graphicData uri="http://schemas.openxmlformats.org/drawingml/2006/table">
                <a:tbl>
                  <a:tblPr bandRow="1">
                    <a:tableStyleId>{5C22544A-7EE6-4342-B048-85BDC9FD1C3A}</a:tableStyleId>
                  </a:tblPr>
                  <a:tblGrid>
                    <a:gridCol w="1159822">
                      <a:extLst>
                        <a:ext uri="{9D8B030D-6E8A-4147-A177-3AD203B41FA5}">
                          <a16:colId xmlns:a16="http://schemas.microsoft.com/office/drawing/2014/main" val="2815638221"/>
                        </a:ext>
                      </a:extLst>
                    </a:gridCol>
                    <a:gridCol w="273133">
                      <a:extLst>
                        <a:ext uri="{9D8B030D-6E8A-4147-A177-3AD203B41FA5}">
                          <a16:colId xmlns:a16="http://schemas.microsoft.com/office/drawing/2014/main" val="3280904105"/>
                        </a:ext>
                      </a:extLst>
                    </a:gridCol>
                    <a:gridCol w="6709556">
                      <a:extLst>
                        <a:ext uri="{9D8B030D-6E8A-4147-A177-3AD203B41FA5}">
                          <a16:colId xmlns:a16="http://schemas.microsoft.com/office/drawing/2014/main" val="2064586492"/>
                        </a:ext>
                      </a:extLst>
                    </a:gridCol>
                  </a:tblGrid>
                  <a:tr h="536369">
                    <a:tc>
                      <a:txBody>
                        <a:bodyPr/>
                        <a:lstStyle/>
                        <a:p>
                          <a:endParaRPr lang="ja-JP"/>
                        </a:p>
                      </a:txBody>
                      <a:tcPr>
                        <a:blipFill>
                          <a:blip r:embed="rId5"/>
                          <a:stretch>
                            <a:fillRect l="-526" t="-3409" r="-604737" b="-203409"/>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DR</a:t>
                          </a:r>
                          <a:endParaRPr lang="en-US" sz="1600" dirty="0"/>
                        </a:p>
                      </a:txBody>
                      <a:tcPr>
                        <a:noFill/>
                      </a:tcPr>
                    </a:tc>
                    <a:extLst>
                      <a:ext uri="{0D108BD9-81ED-4DB2-BD59-A6C34878D82A}">
                        <a16:rowId xmlns:a16="http://schemas.microsoft.com/office/drawing/2014/main" val="585328255"/>
                      </a:ext>
                    </a:extLst>
                  </a:tr>
                  <a:tr h="536369">
                    <a:tc>
                      <a:txBody>
                        <a:bodyPr/>
                        <a:lstStyle/>
                        <a:p>
                          <a:endParaRPr lang="ja-JP"/>
                        </a:p>
                      </a:txBody>
                      <a:tcPr>
                        <a:blipFill>
                          <a:blip r:embed="rId5"/>
                          <a:stretch>
                            <a:fillRect l="-526" t="-102247" r="-604737" b="-101124"/>
                          </a:stretch>
                        </a:blip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battery</a:t>
                          </a:r>
                          <a:endParaRPr lang="en-US" sz="1600" dirty="0"/>
                        </a:p>
                      </a:txBody>
                      <a:tcPr>
                        <a:noFill/>
                      </a:tcPr>
                    </a:tc>
                    <a:extLst>
                      <a:ext uri="{0D108BD9-81ED-4DB2-BD59-A6C34878D82A}">
                        <a16:rowId xmlns:a16="http://schemas.microsoft.com/office/drawing/2014/main" val="2567745939"/>
                      </a:ext>
                    </a:extLst>
                  </a:tr>
                  <a:tr h="536369">
                    <a:tc>
                      <a:txBody>
                        <a:bodyPr/>
                        <a:lstStyle/>
                        <a:p>
                          <a:endParaRPr lang="ja-JP"/>
                        </a:p>
                      </a:txBody>
                      <a:tcPr>
                        <a:blipFill>
                          <a:blip r:embed="rId5"/>
                          <a:stretch>
                            <a:fillRect l="-526" t="-204545" r="-604737" b="-2273"/>
                          </a:stretch>
                        </a:blipFill>
                      </a:tcPr>
                    </a:tc>
                    <a:tc>
                      <a:txBody>
                        <a:bodyPr/>
                        <a:lstStyle/>
                        <a:p>
                          <a:r>
                            <a:rPr lang="en-US" sz="1600" dirty="0"/>
                            <a:t>:</a:t>
                          </a:r>
                        </a:p>
                      </a:txBody>
                      <a:tcPr>
                        <a:noFill/>
                      </a:tcPr>
                    </a:tc>
                    <a:tc>
                      <a:txBody>
                        <a:bodyPr/>
                        <a:lstStyle/>
                        <a:p>
                          <a:r>
                            <a:rPr lang="en-US" sz="1600" dirty="0"/>
                            <a:t>Coefficients</a:t>
                          </a:r>
                          <a:r>
                            <a:rPr lang="ja-JP" altLang="en-US" sz="1600" dirty="0"/>
                            <a:t> </a:t>
                          </a:r>
                          <a:r>
                            <a:rPr lang="en-US" altLang="ja-JP" sz="1600" dirty="0"/>
                            <a:t>of</a:t>
                          </a:r>
                          <a:r>
                            <a:rPr lang="ja-JP" altLang="en-US" sz="1600" dirty="0"/>
                            <a:t> </a:t>
                          </a:r>
                          <a:r>
                            <a:rPr lang="en-US" altLang="ja-JP" sz="1600" dirty="0"/>
                            <a:t>dissatisfaction</a:t>
                          </a:r>
                          <a:r>
                            <a:rPr lang="ja-JP" altLang="en-US" sz="1600" dirty="0"/>
                            <a:t> </a:t>
                          </a:r>
                          <a:r>
                            <a:rPr lang="en-US" altLang="ja-JP" sz="1600" dirty="0"/>
                            <a:t>value</a:t>
                          </a:r>
                          <a:r>
                            <a:rPr lang="ja-JP" altLang="en-US" sz="1600" dirty="0"/>
                            <a:t> </a:t>
                          </a:r>
                          <a:r>
                            <a:rPr lang="en-US" altLang="ja-JP" sz="1600" dirty="0"/>
                            <a:t>by</a:t>
                          </a:r>
                          <a:r>
                            <a:rPr lang="ja-JP" altLang="en-US" sz="1600" dirty="0"/>
                            <a:t> </a:t>
                          </a:r>
                          <a:r>
                            <a:rPr lang="en-US" altLang="ja-JP" sz="1600" dirty="0"/>
                            <a:t>EV battery</a:t>
                          </a:r>
                          <a:endParaRPr lang="en-US" sz="1600" dirty="0"/>
                        </a:p>
                      </a:txBody>
                      <a:tcPr>
                        <a:noFill/>
                      </a:tcPr>
                    </a:tc>
                    <a:extLst>
                      <a:ext uri="{0D108BD9-81ED-4DB2-BD59-A6C34878D82A}">
                        <a16:rowId xmlns:a16="http://schemas.microsoft.com/office/drawing/2014/main" val="1172270262"/>
                      </a:ext>
                    </a:extLst>
                  </a:tr>
                </a:tbl>
              </a:graphicData>
            </a:graphic>
          </p:graphicFrame>
        </mc:Fallback>
      </mc:AlternateContent>
    </p:spTree>
    <p:extLst>
      <p:ext uri="{BB962C8B-B14F-4D97-AF65-F5344CB8AC3E}">
        <p14:creationId xmlns:p14="http://schemas.microsoft.com/office/powerpoint/2010/main" val="31775373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5D6E800-7B14-D675-84EA-5F6C6CA3F62F}"/>
              </a:ext>
            </a:extLst>
          </p:cNvPr>
          <p:cNvSpPr txBox="1"/>
          <p:nvPr/>
        </p:nvSpPr>
        <p:spPr>
          <a:xfrm>
            <a:off x="2126204" y="2721114"/>
            <a:ext cx="5653592" cy="707886"/>
          </a:xfrm>
          <a:prstGeom prst="rect">
            <a:avLst/>
          </a:prstGeom>
          <a:noFill/>
        </p:spPr>
        <p:txBody>
          <a:bodyPr wrap="square" rtlCol="0">
            <a:spAutoFit/>
          </a:bodyPr>
          <a:lstStyle/>
          <a:p>
            <a:r>
              <a:rPr lang="en-US" altLang="ja-JP" sz="2000" dirty="0"/>
              <a:t>Test simulation (Only exploitation, not update Q)</a:t>
            </a:r>
            <a:br>
              <a:rPr lang="en-US" altLang="ja-JP" sz="2000" dirty="0"/>
            </a:br>
            <a:r>
              <a:rPr lang="en-US" altLang="ja-JP" sz="2000" dirty="0"/>
              <a:t>is conducted every 10 episodes.</a:t>
            </a:r>
          </a:p>
        </p:txBody>
      </p:sp>
    </p:spTree>
    <p:extLst>
      <p:ext uri="{BB962C8B-B14F-4D97-AF65-F5344CB8AC3E}">
        <p14:creationId xmlns:p14="http://schemas.microsoft.com/office/powerpoint/2010/main" val="42787326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p>
          <a:p>
            <a:r>
              <a:rPr kumimoji="1" lang="en-US" altLang="ja-JP" dirty="0"/>
              <a:t>4. Results and analysis</a:t>
            </a:r>
          </a:p>
          <a:p>
            <a:endParaRPr kumimoji="1" lang="en-US" altLang="ja-JP" dirty="0"/>
          </a:p>
          <a:p>
            <a:r>
              <a:rPr kumimoji="1" lang="en-US" altLang="ja-JP" dirty="0">
                <a:solidFill>
                  <a:schemeClr val="tx1">
                    <a:lumMod val="20000"/>
                    <a:lumOff val="80000"/>
                  </a:schemeClr>
                </a:solidFill>
              </a:rPr>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3586380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604E9F8-1B66-BFCE-BA12-4C94E4DB1C30}"/>
              </a:ext>
            </a:extLst>
          </p:cNvPr>
          <p:cNvSpPr>
            <a:spLocks noGrp="1"/>
          </p:cNvSpPr>
          <p:nvPr>
            <p:ph sz="quarter" idx="16"/>
          </p:nvPr>
        </p:nvSpPr>
        <p:spPr/>
        <p:txBody>
          <a:bodyPr/>
          <a:lstStyle/>
          <a:p>
            <a:r>
              <a:rPr kumimoji="1" lang="en-US" altLang="ja-JP" dirty="0"/>
              <a:t>Result</a:t>
            </a:r>
            <a:endParaRPr kumimoji="1" lang="ja-JP" altLang="en-US" dirty="0"/>
          </a:p>
        </p:txBody>
      </p:sp>
      <p:pic>
        <p:nvPicPr>
          <p:cNvPr id="5" name="グラフィックス 4">
            <a:extLst>
              <a:ext uri="{FF2B5EF4-FFF2-40B4-BE49-F238E27FC236}">
                <a16:creationId xmlns:a16="http://schemas.microsoft.com/office/drawing/2014/main" id="{609E04D6-F420-BC2C-1F27-E04582CF16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8423" y="815248"/>
            <a:ext cx="5949153" cy="5949153"/>
          </a:xfrm>
          <a:prstGeom prst="rect">
            <a:avLst/>
          </a:prstGeom>
        </p:spPr>
      </p:pic>
    </p:spTree>
    <p:extLst>
      <p:ext uri="{BB962C8B-B14F-4D97-AF65-F5344CB8AC3E}">
        <p14:creationId xmlns:p14="http://schemas.microsoft.com/office/powerpoint/2010/main" val="112253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1949419-9817-AF43-D493-129C8A5102E2}"/>
              </a:ext>
            </a:extLst>
          </p:cNvPr>
          <p:cNvSpPr>
            <a:spLocks noGrp="1"/>
          </p:cNvSpPr>
          <p:nvPr>
            <p:ph sz="quarter" idx="16"/>
          </p:nvPr>
        </p:nvSpPr>
        <p:spPr/>
        <p:txBody>
          <a:bodyPr/>
          <a:lstStyle/>
          <a:p>
            <a:r>
              <a:rPr kumimoji="1" lang="en-US" altLang="ja-JP" dirty="0"/>
              <a:t>Result</a:t>
            </a:r>
            <a:endParaRPr kumimoji="1" lang="ja-JP" altLang="en-US" dirty="0"/>
          </a:p>
        </p:txBody>
      </p:sp>
      <p:pic>
        <p:nvPicPr>
          <p:cNvPr id="5" name="グラフィックス 4">
            <a:extLst>
              <a:ext uri="{FF2B5EF4-FFF2-40B4-BE49-F238E27FC236}">
                <a16:creationId xmlns:a16="http://schemas.microsoft.com/office/drawing/2014/main" id="{4A4D86E5-716C-4DAC-9ECA-7A689BE5733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1173" y="800748"/>
            <a:ext cx="5963653" cy="5963653"/>
          </a:xfrm>
          <a:prstGeom prst="rect">
            <a:avLst/>
          </a:prstGeom>
        </p:spPr>
      </p:pic>
    </p:spTree>
    <p:extLst>
      <p:ext uri="{BB962C8B-B14F-4D97-AF65-F5344CB8AC3E}">
        <p14:creationId xmlns:p14="http://schemas.microsoft.com/office/powerpoint/2010/main" val="26472872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BA5CE11-CB10-21CD-5362-F31B56A33823}"/>
              </a:ext>
            </a:extLst>
          </p:cNvPr>
          <p:cNvPicPr>
            <a:picLocks noChangeAspect="1"/>
          </p:cNvPicPr>
          <p:nvPr/>
        </p:nvPicPr>
        <p:blipFill>
          <a:blip r:embed="rId2"/>
          <a:srcRect l="1677" t="76228" r="7712"/>
          <a:stretch/>
        </p:blipFill>
        <p:spPr>
          <a:xfrm>
            <a:off x="235289" y="4687248"/>
            <a:ext cx="8640870" cy="1291614"/>
          </a:xfrm>
          <a:prstGeom prst="rect">
            <a:avLst/>
          </a:prstGeom>
        </p:spPr>
      </p:pic>
      <p:pic>
        <p:nvPicPr>
          <p:cNvPr id="12" name="図 11">
            <a:extLst>
              <a:ext uri="{FF2B5EF4-FFF2-40B4-BE49-F238E27FC236}">
                <a16:creationId xmlns:a16="http://schemas.microsoft.com/office/drawing/2014/main" id="{499ADB86-6BA7-CC0C-62BB-DEAEB89A0152}"/>
              </a:ext>
            </a:extLst>
          </p:cNvPr>
          <p:cNvPicPr>
            <a:picLocks noChangeAspect="1"/>
          </p:cNvPicPr>
          <p:nvPr/>
        </p:nvPicPr>
        <p:blipFill>
          <a:blip r:embed="rId2"/>
          <a:srcRect l="1484" t="39177" r="7766" b="40991"/>
          <a:stretch/>
        </p:blipFill>
        <p:spPr>
          <a:xfrm>
            <a:off x="199228" y="3175288"/>
            <a:ext cx="8676931" cy="1277416"/>
          </a:xfrm>
          <a:prstGeom prst="rect">
            <a:avLst/>
          </a:prstGeom>
        </p:spPr>
      </p:pic>
      <p:pic>
        <p:nvPicPr>
          <p:cNvPr id="6" name="図 5">
            <a:extLst>
              <a:ext uri="{FF2B5EF4-FFF2-40B4-BE49-F238E27FC236}">
                <a16:creationId xmlns:a16="http://schemas.microsoft.com/office/drawing/2014/main" id="{BED1124A-95AA-9F4B-4805-94822DDCF936}"/>
              </a:ext>
            </a:extLst>
          </p:cNvPr>
          <p:cNvPicPr>
            <a:picLocks noChangeAspect="1"/>
          </p:cNvPicPr>
          <p:nvPr/>
        </p:nvPicPr>
        <p:blipFill>
          <a:blip r:embed="rId2"/>
          <a:srcRect l="1187" t="1637" r="7500" b="78321"/>
          <a:stretch/>
        </p:blipFill>
        <p:spPr>
          <a:xfrm>
            <a:off x="188260" y="1131203"/>
            <a:ext cx="8730769" cy="1832333"/>
          </a:xfrm>
          <a:prstGeom prst="rect">
            <a:avLst/>
          </a:prstGeom>
        </p:spPr>
      </p:pic>
      <p:sp>
        <p:nvSpPr>
          <p:cNvPr id="3" name="コンテンツ プレースホルダー 2">
            <a:extLst>
              <a:ext uri="{FF2B5EF4-FFF2-40B4-BE49-F238E27FC236}">
                <a16:creationId xmlns:a16="http://schemas.microsoft.com/office/drawing/2014/main" id="{C4B7549D-C746-232D-A74E-ABC29A2721FE}"/>
              </a:ext>
            </a:extLst>
          </p:cNvPr>
          <p:cNvSpPr>
            <a:spLocks noGrp="1"/>
          </p:cNvSpPr>
          <p:nvPr>
            <p:ph sz="quarter" idx="16"/>
          </p:nvPr>
        </p:nvSpPr>
        <p:spPr/>
        <p:txBody>
          <a:bodyPr/>
          <a:lstStyle/>
          <a:p>
            <a:r>
              <a:rPr lang="en-US" dirty="0"/>
              <a:t>Result</a:t>
            </a:r>
          </a:p>
        </p:txBody>
      </p:sp>
      <p:sp>
        <p:nvSpPr>
          <p:cNvPr id="10" name="コンテンツ プレースホルダー 1">
            <a:extLst>
              <a:ext uri="{FF2B5EF4-FFF2-40B4-BE49-F238E27FC236}">
                <a16:creationId xmlns:a16="http://schemas.microsoft.com/office/drawing/2014/main" id="{4B005EF4-ED24-FEA4-8674-58D0037FF5EF}"/>
              </a:ext>
            </a:extLst>
          </p:cNvPr>
          <p:cNvSpPr>
            <a:spLocks noGrp="1"/>
          </p:cNvSpPr>
          <p:nvPr>
            <p:ph sz="quarter" idx="17"/>
          </p:nvPr>
        </p:nvSpPr>
        <p:spPr>
          <a:xfrm rot="16200000">
            <a:off x="-312061" y="3658109"/>
            <a:ext cx="859411" cy="235291"/>
          </a:xfrm>
        </p:spPr>
        <p:txBody>
          <a:bodyPr/>
          <a:lstStyle/>
          <a:p>
            <a:r>
              <a:rPr lang="en-US" sz="1050" dirty="0"/>
              <a:t>Cents/kWh</a:t>
            </a:r>
          </a:p>
        </p:txBody>
      </p:sp>
      <p:sp>
        <p:nvSpPr>
          <p:cNvPr id="11" name="コンテンツ プレースホルダー 1">
            <a:extLst>
              <a:ext uri="{FF2B5EF4-FFF2-40B4-BE49-F238E27FC236}">
                <a16:creationId xmlns:a16="http://schemas.microsoft.com/office/drawing/2014/main" id="{D8303631-0F6E-1465-467E-EDABDD18DB78}"/>
              </a:ext>
            </a:extLst>
          </p:cNvPr>
          <p:cNvSpPr txBox="1">
            <a:spLocks/>
          </p:cNvSpPr>
          <p:nvPr/>
        </p:nvSpPr>
        <p:spPr>
          <a:xfrm rot="16200000">
            <a:off x="-115381" y="1856567"/>
            <a:ext cx="478411" cy="235291"/>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50" dirty="0"/>
              <a:t>kWh</a:t>
            </a:r>
          </a:p>
        </p:txBody>
      </p:sp>
      <p:sp>
        <p:nvSpPr>
          <p:cNvPr id="20" name="コンテンツ プレースホルダー 1">
            <a:extLst>
              <a:ext uri="{FF2B5EF4-FFF2-40B4-BE49-F238E27FC236}">
                <a16:creationId xmlns:a16="http://schemas.microsoft.com/office/drawing/2014/main" id="{920754EC-C0BA-8065-DF67-CF8BA0A54AEB}"/>
              </a:ext>
            </a:extLst>
          </p:cNvPr>
          <p:cNvSpPr txBox="1">
            <a:spLocks/>
          </p:cNvSpPr>
          <p:nvPr/>
        </p:nvSpPr>
        <p:spPr>
          <a:xfrm>
            <a:off x="2465612" y="795330"/>
            <a:ext cx="4974775" cy="326894"/>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altLang="ja-JP" sz="1400" dirty="0"/>
              <a:t>Energy</a:t>
            </a:r>
            <a:r>
              <a:rPr lang="ja-JP" altLang="en-US" sz="1400" dirty="0"/>
              <a:t> </a:t>
            </a:r>
            <a:r>
              <a:rPr lang="en-US" altLang="ja-JP" sz="1400" dirty="0"/>
              <a:t>mix</a:t>
            </a:r>
            <a:r>
              <a:rPr lang="ja-JP" altLang="en-US" sz="1400" dirty="0"/>
              <a:t> </a:t>
            </a:r>
            <a:r>
              <a:rPr lang="en-US" altLang="ja-JP" sz="1400" dirty="0"/>
              <a:t>in</a:t>
            </a:r>
            <a:r>
              <a:rPr lang="ja-JP" altLang="en-US" sz="1400" dirty="0"/>
              <a:t> </a:t>
            </a:r>
            <a:r>
              <a:rPr lang="en-US" altLang="ja-JP" sz="1400" dirty="0"/>
              <a:t>microgrid</a:t>
            </a:r>
            <a:r>
              <a:rPr lang="ja-JP" altLang="en-US" sz="1400" dirty="0"/>
              <a:t> </a:t>
            </a:r>
            <a:r>
              <a:rPr lang="en-US" altLang="ja-JP" sz="1400" dirty="0"/>
              <a:t>(sum) @thread 0 @episode 20 (test)</a:t>
            </a:r>
          </a:p>
        </p:txBody>
      </p:sp>
      <p:pic>
        <p:nvPicPr>
          <p:cNvPr id="9" name="図 8">
            <a:extLst>
              <a:ext uri="{FF2B5EF4-FFF2-40B4-BE49-F238E27FC236}">
                <a16:creationId xmlns:a16="http://schemas.microsoft.com/office/drawing/2014/main" id="{B2F4DD3A-70FB-5E04-2070-9EA2AAF7E20A}"/>
              </a:ext>
            </a:extLst>
          </p:cNvPr>
          <p:cNvPicPr>
            <a:picLocks noChangeAspect="1"/>
          </p:cNvPicPr>
          <p:nvPr/>
        </p:nvPicPr>
        <p:blipFill rotWithShape="1">
          <a:blip r:embed="rId3"/>
          <a:srcRect l="93358" t="16517" b="79784"/>
          <a:stretch/>
        </p:blipFill>
        <p:spPr>
          <a:xfrm>
            <a:off x="8859634" y="4770386"/>
            <a:ext cx="1030842" cy="203729"/>
          </a:xfrm>
          <a:prstGeom prst="rect">
            <a:avLst/>
          </a:prstGeom>
        </p:spPr>
      </p:pic>
      <p:pic>
        <p:nvPicPr>
          <p:cNvPr id="14" name="図 13">
            <a:extLst>
              <a:ext uri="{FF2B5EF4-FFF2-40B4-BE49-F238E27FC236}">
                <a16:creationId xmlns:a16="http://schemas.microsoft.com/office/drawing/2014/main" id="{5E36C307-36F0-F903-0040-E9D9193957FE}"/>
              </a:ext>
            </a:extLst>
          </p:cNvPr>
          <p:cNvPicPr>
            <a:picLocks noChangeAspect="1"/>
          </p:cNvPicPr>
          <p:nvPr/>
        </p:nvPicPr>
        <p:blipFill rotWithShape="1">
          <a:blip r:embed="rId3"/>
          <a:srcRect l="93358" t="12048" r="1677" b="83204"/>
          <a:stretch/>
        </p:blipFill>
        <p:spPr>
          <a:xfrm>
            <a:off x="8876159" y="3133550"/>
            <a:ext cx="947653" cy="321603"/>
          </a:xfrm>
          <a:prstGeom prst="rect">
            <a:avLst/>
          </a:prstGeom>
        </p:spPr>
      </p:pic>
      <p:sp>
        <p:nvSpPr>
          <p:cNvPr id="15" name="コンテンツ プレースホルダー 1">
            <a:extLst>
              <a:ext uri="{FF2B5EF4-FFF2-40B4-BE49-F238E27FC236}">
                <a16:creationId xmlns:a16="http://schemas.microsoft.com/office/drawing/2014/main" id="{1AAB36AE-F2C2-064E-F242-9DD799B4B4DD}"/>
              </a:ext>
            </a:extLst>
          </p:cNvPr>
          <p:cNvSpPr txBox="1">
            <a:spLocks/>
          </p:cNvSpPr>
          <p:nvPr/>
        </p:nvSpPr>
        <p:spPr>
          <a:xfrm rot="16200000">
            <a:off x="-312060" y="4950656"/>
            <a:ext cx="859411" cy="235291"/>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050" dirty="0"/>
              <a:t>SoC [%]</a:t>
            </a:r>
          </a:p>
        </p:txBody>
      </p:sp>
      <p:pic>
        <p:nvPicPr>
          <p:cNvPr id="16" name="図 15">
            <a:extLst>
              <a:ext uri="{FF2B5EF4-FFF2-40B4-BE49-F238E27FC236}">
                <a16:creationId xmlns:a16="http://schemas.microsoft.com/office/drawing/2014/main" id="{C68EF2DE-A68D-B233-25AA-6907364D36A4}"/>
              </a:ext>
            </a:extLst>
          </p:cNvPr>
          <p:cNvPicPr>
            <a:picLocks noChangeAspect="1"/>
          </p:cNvPicPr>
          <p:nvPr/>
        </p:nvPicPr>
        <p:blipFill rotWithShape="1">
          <a:blip r:embed="rId3"/>
          <a:srcRect l="93978" t="20059" r="686" b="61242"/>
          <a:stretch/>
        </p:blipFill>
        <p:spPr>
          <a:xfrm>
            <a:off x="8919029" y="1214050"/>
            <a:ext cx="989712" cy="1231014"/>
          </a:xfrm>
          <a:prstGeom prst="rect">
            <a:avLst/>
          </a:prstGeom>
        </p:spPr>
      </p:pic>
    </p:spTree>
    <p:extLst>
      <p:ext uri="{BB962C8B-B14F-4D97-AF65-F5344CB8AC3E}">
        <p14:creationId xmlns:p14="http://schemas.microsoft.com/office/powerpoint/2010/main" val="33840738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4B7549D-C746-232D-A74E-ABC29A2721FE}"/>
              </a:ext>
            </a:extLst>
          </p:cNvPr>
          <p:cNvSpPr>
            <a:spLocks noGrp="1"/>
          </p:cNvSpPr>
          <p:nvPr>
            <p:ph sz="quarter" idx="16"/>
          </p:nvPr>
        </p:nvSpPr>
        <p:spPr/>
        <p:txBody>
          <a:bodyPr/>
          <a:lstStyle/>
          <a:p>
            <a:r>
              <a:rPr lang="en-US" dirty="0"/>
              <a:t>Result</a:t>
            </a:r>
          </a:p>
        </p:txBody>
      </p:sp>
      <p:pic>
        <p:nvPicPr>
          <p:cNvPr id="5" name="グラフィックス 4">
            <a:extLst>
              <a:ext uri="{FF2B5EF4-FFF2-40B4-BE49-F238E27FC236}">
                <a16:creationId xmlns:a16="http://schemas.microsoft.com/office/drawing/2014/main" id="{E0B0AE8F-EBE7-98DD-19D3-F4869D4D43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0990" y="755212"/>
            <a:ext cx="9144000" cy="3247601"/>
          </a:xfrm>
          <a:prstGeom prst="rect">
            <a:avLst/>
          </a:prstGeom>
        </p:spPr>
      </p:pic>
      <p:pic>
        <p:nvPicPr>
          <p:cNvPr id="4" name="図 3">
            <a:extLst>
              <a:ext uri="{FF2B5EF4-FFF2-40B4-BE49-F238E27FC236}">
                <a16:creationId xmlns:a16="http://schemas.microsoft.com/office/drawing/2014/main" id="{4178B794-7F5E-CEB5-D9C8-EC3387774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049" y="3888048"/>
            <a:ext cx="9054835" cy="2575686"/>
          </a:xfrm>
          <a:prstGeom prst="rect">
            <a:avLst/>
          </a:prstGeom>
        </p:spPr>
      </p:pic>
    </p:spTree>
    <p:extLst>
      <p:ext uri="{BB962C8B-B14F-4D97-AF65-F5344CB8AC3E}">
        <p14:creationId xmlns:p14="http://schemas.microsoft.com/office/powerpoint/2010/main" val="41610112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4B7549D-C746-232D-A74E-ABC29A2721FE}"/>
              </a:ext>
            </a:extLst>
          </p:cNvPr>
          <p:cNvSpPr>
            <a:spLocks noGrp="1"/>
          </p:cNvSpPr>
          <p:nvPr>
            <p:ph sz="quarter" idx="16"/>
          </p:nvPr>
        </p:nvSpPr>
        <p:spPr/>
        <p:txBody>
          <a:bodyPr/>
          <a:lstStyle/>
          <a:p>
            <a:r>
              <a:rPr lang="en-US" dirty="0"/>
              <a:t>Result</a:t>
            </a:r>
          </a:p>
        </p:txBody>
      </p:sp>
      <p:pic>
        <p:nvPicPr>
          <p:cNvPr id="4" name="グラフィックス 3">
            <a:extLst>
              <a:ext uri="{FF2B5EF4-FFF2-40B4-BE49-F238E27FC236}">
                <a16:creationId xmlns:a16="http://schemas.microsoft.com/office/drawing/2014/main" id="{967E2B15-C090-57A2-6420-DDB4FEBFF2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 y="1295708"/>
            <a:ext cx="4953000" cy="3962400"/>
          </a:xfrm>
          <a:prstGeom prst="rect">
            <a:avLst/>
          </a:prstGeom>
        </p:spPr>
      </p:pic>
      <p:pic>
        <p:nvPicPr>
          <p:cNvPr id="6" name="グラフィックス 5">
            <a:extLst>
              <a:ext uri="{FF2B5EF4-FFF2-40B4-BE49-F238E27FC236}">
                <a16:creationId xmlns:a16="http://schemas.microsoft.com/office/drawing/2014/main" id="{A1E8E636-BCBA-73F4-BACC-DBF161BD82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52999" y="1295708"/>
            <a:ext cx="4953000" cy="3962400"/>
          </a:xfrm>
          <a:prstGeom prst="rect">
            <a:avLst/>
          </a:prstGeom>
        </p:spPr>
      </p:pic>
    </p:spTree>
    <p:extLst>
      <p:ext uri="{BB962C8B-B14F-4D97-AF65-F5344CB8AC3E}">
        <p14:creationId xmlns:p14="http://schemas.microsoft.com/office/powerpoint/2010/main" val="1293398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C4B7549D-C746-232D-A74E-ABC29A2721FE}"/>
              </a:ext>
            </a:extLst>
          </p:cNvPr>
          <p:cNvSpPr>
            <a:spLocks noGrp="1"/>
          </p:cNvSpPr>
          <p:nvPr>
            <p:ph sz="quarter" idx="16"/>
          </p:nvPr>
        </p:nvSpPr>
        <p:spPr/>
        <p:txBody>
          <a:bodyPr/>
          <a:lstStyle/>
          <a:p>
            <a:r>
              <a:rPr lang="en-US" dirty="0"/>
              <a:t>Result</a:t>
            </a:r>
          </a:p>
        </p:txBody>
      </p:sp>
      <p:pic>
        <p:nvPicPr>
          <p:cNvPr id="5" name="グラフィックス 4">
            <a:extLst>
              <a:ext uri="{FF2B5EF4-FFF2-40B4-BE49-F238E27FC236}">
                <a16:creationId xmlns:a16="http://schemas.microsoft.com/office/drawing/2014/main" id="{61290F3C-AB8C-96C8-6CEE-FD2CF15B3F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492533"/>
            <a:ext cx="4953000" cy="3962400"/>
          </a:xfrm>
          <a:prstGeom prst="rect">
            <a:avLst/>
          </a:prstGeom>
        </p:spPr>
      </p:pic>
      <p:pic>
        <p:nvPicPr>
          <p:cNvPr id="8" name="グラフィックス 7">
            <a:extLst>
              <a:ext uri="{FF2B5EF4-FFF2-40B4-BE49-F238E27FC236}">
                <a16:creationId xmlns:a16="http://schemas.microsoft.com/office/drawing/2014/main" id="{8A2BDF6A-8C1C-FD62-F8F2-FBF1E2D1E5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53000" y="1492533"/>
            <a:ext cx="4953001" cy="3962401"/>
          </a:xfrm>
          <a:prstGeom prst="rect">
            <a:avLst/>
          </a:prstGeom>
        </p:spPr>
      </p:pic>
    </p:spTree>
    <p:extLst>
      <p:ext uri="{BB962C8B-B14F-4D97-AF65-F5344CB8AC3E}">
        <p14:creationId xmlns:p14="http://schemas.microsoft.com/office/powerpoint/2010/main" val="3845404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1949419-9817-AF43-D493-129C8A5102E2}"/>
              </a:ext>
            </a:extLst>
          </p:cNvPr>
          <p:cNvSpPr>
            <a:spLocks noGrp="1"/>
          </p:cNvSpPr>
          <p:nvPr>
            <p:ph sz="quarter" idx="16"/>
          </p:nvPr>
        </p:nvSpPr>
        <p:spPr/>
        <p:txBody>
          <a:bodyPr/>
          <a:lstStyle/>
          <a:p>
            <a:r>
              <a:rPr kumimoji="1" lang="en-US" altLang="ja-JP" dirty="0"/>
              <a:t>Result</a:t>
            </a:r>
            <a:endParaRPr kumimoji="1" lang="ja-JP" altLang="en-US" dirty="0"/>
          </a:p>
        </p:txBody>
      </p:sp>
      <p:pic>
        <p:nvPicPr>
          <p:cNvPr id="6" name="グラフィックス 5">
            <a:extLst>
              <a:ext uri="{FF2B5EF4-FFF2-40B4-BE49-F238E27FC236}">
                <a16:creationId xmlns:a16="http://schemas.microsoft.com/office/drawing/2014/main" id="{DE228DF8-7F8A-712A-7577-90B19841D2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1447799"/>
            <a:ext cx="4953001" cy="3962401"/>
          </a:xfrm>
          <a:prstGeom prst="rect">
            <a:avLst/>
          </a:prstGeom>
        </p:spPr>
      </p:pic>
      <p:pic>
        <p:nvPicPr>
          <p:cNvPr id="8" name="グラフィックス 7">
            <a:extLst>
              <a:ext uri="{FF2B5EF4-FFF2-40B4-BE49-F238E27FC236}">
                <a16:creationId xmlns:a16="http://schemas.microsoft.com/office/drawing/2014/main" id="{C0717D8F-686D-AF93-283B-00BAB202CC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52998" y="1447799"/>
            <a:ext cx="4953002" cy="3962401"/>
          </a:xfrm>
          <a:prstGeom prst="rect">
            <a:avLst/>
          </a:prstGeom>
        </p:spPr>
      </p:pic>
      <p:sp>
        <p:nvSpPr>
          <p:cNvPr id="9" name="テキスト ボックス 8">
            <a:extLst>
              <a:ext uri="{FF2B5EF4-FFF2-40B4-BE49-F238E27FC236}">
                <a16:creationId xmlns:a16="http://schemas.microsoft.com/office/drawing/2014/main" id="{13665D76-B389-32F0-11D5-BAE3C417BE36}"/>
              </a:ext>
            </a:extLst>
          </p:cNvPr>
          <p:cNvSpPr txBox="1"/>
          <p:nvPr/>
        </p:nvSpPr>
        <p:spPr>
          <a:xfrm>
            <a:off x="5607639" y="6023320"/>
            <a:ext cx="4298361" cy="276999"/>
          </a:xfrm>
          <a:prstGeom prst="rect">
            <a:avLst/>
          </a:prstGeom>
          <a:noFill/>
        </p:spPr>
        <p:txBody>
          <a:bodyPr wrap="square" rtlCol="0">
            <a:spAutoFit/>
          </a:bodyPr>
          <a:lstStyle/>
          <a:p>
            <a:r>
              <a:rPr lang="en-US" altLang="ja-JP" sz="1200" dirty="0"/>
              <a:t>※BTW, the average grid price of electricity is 0.30 [$/kWh]</a:t>
            </a:r>
          </a:p>
        </p:txBody>
      </p:sp>
    </p:spTree>
    <p:extLst>
      <p:ext uri="{BB962C8B-B14F-4D97-AF65-F5344CB8AC3E}">
        <p14:creationId xmlns:p14="http://schemas.microsoft.com/office/powerpoint/2010/main" val="4214770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A69F8014-B60B-E06E-B259-E733D46851C0}"/>
              </a:ext>
            </a:extLst>
          </p:cNvPr>
          <p:cNvSpPr>
            <a:spLocks noGrp="1"/>
          </p:cNvSpPr>
          <p:nvPr>
            <p:ph sz="quarter" idx="17"/>
          </p:nvPr>
        </p:nvSpPr>
        <p:spPr>
          <a:xfrm>
            <a:off x="569340" y="904862"/>
            <a:ext cx="8767320" cy="5686438"/>
          </a:xfrm>
        </p:spPr>
        <p:txBody>
          <a:bodyPr/>
          <a:lstStyle/>
          <a:p>
            <a:r>
              <a:rPr kumimoji="1" lang="en-US" altLang="ja-JP" dirty="0">
                <a:solidFill>
                  <a:schemeClr val="tx1">
                    <a:lumMod val="20000"/>
                    <a:lumOff val="80000"/>
                  </a:schemeClr>
                </a:solidFill>
              </a:rPr>
              <a:t>1. Introduction and background</a:t>
            </a:r>
          </a:p>
          <a:p>
            <a:pPr marL="342900" indent="-342900">
              <a:buAutoNum type="arabicPeriod"/>
            </a:pPr>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2. Objective</a:t>
            </a:r>
          </a:p>
          <a:p>
            <a:endParaRPr kumimoji="1" lang="en-US" altLang="ja-JP" dirty="0">
              <a:solidFill>
                <a:schemeClr val="tx1">
                  <a:lumMod val="20000"/>
                  <a:lumOff val="80000"/>
                </a:schemeClr>
              </a:solidFill>
            </a:endParaRPr>
          </a:p>
          <a:p>
            <a:r>
              <a:rPr kumimoji="1" lang="en-US" altLang="ja-JP" dirty="0">
                <a:solidFill>
                  <a:schemeClr val="tx1">
                    <a:lumMod val="20000"/>
                    <a:lumOff val="80000"/>
                  </a:schemeClr>
                </a:solidFill>
              </a:rPr>
              <a:t>3. Methodology</a:t>
            </a:r>
          </a:p>
          <a:p>
            <a:r>
              <a:rPr kumimoji="1" lang="en-US" altLang="ja-JP" sz="1200" dirty="0">
                <a:solidFill>
                  <a:schemeClr val="tx1">
                    <a:lumMod val="20000"/>
                    <a:lumOff val="80000"/>
                  </a:schemeClr>
                </a:solidFill>
              </a:rPr>
              <a:t>3.1 Step 1: </a:t>
            </a:r>
            <a:r>
              <a:rPr lang="en-US" altLang="ja-JP" sz="1200" dirty="0">
                <a:solidFill>
                  <a:schemeClr val="tx1">
                    <a:lumMod val="20000"/>
                    <a:lumOff val="80000"/>
                  </a:schemeClr>
                </a:solidFill>
              </a:rPr>
              <a:t>Data collection</a:t>
            </a:r>
          </a:p>
          <a:p>
            <a:r>
              <a:rPr kumimoji="1" lang="en-US" altLang="ja-JP" sz="1200" dirty="0">
                <a:solidFill>
                  <a:schemeClr val="tx1">
                    <a:lumMod val="20000"/>
                    <a:lumOff val="80000"/>
                  </a:schemeClr>
                </a:solidFill>
              </a:rPr>
              <a:t>       3.1.1 Data (demand, PV supply, wholesale price)</a:t>
            </a:r>
            <a:endParaRPr kumimoji="1" lang="ja-JP" altLang="en-US" sz="1200" dirty="0">
              <a:solidFill>
                <a:schemeClr val="tx1">
                  <a:lumMod val="20000"/>
                  <a:lumOff val="80000"/>
                </a:schemeClr>
              </a:solidFill>
            </a:endParaRPr>
          </a:p>
          <a:p>
            <a:r>
              <a:rPr kumimoji="1" lang="en-US" altLang="ja-JP" sz="1200" dirty="0">
                <a:solidFill>
                  <a:schemeClr val="tx1">
                    <a:lumMod val="20000"/>
                    <a:lumOff val="80000"/>
                  </a:schemeClr>
                </a:solidFill>
              </a:rPr>
              <a:t>       3.1.2 Car usage survey </a:t>
            </a:r>
            <a:r>
              <a:rPr kumimoji="1" lang="ja-JP" altLang="en-US" sz="1200" dirty="0">
                <a:solidFill>
                  <a:schemeClr val="tx1">
                    <a:lumMod val="20000"/>
                    <a:lumOff val="80000"/>
                  </a:schemeClr>
                </a:solidFill>
              </a:rPr>
              <a:t>→ </a:t>
            </a:r>
            <a:r>
              <a:rPr kumimoji="1" lang="en-US" altLang="ja-JP" sz="1200" dirty="0">
                <a:solidFill>
                  <a:schemeClr val="tx1">
                    <a:lumMod val="20000"/>
                    <a:lumOff val="80000"/>
                  </a:schemeClr>
                </a:solidFill>
              </a:rPr>
              <a:t>Car usage data</a:t>
            </a:r>
          </a:p>
          <a:p>
            <a:r>
              <a:rPr kumimoji="1" lang="en-US" altLang="ja-JP" sz="1200" dirty="0">
                <a:solidFill>
                  <a:schemeClr val="tx1">
                    <a:lumMod val="20000"/>
                    <a:lumOff val="80000"/>
                  </a:schemeClr>
                </a:solidFill>
              </a:rPr>
              <a:t>       3.1.3 Technology parameter (battery charge/discharge speed limit, efficiency)</a:t>
            </a:r>
          </a:p>
          <a:p>
            <a:r>
              <a:rPr kumimoji="1" lang="en-US" altLang="ja-JP" sz="1200" dirty="0">
                <a:solidFill>
                  <a:schemeClr val="tx1">
                    <a:lumMod val="20000"/>
                    <a:lumOff val="80000"/>
                  </a:schemeClr>
                </a:solidFill>
              </a:rPr>
              <a:t>3.2 Step 2: </a:t>
            </a:r>
            <a:r>
              <a:rPr lang="en-US" altLang="ja-JP" sz="1200" dirty="0">
                <a:solidFill>
                  <a:schemeClr val="tx1">
                    <a:lumMod val="20000"/>
                    <a:lumOff val="80000"/>
                  </a:schemeClr>
                </a:solidFill>
              </a:rPr>
              <a:t>Model construction </a:t>
            </a:r>
            <a:r>
              <a:rPr kumimoji="1" lang="en-US" altLang="ja-JP" sz="1200" dirty="0">
                <a:solidFill>
                  <a:schemeClr val="tx1">
                    <a:lumMod val="20000"/>
                    <a:lumOff val="80000"/>
                  </a:schemeClr>
                </a:solidFill>
              </a:rPr>
              <a:t>	</a:t>
            </a:r>
          </a:p>
          <a:p>
            <a:r>
              <a:rPr kumimoji="1" lang="en-US" altLang="ja-JP" sz="1200" dirty="0">
                <a:solidFill>
                  <a:schemeClr val="tx1">
                    <a:lumMod val="20000"/>
                    <a:lumOff val="80000"/>
                  </a:schemeClr>
                </a:solidFill>
              </a:rPr>
              <a:t>       3.2.1 Generate agent</a:t>
            </a:r>
          </a:p>
          <a:p>
            <a:r>
              <a:rPr kumimoji="1" lang="en-US" altLang="ja-JP" sz="1200" dirty="0">
                <a:solidFill>
                  <a:schemeClr val="tx1">
                    <a:lumMod val="20000"/>
                    <a:lumOff val="80000"/>
                  </a:schemeClr>
                </a:solidFill>
              </a:rPr>
              <a:t>       3.2.2 Design P2P energy trading model</a:t>
            </a:r>
          </a:p>
          <a:p>
            <a:r>
              <a:rPr kumimoji="1" lang="en-US" altLang="ja-JP" sz="1200" dirty="0">
                <a:solidFill>
                  <a:schemeClr val="tx1">
                    <a:lumMod val="20000"/>
                    <a:lumOff val="80000"/>
                  </a:schemeClr>
                </a:solidFill>
              </a:rPr>
              <a:t>3.3 Step 3: Train agents</a:t>
            </a:r>
          </a:p>
          <a:p>
            <a:r>
              <a:rPr kumimoji="1" lang="en-US" altLang="ja-JP" sz="1200" dirty="0">
                <a:solidFill>
                  <a:schemeClr val="tx1">
                    <a:lumMod val="20000"/>
                    <a:lumOff val="80000"/>
                  </a:schemeClr>
                </a:solidFill>
              </a:rPr>
              <a:t>       3.3.1 Q table</a:t>
            </a:r>
          </a:p>
          <a:p>
            <a:r>
              <a:rPr kumimoji="1" lang="en-US" altLang="ja-JP" sz="1200" dirty="0">
                <a:solidFill>
                  <a:schemeClr val="tx1">
                    <a:lumMod val="20000"/>
                    <a:lumOff val="80000"/>
                  </a:schemeClr>
                </a:solidFill>
              </a:rPr>
              <a:t>       3.3.2 Reward</a:t>
            </a:r>
          </a:p>
          <a:p>
            <a:endParaRPr kumimoji="1" lang="en-US" altLang="ja-JP" sz="1200" dirty="0">
              <a:solidFill>
                <a:schemeClr val="tx1">
                  <a:lumMod val="20000"/>
                  <a:lumOff val="80000"/>
                </a:schemeClr>
              </a:solidFill>
            </a:endParaRPr>
          </a:p>
          <a:p>
            <a:r>
              <a:rPr kumimoji="1" lang="en-US" altLang="ja-JP" dirty="0">
                <a:solidFill>
                  <a:schemeClr val="tx1">
                    <a:lumMod val="20000"/>
                    <a:lumOff val="80000"/>
                  </a:schemeClr>
                </a:solidFill>
              </a:rPr>
              <a:t>4. Results and analysis</a:t>
            </a:r>
          </a:p>
          <a:p>
            <a:endParaRPr kumimoji="1" lang="en-US" altLang="ja-JP" dirty="0"/>
          </a:p>
          <a:p>
            <a:r>
              <a:rPr kumimoji="1" lang="en-US" altLang="ja-JP" dirty="0"/>
              <a:t>5. Summary and future work</a:t>
            </a:r>
          </a:p>
          <a:p>
            <a:endParaRPr kumimoji="1" lang="ja-JP" altLang="en-US" dirty="0"/>
          </a:p>
        </p:txBody>
      </p:sp>
      <p:sp>
        <p:nvSpPr>
          <p:cNvPr id="3" name="コンテンツ プレースホルダー 2">
            <a:extLst>
              <a:ext uri="{FF2B5EF4-FFF2-40B4-BE49-F238E27FC236}">
                <a16:creationId xmlns:a16="http://schemas.microsoft.com/office/drawing/2014/main" id="{8144E4AA-4DE2-6001-26C0-0276D6F2A954}"/>
              </a:ext>
            </a:extLst>
          </p:cNvPr>
          <p:cNvSpPr>
            <a:spLocks noGrp="1"/>
          </p:cNvSpPr>
          <p:nvPr>
            <p:ph sz="quarter" idx="16"/>
          </p:nvPr>
        </p:nvSpPr>
        <p:spPr/>
        <p:txBody>
          <a:bodyPr/>
          <a:lstStyle/>
          <a:p>
            <a:r>
              <a:rPr kumimoji="1" lang="en-US" altLang="ja-JP" dirty="0"/>
              <a:t>CONTENT</a:t>
            </a:r>
            <a:endParaRPr kumimoji="1" lang="ja-JP" altLang="en-US" dirty="0"/>
          </a:p>
        </p:txBody>
      </p:sp>
    </p:spTree>
    <p:extLst>
      <p:ext uri="{BB962C8B-B14F-4D97-AF65-F5344CB8AC3E}">
        <p14:creationId xmlns:p14="http://schemas.microsoft.com/office/powerpoint/2010/main" val="2320557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EFE4E9CA-AEFA-7701-BB4A-0C9A424804B1}"/>
              </a:ext>
            </a:extLst>
          </p:cNvPr>
          <p:cNvSpPr>
            <a:spLocks noGrp="1"/>
          </p:cNvSpPr>
          <p:nvPr>
            <p:ph sz="quarter" idx="17"/>
          </p:nvPr>
        </p:nvSpPr>
        <p:spPr/>
        <p:txBody>
          <a:bodyPr/>
          <a:lstStyle/>
          <a:p>
            <a:r>
              <a:rPr kumimoji="1" lang="en-US" altLang="ja-JP" sz="1600" dirty="0"/>
              <a:t>An autonomous decentralized energy system by using bidding is proposed.</a:t>
            </a:r>
          </a:p>
          <a:p>
            <a:endParaRPr kumimoji="1" lang="en-US" altLang="ja-JP" sz="1600" dirty="0"/>
          </a:p>
          <a:p>
            <a:r>
              <a:rPr kumimoji="1" lang="en-US" altLang="ja-JP" dirty="0"/>
              <a:t>Existence of PV panel may increase the volatility of unit cost of electricity.</a:t>
            </a:r>
            <a:endParaRPr kumimoji="1" lang="en-US" altLang="ja-JP" sz="1600" dirty="0"/>
          </a:p>
          <a:p>
            <a:r>
              <a:rPr kumimoji="1" lang="en-US" altLang="ja-JP" dirty="0"/>
              <a:t>Existence of Battery / EV may bring positive effect when they combined with DR.</a:t>
            </a:r>
          </a:p>
          <a:p>
            <a:r>
              <a:rPr kumimoji="1" lang="en-US" altLang="ja-JP" dirty="0"/>
              <a:t>In the presented simulation, the best facility combination is install only PV.</a:t>
            </a:r>
          </a:p>
          <a:p>
            <a:endParaRPr kumimoji="1" lang="en-US" altLang="ja-JP" dirty="0"/>
          </a:p>
          <a:p>
            <a:r>
              <a:rPr kumimoji="1" lang="en-US" altLang="ja-JP" sz="1600" dirty="0"/>
              <a:t>More agents (number of environment) may be required to smoothing out randomness.</a:t>
            </a:r>
          </a:p>
          <a:p>
            <a:endParaRPr kumimoji="1" lang="en-US" altLang="ja-JP" sz="1600" dirty="0"/>
          </a:p>
          <a:p>
            <a:endParaRPr kumimoji="1" lang="en-US" altLang="ja-JP" dirty="0"/>
          </a:p>
          <a:p>
            <a:endParaRPr kumimoji="1" lang="en-US" altLang="ja-JP" sz="1600" dirty="0"/>
          </a:p>
          <a:p>
            <a:endParaRPr kumimoji="1" lang="en-US" altLang="ja-JP" sz="1600" dirty="0"/>
          </a:p>
          <a:p>
            <a:r>
              <a:rPr kumimoji="1" lang="en-US" altLang="ja-JP" dirty="0"/>
              <a:t>Future</a:t>
            </a:r>
            <a:r>
              <a:rPr kumimoji="1" lang="en-US" altLang="ja-JP" sz="1600" dirty="0"/>
              <a:t> tasks t</a:t>
            </a:r>
            <a:r>
              <a:rPr kumimoji="1" lang="en-US" altLang="ja-JP" dirty="0"/>
              <a:t>o do:</a:t>
            </a:r>
            <a:endParaRPr kumimoji="1" lang="en-US" altLang="ja-JP" sz="1600" dirty="0"/>
          </a:p>
          <a:p>
            <a:r>
              <a:rPr kumimoji="1" lang="en-US" altLang="ja-JP" sz="1600" dirty="0"/>
              <a:t>	Construct </a:t>
            </a:r>
            <a:r>
              <a:rPr kumimoji="1" lang="en-US" altLang="ja-JP" dirty="0"/>
              <a:t>the other model: </a:t>
            </a:r>
            <a:r>
              <a:rPr kumimoji="1" lang="en-US" altLang="ja-JP" sz="1600" dirty="0"/>
              <a:t>Prosumers without P2P energy trading.</a:t>
            </a:r>
          </a:p>
          <a:p>
            <a:r>
              <a:rPr kumimoji="1" lang="en-US" altLang="ja-JP" dirty="0"/>
              <a:t>	An assessment of impact against grid is required.</a:t>
            </a:r>
            <a:endParaRPr kumimoji="1" lang="en-US" altLang="ja-JP" sz="1600" dirty="0"/>
          </a:p>
          <a:p>
            <a:endParaRPr kumimoji="1" lang="ja-JP" altLang="en-US" dirty="0"/>
          </a:p>
        </p:txBody>
      </p:sp>
      <p:sp>
        <p:nvSpPr>
          <p:cNvPr id="3" name="コンテンツ プレースホルダー 2">
            <a:extLst>
              <a:ext uri="{FF2B5EF4-FFF2-40B4-BE49-F238E27FC236}">
                <a16:creationId xmlns:a16="http://schemas.microsoft.com/office/drawing/2014/main" id="{0EF6C6E4-6D25-5300-1A81-4E308DB2682F}"/>
              </a:ext>
            </a:extLst>
          </p:cNvPr>
          <p:cNvSpPr>
            <a:spLocks noGrp="1"/>
          </p:cNvSpPr>
          <p:nvPr>
            <p:ph sz="quarter" idx="16"/>
          </p:nvPr>
        </p:nvSpPr>
        <p:spPr/>
        <p:txBody>
          <a:bodyPr/>
          <a:lstStyle/>
          <a:p>
            <a:r>
              <a:rPr kumimoji="1" lang="en-US" altLang="ja-JP" dirty="0"/>
              <a:t>Summary and future work</a:t>
            </a:r>
            <a:endParaRPr kumimoji="1" lang="ja-JP" altLang="en-US" dirty="0"/>
          </a:p>
        </p:txBody>
      </p:sp>
    </p:spTree>
    <p:extLst>
      <p:ext uri="{BB962C8B-B14F-4D97-AF65-F5344CB8AC3E}">
        <p14:creationId xmlns:p14="http://schemas.microsoft.com/office/powerpoint/2010/main" val="14109006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3" name="直線コネクタ 42">
            <a:extLst>
              <a:ext uri="{FF2B5EF4-FFF2-40B4-BE49-F238E27FC236}">
                <a16:creationId xmlns:a16="http://schemas.microsoft.com/office/drawing/2014/main" id="{B0318953-FE75-F232-CC15-0EEEDCC0DE3B}"/>
              </a:ext>
            </a:extLst>
          </p:cNvPr>
          <p:cNvCxnSpPr>
            <a:cxnSpLocks/>
          </p:cNvCxnSpPr>
          <p:nvPr/>
        </p:nvCxnSpPr>
        <p:spPr>
          <a:xfrm>
            <a:off x="3573310" y="2169151"/>
            <a:ext cx="0" cy="338840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A382BC15-0100-1952-E16F-BA324471706A}"/>
              </a:ext>
            </a:extLst>
          </p:cNvPr>
          <p:cNvCxnSpPr>
            <a:cxnSpLocks/>
          </p:cNvCxnSpPr>
          <p:nvPr/>
        </p:nvCxnSpPr>
        <p:spPr>
          <a:xfrm>
            <a:off x="4032885" y="2169151"/>
            <a:ext cx="0" cy="357840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F7238563-1FBD-79CB-8A52-A1805A490C61}"/>
              </a:ext>
            </a:extLst>
          </p:cNvPr>
          <p:cNvSpPr>
            <a:spLocks noGrp="1"/>
          </p:cNvSpPr>
          <p:nvPr>
            <p:ph sz="quarter" idx="16"/>
          </p:nvPr>
        </p:nvSpPr>
        <p:spPr/>
        <p:txBody>
          <a:bodyPr/>
          <a:lstStyle/>
          <a:p>
            <a:r>
              <a:rPr kumimoji="1" lang="en-US" altLang="ja-JP" dirty="0"/>
              <a:t>Summary and future work</a:t>
            </a:r>
            <a:endParaRPr kumimoji="1" lang="ja-JP" altLang="en-US" dirty="0"/>
          </a:p>
        </p:txBody>
      </p:sp>
      <p:cxnSp>
        <p:nvCxnSpPr>
          <p:cNvPr id="5" name="直線コネクタ 4">
            <a:extLst>
              <a:ext uri="{FF2B5EF4-FFF2-40B4-BE49-F238E27FC236}">
                <a16:creationId xmlns:a16="http://schemas.microsoft.com/office/drawing/2014/main" id="{0BDBD8A1-82EF-253A-A140-2A15DD28A26F}"/>
              </a:ext>
            </a:extLst>
          </p:cNvPr>
          <p:cNvCxnSpPr>
            <a:cxnSpLocks/>
          </p:cNvCxnSpPr>
          <p:nvPr/>
        </p:nvCxnSpPr>
        <p:spPr>
          <a:xfrm>
            <a:off x="3200752" y="2203886"/>
            <a:ext cx="0" cy="344001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1803BE7B-6C0E-9E41-1022-A87BB35FB77A}"/>
              </a:ext>
            </a:extLst>
          </p:cNvPr>
          <p:cNvCxnSpPr>
            <a:cxnSpLocks/>
          </p:cNvCxnSpPr>
          <p:nvPr/>
        </p:nvCxnSpPr>
        <p:spPr>
          <a:xfrm>
            <a:off x="3935004" y="2203886"/>
            <a:ext cx="0" cy="344001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7C3FDD2F-3073-0E96-847E-4D5796C7A4A9}"/>
              </a:ext>
            </a:extLst>
          </p:cNvPr>
          <p:cNvCxnSpPr>
            <a:cxnSpLocks/>
          </p:cNvCxnSpPr>
          <p:nvPr/>
        </p:nvCxnSpPr>
        <p:spPr>
          <a:xfrm>
            <a:off x="4688670" y="2182034"/>
            <a:ext cx="0" cy="3487818"/>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 name="矢印: 山形 7">
            <a:extLst>
              <a:ext uri="{FF2B5EF4-FFF2-40B4-BE49-F238E27FC236}">
                <a16:creationId xmlns:a16="http://schemas.microsoft.com/office/drawing/2014/main" id="{7AE0690E-58F5-E158-1696-BEC3B583250C}"/>
              </a:ext>
            </a:extLst>
          </p:cNvPr>
          <p:cNvSpPr/>
          <p:nvPr/>
        </p:nvSpPr>
        <p:spPr>
          <a:xfrm>
            <a:off x="2445213" y="1706127"/>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Oct.</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9" name="矢印: 山形 8">
            <a:extLst>
              <a:ext uri="{FF2B5EF4-FFF2-40B4-BE49-F238E27FC236}">
                <a16:creationId xmlns:a16="http://schemas.microsoft.com/office/drawing/2014/main" id="{AC7D5D5A-B6C0-455E-A7A2-FC7E8E1E7E3C}"/>
              </a:ext>
            </a:extLst>
          </p:cNvPr>
          <p:cNvSpPr/>
          <p:nvPr/>
        </p:nvSpPr>
        <p:spPr>
          <a:xfrm>
            <a:off x="3212976" y="1706127"/>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Nov.</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10" name="矢印: 山形 9">
            <a:extLst>
              <a:ext uri="{FF2B5EF4-FFF2-40B4-BE49-F238E27FC236}">
                <a16:creationId xmlns:a16="http://schemas.microsoft.com/office/drawing/2014/main" id="{E32CEDBB-0138-6196-CAC5-8C66CDE35F49}"/>
              </a:ext>
            </a:extLst>
          </p:cNvPr>
          <p:cNvSpPr/>
          <p:nvPr/>
        </p:nvSpPr>
        <p:spPr>
          <a:xfrm>
            <a:off x="3970271" y="1704385"/>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Dec.</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cxnSp>
        <p:nvCxnSpPr>
          <p:cNvPr id="13" name="直線コネクタ 12">
            <a:extLst>
              <a:ext uri="{FF2B5EF4-FFF2-40B4-BE49-F238E27FC236}">
                <a16:creationId xmlns:a16="http://schemas.microsoft.com/office/drawing/2014/main" id="{DC8E3F95-BD6F-DAB4-FFB4-E427C0017BDD}"/>
              </a:ext>
            </a:extLst>
          </p:cNvPr>
          <p:cNvCxnSpPr>
            <a:cxnSpLocks/>
          </p:cNvCxnSpPr>
          <p:nvPr/>
        </p:nvCxnSpPr>
        <p:spPr>
          <a:xfrm>
            <a:off x="5458636" y="2203886"/>
            <a:ext cx="0" cy="344001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7A7FBA2D-B931-8570-4E6C-23CB10443133}"/>
              </a:ext>
            </a:extLst>
          </p:cNvPr>
          <p:cNvCxnSpPr>
            <a:cxnSpLocks/>
          </p:cNvCxnSpPr>
          <p:nvPr/>
        </p:nvCxnSpPr>
        <p:spPr>
          <a:xfrm>
            <a:off x="7004254" y="2194526"/>
            <a:ext cx="0" cy="344937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17" name="矢印: 山形 16">
            <a:extLst>
              <a:ext uri="{FF2B5EF4-FFF2-40B4-BE49-F238E27FC236}">
                <a16:creationId xmlns:a16="http://schemas.microsoft.com/office/drawing/2014/main" id="{913DC00E-65AD-78A9-D9BA-5A597261C121}"/>
              </a:ext>
            </a:extLst>
          </p:cNvPr>
          <p:cNvSpPr/>
          <p:nvPr/>
        </p:nvSpPr>
        <p:spPr>
          <a:xfrm>
            <a:off x="6248715" y="1696767"/>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Mar.</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20" name="矢印: 山形 19">
            <a:extLst>
              <a:ext uri="{FF2B5EF4-FFF2-40B4-BE49-F238E27FC236}">
                <a16:creationId xmlns:a16="http://schemas.microsoft.com/office/drawing/2014/main" id="{9C3B8A77-63F2-1E55-CF35-85C414894E39}"/>
              </a:ext>
            </a:extLst>
          </p:cNvPr>
          <p:cNvSpPr/>
          <p:nvPr/>
        </p:nvSpPr>
        <p:spPr>
          <a:xfrm>
            <a:off x="4738034" y="1700624"/>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Jan.</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21" name="矢印: 山形 20">
            <a:extLst>
              <a:ext uri="{FF2B5EF4-FFF2-40B4-BE49-F238E27FC236}">
                <a16:creationId xmlns:a16="http://schemas.microsoft.com/office/drawing/2014/main" id="{3CC0B997-6D8B-A7D3-45E4-27F026476831}"/>
              </a:ext>
            </a:extLst>
          </p:cNvPr>
          <p:cNvSpPr/>
          <p:nvPr/>
        </p:nvSpPr>
        <p:spPr>
          <a:xfrm>
            <a:off x="5490112" y="1697205"/>
            <a:ext cx="808333" cy="461282"/>
          </a:xfrm>
          <a:prstGeom prst="chevron">
            <a:avLst>
              <a:gd name="adj" fmla="val 21264"/>
            </a:avLst>
          </a:prstGeom>
          <a:solidFill>
            <a:schemeClr val="accent1">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en-US" altLang="ja-JP"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Feb.</a:t>
            </a:r>
            <a:endParaRPr kumimoji="1" lang="ja-JP" altLang="en-US" sz="16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cxnSp>
        <p:nvCxnSpPr>
          <p:cNvPr id="23" name="直線コネクタ 22">
            <a:extLst>
              <a:ext uri="{FF2B5EF4-FFF2-40B4-BE49-F238E27FC236}">
                <a16:creationId xmlns:a16="http://schemas.microsoft.com/office/drawing/2014/main" id="{D9F8044B-A63A-68C5-76E5-27D3169E830F}"/>
              </a:ext>
            </a:extLst>
          </p:cNvPr>
          <p:cNvCxnSpPr>
            <a:cxnSpLocks/>
          </p:cNvCxnSpPr>
          <p:nvPr/>
        </p:nvCxnSpPr>
        <p:spPr>
          <a:xfrm>
            <a:off x="6249726" y="2203886"/>
            <a:ext cx="0" cy="3440013"/>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24" name="テキスト ボックス 21">
            <a:extLst>
              <a:ext uri="{FF2B5EF4-FFF2-40B4-BE49-F238E27FC236}">
                <a16:creationId xmlns:a16="http://schemas.microsoft.com/office/drawing/2014/main" id="{C69D7320-6A5C-093D-F53D-CD44C10CFA37}"/>
              </a:ext>
            </a:extLst>
          </p:cNvPr>
          <p:cNvSpPr txBox="1"/>
          <p:nvPr/>
        </p:nvSpPr>
        <p:spPr>
          <a:xfrm>
            <a:off x="1799087" y="1813686"/>
            <a:ext cx="1028700"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en-US" altLang="ja-JP" sz="1600" dirty="0">
                <a:latin typeface="游ゴシック Medium" panose="020B0500000000000000" pitchFamily="50" charset="-128"/>
                <a:ea typeface="游ゴシック Medium" panose="020B0500000000000000" pitchFamily="50" charset="-128"/>
              </a:rPr>
              <a:t>2024</a:t>
            </a:r>
            <a:endParaRPr kumimoji="1" lang="ja-JP" altLang="en-US" sz="1600" dirty="0">
              <a:latin typeface="游ゴシック Medium" panose="020B0500000000000000" pitchFamily="50" charset="-128"/>
              <a:ea typeface="游ゴシック Medium" panose="020B0500000000000000" pitchFamily="50" charset="-128"/>
            </a:endParaRPr>
          </a:p>
        </p:txBody>
      </p:sp>
      <p:sp>
        <p:nvSpPr>
          <p:cNvPr id="25" name="矢印: 山形 24">
            <a:extLst>
              <a:ext uri="{FF2B5EF4-FFF2-40B4-BE49-F238E27FC236}">
                <a16:creationId xmlns:a16="http://schemas.microsoft.com/office/drawing/2014/main" id="{E887669F-A60A-6F02-AB1A-884BE932E884}"/>
              </a:ext>
            </a:extLst>
          </p:cNvPr>
          <p:cNvSpPr/>
          <p:nvPr/>
        </p:nvSpPr>
        <p:spPr>
          <a:xfrm>
            <a:off x="2318657" y="2295122"/>
            <a:ext cx="871957" cy="551489"/>
          </a:xfrm>
          <a:prstGeom prst="chevron">
            <a:avLst>
              <a:gd name="adj" fmla="val 2126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accent1"/>
              </a:buClr>
            </a:pPr>
            <a:endParaRPr kumimoji="1" lang="en-US" altLang="ja-JP" sz="7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27" name="テキスト ボックス 33">
            <a:extLst>
              <a:ext uri="{FF2B5EF4-FFF2-40B4-BE49-F238E27FC236}">
                <a16:creationId xmlns:a16="http://schemas.microsoft.com/office/drawing/2014/main" id="{C82815CF-BA23-ED14-2BBD-000F5FC08112}"/>
              </a:ext>
            </a:extLst>
          </p:cNvPr>
          <p:cNvSpPr txBox="1"/>
          <p:nvPr/>
        </p:nvSpPr>
        <p:spPr>
          <a:xfrm>
            <a:off x="3611411" y="5747559"/>
            <a:ext cx="836840"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ja-JP" altLang="en-US" sz="1000" dirty="0">
                <a:solidFill>
                  <a:schemeClr val="accent2"/>
                </a:solidFill>
              </a:rPr>
              <a:t>予備審査</a:t>
            </a:r>
            <a:br>
              <a:rPr kumimoji="1" lang="en-US" altLang="ja-JP" sz="1000" dirty="0">
                <a:solidFill>
                  <a:schemeClr val="accent2"/>
                </a:solidFill>
              </a:rPr>
            </a:br>
            <a:r>
              <a:rPr kumimoji="1" lang="ja-JP" altLang="en-US" sz="1000" dirty="0">
                <a:solidFill>
                  <a:schemeClr val="accent2"/>
                </a:solidFill>
              </a:rPr>
              <a:t>エネコン前刷</a:t>
            </a:r>
          </a:p>
        </p:txBody>
      </p:sp>
      <p:cxnSp>
        <p:nvCxnSpPr>
          <p:cNvPr id="31" name="直線コネクタ 30">
            <a:extLst>
              <a:ext uri="{FF2B5EF4-FFF2-40B4-BE49-F238E27FC236}">
                <a16:creationId xmlns:a16="http://schemas.microsoft.com/office/drawing/2014/main" id="{E15A45E2-6DCB-0DF3-2AEA-F8EFFA44C57C}"/>
              </a:ext>
            </a:extLst>
          </p:cNvPr>
          <p:cNvCxnSpPr>
            <a:cxnSpLocks/>
          </p:cNvCxnSpPr>
          <p:nvPr/>
        </p:nvCxnSpPr>
        <p:spPr>
          <a:xfrm>
            <a:off x="4190728" y="2169151"/>
            <a:ext cx="0" cy="342066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テキスト ボックス 33">
            <a:extLst>
              <a:ext uri="{FF2B5EF4-FFF2-40B4-BE49-F238E27FC236}">
                <a16:creationId xmlns:a16="http://schemas.microsoft.com/office/drawing/2014/main" id="{12E78110-F0DE-A134-DA54-2CA849EE3573}"/>
              </a:ext>
            </a:extLst>
          </p:cNvPr>
          <p:cNvSpPr txBox="1"/>
          <p:nvPr/>
        </p:nvSpPr>
        <p:spPr>
          <a:xfrm>
            <a:off x="3882425" y="5557558"/>
            <a:ext cx="836840"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ja-JP" altLang="en-US" sz="1000" dirty="0">
                <a:solidFill>
                  <a:schemeClr val="accent2"/>
                </a:solidFill>
              </a:rPr>
              <a:t>健康診断</a:t>
            </a:r>
          </a:p>
        </p:txBody>
      </p:sp>
      <p:cxnSp>
        <p:nvCxnSpPr>
          <p:cNvPr id="34" name="直線コネクタ 33">
            <a:extLst>
              <a:ext uri="{FF2B5EF4-FFF2-40B4-BE49-F238E27FC236}">
                <a16:creationId xmlns:a16="http://schemas.microsoft.com/office/drawing/2014/main" id="{868C73D0-70B5-A999-82E4-BA8146FD0BDB}"/>
              </a:ext>
            </a:extLst>
          </p:cNvPr>
          <p:cNvCxnSpPr>
            <a:cxnSpLocks/>
          </p:cNvCxnSpPr>
          <p:nvPr/>
        </p:nvCxnSpPr>
        <p:spPr>
          <a:xfrm>
            <a:off x="5436593" y="2161906"/>
            <a:ext cx="0" cy="3585653"/>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テキスト ボックス 33">
            <a:extLst>
              <a:ext uri="{FF2B5EF4-FFF2-40B4-BE49-F238E27FC236}">
                <a16:creationId xmlns:a16="http://schemas.microsoft.com/office/drawing/2014/main" id="{A052A6E4-E444-B461-EE2D-A7AA411E817E}"/>
              </a:ext>
            </a:extLst>
          </p:cNvPr>
          <p:cNvSpPr txBox="1"/>
          <p:nvPr/>
        </p:nvSpPr>
        <p:spPr>
          <a:xfrm>
            <a:off x="5018173" y="5747559"/>
            <a:ext cx="836840"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ja-JP" altLang="en-US" sz="1000" dirty="0">
                <a:solidFill>
                  <a:schemeClr val="accent2"/>
                </a:solidFill>
              </a:rPr>
              <a:t>本審査</a:t>
            </a:r>
          </a:p>
        </p:txBody>
      </p:sp>
      <p:sp>
        <p:nvSpPr>
          <p:cNvPr id="40" name="テキスト ボックス 39">
            <a:extLst>
              <a:ext uri="{FF2B5EF4-FFF2-40B4-BE49-F238E27FC236}">
                <a16:creationId xmlns:a16="http://schemas.microsoft.com/office/drawing/2014/main" id="{3023B7BB-52E7-B5F6-9F65-5A713BEFF368}"/>
              </a:ext>
            </a:extLst>
          </p:cNvPr>
          <p:cNvSpPr txBox="1"/>
          <p:nvPr/>
        </p:nvSpPr>
        <p:spPr>
          <a:xfrm>
            <a:off x="2091731" y="2401589"/>
            <a:ext cx="1128022" cy="338554"/>
          </a:xfrm>
          <a:prstGeom prst="rect">
            <a:avLst/>
          </a:prstGeom>
          <a:noFill/>
        </p:spPr>
        <p:txBody>
          <a:bodyPr wrap="square">
            <a:spAutoFit/>
          </a:bodyPr>
          <a:lstStyle/>
          <a:p>
            <a:pPr algn="ctr">
              <a:buClr>
                <a:schemeClr val="accent1"/>
              </a:buClr>
            </a:pP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Construct a model </a:t>
            </a:r>
            <a:b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b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without P2P trade</a:t>
            </a:r>
          </a:p>
        </p:txBody>
      </p:sp>
      <p:sp>
        <p:nvSpPr>
          <p:cNvPr id="41" name="矢印: 山形 40">
            <a:extLst>
              <a:ext uri="{FF2B5EF4-FFF2-40B4-BE49-F238E27FC236}">
                <a16:creationId xmlns:a16="http://schemas.microsoft.com/office/drawing/2014/main" id="{E0F67461-D4C6-CE07-508A-2B03063306DD}"/>
              </a:ext>
            </a:extLst>
          </p:cNvPr>
          <p:cNvSpPr/>
          <p:nvPr/>
        </p:nvSpPr>
        <p:spPr>
          <a:xfrm>
            <a:off x="3121010" y="2932934"/>
            <a:ext cx="812282" cy="551489"/>
          </a:xfrm>
          <a:prstGeom prst="chevron">
            <a:avLst>
              <a:gd name="adj" fmla="val 2126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accent1"/>
              </a:buClr>
            </a:pPr>
            <a:endParaRPr kumimoji="1" lang="en-US" altLang="ja-JP" sz="7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42" name="テキスト ボックス 41">
            <a:extLst>
              <a:ext uri="{FF2B5EF4-FFF2-40B4-BE49-F238E27FC236}">
                <a16:creationId xmlns:a16="http://schemas.microsoft.com/office/drawing/2014/main" id="{85729BF1-0976-5120-39D3-5B288F279778}"/>
              </a:ext>
            </a:extLst>
          </p:cNvPr>
          <p:cNvSpPr txBox="1"/>
          <p:nvPr/>
        </p:nvSpPr>
        <p:spPr>
          <a:xfrm>
            <a:off x="2835628" y="3038480"/>
            <a:ext cx="1128022" cy="338554"/>
          </a:xfrm>
          <a:prstGeom prst="rect">
            <a:avLst/>
          </a:prstGeom>
          <a:noFill/>
        </p:spPr>
        <p:txBody>
          <a:bodyPr wrap="square">
            <a:spAutoFit/>
          </a:bodyPr>
          <a:lstStyle/>
          <a:p>
            <a:pPr algn="ctr">
              <a:buClr>
                <a:schemeClr val="accent1"/>
              </a:buClr>
            </a:pP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Analyze &amp; Compare</a:t>
            </a:r>
            <a:b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b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scenarios</a:t>
            </a:r>
          </a:p>
        </p:txBody>
      </p:sp>
      <p:sp>
        <p:nvSpPr>
          <p:cNvPr id="45" name="テキスト ボックス 33">
            <a:extLst>
              <a:ext uri="{FF2B5EF4-FFF2-40B4-BE49-F238E27FC236}">
                <a16:creationId xmlns:a16="http://schemas.microsoft.com/office/drawing/2014/main" id="{0887C0AB-E845-7A96-13E7-D4E9FB147E3E}"/>
              </a:ext>
            </a:extLst>
          </p:cNvPr>
          <p:cNvSpPr txBox="1"/>
          <p:nvPr/>
        </p:nvSpPr>
        <p:spPr>
          <a:xfrm>
            <a:off x="3165097" y="5557265"/>
            <a:ext cx="836840"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ja-JP" altLang="en-US" sz="1000" dirty="0">
                <a:solidFill>
                  <a:schemeClr val="accent2"/>
                </a:solidFill>
              </a:rPr>
              <a:t>秋合宿</a:t>
            </a:r>
          </a:p>
        </p:txBody>
      </p:sp>
      <p:sp>
        <p:nvSpPr>
          <p:cNvPr id="46" name="矢印: 山形 45">
            <a:extLst>
              <a:ext uri="{FF2B5EF4-FFF2-40B4-BE49-F238E27FC236}">
                <a16:creationId xmlns:a16="http://schemas.microsoft.com/office/drawing/2014/main" id="{7DD26A13-5819-BC72-2B7F-72D626DCB7CE}"/>
              </a:ext>
            </a:extLst>
          </p:cNvPr>
          <p:cNvSpPr/>
          <p:nvPr/>
        </p:nvSpPr>
        <p:spPr>
          <a:xfrm>
            <a:off x="3856269" y="3583265"/>
            <a:ext cx="590348" cy="551489"/>
          </a:xfrm>
          <a:prstGeom prst="chevron">
            <a:avLst>
              <a:gd name="adj" fmla="val 2126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accent1"/>
              </a:buClr>
            </a:pPr>
            <a:endParaRPr kumimoji="1" lang="en-US" altLang="ja-JP" sz="7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47" name="テキスト ボックス 46">
            <a:extLst>
              <a:ext uri="{FF2B5EF4-FFF2-40B4-BE49-F238E27FC236}">
                <a16:creationId xmlns:a16="http://schemas.microsoft.com/office/drawing/2014/main" id="{E04DA784-9091-2187-D1AC-E27A73CB770D}"/>
              </a:ext>
            </a:extLst>
          </p:cNvPr>
          <p:cNvSpPr txBox="1"/>
          <p:nvPr/>
        </p:nvSpPr>
        <p:spPr>
          <a:xfrm>
            <a:off x="3600907" y="3679267"/>
            <a:ext cx="1128022" cy="338554"/>
          </a:xfrm>
          <a:prstGeom prst="rect">
            <a:avLst/>
          </a:prstGeom>
          <a:noFill/>
        </p:spPr>
        <p:txBody>
          <a:bodyPr wrap="square">
            <a:spAutoFit/>
          </a:bodyPr>
          <a:lstStyle/>
          <a:p>
            <a:pPr algn="ctr">
              <a:buClr>
                <a:schemeClr val="accent1"/>
              </a:buClr>
            </a:pPr>
            <a:r>
              <a:rPr kumimoji="1" lang="en-US" altLang="ja-JP" sz="800" dirty="0">
                <a:latin typeface="游ゴシック Medium" panose="020B0500000000000000" pitchFamily="50" charset="-128"/>
                <a:ea typeface="游ゴシック Medium" panose="020B0500000000000000" pitchFamily="50" charset="-128"/>
                <a:cs typeface="Arial" panose="020B0604020202020204" pitchFamily="34" charset="0"/>
              </a:rPr>
              <a:t>Improve</a:t>
            </a: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 </a:t>
            </a:r>
            <a:b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br>
            <a:r>
              <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rPr>
              <a:t>(Buffer)</a:t>
            </a:r>
          </a:p>
        </p:txBody>
      </p:sp>
      <p:sp>
        <p:nvSpPr>
          <p:cNvPr id="48" name="矢印: 山形 47">
            <a:extLst>
              <a:ext uri="{FF2B5EF4-FFF2-40B4-BE49-F238E27FC236}">
                <a16:creationId xmlns:a16="http://schemas.microsoft.com/office/drawing/2014/main" id="{7EB5E270-1E8E-7CD0-4701-013E224E8B10}"/>
              </a:ext>
            </a:extLst>
          </p:cNvPr>
          <p:cNvSpPr/>
          <p:nvPr/>
        </p:nvSpPr>
        <p:spPr>
          <a:xfrm>
            <a:off x="4327839" y="4253000"/>
            <a:ext cx="1387432" cy="551489"/>
          </a:xfrm>
          <a:prstGeom prst="chevron">
            <a:avLst>
              <a:gd name="adj" fmla="val 2126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accent1"/>
              </a:buClr>
            </a:pPr>
            <a:endParaRPr kumimoji="1" lang="en-US" altLang="ja-JP" sz="7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49" name="テキスト ボックス 48">
            <a:extLst>
              <a:ext uri="{FF2B5EF4-FFF2-40B4-BE49-F238E27FC236}">
                <a16:creationId xmlns:a16="http://schemas.microsoft.com/office/drawing/2014/main" id="{75AE0FBE-2649-3327-98BB-0354B80DA5A2}"/>
              </a:ext>
            </a:extLst>
          </p:cNvPr>
          <p:cNvSpPr txBox="1"/>
          <p:nvPr/>
        </p:nvSpPr>
        <p:spPr>
          <a:xfrm>
            <a:off x="4426430" y="4421022"/>
            <a:ext cx="1128022" cy="215444"/>
          </a:xfrm>
          <a:prstGeom prst="rect">
            <a:avLst/>
          </a:prstGeom>
          <a:noFill/>
        </p:spPr>
        <p:txBody>
          <a:bodyPr wrap="square">
            <a:spAutoFit/>
          </a:bodyPr>
          <a:lstStyle/>
          <a:p>
            <a:pPr algn="ctr">
              <a:buClr>
                <a:schemeClr val="accent1"/>
              </a:buClr>
            </a:pPr>
            <a:r>
              <a:rPr kumimoji="1" lang="en-US" altLang="ja-JP" sz="800" dirty="0">
                <a:latin typeface="游ゴシック Medium" panose="020B0500000000000000" pitchFamily="50" charset="-128"/>
                <a:ea typeface="游ゴシック Medium" panose="020B0500000000000000" pitchFamily="50" charset="-128"/>
                <a:cs typeface="Arial" panose="020B0604020202020204" pitchFamily="34" charset="0"/>
              </a:rPr>
              <a:t>Write thesis</a:t>
            </a:r>
            <a:endPar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50" name="矢印: 山形 49">
            <a:extLst>
              <a:ext uri="{FF2B5EF4-FFF2-40B4-BE49-F238E27FC236}">
                <a16:creationId xmlns:a16="http://schemas.microsoft.com/office/drawing/2014/main" id="{8C940D36-87E4-2AF8-0723-7A9EB561378A}"/>
              </a:ext>
            </a:extLst>
          </p:cNvPr>
          <p:cNvSpPr/>
          <p:nvPr/>
        </p:nvSpPr>
        <p:spPr>
          <a:xfrm>
            <a:off x="5447948" y="4944138"/>
            <a:ext cx="1556305" cy="551489"/>
          </a:xfrm>
          <a:prstGeom prst="chevron">
            <a:avLst>
              <a:gd name="adj" fmla="val 2126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buClr>
                <a:schemeClr val="accent1"/>
              </a:buClr>
            </a:pPr>
            <a:endParaRPr kumimoji="1" lang="en-US" altLang="ja-JP" sz="7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
        <p:nvSpPr>
          <p:cNvPr id="51" name="テキスト ボックス 50">
            <a:extLst>
              <a:ext uri="{FF2B5EF4-FFF2-40B4-BE49-F238E27FC236}">
                <a16:creationId xmlns:a16="http://schemas.microsoft.com/office/drawing/2014/main" id="{24290F24-D3D1-0ED3-A7D9-8D819C9FEE7B}"/>
              </a:ext>
            </a:extLst>
          </p:cNvPr>
          <p:cNvSpPr txBox="1"/>
          <p:nvPr/>
        </p:nvSpPr>
        <p:spPr>
          <a:xfrm>
            <a:off x="5546539" y="5112160"/>
            <a:ext cx="1265321" cy="215444"/>
          </a:xfrm>
          <a:prstGeom prst="rect">
            <a:avLst/>
          </a:prstGeom>
          <a:noFill/>
        </p:spPr>
        <p:txBody>
          <a:bodyPr wrap="square">
            <a:spAutoFit/>
          </a:bodyPr>
          <a:lstStyle/>
          <a:p>
            <a:pPr algn="ctr">
              <a:buClr>
                <a:schemeClr val="accent1"/>
              </a:buClr>
            </a:pPr>
            <a:r>
              <a:rPr kumimoji="1" lang="en-US" altLang="ja-JP" sz="800" dirty="0">
                <a:latin typeface="游ゴシック Medium" panose="020B0500000000000000" pitchFamily="50" charset="-128"/>
                <a:ea typeface="游ゴシック Medium" panose="020B0500000000000000" pitchFamily="50" charset="-128"/>
                <a:cs typeface="Arial" panose="020B0604020202020204" pitchFamily="34" charset="0"/>
              </a:rPr>
              <a:t>Write paper</a:t>
            </a:r>
            <a:endParaRPr kumimoji="1" lang="en-US" altLang="ja-JP" sz="800" dirty="0">
              <a:solidFill>
                <a:schemeClr val="tx1"/>
              </a:solidFill>
              <a:latin typeface="游ゴシック Medium" panose="020B0500000000000000" pitchFamily="50" charset="-128"/>
              <a:ea typeface="游ゴシック Medium" panose="020B0500000000000000" pitchFamily="50" charset="-128"/>
              <a:cs typeface="Arial" panose="020B0604020202020204" pitchFamily="34" charset="0"/>
            </a:endParaRPr>
          </a:p>
        </p:txBody>
      </p:sp>
    </p:spTree>
    <p:extLst>
      <p:ext uri="{BB962C8B-B14F-4D97-AF65-F5344CB8AC3E}">
        <p14:creationId xmlns:p14="http://schemas.microsoft.com/office/powerpoint/2010/main" val="2805037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ED8E8AC-24F4-7D88-EAA2-1A75F1D1D0CA}"/>
              </a:ext>
            </a:extLst>
          </p:cNvPr>
          <p:cNvSpPr txBox="1"/>
          <p:nvPr/>
        </p:nvSpPr>
        <p:spPr>
          <a:xfrm>
            <a:off x="1009403" y="2721114"/>
            <a:ext cx="2337499" cy="707886"/>
          </a:xfrm>
          <a:prstGeom prst="rect">
            <a:avLst/>
          </a:prstGeom>
          <a:noFill/>
        </p:spPr>
        <p:txBody>
          <a:bodyPr wrap="none" rtlCol="0">
            <a:spAutoFit/>
          </a:bodyPr>
          <a:lstStyle/>
          <a:p>
            <a:r>
              <a:rPr lang="en-US" altLang="ja-JP" sz="4000" dirty="0"/>
              <a:t>Appendix</a:t>
            </a:r>
            <a:endParaRPr lang="en-US" sz="4000" dirty="0"/>
          </a:p>
        </p:txBody>
      </p:sp>
    </p:spTree>
    <p:extLst>
      <p:ext uri="{BB962C8B-B14F-4D97-AF65-F5344CB8AC3E}">
        <p14:creationId xmlns:p14="http://schemas.microsoft.com/office/powerpoint/2010/main" val="16841251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AF1CA79-0FBB-CB43-04FA-17B8379E5FCF}"/>
              </a:ext>
            </a:extLst>
          </p:cNvPr>
          <p:cNvSpPr>
            <a:spLocks noGrp="1"/>
          </p:cNvSpPr>
          <p:nvPr>
            <p:ph sz="quarter" idx="16"/>
          </p:nvPr>
        </p:nvSpPr>
        <p:spPr/>
        <p:txBody>
          <a:bodyPr/>
          <a:lstStyle/>
          <a:p>
            <a:r>
              <a:rPr kumimoji="1" lang="en-US" altLang="ja-JP" dirty="0"/>
              <a:t>CAPEX of PV</a:t>
            </a:r>
            <a:endParaRPr kumimoji="1" lang="ja-JP" altLang="en-US" dirty="0"/>
          </a:p>
        </p:txBody>
      </p:sp>
      <p:sp>
        <p:nvSpPr>
          <p:cNvPr id="4" name="テキスト ボックス 3">
            <a:extLst>
              <a:ext uri="{FF2B5EF4-FFF2-40B4-BE49-F238E27FC236}">
                <a16:creationId xmlns:a16="http://schemas.microsoft.com/office/drawing/2014/main" id="{E4408D3D-6A0A-DCC5-EE40-54AD6D4B3C33}"/>
              </a:ext>
            </a:extLst>
          </p:cNvPr>
          <p:cNvSpPr txBox="1"/>
          <p:nvPr/>
        </p:nvSpPr>
        <p:spPr>
          <a:xfrm>
            <a:off x="118320" y="6488668"/>
            <a:ext cx="9669359" cy="276999"/>
          </a:xfrm>
          <a:prstGeom prst="rect">
            <a:avLst/>
          </a:prstGeom>
          <a:noFill/>
        </p:spPr>
        <p:txBody>
          <a:bodyPr wrap="square">
            <a:spAutoFit/>
          </a:bodyPr>
          <a:lstStyle/>
          <a:p>
            <a:r>
              <a:rPr lang="en-US" sz="600" dirty="0"/>
              <a:t>[1] </a:t>
            </a:r>
            <a:r>
              <a:rPr lang="en-US" sz="600" dirty="0">
                <a:hlinkClick r:id="rId2"/>
              </a:rPr>
              <a:t>https://www.nrel.gov/docs/fy22osti/83586.pdf</a:t>
            </a:r>
            <a:endParaRPr lang="en-US" sz="600" dirty="0"/>
          </a:p>
          <a:p>
            <a:endParaRPr lang="en-US" sz="600" dirty="0"/>
          </a:p>
        </p:txBody>
      </p:sp>
      <p:pic>
        <p:nvPicPr>
          <p:cNvPr id="6" name="図 5">
            <a:extLst>
              <a:ext uri="{FF2B5EF4-FFF2-40B4-BE49-F238E27FC236}">
                <a16:creationId xmlns:a16="http://schemas.microsoft.com/office/drawing/2014/main" id="{FE9B58C7-92CA-FB6C-D457-126C32ED99E2}"/>
              </a:ext>
            </a:extLst>
          </p:cNvPr>
          <p:cNvPicPr>
            <a:picLocks noChangeAspect="1"/>
          </p:cNvPicPr>
          <p:nvPr/>
        </p:nvPicPr>
        <p:blipFill>
          <a:blip r:embed="rId3"/>
          <a:stretch>
            <a:fillRect/>
          </a:stretch>
        </p:blipFill>
        <p:spPr>
          <a:xfrm>
            <a:off x="63890" y="761125"/>
            <a:ext cx="3363684" cy="2146561"/>
          </a:xfrm>
          <a:prstGeom prst="rect">
            <a:avLst/>
          </a:prstGeom>
        </p:spPr>
      </p:pic>
      <p:pic>
        <p:nvPicPr>
          <p:cNvPr id="8" name="図 7">
            <a:extLst>
              <a:ext uri="{FF2B5EF4-FFF2-40B4-BE49-F238E27FC236}">
                <a16:creationId xmlns:a16="http://schemas.microsoft.com/office/drawing/2014/main" id="{41C01826-9AF7-5D21-8B58-12CE528FF74D}"/>
              </a:ext>
            </a:extLst>
          </p:cNvPr>
          <p:cNvPicPr>
            <a:picLocks noChangeAspect="1"/>
          </p:cNvPicPr>
          <p:nvPr/>
        </p:nvPicPr>
        <p:blipFill>
          <a:blip r:embed="rId4"/>
          <a:stretch>
            <a:fillRect/>
          </a:stretch>
        </p:blipFill>
        <p:spPr>
          <a:xfrm>
            <a:off x="3525084" y="761125"/>
            <a:ext cx="2614458" cy="3154888"/>
          </a:xfrm>
          <a:prstGeom prst="rect">
            <a:avLst/>
          </a:prstGeom>
        </p:spPr>
      </p:pic>
      <p:pic>
        <p:nvPicPr>
          <p:cNvPr id="10" name="図 9">
            <a:extLst>
              <a:ext uri="{FF2B5EF4-FFF2-40B4-BE49-F238E27FC236}">
                <a16:creationId xmlns:a16="http://schemas.microsoft.com/office/drawing/2014/main" id="{3AA13E5B-E67C-9AE0-6BBA-4B8E8CF5B460}"/>
              </a:ext>
            </a:extLst>
          </p:cNvPr>
          <p:cNvPicPr>
            <a:picLocks noChangeAspect="1"/>
          </p:cNvPicPr>
          <p:nvPr/>
        </p:nvPicPr>
        <p:blipFill>
          <a:blip r:embed="rId5"/>
          <a:stretch>
            <a:fillRect/>
          </a:stretch>
        </p:blipFill>
        <p:spPr>
          <a:xfrm>
            <a:off x="3530527" y="3850577"/>
            <a:ext cx="2576356" cy="2916051"/>
          </a:xfrm>
          <a:prstGeom prst="rect">
            <a:avLst/>
          </a:prstGeom>
        </p:spPr>
      </p:pic>
      <p:pic>
        <p:nvPicPr>
          <p:cNvPr id="12" name="図 11">
            <a:extLst>
              <a:ext uri="{FF2B5EF4-FFF2-40B4-BE49-F238E27FC236}">
                <a16:creationId xmlns:a16="http://schemas.microsoft.com/office/drawing/2014/main" id="{A2B24D6A-287A-2535-A2E3-23A2A588EF60}"/>
              </a:ext>
            </a:extLst>
          </p:cNvPr>
          <p:cNvPicPr>
            <a:picLocks noChangeAspect="1"/>
          </p:cNvPicPr>
          <p:nvPr/>
        </p:nvPicPr>
        <p:blipFill>
          <a:blip r:embed="rId6"/>
          <a:stretch>
            <a:fillRect/>
          </a:stretch>
        </p:blipFill>
        <p:spPr>
          <a:xfrm>
            <a:off x="6287912" y="1895311"/>
            <a:ext cx="3390615" cy="2604651"/>
          </a:xfrm>
          <a:prstGeom prst="rect">
            <a:avLst/>
          </a:prstGeom>
        </p:spPr>
      </p:pic>
      <p:sp>
        <p:nvSpPr>
          <p:cNvPr id="13" name="コンテンツ プレースホルダー 1">
            <a:extLst>
              <a:ext uri="{FF2B5EF4-FFF2-40B4-BE49-F238E27FC236}">
                <a16:creationId xmlns:a16="http://schemas.microsoft.com/office/drawing/2014/main" id="{199E7BDC-D192-5EEF-8D45-83B447C9C43D}"/>
              </a:ext>
            </a:extLst>
          </p:cNvPr>
          <p:cNvSpPr>
            <a:spLocks noGrp="1"/>
          </p:cNvSpPr>
          <p:nvPr>
            <p:ph sz="quarter" idx="17"/>
          </p:nvPr>
        </p:nvSpPr>
        <p:spPr>
          <a:xfrm>
            <a:off x="6287912" y="4877645"/>
            <a:ext cx="3511155" cy="1566697"/>
          </a:xfrm>
        </p:spPr>
        <p:txBody>
          <a:bodyPr/>
          <a:lstStyle/>
          <a:p>
            <a:r>
              <a:rPr kumimoji="1" lang="en-US" altLang="ja-JP" sz="1400" dirty="0"/>
              <a:t>MMP model is used in the cost calculation.</a:t>
            </a:r>
          </a:p>
          <a:p>
            <a:endParaRPr kumimoji="1" lang="en-US" altLang="ja-JP" sz="1400" dirty="0"/>
          </a:p>
          <a:p>
            <a:r>
              <a:rPr kumimoji="1" lang="en-US" altLang="ja-JP" sz="1400" dirty="0"/>
              <a:t>CAPEX per year is calculated by Straight Line Method.</a:t>
            </a:r>
            <a:br>
              <a:rPr kumimoji="1" lang="en-US" altLang="ja-JP" sz="1400" dirty="0"/>
            </a:br>
            <a:r>
              <a:rPr kumimoji="1" lang="en-US" altLang="ja-JP" sz="1400" dirty="0"/>
              <a:t>The statutory useful life of the depreciable </a:t>
            </a:r>
            <a:br>
              <a:rPr kumimoji="1" lang="en-US" altLang="ja-JP" sz="1400" dirty="0"/>
            </a:br>
            <a:r>
              <a:rPr kumimoji="1" lang="en-US" altLang="ja-JP" sz="1400" dirty="0"/>
              <a:t>assets for PV is 17 years.</a:t>
            </a:r>
          </a:p>
        </p:txBody>
      </p:sp>
      <p:sp>
        <p:nvSpPr>
          <p:cNvPr id="15" name="矢印: 右 14">
            <a:extLst>
              <a:ext uri="{FF2B5EF4-FFF2-40B4-BE49-F238E27FC236}">
                <a16:creationId xmlns:a16="http://schemas.microsoft.com/office/drawing/2014/main" id="{8705EB10-38BF-A728-B078-1F5D02CC1B68}"/>
              </a:ext>
            </a:extLst>
          </p:cNvPr>
          <p:cNvSpPr/>
          <p:nvPr/>
        </p:nvSpPr>
        <p:spPr>
          <a:xfrm rot="16200000">
            <a:off x="7679692" y="4517001"/>
            <a:ext cx="277000" cy="3082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コンテンツ プレースホルダー 1">
            <a:extLst>
              <a:ext uri="{FF2B5EF4-FFF2-40B4-BE49-F238E27FC236}">
                <a16:creationId xmlns:a16="http://schemas.microsoft.com/office/drawing/2014/main" id="{6878A9DF-51C6-2BA1-39CC-093C7D43F282}"/>
              </a:ext>
            </a:extLst>
          </p:cNvPr>
          <p:cNvSpPr txBox="1">
            <a:spLocks/>
          </p:cNvSpPr>
          <p:nvPr/>
        </p:nvSpPr>
        <p:spPr>
          <a:xfrm>
            <a:off x="227473" y="4210011"/>
            <a:ext cx="3511155" cy="568803"/>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kumimoji="1" lang="en-US" altLang="ja-JP" sz="1400" dirty="0"/>
              <a:t>MSP: Minimum Sustainable Price</a:t>
            </a:r>
          </a:p>
          <a:p>
            <a:r>
              <a:rPr kumimoji="1" lang="en-US" altLang="ja-JP" sz="1400" dirty="0"/>
              <a:t>MMP: Modeled Market Price</a:t>
            </a:r>
          </a:p>
        </p:txBody>
      </p:sp>
    </p:spTree>
    <p:extLst>
      <p:ext uri="{BB962C8B-B14F-4D97-AF65-F5344CB8AC3E}">
        <p14:creationId xmlns:p14="http://schemas.microsoft.com/office/powerpoint/2010/main" val="872071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AF1CA79-0FBB-CB43-04FA-17B8379E5FCF}"/>
              </a:ext>
            </a:extLst>
          </p:cNvPr>
          <p:cNvSpPr>
            <a:spLocks noGrp="1"/>
          </p:cNvSpPr>
          <p:nvPr>
            <p:ph sz="quarter" idx="16"/>
          </p:nvPr>
        </p:nvSpPr>
        <p:spPr/>
        <p:txBody>
          <a:bodyPr/>
          <a:lstStyle/>
          <a:p>
            <a:r>
              <a:rPr kumimoji="1" lang="en-US" altLang="ja-JP" dirty="0"/>
              <a:t>OPEX of PV</a:t>
            </a:r>
            <a:endParaRPr kumimoji="1" lang="ja-JP" altLang="en-US" dirty="0"/>
          </a:p>
        </p:txBody>
      </p:sp>
      <p:sp>
        <p:nvSpPr>
          <p:cNvPr id="4" name="テキスト ボックス 3">
            <a:extLst>
              <a:ext uri="{FF2B5EF4-FFF2-40B4-BE49-F238E27FC236}">
                <a16:creationId xmlns:a16="http://schemas.microsoft.com/office/drawing/2014/main" id="{E4408D3D-6A0A-DCC5-EE40-54AD6D4B3C33}"/>
              </a:ext>
            </a:extLst>
          </p:cNvPr>
          <p:cNvSpPr txBox="1"/>
          <p:nvPr/>
        </p:nvSpPr>
        <p:spPr>
          <a:xfrm>
            <a:off x="118320" y="6488668"/>
            <a:ext cx="9669359" cy="276999"/>
          </a:xfrm>
          <a:prstGeom prst="rect">
            <a:avLst/>
          </a:prstGeom>
          <a:noFill/>
        </p:spPr>
        <p:txBody>
          <a:bodyPr wrap="square">
            <a:spAutoFit/>
          </a:bodyPr>
          <a:lstStyle/>
          <a:p>
            <a:r>
              <a:rPr lang="en-US" sz="600" dirty="0"/>
              <a:t>[1] </a:t>
            </a:r>
            <a:r>
              <a:rPr lang="en-US" sz="600" dirty="0">
                <a:hlinkClick r:id="rId2"/>
              </a:rPr>
              <a:t>https://www.nrel.gov/docs/fy22osti/83586.pdf</a:t>
            </a:r>
            <a:endParaRPr lang="en-US" sz="600" dirty="0"/>
          </a:p>
          <a:p>
            <a:endParaRPr lang="en-US" sz="600" dirty="0"/>
          </a:p>
        </p:txBody>
      </p:sp>
      <p:sp>
        <p:nvSpPr>
          <p:cNvPr id="13" name="コンテンツ プレースホルダー 1">
            <a:extLst>
              <a:ext uri="{FF2B5EF4-FFF2-40B4-BE49-F238E27FC236}">
                <a16:creationId xmlns:a16="http://schemas.microsoft.com/office/drawing/2014/main" id="{199E7BDC-D192-5EEF-8D45-83B447C9C43D}"/>
              </a:ext>
            </a:extLst>
          </p:cNvPr>
          <p:cNvSpPr>
            <a:spLocks noGrp="1"/>
          </p:cNvSpPr>
          <p:nvPr>
            <p:ph sz="quarter" idx="17"/>
          </p:nvPr>
        </p:nvSpPr>
        <p:spPr>
          <a:xfrm>
            <a:off x="4952999" y="5622693"/>
            <a:ext cx="4479950" cy="461828"/>
          </a:xfrm>
        </p:spPr>
        <p:txBody>
          <a:bodyPr/>
          <a:lstStyle/>
          <a:p>
            <a:r>
              <a:rPr kumimoji="1" lang="en-US" altLang="ja-JP" sz="1400" dirty="0"/>
              <a:t>MMP residential model is used in the cost calculation.</a:t>
            </a:r>
          </a:p>
        </p:txBody>
      </p:sp>
      <p:pic>
        <p:nvPicPr>
          <p:cNvPr id="5" name="図 4">
            <a:extLst>
              <a:ext uri="{FF2B5EF4-FFF2-40B4-BE49-F238E27FC236}">
                <a16:creationId xmlns:a16="http://schemas.microsoft.com/office/drawing/2014/main" id="{F4F70B7C-7BFB-9116-1DF0-929F8476975E}"/>
              </a:ext>
            </a:extLst>
          </p:cNvPr>
          <p:cNvPicPr>
            <a:picLocks noChangeAspect="1"/>
          </p:cNvPicPr>
          <p:nvPr/>
        </p:nvPicPr>
        <p:blipFill>
          <a:blip r:embed="rId3"/>
          <a:stretch>
            <a:fillRect/>
          </a:stretch>
        </p:blipFill>
        <p:spPr>
          <a:xfrm>
            <a:off x="118320" y="2415348"/>
            <a:ext cx="4615506" cy="2027303"/>
          </a:xfrm>
          <a:prstGeom prst="rect">
            <a:avLst/>
          </a:prstGeom>
        </p:spPr>
      </p:pic>
      <p:pic>
        <p:nvPicPr>
          <p:cNvPr id="9" name="図 8">
            <a:extLst>
              <a:ext uri="{FF2B5EF4-FFF2-40B4-BE49-F238E27FC236}">
                <a16:creationId xmlns:a16="http://schemas.microsoft.com/office/drawing/2014/main" id="{3AC41836-34EA-C81A-D752-90D813860548}"/>
              </a:ext>
            </a:extLst>
          </p:cNvPr>
          <p:cNvPicPr>
            <a:picLocks noChangeAspect="1"/>
          </p:cNvPicPr>
          <p:nvPr/>
        </p:nvPicPr>
        <p:blipFill>
          <a:blip r:embed="rId4"/>
          <a:stretch>
            <a:fillRect/>
          </a:stretch>
        </p:blipFill>
        <p:spPr>
          <a:xfrm>
            <a:off x="4898572" y="1933365"/>
            <a:ext cx="4615506" cy="2991267"/>
          </a:xfrm>
          <a:prstGeom prst="rect">
            <a:avLst/>
          </a:prstGeom>
        </p:spPr>
      </p:pic>
    </p:spTree>
    <p:extLst>
      <p:ext uri="{BB962C8B-B14F-4D97-AF65-F5344CB8AC3E}">
        <p14:creationId xmlns:p14="http://schemas.microsoft.com/office/powerpoint/2010/main" val="17749026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DB684F4C-26AD-B4AA-9E51-8C47388BD52A}"/>
              </a:ext>
            </a:extLst>
          </p:cNvPr>
          <p:cNvPicPr>
            <a:picLocks noChangeAspect="1"/>
          </p:cNvPicPr>
          <p:nvPr/>
        </p:nvPicPr>
        <p:blipFill>
          <a:blip r:embed="rId2"/>
          <a:stretch>
            <a:fillRect/>
          </a:stretch>
        </p:blipFill>
        <p:spPr>
          <a:xfrm>
            <a:off x="6289723" y="2030986"/>
            <a:ext cx="3388804" cy="2604651"/>
          </a:xfrm>
          <a:prstGeom prst="rect">
            <a:avLst/>
          </a:prstGeom>
        </p:spPr>
      </p:pic>
      <p:pic>
        <p:nvPicPr>
          <p:cNvPr id="5" name="図 4">
            <a:extLst>
              <a:ext uri="{FF2B5EF4-FFF2-40B4-BE49-F238E27FC236}">
                <a16:creationId xmlns:a16="http://schemas.microsoft.com/office/drawing/2014/main" id="{E2389208-283E-244B-0390-9726EAE6D229}"/>
              </a:ext>
            </a:extLst>
          </p:cNvPr>
          <p:cNvPicPr>
            <a:picLocks noChangeAspect="1"/>
          </p:cNvPicPr>
          <p:nvPr/>
        </p:nvPicPr>
        <p:blipFill>
          <a:blip r:embed="rId3"/>
          <a:stretch>
            <a:fillRect/>
          </a:stretch>
        </p:blipFill>
        <p:spPr>
          <a:xfrm>
            <a:off x="3525085" y="771088"/>
            <a:ext cx="2573348" cy="2916051"/>
          </a:xfrm>
          <a:prstGeom prst="rect">
            <a:avLst/>
          </a:prstGeom>
        </p:spPr>
      </p:pic>
      <p:sp>
        <p:nvSpPr>
          <p:cNvPr id="3" name="コンテンツ プレースホルダー 2">
            <a:extLst>
              <a:ext uri="{FF2B5EF4-FFF2-40B4-BE49-F238E27FC236}">
                <a16:creationId xmlns:a16="http://schemas.microsoft.com/office/drawing/2014/main" id="{BAF1CA79-0FBB-CB43-04FA-17B8379E5FCF}"/>
              </a:ext>
            </a:extLst>
          </p:cNvPr>
          <p:cNvSpPr>
            <a:spLocks noGrp="1"/>
          </p:cNvSpPr>
          <p:nvPr>
            <p:ph sz="quarter" idx="16"/>
          </p:nvPr>
        </p:nvSpPr>
        <p:spPr/>
        <p:txBody>
          <a:bodyPr/>
          <a:lstStyle/>
          <a:p>
            <a:r>
              <a:rPr kumimoji="1" lang="en-US" altLang="ja-JP" dirty="0"/>
              <a:t>CAPEX of Battery</a:t>
            </a:r>
            <a:endParaRPr kumimoji="1" lang="ja-JP" altLang="en-US" dirty="0"/>
          </a:p>
        </p:txBody>
      </p:sp>
      <p:sp>
        <p:nvSpPr>
          <p:cNvPr id="4" name="テキスト ボックス 3">
            <a:extLst>
              <a:ext uri="{FF2B5EF4-FFF2-40B4-BE49-F238E27FC236}">
                <a16:creationId xmlns:a16="http://schemas.microsoft.com/office/drawing/2014/main" id="{E4408D3D-6A0A-DCC5-EE40-54AD6D4B3C33}"/>
              </a:ext>
            </a:extLst>
          </p:cNvPr>
          <p:cNvSpPr txBox="1"/>
          <p:nvPr/>
        </p:nvSpPr>
        <p:spPr>
          <a:xfrm>
            <a:off x="118320" y="6488668"/>
            <a:ext cx="9669359" cy="276999"/>
          </a:xfrm>
          <a:prstGeom prst="rect">
            <a:avLst/>
          </a:prstGeom>
          <a:noFill/>
        </p:spPr>
        <p:txBody>
          <a:bodyPr wrap="square">
            <a:spAutoFit/>
          </a:bodyPr>
          <a:lstStyle/>
          <a:p>
            <a:r>
              <a:rPr lang="en-US" sz="600" dirty="0"/>
              <a:t>[1] </a:t>
            </a:r>
            <a:r>
              <a:rPr lang="en-US" sz="600" dirty="0">
                <a:hlinkClick r:id="rId4"/>
              </a:rPr>
              <a:t>https://www.nrel.gov/docs/fy22osti/83586.pdf</a:t>
            </a:r>
            <a:endParaRPr lang="en-US" sz="600" dirty="0"/>
          </a:p>
          <a:p>
            <a:endParaRPr lang="en-US" sz="600" dirty="0"/>
          </a:p>
        </p:txBody>
      </p:sp>
      <p:pic>
        <p:nvPicPr>
          <p:cNvPr id="6" name="図 5">
            <a:extLst>
              <a:ext uri="{FF2B5EF4-FFF2-40B4-BE49-F238E27FC236}">
                <a16:creationId xmlns:a16="http://schemas.microsoft.com/office/drawing/2014/main" id="{FE9B58C7-92CA-FB6C-D457-126C32ED99E2}"/>
              </a:ext>
            </a:extLst>
          </p:cNvPr>
          <p:cNvPicPr>
            <a:picLocks noChangeAspect="1"/>
          </p:cNvPicPr>
          <p:nvPr/>
        </p:nvPicPr>
        <p:blipFill>
          <a:blip r:embed="rId5"/>
          <a:stretch>
            <a:fillRect/>
          </a:stretch>
        </p:blipFill>
        <p:spPr>
          <a:xfrm>
            <a:off x="63890" y="761125"/>
            <a:ext cx="3363684" cy="2146561"/>
          </a:xfrm>
          <a:prstGeom prst="rect">
            <a:avLst/>
          </a:prstGeom>
        </p:spPr>
      </p:pic>
      <p:sp>
        <p:nvSpPr>
          <p:cNvPr id="15" name="矢印: 右 14">
            <a:extLst>
              <a:ext uri="{FF2B5EF4-FFF2-40B4-BE49-F238E27FC236}">
                <a16:creationId xmlns:a16="http://schemas.microsoft.com/office/drawing/2014/main" id="{8705EB10-38BF-A728-B078-1F5D02CC1B68}"/>
              </a:ext>
            </a:extLst>
          </p:cNvPr>
          <p:cNvSpPr/>
          <p:nvPr/>
        </p:nvSpPr>
        <p:spPr>
          <a:xfrm rot="16200000">
            <a:off x="7948366" y="4567566"/>
            <a:ext cx="277000" cy="30828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コンテンツ プレースホルダー 1">
            <a:extLst>
              <a:ext uri="{FF2B5EF4-FFF2-40B4-BE49-F238E27FC236}">
                <a16:creationId xmlns:a16="http://schemas.microsoft.com/office/drawing/2014/main" id="{6878A9DF-51C6-2BA1-39CC-093C7D43F282}"/>
              </a:ext>
            </a:extLst>
          </p:cNvPr>
          <p:cNvSpPr txBox="1">
            <a:spLocks/>
          </p:cNvSpPr>
          <p:nvPr/>
        </p:nvSpPr>
        <p:spPr>
          <a:xfrm>
            <a:off x="227473" y="4210011"/>
            <a:ext cx="3511155" cy="568803"/>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kumimoji="1" lang="en-US" altLang="ja-JP" sz="1400" dirty="0"/>
              <a:t>MSP: Minimum Sustainable Price</a:t>
            </a:r>
          </a:p>
          <a:p>
            <a:r>
              <a:rPr kumimoji="1" lang="en-US" altLang="ja-JP" sz="1400" dirty="0"/>
              <a:t>MMP: Modeled Market Price</a:t>
            </a:r>
          </a:p>
        </p:txBody>
      </p:sp>
      <p:pic>
        <p:nvPicPr>
          <p:cNvPr id="9" name="図 8">
            <a:extLst>
              <a:ext uri="{FF2B5EF4-FFF2-40B4-BE49-F238E27FC236}">
                <a16:creationId xmlns:a16="http://schemas.microsoft.com/office/drawing/2014/main" id="{5EEA83DD-C6CC-65DE-00F6-762AA2CD04E7}"/>
              </a:ext>
            </a:extLst>
          </p:cNvPr>
          <p:cNvPicPr>
            <a:picLocks noChangeAspect="1"/>
          </p:cNvPicPr>
          <p:nvPr/>
        </p:nvPicPr>
        <p:blipFill>
          <a:blip r:embed="rId6"/>
          <a:stretch>
            <a:fillRect/>
          </a:stretch>
        </p:blipFill>
        <p:spPr>
          <a:xfrm>
            <a:off x="3521917" y="3662249"/>
            <a:ext cx="2576516" cy="1337048"/>
          </a:xfrm>
          <a:prstGeom prst="rect">
            <a:avLst/>
          </a:prstGeom>
        </p:spPr>
      </p:pic>
      <p:sp>
        <p:nvSpPr>
          <p:cNvPr id="17" name="コンテンツ プレースホルダー 1">
            <a:extLst>
              <a:ext uri="{FF2B5EF4-FFF2-40B4-BE49-F238E27FC236}">
                <a16:creationId xmlns:a16="http://schemas.microsoft.com/office/drawing/2014/main" id="{1BB508A4-4C18-48C0-14B0-B1B217CF2C5D}"/>
              </a:ext>
            </a:extLst>
          </p:cNvPr>
          <p:cNvSpPr txBox="1">
            <a:spLocks/>
          </p:cNvSpPr>
          <p:nvPr/>
        </p:nvSpPr>
        <p:spPr>
          <a:xfrm>
            <a:off x="6289723" y="4891089"/>
            <a:ext cx="3511155" cy="1566697"/>
          </a:xfrm>
          <a:prstGeom prst="rect">
            <a:avLst/>
          </a:prstGeom>
        </p:spPr>
        <p:txBody>
          <a:bodyPr/>
          <a:lstStyle>
            <a:lvl1pPr marL="0" indent="0" algn="l" defTabSz="685800" rtl="0" eaLnBrk="1" latinLnBrk="0" hangingPunct="1">
              <a:lnSpc>
                <a:spcPct val="90000"/>
              </a:lnSpc>
              <a:spcBef>
                <a:spcPts val="750"/>
              </a:spcBef>
              <a:buFont typeface="Arial" panose="020B0604020202020204" pitchFamily="34" charset="0"/>
              <a:buNone/>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kumimoji="1" lang="en-US" altLang="ja-JP" sz="1400" dirty="0"/>
              <a:t>MMP model is used in the cost calculation.</a:t>
            </a:r>
          </a:p>
          <a:p>
            <a:endParaRPr kumimoji="1" lang="en-US" altLang="ja-JP" sz="1400" dirty="0"/>
          </a:p>
          <a:p>
            <a:r>
              <a:rPr kumimoji="1" lang="en-US" altLang="ja-JP" sz="1400" dirty="0"/>
              <a:t>CAPEX per year is calculated by Straight Line Method.</a:t>
            </a:r>
            <a:br>
              <a:rPr kumimoji="1" lang="en-US" altLang="ja-JP" sz="1400" dirty="0"/>
            </a:br>
            <a:r>
              <a:rPr kumimoji="1" lang="en-US" altLang="ja-JP" sz="1400" dirty="0"/>
              <a:t>The statutory useful life of the depreciable </a:t>
            </a:r>
            <a:br>
              <a:rPr kumimoji="1" lang="en-US" altLang="ja-JP" sz="1400" dirty="0"/>
            </a:br>
            <a:r>
              <a:rPr kumimoji="1" lang="en-US" altLang="ja-JP" sz="1400" dirty="0"/>
              <a:t>assets for Battery is 6 years.</a:t>
            </a:r>
          </a:p>
        </p:txBody>
      </p:sp>
      <p:sp>
        <p:nvSpPr>
          <p:cNvPr id="20" name="コンテンツ プレースホルダー 1">
            <a:extLst>
              <a:ext uri="{FF2B5EF4-FFF2-40B4-BE49-F238E27FC236}">
                <a16:creationId xmlns:a16="http://schemas.microsoft.com/office/drawing/2014/main" id="{BBB70C4C-6595-0146-7513-CB06032AD5F7}"/>
              </a:ext>
            </a:extLst>
          </p:cNvPr>
          <p:cNvSpPr>
            <a:spLocks noGrp="1"/>
          </p:cNvSpPr>
          <p:nvPr>
            <p:ph sz="quarter" idx="17"/>
          </p:nvPr>
        </p:nvSpPr>
        <p:spPr>
          <a:xfrm>
            <a:off x="105122" y="6188096"/>
            <a:ext cx="4479950" cy="276999"/>
          </a:xfrm>
        </p:spPr>
        <p:txBody>
          <a:bodyPr/>
          <a:lstStyle/>
          <a:p>
            <a:r>
              <a:rPr kumimoji="1" lang="en-US" altLang="ja-JP" sz="1400" dirty="0"/>
              <a:t>※OPEX of Battery is not provided in the NREL report.</a:t>
            </a:r>
          </a:p>
        </p:txBody>
      </p:sp>
    </p:spTree>
    <p:extLst>
      <p:ext uri="{BB962C8B-B14F-4D97-AF65-F5344CB8AC3E}">
        <p14:creationId xmlns:p14="http://schemas.microsoft.com/office/powerpoint/2010/main" val="155699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4F30B8B7-1CF8-B9F2-FB6E-1DA45A3E6F52}"/>
              </a:ext>
            </a:extLst>
          </p:cNvPr>
          <p:cNvSpPr>
            <a:spLocks noGrp="1"/>
          </p:cNvSpPr>
          <p:nvPr>
            <p:ph sz="quarter" idx="16"/>
          </p:nvPr>
        </p:nvSpPr>
        <p:spPr/>
        <p:txBody>
          <a:bodyPr/>
          <a:lstStyle/>
          <a:p>
            <a:r>
              <a:rPr lang="en-US" dirty="0"/>
              <a:t>Previous</a:t>
            </a:r>
            <a:r>
              <a:rPr lang="ja-JP" altLang="en-US" dirty="0"/>
              <a:t> </a:t>
            </a:r>
            <a:r>
              <a:rPr lang="en-US" altLang="ja-JP" dirty="0"/>
              <a:t>research</a:t>
            </a:r>
            <a:endParaRPr lang="en-US" dirty="0"/>
          </a:p>
        </p:txBody>
      </p:sp>
      <p:graphicFrame>
        <p:nvGraphicFramePr>
          <p:cNvPr id="4" name="表 3">
            <a:extLst>
              <a:ext uri="{FF2B5EF4-FFF2-40B4-BE49-F238E27FC236}">
                <a16:creationId xmlns:a16="http://schemas.microsoft.com/office/drawing/2014/main" id="{DCB1B3B7-C7A2-D11C-7D52-AA55799A61A1}"/>
              </a:ext>
            </a:extLst>
          </p:cNvPr>
          <p:cNvGraphicFramePr>
            <a:graphicFrameLocks noGrp="1"/>
          </p:cNvGraphicFramePr>
          <p:nvPr>
            <p:extLst>
              <p:ext uri="{D42A27DB-BD31-4B8C-83A1-F6EECF244321}">
                <p14:modId xmlns:p14="http://schemas.microsoft.com/office/powerpoint/2010/main" val="1575301909"/>
              </p:ext>
            </p:extLst>
          </p:nvPr>
        </p:nvGraphicFramePr>
        <p:xfrm>
          <a:off x="123826" y="851064"/>
          <a:ext cx="9669360" cy="3517867"/>
        </p:xfrm>
        <a:graphic>
          <a:graphicData uri="http://schemas.openxmlformats.org/drawingml/2006/table">
            <a:tbl>
              <a:tblPr firstRow="1" bandRow="1">
                <a:tableStyleId>{073A0DAA-6AF3-43AB-8588-CEC1D06C72B9}</a:tableStyleId>
              </a:tblPr>
              <a:tblGrid>
                <a:gridCol w="1394409">
                  <a:extLst>
                    <a:ext uri="{9D8B030D-6E8A-4147-A177-3AD203B41FA5}">
                      <a16:colId xmlns:a16="http://schemas.microsoft.com/office/drawing/2014/main" val="2277309603"/>
                    </a:ext>
                  </a:extLst>
                </a:gridCol>
                <a:gridCol w="4082960">
                  <a:extLst>
                    <a:ext uri="{9D8B030D-6E8A-4147-A177-3AD203B41FA5}">
                      <a16:colId xmlns:a16="http://schemas.microsoft.com/office/drawing/2014/main" val="3991979406"/>
                    </a:ext>
                  </a:extLst>
                </a:gridCol>
                <a:gridCol w="851065">
                  <a:extLst>
                    <a:ext uri="{9D8B030D-6E8A-4147-A177-3AD203B41FA5}">
                      <a16:colId xmlns:a16="http://schemas.microsoft.com/office/drawing/2014/main" val="4146701185"/>
                    </a:ext>
                  </a:extLst>
                </a:gridCol>
                <a:gridCol w="811480">
                  <a:extLst>
                    <a:ext uri="{9D8B030D-6E8A-4147-A177-3AD203B41FA5}">
                      <a16:colId xmlns:a16="http://schemas.microsoft.com/office/drawing/2014/main" val="124853328"/>
                    </a:ext>
                  </a:extLst>
                </a:gridCol>
                <a:gridCol w="728354">
                  <a:extLst>
                    <a:ext uri="{9D8B030D-6E8A-4147-A177-3AD203B41FA5}">
                      <a16:colId xmlns:a16="http://schemas.microsoft.com/office/drawing/2014/main" val="1214598982"/>
                    </a:ext>
                  </a:extLst>
                </a:gridCol>
                <a:gridCol w="688768">
                  <a:extLst>
                    <a:ext uri="{9D8B030D-6E8A-4147-A177-3AD203B41FA5}">
                      <a16:colId xmlns:a16="http://schemas.microsoft.com/office/drawing/2014/main" val="3837196901"/>
                    </a:ext>
                  </a:extLst>
                </a:gridCol>
                <a:gridCol w="633351">
                  <a:extLst>
                    <a:ext uri="{9D8B030D-6E8A-4147-A177-3AD203B41FA5}">
                      <a16:colId xmlns:a16="http://schemas.microsoft.com/office/drawing/2014/main" val="1941594223"/>
                    </a:ext>
                  </a:extLst>
                </a:gridCol>
                <a:gridCol w="478973">
                  <a:extLst>
                    <a:ext uri="{9D8B030D-6E8A-4147-A177-3AD203B41FA5}">
                      <a16:colId xmlns:a16="http://schemas.microsoft.com/office/drawing/2014/main" val="2823365316"/>
                    </a:ext>
                  </a:extLst>
                </a:gridCol>
              </a:tblGrid>
              <a:tr h="500347">
                <a:tc>
                  <a:txBody>
                    <a:bodyPr/>
                    <a:lstStyle/>
                    <a:p>
                      <a:r>
                        <a:rPr lang="en-US" sz="1200" dirty="0"/>
                        <a:t>Target variable</a:t>
                      </a:r>
                    </a:p>
                  </a:txBody>
                  <a:tcPr/>
                </a:tc>
                <a:tc>
                  <a:txBody>
                    <a:bodyPr/>
                    <a:lstStyle/>
                    <a:p>
                      <a:r>
                        <a:rPr lang="en-US" sz="1200" dirty="0"/>
                        <a:t>Method</a:t>
                      </a:r>
                    </a:p>
                  </a:txBody>
                  <a:tcPr/>
                </a:tc>
                <a:tc>
                  <a:txBody>
                    <a:bodyPr/>
                    <a:lstStyle/>
                    <a:p>
                      <a:r>
                        <a:rPr lang="en-US" sz="1200" dirty="0"/>
                        <a:t>Demand response</a:t>
                      </a:r>
                    </a:p>
                  </a:txBody>
                  <a:tcPr/>
                </a:tc>
                <a:tc>
                  <a:txBody>
                    <a:bodyPr/>
                    <a:lstStyle/>
                    <a:p>
                      <a:r>
                        <a:rPr lang="en-US" sz="1200" dirty="0"/>
                        <a:t>Battery</a:t>
                      </a:r>
                    </a:p>
                  </a:txBody>
                  <a:tcPr/>
                </a:tc>
                <a:tc>
                  <a:txBody>
                    <a:bodyPr/>
                    <a:lstStyle/>
                    <a:p>
                      <a:r>
                        <a:rPr lang="en-US" sz="1200" dirty="0"/>
                        <a:t>EV battery</a:t>
                      </a:r>
                    </a:p>
                  </a:txBody>
                  <a:tcPr/>
                </a:tc>
                <a:tc>
                  <a:txBody>
                    <a:bodyPr/>
                    <a:lstStyle/>
                    <a:p>
                      <a:r>
                        <a:rPr lang="en-US" sz="1200" dirty="0"/>
                        <a:t>bids</a:t>
                      </a:r>
                    </a:p>
                  </a:txBody>
                  <a:tcPr/>
                </a:tc>
                <a:tc>
                  <a:txBody>
                    <a:bodyPr/>
                    <a:lstStyle/>
                    <a:p>
                      <a:r>
                        <a:rPr lang="en-US" sz="1200" dirty="0"/>
                        <a:t>Year</a:t>
                      </a:r>
                    </a:p>
                  </a:txBody>
                  <a:tcPr/>
                </a:tc>
                <a:tc>
                  <a:txBody>
                    <a:bodyPr/>
                    <a:lstStyle/>
                    <a:p>
                      <a:r>
                        <a:rPr lang="en-US" sz="1200" dirty="0"/>
                        <a:t>Ref.</a:t>
                      </a:r>
                    </a:p>
                  </a:txBody>
                  <a:tcPr/>
                </a:tc>
                <a:extLst>
                  <a:ext uri="{0D108BD9-81ED-4DB2-BD59-A6C34878D82A}">
                    <a16:rowId xmlns:a16="http://schemas.microsoft.com/office/drawing/2014/main" val="3683012988"/>
                  </a:ext>
                </a:extLst>
              </a:tr>
              <a:tr h="500347">
                <a:tc>
                  <a:txBody>
                    <a:bodyPr/>
                    <a:lstStyle/>
                    <a:p>
                      <a:r>
                        <a:rPr lang="en-US" dirty="0"/>
                        <a:t>Energy retail price</a:t>
                      </a:r>
                    </a:p>
                  </a:txBody>
                  <a:tcPr/>
                </a:tc>
                <a:tc>
                  <a:txBody>
                    <a:bodyPr/>
                    <a:lstStyle/>
                    <a:p>
                      <a:r>
                        <a:rPr lang="en-US" dirty="0"/>
                        <a:t>Reinforcement Learning (Q-learning)</a:t>
                      </a:r>
                    </a:p>
                  </a:txBody>
                  <a:tcPr/>
                </a:tc>
                <a:tc>
                  <a:txBody>
                    <a:bodyPr/>
                    <a:lstStyle/>
                    <a:p>
                      <a:r>
                        <a:rPr lang="ja-JP" altLang="en-US" dirty="0"/>
                        <a:t>✓</a:t>
                      </a:r>
                      <a:endParaRPr lang="en-US" dirty="0"/>
                    </a:p>
                  </a:txBody>
                  <a:tcPr/>
                </a:tc>
                <a:tc>
                  <a:txBody>
                    <a:bodyPr/>
                    <a:lstStyle/>
                    <a:p>
                      <a:r>
                        <a:rPr lang="en-US" dirty="0"/>
                        <a:t>-</a:t>
                      </a:r>
                    </a:p>
                  </a:txBody>
                  <a:tcPr/>
                </a:tc>
                <a:tc>
                  <a:txBody>
                    <a:bodyPr/>
                    <a:lstStyle/>
                    <a:p>
                      <a:r>
                        <a:rPr lang="en-US" dirty="0"/>
                        <a:t>-</a:t>
                      </a:r>
                    </a:p>
                  </a:txBody>
                  <a:tcPr/>
                </a:tc>
                <a:tc>
                  <a:txBody>
                    <a:bodyPr/>
                    <a:lstStyle/>
                    <a:p>
                      <a:r>
                        <a:rPr lang="en-US" dirty="0"/>
                        <a:t>-</a:t>
                      </a:r>
                    </a:p>
                  </a:txBody>
                  <a:tcPr/>
                </a:tc>
                <a:tc>
                  <a:txBody>
                    <a:bodyPr/>
                    <a:lstStyle/>
                    <a:p>
                      <a:r>
                        <a:rPr lang="en-US" altLang="ja-JP" dirty="0"/>
                        <a:t>2018</a:t>
                      </a:r>
                      <a:endParaRPr lang="en-US" dirty="0"/>
                    </a:p>
                  </a:txBody>
                  <a:tcPr/>
                </a:tc>
                <a:tc>
                  <a:txBody>
                    <a:bodyPr/>
                    <a:lstStyle/>
                    <a:p>
                      <a:r>
                        <a:rPr lang="en-US" dirty="0"/>
                        <a:t>1</a:t>
                      </a:r>
                    </a:p>
                  </a:txBody>
                  <a:tcPr/>
                </a:tc>
                <a:extLst>
                  <a:ext uri="{0D108BD9-81ED-4DB2-BD59-A6C34878D82A}">
                    <a16:rowId xmlns:a16="http://schemas.microsoft.com/office/drawing/2014/main" val="3210442989"/>
                  </a:ext>
                </a:extLst>
              </a:tr>
              <a:tr h="500347">
                <a:tc>
                  <a:txBody>
                    <a:bodyPr/>
                    <a:lstStyle/>
                    <a:p>
                      <a:r>
                        <a:rPr lang="en-US" dirty="0"/>
                        <a:t>Energy retail price</a:t>
                      </a:r>
                    </a:p>
                  </a:txBody>
                  <a:tcPr/>
                </a:tc>
                <a:tc>
                  <a:txBody>
                    <a:bodyPr/>
                    <a:lstStyle/>
                    <a:p>
                      <a:r>
                        <a:rPr lang="en-US" dirty="0"/>
                        <a:t>Deep Reinforcement Learning (Proximal Policy Optimization)</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a:t>
                      </a:r>
                    </a:p>
                  </a:txBody>
                  <a:tcPr/>
                </a:tc>
                <a:tc>
                  <a:txBody>
                    <a:bodyPr/>
                    <a:lstStyle/>
                    <a:p>
                      <a:r>
                        <a:rPr lang="en-US" dirty="0"/>
                        <a:t>-</a:t>
                      </a:r>
                    </a:p>
                  </a:txBody>
                  <a:tcPr/>
                </a:tc>
                <a:tc>
                  <a:txBody>
                    <a:bodyPr/>
                    <a:lstStyle/>
                    <a:p>
                      <a:r>
                        <a:rPr lang="en-US" dirty="0"/>
                        <a:t>2024</a:t>
                      </a:r>
                    </a:p>
                  </a:txBody>
                  <a:tcPr/>
                </a:tc>
                <a:tc>
                  <a:txBody>
                    <a:bodyPr/>
                    <a:lstStyle/>
                    <a:p>
                      <a:r>
                        <a:rPr lang="en-US" dirty="0"/>
                        <a:t>2</a:t>
                      </a:r>
                    </a:p>
                  </a:txBody>
                  <a:tcPr/>
                </a:tc>
                <a:extLst>
                  <a:ext uri="{0D108BD9-81ED-4DB2-BD59-A6C34878D82A}">
                    <a16:rowId xmlns:a16="http://schemas.microsoft.com/office/drawing/2014/main" val="4094834131"/>
                  </a:ext>
                </a:extLst>
              </a:tr>
              <a:tr h="500347">
                <a:tc>
                  <a:txBody>
                    <a:bodyPr/>
                    <a:lstStyle/>
                    <a:p>
                      <a:r>
                        <a:rPr lang="en-US" dirty="0"/>
                        <a:t>Energy retail price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Reinforcement Learning (Q-learning)</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r>
                        <a:rPr lang="en-US" altLang="ja-JP" dirty="0"/>
                        <a:t>(Cen-</a:t>
                      </a:r>
                      <a:r>
                        <a:rPr lang="en-US" altLang="ja-JP" dirty="0" err="1"/>
                        <a:t>tralized</a:t>
                      </a:r>
                      <a:r>
                        <a:rPr lang="en-US" altLang="ja-JP" dirty="0"/>
                        <a:t>)</a:t>
                      </a:r>
                      <a:endParaRPr lang="en-US" dirty="0"/>
                    </a:p>
                  </a:txBody>
                  <a:tcPr/>
                </a:tc>
                <a:tc>
                  <a:txBody>
                    <a:bodyPr/>
                    <a:lstStyle/>
                    <a:p>
                      <a:r>
                        <a:rPr lang="en-US" dirty="0"/>
                        <a:t>-</a:t>
                      </a:r>
                    </a:p>
                  </a:txBody>
                  <a:tcPr/>
                </a:tc>
                <a:tc>
                  <a:txBody>
                    <a:bodyPr/>
                    <a:lstStyle/>
                    <a:p>
                      <a:r>
                        <a:rPr lang="en-US" dirty="0"/>
                        <a:t>-</a:t>
                      </a:r>
                    </a:p>
                  </a:txBody>
                  <a:tcPr/>
                </a:tc>
                <a:tc>
                  <a:txBody>
                    <a:bodyPr/>
                    <a:lstStyle/>
                    <a:p>
                      <a:r>
                        <a:rPr lang="en-US" dirty="0"/>
                        <a:t>2021</a:t>
                      </a:r>
                    </a:p>
                  </a:txBody>
                  <a:tcPr/>
                </a:tc>
                <a:tc>
                  <a:txBody>
                    <a:bodyPr/>
                    <a:lstStyle/>
                    <a:p>
                      <a:r>
                        <a:rPr lang="en-US" dirty="0"/>
                        <a:t>3</a:t>
                      </a:r>
                    </a:p>
                  </a:txBody>
                  <a:tcPr/>
                </a:tc>
                <a:extLst>
                  <a:ext uri="{0D108BD9-81ED-4DB2-BD59-A6C34878D82A}">
                    <a16:rowId xmlns:a16="http://schemas.microsoft.com/office/drawing/2014/main" val="3325424039"/>
                  </a:ext>
                </a:extLst>
              </a:tr>
              <a:tr h="500347">
                <a:tc>
                  <a:txBody>
                    <a:bodyPr/>
                    <a:lstStyle/>
                    <a:p>
                      <a:r>
                        <a:rPr lang="en-US" dirty="0"/>
                        <a:t>Total cost</a:t>
                      </a:r>
                    </a:p>
                  </a:txBody>
                  <a:tcPr/>
                </a:tc>
                <a:tc>
                  <a:txBody>
                    <a:bodyPr/>
                    <a:lstStyle/>
                    <a:p>
                      <a:r>
                        <a:rPr lang="en-US" dirty="0"/>
                        <a:t>Mixed-</a:t>
                      </a:r>
                      <a:r>
                        <a:rPr lang="en-US" dirty="0" err="1"/>
                        <a:t>Lnteger</a:t>
                      </a:r>
                      <a:r>
                        <a:rPr lang="en-US" dirty="0"/>
                        <a:t> Linear Problem</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2020</a:t>
                      </a:r>
                    </a:p>
                  </a:txBody>
                  <a:tcPr/>
                </a:tc>
                <a:tc>
                  <a:txBody>
                    <a:bodyPr/>
                    <a:lstStyle/>
                    <a:p>
                      <a:r>
                        <a:rPr lang="en-US" dirty="0"/>
                        <a:t>4</a:t>
                      </a:r>
                    </a:p>
                  </a:txBody>
                  <a:tcPr/>
                </a:tc>
                <a:extLst>
                  <a:ext uri="{0D108BD9-81ED-4DB2-BD59-A6C34878D82A}">
                    <a16:rowId xmlns:a16="http://schemas.microsoft.com/office/drawing/2014/main" val="1374433075"/>
                  </a:ext>
                </a:extLst>
              </a:tr>
              <a:tr h="500347">
                <a:tc>
                  <a:txBody>
                    <a:bodyPr/>
                    <a:lstStyle/>
                    <a:p>
                      <a:r>
                        <a:rPr lang="en-US" dirty="0"/>
                        <a:t>Cost of each agent</a:t>
                      </a:r>
                    </a:p>
                  </a:txBody>
                  <a:tcPr/>
                </a:tc>
                <a:tc>
                  <a:txBody>
                    <a:bodyPr/>
                    <a:lstStyle/>
                    <a:p>
                      <a:r>
                        <a:rPr lang="en-US" dirty="0"/>
                        <a:t>Reinforcement Learning (DA-MADDPG)</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t>
                      </a:r>
                    </a:p>
                    <a:p>
                      <a:endParaRPr 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2021</a:t>
                      </a:r>
                    </a:p>
                  </a:txBody>
                  <a:tcPr/>
                </a:tc>
                <a:tc>
                  <a:txBody>
                    <a:bodyPr/>
                    <a:lstStyle/>
                    <a:p>
                      <a:r>
                        <a:rPr lang="en-US" dirty="0"/>
                        <a:t>5</a:t>
                      </a:r>
                    </a:p>
                  </a:txBody>
                  <a:tcPr/>
                </a:tc>
                <a:extLst>
                  <a:ext uri="{0D108BD9-81ED-4DB2-BD59-A6C34878D82A}">
                    <a16:rowId xmlns:a16="http://schemas.microsoft.com/office/drawing/2014/main" val="1021101085"/>
                  </a:ext>
                </a:extLst>
              </a:tr>
              <a:tr h="500347">
                <a:tc>
                  <a:txBody>
                    <a:bodyPr/>
                    <a:lstStyle/>
                    <a:p>
                      <a:r>
                        <a:rPr lang="en-US" dirty="0"/>
                        <a:t>Cost of each agent</a:t>
                      </a:r>
                    </a:p>
                  </a:txBody>
                  <a:tcPr/>
                </a:tc>
                <a:tc>
                  <a:txBody>
                    <a:bodyPr/>
                    <a:lstStyle/>
                    <a:p>
                      <a:r>
                        <a:rPr lang="en-US" dirty="0"/>
                        <a:t>Deep Reinforcement Learning (TD3)</a:t>
                      </a:r>
                    </a:p>
                  </a:txBody>
                  <a:tcPr/>
                </a:tc>
                <a:tc>
                  <a:txBody>
                    <a:bodyPr/>
                    <a:lstStyle/>
                    <a:p>
                      <a:r>
                        <a:rPr lang="en-US" dirty="0"/>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dirty="0"/>
                        <a:t>✓</a:t>
                      </a:r>
                      <a:endParaRPr lang="en-US" dirty="0"/>
                    </a:p>
                    <a:p>
                      <a:endParaRPr lang="en-US" dirty="0"/>
                    </a:p>
                  </a:txBody>
                  <a:tcPr/>
                </a:tc>
                <a:tc>
                  <a:txBody>
                    <a:bodyPr/>
                    <a:lstStyle/>
                    <a:p>
                      <a:r>
                        <a:rPr lang="en-US" dirty="0"/>
                        <a:t>2023</a:t>
                      </a:r>
                    </a:p>
                  </a:txBody>
                  <a:tcPr/>
                </a:tc>
                <a:tc>
                  <a:txBody>
                    <a:bodyPr/>
                    <a:lstStyle/>
                    <a:p>
                      <a:r>
                        <a:rPr lang="en-US" dirty="0"/>
                        <a:t>6</a:t>
                      </a:r>
                    </a:p>
                  </a:txBody>
                  <a:tcPr/>
                </a:tc>
                <a:extLst>
                  <a:ext uri="{0D108BD9-81ED-4DB2-BD59-A6C34878D82A}">
                    <a16:rowId xmlns:a16="http://schemas.microsoft.com/office/drawing/2014/main" val="260642583"/>
                  </a:ext>
                </a:extLst>
              </a:tr>
            </a:tbl>
          </a:graphicData>
        </a:graphic>
      </p:graphicFrame>
      <p:sp>
        <p:nvSpPr>
          <p:cNvPr id="5" name="テキスト ボックス 4">
            <a:extLst>
              <a:ext uri="{FF2B5EF4-FFF2-40B4-BE49-F238E27FC236}">
                <a16:creationId xmlns:a16="http://schemas.microsoft.com/office/drawing/2014/main" id="{52DA13E7-226C-28EA-9EEF-4109170C5984}"/>
              </a:ext>
            </a:extLst>
          </p:cNvPr>
          <p:cNvSpPr txBox="1"/>
          <p:nvPr/>
        </p:nvSpPr>
        <p:spPr>
          <a:xfrm>
            <a:off x="123824" y="5285947"/>
            <a:ext cx="9669359" cy="1107996"/>
          </a:xfrm>
          <a:prstGeom prst="rect">
            <a:avLst/>
          </a:prstGeom>
          <a:noFill/>
        </p:spPr>
        <p:txBody>
          <a:bodyPr wrap="square">
            <a:spAutoFit/>
          </a:bodyPr>
          <a:lstStyle/>
          <a:p>
            <a:r>
              <a:rPr lang="en-US" sz="600" dirty="0"/>
              <a:t>[1] </a:t>
            </a:r>
            <a:r>
              <a:rPr lang="en-US" sz="600" dirty="0" err="1"/>
              <a:t>Renzhi</a:t>
            </a:r>
            <a:r>
              <a:rPr lang="en-US" sz="600" dirty="0"/>
              <a:t> Lu, Seung Ho Hong, </a:t>
            </a:r>
            <a:r>
              <a:rPr lang="en-US" sz="600" dirty="0" err="1"/>
              <a:t>Xiongfeng</a:t>
            </a:r>
            <a:r>
              <a:rPr lang="en-US" sz="600" dirty="0"/>
              <a:t> Zhang, "A Dynamic pricing demand response algorithm for smart grid: Reinforcement learning approach, " in Applied Energy, Vol. 220, pp. 220-230, 2018, </a:t>
            </a:r>
            <a:r>
              <a:rPr lang="en-US" sz="600" dirty="0" err="1"/>
              <a:t>doi</a:t>
            </a:r>
            <a:r>
              <a:rPr lang="en-US" sz="600" dirty="0"/>
              <a:t>: 10.1016/j.apenergy.2018.03.072.</a:t>
            </a:r>
          </a:p>
          <a:p>
            <a:r>
              <a:rPr lang="en-US" sz="600" dirty="0"/>
              <a:t>[2] D. </a:t>
            </a:r>
            <a:r>
              <a:rPr lang="en-US" sz="600" dirty="0" err="1"/>
              <a:t>Watari</a:t>
            </a:r>
            <a:r>
              <a:rPr lang="en-US" sz="600" dirty="0"/>
              <a:t>, I. Taniguchi and T. </a:t>
            </a:r>
            <a:r>
              <a:rPr lang="en-US" sz="600" dirty="0" err="1"/>
              <a:t>Onoye</a:t>
            </a:r>
            <a:r>
              <a:rPr lang="en-US" sz="600" dirty="0"/>
              <a:t>, "Duck Curve Aware Dynamic Pricing and Battery Scheduling Strategy Using Reinforcement Learning," in IEEE Transactions on Smart Grid, Vol. 15(1), pp. 457-471, 2024, </a:t>
            </a:r>
            <a:r>
              <a:rPr lang="en-US" sz="600" dirty="0" err="1"/>
              <a:t>doi</a:t>
            </a:r>
            <a:r>
              <a:rPr lang="en-US" sz="600" dirty="0"/>
              <a:t>: 10.1109/TSG.2023.3288355.</a:t>
            </a:r>
          </a:p>
          <a:p>
            <a:r>
              <a:rPr lang="en-US" sz="600" dirty="0"/>
              <a:t>[3] Li He, </a:t>
            </a:r>
            <a:r>
              <a:rPr lang="en-US" sz="600" dirty="0" err="1"/>
              <a:t>Yuanzhi</a:t>
            </a:r>
            <a:r>
              <a:rPr lang="en-US" sz="600" dirty="0"/>
              <a:t> Liu, Jie Zhang, “Peer-to-peer energy sharing with battery storage: Energy pawn in the smart grid,” in Applied Energy, Vol. 297, 117129, 2021, doi.org/10.1016/j.apenergy.2021.117129.</a:t>
            </a:r>
          </a:p>
          <a:p>
            <a:r>
              <a:rPr lang="en-US" sz="600" dirty="0"/>
              <a:t>[4] </a:t>
            </a:r>
            <a:r>
              <a:rPr lang="en-US" sz="600" dirty="0" err="1"/>
              <a:t>Suyang</a:t>
            </a:r>
            <a:r>
              <a:rPr lang="en-US" sz="600" dirty="0"/>
              <a:t> Zhou, </a:t>
            </a:r>
            <a:r>
              <a:rPr lang="en-US" sz="600" dirty="0" err="1"/>
              <a:t>Fenghua</a:t>
            </a:r>
            <a:r>
              <a:rPr lang="en-US" sz="600" dirty="0"/>
              <a:t> Zou, Zhi Wu, Wei Gu, </a:t>
            </a:r>
            <a:r>
              <a:rPr lang="en-US" sz="600" dirty="0" err="1"/>
              <a:t>Qiteng</a:t>
            </a:r>
            <a:r>
              <a:rPr lang="en-US" sz="600" dirty="0"/>
              <a:t> Hong, Campbell Booth,  “A smart community energy management scheme considering user dominated demand side response and P2P trading,” in International Journal of Electrical Power &amp; Energy Systems, Vol. 114, 105378, 2020, doi.org/10.1016/j.ijepes.2019.105378.</a:t>
            </a:r>
          </a:p>
          <a:p>
            <a:r>
              <a:rPr lang="en-US" sz="600" dirty="0"/>
              <a:t>[5] Qiu D., Wang J., Wang J., </a:t>
            </a:r>
            <a:r>
              <a:rPr lang="en-US" sz="600" dirty="0" err="1"/>
              <a:t>Strbac</a:t>
            </a:r>
            <a:r>
              <a:rPr lang="en-US" sz="600" dirty="0"/>
              <a:t> </a:t>
            </a:r>
            <a:r>
              <a:rPr lang="en-US" sz="600" dirty="0" err="1"/>
              <a:t>G,“Multi</a:t>
            </a:r>
            <a:r>
              <a:rPr lang="en-US" sz="600" dirty="0"/>
              <a:t>-Agent Reinforcement Learning for Automated Peer-to-Peer Energy Trading in Double-Side Auction Market,” in IJCAI International Joint Conference on Artificial Intelligence, pp. 2913 - 2920, 2021, doi.org/10.24963/ijcai.2021/401</a:t>
            </a:r>
          </a:p>
          <a:p>
            <a:r>
              <a:rPr lang="en-US" sz="600" dirty="0"/>
              <a:t>[6] H. Zhang, K. Kok and N. G. </a:t>
            </a:r>
            <a:r>
              <a:rPr lang="en-US" sz="600" dirty="0" err="1"/>
              <a:t>Paterakis</a:t>
            </a:r>
            <a:r>
              <a:rPr lang="en-US" sz="600" dirty="0"/>
              <a:t>, "Deep Reinforcement Learning-Based Prosumer Aggregation Bidding Strategy in a Hierarchical Local Electricity Market," 2023 Asia Meeting on Environment and Electrical Engineering (EEE-AM), Hanoi, Vietnam, 2023, pp. 01-06, </a:t>
            </a:r>
            <a:r>
              <a:rPr lang="en-US" sz="600" dirty="0" err="1"/>
              <a:t>doi</a:t>
            </a:r>
            <a:r>
              <a:rPr lang="en-US" sz="600" dirty="0"/>
              <a:t>: 10.1109/EEE-AM58328.2023.10395533.</a:t>
            </a:r>
          </a:p>
          <a:p>
            <a:endParaRPr lang="en-US" sz="600" dirty="0"/>
          </a:p>
          <a:p>
            <a:endParaRPr lang="en-US" sz="600" dirty="0"/>
          </a:p>
          <a:p>
            <a:endParaRPr lang="en-US" sz="600" dirty="0"/>
          </a:p>
        </p:txBody>
      </p:sp>
    </p:spTree>
    <p:extLst>
      <p:ext uri="{BB962C8B-B14F-4D97-AF65-F5344CB8AC3E}">
        <p14:creationId xmlns:p14="http://schemas.microsoft.com/office/powerpoint/2010/main" val="10957681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A9E88A8-BD80-796C-E868-1325DCB21ADE}"/>
              </a:ext>
            </a:extLst>
          </p:cNvPr>
          <p:cNvSpPr>
            <a:spLocks noGrp="1"/>
          </p:cNvSpPr>
          <p:nvPr>
            <p:ph sz="quarter" idx="16"/>
          </p:nvPr>
        </p:nvSpPr>
        <p:spPr/>
        <p:txBody>
          <a:bodyPr/>
          <a:lstStyle/>
          <a:p>
            <a:r>
              <a:rPr kumimoji="1" lang="en-US" altLang="ja-JP" dirty="0"/>
              <a:t>Match frequency in present society (Japan)​</a:t>
            </a:r>
            <a:endParaRPr kumimoji="1" lang="ja-JP" altLang="en-US" dirty="0"/>
          </a:p>
        </p:txBody>
      </p:sp>
      <p:pic>
        <p:nvPicPr>
          <p:cNvPr id="1026" name="Picture 2" descr="Table&#10;&#10;Description automatically generated">
            <a:extLst>
              <a:ext uri="{FF2B5EF4-FFF2-40B4-BE49-F238E27FC236}">
                <a16:creationId xmlns:a16="http://schemas.microsoft.com/office/drawing/2014/main" id="{86DC177C-FBAD-9365-791C-5BE6DC971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967" y="833519"/>
            <a:ext cx="8184065" cy="557277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8">
            <a:extLst>
              <a:ext uri="{FF2B5EF4-FFF2-40B4-BE49-F238E27FC236}">
                <a16:creationId xmlns:a16="http://schemas.microsoft.com/office/drawing/2014/main" id="{8E4356CC-CAB9-D16E-9D3D-929A2E78E4D1}"/>
              </a:ext>
            </a:extLst>
          </p:cNvPr>
          <p:cNvSpPr/>
          <p:nvPr/>
        </p:nvSpPr>
        <p:spPr>
          <a:xfrm>
            <a:off x="947057" y="2950029"/>
            <a:ext cx="8017329" cy="105806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5" name="TextBox 6">
            <a:extLst>
              <a:ext uri="{FF2B5EF4-FFF2-40B4-BE49-F238E27FC236}">
                <a16:creationId xmlns:a16="http://schemas.microsoft.com/office/drawing/2014/main" id="{A0C0C73A-BDA9-E27E-E1B5-D880A8C7492A}"/>
              </a:ext>
            </a:extLst>
          </p:cNvPr>
          <p:cNvSpPr txBox="1"/>
          <p:nvPr/>
        </p:nvSpPr>
        <p:spPr>
          <a:xfrm>
            <a:off x="123825" y="6519446"/>
            <a:ext cx="3658374"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dirty="0"/>
              <a:t>[1] </a:t>
            </a:r>
            <a:r>
              <a:rPr lang="en-US" altLang="ja-JP" sz="800" dirty="0">
                <a:hlinkClick r:id="rId3"/>
              </a:rPr>
              <a:t>OCCTO</a:t>
            </a:r>
            <a:r>
              <a:rPr lang="ja-JP" altLang="en-US" sz="800" dirty="0">
                <a:hlinkClick r:id="rId3"/>
              </a:rPr>
              <a:t>電力広域的運営推進機関</a:t>
            </a:r>
            <a:r>
              <a:rPr lang="en-US" altLang="ja-JP" sz="800" dirty="0">
                <a:hlinkClick r:id="rId3"/>
              </a:rPr>
              <a:t>, (</a:t>
            </a:r>
            <a:r>
              <a:rPr lang="ja-JP" altLang="en-US" sz="800" dirty="0">
                <a:hlinkClick r:id="rId3"/>
              </a:rPr>
              <a:t>参考資料</a:t>
            </a:r>
            <a:r>
              <a:rPr lang="en-US" altLang="ja-JP" sz="800" dirty="0">
                <a:hlinkClick r:id="rId3"/>
              </a:rPr>
              <a:t>)</a:t>
            </a:r>
            <a:r>
              <a:rPr lang="ja-JP" altLang="en-US" sz="800" dirty="0">
                <a:hlinkClick r:id="rId3"/>
              </a:rPr>
              <a:t>需給調整市場について </a:t>
            </a:r>
            <a:r>
              <a:rPr lang="en-US" altLang="ja-JP" sz="800" dirty="0">
                <a:hlinkClick r:id="rId3"/>
              </a:rPr>
              <a:t>(2019)</a:t>
            </a:r>
            <a:endParaRPr lang="en-US" sz="800" dirty="0"/>
          </a:p>
          <a:p>
            <a:r>
              <a:rPr lang="en-US" sz="800" dirty="0"/>
              <a:t> </a:t>
            </a:r>
          </a:p>
        </p:txBody>
      </p:sp>
    </p:spTree>
    <p:extLst>
      <p:ext uri="{BB962C8B-B14F-4D97-AF65-F5344CB8AC3E}">
        <p14:creationId xmlns:p14="http://schemas.microsoft.com/office/powerpoint/2010/main" val="41230178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3D0310-9072-94B8-4FEF-CDA453E467D0}"/>
              </a:ext>
            </a:extLst>
          </p:cNvPr>
          <p:cNvSpPr>
            <a:spLocks noGrp="1"/>
          </p:cNvSpPr>
          <p:nvPr>
            <p:ph sz="quarter" idx="4294967295"/>
          </p:nvPr>
        </p:nvSpPr>
        <p:spPr>
          <a:xfrm>
            <a:off x="123825" y="93599"/>
            <a:ext cx="9018182" cy="525214"/>
          </a:xfrm>
          <a:prstGeom prst="rect">
            <a:avLst/>
          </a:prstGeom>
        </p:spPr>
        <p:txBody>
          <a:bodyPr/>
          <a:lstStyle/>
          <a:p>
            <a:pPr marL="0" indent="0">
              <a:buNone/>
            </a:pPr>
            <a:r>
              <a:rPr lang="ja-JP" altLang="en-US" sz="2100" b="1" dirty="0"/>
              <a:t>背景　電力市場の自由化と</a:t>
            </a:r>
            <a:r>
              <a:rPr lang="en-US" altLang="ja-JP" sz="2100" b="1" dirty="0"/>
              <a:t>P2P</a:t>
            </a:r>
            <a:r>
              <a:rPr lang="ja-JP" altLang="en-US" sz="2100" b="1" dirty="0"/>
              <a:t>電力取引</a:t>
            </a:r>
            <a:endParaRPr lang="en-US" sz="2100" b="1" dirty="0"/>
          </a:p>
        </p:txBody>
      </p:sp>
      <p:sp>
        <p:nvSpPr>
          <p:cNvPr id="4" name="正方形/長方形 19">
            <a:extLst>
              <a:ext uri="{FF2B5EF4-FFF2-40B4-BE49-F238E27FC236}">
                <a16:creationId xmlns:a16="http://schemas.microsoft.com/office/drawing/2014/main" id="{E3E15E3E-E7D0-348F-38F7-B4B0A0211A38}"/>
              </a:ext>
            </a:extLst>
          </p:cNvPr>
          <p:cNvSpPr/>
          <p:nvPr/>
        </p:nvSpPr>
        <p:spPr>
          <a:xfrm>
            <a:off x="5011155" y="2027319"/>
            <a:ext cx="537412" cy="217169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矢印: 下 13">
            <a:extLst>
              <a:ext uri="{FF2B5EF4-FFF2-40B4-BE49-F238E27FC236}">
                <a16:creationId xmlns:a16="http://schemas.microsoft.com/office/drawing/2014/main" id="{73C8ED70-EA0A-07C9-3A4D-C0111B429F25}"/>
              </a:ext>
            </a:extLst>
          </p:cNvPr>
          <p:cNvSpPr/>
          <p:nvPr/>
        </p:nvSpPr>
        <p:spPr>
          <a:xfrm>
            <a:off x="1227225" y="1999572"/>
            <a:ext cx="1016666" cy="3456747"/>
          </a:xfrm>
          <a:prstGeom prst="downArrow">
            <a:avLst>
              <a:gd name="adj1" fmla="val 50000"/>
              <a:gd name="adj2" fmla="val 39941"/>
            </a:avLst>
          </a:pr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直線コネクタ 4">
            <a:extLst>
              <a:ext uri="{FF2B5EF4-FFF2-40B4-BE49-F238E27FC236}">
                <a16:creationId xmlns:a16="http://schemas.microsoft.com/office/drawing/2014/main" id="{745D81C4-2DE9-A81B-FA46-E09D10068D8C}"/>
              </a:ext>
            </a:extLst>
          </p:cNvPr>
          <p:cNvCxnSpPr>
            <a:cxnSpLocks/>
          </p:cNvCxnSpPr>
          <p:nvPr/>
        </p:nvCxnSpPr>
        <p:spPr>
          <a:xfrm flipV="1">
            <a:off x="3080086" y="824161"/>
            <a:ext cx="0" cy="5245768"/>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テキスト ボックス 10">
            <a:extLst>
              <a:ext uri="{FF2B5EF4-FFF2-40B4-BE49-F238E27FC236}">
                <a16:creationId xmlns:a16="http://schemas.microsoft.com/office/drawing/2014/main" id="{AC99397F-9737-13CF-77ED-7758E45AC6BA}"/>
              </a:ext>
            </a:extLst>
          </p:cNvPr>
          <p:cNvSpPr txBox="1"/>
          <p:nvPr/>
        </p:nvSpPr>
        <p:spPr>
          <a:xfrm>
            <a:off x="932450" y="824161"/>
            <a:ext cx="1800493" cy="369332"/>
          </a:xfrm>
          <a:prstGeom prst="rect">
            <a:avLst/>
          </a:prstGeom>
          <a:noFill/>
        </p:spPr>
        <p:txBody>
          <a:bodyPr wrap="none" rtlCol="0">
            <a:spAutoFit/>
          </a:bodyPr>
          <a:lstStyle/>
          <a:p>
            <a:r>
              <a:rPr lang="ja-JP" altLang="en-US" b="1" dirty="0"/>
              <a:t>従来の事業体制</a:t>
            </a:r>
            <a:endParaRPr lang="en-US" b="1" dirty="0"/>
          </a:p>
        </p:txBody>
      </p:sp>
      <p:sp>
        <p:nvSpPr>
          <p:cNvPr id="9" name="テキスト ボックス 11">
            <a:extLst>
              <a:ext uri="{FF2B5EF4-FFF2-40B4-BE49-F238E27FC236}">
                <a16:creationId xmlns:a16="http://schemas.microsoft.com/office/drawing/2014/main" id="{C188F097-6A6C-9DE5-3F29-15062C331210}"/>
              </a:ext>
            </a:extLst>
          </p:cNvPr>
          <p:cNvSpPr txBox="1"/>
          <p:nvPr/>
        </p:nvSpPr>
        <p:spPr>
          <a:xfrm>
            <a:off x="663144" y="1485537"/>
            <a:ext cx="2159566" cy="307777"/>
          </a:xfrm>
          <a:prstGeom prst="rect">
            <a:avLst/>
          </a:prstGeom>
          <a:noFill/>
        </p:spPr>
        <p:txBody>
          <a:bodyPr wrap="none" rtlCol="0">
            <a:spAutoFit/>
          </a:bodyPr>
          <a:lstStyle/>
          <a:p>
            <a:r>
              <a:rPr lang="ja-JP" altLang="en-US" sz="1400" dirty="0"/>
              <a:t>各地域の一般電気事業者</a:t>
            </a:r>
            <a:endParaRPr lang="en-US" sz="1400" dirty="0"/>
          </a:p>
        </p:txBody>
      </p:sp>
      <p:sp>
        <p:nvSpPr>
          <p:cNvPr id="10" name="テキスト ボックス 12">
            <a:extLst>
              <a:ext uri="{FF2B5EF4-FFF2-40B4-BE49-F238E27FC236}">
                <a16:creationId xmlns:a16="http://schemas.microsoft.com/office/drawing/2014/main" id="{2E04539B-CE26-30D1-F8FF-6C66F7DD137D}"/>
              </a:ext>
            </a:extLst>
          </p:cNvPr>
          <p:cNvSpPr txBox="1"/>
          <p:nvPr/>
        </p:nvSpPr>
        <p:spPr>
          <a:xfrm>
            <a:off x="1123301" y="1793314"/>
            <a:ext cx="1239252" cy="2585323"/>
          </a:xfrm>
          <a:prstGeom prst="rect">
            <a:avLst/>
          </a:prstGeom>
          <a:noFill/>
          <a:ln w="28575">
            <a:solidFill>
              <a:schemeClr val="accent1"/>
            </a:solidFill>
          </a:ln>
        </p:spPr>
        <p:txBody>
          <a:bodyPr wrap="square" rtlCol="0">
            <a:spAutoFit/>
          </a:bodyPr>
          <a:lstStyle/>
          <a:p>
            <a:pPr algn="ctr"/>
            <a:endParaRPr lang="en-US" altLang="ja-JP" dirty="0"/>
          </a:p>
          <a:p>
            <a:pPr algn="ctr"/>
            <a:r>
              <a:rPr lang="ja-JP" altLang="en-US" dirty="0"/>
              <a:t>発電</a:t>
            </a:r>
            <a:endParaRPr lang="en-US" altLang="ja-JP" dirty="0"/>
          </a:p>
          <a:p>
            <a:pPr algn="ctr"/>
            <a:endParaRPr lang="en-US" dirty="0"/>
          </a:p>
          <a:p>
            <a:pPr algn="ctr"/>
            <a:r>
              <a:rPr lang="ja-JP" altLang="en-US" dirty="0"/>
              <a:t>送電</a:t>
            </a:r>
            <a:endParaRPr lang="en-US" altLang="ja-JP" dirty="0"/>
          </a:p>
          <a:p>
            <a:pPr algn="ctr"/>
            <a:endParaRPr lang="en-US" dirty="0"/>
          </a:p>
          <a:p>
            <a:pPr algn="ctr"/>
            <a:r>
              <a:rPr lang="ja-JP" altLang="en-US" dirty="0"/>
              <a:t>配電</a:t>
            </a:r>
            <a:endParaRPr lang="en-US" altLang="ja-JP" dirty="0"/>
          </a:p>
          <a:p>
            <a:pPr algn="ctr"/>
            <a:endParaRPr lang="en-US" dirty="0"/>
          </a:p>
          <a:p>
            <a:pPr algn="ctr"/>
            <a:r>
              <a:rPr lang="ja-JP" altLang="en-US" dirty="0"/>
              <a:t>小売</a:t>
            </a:r>
            <a:endParaRPr lang="en-US" altLang="ja-JP" dirty="0"/>
          </a:p>
          <a:p>
            <a:pPr algn="ctr"/>
            <a:endParaRPr lang="en-US" dirty="0"/>
          </a:p>
        </p:txBody>
      </p:sp>
      <p:sp>
        <p:nvSpPr>
          <p:cNvPr id="11" name="テキスト ボックス 14">
            <a:extLst>
              <a:ext uri="{FF2B5EF4-FFF2-40B4-BE49-F238E27FC236}">
                <a16:creationId xmlns:a16="http://schemas.microsoft.com/office/drawing/2014/main" id="{41C5148B-5950-B028-26F3-00BCD72CC7DE}"/>
              </a:ext>
            </a:extLst>
          </p:cNvPr>
          <p:cNvSpPr txBox="1"/>
          <p:nvPr/>
        </p:nvSpPr>
        <p:spPr>
          <a:xfrm>
            <a:off x="1123301" y="5553617"/>
            <a:ext cx="1239250" cy="495108"/>
          </a:xfrm>
          <a:prstGeom prst="rect">
            <a:avLst/>
          </a:prstGeom>
          <a:noFill/>
          <a:ln w="28575">
            <a:solidFill>
              <a:schemeClr val="tx1"/>
            </a:solidFill>
          </a:ln>
        </p:spPr>
        <p:txBody>
          <a:bodyPr wrap="square" tIns="108000" bIns="108000" rtlCol="0">
            <a:spAutoFit/>
          </a:bodyPr>
          <a:lstStyle/>
          <a:p>
            <a:pPr algn="ctr"/>
            <a:r>
              <a:rPr lang="ja-JP" altLang="en-US" dirty="0"/>
              <a:t>消費者</a:t>
            </a:r>
            <a:endParaRPr lang="en-US" dirty="0"/>
          </a:p>
        </p:txBody>
      </p:sp>
      <p:sp>
        <p:nvSpPr>
          <p:cNvPr id="12" name="テキスト ボックス 15">
            <a:extLst>
              <a:ext uri="{FF2B5EF4-FFF2-40B4-BE49-F238E27FC236}">
                <a16:creationId xmlns:a16="http://schemas.microsoft.com/office/drawing/2014/main" id="{0310628F-6AC0-8342-B007-013FE8304E02}"/>
              </a:ext>
            </a:extLst>
          </p:cNvPr>
          <p:cNvSpPr txBox="1"/>
          <p:nvPr/>
        </p:nvSpPr>
        <p:spPr>
          <a:xfrm>
            <a:off x="512306" y="4520542"/>
            <a:ext cx="2518638" cy="523220"/>
          </a:xfrm>
          <a:prstGeom prst="rect">
            <a:avLst/>
          </a:prstGeom>
          <a:noFill/>
        </p:spPr>
        <p:txBody>
          <a:bodyPr wrap="none" rtlCol="0">
            <a:spAutoFit/>
          </a:bodyPr>
          <a:lstStyle/>
          <a:p>
            <a:pPr algn="ctr"/>
            <a:r>
              <a:rPr lang="ja-JP" altLang="en-US" sz="1400" dirty="0"/>
              <a:t>供給義務、地域独占</a:t>
            </a:r>
            <a:endParaRPr lang="en-US" altLang="ja-JP" sz="1400" dirty="0"/>
          </a:p>
          <a:p>
            <a:pPr algn="ctr"/>
            <a:r>
              <a:rPr lang="ja-JP" altLang="en-US" sz="1400" dirty="0"/>
              <a:t>総括原価方式による料金規制</a:t>
            </a:r>
            <a:endParaRPr lang="en-US" sz="1400" dirty="0"/>
          </a:p>
        </p:txBody>
      </p:sp>
      <p:sp>
        <p:nvSpPr>
          <p:cNvPr id="13" name="テキスト ボックス 16">
            <a:extLst>
              <a:ext uri="{FF2B5EF4-FFF2-40B4-BE49-F238E27FC236}">
                <a16:creationId xmlns:a16="http://schemas.microsoft.com/office/drawing/2014/main" id="{CAB18D8B-9E8F-7074-37E1-985705461375}"/>
              </a:ext>
            </a:extLst>
          </p:cNvPr>
          <p:cNvSpPr txBox="1"/>
          <p:nvPr/>
        </p:nvSpPr>
        <p:spPr>
          <a:xfrm>
            <a:off x="5548567" y="824161"/>
            <a:ext cx="3161443" cy="369332"/>
          </a:xfrm>
          <a:prstGeom prst="rect">
            <a:avLst/>
          </a:prstGeom>
          <a:noFill/>
        </p:spPr>
        <p:txBody>
          <a:bodyPr wrap="none" rtlCol="0">
            <a:spAutoFit/>
          </a:bodyPr>
          <a:lstStyle/>
          <a:p>
            <a:r>
              <a:rPr lang="ja-JP" altLang="en-US" b="1" dirty="0"/>
              <a:t>電力システム改革後</a:t>
            </a:r>
            <a:r>
              <a:rPr lang="en-US" altLang="ja-JP" b="1" dirty="0"/>
              <a:t>(2016</a:t>
            </a:r>
            <a:r>
              <a:rPr lang="ja-JP" altLang="en-US" b="1" dirty="0"/>
              <a:t>年～</a:t>
            </a:r>
            <a:r>
              <a:rPr lang="en-US" altLang="ja-JP" b="1" dirty="0"/>
              <a:t>)</a:t>
            </a:r>
            <a:endParaRPr lang="en-US" b="1" dirty="0"/>
          </a:p>
        </p:txBody>
      </p:sp>
      <p:sp>
        <p:nvSpPr>
          <p:cNvPr id="14" name="テキスト ボックス 17">
            <a:extLst>
              <a:ext uri="{FF2B5EF4-FFF2-40B4-BE49-F238E27FC236}">
                <a16:creationId xmlns:a16="http://schemas.microsoft.com/office/drawing/2014/main" id="{F3DB3315-57C6-55AF-2FF9-BDD8BEED7037}"/>
              </a:ext>
            </a:extLst>
          </p:cNvPr>
          <p:cNvSpPr txBox="1"/>
          <p:nvPr/>
        </p:nvSpPr>
        <p:spPr>
          <a:xfrm>
            <a:off x="3588795" y="1793314"/>
            <a:ext cx="2262157" cy="2585323"/>
          </a:xfrm>
          <a:prstGeom prst="rect">
            <a:avLst/>
          </a:prstGeom>
          <a:noFill/>
          <a:ln w="28575">
            <a:solidFill>
              <a:schemeClr val="accent1"/>
            </a:solidFill>
          </a:ln>
        </p:spPr>
        <p:txBody>
          <a:bodyPr wrap="square" rtlCol="0">
            <a:spAutoFit/>
          </a:bodyPr>
          <a:lstStyle/>
          <a:p>
            <a:endParaRPr lang="en-US" altLang="ja-JP" dirty="0"/>
          </a:p>
          <a:p>
            <a:r>
              <a:rPr lang="ja-JP" altLang="en-US" dirty="0"/>
              <a:t>　　　　　　発電</a:t>
            </a:r>
            <a:endParaRPr lang="en-US" altLang="ja-JP" dirty="0"/>
          </a:p>
          <a:p>
            <a:endParaRPr lang="en-US" dirty="0"/>
          </a:p>
          <a:p>
            <a:r>
              <a:rPr lang="ja-JP" altLang="en-US" dirty="0"/>
              <a:t>　送配電</a:t>
            </a:r>
            <a:endParaRPr lang="en-US" altLang="ja-JP" dirty="0"/>
          </a:p>
          <a:p>
            <a:r>
              <a:rPr lang="ja-JP" altLang="en-US" dirty="0"/>
              <a:t>　事業者</a:t>
            </a:r>
            <a:endParaRPr lang="en-US" altLang="ja-JP" dirty="0"/>
          </a:p>
          <a:p>
            <a:endParaRPr lang="en-US" dirty="0"/>
          </a:p>
          <a:p>
            <a:endParaRPr lang="en-US" dirty="0"/>
          </a:p>
          <a:p>
            <a:r>
              <a:rPr lang="ja-JP" altLang="en-US" dirty="0"/>
              <a:t>　　　　　　小売</a:t>
            </a:r>
            <a:endParaRPr lang="en-US" altLang="ja-JP" dirty="0"/>
          </a:p>
          <a:p>
            <a:endParaRPr lang="en-US" dirty="0"/>
          </a:p>
        </p:txBody>
      </p:sp>
      <p:sp>
        <p:nvSpPr>
          <p:cNvPr id="15" name="正方形/長方形 18">
            <a:extLst>
              <a:ext uri="{FF2B5EF4-FFF2-40B4-BE49-F238E27FC236}">
                <a16:creationId xmlns:a16="http://schemas.microsoft.com/office/drawing/2014/main" id="{D3AB587B-2CBC-E4D0-5050-7F09A0316F6C}"/>
              </a:ext>
            </a:extLst>
          </p:cNvPr>
          <p:cNvSpPr/>
          <p:nvPr/>
        </p:nvSpPr>
        <p:spPr>
          <a:xfrm>
            <a:off x="3717760" y="2436393"/>
            <a:ext cx="1028700" cy="10226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テキスト ボックス 20">
            <a:extLst>
              <a:ext uri="{FF2B5EF4-FFF2-40B4-BE49-F238E27FC236}">
                <a16:creationId xmlns:a16="http://schemas.microsoft.com/office/drawing/2014/main" id="{C7D78721-375B-8804-5773-188D2DF3F268}"/>
              </a:ext>
            </a:extLst>
          </p:cNvPr>
          <p:cNvSpPr txBox="1"/>
          <p:nvPr/>
        </p:nvSpPr>
        <p:spPr>
          <a:xfrm>
            <a:off x="4678690" y="2382249"/>
            <a:ext cx="537412" cy="769441"/>
          </a:xfrm>
          <a:prstGeom prst="rect">
            <a:avLst/>
          </a:prstGeom>
          <a:noFill/>
        </p:spPr>
        <p:txBody>
          <a:bodyPr wrap="square" rtlCol="0">
            <a:spAutoFit/>
          </a:bodyPr>
          <a:lstStyle/>
          <a:p>
            <a:r>
              <a:rPr lang="ja-JP" altLang="en-US" sz="1000" dirty="0"/>
              <a:t>法的</a:t>
            </a:r>
            <a:endParaRPr lang="en-US" altLang="ja-JP" sz="1000" dirty="0"/>
          </a:p>
          <a:p>
            <a:r>
              <a:rPr lang="ja-JP" altLang="en-US" sz="1000" dirty="0"/>
              <a:t>分離</a:t>
            </a:r>
            <a:endParaRPr lang="en-US" altLang="ja-JP" sz="1000" dirty="0"/>
          </a:p>
          <a:p>
            <a:r>
              <a:rPr lang="ja-JP" altLang="en-US" sz="2400" dirty="0">
                <a:solidFill>
                  <a:schemeClr val="accent2"/>
                </a:solidFill>
              </a:rPr>
              <a:t>←</a:t>
            </a:r>
            <a:endParaRPr lang="en-US" sz="1000" dirty="0">
              <a:solidFill>
                <a:schemeClr val="accent2"/>
              </a:solidFill>
            </a:endParaRPr>
          </a:p>
        </p:txBody>
      </p:sp>
      <p:sp>
        <p:nvSpPr>
          <p:cNvPr id="17" name="テキスト ボックス 21">
            <a:extLst>
              <a:ext uri="{FF2B5EF4-FFF2-40B4-BE49-F238E27FC236}">
                <a16:creationId xmlns:a16="http://schemas.microsoft.com/office/drawing/2014/main" id="{44926028-C472-E30D-A081-D9449D69189D}"/>
              </a:ext>
            </a:extLst>
          </p:cNvPr>
          <p:cNvSpPr txBox="1"/>
          <p:nvPr/>
        </p:nvSpPr>
        <p:spPr>
          <a:xfrm>
            <a:off x="3854892" y="1486992"/>
            <a:ext cx="1729961" cy="307777"/>
          </a:xfrm>
          <a:prstGeom prst="rect">
            <a:avLst/>
          </a:prstGeom>
          <a:noFill/>
        </p:spPr>
        <p:txBody>
          <a:bodyPr wrap="none" rtlCol="0">
            <a:spAutoFit/>
          </a:bodyPr>
          <a:lstStyle/>
          <a:p>
            <a:r>
              <a:rPr lang="en-US" altLang="ja-JP" sz="1400" dirty="0"/>
              <a:t>(</a:t>
            </a:r>
            <a:r>
              <a:rPr lang="ja-JP" altLang="en-US" sz="1400" dirty="0"/>
              <a:t>旧</a:t>
            </a:r>
            <a:r>
              <a:rPr lang="en-US" altLang="ja-JP" sz="1400" dirty="0"/>
              <a:t>)</a:t>
            </a:r>
            <a:r>
              <a:rPr lang="ja-JP" altLang="en-US" sz="1400" dirty="0"/>
              <a:t>一般電気事業者</a:t>
            </a:r>
            <a:endParaRPr lang="en-US" sz="1400" dirty="0"/>
          </a:p>
        </p:txBody>
      </p:sp>
      <p:sp>
        <p:nvSpPr>
          <p:cNvPr id="18" name="テキスト ボックス 22">
            <a:extLst>
              <a:ext uri="{FF2B5EF4-FFF2-40B4-BE49-F238E27FC236}">
                <a16:creationId xmlns:a16="http://schemas.microsoft.com/office/drawing/2014/main" id="{A738EE31-B80F-0391-29F3-5D8A36F984C0}"/>
              </a:ext>
            </a:extLst>
          </p:cNvPr>
          <p:cNvSpPr txBox="1"/>
          <p:nvPr/>
        </p:nvSpPr>
        <p:spPr>
          <a:xfrm>
            <a:off x="6396149" y="1793314"/>
            <a:ext cx="877163" cy="646331"/>
          </a:xfrm>
          <a:prstGeom prst="rect">
            <a:avLst/>
          </a:prstGeom>
          <a:noFill/>
          <a:ln w="28575">
            <a:solidFill>
              <a:schemeClr val="accent1"/>
            </a:solidFill>
          </a:ln>
        </p:spPr>
        <p:txBody>
          <a:bodyPr wrap="none" rtlCol="0">
            <a:spAutoFit/>
          </a:bodyPr>
          <a:lstStyle/>
          <a:p>
            <a:pPr algn="ctr"/>
            <a:r>
              <a:rPr lang="ja-JP" altLang="en-US" dirty="0"/>
              <a:t>発電</a:t>
            </a:r>
            <a:endParaRPr lang="en-US" altLang="ja-JP" dirty="0"/>
          </a:p>
          <a:p>
            <a:pPr algn="ctr"/>
            <a:r>
              <a:rPr lang="ja-JP" altLang="en-US" dirty="0"/>
              <a:t>事業者</a:t>
            </a:r>
            <a:endParaRPr lang="en-US" dirty="0"/>
          </a:p>
        </p:txBody>
      </p:sp>
      <p:sp>
        <p:nvSpPr>
          <p:cNvPr id="19" name="テキスト ボックス 23">
            <a:extLst>
              <a:ext uri="{FF2B5EF4-FFF2-40B4-BE49-F238E27FC236}">
                <a16:creationId xmlns:a16="http://schemas.microsoft.com/office/drawing/2014/main" id="{4EED67B9-8127-CF98-5B92-D3891EE7CE52}"/>
              </a:ext>
            </a:extLst>
          </p:cNvPr>
          <p:cNvSpPr txBox="1"/>
          <p:nvPr/>
        </p:nvSpPr>
        <p:spPr>
          <a:xfrm>
            <a:off x="7372143" y="1790062"/>
            <a:ext cx="877163" cy="646331"/>
          </a:xfrm>
          <a:prstGeom prst="rect">
            <a:avLst/>
          </a:prstGeom>
          <a:noFill/>
          <a:ln w="28575">
            <a:solidFill>
              <a:schemeClr val="accent1"/>
            </a:solidFill>
          </a:ln>
        </p:spPr>
        <p:txBody>
          <a:bodyPr wrap="none" rtlCol="0">
            <a:spAutoFit/>
          </a:bodyPr>
          <a:lstStyle/>
          <a:p>
            <a:pPr algn="ctr"/>
            <a:r>
              <a:rPr lang="ja-JP" altLang="en-US" dirty="0"/>
              <a:t>発電</a:t>
            </a:r>
            <a:endParaRPr lang="en-US" altLang="ja-JP" dirty="0"/>
          </a:p>
          <a:p>
            <a:pPr algn="ctr"/>
            <a:r>
              <a:rPr lang="ja-JP" altLang="en-US" dirty="0"/>
              <a:t>事業者</a:t>
            </a:r>
            <a:endParaRPr lang="en-US" dirty="0"/>
          </a:p>
        </p:txBody>
      </p:sp>
      <p:sp>
        <p:nvSpPr>
          <p:cNvPr id="20" name="テキスト ボックス 24">
            <a:extLst>
              <a:ext uri="{FF2B5EF4-FFF2-40B4-BE49-F238E27FC236}">
                <a16:creationId xmlns:a16="http://schemas.microsoft.com/office/drawing/2014/main" id="{D6B3B73E-9FA4-743E-810C-57111824E36C}"/>
              </a:ext>
            </a:extLst>
          </p:cNvPr>
          <p:cNvSpPr txBox="1"/>
          <p:nvPr/>
        </p:nvSpPr>
        <p:spPr>
          <a:xfrm>
            <a:off x="8348137" y="1790062"/>
            <a:ext cx="877163" cy="646331"/>
          </a:xfrm>
          <a:prstGeom prst="rect">
            <a:avLst/>
          </a:prstGeom>
          <a:noFill/>
          <a:ln w="28575">
            <a:solidFill>
              <a:schemeClr val="accent1"/>
            </a:solidFill>
          </a:ln>
        </p:spPr>
        <p:txBody>
          <a:bodyPr wrap="none" rtlCol="0">
            <a:spAutoFit/>
          </a:bodyPr>
          <a:lstStyle/>
          <a:p>
            <a:pPr algn="ctr"/>
            <a:r>
              <a:rPr lang="ja-JP" altLang="en-US" dirty="0"/>
              <a:t>発電</a:t>
            </a:r>
            <a:endParaRPr lang="en-US" altLang="ja-JP" dirty="0"/>
          </a:p>
          <a:p>
            <a:pPr algn="ctr"/>
            <a:r>
              <a:rPr lang="ja-JP" altLang="en-US" dirty="0"/>
              <a:t>事業者</a:t>
            </a:r>
            <a:endParaRPr lang="en-US" dirty="0"/>
          </a:p>
        </p:txBody>
      </p:sp>
      <p:sp>
        <p:nvSpPr>
          <p:cNvPr id="21" name="テキスト ボックス 25">
            <a:extLst>
              <a:ext uri="{FF2B5EF4-FFF2-40B4-BE49-F238E27FC236}">
                <a16:creationId xmlns:a16="http://schemas.microsoft.com/office/drawing/2014/main" id="{42E77444-3CB1-EFC2-6BE0-85304B5A13DD}"/>
              </a:ext>
            </a:extLst>
          </p:cNvPr>
          <p:cNvSpPr txBox="1"/>
          <p:nvPr/>
        </p:nvSpPr>
        <p:spPr>
          <a:xfrm>
            <a:off x="6396149" y="2829262"/>
            <a:ext cx="2829151" cy="567811"/>
          </a:xfrm>
          <a:prstGeom prst="rect">
            <a:avLst/>
          </a:prstGeom>
          <a:noFill/>
          <a:ln w="28575">
            <a:solidFill>
              <a:schemeClr val="accent2"/>
            </a:solidFill>
          </a:ln>
        </p:spPr>
        <p:txBody>
          <a:bodyPr wrap="square" tIns="144000" bIns="144000" rtlCol="0" anchor="ctr" anchorCtr="1">
            <a:spAutoFit/>
          </a:bodyPr>
          <a:lstStyle/>
          <a:p>
            <a:pPr algn="ctr"/>
            <a:r>
              <a:rPr lang="ja-JP" altLang="en-US" dirty="0"/>
              <a:t>卸売電力取引市場 </a:t>
            </a:r>
            <a:r>
              <a:rPr lang="en-US" altLang="ja-JP" dirty="0"/>
              <a:t>(JEPX)</a:t>
            </a:r>
          </a:p>
        </p:txBody>
      </p:sp>
      <p:sp>
        <p:nvSpPr>
          <p:cNvPr id="22" name="テキスト ボックス 26">
            <a:extLst>
              <a:ext uri="{FF2B5EF4-FFF2-40B4-BE49-F238E27FC236}">
                <a16:creationId xmlns:a16="http://schemas.microsoft.com/office/drawing/2014/main" id="{C0007485-6501-DD67-5F94-EBCC7DE2C022}"/>
              </a:ext>
            </a:extLst>
          </p:cNvPr>
          <p:cNvSpPr txBox="1"/>
          <p:nvPr/>
        </p:nvSpPr>
        <p:spPr>
          <a:xfrm>
            <a:off x="6395220" y="3727945"/>
            <a:ext cx="878092" cy="648997"/>
          </a:xfrm>
          <a:prstGeom prst="rect">
            <a:avLst/>
          </a:prstGeom>
          <a:noFill/>
          <a:ln w="28575">
            <a:solidFill>
              <a:schemeClr val="accent1"/>
            </a:solidFill>
          </a:ln>
        </p:spPr>
        <p:txBody>
          <a:bodyPr wrap="none" lIns="79200" tIns="108000" rIns="79200" bIns="108000" rtlCol="0">
            <a:spAutoFit/>
          </a:bodyPr>
          <a:lstStyle/>
          <a:p>
            <a:pPr algn="ctr"/>
            <a:r>
              <a:rPr lang="ja-JP" altLang="en-US" sz="1400" dirty="0"/>
              <a:t>小売電気</a:t>
            </a:r>
            <a:endParaRPr lang="en-US" altLang="ja-JP" sz="1400" dirty="0"/>
          </a:p>
          <a:p>
            <a:pPr algn="ctr"/>
            <a:r>
              <a:rPr lang="ja-JP" altLang="en-US" sz="1400" dirty="0"/>
              <a:t>事業者</a:t>
            </a:r>
            <a:endParaRPr lang="en-US" sz="1400" dirty="0"/>
          </a:p>
        </p:txBody>
      </p:sp>
      <p:sp>
        <p:nvSpPr>
          <p:cNvPr id="23" name="テキスト ボックス 27">
            <a:extLst>
              <a:ext uri="{FF2B5EF4-FFF2-40B4-BE49-F238E27FC236}">
                <a16:creationId xmlns:a16="http://schemas.microsoft.com/office/drawing/2014/main" id="{4525E7BA-2C22-6693-3EA8-6034EC2709A4}"/>
              </a:ext>
            </a:extLst>
          </p:cNvPr>
          <p:cNvSpPr txBox="1"/>
          <p:nvPr/>
        </p:nvSpPr>
        <p:spPr>
          <a:xfrm>
            <a:off x="7371678" y="3727945"/>
            <a:ext cx="878092" cy="648997"/>
          </a:xfrm>
          <a:prstGeom prst="rect">
            <a:avLst/>
          </a:prstGeom>
          <a:noFill/>
          <a:ln w="28575">
            <a:solidFill>
              <a:schemeClr val="accent1"/>
            </a:solidFill>
          </a:ln>
        </p:spPr>
        <p:txBody>
          <a:bodyPr wrap="none" lIns="79200" tIns="108000" rIns="79200" bIns="108000" rtlCol="0">
            <a:spAutoFit/>
          </a:bodyPr>
          <a:lstStyle/>
          <a:p>
            <a:pPr algn="ctr"/>
            <a:r>
              <a:rPr lang="ja-JP" altLang="en-US" sz="1400" dirty="0"/>
              <a:t>小売電気</a:t>
            </a:r>
            <a:endParaRPr lang="en-US" altLang="ja-JP" sz="1400" dirty="0"/>
          </a:p>
          <a:p>
            <a:pPr algn="ctr"/>
            <a:r>
              <a:rPr lang="ja-JP" altLang="en-US" sz="1400" dirty="0"/>
              <a:t>事業者</a:t>
            </a:r>
            <a:endParaRPr lang="en-US" sz="1400" dirty="0"/>
          </a:p>
        </p:txBody>
      </p:sp>
      <p:sp>
        <p:nvSpPr>
          <p:cNvPr id="24" name="テキスト ボックス 28">
            <a:extLst>
              <a:ext uri="{FF2B5EF4-FFF2-40B4-BE49-F238E27FC236}">
                <a16:creationId xmlns:a16="http://schemas.microsoft.com/office/drawing/2014/main" id="{994180AB-F8B5-19CA-E1DE-0F77C54E2A5E}"/>
              </a:ext>
            </a:extLst>
          </p:cNvPr>
          <p:cNvSpPr txBox="1"/>
          <p:nvPr/>
        </p:nvSpPr>
        <p:spPr>
          <a:xfrm>
            <a:off x="8348136" y="3727944"/>
            <a:ext cx="878092" cy="648997"/>
          </a:xfrm>
          <a:prstGeom prst="rect">
            <a:avLst/>
          </a:prstGeom>
          <a:noFill/>
          <a:ln w="28575">
            <a:solidFill>
              <a:schemeClr val="accent1"/>
            </a:solidFill>
          </a:ln>
        </p:spPr>
        <p:txBody>
          <a:bodyPr wrap="none" lIns="79200" tIns="108000" rIns="79200" bIns="108000" rtlCol="0">
            <a:spAutoFit/>
          </a:bodyPr>
          <a:lstStyle/>
          <a:p>
            <a:pPr algn="ctr"/>
            <a:r>
              <a:rPr lang="ja-JP" altLang="en-US" sz="1400" dirty="0"/>
              <a:t>小売電気</a:t>
            </a:r>
            <a:endParaRPr lang="en-US" altLang="ja-JP" sz="1400" dirty="0"/>
          </a:p>
          <a:p>
            <a:pPr algn="ctr"/>
            <a:r>
              <a:rPr lang="ja-JP" altLang="en-US" sz="1400" dirty="0"/>
              <a:t>事業者</a:t>
            </a:r>
            <a:endParaRPr lang="en-US" sz="1400" dirty="0"/>
          </a:p>
        </p:txBody>
      </p:sp>
      <p:sp>
        <p:nvSpPr>
          <p:cNvPr id="25" name="テキスト ボックス 29">
            <a:extLst>
              <a:ext uri="{FF2B5EF4-FFF2-40B4-BE49-F238E27FC236}">
                <a16:creationId xmlns:a16="http://schemas.microsoft.com/office/drawing/2014/main" id="{DFE1ABAB-B686-3F66-2624-34856D4401E5}"/>
              </a:ext>
            </a:extLst>
          </p:cNvPr>
          <p:cNvSpPr txBox="1"/>
          <p:nvPr/>
        </p:nvSpPr>
        <p:spPr>
          <a:xfrm>
            <a:off x="6396149" y="4700576"/>
            <a:ext cx="2829151" cy="567811"/>
          </a:xfrm>
          <a:prstGeom prst="rect">
            <a:avLst/>
          </a:prstGeom>
          <a:noFill/>
          <a:ln w="28575">
            <a:solidFill>
              <a:schemeClr val="accent2"/>
            </a:solidFill>
          </a:ln>
        </p:spPr>
        <p:txBody>
          <a:bodyPr wrap="square" tIns="144000" bIns="144000" rtlCol="0" anchor="ctr" anchorCtr="1">
            <a:spAutoFit/>
          </a:bodyPr>
          <a:lstStyle/>
          <a:p>
            <a:pPr algn="ctr"/>
            <a:r>
              <a:rPr lang="ja-JP" altLang="en-US" dirty="0"/>
              <a:t>小売電力市場</a:t>
            </a:r>
            <a:endParaRPr lang="en-US" altLang="ja-JP" dirty="0"/>
          </a:p>
        </p:txBody>
      </p:sp>
      <p:sp>
        <p:nvSpPr>
          <p:cNvPr id="26" name="テキスト ボックス 30">
            <a:extLst>
              <a:ext uri="{FF2B5EF4-FFF2-40B4-BE49-F238E27FC236}">
                <a16:creationId xmlns:a16="http://schemas.microsoft.com/office/drawing/2014/main" id="{ACDE2A0C-614C-D3C8-1E7F-9CB48D09BB41}"/>
              </a:ext>
            </a:extLst>
          </p:cNvPr>
          <p:cNvSpPr txBox="1"/>
          <p:nvPr/>
        </p:nvSpPr>
        <p:spPr>
          <a:xfrm>
            <a:off x="6392787" y="5558099"/>
            <a:ext cx="595128" cy="514738"/>
          </a:xfrm>
          <a:prstGeom prst="rect">
            <a:avLst/>
          </a:prstGeom>
          <a:noFill/>
          <a:ln w="28575">
            <a:solidFill>
              <a:schemeClr val="tx1"/>
            </a:solidFill>
          </a:ln>
        </p:spPr>
        <p:txBody>
          <a:bodyPr wrap="square" lIns="36000" tIns="72000" rIns="36000" bIns="72000" rtlCol="0">
            <a:spAutoFit/>
          </a:bodyPr>
          <a:lstStyle/>
          <a:p>
            <a:pPr algn="ctr"/>
            <a:r>
              <a:rPr lang="ja-JP" altLang="en-US" sz="1200" dirty="0"/>
              <a:t>生産</a:t>
            </a:r>
            <a:endParaRPr lang="en-US" altLang="ja-JP" sz="1200" dirty="0"/>
          </a:p>
          <a:p>
            <a:pPr algn="ctr"/>
            <a:r>
              <a:rPr lang="ja-JP" altLang="en-US" sz="1200" dirty="0"/>
              <a:t>消費者</a:t>
            </a:r>
            <a:endParaRPr lang="en-US" sz="1200" dirty="0"/>
          </a:p>
        </p:txBody>
      </p:sp>
      <p:sp>
        <p:nvSpPr>
          <p:cNvPr id="27" name="テキスト ボックス 36">
            <a:extLst>
              <a:ext uri="{FF2B5EF4-FFF2-40B4-BE49-F238E27FC236}">
                <a16:creationId xmlns:a16="http://schemas.microsoft.com/office/drawing/2014/main" id="{1287BF2F-BDEB-AA88-27D1-71C1AFE9FDE7}"/>
              </a:ext>
            </a:extLst>
          </p:cNvPr>
          <p:cNvSpPr txBox="1"/>
          <p:nvPr/>
        </p:nvSpPr>
        <p:spPr>
          <a:xfrm>
            <a:off x="8630171" y="5561489"/>
            <a:ext cx="595129" cy="511830"/>
          </a:xfrm>
          <a:prstGeom prst="rect">
            <a:avLst/>
          </a:prstGeom>
          <a:noFill/>
          <a:ln w="28575">
            <a:solidFill>
              <a:schemeClr val="tx1"/>
            </a:solidFill>
          </a:ln>
        </p:spPr>
        <p:txBody>
          <a:bodyPr wrap="square" lIns="36000" tIns="162000" rIns="36000" bIns="162000" rtlCol="0">
            <a:spAutoFit/>
          </a:bodyPr>
          <a:lstStyle/>
          <a:p>
            <a:pPr algn="ctr"/>
            <a:r>
              <a:rPr lang="ja-JP" altLang="en-US" sz="1200" dirty="0"/>
              <a:t>消費者</a:t>
            </a:r>
            <a:endParaRPr lang="en-US" sz="1200" dirty="0"/>
          </a:p>
        </p:txBody>
      </p:sp>
      <p:cxnSp>
        <p:nvCxnSpPr>
          <p:cNvPr id="28" name="直線矢印コネクタ 38">
            <a:extLst>
              <a:ext uri="{FF2B5EF4-FFF2-40B4-BE49-F238E27FC236}">
                <a16:creationId xmlns:a16="http://schemas.microsoft.com/office/drawing/2014/main" id="{4442EA10-4394-CACE-3E0F-A6FF733CF36F}"/>
              </a:ext>
            </a:extLst>
          </p:cNvPr>
          <p:cNvCxnSpPr>
            <a:cxnSpLocks/>
          </p:cNvCxnSpPr>
          <p:nvPr/>
        </p:nvCxnSpPr>
        <p:spPr>
          <a:xfrm>
            <a:off x="5544945" y="2222800"/>
            <a:ext cx="916015" cy="62581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46">
            <a:extLst>
              <a:ext uri="{FF2B5EF4-FFF2-40B4-BE49-F238E27FC236}">
                <a16:creationId xmlns:a16="http://schemas.microsoft.com/office/drawing/2014/main" id="{B872BA35-57BF-0DDC-97F9-DBF69630F7CD}"/>
              </a:ext>
            </a:extLst>
          </p:cNvPr>
          <p:cNvCxnSpPr>
            <a:cxnSpLocks/>
          </p:cNvCxnSpPr>
          <p:nvPr/>
        </p:nvCxnSpPr>
        <p:spPr>
          <a:xfrm>
            <a:off x="7810724" y="2439645"/>
            <a:ext cx="0" cy="3896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47">
            <a:extLst>
              <a:ext uri="{FF2B5EF4-FFF2-40B4-BE49-F238E27FC236}">
                <a16:creationId xmlns:a16="http://schemas.microsoft.com/office/drawing/2014/main" id="{41D6C662-9DA3-B4CD-9A27-87A8A7EDFCA9}"/>
              </a:ext>
            </a:extLst>
          </p:cNvPr>
          <p:cNvCxnSpPr>
            <a:cxnSpLocks/>
            <a:stCxn id="20" idx="2"/>
          </p:cNvCxnSpPr>
          <p:nvPr/>
        </p:nvCxnSpPr>
        <p:spPr>
          <a:xfrm flipH="1">
            <a:off x="8626699" y="2436393"/>
            <a:ext cx="160020" cy="4230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54">
            <a:extLst>
              <a:ext uri="{FF2B5EF4-FFF2-40B4-BE49-F238E27FC236}">
                <a16:creationId xmlns:a16="http://schemas.microsoft.com/office/drawing/2014/main" id="{0E1A809D-AE92-3592-2142-1C451E9A477D}"/>
              </a:ext>
            </a:extLst>
          </p:cNvPr>
          <p:cNvCxnSpPr>
            <a:cxnSpLocks/>
            <a:endCxn id="22" idx="0"/>
          </p:cNvCxnSpPr>
          <p:nvPr/>
        </p:nvCxnSpPr>
        <p:spPr>
          <a:xfrm flipH="1">
            <a:off x="6834266" y="3408562"/>
            <a:ext cx="219756"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56">
            <a:extLst>
              <a:ext uri="{FF2B5EF4-FFF2-40B4-BE49-F238E27FC236}">
                <a16:creationId xmlns:a16="http://schemas.microsoft.com/office/drawing/2014/main" id="{5AF2BA8D-19DA-EC37-90EB-287EF2752E1A}"/>
              </a:ext>
            </a:extLst>
          </p:cNvPr>
          <p:cNvCxnSpPr>
            <a:cxnSpLocks/>
            <a:endCxn id="24" idx="0"/>
          </p:cNvCxnSpPr>
          <p:nvPr/>
        </p:nvCxnSpPr>
        <p:spPr>
          <a:xfrm>
            <a:off x="8626699" y="3397933"/>
            <a:ext cx="160483" cy="33001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58">
            <a:extLst>
              <a:ext uri="{FF2B5EF4-FFF2-40B4-BE49-F238E27FC236}">
                <a16:creationId xmlns:a16="http://schemas.microsoft.com/office/drawing/2014/main" id="{D17AE675-AD3A-DA6C-2A7E-11849CA1F686}"/>
              </a:ext>
            </a:extLst>
          </p:cNvPr>
          <p:cNvCxnSpPr>
            <a:cxnSpLocks/>
            <a:endCxn id="23" idx="0"/>
          </p:cNvCxnSpPr>
          <p:nvPr/>
        </p:nvCxnSpPr>
        <p:spPr>
          <a:xfrm>
            <a:off x="7810724" y="3408562"/>
            <a:ext cx="0"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60">
            <a:extLst>
              <a:ext uri="{FF2B5EF4-FFF2-40B4-BE49-F238E27FC236}">
                <a16:creationId xmlns:a16="http://schemas.microsoft.com/office/drawing/2014/main" id="{1D2E370D-5B40-363F-17D0-6FAB5BBB0822}"/>
              </a:ext>
            </a:extLst>
          </p:cNvPr>
          <p:cNvCxnSpPr>
            <a:cxnSpLocks/>
          </p:cNvCxnSpPr>
          <p:nvPr/>
        </p:nvCxnSpPr>
        <p:spPr>
          <a:xfrm flipH="1">
            <a:off x="5544945" y="3418991"/>
            <a:ext cx="877906" cy="4192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62">
            <a:extLst>
              <a:ext uri="{FF2B5EF4-FFF2-40B4-BE49-F238E27FC236}">
                <a16:creationId xmlns:a16="http://schemas.microsoft.com/office/drawing/2014/main" id="{8D1AB14B-31DF-2C3E-E59C-753770B1C093}"/>
              </a:ext>
            </a:extLst>
          </p:cNvPr>
          <p:cNvCxnSpPr>
            <a:cxnSpLocks/>
          </p:cNvCxnSpPr>
          <p:nvPr/>
        </p:nvCxnSpPr>
        <p:spPr>
          <a:xfrm>
            <a:off x="5561854" y="3878125"/>
            <a:ext cx="899106" cy="80683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64">
            <a:extLst>
              <a:ext uri="{FF2B5EF4-FFF2-40B4-BE49-F238E27FC236}">
                <a16:creationId xmlns:a16="http://schemas.microsoft.com/office/drawing/2014/main" id="{53C428EC-D7CC-00A5-54D1-5BF6E6C519C0}"/>
              </a:ext>
            </a:extLst>
          </p:cNvPr>
          <p:cNvCxnSpPr>
            <a:cxnSpLocks/>
          </p:cNvCxnSpPr>
          <p:nvPr/>
        </p:nvCxnSpPr>
        <p:spPr>
          <a:xfrm>
            <a:off x="6836960" y="4376942"/>
            <a:ext cx="217061" cy="2897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69">
            <a:extLst>
              <a:ext uri="{FF2B5EF4-FFF2-40B4-BE49-F238E27FC236}">
                <a16:creationId xmlns:a16="http://schemas.microsoft.com/office/drawing/2014/main" id="{C9C0E27F-DF14-EE52-B8CF-22CE3AC41FDF}"/>
              </a:ext>
            </a:extLst>
          </p:cNvPr>
          <p:cNvCxnSpPr>
            <a:cxnSpLocks/>
          </p:cNvCxnSpPr>
          <p:nvPr/>
        </p:nvCxnSpPr>
        <p:spPr>
          <a:xfrm>
            <a:off x="7808941" y="4381193"/>
            <a:ext cx="0" cy="3193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70">
            <a:extLst>
              <a:ext uri="{FF2B5EF4-FFF2-40B4-BE49-F238E27FC236}">
                <a16:creationId xmlns:a16="http://schemas.microsoft.com/office/drawing/2014/main" id="{5B668F0C-4AFB-17C1-7CF3-91D1741BE806}"/>
              </a:ext>
            </a:extLst>
          </p:cNvPr>
          <p:cNvCxnSpPr>
            <a:cxnSpLocks/>
          </p:cNvCxnSpPr>
          <p:nvPr/>
        </p:nvCxnSpPr>
        <p:spPr>
          <a:xfrm flipH="1">
            <a:off x="8630171" y="4373753"/>
            <a:ext cx="167294" cy="31120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72">
            <a:extLst>
              <a:ext uri="{FF2B5EF4-FFF2-40B4-BE49-F238E27FC236}">
                <a16:creationId xmlns:a16="http://schemas.microsoft.com/office/drawing/2014/main" id="{3AF74CC5-DEDF-AEA6-9B97-CECAB3E852E7}"/>
              </a:ext>
            </a:extLst>
          </p:cNvPr>
          <p:cNvCxnSpPr>
            <a:cxnSpLocks/>
            <a:endCxn id="26" idx="0"/>
          </p:cNvCxnSpPr>
          <p:nvPr/>
        </p:nvCxnSpPr>
        <p:spPr>
          <a:xfrm flipH="1">
            <a:off x="6690351" y="5283653"/>
            <a:ext cx="363670" cy="2744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74">
            <a:extLst>
              <a:ext uri="{FF2B5EF4-FFF2-40B4-BE49-F238E27FC236}">
                <a16:creationId xmlns:a16="http://schemas.microsoft.com/office/drawing/2014/main" id="{9544A346-5AD2-F285-F8E0-68B84C7F731C}"/>
              </a:ext>
            </a:extLst>
          </p:cNvPr>
          <p:cNvCxnSpPr>
            <a:cxnSpLocks/>
          </p:cNvCxnSpPr>
          <p:nvPr/>
        </p:nvCxnSpPr>
        <p:spPr>
          <a:xfrm>
            <a:off x="7434927" y="5262918"/>
            <a:ext cx="0" cy="29857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77">
            <a:extLst>
              <a:ext uri="{FF2B5EF4-FFF2-40B4-BE49-F238E27FC236}">
                <a16:creationId xmlns:a16="http://schemas.microsoft.com/office/drawing/2014/main" id="{2B48FF68-5516-8B44-9AC2-490C09D6E8D5}"/>
              </a:ext>
            </a:extLst>
          </p:cNvPr>
          <p:cNvCxnSpPr>
            <a:cxnSpLocks/>
          </p:cNvCxnSpPr>
          <p:nvPr/>
        </p:nvCxnSpPr>
        <p:spPr>
          <a:xfrm flipH="1">
            <a:off x="8179505" y="5269835"/>
            <a:ext cx="2449" cy="28826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2" name="直線矢印コネクタ 79">
            <a:extLst>
              <a:ext uri="{FF2B5EF4-FFF2-40B4-BE49-F238E27FC236}">
                <a16:creationId xmlns:a16="http://schemas.microsoft.com/office/drawing/2014/main" id="{659B05A0-C976-541D-C593-AEF78D5330F4}"/>
              </a:ext>
            </a:extLst>
          </p:cNvPr>
          <p:cNvCxnSpPr>
            <a:cxnSpLocks/>
            <a:endCxn id="27" idx="0"/>
          </p:cNvCxnSpPr>
          <p:nvPr/>
        </p:nvCxnSpPr>
        <p:spPr>
          <a:xfrm>
            <a:off x="8626517" y="5283653"/>
            <a:ext cx="301219" cy="2778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95">
            <a:extLst>
              <a:ext uri="{FF2B5EF4-FFF2-40B4-BE49-F238E27FC236}">
                <a16:creationId xmlns:a16="http://schemas.microsoft.com/office/drawing/2014/main" id="{86758446-85FB-B5E2-2CAF-F871998DAF2D}"/>
              </a:ext>
            </a:extLst>
          </p:cNvPr>
          <p:cNvCxnSpPr>
            <a:cxnSpLocks/>
            <a:endCxn id="15" idx="0"/>
          </p:cNvCxnSpPr>
          <p:nvPr/>
        </p:nvCxnSpPr>
        <p:spPr>
          <a:xfrm rot="10800000" flipV="1">
            <a:off x="4232111" y="1925049"/>
            <a:ext cx="2160677" cy="511343"/>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100">
            <a:extLst>
              <a:ext uri="{FF2B5EF4-FFF2-40B4-BE49-F238E27FC236}">
                <a16:creationId xmlns:a16="http://schemas.microsoft.com/office/drawing/2014/main" id="{06B44A00-92B1-FDCA-EE30-2F24A584E979}"/>
              </a:ext>
            </a:extLst>
          </p:cNvPr>
          <p:cNvCxnSpPr>
            <a:cxnSpLocks/>
            <a:stCxn id="18" idx="1"/>
            <a:endCxn id="22" idx="1"/>
          </p:cNvCxnSpPr>
          <p:nvPr/>
        </p:nvCxnSpPr>
        <p:spPr>
          <a:xfrm rot="10800000" flipV="1">
            <a:off x="6395221" y="2116480"/>
            <a:ext cx="929" cy="1935964"/>
          </a:xfrm>
          <a:prstGeom prst="bentConnector3">
            <a:avLst>
              <a:gd name="adj1" fmla="val 3053509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5" name="テキスト ボックス 105">
            <a:extLst>
              <a:ext uri="{FF2B5EF4-FFF2-40B4-BE49-F238E27FC236}">
                <a16:creationId xmlns:a16="http://schemas.microsoft.com/office/drawing/2014/main" id="{BDACF670-10DD-ECF4-08B3-D921553A4307}"/>
              </a:ext>
            </a:extLst>
          </p:cNvPr>
          <p:cNvSpPr txBox="1"/>
          <p:nvPr/>
        </p:nvSpPr>
        <p:spPr>
          <a:xfrm>
            <a:off x="5011155" y="5508252"/>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6" name="テキスト ボックス 106">
            <a:extLst>
              <a:ext uri="{FF2B5EF4-FFF2-40B4-BE49-F238E27FC236}">
                <a16:creationId xmlns:a16="http://schemas.microsoft.com/office/drawing/2014/main" id="{2C6A86E5-33EA-21F6-084D-1531F7A979A1}"/>
              </a:ext>
            </a:extLst>
          </p:cNvPr>
          <p:cNvSpPr txBox="1"/>
          <p:nvPr/>
        </p:nvSpPr>
        <p:spPr>
          <a:xfrm>
            <a:off x="5850950" y="1663734"/>
            <a:ext cx="415498" cy="307777"/>
          </a:xfrm>
          <a:prstGeom prst="rect">
            <a:avLst/>
          </a:prstGeom>
          <a:noFill/>
        </p:spPr>
        <p:txBody>
          <a:bodyPr wrap="none" rtlCol="0">
            <a:spAutoFit/>
          </a:bodyPr>
          <a:lstStyle/>
          <a:p>
            <a:r>
              <a:rPr lang="en-US" altLang="ja-JP" sz="1400" dirty="0">
                <a:solidFill>
                  <a:schemeClr val="accent2"/>
                </a:solidFill>
              </a:rPr>
              <a:t>FIT</a:t>
            </a:r>
            <a:endParaRPr lang="en-US" sz="1400" dirty="0">
              <a:solidFill>
                <a:schemeClr val="accent2"/>
              </a:solidFill>
            </a:endParaRPr>
          </a:p>
        </p:txBody>
      </p:sp>
      <p:sp>
        <p:nvSpPr>
          <p:cNvPr id="47" name="テキスト ボックス 107">
            <a:extLst>
              <a:ext uri="{FF2B5EF4-FFF2-40B4-BE49-F238E27FC236}">
                <a16:creationId xmlns:a16="http://schemas.microsoft.com/office/drawing/2014/main" id="{0E3DB9D2-88BE-2C41-B30E-263B5F0D5ECA}"/>
              </a:ext>
            </a:extLst>
          </p:cNvPr>
          <p:cNvSpPr txBox="1"/>
          <p:nvPr/>
        </p:nvSpPr>
        <p:spPr>
          <a:xfrm rot="16200000">
            <a:off x="5813641" y="2967526"/>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48" name="テキスト ボックス 51">
            <a:extLst>
              <a:ext uri="{FF2B5EF4-FFF2-40B4-BE49-F238E27FC236}">
                <a16:creationId xmlns:a16="http://schemas.microsoft.com/office/drawing/2014/main" id="{F26C4473-7A56-CDF0-FA25-65BFC2147547}"/>
              </a:ext>
            </a:extLst>
          </p:cNvPr>
          <p:cNvSpPr txBox="1"/>
          <p:nvPr/>
        </p:nvSpPr>
        <p:spPr>
          <a:xfrm>
            <a:off x="7137363" y="5573360"/>
            <a:ext cx="595128" cy="514738"/>
          </a:xfrm>
          <a:prstGeom prst="rect">
            <a:avLst/>
          </a:prstGeom>
          <a:noFill/>
          <a:ln w="28575">
            <a:solidFill>
              <a:schemeClr val="tx1"/>
            </a:solidFill>
          </a:ln>
        </p:spPr>
        <p:txBody>
          <a:bodyPr wrap="square" lIns="36000" tIns="72000" rIns="36000" bIns="72000" rtlCol="0">
            <a:spAutoFit/>
          </a:bodyPr>
          <a:lstStyle/>
          <a:p>
            <a:pPr algn="ctr"/>
            <a:r>
              <a:rPr lang="ja-JP" altLang="en-US" sz="1200" dirty="0"/>
              <a:t>生産</a:t>
            </a:r>
            <a:endParaRPr lang="en-US" altLang="ja-JP" sz="1200" dirty="0"/>
          </a:p>
          <a:p>
            <a:pPr algn="ctr"/>
            <a:r>
              <a:rPr lang="ja-JP" altLang="en-US" sz="1200" dirty="0"/>
              <a:t>消費者</a:t>
            </a:r>
            <a:endParaRPr lang="en-US" sz="1200" dirty="0"/>
          </a:p>
        </p:txBody>
      </p:sp>
      <p:sp>
        <p:nvSpPr>
          <p:cNvPr id="49" name="テキスト ボックス 52">
            <a:extLst>
              <a:ext uri="{FF2B5EF4-FFF2-40B4-BE49-F238E27FC236}">
                <a16:creationId xmlns:a16="http://schemas.microsoft.com/office/drawing/2014/main" id="{56AFBAD0-43E7-3DD4-3EAD-970A45923923}"/>
              </a:ext>
            </a:extLst>
          </p:cNvPr>
          <p:cNvSpPr txBox="1"/>
          <p:nvPr/>
        </p:nvSpPr>
        <p:spPr>
          <a:xfrm>
            <a:off x="7881939" y="5573360"/>
            <a:ext cx="595128" cy="514738"/>
          </a:xfrm>
          <a:prstGeom prst="rect">
            <a:avLst/>
          </a:prstGeom>
          <a:noFill/>
          <a:ln w="28575">
            <a:solidFill>
              <a:schemeClr val="tx1"/>
            </a:solidFill>
          </a:ln>
        </p:spPr>
        <p:txBody>
          <a:bodyPr wrap="square" lIns="36000" tIns="72000" rIns="36000" bIns="72000" rtlCol="0">
            <a:spAutoFit/>
          </a:bodyPr>
          <a:lstStyle/>
          <a:p>
            <a:pPr algn="ctr"/>
            <a:r>
              <a:rPr lang="ja-JP" altLang="en-US" sz="1200" dirty="0"/>
              <a:t>生産</a:t>
            </a:r>
            <a:endParaRPr lang="en-US" altLang="ja-JP" sz="1200" dirty="0"/>
          </a:p>
          <a:p>
            <a:pPr algn="ctr"/>
            <a:r>
              <a:rPr lang="ja-JP" altLang="en-US" sz="1200" dirty="0"/>
              <a:t>消費者</a:t>
            </a:r>
            <a:endParaRPr lang="en-US" sz="1200" dirty="0"/>
          </a:p>
        </p:txBody>
      </p:sp>
      <p:cxnSp>
        <p:nvCxnSpPr>
          <p:cNvPr id="50" name="コネクタ: カギ線 57">
            <a:extLst>
              <a:ext uri="{FF2B5EF4-FFF2-40B4-BE49-F238E27FC236}">
                <a16:creationId xmlns:a16="http://schemas.microsoft.com/office/drawing/2014/main" id="{98988889-75F2-9490-73BE-883597AC9884}"/>
              </a:ext>
            </a:extLst>
          </p:cNvPr>
          <p:cNvCxnSpPr>
            <a:cxnSpLocks/>
            <a:stCxn id="51" idx="1"/>
          </p:cNvCxnSpPr>
          <p:nvPr/>
        </p:nvCxnSpPr>
        <p:spPr>
          <a:xfrm rot="10800000">
            <a:off x="4561308" y="3441403"/>
            <a:ext cx="1633190" cy="2386688"/>
          </a:xfrm>
          <a:prstGeom prst="bentConnector2">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1" name="正方形/長方形 2">
            <a:extLst>
              <a:ext uri="{FF2B5EF4-FFF2-40B4-BE49-F238E27FC236}">
                <a16:creationId xmlns:a16="http://schemas.microsoft.com/office/drawing/2014/main" id="{11CED9DD-0847-85DB-B569-0403BE30ED39}"/>
              </a:ext>
            </a:extLst>
          </p:cNvPr>
          <p:cNvSpPr/>
          <p:nvPr/>
        </p:nvSpPr>
        <p:spPr>
          <a:xfrm>
            <a:off x="6194498" y="5469778"/>
            <a:ext cx="3228885" cy="716626"/>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直線矢印コネクタ 66">
            <a:extLst>
              <a:ext uri="{FF2B5EF4-FFF2-40B4-BE49-F238E27FC236}">
                <a16:creationId xmlns:a16="http://schemas.microsoft.com/office/drawing/2014/main" id="{FCBD4E38-78B4-6832-63AA-BC98722A2846}"/>
              </a:ext>
            </a:extLst>
          </p:cNvPr>
          <p:cNvCxnSpPr>
            <a:cxnSpLocks/>
          </p:cNvCxnSpPr>
          <p:nvPr/>
        </p:nvCxnSpPr>
        <p:spPr>
          <a:xfrm>
            <a:off x="6834322" y="2460065"/>
            <a:ext cx="160483" cy="33001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7" name="テキスト ボックス 67">
            <a:extLst>
              <a:ext uri="{FF2B5EF4-FFF2-40B4-BE49-F238E27FC236}">
                <a16:creationId xmlns:a16="http://schemas.microsoft.com/office/drawing/2014/main" id="{E75A4E7E-2230-1AED-F973-E361C16CDCE5}"/>
              </a:ext>
            </a:extLst>
          </p:cNvPr>
          <p:cNvSpPr txBox="1"/>
          <p:nvPr/>
        </p:nvSpPr>
        <p:spPr>
          <a:xfrm>
            <a:off x="6863226" y="2436841"/>
            <a:ext cx="421910" cy="307777"/>
          </a:xfrm>
          <a:prstGeom prst="rect">
            <a:avLst/>
          </a:prstGeom>
          <a:noFill/>
        </p:spPr>
        <p:txBody>
          <a:bodyPr wrap="none" rtlCol="0">
            <a:spAutoFit/>
          </a:bodyPr>
          <a:lstStyle/>
          <a:p>
            <a:r>
              <a:rPr lang="en-US" altLang="ja-JP" sz="1400" dirty="0">
                <a:solidFill>
                  <a:schemeClr val="accent2"/>
                </a:solidFill>
              </a:rPr>
              <a:t>FIP</a:t>
            </a:r>
            <a:endParaRPr lang="en-US" sz="1400" dirty="0">
              <a:solidFill>
                <a:schemeClr val="accent2"/>
              </a:solidFill>
            </a:endParaRPr>
          </a:p>
        </p:txBody>
      </p:sp>
      <p:sp>
        <p:nvSpPr>
          <p:cNvPr id="58" name="TextBox 16">
            <a:extLst>
              <a:ext uri="{FF2B5EF4-FFF2-40B4-BE49-F238E27FC236}">
                <a16:creationId xmlns:a16="http://schemas.microsoft.com/office/drawing/2014/main" id="{F5504C1C-6238-71AA-06B8-CA4E54CB4CD4}"/>
              </a:ext>
            </a:extLst>
          </p:cNvPr>
          <p:cNvSpPr txBox="1"/>
          <p:nvPr/>
        </p:nvSpPr>
        <p:spPr>
          <a:xfrm>
            <a:off x="123825" y="6558580"/>
            <a:ext cx="2719014" cy="338554"/>
          </a:xfrm>
          <a:prstGeom prst="rect">
            <a:avLst/>
          </a:prstGeom>
          <a:noFill/>
        </p:spPr>
        <p:txBody>
          <a:bodyPr wrap="none" rtlCol="0">
            <a:spAutoFit/>
          </a:bodyPr>
          <a:lstStyle/>
          <a:p>
            <a:r>
              <a:rPr lang="ja-JP" altLang="en-US" sz="800" dirty="0">
                <a:hlinkClick r:id="rId2"/>
              </a:rPr>
              <a:t>一般財団法人 新エネルギー財団 電力市場の概要</a:t>
            </a:r>
            <a:r>
              <a:rPr lang="en-US" altLang="ja-JP" sz="800" dirty="0">
                <a:hlinkClick r:id="rId2"/>
              </a:rPr>
              <a:t>(</a:t>
            </a:r>
            <a:r>
              <a:rPr lang="ja-JP" altLang="en-US" sz="800" dirty="0">
                <a:hlinkClick r:id="rId2"/>
              </a:rPr>
              <a:t>その</a:t>
            </a:r>
            <a:r>
              <a:rPr lang="en-US" altLang="ja-JP" sz="800" dirty="0">
                <a:hlinkClick r:id="rId2"/>
              </a:rPr>
              <a:t>1)</a:t>
            </a:r>
            <a:endParaRPr lang="en-US" sz="800" dirty="0"/>
          </a:p>
          <a:p>
            <a:endParaRPr lang="en-US" sz="800" dirty="0"/>
          </a:p>
        </p:txBody>
      </p:sp>
    </p:spTree>
    <p:extLst>
      <p:ext uri="{BB962C8B-B14F-4D97-AF65-F5344CB8AC3E}">
        <p14:creationId xmlns:p14="http://schemas.microsoft.com/office/powerpoint/2010/main" val="3552597062"/>
      </p:ext>
    </p:extLst>
  </p:cSld>
  <p:clrMapOvr>
    <a:masterClrMapping/>
  </p:clrMapOvr>
</p:sld>
</file>

<file path=ppt/theme/theme1.xml><?xml version="1.0" encoding="utf-8"?>
<a:theme xmlns:a="http://schemas.openxmlformats.org/drawingml/2006/main" name="Office テーマ">
  <a:themeElements>
    <a:clrScheme name="いつもの配色">
      <a:dk1>
        <a:srgbClr val="3F3F3F"/>
      </a:dk1>
      <a:lt1>
        <a:srgbClr val="FFFFFF"/>
      </a:lt1>
      <a:dk2>
        <a:srgbClr val="44546A"/>
      </a:dk2>
      <a:lt2>
        <a:srgbClr val="E7E6E6"/>
      </a:lt2>
      <a:accent1>
        <a:srgbClr val="4472C4"/>
      </a:accent1>
      <a:accent2>
        <a:srgbClr val="BF9000"/>
      </a:accent2>
      <a:accent3>
        <a:srgbClr val="C00000"/>
      </a:accent3>
      <a:accent4>
        <a:srgbClr val="FFC000"/>
      </a:accent4>
      <a:accent5>
        <a:srgbClr val="5B9BD5"/>
      </a:accent5>
      <a:accent6>
        <a:srgbClr val="70AD47"/>
      </a:accent6>
      <a:hlink>
        <a:srgbClr val="0563C1"/>
      </a:hlink>
      <a:folHlink>
        <a:srgbClr val="954F72"/>
      </a:folHlink>
    </a:clrScheme>
    <a:fontScheme name="N's_template">
      <a:majorFont>
        <a:latin typeface="Yu Gothic UI"/>
        <a:ea typeface="Yu Gothic UI"/>
        <a:cs typeface=""/>
      </a:majorFont>
      <a:minorFont>
        <a:latin typeface="Yu Gothic UI"/>
        <a:ea typeface="Yu Gothic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1" id="{6D0BC013-482F-4B30-A174-0D3D6146F588}" vid="{6283E58C-56B3-4DD3-9930-5C1338E79A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B973BE8A981C6645B6397ABE8EF098A5" ma:contentTypeVersion="18" ma:contentTypeDescription="新しいドキュメントを作成します。" ma:contentTypeScope="" ma:versionID="0c76d475423b2aeb327e761148d867cc">
  <xsd:schema xmlns:xsd="http://www.w3.org/2001/XMLSchema" xmlns:xs="http://www.w3.org/2001/XMLSchema" xmlns:p="http://schemas.microsoft.com/office/2006/metadata/properties" xmlns:ns2="2011c0e9-3633-4c68-9cbe-a638a9c53794" xmlns:ns3="2d38cf78-3d67-4683-a622-6f578eb767ed" targetNamespace="http://schemas.microsoft.com/office/2006/metadata/properties" ma:root="true" ma:fieldsID="7e20c96c1d4fb8ce12a9557151206c8f" ns2:_="" ns3:_="">
    <xsd:import namespace="2011c0e9-3633-4c68-9cbe-a638a9c53794"/>
    <xsd:import namespace="2d38cf78-3d67-4683-a622-6f578eb767e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AutoKeyPoints" minOccurs="0"/>
                <xsd:element ref="ns2:MediaServiceKeyPoint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011c0e9-3633-4c68-9cbe-a638a9c537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db8f504b-e930-4132-bd19-9e7a4baac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d38cf78-3d67-4683-a622-6f578eb767ed"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b032b36a-d514-428f-a3db-afdf1b98a9ea}" ma:internalName="TaxCatchAll" ma:showField="CatchAllData" ma:web="2d38cf78-3d67-4683-a622-6f578eb767e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011c0e9-3633-4c68-9cbe-a638a9c53794">
      <Terms xmlns="http://schemas.microsoft.com/office/infopath/2007/PartnerControls"/>
    </lcf76f155ced4ddcb4097134ff3c332f>
    <TaxCatchAll xmlns="2d38cf78-3d67-4683-a622-6f578eb767e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3D5C93E-35BE-4E89-B71F-ADE94EBE95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011c0e9-3633-4c68-9cbe-a638a9c53794"/>
    <ds:schemaRef ds:uri="2d38cf78-3d67-4683-a622-6f578eb767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F7B7CA-1DA5-4ED8-B94D-6A9E3BB001E8}">
  <ds:schemaRefs>
    <ds:schemaRef ds:uri="http://schemas.microsoft.com/office/2006/metadata/properties"/>
    <ds:schemaRef ds:uri="http://schemas.microsoft.com/office/infopath/2007/PartnerControls"/>
    <ds:schemaRef ds:uri="2011c0e9-3633-4c68-9cbe-a638a9c53794"/>
    <ds:schemaRef ds:uri="2d38cf78-3d67-4683-a622-6f578eb767ed"/>
  </ds:schemaRefs>
</ds:datastoreItem>
</file>

<file path=customXml/itemProps3.xml><?xml version="1.0" encoding="utf-8"?>
<ds:datastoreItem xmlns:ds="http://schemas.openxmlformats.org/officeDocument/2006/customXml" ds:itemID="{2FEEBEFA-ECD9-421D-AA2E-AB6355E9F00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2918</TotalTime>
  <Words>4078</Words>
  <Application>Microsoft Office PowerPoint</Application>
  <PresentationFormat>A4 210 x 297 mm</PresentationFormat>
  <Paragraphs>929</Paragraphs>
  <Slides>51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51</vt:i4>
      </vt:variant>
    </vt:vector>
  </HeadingPairs>
  <TitlesOfParts>
    <vt:vector size="59" baseType="lpstr">
      <vt:lpstr>游ゴシック Medium</vt:lpstr>
      <vt:lpstr>Yu Gothic UI</vt:lpstr>
      <vt:lpstr>Yu Mincho</vt:lpstr>
      <vt:lpstr>Arial</vt:lpstr>
      <vt:lpstr>Calibri</vt:lpstr>
      <vt:lpstr>Cambria Math</vt:lpstr>
      <vt:lpstr>Open Sans</vt:lpstr>
      <vt:lpstr>Office テーマ</vt:lpstr>
      <vt:lpstr>マルチエージェント強化学習を用いた自律分散型マイクログリッドのデザイン   Design of Autonomous Decentralized Microgrids Using Multi-Agent Reinforcement Learning</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森田 雄大</dc:creator>
  <cp:lastModifiedBy>森田　雄大</cp:lastModifiedBy>
  <cp:revision>290</cp:revision>
  <dcterms:created xsi:type="dcterms:W3CDTF">2023-09-11T21:08:38Z</dcterms:created>
  <dcterms:modified xsi:type="dcterms:W3CDTF">2024-11-05T03:13:07Z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0x010100B973BE8A981C6645B6397ABE8EF098A5</vt:lpwstr>
  </property>
  <property fmtid="{D5CDD505-2E9C-101B-9397-08002B2CF9AE}" pid="3" name="MediaServiceImageTags">
    <vt:lpwstr/>
  </property>
</Properties>
</file>